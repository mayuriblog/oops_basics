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59" r:id="rId4"/>
    <p:sldId id="258" r:id="rId5"/>
    <p:sldId id="264" r:id="rId6"/>
    <p:sldId id="265" r:id="rId7"/>
    <p:sldId id="266" r:id="rId8"/>
    <p:sldId id="267" r:id="rId9"/>
    <p:sldId id="268" r:id="rId10"/>
    <p:sldId id="260" r:id="rId11"/>
    <p:sldId id="261" r:id="rId12"/>
    <p:sldId id="262" r:id="rId13"/>
    <p:sldId id="263"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F66"/>
    <a:srgbClr val="990033"/>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p:normalViewPr>
  <p:slideViewPr>
    <p:cSldViewPr snapToGrid="0">
      <p:cViewPr varScale="1">
        <p:scale>
          <a:sx n="67" d="100"/>
          <a:sy n="67" d="100"/>
        </p:scale>
        <p:origin x="83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14A8F-F997-42EB-B8CB-207D7884A4C6}" type="datetimeFigureOut">
              <a:rPr lang="en-IN" smtClean="0"/>
              <a:t>24-08-2023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729D8-C820-4568-BF52-037531F6DDE7}" type="slidenum">
              <a:rPr lang="en-IN" smtClean="0"/>
              <a:t>‹#›</a:t>
            </a:fld>
            <a:endParaRPr lang="en-IN"/>
          </a:p>
        </p:txBody>
      </p:sp>
    </p:spTree>
    <p:extLst>
      <p:ext uri="{BB962C8B-B14F-4D97-AF65-F5344CB8AC3E}">
        <p14:creationId xmlns:p14="http://schemas.microsoft.com/office/powerpoint/2010/main" val="1694466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87B0DD66-9352-4A7F-AE35-F30434DD1C44}" type="datetime1">
              <a:rPr lang="en-US" smtClean="0"/>
              <a:t>8/24/2023</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4C84E9E2-A18D-4A64-9C31-E78A1EE4427C}" type="datetime1">
              <a:rPr lang="en-US" smtClean="0"/>
              <a:t>8/24/2023</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61641083-6232-4707-9FE9-714E557E75CC}" type="datetime1">
              <a:rPr lang="en-US" smtClean="0"/>
              <a:t>8/24/2023</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375641F3-F9FD-4095-AC3A-D56969732022}" type="datetime1">
              <a:rPr lang="en-US" smtClean="0"/>
              <a:t>8/24/2023</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960275B3-B4AE-44FE-A5DE-8DDD4D780708}" type="datetime1">
              <a:rPr lang="en-US" smtClean="0"/>
              <a:t>8/24/2023</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CF7C30DB-66C6-49F7-808B-0F8DA5751575}" type="datetime1">
              <a:rPr lang="en-US" smtClean="0"/>
              <a:t>8/24/2023</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9BFC4089-544C-417B-92F9-107F64D053BF}" type="datetime1">
              <a:rPr lang="en-US" smtClean="0"/>
              <a:t>8/24/2023</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F8691A08-EDA1-4E74-98CF-FCCDC3855992}" type="datetime1">
              <a:rPr lang="en-US" smtClean="0"/>
              <a:t>8/24/2023</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315DC055-70F4-46CD-912D-7A89032963AA}" type="datetime1">
              <a:rPr lang="en-US" smtClean="0"/>
              <a:t>8/24/2023</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403E1A32-B0CF-41C6-933E-35CF9FE81A84}" type="datetime1">
              <a:rPr lang="en-US" smtClean="0"/>
              <a:t>8/24/2023</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F0364FA0-040E-43E3-97F5-050E06A2A29D}" type="datetime1">
              <a:rPr lang="en-US" smtClean="0"/>
              <a:t>8/24/2023</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9190F7-F3C7-4FED-82D9-886F1A5F44DF}" type="datetime1">
              <a:rPr lang="en-US" smtClean="0"/>
              <a:t>8/24/2023</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www.abcsite.com/training/batches.html"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sv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sv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179891" y="557344"/>
            <a:ext cx="6494085" cy="923330"/>
          </a:xfrm>
          <a:prstGeom prst="rect">
            <a:avLst/>
          </a:prstGeom>
          <a:noFill/>
        </p:spPr>
        <p:txBody>
          <a:bodyPr wrap="none" rtlCol="0">
            <a:spAutoFit/>
          </a:bodyPr>
          <a:lstStyle/>
          <a:p>
            <a:r>
              <a:rPr lang="en-US" sz="5400" b="1" dirty="0">
                <a:solidFill>
                  <a:srgbClr val="0000FF"/>
                </a:solidFill>
                <a:latin typeface="Arial" panose="020B0604020202020204" pitchFamily="34" charset="0"/>
                <a:cs typeface="Arial" panose="020B0604020202020204" pitchFamily="34" charset="0"/>
              </a:rPr>
              <a:t>Networking in Java</a:t>
            </a:r>
          </a:p>
        </p:txBody>
      </p:sp>
      <p:pic>
        <p:nvPicPr>
          <p:cNvPr id="1026" name="Picture 2">
            <a:extLst>
              <a:ext uri="{FF2B5EF4-FFF2-40B4-BE49-F238E27FC236}">
                <a16:creationId xmlns:a16="http://schemas.microsoft.com/office/drawing/2014/main" id="{48EAB8F6-EA9B-6788-38D6-BF9526CAB2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601"/>
          <a:stretch/>
        </p:blipFill>
        <p:spPr bwMode="auto">
          <a:xfrm>
            <a:off x="196173" y="1601307"/>
            <a:ext cx="4763430" cy="30240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descr="Computer Networks - Types and Objectives">
            <a:extLst>
              <a:ext uri="{FF2B5EF4-FFF2-40B4-BE49-F238E27FC236}">
                <a16:creationId xmlns:a16="http://schemas.microsoft.com/office/drawing/2014/main" id="{EDC36089-61B5-5B6A-8D21-24C4B1092C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2790" y="1057594"/>
            <a:ext cx="3120000" cy="2340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030" name="Picture 6" descr="Basics of Computer Networking - GeeksforGeeks">
            <a:extLst>
              <a:ext uri="{FF2B5EF4-FFF2-40B4-BE49-F238E27FC236}">
                <a16:creationId xmlns:a16="http://schemas.microsoft.com/office/drawing/2014/main" id="{10F5151B-179A-FA0F-4E4D-FDFBE0C4C5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6884" y="3833039"/>
            <a:ext cx="3829050" cy="26574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8F3370D-3DF1-54D2-0004-6544F9FD3D21}"/>
              </a:ext>
            </a:extLst>
          </p:cNvPr>
          <p:cNvSpPr txBox="1"/>
          <p:nvPr/>
        </p:nvSpPr>
        <p:spPr>
          <a:xfrm>
            <a:off x="4914460" y="1184450"/>
            <a:ext cx="1724768" cy="646331"/>
          </a:xfrm>
          <a:prstGeom prst="rect">
            <a:avLst/>
          </a:prstGeom>
          <a:noFill/>
        </p:spPr>
        <p:txBody>
          <a:bodyPr wrap="none" rtlCol="0">
            <a:spAutoFit/>
          </a:bodyPr>
          <a:lstStyle/>
          <a:p>
            <a:r>
              <a:rPr lang="en-IN" sz="3600" b="1" dirty="0"/>
              <a:t>java.net</a:t>
            </a:r>
          </a:p>
        </p:txBody>
      </p:sp>
      <p:sp>
        <p:nvSpPr>
          <p:cNvPr id="9" name="Footer Placeholder 8">
            <a:extLst>
              <a:ext uri="{FF2B5EF4-FFF2-40B4-BE49-F238E27FC236}">
                <a16:creationId xmlns:a16="http://schemas.microsoft.com/office/drawing/2014/main" id="{06DC4DAF-47CD-FC5D-8C78-A141F241AC67}"/>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326010" y="695297"/>
            <a:ext cx="8503452" cy="1015663"/>
          </a:xfrm>
          <a:prstGeom prst="rect">
            <a:avLst/>
          </a:prstGeom>
          <a:noFill/>
        </p:spPr>
        <p:txBody>
          <a:bodyPr wrap="square" rtlCol="0">
            <a:spAutoFit/>
          </a:bodyPr>
          <a:lstStyle/>
          <a:p>
            <a:pPr algn="just"/>
            <a:r>
              <a:rPr lang="en-US" sz="2000" dirty="0">
                <a:solidFill>
                  <a:srgbClr val="0000FF"/>
                </a:solidFill>
                <a:latin typeface="Arial" panose="020B0604020202020204" pitchFamily="34" charset="0"/>
                <a:cs typeface="Arial" panose="020B0604020202020204" pitchFamily="34" charset="0"/>
              </a:rPr>
              <a:t>How two java programs running on two different machines communicate each other?</a:t>
            </a:r>
          </a:p>
          <a:p>
            <a:pPr algn="just"/>
            <a:r>
              <a:rPr lang="en-US" sz="2000" dirty="0">
                <a:solidFill>
                  <a:srgbClr val="0000FF"/>
                </a:solidFill>
                <a:latin typeface="Arial" panose="020B0604020202020204" pitchFamily="34" charset="0"/>
                <a:cs typeface="Arial" panose="020B0604020202020204" pitchFamily="34" charset="0"/>
              </a:rPr>
              <a:t>Is what we learn in Network programming.</a:t>
            </a:r>
            <a:endParaRPr lang="en-US" sz="1400" dirty="0">
              <a:solidFill>
                <a:srgbClr val="0000FF"/>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A22D5474-ED8F-8984-D70C-6FE6C527FEDB}"/>
              </a:ext>
            </a:extLst>
          </p:cNvPr>
          <p:cNvSpPr txBox="1"/>
          <p:nvPr/>
        </p:nvSpPr>
        <p:spPr>
          <a:xfrm>
            <a:off x="326010" y="3021351"/>
            <a:ext cx="3732670" cy="1631216"/>
          </a:xfrm>
          <a:prstGeom prst="rect">
            <a:avLst/>
          </a:prstGeom>
          <a:noFill/>
        </p:spPr>
        <p:txBody>
          <a:bodyPr wrap="square">
            <a:spAutoFit/>
          </a:bodyPr>
          <a:lstStyle/>
          <a:p>
            <a:pPr algn="just"/>
            <a:r>
              <a:rPr lang="en-IN" sz="2000" dirty="0">
                <a:solidFill>
                  <a:srgbClr val="0000FF"/>
                </a:solidFill>
              </a:rPr>
              <a:t>With this package classes we can develop network applications such as TCP/IP using Sockets API, UDP applications using Datagram API.</a:t>
            </a:r>
          </a:p>
        </p:txBody>
      </p:sp>
      <p:graphicFrame>
        <p:nvGraphicFramePr>
          <p:cNvPr id="12" name="Table 12">
            <a:extLst>
              <a:ext uri="{FF2B5EF4-FFF2-40B4-BE49-F238E27FC236}">
                <a16:creationId xmlns:a16="http://schemas.microsoft.com/office/drawing/2014/main" id="{EFCF3562-B43D-F968-9743-CF7836B9A73A}"/>
              </a:ext>
            </a:extLst>
          </p:cNvPr>
          <p:cNvGraphicFramePr>
            <a:graphicFrameLocks noGrp="1"/>
          </p:cNvGraphicFramePr>
          <p:nvPr>
            <p:extLst>
              <p:ext uri="{D42A27DB-BD31-4B8C-83A1-F6EECF244321}">
                <p14:modId xmlns:p14="http://schemas.microsoft.com/office/powerpoint/2010/main" val="3129722085"/>
              </p:ext>
            </p:extLst>
          </p:nvPr>
        </p:nvGraphicFramePr>
        <p:xfrm>
          <a:off x="4271524" y="1754096"/>
          <a:ext cx="4996800" cy="4592320"/>
        </p:xfrm>
        <a:graphic>
          <a:graphicData uri="http://schemas.openxmlformats.org/drawingml/2006/table">
            <a:tbl>
              <a:tblPr firstRow="1" bandRow="1">
                <a:tableStyleId>{5C22544A-7EE6-4342-B048-85BDC9FD1C3A}</a:tableStyleId>
              </a:tblPr>
              <a:tblGrid>
                <a:gridCol w="1604841">
                  <a:extLst>
                    <a:ext uri="{9D8B030D-6E8A-4147-A177-3AD203B41FA5}">
                      <a16:colId xmlns:a16="http://schemas.microsoft.com/office/drawing/2014/main" val="2121006817"/>
                    </a:ext>
                  </a:extLst>
                </a:gridCol>
                <a:gridCol w="1559859">
                  <a:extLst>
                    <a:ext uri="{9D8B030D-6E8A-4147-A177-3AD203B41FA5}">
                      <a16:colId xmlns:a16="http://schemas.microsoft.com/office/drawing/2014/main" val="10926811"/>
                    </a:ext>
                  </a:extLst>
                </a:gridCol>
                <a:gridCol w="1832100">
                  <a:extLst>
                    <a:ext uri="{9D8B030D-6E8A-4147-A177-3AD203B41FA5}">
                      <a16:colId xmlns:a16="http://schemas.microsoft.com/office/drawing/2014/main" val="272338637"/>
                    </a:ext>
                  </a:extLst>
                </a:gridCol>
              </a:tblGrid>
              <a:tr h="370840">
                <a:tc>
                  <a:txBody>
                    <a:bodyPr/>
                    <a:lstStyle/>
                    <a:p>
                      <a:pPr algn="just"/>
                      <a:r>
                        <a:rPr lang="en-US" dirty="0" err="1"/>
                        <a:t>Interprocessor</a:t>
                      </a:r>
                      <a:r>
                        <a:rPr lang="en-US" dirty="0"/>
                        <a:t> Distance</a:t>
                      </a:r>
                      <a:endParaRPr lang="en-IN" dirty="0"/>
                    </a:p>
                  </a:txBody>
                  <a:tcPr/>
                </a:tc>
                <a:tc>
                  <a:txBody>
                    <a:bodyPr/>
                    <a:lstStyle/>
                    <a:p>
                      <a:pPr algn="just"/>
                      <a:r>
                        <a:rPr lang="en-US" dirty="0"/>
                        <a:t>Processor located in the same</a:t>
                      </a:r>
                      <a:endParaRPr lang="en-IN" dirty="0"/>
                    </a:p>
                  </a:txBody>
                  <a:tcPr/>
                </a:tc>
                <a:tc>
                  <a:txBody>
                    <a:bodyPr/>
                    <a:lstStyle/>
                    <a:p>
                      <a:pPr algn="just"/>
                      <a:r>
                        <a:rPr lang="en-US" dirty="0"/>
                        <a:t>Example</a:t>
                      </a:r>
                      <a:endParaRPr lang="en-IN" dirty="0"/>
                    </a:p>
                  </a:txBody>
                  <a:tcPr/>
                </a:tc>
                <a:extLst>
                  <a:ext uri="{0D108BD9-81ED-4DB2-BD59-A6C34878D82A}">
                    <a16:rowId xmlns:a16="http://schemas.microsoft.com/office/drawing/2014/main" val="3012953289"/>
                  </a:ext>
                </a:extLst>
              </a:tr>
              <a:tr h="370840">
                <a:tc>
                  <a:txBody>
                    <a:bodyPr/>
                    <a:lstStyle/>
                    <a:p>
                      <a:pPr algn="just"/>
                      <a:r>
                        <a:rPr lang="en-US" dirty="0"/>
                        <a:t>1 m</a:t>
                      </a:r>
                      <a:endParaRPr lang="en-IN" dirty="0"/>
                    </a:p>
                  </a:txBody>
                  <a:tcPr/>
                </a:tc>
                <a:tc>
                  <a:txBody>
                    <a:bodyPr/>
                    <a:lstStyle/>
                    <a:p>
                      <a:pPr algn="just"/>
                      <a:r>
                        <a:rPr lang="en-US" dirty="0"/>
                        <a:t>Square meter</a:t>
                      </a:r>
                      <a:endParaRPr lang="en-IN" dirty="0"/>
                    </a:p>
                  </a:txBody>
                  <a:tcPr/>
                </a:tc>
                <a:tc>
                  <a:txBody>
                    <a:bodyPr/>
                    <a:lstStyle/>
                    <a:p>
                      <a:pPr algn="just"/>
                      <a:r>
                        <a:rPr lang="en-US" dirty="0"/>
                        <a:t>Personal Area Network</a:t>
                      </a:r>
                      <a:endParaRPr lang="en-IN" dirty="0"/>
                    </a:p>
                  </a:txBody>
                  <a:tcPr/>
                </a:tc>
                <a:extLst>
                  <a:ext uri="{0D108BD9-81ED-4DB2-BD59-A6C34878D82A}">
                    <a16:rowId xmlns:a16="http://schemas.microsoft.com/office/drawing/2014/main" val="1671254608"/>
                  </a:ext>
                </a:extLst>
              </a:tr>
              <a:tr h="370840">
                <a:tc>
                  <a:txBody>
                    <a:bodyPr/>
                    <a:lstStyle/>
                    <a:p>
                      <a:pPr algn="just"/>
                      <a:r>
                        <a:rPr lang="en-US" dirty="0"/>
                        <a:t>10 m</a:t>
                      </a:r>
                      <a:endParaRPr lang="en-IN" dirty="0"/>
                    </a:p>
                  </a:txBody>
                  <a:tcPr/>
                </a:tc>
                <a:tc>
                  <a:txBody>
                    <a:bodyPr/>
                    <a:lstStyle/>
                    <a:p>
                      <a:pPr algn="just"/>
                      <a:r>
                        <a:rPr lang="en-US" dirty="0"/>
                        <a:t>Room</a:t>
                      </a:r>
                      <a:endParaRPr lang="en-IN" dirty="0"/>
                    </a:p>
                  </a:txBody>
                  <a:tcPr/>
                </a:tc>
                <a:tc rowSpan="3">
                  <a:txBody>
                    <a:bodyPr/>
                    <a:lstStyle/>
                    <a:p>
                      <a:pPr algn="just"/>
                      <a:endParaRPr lang="en-US" dirty="0"/>
                    </a:p>
                    <a:p>
                      <a:pPr algn="just"/>
                      <a:r>
                        <a:rPr lang="en-US" dirty="0"/>
                        <a:t>Local Area Network</a:t>
                      </a:r>
                      <a:endParaRPr lang="en-IN" dirty="0"/>
                    </a:p>
                  </a:txBody>
                  <a:tcPr/>
                </a:tc>
                <a:extLst>
                  <a:ext uri="{0D108BD9-81ED-4DB2-BD59-A6C34878D82A}">
                    <a16:rowId xmlns:a16="http://schemas.microsoft.com/office/drawing/2014/main" val="2953378883"/>
                  </a:ext>
                </a:extLst>
              </a:tr>
              <a:tr h="370840">
                <a:tc>
                  <a:txBody>
                    <a:bodyPr/>
                    <a:lstStyle/>
                    <a:p>
                      <a:pPr algn="just"/>
                      <a:r>
                        <a:rPr lang="en-US" dirty="0"/>
                        <a:t>100 m</a:t>
                      </a:r>
                      <a:endParaRPr lang="en-IN" dirty="0"/>
                    </a:p>
                  </a:txBody>
                  <a:tcPr/>
                </a:tc>
                <a:tc>
                  <a:txBody>
                    <a:bodyPr/>
                    <a:lstStyle/>
                    <a:p>
                      <a:pPr algn="just"/>
                      <a:r>
                        <a:rPr lang="en-US" dirty="0"/>
                        <a:t>Building</a:t>
                      </a:r>
                      <a:endParaRPr lang="en-IN" dirty="0"/>
                    </a:p>
                  </a:txBody>
                  <a:tcPr/>
                </a:tc>
                <a:tc vMerge="1">
                  <a:txBody>
                    <a:bodyPr/>
                    <a:lstStyle/>
                    <a:p>
                      <a:pPr algn="just"/>
                      <a:endParaRPr lang="en-IN" dirty="0"/>
                    </a:p>
                  </a:txBody>
                  <a:tcPr/>
                </a:tc>
                <a:extLst>
                  <a:ext uri="{0D108BD9-81ED-4DB2-BD59-A6C34878D82A}">
                    <a16:rowId xmlns:a16="http://schemas.microsoft.com/office/drawing/2014/main" val="1578742920"/>
                  </a:ext>
                </a:extLst>
              </a:tr>
              <a:tr h="370840">
                <a:tc>
                  <a:txBody>
                    <a:bodyPr/>
                    <a:lstStyle/>
                    <a:p>
                      <a:pPr algn="just"/>
                      <a:r>
                        <a:rPr lang="en-US" dirty="0"/>
                        <a:t>1 km</a:t>
                      </a:r>
                      <a:endParaRPr lang="en-IN" dirty="0"/>
                    </a:p>
                  </a:txBody>
                  <a:tcPr/>
                </a:tc>
                <a:tc>
                  <a:txBody>
                    <a:bodyPr/>
                    <a:lstStyle/>
                    <a:p>
                      <a:pPr algn="just"/>
                      <a:r>
                        <a:rPr lang="en-US" dirty="0"/>
                        <a:t>Campus</a:t>
                      </a:r>
                      <a:endParaRPr lang="en-IN" dirty="0"/>
                    </a:p>
                  </a:txBody>
                  <a:tcPr/>
                </a:tc>
                <a:tc vMerge="1">
                  <a:txBody>
                    <a:bodyPr/>
                    <a:lstStyle/>
                    <a:p>
                      <a:pPr algn="just"/>
                      <a:endParaRPr lang="en-IN" dirty="0"/>
                    </a:p>
                  </a:txBody>
                  <a:tcPr/>
                </a:tc>
                <a:extLst>
                  <a:ext uri="{0D108BD9-81ED-4DB2-BD59-A6C34878D82A}">
                    <a16:rowId xmlns:a16="http://schemas.microsoft.com/office/drawing/2014/main" val="2608518001"/>
                  </a:ext>
                </a:extLst>
              </a:tr>
              <a:tr h="370840">
                <a:tc>
                  <a:txBody>
                    <a:bodyPr/>
                    <a:lstStyle/>
                    <a:p>
                      <a:pPr algn="just"/>
                      <a:r>
                        <a:rPr lang="en-US" dirty="0"/>
                        <a:t>10 km</a:t>
                      </a:r>
                      <a:endParaRPr lang="en-IN" dirty="0"/>
                    </a:p>
                  </a:txBody>
                  <a:tcPr/>
                </a:tc>
                <a:tc>
                  <a:txBody>
                    <a:bodyPr/>
                    <a:lstStyle/>
                    <a:p>
                      <a:pPr algn="just"/>
                      <a:r>
                        <a:rPr lang="en-US" dirty="0"/>
                        <a:t>City</a:t>
                      </a:r>
                      <a:endParaRPr lang="en-IN" dirty="0"/>
                    </a:p>
                  </a:txBody>
                  <a:tcPr/>
                </a:tc>
                <a:tc>
                  <a:txBody>
                    <a:bodyPr/>
                    <a:lstStyle/>
                    <a:p>
                      <a:pPr algn="just"/>
                      <a:r>
                        <a:rPr lang="en-US" dirty="0"/>
                        <a:t>Metropolitan Area Network</a:t>
                      </a:r>
                      <a:endParaRPr lang="en-IN" dirty="0"/>
                    </a:p>
                  </a:txBody>
                  <a:tcPr/>
                </a:tc>
                <a:extLst>
                  <a:ext uri="{0D108BD9-81ED-4DB2-BD59-A6C34878D82A}">
                    <a16:rowId xmlns:a16="http://schemas.microsoft.com/office/drawing/2014/main" val="2818148268"/>
                  </a:ext>
                </a:extLst>
              </a:tr>
              <a:tr h="370840">
                <a:tc>
                  <a:txBody>
                    <a:bodyPr/>
                    <a:lstStyle/>
                    <a:p>
                      <a:pPr algn="just"/>
                      <a:r>
                        <a:rPr lang="en-US" dirty="0"/>
                        <a:t>100 km</a:t>
                      </a:r>
                      <a:endParaRPr lang="en-IN" dirty="0"/>
                    </a:p>
                  </a:txBody>
                  <a:tcPr/>
                </a:tc>
                <a:tc>
                  <a:txBody>
                    <a:bodyPr/>
                    <a:lstStyle/>
                    <a:p>
                      <a:pPr algn="just"/>
                      <a:r>
                        <a:rPr lang="en-US" dirty="0"/>
                        <a:t>Country</a:t>
                      </a:r>
                      <a:endParaRPr lang="en-IN" dirty="0"/>
                    </a:p>
                  </a:txBody>
                  <a:tcPr/>
                </a:tc>
                <a:tc rowSpan="2">
                  <a:txBody>
                    <a:bodyPr/>
                    <a:lstStyle/>
                    <a:p>
                      <a:pPr algn="just"/>
                      <a:endParaRPr lang="en-US" dirty="0"/>
                    </a:p>
                    <a:p>
                      <a:pPr algn="just"/>
                      <a:r>
                        <a:rPr lang="en-US" dirty="0"/>
                        <a:t>Wide Area Network</a:t>
                      </a:r>
                      <a:endParaRPr lang="en-IN" dirty="0"/>
                    </a:p>
                  </a:txBody>
                  <a:tcPr/>
                </a:tc>
                <a:extLst>
                  <a:ext uri="{0D108BD9-81ED-4DB2-BD59-A6C34878D82A}">
                    <a16:rowId xmlns:a16="http://schemas.microsoft.com/office/drawing/2014/main" val="26241982"/>
                  </a:ext>
                </a:extLst>
              </a:tr>
              <a:tr h="370840">
                <a:tc>
                  <a:txBody>
                    <a:bodyPr/>
                    <a:lstStyle/>
                    <a:p>
                      <a:pPr algn="just"/>
                      <a:r>
                        <a:rPr lang="en-US" dirty="0"/>
                        <a:t>1000 km</a:t>
                      </a:r>
                      <a:endParaRPr lang="en-IN" dirty="0"/>
                    </a:p>
                  </a:txBody>
                  <a:tcPr/>
                </a:tc>
                <a:tc>
                  <a:txBody>
                    <a:bodyPr/>
                    <a:lstStyle/>
                    <a:p>
                      <a:pPr algn="just"/>
                      <a:r>
                        <a:rPr lang="en-US" dirty="0"/>
                        <a:t>Continent</a:t>
                      </a:r>
                      <a:endParaRPr lang="en-IN" dirty="0"/>
                    </a:p>
                  </a:txBody>
                  <a:tcPr/>
                </a:tc>
                <a:tc vMerge="1">
                  <a:txBody>
                    <a:bodyPr/>
                    <a:lstStyle/>
                    <a:p>
                      <a:pPr algn="just"/>
                      <a:endParaRPr lang="en-IN" dirty="0"/>
                    </a:p>
                  </a:txBody>
                  <a:tcPr/>
                </a:tc>
                <a:extLst>
                  <a:ext uri="{0D108BD9-81ED-4DB2-BD59-A6C34878D82A}">
                    <a16:rowId xmlns:a16="http://schemas.microsoft.com/office/drawing/2014/main" val="2706116233"/>
                  </a:ext>
                </a:extLst>
              </a:tr>
              <a:tr h="370840">
                <a:tc>
                  <a:txBody>
                    <a:bodyPr/>
                    <a:lstStyle/>
                    <a:p>
                      <a:pPr algn="just"/>
                      <a:r>
                        <a:rPr lang="en-US" dirty="0"/>
                        <a:t>10,000 km</a:t>
                      </a:r>
                      <a:endParaRPr lang="en-IN" dirty="0"/>
                    </a:p>
                  </a:txBody>
                  <a:tcPr/>
                </a:tc>
                <a:tc>
                  <a:txBody>
                    <a:bodyPr/>
                    <a:lstStyle/>
                    <a:p>
                      <a:pPr algn="just"/>
                      <a:r>
                        <a:rPr lang="en-US" dirty="0"/>
                        <a:t>Planet</a:t>
                      </a:r>
                      <a:endParaRPr lang="en-IN" dirty="0"/>
                    </a:p>
                  </a:txBody>
                  <a:tcPr/>
                </a:tc>
                <a:tc>
                  <a:txBody>
                    <a:bodyPr/>
                    <a:lstStyle/>
                    <a:p>
                      <a:pPr algn="just"/>
                      <a:r>
                        <a:rPr lang="en-US" dirty="0"/>
                        <a:t>The Internet</a:t>
                      </a:r>
                      <a:endParaRPr lang="en-IN" dirty="0"/>
                    </a:p>
                  </a:txBody>
                  <a:tcPr/>
                </a:tc>
                <a:extLst>
                  <a:ext uri="{0D108BD9-81ED-4DB2-BD59-A6C34878D82A}">
                    <a16:rowId xmlns:a16="http://schemas.microsoft.com/office/drawing/2014/main" val="2753589796"/>
                  </a:ext>
                </a:extLst>
              </a:tr>
            </a:tbl>
          </a:graphicData>
        </a:graphic>
      </p:graphicFrame>
      <p:sp>
        <p:nvSpPr>
          <p:cNvPr id="13" name="Right Brace 12">
            <a:extLst>
              <a:ext uri="{FF2B5EF4-FFF2-40B4-BE49-F238E27FC236}">
                <a16:creationId xmlns:a16="http://schemas.microsoft.com/office/drawing/2014/main" id="{5ED5CF50-3806-724B-A2FB-100F0A14E406}"/>
              </a:ext>
            </a:extLst>
          </p:cNvPr>
          <p:cNvSpPr/>
          <p:nvPr/>
        </p:nvSpPr>
        <p:spPr>
          <a:xfrm>
            <a:off x="6844556" y="3418979"/>
            <a:ext cx="336176" cy="847400"/>
          </a:xfrm>
          <a:prstGeom prst="rightBrace">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e 13">
            <a:extLst>
              <a:ext uri="{FF2B5EF4-FFF2-40B4-BE49-F238E27FC236}">
                <a16:creationId xmlns:a16="http://schemas.microsoft.com/office/drawing/2014/main" id="{E344ECFD-C1F1-6979-FEA7-552A0D8002E4}"/>
              </a:ext>
            </a:extLst>
          </p:cNvPr>
          <p:cNvSpPr/>
          <p:nvPr/>
        </p:nvSpPr>
        <p:spPr>
          <a:xfrm>
            <a:off x="6943168" y="5131231"/>
            <a:ext cx="336176" cy="569181"/>
          </a:xfrm>
          <a:prstGeom prst="rightBrace">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1026" name="Picture 2" descr="Java.Net | LinkedIn">
            <a:extLst>
              <a:ext uri="{FF2B5EF4-FFF2-40B4-BE49-F238E27FC236}">
                <a16:creationId xmlns:a16="http://schemas.microsoft.com/office/drawing/2014/main" id="{2105A40A-C58D-82FC-BEB1-7E38060452BB}"/>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t="30592" b="30182"/>
          <a:stretch/>
        </p:blipFill>
        <p:spPr bwMode="auto">
          <a:xfrm>
            <a:off x="1111493" y="2199417"/>
            <a:ext cx="1905000" cy="747249"/>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5E3C34E6-2305-37B9-138D-EE12CDFEC63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8288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336176" y="1329668"/>
            <a:ext cx="8932148" cy="4154984"/>
          </a:xfrm>
          <a:prstGeom prst="rect">
            <a:avLst/>
          </a:prstGeom>
          <a:noFill/>
        </p:spPr>
        <p:txBody>
          <a:bodyPr wrap="square" rtlCol="0">
            <a:spAutoFit/>
          </a:bodyPr>
          <a:lstStyle/>
          <a:p>
            <a:pPr algn="just"/>
            <a:r>
              <a:rPr lang="en-US" sz="2400" dirty="0">
                <a:solidFill>
                  <a:srgbClr val="0000FF"/>
                </a:solidFill>
                <a:cs typeface="Arial" panose="020B0604020202020204" pitchFamily="34" charset="0"/>
              </a:rPr>
              <a:t>The important classes in this package are:</a:t>
            </a:r>
          </a:p>
          <a:p>
            <a:pPr marL="514350" indent="-514350" algn="just">
              <a:buFont typeface="+mj-lt"/>
              <a:buAutoNum type="romanUcPeriod"/>
            </a:pPr>
            <a:r>
              <a:rPr lang="en-US" sz="2400" b="1" dirty="0">
                <a:solidFill>
                  <a:srgbClr val="FF0000"/>
                </a:solidFill>
                <a:cs typeface="Arial" panose="020B0604020202020204" pitchFamily="34" charset="0"/>
              </a:rPr>
              <a:t>InetAddress</a:t>
            </a:r>
            <a:r>
              <a:rPr lang="en-US" sz="2400" dirty="0">
                <a:solidFill>
                  <a:srgbClr val="0000FF"/>
                </a:solidFill>
                <a:cs typeface="Arial" panose="020B0604020202020204" pitchFamily="34" charset="0"/>
              </a:rPr>
              <a:t> - We can resolve domain name into IP Address and vice-versa via DNS (Domain Naming Server) Server .</a:t>
            </a:r>
          </a:p>
          <a:p>
            <a:pPr marL="514350" indent="-514350" algn="just">
              <a:buFont typeface="+mj-lt"/>
              <a:buAutoNum type="romanUcPeriod"/>
            </a:pPr>
            <a:r>
              <a:rPr lang="en-US" sz="2400" b="1" dirty="0">
                <a:solidFill>
                  <a:srgbClr val="FF0000"/>
                </a:solidFill>
                <a:cs typeface="Arial" panose="020B0604020202020204" pitchFamily="34" charset="0"/>
              </a:rPr>
              <a:t>URL</a:t>
            </a:r>
            <a:r>
              <a:rPr lang="en-US" sz="2400" dirty="0">
                <a:solidFill>
                  <a:srgbClr val="0000FF"/>
                </a:solidFill>
                <a:cs typeface="Arial" panose="020B0604020202020204" pitchFamily="34" charset="0"/>
              </a:rPr>
              <a:t> - We can download any files that exist on local/WWW server into our machine</a:t>
            </a:r>
          </a:p>
          <a:p>
            <a:pPr marL="514350" indent="-514350" algn="just">
              <a:buFont typeface="+mj-lt"/>
              <a:buAutoNum type="romanUcPeriod"/>
            </a:pPr>
            <a:r>
              <a:rPr lang="en-US" sz="2400" b="1" dirty="0">
                <a:solidFill>
                  <a:srgbClr val="FF0000"/>
                </a:solidFill>
                <a:cs typeface="Arial" panose="020B0604020202020204" pitchFamily="34" charset="0"/>
              </a:rPr>
              <a:t>URLConnection</a:t>
            </a:r>
            <a:r>
              <a:rPr lang="en-US" sz="2400" dirty="0">
                <a:solidFill>
                  <a:srgbClr val="FF0000"/>
                </a:solidFill>
                <a:cs typeface="Arial" panose="020B0604020202020204" pitchFamily="34" charset="0"/>
              </a:rPr>
              <a:t> &amp; </a:t>
            </a:r>
            <a:r>
              <a:rPr lang="en-US" sz="2400" b="1" dirty="0">
                <a:solidFill>
                  <a:srgbClr val="FF0000"/>
                </a:solidFill>
                <a:cs typeface="Arial" panose="020B0604020202020204" pitchFamily="34" charset="0"/>
              </a:rPr>
              <a:t>HttpURLConnection</a:t>
            </a:r>
            <a:r>
              <a:rPr lang="en-US" sz="2400" dirty="0">
                <a:solidFill>
                  <a:srgbClr val="FF0000"/>
                </a:solidFill>
                <a:cs typeface="Arial" panose="020B0604020202020204" pitchFamily="34" charset="0"/>
              </a:rPr>
              <a:t> </a:t>
            </a:r>
            <a:r>
              <a:rPr lang="en-US" sz="2400" dirty="0">
                <a:solidFill>
                  <a:srgbClr val="0000FF"/>
                </a:solidFill>
                <a:cs typeface="Arial" panose="020B0604020202020204" pitchFamily="34" charset="0"/>
              </a:rPr>
              <a:t>- One way and two way interaction/communication with web applications on webserver /application server</a:t>
            </a:r>
          </a:p>
          <a:p>
            <a:pPr marL="514350" indent="-514350" algn="just">
              <a:buFont typeface="+mj-lt"/>
              <a:buAutoNum type="romanUcPeriod"/>
            </a:pPr>
            <a:r>
              <a:rPr lang="en-US" sz="2400" b="1" dirty="0">
                <a:solidFill>
                  <a:srgbClr val="FF0000"/>
                </a:solidFill>
                <a:cs typeface="Arial" panose="020B0604020202020204" pitchFamily="34" charset="0"/>
              </a:rPr>
              <a:t>Socket &amp; ServerSocket</a:t>
            </a:r>
            <a:r>
              <a:rPr lang="en-US" sz="2400" dirty="0">
                <a:solidFill>
                  <a:srgbClr val="FF0000"/>
                </a:solidFill>
                <a:cs typeface="Arial" panose="020B0604020202020204" pitchFamily="34" charset="0"/>
              </a:rPr>
              <a:t> </a:t>
            </a:r>
            <a:r>
              <a:rPr lang="en-US" sz="2400" dirty="0">
                <a:solidFill>
                  <a:srgbClr val="0000FF"/>
                </a:solidFill>
                <a:cs typeface="Arial" panose="020B0604020202020204" pitchFamily="34" charset="0"/>
              </a:rPr>
              <a:t>- TCP/IP Client-Server Programming</a:t>
            </a:r>
          </a:p>
          <a:p>
            <a:pPr marL="514350" indent="-514350" algn="just">
              <a:buFont typeface="+mj-lt"/>
              <a:buAutoNum type="romanUcPeriod"/>
            </a:pPr>
            <a:r>
              <a:rPr lang="en-US" sz="2400" b="1" dirty="0">
                <a:solidFill>
                  <a:srgbClr val="FF0000"/>
                </a:solidFill>
                <a:cs typeface="Arial" panose="020B0604020202020204" pitchFamily="34" charset="0"/>
              </a:rPr>
              <a:t>DatagramSocket &amp; DatagramPacket</a:t>
            </a:r>
            <a:r>
              <a:rPr lang="en-US" sz="2400" dirty="0">
                <a:solidFill>
                  <a:srgbClr val="FF0000"/>
                </a:solidFill>
                <a:cs typeface="Arial" panose="020B0604020202020204" pitchFamily="34" charset="0"/>
              </a:rPr>
              <a:t> </a:t>
            </a:r>
            <a:r>
              <a:rPr lang="en-US" sz="2400" dirty="0">
                <a:solidFill>
                  <a:srgbClr val="0000FF"/>
                </a:solidFill>
                <a:cs typeface="Arial" panose="020B0604020202020204" pitchFamily="34" charset="0"/>
              </a:rPr>
              <a:t>- UDP Sender-Receiver Programming</a:t>
            </a:r>
            <a:endParaRPr lang="en-US" sz="1600" dirty="0">
              <a:solidFill>
                <a:srgbClr val="0000FF"/>
              </a:solidFill>
              <a:cs typeface="Arial" panose="020B0604020202020204" pitchFamily="34" charset="0"/>
            </a:endParaRPr>
          </a:p>
        </p:txBody>
      </p:sp>
      <p:sp>
        <p:nvSpPr>
          <p:cNvPr id="7" name="Footer Placeholder 6">
            <a:extLst>
              <a:ext uri="{FF2B5EF4-FFF2-40B4-BE49-F238E27FC236}">
                <a16:creationId xmlns:a16="http://schemas.microsoft.com/office/drawing/2014/main" id="{EEDB78AC-64E8-DF03-0A52-C106568DA39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5605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337122" y="834430"/>
            <a:ext cx="8943885" cy="5632311"/>
          </a:xfrm>
          <a:prstGeom prst="rect">
            <a:avLst/>
          </a:prstGeom>
          <a:noFill/>
        </p:spPr>
        <p:txBody>
          <a:bodyPr wrap="square" rtlCol="0">
            <a:spAutoFit/>
          </a:bodyPr>
          <a:lstStyle/>
          <a:p>
            <a:pPr algn="just"/>
            <a:r>
              <a:rPr lang="en-US" sz="2400" b="1" dirty="0">
                <a:solidFill>
                  <a:srgbClr val="0000FF"/>
                </a:solidFill>
                <a:cs typeface="Arial" panose="020B0604020202020204" pitchFamily="34" charset="0"/>
              </a:rPr>
              <a:t>InetAddress class is used to resolve domain name into IP Address and vice-versa by connecting to DNS Server.</a:t>
            </a:r>
          </a:p>
          <a:p>
            <a:pPr algn="just"/>
            <a:endParaRPr lang="en-US" sz="2400" b="1" dirty="0">
              <a:solidFill>
                <a:srgbClr val="0000FF"/>
              </a:solidFill>
              <a:cs typeface="Arial" panose="020B0604020202020204" pitchFamily="34" charset="0"/>
            </a:endParaRPr>
          </a:p>
          <a:p>
            <a:pPr algn="just"/>
            <a:r>
              <a:rPr lang="en-US" sz="2400" b="1" dirty="0">
                <a:solidFill>
                  <a:srgbClr val="0000FF"/>
                </a:solidFill>
                <a:cs typeface="Arial" panose="020B0604020202020204" pitchFamily="34" charset="0"/>
              </a:rPr>
              <a:t>Using URL class we can establish connection and read web pages or download various extension files from WWW server machine.</a:t>
            </a:r>
          </a:p>
          <a:p>
            <a:pPr algn="just"/>
            <a:endParaRPr lang="en-US" sz="2400" b="1" dirty="0">
              <a:solidFill>
                <a:srgbClr val="0000FF"/>
              </a:solidFill>
              <a:cs typeface="Arial" panose="020B0604020202020204" pitchFamily="34" charset="0"/>
            </a:endParaRPr>
          </a:p>
          <a:p>
            <a:pPr algn="just"/>
            <a:r>
              <a:rPr lang="en-US" sz="2400" b="1" dirty="0">
                <a:solidFill>
                  <a:srgbClr val="0000FF"/>
                </a:solidFill>
                <a:cs typeface="Arial" panose="020B0604020202020204" pitchFamily="34" charset="0"/>
              </a:rPr>
              <a:t>URLConnection class helps us to perform both read and write operations on local/WWW resources</a:t>
            </a:r>
          </a:p>
          <a:p>
            <a:pPr algn="just"/>
            <a:endParaRPr lang="en-US" sz="2400" b="1" dirty="0">
              <a:solidFill>
                <a:srgbClr val="0000FF"/>
              </a:solidFill>
              <a:cs typeface="Arial" panose="020B0604020202020204" pitchFamily="34" charset="0"/>
            </a:endParaRPr>
          </a:p>
          <a:p>
            <a:pPr algn="just"/>
            <a:r>
              <a:rPr lang="en-US" sz="2400" b="1" dirty="0">
                <a:solidFill>
                  <a:srgbClr val="0000FF"/>
                </a:solidFill>
                <a:cs typeface="Arial" panose="020B0604020202020204" pitchFamily="34" charset="0"/>
              </a:rPr>
              <a:t>Using Socket &amp; ServerSocket we can implement our own TCP/IP protocol implement that also can run on both local n/w and remote n/w.</a:t>
            </a:r>
          </a:p>
          <a:p>
            <a:pPr algn="just"/>
            <a:endParaRPr lang="en-US" sz="2400" b="1" dirty="0">
              <a:solidFill>
                <a:srgbClr val="0000FF"/>
              </a:solidFill>
              <a:cs typeface="Arial" panose="020B0604020202020204" pitchFamily="34" charset="0"/>
            </a:endParaRPr>
          </a:p>
          <a:p>
            <a:pPr algn="just"/>
            <a:r>
              <a:rPr lang="en-US" sz="2400" b="1" dirty="0">
                <a:solidFill>
                  <a:srgbClr val="0000FF"/>
                </a:solidFill>
                <a:cs typeface="Arial" panose="020B0604020202020204" pitchFamily="34" charset="0"/>
              </a:rPr>
              <a:t>Using DatagramSocket and DatagramPacket we can implement our own UDP protocol implementations.</a:t>
            </a:r>
            <a:endParaRPr lang="en-US" sz="1600" b="1" dirty="0">
              <a:solidFill>
                <a:srgbClr val="0000FF"/>
              </a:solidFill>
              <a:cs typeface="Arial" panose="020B0604020202020204" pitchFamily="34" charset="0"/>
            </a:endParaRPr>
          </a:p>
        </p:txBody>
      </p:sp>
      <p:sp>
        <p:nvSpPr>
          <p:cNvPr id="7" name="Footer Placeholder 6">
            <a:extLst>
              <a:ext uri="{FF2B5EF4-FFF2-40B4-BE49-F238E27FC236}">
                <a16:creationId xmlns:a16="http://schemas.microsoft.com/office/drawing/2014/main" id="{5F389FB3-F300-73C4-7434-3831C89CFCC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44019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8392615" cy="707886"/>
          </a:xfrm>
          <a:prstGeom prst="rect">
            <a:avLst/>
          </a:prstGeom>
          <a:noFill/>
        </p:spPr>
        <p:txBody>
          <a:bodyPr wrap="square" rtlCol="0">
            <a:spAutoFit/>
          </a:bodyPr>
          <a:lstStyle/>
          <a:p>
            <a:pPr algn="just"/>
            <a:r>
              <a:rPr lang="en-US" sz="4000" b="1" u="wavyHeavy" dirty="0">
                <a:solidFill>
                  <a:srgbClr val="0000FF"/>
                </a:solidFill>
                <a:cs typeface="Arial" panose="020B0604020202020204" pitchFamily="34" charset="0"/>
              </a:rPr>
              <a:t>Class ‘A’ Address:</a:t>
            </a:r>
          </a:p>
        </p:txBody>
      </p:sp>
      <p:sp>
        <p:nvSpPr>
          <p:cNvPr id="9" name="Oval 8">
            <a:extLst>
              <a:ext uri="{FF2B5EF4-FFF2-40B4-BE49-F238E27FC236}">
                <a16:creationId xmlns:a16="http://schemas.microsoft.com/office/drawing/2014/main" id="{40A427B5-444A-BBEF-4A34-43B4997125D7}"/>
              </a:ext>
            </a:extLst>
          </p:cNvPr>
          <p:cNvSpPr/>
          <p:nvPr/>
        </p:nvSpPr>
        <p:spPr>
          <a:xfrm>
            <a:off x="9096555" y="2253088"/>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sp>
        <p:nvSpPr>
          <p:cNvPr id="4" name="TextBox 3">
            <a:extLst>
              <a:ext uri="{FF2B5EF4-FFF2-40B4-BE49-F238E27FC236}">
                <a16:creationId xmlns:a16="http://schemas.microsoft.com/office/drawing/2014/main" id="{276C9228-69E0-68A5-06EF-B29C0B4B231A}"/>
              </a:ext>
            </a:extLst>
          </p:cNvPr>
          <p:cNvSpPr txBox="1"/>
          <p:nvPr/>
        </p:nvSpPr>
        <p:spPr>
          <a:xfrm>
            <a:off x="439191" y="1386030"/>
            <a:ext cx="7850171" cy="4893647"/>
          </a:xfrm>
          <a:prstGeom prst="rect">
            <a:avLst/>
          </a:prstGeom>
          <a:noFill/>
        </p:spPr>
        <p:txBody>
          <a:bodyPr wrap="square" rtlCol="0">
            <a:spAutoFit/>
          </a:bodyPr>
          <a:lstStyle/>
          <a:p>
            <a:pPr algn="just"/>
            <a:r>
              <a:rPr lang="en-US" sz="2400" dirty="0"/>
              <a:t>In Class A an IP Address is assigned to those networks that contain a large number of hosts. </a:t>
            </a:r>
          </a:p>
          <a:p>
            <a:pPr algn="just"/>
            <a:endParaRPr lang="en-US" sz="2400" dirty="0"/>
          </a:p>
          <a:p>
            <a:pPr marL="800100" lvl="1" indent="-342900" algn="just">
              <a:buFont typeface="Wingdings" panose="05000000000000000000" pitchFamily="2" charset="2"/>
              <a:buChar char="Ø"/>
            </a:pPr>
            <a:r>
              <a:rPr lang="en-US" sz="2400" dirty="0"/>
              <a:t>The N/W ID is 8 bits long</a:t>
            </a:r>
          </a:p>
          <a:p>
            <a:pPr marL="800100" lvl="1" indent="-342900" algn="just">
              <a:buFont typeface="Wingdings" panose="05000000000000000000" pitchFamily="2" charset="2"/>
              <a:buChar char="Ø"/>
            </a:pPr>
            <a:r>
              <a:rPr lang="en-US" sz="2400" dirty="0"/>
              <a:t>The Host ID is 24 bits long</a:t>
            </a:r>
          </a:p>
          <a:p>
            <a:pPr algn="just"/>
            <a:endParaRPr lang="en-IN" sz="2400" dirty="0"/>
          </a:p>
          <a:p>
            <a:pPr algn="just"/>
            <a:r>
              <a:rPr lang="en-IN" sz="2400" dirty="0"/>
              <a:t>In Class A, the first bit in higher order bits of the first octet is always set to 0 and the remaining 7 bits determine the N/W ID. The 24 bits determine the host ID in any network.</a:t>
            </a:r>
          </a:p>
          <a:p>
            <a:pPr algn="just"/>
            <a:endParaRPr lang="en-IN" sz="2400" dirty="0"/>
          </a:p>
          <a:p>
            <a:pPr algn="just"/>
            <a:r>
              <a:rPr lang="en-IN" sz="2400" dirty="0"/>
              <a:t>The total number of networks in Class A = 2</a:t>
            </a:r>
            <a:r>
              <a:rPr lang="en-IN" sz="2400" b="1" baseline="30000" dirty="0"/>
              <a:t>7 </a:t>
            </a:r>
            <a:r>
              <a:rPr lang="en-IN" sz="2400" dirty="0"/>
              <a:t>= 128 networks</a:t>
            </a:r>
          </a:p>
          <a:p>
            <a:pPr algn="just"/>
            <a:r>
              <a:rPr lang="en-IN" sz="2400" dirty="0"/>
              <a:t>The total number of hosts in Class A = 2</a:t>
            </a:r>
            <a:r>
              <a:rPr lang="en-IN" sz="2400" b="1" baseline="30000" dirty="0"/>
              <a:t>24</a:t>
            </a:r>
            <a:r>
              <a:rPr lang="en-IN" sz="2400" dirty="0"/>
              <a:t>-2=1,67,77,214 host addresses</a:t>
            </a:r>
          </a:p>
        </p:txBody>
      </p:sp>
      <p:pic>
        <p:nvPicPr>
          <p:cNvPr id="3074" name="Picture 2" descr="Network Addressing">
            <a:extLst>
              <a:ext uri="{FF2B5EF4-FFF2-40B4-BE49-F238E27FC236}">
                <a16:creationId xmlns:a16="http://schemas.microsoft.com/office/drawing/2014/main" id="{764D1188-9405-D347-A025-E56CC6F62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746" y="2050399"/>
            <a:ext cx="3181350" cy="714375"/>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0EFD797D-25F4-7472-B12D-57C67A752E7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4350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8392615" cy="707886"/>
          </a:xfrm>
          <a:prstGeom prst="rect">
            <a:avLst/>
          </a:prstGeom>
          <a:noFill/>
        </p:spPr>
        <p:txBody>
          <a:bodyPr wrap="square" rtlCol="0">
            <a:spAutoFit/>
          </a:bodyPr>
          <a:lstStyle/>
          <a:p>
            <a:pPr algn="just"/>
            <a:r>
              <a:rPr lang="en-US" sz="4000" b="1" u="wavyHeavy" dirty="0">
                <a:solidFill>
                  <a:srgbClr val="0000FF"/>
                </a:solidFill>
                <a:cs typeface="Arial" panose="020B0604020202020204" pitchFamily="34" charset="0"/>
              </a:rPr>
              <a:t>Class ‘B’ Address:</a:t>
            </a:r>
          </a:p>
        </p:txBody>
      </p:sp>
      <p:sp>
        <p:nvSpPr>
          <p:cNvPr id="9" name="Oval 8">
            <a:extLst>
              <a:ext uri="{FF2B5EF4-FFF2-40B4-BE49-F238E27FC236}">
                <a16:creationId xmlns:a16="http://schemas.microsoft.com/office/drawing/2014/main" id="{40A427B5-444A-BBEF-4A34-43B4997125D7}"/>
              </a:ext>
            </a:extLst>
          </p:cNvPr>
          <p:cNvSpPr/>
          <p:nvPr/>
        </p:nvSpPr>
        <p:spPr>
          <a:xfrm>
            <a:off x="9096555" y="2253088"/>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sp>
        <p:nvSpPr>
          <p:cNvPr id="4" name="TextBox 3">
            <a:extLst>
              <a:ext uri="{FF2B5EF4-FFF2-40B4-BE49-F238E27FC236}">
                <a16:creationId xmlns:a16="http://schemas.microsoft.com/office/drawing/2014/main" id="{276C9228-69E0-68A5-06EF-B29C0B4B231A}"/>
              </a:ext>
            </a:extLst>
          </p:cNvPr>
          <p:cNvSpPr txBox="1"/>
          <p:nvPr/>
        </p:nvSpPr>
        <p:spPr>
          <a:xfrm>
            <a:off x="439191" y="1386030"/>
            <a:ext cx="7850171" cy="4893647"/>
          </a:xfrm>
          <a:prstGeom prst="rect">
            <a:avLst/>
          </a:prstGeom>
          <a:noFill/>
        </p:spPr>
        <p:txBody>
          <a:bodyPr wrap="square" rtlCol="0">
            <a:spAutoFit/>
          </a:bodyPr>
          <a:lstStyle/>
          <a:p>
            <a:pPr algn="just"/>
            <a:r>
              <a:rPr lang="en-US" sz="2400" dirty="0"/>
              <a:t>In Class B an IP Address is assigned to those networks that range from small-sized to large-sized networks. </a:t>
            </a:r>
          </a:p>
          <a:p>
            <a:pPr algn="just"/>
            <a:endParaRPr lang="en-US" sz="2400" dirty="0"/>
          </a:p>
          <a:p>
            <a:pPr marL="800100" lvl="1" indent="-342900" algn="just">
              <a:buFont typeface="Wingdings" panose="05000000000000000000" pitchFamily="2" charset="2"/>
              <a:buChar char="Ø"/>
            </a:pPr>
            <a:r>
              <a:rPr lang="en-US" sz="2400" dirty="0"/>
              <a:t>The N/W ID is 16 bits long</a:t>
            </a:r>
          </a:p>
          <a:p>
            <a:pPr marL="800100" lvl="1" indent="-342900" algn="just">
              <a:buFont typeface="Wingdings" panose="05000000000000000000" pitchFamily="2" charset="2"/>
              <a:buChar char="Ø"/>
            </a:pPr>
            <a:r>
              <a:rPr lang="en-US" sz="2400" dirty="0"/>
              <a:t>The Host ID is 16 bits long</a:t>
            </a:r>
          </a:p>
          <a:p>
            <a:pPr algn="just"/>
            <a:endParaRPr lang="en-IN" sz="2400" dirty="0"/>
          </a:p>
          <a:p>
            <a:pPr algn="just"/>
            <a:r>
              <a:rPr lang="en-IN" sz="2400" dirty="0"/>
              <a:t>In Class B, the higher order bits of the first octet is always set to 10, and the remaining 14 bits determine the N/W ID. The other 16 bits determine the </a:t>
            </a:r>
            <a:r>
              <a:rPr lang="en-IN" sz="2400" dirty="0" err="1"/>
              <a:t>HostID</a:t>
            </a:r>
            <a:r>
              <a:rPr lang="en-IN" sz="2400" dirty="0"/>
              <a:t>.</a:t>
            </a:r>
          </a:p>
          <a:p>
            <a:pPr algn="just"/>
            <a:endParaRPr lang="en-IN" sz="2400" dirty="0"/>
          </a:p>
          <a:p>
            <a:pPr algn="just"/>
            <a:r>
              <a:rPr lang="en-IN" sz="2400" dirty="0"/>
              <a:t>The total number of networks in Class B = 2</a:t>
            </a:r>
            <a:r>
              <a:rPr lang="en-IN" sz="2400" b="1" baseline="30000" dirty="0"/>
              <a:t>14</a:t>
            </a:r>
            <a:r>
              <a:rPr lang="en-IN" sz="2400" dirty="0"/>
              <a:t>=16,384 network address.</a:t>
            </a:r>
          </a:p>
          <a:p>
            <a:pPr algn="just"/>
            <a:r>
              <a:rPr lang="en-IN" sz="2400" dirty="0"/>
              <a:t>The total number of hosts in Class B =2</a:t>
            </a:r>
            <a:r>
              <a:rPr lang="en-IN" sz="2400" b="1" baseline="30000" dirty="0"/>
              <a:t>16</a:t>
            </a:r>
            <a:r>
              <a:rPr lang="en-IN" sz="2400" dirty="0"/>
              <a:t>-2=65,534 hosts</a:t>
            </a:r>
          </a:p>
        </p:txBody>
      </p:sp>
      <p:pic>
        <p:nvPicPr>
          <p:cNvPr id="4098" name="Picture 2" descr="Network Addressing">
            <a:extLst>
              <a:ext uri="{FF2B5EF4-FFF2-40B4-BE49-F238E27FC236}">
                <a16:creationId xmlns:a16="http://schemas.microsoft.com/office/drawing/2014/main" id="{B4EB4E87-7945-7816-5E20-ECF6A9EBF8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1241" y="2306560"/>
            <a:ext cx="3343275" cy="723900"/>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F1C8579A-8491-419D-6D9B-4DE0A60800C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66151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8392615" cy="707886"/>
          </a:xfrm>
          <a:prstGeom prst="rect">
            <a:avLst/>
          </a:prstGeom>
          <a:noFill/>
        </p:spPr>
        <p:txBody>
          <a:bodyPr wrap="square" rtlCol="0">
            <a:spAutoFit/>
          </a:bodyPr>
          <a:lstStyle/>
          <a:p>
            <a:pPr algn="just"/>
            <a:r>
              <a:rPr lang="en-US" sz="4000" b="1" u="wavyHeavy" dirty="0">
                <a:solidFill>
                  <a:srgbClr val="0000FF"/>
                </a:solidFill>
                <a:cs typeface="Arial" panose="020B0604020202020204" pitchFamily="34" charset="0"/>
              </a:rPr>
              <a:t>Class ‘C’ Address:</a:t>
            </a:r>
          </a:p>
        </p:txBody>
      </p:sp>
      <p:sp>
        <p:nvSpPr>
          <p:cNvPr id="9" name="Oval 8">
            <a:extLst>
              <a:ext uri="{FF2B5EF4-FFF2-40B4-BE49-F238E27FC236}">
                <a16:creationId xmlns:a16="http://schemas.microsoft.com/office/drawing/2014/main" id="{40A427B5-444A-BBEF-4A34-43B4997125D7}"/>
              </a:ext>
            </a:extLst>
          </p:cNvPr>
          <p:cNvSpPr/>
          <p:nvPr/>
        </p:nvSpPr>
        <p:spPr>
          <a:xfrm>
            <a:off x="9096555" y="2253088"/>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sp>
        <p:nvSpPr>
          <p:cNvPr id="4" name="TextBox 3">
            <a:extLst>
              <a:ext uri="{FF2B5EF4-FFF2-40B4-BE49-F238E27FC236}">
                <a16:creationId xmlns:a16="http://schemas.microsoft.com/office/drawing/2014/main" id="{276C9228-69E0-68A5-06EF-B29C0B4B231A}"/>
              </a:ext>
            </a:extLst>
          </p:cNvPr>
          <p:cNvSpPr txBox="1"/>
          <p:nvPr/>
        </p:nvSpPr>
        <p:spPr>
          <a:xfrm>
            <a:off x="439191" y="1386030"/>
            <a:ext cx="7850171" cy="4893647"/>
          </a:xfrm>
          <a:prstGeom prst="rect">
            <a:avLst/>
          </a:prstGeom>
          <a:noFill/>
        </p:spPr>
        <p:txBody>
          <a:bodyPr wrap="square" rtlCol="0">
            <a:spAutoFit/>
          </a:bodyPr>
          <a:lstStyle/>
          <a:p>
            <a:pPr algn="just"/>
            <a:r>
              <a:rPr lang="en-US" sz="2400" dirty="0"/>
              <a:t>In Class C an IP Address is assigned to only small sized networks. </a:t>
            </a:r>
          </a:p>
          <a:p>
            <a:pPr algn="just"/>
            <a:endParaRPr lang="en-US" sz="2400" dirty="0"/>
          </a:p>
          <a:p>
            <a:pPr marL="800100" lvl="1" indent="-342900" algn="just">
              <a:buFont typeface="Wingdings" panose="05000000000000000000" pitchFamily="2" charset="2"/>
              <a:buChar char="Ø"/>
            </a:pPr>
            <a:r>
              <a:rPr lang="en-US" sz="2400" dirty="0"/>
              <a:t>The N/W ID is 24 bits long</a:t>
            </a:r>
          </a:p>
          <a:p>
            <a:pPr marL="800100" lvl="1" indent="-342900" algn="just">
              <a:buFont typeface="Wingdings" panose="05000000000000000000" pitchFamily="2" charset="2"/>
              <a:buChar char="Ø"/>
            </a:pPr>
            <a:r>
              <a:rPr lang="en-US" sz="2400" dirty="0"/>
              <a:t>The Host ID is 8 bits long</a:t>
            </a:r>
          </a:p>
          <a:p>
            <a:pPr algn="just"/>
            <a:endParaRPr lang="en-IN" sz="2400" dirty="0"/>
          </a:p>
          <a:p>
            <a:pPr algn="just"/>
            <a:r>
              <a:rPr lang="en-IN" sz="2400" dirty="0"/>
              <a:t>In Class C, the higher order bits of the first octet is always set to 110, and the remaining 21 bits determine the N/W ID. The other 8 bits determine the </a:t>
            </a:r>
            <a:r>
              <a:rPr lang="en-IN" sz="2400" dirty="0" err="1"/>
              <a:t>HostID</a:t>
            </a:r>
            <a:r>
              <a:rPr lang="en-IN" sz="2400" dirty="0"/>
              <a:t>.</a:t>
            </a:r>
          </a:p>
          <a:p>
            <a:pPr algn="just"/>
            <a:endParaRPr lang="en-IN" sz="2400" dirty="0"/>
          </a:p>
          <a:p>
            <a:pPr algn="just"/>
            <a:r>
              <a:rPr lang="en-IN" sz="2400" dirty="0"/>
              <a:t>The total number of networks in Class B = 2</a:t>
            </a:r>
            <a:r>
              <a:rPr lang="en-IN" sz="2400" b="1" baseline="30000" dirty="0"/>
              <a:t>21</a:t>
            </a:r>
            <a:r>
              <a:rPr lang="en-IN" sz="2400" dirty="0"/>
              <a:t>=20,97,152 network address.</a:t>
            </a:r>
          </a:p>
          <a:p>
            <a:pPr algn="just"/>
            <a:r>
              <a:rPr lang="en-IN" sz="2400" dirty="0"/>
              <a:t>The total number of hosts in Class B =2</a:t>
            </a:r>
            <a:r>
              <a:rPr lang="en-IN" sz="2400" b="1" baseline="30000" dirty="0"/>
              <a:t>8</a:t>
            </a:r>
            <a:r>
              <a:rPr lang="en-IN" sz="2400" dirty="0"/>
              <a:t>-2=254 hosts</a:t>
            </a:r>
          </a:p>
        </p:txBody>
      </p:sp>
      <p:pic>
        <p:nvPicPr>
          <p:cNvPr id="5122" name="Picture 2" descr="Network Addressing">
            <a:extLst>
              <a:ext uri="{FF2B5EF4-FFF2-40B4-BE49-F238E27FC236}">
                <a16:creationId xmlns:a16="http://schemas.microsoft.com/office/drawing/2014/main" id="{92EF458D-6F35-85DD-838C-A282DD5DC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8031" y="2191670"/>
            <a:ext cx="3533775" cy="723900"/>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7C06134F-4D6C-5C2C-BE95-830FF06FF04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48135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8392615" cy="707886"/>
          </a:xfrm>
          <a:prstGeom prst="rect">
            <a:avLst/>
          </a:prstGeom>
          <a:noFill/>
        </p:spPr>
        <p:txBody>
          <a:bodyPr wrap="square" rtlCol="0">
            <a:spAutoFit/>
          </a:bodyPr>
          <a:lstStyle/>
          <a:p>
            <a:pPr algn="just"/>
            <a:r>
              <a:rPr lang="en-US" sz="4000" b="1" u="wavyHeavy" dirty="0">
                <a:solidFill>
                  <a:srgbClr val="0000FF"/>
                </a:solidFill>
                <a:cs typeface="Arial" panose="020B0604020202020204" pitchFamily="34" charset="0"/>
              </a:rPr>
              <a:t>Class ‘D’ Address:</a:t>
            </a:r>
          </a:p>
        </p:txBody>
      </p:sp>
      <p:sp>
        <p:nvSpPr>
          <p:cNvPr id="9" name="Oval 8">
            <a:extLst>
              <a:ext uri="{FF2B5EF4-FFF2-40B4-BE49-F238E27FC236}">
                <a16:creationId xmlns:a16="http://schemas.microsoft.com/office/drawing/2014/main" id="{40A427B5-444A-BBEF-4A34-43B4997125D7}"/>
              </a:ext>
            </a:extLst>
          </p:cNvPr>
          <p:cNvSpPr/>
          <p:nvPr/>
        </p:nvSpPr>
        <p:spPr>
          <a:xfrm>
            <a:off x="9096555" y="2253088"/>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sp>
        <p:nvSpPr>
          <p:cNvPr id="4" name="TextBox 3">
            <a:extLst>
              <a:ext uri="{FF2B5EF4-FFF2-40B4-BE49-F238E27FC236}">
                <a16:creationId xmlns:a16="http://schemas.microsoft.com/office/drawing/2014/main" id="{276C9228-69E0-68A5-06EF-B29C0B4B231A}"/>
              </a:ext>
            </a:extLst>
          </p:cNvPr>
          <p:cNvSpPr txBox="1"/>
          <p:nvPr/>
        </p:nvSpPr>
        <p:spPr>
          <a:xfrm>
            <a:off x="439191" y="1386030"/>
            <a:ext cx="7850171" cy="1569660"/>
          </a:xfrm>
          <a:prstGeom prst="rect">
            <a:avLst/>
          </a:prstGeom>
          <a:noFill/>
        </p:spPr>
        <p:txBody>
          <a:bodyPr wrap="square" rtlCol="0">
            <a:spAutoFit/>
          </a:bodyPr>
          <a:lstStyle/>
          <a:p>
            <a:pPr algn="just"/>
            <a:r>
              <a:rPr lang="en-US" sz="2400" dirty="0"/>
              <a:t>In Class D an IP Address is reserved for multicast addresses. It does not posses subnetting. The higher order bits of the first octet is always set to 1110, and the remaining bits determines the Host Id in any network. </a:t>
            </a:r>
          </a:p>
        </p:txBody>
      </p:sp>
      <p:pic>
        <p:nvPicPr>
          <p:cNvPr id="6146" name="Picture 2" descr="Network Addressing">
            <a:extLst>
              <a:ext uri="{FF2B5EF4-FFF2-40B4-BE49-F238E27FC236}">
                <a16:creationId xmlns:a16="http://schemas.microsoft.com/office/drawing/2014/main" id="{9D2A0D05-420B-1636-DBFA-413AB4F333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920" y="3172394"/>
            <a:ext cx="3533775" cy="723900"/>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EE8C812E-29A6-E4EF-ECDF-D6318DE0C94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961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8392615" cy="707886"/>
          </a:xfrm>
          <a:prstGeom prst="rect">
            <a:avLst/>
          </a:prstGeom>
          <a:noFill/>
        </p:spPr>
        <p:txBody>
          <a:bodyPr wrap="square" rtlCol="0">
            <a:spAutoFit/>
          </a:bodyPr>
          <a:lstStyle/>
          <a:p>
            <a:pPr algn="just"/>
            <a:r>
              <a:rPr lang="en-US" sz="4000" b="1" u="wavyHeavy" dirty="0">
                <a:solidFill>
                  <a:srgbClr val="0000FF"/>
                </a:solidFill>
                <a:cs typeface="Arial" panose="020B0604020202020204" pitchFamily="34" charset="0"/>
              </a:rPr>
              <a:t>Class ‘E’ Address:</a:t>
            </a:r>
          </a:p>
        </p:txBody>
      </p:sp>
      <p:sp>
        <p:nvSpPr>
          <p:cNvPr id="9" name="Oval 8">
            <a:extLst>
              <a:ext uri="{FF2B5EF4-FFF2-40B4-BE49-F238E27FC236}">
                <a16:creationId xmlns:a16="http://schemas.microsoft.com/office/drawing/2014/main" id="{40A427B5-444A-BBEF-4A34-43B4997125D7}"/>
              </a:ext>
            </a:extLst>
          </p:cNvPr>
          <p:cNvSpPr/>
          <p:nvPr/>
        </p:nvSpPr>
        <p:spPr>
          <a:xfrm>
            <a:off x="9096555" y="2253088"/>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sp>
        <p:nvSpPr>
          <p:cNvPr id="4" name="TextBox 3">
            <a:extLst>
              <a:ext uri="{FF2B5EF4-FFF2-40B4-BE49-F238E27FC236}">
                <a16:creationId xmlns:a16="http://schemas.microsoft.com/office/drawing/2014/main" id="{276C9228-69E0-68A5-06EF-B29C0B4B231A}"/>
              </a:ext>
            </a:extLst>
          </p:cNvPr>
          <p:cNvSpPr txBox="1"/>
          <p:nvPr/>
        </p:nvSpPr>
        <p:spPr>
          <a:xfrm>
            <a:off x="439191" y="1386030"/>
            <a:ext cx="7850171" cy="1938992"/>
          </a:xfrm>
          <a:prstGeom prst="rect">
            <a:avLst/>
          </a:prstGeom>
          <a:noFill/>
        </p:spPr>
        <p:txBody>
          <a:bodyPr wrap="square" rtlCol="0">
            <a:spAutoFit/>
          </a:bodyPr>
          <a:lstStyle/>
          <a:p>
            <a:pPr algn="just"/>
            <a:r>
              <a:rPr lang="en-US" sz="2400" dirty="0"/>
              <a:t>In Class E an IP Address is used for further use or for the research and development purposes. It doesn’t posses any subnetting. The higher order bits of the first octet is always set to 1111 and the remaining bits determines the </a:t>
            </a:r>
            <a:r>
              <a:rPr lang="en-US" sz="2400" dirty="0" err="1"/>
              <a:t>HostID</a:t>
            </a:r>
            <a:r>
              <a:rPr lang="en-US" sz="2400" dirty="0"/>
              <a:t> in any network.</a:t>
            </a:r>
          </a:p>
        </p:txBody>
      </p:sp>
      <p:pic>
        <p:nvPicPr>
          <p:cNvPr id="7170" name="Picture 2" descr="Network Addressing">
            <a:extLst>
              <a:ext uri="{FF2B5EF4-FFF2-40B4-BE49-F238E27FC236}">
                <a16:creationId xmlns:a16="http://schemas.microsoft.com/office/drawing/2014/main" id="{5423ED25-41C3-1DFC-6768-6FEED8A4D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526" y="3165012"/>
            <a:ext cx="3533775" cy="723900"/>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6">
            <a:extLst>
              <a:ext uri="{FF2B5EF4-FFF2-40B4-BE49-F238E27FC236}">
                <a16:creationId xmlns:a16="http://schemas.microsoft.com/office/drawing/2014/main" id="{AB01EA11-E275-5410-9F1A-1F6B7A49269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270162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4307621" cy="584775"/>
          </a:xfrm>
          <a:prstGeom prst="rect">
            <a:avLst/>
          </a:prstGeom>
          <a:noFill/>
        </p:spPr>
        <p:txBody>
          <a:bodyPr wrap="square" rtlCol="0">
            <a:spAutoFit/>
          </a:bodyPr>
          <a:lstStyle/>
          <a:p>
            <a:pPr algn="just"/>
            <a:r>
              <a:rPr lang="en-US" sz="3200" b="1" u="wavyHeavy" dirty="0">
                <a:solidFill>
                  <a:srgbClr val="0000FF"/>
                </a:solidFill>
                <a:cs typeface="Arial" panose="020B0604020202020204" pitchFamily="34" charset="0"/>
              </a:rPr>
              <a:t>IPv4 (32-bit) Addresses:</a:t>
            </a:r>
          </a:p>
        </p:txBody>
      </p:sp>
      <p:graphicFrame>
        <p:nvGraphicFramePr>
          <p:cNvPr id="7" name="Table 8">
            <a:extLst>
              <a:ext uri="{FF2B5EF4-FFF2-40B4-BE49-F238E27FC236}">
                <a16:creationId xmlns:a16="http://schemas.microsoft.com/office/drawing/2014/main" id="{486B01AA-C4F6-6E15-14B4-7AB5EE6656ED}"/>
              </a:ext>
            </a:extLst>
          </p:cNvPr>
          <p:cNvGraphicFramePr>
            <a:graphicFrameLocks noGrp="1"/>
          </p:cNvGraphicFramePr>
          <p:nvPr>
            <p:extLst>
              <p:ext uri="{D42A27DB-BD31-4B8C-83A1-F6EECF244321}">
                <p14:modId xmlns:p14="http://schemas.microsoft.com/office/powerpoint/2010/main" val="4240772250"/>
              </p:ext>
            </p:extLst>
          </p:nvPr>
        </p:nvGraphicFramePr>
        <p:xfrm>
          <a:off x="326095" y="1253264"/>
          <a:ext cx="8287193" cy="3093720"/>
        </p:xfrm>
        <a:graphic>
          <a:graphicData uri="http://schemas.openxmlformats.org/drawingml/2006/table">
            <a:tbl>
              <a:tblPr firstRow="1" bandRow="1">
                <a:tableStyleId>{5C22544A-7EE6-4342-B048-85BDC9FD1C3A}</a:tableStyleId>
              </a:tblPr>
              <a:tblGrid>
                <a:gridCol w="857246">
                  <a:extLst>
                    <a:ext uri="{9D8B030D-6E8A-4147-A177-3AD203B41FA5}">
                      <a16:colId xmlns:a16="http://schemas.microsoft.com/office/drawing/2014/main" val="3961648542"/>
                    </a:ext>
                  </a:extLst>
                </a:gridCol>
                <a:gridCol w="672353">
                  <a:extLst>
                    <a:ext uri="{9D8B030D-6E8A-4147-A177-3AD203B41FA5}">
                      <a16:colId xmlns:a16="http://schemas.microsoft.com/office/drawing/2014/main" val="3686795247"/>
                    </a:ext>
                  </a:extLst>
                </a:gridCol>
                <a:gridCol w="900953">
                  <a:extLst>
                    <a:ext uri="{9D8B030D-6E8A-4147-A177-3AD203B41FA5}">
                      <a16:colId xmlns:a16="http://schemas.microsoft.com/office/drawing/2014/main" val="320885283"/>
                    </a:ext>
                  </a:extLst>
                </a:gridCol>
                <a:gridCol w="833718">
                  <a:extLst>
                    <a:ext uri="{9D8B030D-6E8A-4147-A177-3AD203B41FA5}">
                      <a16:colId xmlns:a16="http://schemas.microsoft.com/office/drawing/2014/main" val="1035062491"/>
                    </a:ext>
                  </a:extLst>
                </a:gridCol>
                <a:gridCol w="1129552">
                  <a:extLst>
                    <a:ext uri="{9D8B030D-6E8A-4147-A177-3AD203B41FA5}">
                      <a16:colId xmlns:a16="http://schemas.microsoft.com/office/drawing/2014/main" val="3233150972"/>
                    </a:ext>
                  </a:extLst>
                </a:gridCol>
                <a:gridCol w="1264024">
                  <a:extLst>
                    <a:ext uri="{9D8B030D-6E8A-4147-A177-3AD203B41FA5}">
                      <a16:colId xmlns:a16="http://schemas.microsoft.com/office/drawing/2014/main" val="2476305887"/>
                    </a:ext>
                  </a:extLst>
                </a:gridCol>
                <a:gridCol w="995082">
                  <a:extLst>
                    <a:ext uri="{9D8B030D-6E8A-4147-A177-3AD203B41FA5}">
                      <a16:colId xmlns:a16="http://schemas.microsoft.com/office/drawing/2014/main" val="683235538"/>
                    </a:ext>
                  </a:extLst>
                </a:gridCol>
                <a:gridCol w="1634265">
                  <a:extLst>
                    <a:ext uri="{9D8B030D-6E8A-4147-A177-3AD203B41FA5}">
                      <a16:colId xmlns:a16="http://schemas.microsoft.com/office/drawing/2014/main" val="859007535"/>
                    </a:ext>
                  </a:extLst>
                </a:gridCol>
              </a:tblGrid>
              <a:tr h="370840">
                <a:tc>
                  <a:txBody>
                    <a:bodyPr/>
                    <a:lstStyle/>
                    <a:p>
                      <a:r>
                        <a:rPr lang="en-IN" sz="1600" b="0" dirty="0"/>
                        <a:t>Class</a:t>
                      </a:r>
                    </a:p>
                  </a:txBody>
                  <a:tcPr/>
                </a:tc>
                <a:tc>
                  <a:txBody>
                    <a:bodyPr/>
                    <a:lstStyle/>
                    <a:p>
                      <a:r>
                        <a:rPr lang="en-US" sz="1600" b="0" dirty="0" err="1"/>
                        <a:t>Higer</a:t>
                      </a:r>
                      <a:r>
                        <a:rPr lang="en-US" sz="1600" b="0" dirty="0"/>
                        <a:t> order bits</a:t>
                      </a:r>
                      <a:endParaRPr lang="en-IN" sz="1600" b="0" dirty="0"/>
                    </a:p>
                  </a:txBody>
                  <a:tcPr/>
                </a:tc>
                <a:tc>
                  <a:txBody>
                    <a:bodyPr/>
                    <a:lstStyle/>
                    <a:p>
                      <a:r>
                        <a:rPr lang="en-US" sz="1600" b="0" dirty="0"/>
                        <a:t>NetID</a:t>
                      </a:r>
                      <a:endParaRPr lang="en-IN" sz="1600" b="0" dirty="0"/>
                    </a:p>
                  </a:txBody>
                  <a:tcPr/>
                </a:tc>
                <a:tc>
                  <a:txBody>
                    <a:bodyPr/>
                    <a:lstStyle/>
                    <a:p>
                      <a:r>
                        <a:rPr lang="en-US" sz="1600" b="0" dirty="0" err="1"/>
                        <a:t>HostID</a:t>
                      </a:r>
                      <a:r>
                        <a:rPr lang="en-US" sz="1600" b="0" dirty="0"/>
                        <a:t> bits</a:t>
                      </a:r>
                      <a:endParaRPr lang="en-IN" sz="1600" b="0" dirty="0"/>
                    </a:p>
                  </a:txBody>
                  <a:tcPr/>
                </a:tc>
                <a:tc>
                  <a:txBody>
                    <a:bodyPr/>
                    <a:lstStyle/>
                    <a:p>
                      <a:r>
                        <a:rPr lang="en-US" sz="1600" b="0" dirty="0"/>
                        <a:t>No of networks</a:t>
                      </a:r>
                      <a:endParaRPr lang="en-IN" sz="1600" b="0" dirty="0"/>
                    </a:p>
                  </a:txBody>
                  <a:tcPr/>
                </a:tc>
                <a:tc>
                  <a:txBody>
                    <a:bodyPr/>
                    <a:lstStyle/>
                    <a:p>
                      <a:r>
                        <a:rPr lang="en-US" sz="1600" b="0" dirty="0"/>
                        <a:t>No of hosts per network</a:t>
                      </a:r>
                      <a:endParaRPr lang="en-IN" sz="1600" b="0" dirty="0"/>
                    </a:p>
                  </a:txBody>
                  <a:tcPr/>
                </a:tc>
                <a:tc>
                  <a:txBody>
                    <a:bodyPr/>
                    <a:lstStyle/>
                    <a:p>
                      <a:r>
                        <a:rPr lang="en-IN" sz="1600" b="0" dirty="0"/>
                        <a:t>Address from range</a:t>
                      </a:r>
                    </a:p>
                  </a:txBody>
                  <a:tcPr/>
                </a:tc>
                <a:tc>
                  <a:txBody>
                    <a:bodyPr/>
                    <a:lstStyle/>
                    <a:p>
                      <a:r>
                        <a:rPr lang="en-IN" sz="1600" b="0" dirty="0"/>
                        <a:t>Address to range</a:t>
                      </a:r>
                    </a:p>
                  </a:txBody>
                  <a:tcPr/>
                </a:tc>
                <a:extLst>
                  <a:ext uri="{0D108BD9-81ED-4DB2-BD59-A6C34878D82A}">
                    <a16:rowId xmlns:a16="http://schemas.microsoft.com/office/drawing/2014/main" val="2125861827"/>
                  </a:ext>
                </a:extLst>
              </a:tr>
              <a:tr h="370840">
                <a:tc>
                  <a:txBody>
                    <a:bodyPr/>
                    <a:lstStyle/>
                    <a:p>
                      <a:r>
                        <a:rPr lang="en-IN" sz="1600" b="0" dirty="0"/>
                        <a:t>Class A</a:t>
                      </a:r>
                    </a:p>
                  </a:txBody>
                  <a:tcPr/>
                </a:tc>
                <a:tc>
                  <a:txBody>
                    <a:bodyPr/>
                    <a:lstStyle/>
                    <a:p>
                      <a:r>
                        <a:rPr lang="en-US" sz="1600" b="0" dirty="0"/>
                        <a:t>0</a:t>
                      </a:r>
                      <a:endParaRPr lang="en-IN" sz="1600" b="0" dirty="0"/>
                    </a:p>
                  </a:txBody>
                  <a:tcPr/>
                </a:tc>
                <a:tc>
                  <a:txBody>
                    <a:bodyPr/>
                    <a:lstStyle/>
                    <a:p>
                      <a:r>
                        <a:rPr lang="en-US" sz="1600" b="0" dirty="0"/>
                        <a:t>8</a:t>
                      </a:r>
                      <a:endParaRPr lang="en-IN" sz="1600" b="0" dirty="0"/>
                    </a:p>
                  </a:txBody>
                  <a:tcPr/>
                </a:tc>
                <a:tc>
                  <a:txBody>
                    <a:bodyPr/>
                    <a:lstStyle/>
                    <a:p>
                      <a:r>
                        <a:rPr lang="en-US" sz="1600" b="0" dirty="0"/>
                        <a:t>24</a:t>
                      </a:r>
                      <a:endParaRPr lang="en-IN" sz="1600" b="0" dirty="0"/>
                    </a:p>
                  </a:txBody>
                  <a:tcPr/>
                </a:tc>
                <a:tc>
                  <a:txBody>
                    <a:bodyPr/>
                    <a:lstStyle/>
                    <a:p>
                      <a:r>
                        <a:rPr lang="en-US" sz="1600" b="0" dirty="0"/>
                        <a:t>2</a:t>
                      </a:r>
                      <a:r>
                        <a:rPr lang="en-US" sz="1600" b="1" baseline="30000" dirty="0"/>
                        <a:t>7</a:t>
                      </a:r>
                      <a:endParaRPr lang="en-IN" sz="1600" b="1"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2</a:t>
                      </a:r>
                      <a:r>
                        <a:rPr lang="en-US" sz="1600" b="1" baseline="30000" dirty="0"/>
                        <a:t>24</a:t>
                      </a:r>
                      <a:endParaRPr lang="en-IN" sz="1600" b="1" baseline="30000" dirty="0"/>
                    </a:p>
                  </a:txBody>
                  <a:tcPr/>
                </a:tc>
                <a:tc>
                  <a:txBody>
                    <a:bodyPr/>
                    <a:lstStyle/>
                    <a:p>
                      <a:r>
                        <a:rPr lang="en-IN" sz="1600" b="0" dirty="0"/>
                        <a:t>1.0.0.0</a:t>
                      </a:r>
                    </a:p>
                  </a:txBody>
                  <a:tcPr/>
                </a:tc>
                <a:tc>
                  <a:txBody>
                    <a:bodyPr/>
                    <a:lstStyle/>
                    <a:p>
                      <a:r>
                        <a:rPr lang="en-IN" sz="1600" b="0" dirty="0"/>
                        <a:t>126.255.255.255</a:t>
                      </a:r>
                    </a:p>
                  </a:txBody>
                  <a:tcPr/>
                </a:tc>
                <a:extLst>
                  <a:ext uri="{0D108BD9-81ED-4DB2-BD59-A6C34878D82A}">
                    <a16:rowId xmlns:a16="http://schemas.microsoft.com/office/drawing/2014/main" val="2721682431"/>
                  </a:ext>
                </a:extLst>
              </a:tr>
              <a:tr h="370840">
                <a:tc>
                  <a:txBody>
                    <a:bodyPr/>
                    <a:lstStyle/>
                    <a:p>
                      <a:r>
                        <a:rPr lang="en-IN" sz="1600" b="0" dirty="0"/>
                        <a:t>Class B</a:t>
                      </a:r>
                    </a:p>
                  </a:txBody>
                  <a:tcPr/>
                </a:tc>
                <a:tc>
                  <a:txBody>
                    <a:bodyPr/>
                    <a:lstStyle/>
                    <a:p>
                      <a:r>
                        <a:rPr lang="en-US" sz="1600" b="0" dirty="0"/>
                        <a:t>10</a:t>
                      </a:r>
                      <a:endParaRPr lang="en-IN" sz="1600" b="0" dirty="0"/>
                    </a:p>
                  </a:txBody>
                  <a:tcPr/>
                </a:tc>
                <a:tc>
                  <a:txBody>
                    <a:bodyPr/>
                    <a:lstStyle/>
                    <a:p>
                      <a:r>
                        <a:rPr lang="en-US" sz="1600" b="0" dirty="0"/>
                        <a:t>16</a:t>
                      </a:r>
                      <a:endParaRPr lang="en-IN" sz="1600" b="0" dirty="0"/>
                    </a:p>
                  </a:txBody>
                  <a:tcPr/>
                </a:tc>
                <a:tc>
                  <a:txBody>
                    <a:bodyPr/>
                    <a:lstStyle/>
                    <a:p>
                      <a:r>
                        <a:rPr lang="en-US" sz="1600" b="0" dirty="0"/>
                        <a:t>16</a:t>
                      </a:r>
                      <a:endParaRPr lang="en-IN"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2</a:t>
                      </a:r>
                      <a:r>
                        <a:rPr lang="en-US" sz="1600" b="1" baseline="30000" dirty="0"/>
                        <a:t>14</a:t>
                      </a:r>
                      <a:endParaRPr lang="en-IN" sz="1600" b="1"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2</a:t>
                      </a:r>
                      <a:r>
                        <a:rPr lang="en-US" sz="1600" b="1" baseline="30000" dirty="0"/>
                        <a:t>16</a:t>
                      </a:r>
                      <a:endParaRPr lang="en-IN" sz="1600" b="1" baseline="30000" dirty="0"/>
                    </a:p>
                  </a:txBody>
                  <a:tcPr/>
                </a:tc>
                <a:tc>
                  <a:txBody>
                    <a:bodyPr/>
                    <a:lstStyle/>
                    <a:p>
                      <a:r>
                        <a:rPr lang="en-IN" sz="1600" b="0" dirty="0"/>
                        <a:t>128.0.0.0</a:t>
                      </a:r>
                    </a:p>
                  </a:txBody>
                  <a:tcPr/>
                </a:tc>
                <a:tc>
                  <a:txBody>
                    <a:bodyPr/>
                    <a:lstStyle/>
                    <a:p>
                      <a:r>
                        <a:rPr lang="en-IN" sz="1600" b="0" dirty="0"/>
                        <a:t>191.255.255.255</a:t>
                      </a:r>
                    </a:p>
                  </a:txBody>
                  <a:tcPr/>
                </a:tc>
                <a:extLst>
                  <a:ext uri="{0D108BD9-81ED-4DB2-BD59-A6C34878D82A}">
                    <a16:rowId xmlns:a16="http://schemas.microsoft.com/office/drawing/2014/main" val="1389541503"/>
                  </a:ext>
                </a:extLst>
              </a:tr>
              <a:tr h="370840">
                <a:tc>
                  <a:txBody>
                    <a:bodyPr/>
                    <a:lstStyle/>
                    <a:p>
                      <a:r>
                        <a:rPr lang="en-IN" sz="1600" b="0" dirty="0"/>
                        <a:t>Class C</a:t>
                      </a:r>
                    </a:p>
                  </a:txBody>
                  <a:tcPr/>
                </a:tc>
                <a:tc>
                  <a:txBody>
                    <a:bodyPr/>
                    <a:lstStyle/>
                    <a:p>
                      <a:r>
                        <a:rPr lang="en-US" sz="1600" b="0" dirty="0"/>
                        <a:t>110</a:t>
                      </a:r>
                      <a:endParaRPr lang="en-IN" sz="1600" b="0" dirty="0"/>
                    </a:p>
                  </a:txBody>
                  <a:tcPr/>
                </a:tc>
                <a:tc>
                  <a:txBody>
                    <a:bodyPr/>
                    <a:lstStyle/>
                    <a:p>
                      <a:r>
                        <a:rPr lang="en-US" sz="1600" b="0" dirty="0"/>
                        <a:t>24</a:t>
                      </a:r>
                      <a:endParaRPr lang="en-IN" sz="1600" b="0" dirty="0"/>
                    </a:p>
                  </a:txBody>
                  <a:tcPr/>
                </a:tc>
                <a:tc>
                  <a:txBody>
                    <a:bodyPr/>
                    <a:lstStyle/>
                    <a:p>
                      <a:r>
                        <a:rPr lang="en-US" sz="1600" b="0" dirty="0"/>
                        <a:t>8</a:t>
                      </a:r>
                      <a:endParaRPr lang="en-IN" sz="16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2</a:t>
                      </a:r>
                      <a:r>
                        <a:rPr lang="en-US" sz="1600" b="1" baseline="30000" dirty="0"/>
                        <a:t>21</a:t>
                      </a:r>
                      <a:endParaRPr lang="en-IN" sz="1600" b="1"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t>2</a:t>
                      </a:r>
                      <a:r>
                        <a:rPr lang="en-US" sz="1600" b="1" baseline="30000" dirty="0"/>
                        <a:t>8</a:t>
                      </a:r>
                      <a:endParaRPr lang="en-IN" sz="1600" b="1" baseline="30000" dirty="0"/>
                    </a:p>
                  </a:txBody>
                  <a:tcPr/>
                </a:tc>
                <a:tc>
                  <a:txBody>
                    <a:bodyPr/>
                    <a:lstStyle/>
                    <a:p>
                      <a:r>
                        <a:rPr lang="en-IN" sz="1600" b="0" dirty="0"/>
                        <a:t>192.0.0.0</a:t>
                      </a:r>
                    </a:p>
                  </a:txBody>
                  <a:tcPr/>
                </a:tc>
                <a:tc>
                  <a:txBody>
                    <a:bodyPr/>
                    <a:lstStyle/>
                    <a:p>
                      <a:r>
                        <a:rPr lang="en-IN" sz="1600" b="0" dirty="0"/>
                        <a:t>223.255.255.255</a:t>
                      </a:r>
                    </a:p>
                  </a:txBody>
                  <a:tcPr/>
                </a:tc>
                <a:extLst>
                  <a:ext uri="{0D108BD9-81ED-4DB2-BD59-A6C34878D82A}">
                    <a16:rowId xmlns:a16="http://schemas.microsoft.com/office/drawing/2014/main" val="8509036"/>
                  </a:ext>
                </a:extLst>
              </a:tr>
              <a:tr h="370840">
                <a:tc>
                  <a:txBody>
                    <a:bodyPr/>
                    <a:lstStyle/>
                    <a:p>
                      <a:r>
                        <a:rPr lang="en-IN" sz="1600" b="0" dirty="0"/>
                        <a:t>Class D</a:t>
                      </a:r>
                    </a:p>
                  </a:txBody>
                  <a:tcPr/>
                </a:tc>
                <a:tc>
                  <a:txBody>
                    <a:bodyPr/>
                    <a:lstStyle/>
                    <a:p>
                      <a:r>
                        <a:rPr lang="en-US" sz="1600" b="0" dirty="0"/>
                        <a:t>1110</a:t>
                      </a:r>
                      <a:endParaRPr lang="en-IN" sz="1600" b="0" dirty="0"/>
                    </a:p>
                  </a:txBody>
                  <a:tcPr/>
                </a:tc>
                <a:tc>
                  <a:txBody>
                    <a:bodyPr/>
                    <a:lstStyle/>
                    <a:p>
                      <a:r>
                        <a:rPr lang="en-US" sz="1600" b="0" dirty="0"/>
                        <a:t>Not defined </a:t>
                      </a:r>
                      <a:endParaRPr lang="en-IN" sz="1600" b="0" dirty="0"/>
                    </a:p>
                  </a:txBody>
                  <a:tcPr/>
                </a:tc>
                <a:tc>
                  <a:txBody>
                    <a:bodyPr/>
                    <a:lstStyle/>
                    <a:p>
                      <a:r>
                        <a:rPr lang="en-US" sz="1600" b="0" dirty="0"/>
                        <a:t>Not defined</a:t>
                      </a:r>
                      <a:endParaRPr lang="en-IN" sz="1600" b="0" dirty="0"/>
                    </a:p>
                  </a:txBody>
                  <a:tcPr/>
                </a:tc>
                <a:tc>
                  <a:txBody>
                    <a:bodyPr/>
                    <a:lstStyle/>
                    <a:p>
                      <a:r>
                        <a:rPr lang="en-US" sz="1600" b="0" dirty="0"/>
                        <a:t>Not defined</a:t>
                      </a:r>
                      <a:endParaRPr lang="en-IN" sz="1600" b="0" dirty="0"/>
                    </a:p>
                  </a:txBody>
                  <a:tcPr/>
                </a:tc>
                <a:tc>
                  <a:txBody>
                    <a:bodyPr/>
                    <a:lstStyle/>
                    <a:p>
                      <a:r>
                        <a:rPr lang="en-US" sz="1600" b="0" dirty="0"/>
                        <a:t>Not defined</a:t>
                      </a:r>
                      <a:endParaRPr lang="en-IN" sz="1600" b="0" dirty="0"/>
                    </a:p>
                  </a:txBody>
                  <a:tcPr/>
                </a:tc>
                <a:tc>
                  <a:txBody>
                    <a:bodyPr/>
                    <a:lstStyle/>
                    <a:p>
                      <a:r>
                        <a:rPr lang="en-IN" sz="1600" b="0" dirty="0"/>
                        <a:t>224.0.0.0</a:t>
                      </a:r>
                    </a:p>
                  </a:txBody>
                  <a:tcPr/>
                </a:tc>
                <a:tc>
                  <a:txBody>
                    <a:bodyPr/>
                    <a:lstStyle/>
                    <a:p>
                      <a:r>
                        <a:rPr lang="en-IN" sz="1600" b="0" dirty="0"/>
                        <a:t>239.255.255.255</a:t>
                      </a:r>
                    </a:p>
                  </a:txBody>
                  <a:tcPr/>
                </a:tc>
                <a:extLst>
                  <a:ext uri="{0D108BD9-81ED-4DB2-BD59-A6C34878D82A}">
                    <a16:rowId xmlns:a16="http://schemas.microsoft.com/office/drawing/2014/main" val="1489149907"/>
                  </a:ext>
                </a:extLst>
              </a:tr>
              <a:tr h="370840">
                <a:tc>
                  <a:txBody>
                    <a:bodyPr/>
                    <a:lstStyle/>
                    <a:p>
                      <a:r>
                        <a:rPr lang="en-US" sz="1600" b="0" dirty="0"/>
                        <a:t>Class E</a:t>
                      </a:r>
                      <a:endParaRPr lang="en-IN" sz="1600" b="0" dirty="0"/>
                    </a:p>
                  </a:txBody>
                  <a:tcPr/>
                </a:tc>
                <a:tc>
                  <a:txBody>
                    <a:bodyPr/>
                    <a:lstStyle/>
                    <a:p>
                      <a:r>
                        <a:rPr lang="en-US" sz="1600" b="0" dirty="0"/>
                        <a:t>1111</a:t>
                      </a:r>
                      <a:endParaRPr lang="en-IN" sz="1600" b="0" dirty="0"/>
                    </a:p>
                  </a:txBody>
                  <a:tcPr/>
                </a:tc>
                <a:tc>
                  <a:txBody>
                    <a:bodyPr/>
                    <a:lstStyle/>
                    <a:p>
                      <a:r>
                        <a:rPr lang="en-US" sz="1600" b="0" dirty="0"/>
                        <a:t>Not defined</a:t>
                      </a:r>
                      <a:endParaRPr lang="en-IN" sz="1600" b="0" dirty="0"/>
                    </a:p>
                  </a:txBody>
                  <a:tcPr/>
                </a:tc>
                <a:tc>
                  <a:txBody>
                    <a:bodyPr/>
                    <a:lstStyle/>
                    <a:p>
                      <a:r>
                        <a:rPr lang="en-US" sz="1600" b="0" dirty="0"/>
                        <a:t>Not defined</a:t>
                      </a:r>
                      <a:endParaRPr lang="en-IN" sz="1600" b="0" dirty="0"/>
                    </a:p>
                  </a:txBody>
                  <a:tcPr/>
                </a:tc>
                <a:tc>
                  <a:txBody>
                    <a:bodyPr/>
                    <a:lstStyle/>
                    <a:p>
                      <a:r>
                        <a:rPr lang="en-US" sz="1600" b="0" dirty="0"/>
                        <a:t>Not defined</a:t>
                      </a:r>
                      <a:endParaRPr lang="en-IN" sz="1600" b="0" dirty="0"/>
                    </a:p>
                  </a:txBody>
                  <a:tcPr/>
                </a:tc>
                <a:tc>
                  <a:txBody>
                    <a:bodyPr/>
                    <a:lstStyle/>
                    <a:p>
                      <a:r>
                        <a:rPr lang="en-US" sz="1600" b="0" dirty="0"/>
                        <a:t>Not defined</a:t>
                      </a:r>
                      <a:endParaRPr lang="en-IN" sz="1600" b="0" dirty="0"/>
                    </a:p>
                  </a:txBody>
                  <a:tcPr/>
                </a:tc>
                <a:tc>
                  <a:txBody>
                    <a:bodyPr/>
                    <a:lstStyle/>
                    <a:p>
                      <a:r>
                        <a:rPr lang="en-US" sz="1600" b="0" dirty="0"/>
                        <a:t>240.0.0.0</a:t>
                      </a:r>
                      <a:endParaRPr lang="en-IN" sz="1600" b="0" dirty="0"/>
                    </a:p>
                  </a:txBody>
                  <a:tcPr/>
                </a:tc>
                <a:tc>
                  <a:txBody>
                    <a:bodyPr/>
                    <a:lstStyle/>
                    <a:p>
                      <a:r>
                        <a:rPr lang="en-US" sz="1600" b="0" dirty="0"/>
                        <a:t>255.255.255.255</a:t>
                      </a:r>
                      <a:endParaRPr lang="en-IN" sz="1600" b="0" dirty="0"/>
                    </a:p>
                  </a:txBody>
                  <a:tcPr/>
                </a:tc>
                <a:extLst>
                  <a:ext uri="{0D108BD9-81ED-4DB2-BD59-A6C34878D82A}">
                    <a16:rowId xmlns:a16="http://schemas.microsoft.com/office/drawing/2014/main" val="969531496"/>
                  </a:ext>
                </a:extLst>
              </a:tr>
            </a:tbl>
          </a:graphicData>
        </a:graphic>
      </p:graphicFrame>
      <p:sp>
        <p:nvSpPr>
          <p:cNvPr id="9" name="Oval 8">
            <a:extLst>
              <a:ext uri="{FF2B5EF4-FFF2-40B4-BE49-F238E27FC236}">
                <a16:creationId xmlns:a16="http://schemas.microsoft.com/office/drawing/2014/main" id="{40A427B5-444A-BBEF-4A34-43B4997125D7}"/>
              </a:ext>
            </a:extLst>
          </p:cNvPr>
          <p:cNvSpPr/>
          <p:nvPr/>
        </p:nvSpPr>
        <p:spPr>
          <a:xfrm>
            <a:off x="285750" y="4760255"/>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pic>
        <p:nvPicPr>
          <p:cNvPr id="2050" name="Picture 2" descr="Network Addressing">
            <a:extLst>
              <a:ext uri="{FF2B5EF4-FFF2-40B4-BE49-F238E27FC236}">
                <a16:creationId xmlns:a16="http://schemas.microsoft.com/office/drawing/2014/main" id="{BA5790CD-8DBC-E447-FF2E-AABCEF4CB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7306" y="1647531"/>
            <a:ext cx="3188940" cy="208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Diagonal Corners Snipped 9">
            <a:extLst>
              <a:ext uri="{FF2B5EF4-FFF2-40B4-BE49-F238E27FC236}">
                <a16:creationId xmlns:a16="http://schemas.microsoft.com/office/drawing/2014/main" id="{5864EF3F-4038-B2F2-BFF2-935493128B11}"/>
              </a:ext>
            </a:extLst>
          </p:cNvPr>
          <p:cNvSpPr/>
          <p:nvPr/>
        </p:nvSpPr>
        <p:spPr>
          <a:xfrm>
            <a:off x="2777287" y="4409393"/>
            <a:ext cx="5940019" cy="1296228"/>
          </a:xfrm>
          <a:prstGeom prst="snip2Diag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Packets sent to this address never reach the network but are looped through the NIC card only. Its primary purpose is to test the communication infrastructure with the machine. It has only one end point.</a:t>
            </a:r>
          </a:p>
        </p:txBody>
      </p:sp>
      <p:sp>
        <p:nvSpPr>
          <p:cNvPr id="11" name="Rectangle: Top Corners Snipped 10">
            <a:extLst>
              <a:ext uri="{FF2B5EF4-FFF2-40B4-BE49-F238E27FC236}">
                <a16:creationId xmlns:a16="http://schemas.microsoft.com/office/drawing/2014/main" id="{0BC08498-0472-09FC-CF61-D093206F8241}"/>
              </a:ext>
            </a:extLst>
          </p:cNvPr>
          <p:cNvSpPr/>
          <p:nvPr/>
        </p:nvSpPr>
        <p:spPr>
          <a:xfrm>
            <a:off x="3367472" y="5637897"/>
            <a:ext cx="4741103" cy="1024693"/>
          </a:xfrm>
          <a:prstGeom prst="snip2Same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en-IN" dirty="0"/>
              <a:t>IPv4 reserves all addresses range from 127.0.0.1 to 127.255.255.255 for use in loopback testing</a:t>
            </a:r>
          </a:p>
        </p:txBody>
      </p:sp>
      <p:sp>
        <p:nvSpPr>
          <p:cNvPr id="12" name="Footer Placeholder 11">
            <a:extLst>
              <a:ext uri="{FF2B5EF4-FFF2-40B4-BE49-F238E27FC236}">
                <a16:creationId xmlns:a16="http://schemas.microsoft.com/office/drawing/2014/main" id="{33A03543-2140-B8D2-BCC5-9D164CA25AD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2411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780250DF-50BF-CC45-B83A-5A19F1D23368}"/>
              </a:ext>
            </a:extLst>
          </p:cNvPr>
          <p:cNvSpPr/>
          <p:nvPr/>
        </p:nvSpPr>
        <p:spPr>
          <a:xfrm>
            <a:off x="6060138" y="5563901"/>
            <a:ext cx="3212600" cy="860563"/>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Multicast – 1/* senders</a:t>
            </a:r>
          </a:p>
          <a:p>
            <a:pPr algn="ctr"/>
            <a:r>
              <a:rPr lang="en-IN" dirty="0">
                <a:ln w="0"/>
                <a:solidFill>
                  <a:schemeClr val="tx1"/>
                </a:solidFill>
                <a:effectLst>
                  <a:outerShdw blurRad="38100" dist="19050" dir="2700000" algn="tl" rotWithShape="0">
                    <a:schemeClr val="dk1">
                      <a:alpha val="40000"/>
                    </a:schemeClr>
                  </a:outerShdw>
                </a:effectLst>
              </a:rPr>
              <a:t>1/* receivers</a:t>
            </a:r>
          </a:p>
        </p:txBody>
      </p:sp>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439191" y="678288"/>
            <a:ext cx="8392615" cy="707886"/>
          </a:xfrm>
          <a:prstGeom prst="rect">
            <a:avLst/>
          </a:prstGeom>
          <a:noFill/>
        </p:spPr>
        <p:txBody>
          <a:bodyPr wrap="square" rtlCol="0">
            <a:spAutoFit/>
          </a:bodyPr>
          <a:lstStyle/>
          <a:p>
            <a:pPr algn="just"/>
            <a:r>
              <a:rPr lang="en-US" sz="4000" b="1" u="wavyHeavy" dirty="0">
                <a:solidFill>
                  <a:srgbClr val="0000FF"/>
                </a:solidFill>
                <a:cs typeface="Arial" panose="020B0604020202020204" pitchFamily="34" charset="0"/>
              </a:rPr>
              <a:t>IPv4 (32-bit) Addresses:</a:t>
            </a:r>
          </a:p>
        </p:txBody>
      </p:sp>
      <p:sp>
        <p:nvSpPr>
          <p:cNvPr id="9" name="Oval 8">
            <a:extLst>
              <a:ext uri="{FF2B5EF4-FFF2-40B4-BE49-F238E27FC236}">
                <a16:creationId xmlns:a16="http://schemas.microsoft.com/office/drawing/2014/main" id="{40A427B5-444A-BBEF-4A34-43B4997125D7}"/>
              </a:ext>
            </a:extLst>
          </p:cNvPr>
          <p:cNvSpPr/>
          <p:nvPr/>
        </p:nvSpPr>
        <p:spPr>
          <a:xfrm>
            <a:off x="9096555" y="2253088"/>
            <a:ext cx="2795973" cy="12962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127.0.0.1/localhost is called as loop back address</a:t>
            </a:r>
            <a:endParaRPr lang="en-IN" dirty="0"/>
          </a:p>
        </p:txBody>
      </p:sp>
      <p:sp>
        <p:nvSpPr>
          <p:cNvPr id="12" name="TextBox 11">
            <a:extLst>
              <a:ext uri="{FF2B5EF4-FFF2-40B4-BE49-F238E27FC236}">
                <a16:creationId xmlns:a16="http://schemas.microsoft.com/office/drawing/2014/main" id="{3D1B15F5-CAD0-0AC2-DE3C-D072154BFEF2}"/>
              </a:ext>
            </a:extLst>
          </p:cNvPr>
          <p:cNvSpPr txBox="1"/>
          <p:nvPr/>
        </p:nvSpPr>
        <p:spPr>
          <a:xfrm>
            <a:off x="439191" y="1386030"/>
            <a:ext cx="7850171" cy="1569660"/>
          </a:xfrm>
          <a:prstGeom prst="rect">
            <a:avLst/>
          </a:prstGeom>
          <a:noFill/>
        </p:spPr>
        <p:txBody>
          <a:bodyPr wrap="square" rtlCol="0">
            <a:spAutoFit/>
          </a:bodyPr>
          <a:lstStyle/>
          <a:p>
            <a:pPr algn="just"/>
            <a:r>
              <a:rPr lang="en-US" sz="2400" dirty="0"/>
              <a:t>The networks uses 3 ranges of IP Addresses. Networks use them as they wish. But the only rule is that no packet containing these addresses may appear on the Internet itself. The 3 reserved ranges are:</a:t>
            </a:r>
            <a:endParaRPr lang="en-IN" sz="2400" dirty="0"/>
          </a:p>
        </p:txBody>
      </p:sp>
      <p:graphicFrame>
        <p:nvGraphicFramePr>
          <p:cNvPr id="13" name="Table 13">
            <a:extLst>
              <a:ext uri="{FF2B5EF4-FFF2-40B4-BE49-F238E27FC236}">
                <a16:creationId xmlns:a16="http://schemas.microsoft.com/office/drawing/2014/main" id="{74B635CF-DA09-552B-C40E-65928799F443}"/>
              </a:ext>
            </a:extLst>
          </p:cNvPr>
          <p:cNvGraphicFramePr>
            <a:graphicFrameLocks noGrp="1"/>
          </p:cNvGraphicFramePr>
          <p:nvPr>
            <p:extLst>
              <p:ext uri="{D42A27DB-BD31-4B8C-83A1-F6EECF244321}">
                <p14:modId xmlns:p14="http://schemas.microsoft.com/office/powerpoint/2010/main" val="1610035823"/>
              </p:ext>
            </p:extLst>
          </p:nvPr>
        </p:nvGraphicFramePr>
        <p:xfrm>
          <a:off x="485287" y="3085166"/>
          <a:ext cx="8127999" cy="1483360"/>
        </p:xfrm>
        <a:graphic>
          <a:graphicData uri="http://schemas.openxmlformats.org/drawingml/2006/table">
            <a:tbl>
              <a:tblPr firstRow="1" bandRow="1">
                <a:tableStyleId>{073A0DAA-6AF3-43AB-8588-CEC1D06C72B9}</a:tableStyleId>
              </a:tblPr>
              <a:tblGrid>
                <a:gridCol w="2709333">
                  <a:extLst>
                    <a:ext uri="{9D8B030D-6E8A-4147-A177-3AD203B41FA5}">
                      <a16:colId xmlns:a16="http://schemas.microsoft.com/office/drawing/2014/main" val="1384608193"/>
                    </a:ext>
                  </a:extLst>
                </a:gridCol>
                <a:gridCol w="2709333">
                  <a:extLst>
                    <a:ext uri="{9D8B030D-6E8A-4147-A177-3AD203B41FA5}">
                      <a16:colId xmlns:a16="http://schemas.microsoft.com/office/drawing/2014/main" val="935644793"/>
                    </a:ext>
                  </a:extLst>
                </a:gridCol>
                <a:gridCol w="2709333">
                  <a:extLst>
                    <a:ext uri="{9D8B030D-6E8A-4147-A177-3AD203B41FA5}">
                      <a16:colId xmlns:a16="http://schemas.microsoft.com/office/drawing/2014/main" val="409567422"/>
                    </a:ext>
                  </a:extLst>
                </a:gridCol>
              </a:tblGrid>
              <a:tr h="370840">
                <a:tc>
                  <a:txBody>
                    <a:bodyPr/>
                    <a:lstStyle/>
                    <a:p>
                      <a:r>
                        <a:rPr lang="en-US" dirty="0"/>
                        <a:t>From </a:t>
                      </a:r>
                      <a:r>
                        <a:rPr lang="en-US" dirty="0" err="1"/>
                        <a:t>Addressro</a:t>
                      </a:r>
                      <a:endParaRPr lang="en-IN" dirty="0"/>
                    </a:p>
                  </a:txBody>
                  <a:tcPr/>
                </a:tc>
                <a:tc>
                  <a:txBody>
                    <a:bodyPr/>
                    <a:lstStyle/>
                    <a:p>
                      <a:r>
                        <a:rPr lang="en-US" dirty="0"/>
                        <a:t>To Address</a:t>
                      </a:r>
                      <a:endParaRPr lang="en-IN" dirty="0"/>
                    </a:p>
                  </a:txBody>
                  <a:tcPr/>
                </a:tc>
                <a:tc>
                  <a:txBody>
                    <a:bodyPr/>
                    <a:lstStyle/>
                    <a:p>
                      <a:r>
                        <a:rPr lang="en-US" dirty="0"/>
                        <a:t>Total no of hosts</a:t>
                      </a:r>
                      <a:endParaRPr lang="en-IN" dirty="0"/>
                    </a:p>
                  </a:txBody>
                  <a:tcPr/>
                </a:tc>
                <a:extLst>
                  <a:ext uri="{0D108BD9-81ED-4DB2-BD59-A6C34878D82A}">
                    <a16:rowId xmlns:a16="http://schemas.microsoft.com/office/drawing/2014/main" val="4022272727"/>
                  </a:ext>
                </a:extLst>
              </a:tr>
              <a:tr h="370840">
                <a:tc>
                  <a:txBody>
                    <a:bodyPr/>
                    <a:lstStyle/>
                    <a:p>
                      <a:r>
                        <a:rPr lang="en-US" dirty="0"/>
                        <a:t>10.0.0.0</a:t>
                      </a:r>
                      <a:endParaRPr lang="en-IN" dirty="0"/>
                    </a:p>
                  </a:txBody>
                  <a:tcPr/>
                </a:tc>
                <a:tc>
                  <a:txBody>
                    <a:bodyPr/>
                    <a:lstStyle/>
                    <a:p>
                      <a:r>
                        <a:rPr lang="en-US" dirty="0"/>
                        <a:t>10.255.255.255/8</a:t>
                      </a:r>
                      <a:endParaRPr lang="en-IN" dirty="0"/>
                    </a:p>
                  </a:txBody>
                  <a:tcPr/>
                </a:tc>
                <a:tc>
                  <a:txBody>
                    <a:bodyPr/>
                    <a:lstStyle/>
                    <a:p>
                      <a:r>
                        <a:rPr lang="en-US" dirty="0"/>
                        <a:t>1,67,77,216 hosts</a:t>
                      </a:r>
                      <a:endParaRPr lang="en-IN" dirty="0"/>
                    </a:p>
                  </a:txBody>
                  <a:tcPr/>
                </a:tc>
                <a:extLst>
                  <a:ext uri="{0D108BD9-81ED-4DB2-BD59-A6C34878D82A}">
                    <a16:rowId xmlns:a16="http://schemas.microsoft.com/office/drawing/2014/main" val="15689815"/>
                  </a:ext>
                </a:extLst>
              </a:tr>
              <a:tr h="370840">
                <a:tc>
                  <a:txBody>
                    <a:bodyPr/>
                    <a:lstStyle/>
                    <a:p>
                      <a:r>
                        <a:rPr lang="en-US" dirty="0"/>
                        <a:t>172.16.0.0</a:t>
                      </a:r>
                      <a:endParaRPr lang="en-IN" dirty="0"/>
                    </a:p>
                  </a:txBody>
                  <a:tcPr/>
                </a:tc>
                <a:tc>
                  <a:txBody>
                    <a:bodyPr/>
                    <a:lstStyle/>
                    <a:p>
                      <a:r>
                        <a:rPr lang="en-US" dirty="0"/>
                        <a:t>172.31.255.255/12</a:t>
                      </a:r>
                      <a:endParaRPr lang="en-IN" dirty="0"/>
                    </a:p>
                  </a:txBody>
                  <a:tcPr/>
                </a:tc>
                <a:tc>
                  <a:txBody>
                    <a:bodyPr/>
                    <a:lstStyle/>
                    <a:p>
                      <a:r>
                        <a:rPr lang="en-US" dirty="0"/>
                        <a:t>10,48,576 hosts</a:t>
                      </a:r>
                      <a:endParaRPr lang="en-IN" dirty="0"/>
                    </a:p>
                  </a:txBody>
                  <a:tcPr/>
                </a:tc>
                <a:extLst>
                  <a:ext uri="{0D108BD9-81ED-4DB2-BD59-A6C34878D82A}">
                    <a16:rowId xmlns:a16="http://schemas.microsoft.com/office/drawing/2014/main" val="2745366986"/>
                  </a:ext>
                </a:extLst>
              </a:tr>
              <a:tr h="370840">
                <a:tc>
                  <a:txBody>
                    <a:bodyPr/>
                    <a:lstStyle/>
                    <a:p>
                      <a:r>
                        <a:rPr lang="en-US" dirty="0"/>
                        <a:t>192.168.0.0</a:t>
                      </a:r>
                      <a:endParaRPr lang="en-IN" dirty="0"/>
                    </a:p>
                  </a:txBody>
                  <a:tcPr/>
                </a:tc>
                <a:tc>
                  <a:txBody>
                    <a:bodyPr/>
                    <a:lstStyle/>
                    <a:p>
                      <a:r>
                        <a:rPr lang="en-US" dirty="0"/>
                        <a:t>192.168.255.255</a:t>
                      </a:r>
                      <a:endParaRPr lang="en-IN" dirty="0"/>
                    </a:p>
                  </a:txBody>
                  <a:tcPr/>
                </a:tc>
                <a:tc>
                  <a:txBody>
                    <a:bodyPr/>
                    <a:lstStyle/>
                    <a:p>
                      <a:r>
                        <a:rPr lang="en-US" dirty="0"/>
                        <a:t>65,536 hosts</a:t>
                      </a:r>
                      <a:endParaRPr lang="en-IN" dirty="0"/>
                    </a:p>
                  </a:txBody>
                  <a:tcPr/>
                </a:tc>
                <a:extLst>
                  <a:ext uri="{0D108BD9-81ED-4DB2-BD59-A6C34878D82A}">
                    <a16:rowId xmlns:a16="http://schemas.microsoft.com/office/drawing/2014/main" val="4248745891"/>
                  </a:ext>
                </a:extLst>
              </a:tr>
            </a:tbl>
          </a:graphicData>
        </a:graphic>
      </p:graphicFrame>
      <p:sp>
        <p:nvSpPr>
          <p:cNvPr id="4" name="Rectangle: Rounded Corners 3">
            <a:extLst>
              <a:ext uri="{FF2B5EF4-FFF2-40B4-BE49-F238E27FC236}">
                <a16:creationId xmlns:a16="http://schemas.microsoft.com/office/drawing/2014/main" id="{6745CCDA-E847-82D6-A0EB-6EFBBAD70FC1}"/>
              </a:ext>
            </a:extLst>
          </p:cNvPr>
          <p:cNvSpPr/>
          <p:nvPr/>
        </p:nvSpPr>
        <p:spPr>
          <a:xfrm>
            <a:off x="685800" y="4854388"/>
            <a:ext cx="7503459" cy="6114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Class A, B, C are used in unicast addressing, Class D is for multicast addressing and Class E is meant for experimental purpose.</a:t>
            </a:r>
          </a:p>
        </p:txBody>
      </p:sp>
      <p:sp>
        <p:nvSpPr>
          <p:cNvPr id="7" name="Rectangle: Rounded Corners 6">
            <a:extLst>
              <a:ext uri="{FF2B5EF4-FFF2-40B4-BE49-F238E27FC236}">
                <a16:creationId xmlns:a16="http://schemas.microsoft.com/office/drawing/2014/main" id="{3570C8CC-549B-79E6-2310-5508C630B7E2}"/>
              </a:ext>
            </a:extLst>
          </p:cNvPr>
          <p:cNvSpPr/>
          <p:nvPr/>
        </p:nvSpPr>
        <p:spPr>
          <a:xfrm>
            <a:off x="209248" y="5563902"/>
            <a:ext cx="2594745" cy="104745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lang="en-IN" sz="1400" dirty="0">
                <a:ln w="0"/>
                <a:solidFill>
                  <a:schemeClr val="tx1"/>
                </a:solidFill>
                <a:effectLst>
                  <a:outerShdw blurRad="38100" dist="19050" dir="2700000" algn="tl" rotWithShape="0">
                    <a:schemeClr val="dk1">
                      <a:alpha val="40000"/>
                    </a:schemeClr>
                  </a:outerShdw>
                </a:effectLst>
              </a:rPr>
              <a:t>Unicast address is for Point-To-Point/One-One communication. That means only one sender, one receiver within and outside n/w</a:t>
            </a:r>
          </a:p>
        </p:txBody>
      </p:sp>
      <p:sp>
        <p:nvSpPr>
          <p:cNvPr id="10" name="Rectangle: Rounded Corners 9">
            <a:extLst>
              <a:ext uri="{FF2B5EF4-FFF2-40B4-BE49-F238E27FC236}">
                <a16:creationId xmlns:a16="http://schemas.microsoft.com/office/drawing/2014/main" id="{E00E90DF-2654-844C-BCE5-07A36BB429AE}"/>
              </a:ext>
            </a:extLst>
          </p:cNvPr>
          <p:cNvSpPr/>
          <p:nvPr/>
        </p:nvSpPr>
        <p:spPr>
          <a:xfrm>
            <a:off x="2810669" y="5750081"/>
            <a:ext cx="3374979" cy="860563"/>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1600" dirty="0">
                <a:ln w="0"/>
                <a:solidFill>
                  <a:schemeClr val="tx1"/>
                </a:solidFill>
                <a:effectLst>
                  <a:outerShdw blurRad="38100" dist="19050" dir="2700000" algn="tl" rotWithShape="0">
                    <a:schemeClr val="dk1">
                      <a:alpha val="40000"/>
                    </a:schemeClr>
                  </a:outerShdw>
                </a:effectLst>
              </a:rPr>
              <a:t>Broadcast – One-To-All</a:t>
            </a:r>
          </a:p>
          <a:p>
            <a:pPr algn="ctr"/>
            <a:r>
              <a:rPr lang="en-IN" sz="1600" dirty="0">
                <a:ln w="0"/>
                <a:solidFill>
                  <a:schemeClr val="tx1"/>
                </a:solidFill>
                <a:effectLst>
                  <a:outerShdw blurRad="38100" dist="19050" dir="2700000" algn="tl" rotWithShape="0">
                    <a:schemeClr val="dk1">
                      <a:alpha val="40000"/>
                    </a:schemeClr>
                  </a:outerShdw>
                </a:effectLst>
              </a:rPr>
              <a:t>Limited Broadcast – 1..* within n/w</a:t>
            </a:r>
          </a:p>
          <a:p>
            <a:pPr algn="ctr"/>
            <a:r>
              <a:rPr lang="en-IN" sz="1600" dirty="0">
                <a:ln w="0"/>
                <a:solidFill>
                  <a:schemeClr val="tx1"/>
                </a:solidFill>
                <a:effectLst>
                  <a:outerShdw blurRad="38100" dist="19050" dir="2700000" algn="tl" rotWithShape="0">
                    <a:schemeClr val="dk1">
                      <a:alpha val="40000"/>
                    </a:schemeClr>
                  </a:outerShdw>
                </a:effectLst>
              </a:rPr>
              <a:t>Direct Broadcast – 1..* outside n/w</a:t>
            </a:r>
          </a:p>
        </p:txBody>
      </p:sp>
      <p:sp>
        <p:nvSpPr>
          <p:cNvPr id="14" name="Footer Placeholder 13">
            <a:extLst>
              <a:ext uri="{FF2B5EF4-FFF2-40B4-BE49-F238E27FC236}">
                <a16:creationId xmlns:a16="http://schemas.microsoft.com/office/drawing/2014/main" id="{F0F94E2C-0376-6C36-7DD1-2F09E17553B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9718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9" name="Oval 8">
            <a:extLst>
              <a:ext uri="{FF2B5EF4-FFF2-40B4-BE49-F238E27FC236}">
                <a16:creationId xmlns:a16="http://schemas.microsoft.com/office/drawing/2014/main" id="{40A427B5-444A-BBEF-4A34-43B4997125D7}"/>
              </a:ext>
            </a:extLst>
          </p:cNvPr>
          <p:cNvSpPr/>
          <p:nvPr/>
        </p:nvSpPr>
        <p:spPr>
          <a:xfrm>
            <a:off x="6762108" y="722051"/>
            <a:ext cx="2795973" cy="111526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b="1" dirty="0"/>
          </a:p>
        </p:txBody>
      </p:sp>
      <p:sp>
        <p:nvSpPr>
          <p:cNvPr id="7" name="TextBox 6">
            <a:extLst>
              <a:ext uri="{FF2B5EF4-FFF2-40B4-BE49-F238E27FC236}">
                <a16:creationId xmlns:a16="http://schemas.microsoft.com/office/drawing/2014/main" id="{978C9552-1298-DAC1-A2A7-C4E62F22CE97}"/>
              </a:ext>
            </a:extLst>
          </p:cNvPr>
          <p:cNvSpPr txBox="1"/>
          <p:nvPr/>
        </p:nvSpPr>
        <p:spPr>
          <a:xfrm>
            <a:off x="411038" y="998378"/>
            <a:ext cx="8685512" cy="5447645"/>
          </a:xfrm>
          <a:prstGeom prst="rect">
            <a:avLst/>
          </a:prstGeom>
          <a:noFill/>
        </p:spPr>
        <p:txBody>
          <a:bodyPr wrap="square">
            <a:spAutoFit/>
          </a:bodyPr>
          <a:lstStyle/>
          <a:p>
            <a:pPr algn="just"/>
            <a:r>
              <a:rPr lang="en-IN" dirty="0"/>
              <a:t>===================</a:t>
            </a:r>
          </a:p>
          <a:p>
            <a:pPr algn="just"/>
            <a:r>
              <a:rPr lang="en-IN" sz="2400" b="1" dirty="0"/>
              <a:t>class </a:t>
            </a:r>
            <a:r>
              <a:rPr lang="en-IN" sz="2400" b="1" dirty="0" err="1"/>
              <a:t>InetAddress</a:t>
            </a:r>
            <a:endParaRPr lang="en-IN" b="1" dirty="0"/>
          </a:p>
          <a:p>
            <a:pPr algn="just"/>
            <a:r>
              <a:rPr lang="en-IN" dirty="0"/>
              <a:t>===================</a:t>
            </a:r>
          </a:p>
          <a:p>
            <a:pPr algn="just"/>
            <a:r>
              <a:rPr lang="en-IN" dirty="0"/>
              <a:t>Stands for Internet Address. Like other classes </a:t>
            </a:r>
            <a:r>
              <a:rPr lang="en-IN" dirty="0" err="1"/>
              <a:t>InetAddress</a:t>
            </a:r>
            <a:r>
              <a:rPr lang="en-IN" dirty="0"/>
              <a:t> class cannot be instantiated directly through its public no parameter constructor. 4 static methods are provided in this class to instantiate </a:t>
            </a:r>
            <a:r>
              <a:rPr lang="en-IN" dirty="0" err="1"/>
              <a:t>InetAddress</a:t>
            </a:r>
            <a:r>
              <a:rPr lang="en-IN" dirty="0"/>
              <a:t> class object.</a:t>
            </a:r>
          </a:p>
          <a:p>
            <a:pPr algn="just"/>
            <a:endParaRPr lang="en-IN" dirty="0"/>
          </a:p>
          <a:p>
            <a:pPr algn="just"/>
            <a:r>
              <a:rPr lang="en-IN" dirty="0"/>
              <a:t> static InetAddress </a:t>
            </a:r>
            <a:r>
              <a:rPr lang="en-IN" dirty="0" err="1"/>
              <a:t>getByName</a:t>
            </a:r>
            <a:r>
              <a:rPr lang="en-IN" dirty="0"/>
              <a:t>(String host)</a:t>
            </a:r>
          </a:p>
          <a:p>
            <a:pPr algn="just"/>
            <a:r>
              <a:rPr lang="en-IN" dirty="0"/>
              <a:t> static InetAddress </a:t>
            </a:r>
            <a:r>
              <a:rPr lang="en-IN" dirty="0" err="1"/>
              <a:t>getByAddress</a:t>
            </a:r>
            <a:r>
              <a:rPr lang="en-IN" dirty="0"/>
              <a:t>(String host</a:t>
            </a:r>
          </a:p>
          <a:p>
            <a:pPr algn="just"/>
            <a:r>
              <a:rPr lang="en-IN" dirty="0"/>
              <a:t>,byte </a:t>
            </a:r>
            <a:r>
              <a:rPr lang="en-IN" dirty="0" err="1"/>
              <a:t>addr</a:t>
            </a:r>
            <a:r>
              <a:rPr lang="en-IN" dirty="0"/>
              <a:t>[])</a:t>
            </a:r>
          </a:p>
          <a:p>
            <a:pPr algn="just"/>
            <a:r>
              <a:rPr lang="en-IN" dirty="0"/>
              <a:t> static InetAddress </a:t>
            </a:r>
            <a:r>
              <a:rPr lang="en-IN" dirty="0" err="1"/>
              <a:t>getByAddress</a:t>
            </a:r>
            <a:r>
              <a:rPr lang="en-IN" dirty="0"/>
              <a:t>(byte </a:t>
            </a:r>
            <a:r>
              <a:rPr lang="en-IN" dirty="0" err="1"/>
              <a:t>addr</a:t>
            </a:r>
            <a:r>
              <a:rPr lang="en-IN" dirty="0"/>
              <a:t>[])</a:t>
            </a:r>
          </a:p>
          <a:p>
            <a:pPr algn="just"/>
            <a:r>
              <a:rPr lang="en-IN" dirty="0"/>
              <a:t> static InetAddress[] </a:t>
            </a:r>
            <a:r>
              <a:rPr lang="en-IN" dirty="0" err="1"/>
              <a:t>getAllByName</a:t>
            </a:r>
            <a:r>
              <a:rPr lang="en-IN" dirty="0"/>
              <a:t>(String host)</a:t>
            </a:r>
          </a:p>
          <a:p>
            <a:pPr algn="just"/>
            <a:endParaRPr lang="en-IN" dirty="0"/>
          </a:p>
          <a:p>
            <a:pPr algn="just"/>
            <a:r>
              <a:rPr lang="en-IN" dirty="0"/>
              <a:t>The methods are:</a:t>
            </a:r>
          </a:p>
          <a:p>
            <a:pPr algn="just"/>
            <a:r>
              <a:rPr lang="en-IN" dirty="0"/>
              <a:t> byte[] </a:t>
            </a:r>
            <a:r>
              <a:rPr lang="en-IN" dirty="0" err="1"/>
              <a:t>getAddress</a:t>
            </a:r>
            <a:r>
              <a:rPr lang="en-IN" dirty="0"/>
              <a:t>()</a:t>
            </a:r>
          </a:p>
          <a:p>
            <a:pPr algn="just"/>
            <a:r>
              <a:rPr lang="en-IN" dirty="0"/>
              <a:t> String </a:t>
            </a:r>
            <a:r>
              <a:rPr lang="en-IN" dirty="0" err="1"/>
              <a:t>getCanonicalHostName</a:t>
            </a:r>
            <a:r>
              <a:rPr lang="en-IN" dirty="0"/>
              <a:t>()</a:t>
            </a:r>
          </a:p>
          <a:p>
            <a:pPr algn="just"/>
            <a:r>
              <a:rPr lang="en-IN" dirty="0"/>
              <a:t> String </a:t>
            </a:r>
            <a:r>
              <a:rPr lang="en-IN" dirty="0" err="1"/>
              <a:t>getHostAddress</a:t>
            </a:r>
            <a:r>
              <a:rPr lang="en-IN" dirty="0"/>
              <a:t>()</a:t>
            </a:r>
          </a:p>
          <a:p>
            <a:pPr algn="just"/>
            <a:r>
              <a:rPr lang="en-IN" dirty="0"/>
              <a:t> String </a:t>
            </a:r>
            <a:r>
              <a:rPr lang="en-IN" dirty="0" err="1"/>
              <a:t>getHostName</a:t>
            </a:r>
            <a:r>
              <a:rPr lang="en-IN" dirty="0"/>
              <a:t>()</a:t>
            </a:r>
          </a:p>
          <a:p>
            <a:pPr algn="just"/>
            <a:r>
              <a:rPr lang="en-IN" dirty="0"/>
              <a:t> static InetAddress </a:t>
            </a:r>
            <a:r>
              <a:rPr lang="en-IN" dirty="0" err="1"/>
              <a:t>getLocalHost</a:t>
            </a:r>
            <a:r>
              <a:rPr lang="en-IN" dirty="0"/>
              <a:t>() - localhost/127.0.0.1 (loopback)</a:t>
            </a:r>
          </a:p>
        </p:txBody>
      </p:sp>
      <p:sp>
        <p:nvSpPr>
          <p:cNvPr id="10" name="AutoShape 2" descr="InetAddress in Java - Scaler Topics">
            <a:extLst>
              <a:ext uri="{FF2B5EF4-FFF2-40B4-BE49-F238E27FC236}">
                <a16:creationId xmlns:a16="http://schemas.microsoft.com/office/drawing/2014/main" id="{5180752E-C0F1-CF52-F793-F258876751FA}"/>
              </a:ext>
            </a:extLst>
          </p:cNvPr>
          <p:cNvSpPr>
            <a:spLocks noChangeAspect="1" noChangeArrowheads="1"/>
          </p:cNvSpPr>
          <p:nvPr/>
        </p:nvSpPr>
        <p:spPr bwMode="auto">
          <a:xfrm>
            <a:off x="6715947" y="1212110"/>
            <a:ext cx="2913529" cy="6747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sz="2400" b="1" dirty="0">
                <a:solidFill>
                  <a:schemeClr val="bg1"/>
                </a:solidFill>
              </a:rPr>
              <a:t>172.217.163.164</a:t>
            </a:r>
            <a:endParaRPr lang="en-IN" sz="1600" b="1" dirty="0">
              <a:solidFill>
                <a:schemeClr val="bg1"/>
              </a:solidFill>
            </a:endParaRPr>
          </a:p>
        </p:txBody>
      </p:sp>
      <p:sp>
        <p:nvSpPr>
          <p:cNvPr id="11" name="AutoShape 2" descr="InetAddress in Java - Scaler Topics">
            <a:extLst>
              <a:ext uri="{FF2B5EF4-FFF2-40B4-BE49-F238E27FC236}">
                <a16:creationId xmlns:a16="http://schemas.microsoft.com/office/drawing/2014/main" id="{42C80573-A0C9-B94A-B8D8-3B88904AFC7F}"/>
              </a:ext>
            </a:extLst>
          </p:cNvPr>
          <p:cNvSpPr>
            <a:spLocks noChangeAspect="1" noChangeArrowheads="1"/>
          </p:cNvSpPr>
          <p:nvPr/>
        </p:nvSpPr>
        <p:spPr bwMode="auto">
          <a:xfrm>
            <a:off x="6702500" y="862488"/>
            <a:ext cx="2913529" cy="6747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sz="2000" b="1" dirty="0">
                <a:solidFill>
                  <a:schemeClr val="bg1"/>
                </a:solidFill>
              </a:rPr>
              <a:t>www.google.com</a:t>
            </a:r>
            <a:endParaRPr lang="en-IN" sz="1400" b="1" dirty="0">
              <a:solidFill>
                <a:schemeClr val="bg1"/>
              </a:solidFill>
            </a:endParaRPr>
          </a:p>
        </p:txBody>
      </p:sp>
      <p:pic>
        <p:nvPicPr>
          <p:cNvPr id="27" name="Graphic 26" descr="Server">
            <a:extLst>
              <a:ext uri="{FF2B5EF4-FFF2-40B4-BE49-F238E27FC236}">
                <a16:creationId xmlns:a16="http://schemas.microsoft.com/office/drawing/2014/main" id="{D43E2C66-2704-5F58-C536-FA13842B3E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83175" y="2227370"/>
            <a:ext cx="914400" cy="914400"/>
          </a:xfrm>
          <a:prstGeom prst="rect">
            <a:avLst/>
          </a:prstGeom>
        </p:spPr>
      </p:pic>
      <p:sp>
        <p:nvSpPr>
          <p:cNvPr id="44" name="TextBox 43">
            <a:extLst>
              <a:ext uri="{FF2B5EF4-FFF2-40B4-BE49-F238E27FC236}">
                <a16:creationId xmlns:a16="http://schemas.microsoft.com/office/drawing/2014/main" id="{9F595447-7EA7-240B-4C9E-5013F935780A}"/>
              </a:ext>
            </a:extLst>
          </p:cNvPr>
          <p:cNvSpPr txBox="1"/>
          <p:nvPr/>
        </p:nvSpPr>
        <p:spPr>
          <a:xfrm>
            <a:off x="5704274" y="4036479"/>
            <a:ext cx="526106" cy="261610"/>
          </a:xfrm>
          <a:prstGeom prst="rect">
            <a:avLst/>
          </a:prstGeom>
          <a:noFill/>
        </p:spPr>
        <p:txBody>
          <a:bodyPr wrap="none" rtlCol="0">
            <a:spAutoFit/>
          </a:bodyPr>
          <a:lstStyle/>
          <a:p>
            <a:r>
              <a:rPr lang="en-IN" sz="1100" b="1" dirty="0"/>
              <a:t>Client</a:t>
            </a:r>
            <a:endParaRPr lang="en-IN" b="1" dirty="0"/>
          </a:p>
        </p:txBody>
      </p:sp>
      <p:sp>
        <p:nvSpPr>
          <p:cNvPr id="51" name="TextBox 50">
            <a:extLst>
              <a:ext uri="{FF2B5EF4-FFF2-40B4-BE49-F238E27FC236}">
                <a16:creationId xmlns:a16="http://schemas.microsoft.com/office/drawing/2014/main" id="{816D3303-E050-BE2F-863C-FD3567802C9A}"/>
              </a:ext>
            </a:extLst>
          </p:cNvPr>
          <p:cNvSpPr txBox="1"/>
          <p:nvPr/>
        </p:nvSpPr>
        <p:spPr>
          <a:xfrm>
            <a:off x="6897281" y="3265867"/>
            <a:ext cx="256802" cy="261610"/>
          </a:xfrm>
          <a:prstGeom prst="rect">
            <a:avLst/>
          </a:prstGeom>
          <a:noFill/>
        </p:spPr>
        <p:txBody>
          <a:bodyPr wrap="none" rtlCol="0">
            <a:spAutoFit/>
          </a:bodyPr>
          <a:lstStyle/>
          <a:p>
            <a:r>
              <a:rPr lang="en-IN" sz="1100" b="1" dirty="0"/>
              <a:t>6</a:t>
            </a:r>
            <a:endParaRPr lang="en-IN" b="1" dirty="0"/>
          </a:p>
        </p:txBody>
      </p:sp>
      <p:grpSp>
        <p:nvGrpSpPr>
          <p:cNvPr id="57" name="Group 56">
            <a:extLst>
              <a:ext uri="{FF2B5EF4-FFF2-40B4-BE49-F238E27FC236}">
                <a16:creationId xmlns:a16="http://schemas.microsoft.com/office/drawing/2014/main" id="{BA9EAC58-B71A-37CF-A4B2-016F8C6F0A8D}"/>
              </a:ext>
            </a:extLst>
          </p:cNvPr>
          <p:cNvGrpSpPr/>
          <p:nvPr/>
        </p:nvGrpSpPr>
        <p:grpSpPr>
          <a:xfrm>
            <a:off x="5505150" y="2545616"/>
            <a:ext cx="4929980" cy="2666870"/>
            <a:chOff x="5505150" y="2545616"/>
            <a:chExt cx="4929980" cy="2666870"/>
          </a:xfrm>
        </p:grpSpPr>
        <p:pic>
          <p:nvPicPr>
            <p:cNvPr id="8" name="Graphic 7" descr="Server">
              <a:extLst>
                <a:ext uri="{FF2B5EF4-FFF2-40B4-BE49-F238E27FC236}">
                  <a16:creationId xmlns:a16="http://schemas.microsoft.com/office/drawing/2014/main" id="{C20F722E-5615-CC05-D5C2-BF7E0DF449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46482" y="2545616"/>
              <a:ext cx="914400" cy="914400"/>
            </a:xfrm>
            <a:prstGeom prst="rect">
              <a:avLst/>
            </a:prstGeom>
          </p:spPr>
        </p:pic>
        <p:pic>
          <p:nvPicPr>
            <p:cNvPr id="13" name="Graphic 12" descr="Computer">
              <a:extLst>
                <a:ext uri="{FF2B5EF4-FFF2-40B4-BE49-F238E27FC236}">
                  <a16:creationId xmlns:a16="http://schemas.microsoft.com/office/drawing/2014/main" id="{5F06CDB6-F5D0-13A1-CE74-93149CEB4C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53949" y="4184193"/>
              <a:ext cx="914400" cy="914400"/>
            </a:xfrm>
            <a:prstGeom prst="rect">
              <a:avLst/>
            </a:prstGeom>
          </p:spPr>
        </p:pic>
        <p:pic>
          <p:nvPicPr>
            <p:cNvPr id="19" name="Graphic 18" descr="Laptop">
              <a:extLst>
                <a:ext uri="{FF2B5EF4-FFF2-40B4-BE49-F238E27FC236}">
                  <a16:creationId xmlns:a16="http://schemas.microsoft.com/office/drawing/2014/main" id="{890D0FD6-5B20-5AEF-080E-E75813937BB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05150" y="3361331"/>
              <a:ext cx="914400" cy="914400"/>
            </a:xfrm>
            <a:prstGeom prst="rect">
              <a:avLst/>
            </a:prstGeom>
          </p:spPr>
        </p:pic>
        <p:pic>
          <p:nvPicPr>
            <p:cNvPr id="25" name="Graphic 24" descr="Syncing cloud">
              <a:extLst>
                <a:ext uri="{FF2B5EF4-FFF2-40B4-BE49-F238E27FC236}">
                  <a16:creationId xmlns:a16="http://schemas.microsoft.com/office/drawing/2014/main" id="{1441D2BC-1BD7-0EB7-3461-AC14EBD3E16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08" y="3394130"/>
              <a:ext cx="914400" cy="914400"/>
            </a:xfrm>
            <a:prstGeom prst="rect">
              <a:avLst/>
            </a:prstGeom>
          </p:spPr>
        </p:pic>
        <p:pic>
          <p:nvPicPr>
            <p:cNvPr id="26" name="Graphic 25" descr="Server">
              <a:extLst>
                <a:ext uri="{FF2B5EF4-FFF2-40B4-BE49-F238E27FC236}">
                  <a16:creationId xmlns:a16="http://schemas.microsoft.com/office/drawing/2014/main" id="{3E989F65-4461-97C1-E3E6-B341E75ED6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20854" y="3101426"/>
              <a:ext cx="914400" cy="914400"/>
            </a:xfrm>
            <a:prstGeom prst="rect">
              <a:avLst/>
            </a:prstGeom>
          </p:spPr>
        </p:pic>
        <p:cxnSp>
          <p:nvCxnSpPr>
            <p:cNvPr id="29" name="Straight Arrow Connector 28">
              <a:extLst>
                <a:ext uri="{FF2B5EF4-FFF2-40B4-BE49-F238E27FC236}">
                  <a16:creationId xmlns:a16="http://schemas.microsoft.com/office/drawing/2014/main" id="{05BD0799-AA6B-72CF-A4C9-BE20CE504E91}"/>
                </a:ext>
              </a:extLst>
            </p:cNvPr>
            <p:cNvCxnSpPr>
              <a:endCxn id="8" idx="1"/>
            </p:cNvCxnSpPr>
            <p:nvPr/>
          </p:nvCxnSpPr>
          <p:spPr>
            <a:xfrm flipV="1">
              <a:off x="6123246" y="3002816"/>
              <a:ext cx="1123236" cy="3744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481342C-1F4E-1A1B-F764-98A6CBD1CA4B}"/>
                </a:ext>
              </a:extLst>
            </p:cNvPr>
            <p:cNvCxnSpPr/>
            <p:nvPr/>
          </p:nvCxnSpPr>
          <p:spPr>
            <a:xfrm>
              <a:off x="8170186" y="2929111"/>
              <a:ext cx="337855" cy="3096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CDC456C-5D25-8CB5-AF59-947DD2C9AA85}"/>
                </a:ext>
              </a:extLst>
            </p:cNvPr>
            <p:cNvCxnSpPr/>
            <p:nvPr/>
          </p:nvCxnSpPr>
          <p:spPr>
            <a:xfrm flipV="1">
              <a:off x="9253928" y="3141770"/>
              <a:ext cx="224542" cy="2872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4F53257-B20B-40B6-C5A4-CF136DAF7274}"/>
                </a:ext>
              </a:extLst>
            </p:cNvPr>
            <p:cNvCxnSpPr>
              <a:endCxn id="26" idx="3"/>
            </p:cNvCxnSpPr>
            <p:nvPr/>
          </p:nvCxnSpPr>
          <p:spPr>
            <a:xfrm flipH="1">
              <a:off x="9335254" y="3188368"/>
              <a:ext cx="280925" cy="3702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777100F-BD23-CC61-F68A-E7EE9448BCCB}"/>
                </a:ext>
              </a:extLst>
            </p:cNvPr>
            <p:cNvCxnSpPr/>
            <p:nvPr/>
          </p:nvCxnSpPr>
          <p:spPr>
            <a:xfrm flipH="1" flipV="1">
              <a:off x="8112329" y="3141770"/>
              <a:ext cx="319466" cy="2872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FDE3D12-7208-C175-E1C3-FEE491C2D129}"/>
                </a:ext>
              </a:extLst>
            </p:cNvPr>
            <p:cNvCxnSpPr>
              <a:cxnSpLocks/>
            </p:cNvCxnSpPr>
            <p:nvPr/>
          </p:nvCxnSpPr>
          <p:spPr>
            <a:xfrm>
              <a:off x="6096820" y="3361331"/>
              <a:ext cx="1551984" cy="10275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DA367A56-4193-DA77-822E-CDFD67F93020}"/>
                </a:ext>
              </a:extLst>
            </p:cNvPr>
            <p:cNvSpPr txBox="1"/>
            <p:nvPr/>
          </p:nvSpPr>
          <p:spPr>
            <a:xfrm>
              <a:off x="7246201" y="3332751"/>
              <a:ext cx="912429" cy="261610"/>
            </a:xfrm>
            <a:prstGeom prst="rect">
              <a:avLst/>
            </a:prstGeom>
            <a:noFill/>
          </p:spPr>
          <p:txBody>
            <a:bodyPr wrap="none" rtlCol="0">
              <a:spAutoFit/>
            </a:bodyPr>
            <a:lstStyle/>
            <a:p>
              <a:r>
                <a:rPr lang="en-IN" sz="1100" b="1" dirty="0"/>
                <a:t>DNS Server1</a:t>
              </a:r>
              <a:endParaRPr lang="en-IN" b="1" dirty="0"/>
            </a:p>
          </p:txBody>
        </p:sp>
        <p:sp>
          <p:nvSpPr>
            <p:cNvPr id="42" name="TextBox 41">
              <a:extLst>
                <a:ext uri="{FF2B5EF4-FFF2-40B4-BE49-F238E27FC236}">
                  <a16:creationId xmlns:a16="http://schemas.microsoft.com/office/drawing/2014/main" id="{028D9144-7737-3F06-8BA5-A0380E157E0F}"/>
                </a:ext>
              </a:extLst>
            </p:cNvPr>
            <p:cNvSpPr txBox="1"/>
            <p:nvPr/>
          </p:nvSpPr>
          <p:spPr>
            <a:xfrm>
              <a:off x="8420573" y="3861667"/>
              <a:ext cx="912429" cy="261610"/>
            </a:xfrm>
            <a:prstGeom prst="rect">
              <a:avLst/>
            </a:prstGeom>
            <a:noFill/>
          </p:spPr>
          <p:txBody>
            <a:bodyPr wrap="none" rtlCol="0">
              <a:spAutoFit/>
            </a:bodyPr>
            <a:lstStyle/>
            <a:p>
              <a:r>
                <a:rPr lang="en-IN" sz="1100" b="1" dirty="0"/>
                <a:t>DNS Server2</a:t>
              </a:r>
              <a:endParaRPr lang="en-IN" b="1" dirty="0"/>
            </a:p>
          </p:txBody>
        </p:sp>
        <p:sp>
          <p:nvSpPr>
            <p:cNvPr id="43" name="TextBox 42">
              <a:extLst>
                <a:ext uri="{FF2B5EF4-FFF2-40B4-BE49-F238E27FC236}">
                  <a16:creationId xmlns:a16="http://schemas.microsoft.com/office/drawing/2014/main" id="{7E88B549-F260-E29E-2CB8-50E3E25C563C}"/>
                </a:ext>
              </a:extLst>
            </p:cNvPr>
            <p:cNvSpPr txBox="1"/>
            <p:nvPr/>
          </p:nvSpPr>
          <p:spPr>
            <a:xfrm>
              <a:off x="9442551" y="3001058"/>
              <a:ext cx="992579" cy="261610"/>
            </a:xfrm>
            <a:prstGeom prst="rect">
              <a:avLst/>
            </a:prstGeom>
            <a:noFill/>
          </p:spPr>
          <p:txBody>
            <a:bodyPr wrap="none" rtlCol="0">
              <a:spAutoFit/>
            </a:bodyPr>
            <a:lstStyle/>
            <a:p>
              <a:r>
                <a:rPr lang="en-IN" sz="1100" b="1" dirty="0"/>
                <a:t>DNS </a:t>
              </a:r>
              <a:r>
                <a:rPr lang="en-IN" sz="1100" b="1" dirty="0" err="1"/>
                <a:t>Server..n</a:t>
              </a:r>
              <a:endParaRPr lang="en-IN" b="1" dirty="0"/>
            </a:p>
          </p:txBody>
        </p:sp>
        <p:sp>
          <p:nvSpPr>
            <p:cNvPr id="45" name="TextBox 44">
              <a:extLst>
                <a:ext uri="{FF2B5EF4-FFF2-40B4-BE49-F238E27FC236}">
                  <a16:creationId xmlns:a16="http://schemas.microsoft.com/office/drawing/2014/main" id="{E65B3F8D-C8A3-A027-B071-2018BEFF766E}"/>
                </a:ext>
              </a:extLst>
            </p:cNvPr>
            <p:cNvSpPr txBox="1"/>
            <p:nvPr/>
          </p:nvSpPr>
          <p:spPr>
            <a:xfrm>
              <a:off x="7398601" y="4950876"/>
              <a:ext cx="559769" cy="261610"/>
            </a:xfrm>
            <a:prstGeom prst="rect">
              <a:avLst/>
            </a:prstGeom>
            <a:noFill/>
          </p:spPr>
          <p:txBody>
            <a:bodyPr wrap="none" rtlCol="0">
              <a:spAutoFit/>
            </a:bodyPr>
            <a:lstStyle/>
            <a:p>
              <a:r>
                <a:rPr lang="en-IN" sz="1100" b="1" dirty="0"/>
                <a:t>Server</a:t>
              </a:r>
              <a:endParaRPr lang="en-IN" b="1" dirty="0"/>
            </a:p>
          </p:txBody>
        </p:sp>
        <p:sp>
          <p:nvSpPr>
            <p:cNvPr id="46" name="TextBox 45">
              <a:extLst>
                <a:ext uri="{FF2B5EF4-FFF2-40B4-BE49-F238E27FC236}">
                  <a16:creationId xmlns:a16="http://schemas.microsoft.com/office/drawing/2014/main" id="{4EA7ADEF-9F03-A834-8622-18D1093FD2F0}"/>
                </a:ext>
              </a:extLst>
            </p:cNvPr>
            <p:cNvSpPr txBox="1"/>
            <p:nvPr/>
          </p:nvSpPr>
          <p:spPr>
            <a:xfrm>
              <a:off x="6537988" y="2920376"/>
              <a:ext cx="256802" cy="261610"/>
            </a:xfrm>
            <a:prstGeom prst="rect">
              <a:avLst/>
            </a:prstGeom>
            <a:noFill/>
          </p:spPr>
          <p:txBody>
            <a:bodyPr wrap="none" rtlCol="0">
              <a:spAutoFit/>
            </a:bodyPr>
            <a:lstStyle/>
            <a:p>
              <a:r>
                <a:rPr lang="en-IN" sz="1100" b="1" dirty="0"/>
                <a:t>1</a:t>
              </a:r>
              <a:endParaRPr lang="en-IN" b="1" dirty="0"/>
            </a:p>
          </p:txBody>
        </p:sp>
        <p:sp>
          <p:nvSpPr>
            <p:cNvPr id="47" name="TextBox 46">
              <a:extLst>
                <a:ext uri="{FF2B5EF4-FFF2-40B4-BE49-F238E27FC236}">
                  <a16:creationId xmlns:a16="http://schemas.microsoft.com/office/drawing/2014/main" id="{63B147E6-B709-B4CF-24B7-D4827417D384}"/>
                </a:ext>
              </a:extLst>
            </p:cNvPr>
            <p:cNvSpPr txBox="1"/>
            <p:nvPr/>
          </p:nvSpPr>
          <p:spPr>
            <a:xfrm>
              <a:off x="8299550" y="2853142"/>
              <a:ext cx="256802" cy="261610"/>
            </a:xfrm>
            <a:prstGeom prst="rect">
              <a:avLst/>
            </a:prstGeom>
            <a:noFill/>
          </p:spPr>
          <p:txBody>
            <a:bodyPr wrap="none" rtlCol="0">
              <a:spAutoFit/>
            </a:bodyPr>
            <a:lstStyle/>
            <a:p>
              <a:r>
                <a:rPr lang="en-IN" sz="1100" b="1" dirty="0"/>
                <a:t>2</a:t>
              </a:r>
              <a:endParaRPr lang="en-IN" b="1" dirty="0"/>
            </a:p>
          </p:txBody>
        </p:sp>
        <p:sp>
          <p:nvSpPr>
            <p:cNvPr id="48" name="TextBox 47">
              <a:extLst>
                <a:ext uri="{FF2B5EF4-FFF2-40B4-BE49-F238E27FC236}">
                  <a16:creationId xmlns:a16="http://schemas.microsoft.com/office/drawing/2014/main" id="{3EA1F71C-1FF2-A509-7459-8462BE698503}"/>
                </a:ext>
              </a:extLst>
            </p:cNvPr>
            <p:cNvSpPr txBox="1"/>
            <p:nvPr/>
          </p:nvSpPr>
          <p:spPr>
            <a:xfrm>
              <a:off x="9178088" y="3032436"/>
              <a:ext cx="256802" cy="261610"/>
            </a:xfrm>
            <a:prstGeom prst="rect">
              <a:avLst/>
            </a:prstGeom>
            <a:noFill/>
          </p:spPr>
          <p:txBody>
            <a:bodyPr wrap="none" rtlCol="0">
              <a:spAutoFit/>
            </a:bodyPr>
            <a:lstStyle/>
            <a:p>
              <a:r>
                <a:rPr lang="en-IN" sz="1100" b="1" dirty="0"/>
                <a:t>3</a:t>
              </a:r>
              <a:endParaRPr lang="en-IN" b="1" dirty="0"/>
            </a:p>
          </p:txBody>
        </p:sp>
        <p:sp>
          <p:nvSpPr>
            <p:cNvPr id="49" name="TextBox 48">
              <a:extLst>
                <a:ext uri="{FF2B5EF4-FFF2-40B4-BE49-F238E27FC236}">
                  <a16:creationId xmlns:a16="http://schemas.microsoft.com/office/drawing/2014/main" id="{3E10C946-7EA0-7013-8A6F-C2A41B3F6B5D}"/>
                </a:ext>
              </a:extLst>
            </p:cNvPr>
            <p:cNvSpPr txBox="1"/>
            <p:nvPr/>
          </p:nvSpPr>
          <p:spPr>
            <a:xfrm>
              <a:off x="9464958" y="3292412"/>
              <a:ext cx="256802" cy="261610"/>
            </a:xfrm>
            <a:prstGeom prst="rect">
              <a:avLst/>
            </a:prstGeom>
            <a:noFill/>
          </p:spPr>
          <p:txBody>
            <a:bodyPr wrap="none" rtlCol="0">
              <a:spAutoFit/>
            </a:bodyPr>
            <a:lstStyle/>
            <a:p>
              <a:r>
                <a:rPr lang="en-IN" sz="1100" b="1" dirty="0"/>
                <a:t>4</a:t>
              </a:r>
              <a:endParaRPr lang="en-IN" b="1" dirty="0"/>
            </a:p>
          </p:txBody>
        </p:sp>
        <p:sp>
          <p:nvSpPr>
            <p:cNvPr id="50" name="TextBox 49">
              <a:extLst>
                <a:ext uri="{FF2B5EF4-FFF2-40B4-BE49-F238E27FC236}">
                  <a16:creationId xmlns:a16="http://schemas.microsoft.com/office/drawing/2014/main" id="{9F3B69CD-C3E1-F115-052A-A9E70870A489}"/>
                </a:ext>
              </a:extLst>
            </p:cNvPr>
            <p:cNvSpPr txBox="1"/>
            <p:nvPr/>
          </p:nvSpPr>
          <p:spPr>
            <a:xfrm>
              <a:off x="8066470" y="3292412"/>
              <a:ext cx="256802" cy="261610"/>
            </a:xfrm>
            <a:prstGeom prst="rect">
              <a:avLst/>
            </a:prstGeom>
            <a:noFill/>
          </p:spPr>
          <p:txBody>
            <a:bodyPr wrap="none" rtlCol="0">
              <a:spAutoFit/>
            </a:bodyPr>
            <a:lstStyle/>
            <a:p>
              <a:r>
                <a:rPr lang="en-IN" sz="1100" b="1" dirty="0"/>
                <a:t>5</a:t>
              </a:r>
              <a:endParaRPr lang="en-IN" b="1" dirty="0"/>
            </a:p>
          </p:txBody>
        </p:sp>
        <p:sp>
          <p:nvSpPr>
            <p:cNvPr id="52" name="TextBox 51">
              <a:extLst>
                <a:ext uri="{FF2B5EF4-FFF2-40B4-BE49-F238E27FC236}">
                  <a16:creationId xmlns:a16="http://schemas.microsoft.com/office/drawing/2014/main" id="{0A302A32-E1B6-4E3C-4454-32CE85CFD354}"/>
                </a:ext>
              </a:extLst>
            </p:cNvPr>
            <p:cNvSpPr txBox="1"/>
            <p:nvPr/>
          </p:nvSpPr>
          <p:spPr>
            <a:xfrm>
              <a:off x="6938923" y="4139328"/>
              <a:ext cx="256802" cy="261610"/>
            </a:xfrm>
            <a:prstGeom prst="rect">
              <a:avLst/>
            </a:prstGeom>
            <a:noFill/>
          </p:spPr>
          <p:txBody>
            <a:bodyPr wrap="none" rtlCol="0">
              <a:spAutoFit/>
            </a:bodyPr>
            <a:lstStyle/>
            <a:p>
              <a:r>
                <a:rPr lang="en-IN" sz="1100" b="1" dirty="0"/>
                <a:t>7</a:t>
              </a:r>
              <a:endParaRPr lang="en-IN" b="1" dirty="0"/>
            </a:p>
          </p:txBody>
        </p:sp>
        <p:cxnSp>
          <p:nvCxnSpPr>
            <p:cNvPr id="54" name="Straight Arrow Connector 53">
              <a:extLst>
                <a:ext uri="{FF2B5EF4-FFF2-40B4-BE49-F238E27FC236}">
                  <a16:creationId xmlns:a16="http://schemas.microsoft.com/office/drawing/2014/main" id="{2238DAE3-4E39-05B3-7E2D-7A9BF6720BD5}"/>
                </a:ext>
              </a:extLst>
            </p:cNvPr>
            <p:cNvCxnSpPr>
              <a:cxnSpLocks/>
            </p:cNvCxnSpPr>
            <p:nvPr/>
          </p:nvCxnSpPr>
          <p:spPr>
            <a:xfrm flipH="1">
              <a:off x="6611943" y="3181986"/>
              <a:ext cx="634258" cy="2238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58" name="TextBox 57">
            <a:extLst>
              <a:ext uri="{FF2B5EF4-FFF2-40B4-BE49-F238E27FC236}">
                <a16:creationId xmlns:a16="http://schemas.microsoft.com/office/drawing/2014/main" id="{CAACB68B-B9B3-276D-1617-E985EEF82571}"/>
              </a:ext>
            </a:extLst>
          </p:cNvPr>
          <p:cNvSpPr txBox="1"/>
          <p:nvPr/>
        </p:nvSpPr>
        <p:spPr>
          <a:xfrm>
            <a:off x="3738282" y="4545107"/>
            <a:ext cx="3457444" cy="1169551"/>
          </a:xfrm>
          <a:prstGeom prst="rect">
            <a:avLst/>
          </a:prstGeom>
          <a:noFill/>
        </p:spPr>
        <p:txBody>
          <a:bodyPr wrap="square" rtlCol="0">
            <a:spAutoFit/>
          </a:bodyPr>
          <a:lstStyle/>
          <a:p>
            <a:pPr marL="228600" indent="-228600">
              <a:buAutoNum type="arabicParenR"/>
            </a:pPr>
            <a:r>
              <a:rPr lang="en-IN" sz="1400" b="1" dirty="0"/>
              <a:t>Client lookups domain into DNS server</a:t>
            </a:r>
          </a:p>
          <a:p>
            <a:pPr marL="228600" indent="-228600">
              <a:buAutoNum type="arabicParenR"/>
            </a:pPr>
            <a:r>
              <a:rPr lang="en-IN" sz="1400" b="1" dirty="0"/>
              <a:t>DSN1 lookups into DSN2 and so on up to DNS is resolved into IP address</a:t>
            </a:r>
          </a:p>
          <a:p>
            <a:pPr marL="228600" indent="-228600">
              <a:buAutoNum type="arabicParenR"/>
            </a:pPr>
            <a:r>
              <a:rPr lang="en-IN" sz="1400" b="1" dirty="0"/>
              <a:t>DSN1 sends IP address back to client</a:t>
            </a:r>
          </a:p>
          <a:p>
            <a:pPr marL="228600" indent="-228600">
              <a:buAutoNum type="arabicParenR"/>
            </a:pPr>
            <a:r>
              <a:rPr lang="en-IN" sz="1400" b="1" dirty="0"/>
              <a:t>Client connects server using that IP</a:t>
            </a:r>
          </a:p>
        </p:txBody>
      </p:sp>
      <p:sp>
        <p:nvSpPr>
          <p:cNvPr id="4" name="Footer Placeholder 3">
            <a:extLst>
              <a:ext uri="{FF2B5EF4-FFF2-40B4-BE49-F238E27FC236}">
                <a16:creationId xmlns:a16="http://schemas.microsoft.com/office/drawing/2014/main" id="{593C2D72-9DE4-BC80-74BE-DC240B90887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343479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978C9552-1298-DAC1-A2A7-C4E62F22CE97}"/>
              </a:ext>
            </a:extLst>
          </p:cNvPr>
          <p:cNvSpPr txBox="1"/>
          <p:nvPr/>
        </p:nvSpPr>
        <p:spPr>
          <a:xfrm>
            <a:off x="411038" y="715991"/>
            <a:ext cx="8685512" cy="5940088"/>
          </a:xfrm>
          <a:prstGeom prst="rect">
            <a:avLst/>
          </a:prstGeom>
          <a:noFill/>
        </p:spPr>
        <p:txBody>
          <a:bodyPr wrap="square">
            <a:spAutoFit/>
          </a:bodyPr>
          <a:lstStyle/>
          <a:p>
            <a:pPr algn="just"/>
            <a:r>
              <a:rPr lang="en-IN" sz="1600" dirty="0"/>
              <a:t>// IADemo.java</a:t>
            </a:r>
          </a:p>
          <a:p>
            <a:pPr algn="just"/>
            <a:r>
              <a:rPr lang="en-IN" sz="1600" dirty="0"/>
              <a:t>import java.net.*;</a:t>
            </a:r>
          </a:p>
          <a:p>
            <a:pPr algn="just"/>
            <a:r>
              <a:rPr lang="en-IN" sz="1600" dirty="0"/>
              <a:t>public class </a:t>
            </a:r>
            <a:r>
              <a:rPr lang="en-IN" sz="1600" dirty="0" err="1"/>
              <a:t>IADemo</a:t>
            </a:r>
            <a:r>
              <a:rPr lang="en-IN" sz="1600" dirty="0"/>
              <a:t> {</a:t>
            </a:r>
          </a:p>
          <a:p>
            <a:pPr algn="just"/>
            <a:r>
              <a:rPr lang="en-IN" sz="1600" dirty="0"/>
              <a:t>  public static void main(String rags[]) throws Exception {</a:t>
            </a:r>
          </a:p>
          <a:p>
            <a:pPr algn="just"/>
            <a:endParaRPr lang="en-IN" sz="1600" dirty="0"/>
          </a:p>
          <a:p>
            <a:pPr algn="just"/>
            <a:r>
              <a:rPr lang="en-IN" sz="1600" dirty="0"/>
              <a:t>	</a:t>
            </a:r>
            <a:r>
              <a:rPr lang="en-IN" sz="1600" dirty="0" err="1"/>
              <a:t>InetAddress</a:t>
            </a:r>
            <a:r>
              <a:rPr lang="en-IN" sz="1600" dirty="0"/>
              <a:t> </a:t>
            </a:r>
            <a:r>
              <a:rPr lang="en-IN" sz="1600" dirty="0" err="1"/>
              <a:t>ia</a:t>
            </a:r>
            <a:r>
              <a:rPr lang="en-IN" sz="1600" dirty="0"/>
              <a:t>=</a:t>
            </a:r>
            <a:r>
              <a:rPr lang="en-IN" sz="1600" dirty="0" err="1"/>
              <a:t>InetAddress.getByName</a:t>
            </a:r>
            <a:r>
              <a:rPr lang="en-IN" sz="1600" dirty="0"/>
              <a:t>(rags[0]);</a:t>
            </a:r>
          </a:p>
          <a:p>
            <a:pPr algn="just"/>
            <a:r>
              <a:rPr lang="en-IN" sz="1600" dirty="0"/>
              <a:t>	</a:t>
            </a:r>
            <a:r>
              <a:rPr lang="en-IN" sz="1600" dirty="0" err="1"/>
              <a:t>System.out.println</a:t>
            </a:r>
            <a:r>
              <a:rPr lang="en-IN" sz="1600" dirty="0"/>
              <a:t>(</a:t>
            </a:r>
            <a:r>
              <a:rPr lang="en-IN" sz="1600" dirty="0" err="1"/>
              <a:t>ia.getHostName</a:t>
            </a:r>
            <a:r>
              <a:rPr lang="en-IN" sz="1600" dirty="0"/>
              <a:t>());</a:t>
            </a:r>
          </a:p>
          <a:p>
            <a:pPr algn="just"/>
            <a:r>
              <a:rPr lang="en-IN" sz="1600" dirty="0"/>
              <a:t>	</a:t>
            </a:r>
            <a:r>
              <a:rPr lang="en-IN" sz="1600" dirty="0" err="1"/>
              <a:t>System.out.println</a:t>
            </a:r>
            <a:r>
              <a:rPr lang="en-IN" sz="1600" dirty="0"/>
              <a:t>(</a:t>
            </a:r>
            <a:r>
              <a:rPr lang="en-IN" sz="1600" dirty="0" err="1"/>
              <a:t>ia.getHostAddress</a:t>
            </a:r>
            <a:r>
              <a:rPr lang="en-IN" sz="1600" dirty="0"/>
              <a:t>());</a:t>
            </a:r>
          </a:p>
          <a:p>
            <a:pPr algn="just"/>
            <a:endParaRPr lang="en-IN" sz="1600" dirty="0"/>
          </a:p>
          <a:p>
            <a:pPr algn="just"/>
            <a:r>
              <a:rPr lang="en-IN" sz="1600" dirty="0"/>
              <a:t>	</a:t>
            </a:r>
            <a:r>
              <a:rPr lang="en-IN" sz="1600" dirty="0" err="1"/>
              <a:t>System.out.println</a:t>
            </a:r>
            <a:r>
              <a:rPr lang="en-IN" sz="1600" dirty="0"/>
              <a:t>("******************************");</a:t>
            </a:r>
          </a:p>
          <a:p>
            <a:pPr algn="just"/>
            <a:r>
              <a:rPr lang="en-IN" sz="1600" dirty="0"/>
              <a:t>	</a:t>
            </a:r>
          </a:p>
          <a:p>
            <a:pPr algn="just"/>
            <a:r>
              <a:rPr lang="en-IN" sz="1600" dirty="0"/>
              <a:t>	</a:t>
            </a:r>
            <a:r>
              <a:rPr lang="en-IN" sz="1600" dirty="0" err="1"/>
              <a:t>InetAddress</a:t>
            </a:r>
            <a:r>
              <a:rPr lang="en-IN" sz="1600" dirty="0"/>
              <a:t> ia1[]=</a:t>
            </a:r>
            <a:r>
              <a:rPr lang="en-IN" sz="1600" dirty="0" err="1"/>
              <a:t>InetAddress.getAllByName</a:t>
            </a:r>
            <a:r>
              <a:rPr lang="en-IN" sz="1600" dirty="0"/>
              <a:t>(rags[0]);</a:t>
            </a:r>
          </a:p>
          <a:p>
            <a:pPr algn="just"/>
            <a:r>
              <a:rPr lang="en-IN" sz="1600" dirty="0"/>
              <a:t>	int </a:t>
            </a:r>
            <a:r>
              <a:rPr lang="en-IN" sz="1600" dirty="0" err="1"/>
              <a:t>len</a:t>
            </a:r>
            <a:r>
              <a:rPr lang="en-IN" sz="1600" dirty="0"/>
              <a:t>=ia1.length;</a:t>
            </a:r>
          </a:p>
          <a:p>
            <a:pPr algn="just"/>
            <a:r>
              <a:rPr lang="en-IN" sz="1600" dirty="0"/>
              <a:t>	for(int </a:t>
            </a:r>
            <a:r>
              <a:rPr lang="en-IN" sz="1600" dirty="0" err="1"/>
              <a:t>i</a:t>
            </a:r>
            <a:r>
              <a:rPr lang="en-IN" sz="1600" dirty="0"/>
              <a:t>=0;i&lt;</a:t>
            </a:r>
            <a:r>
              <a:rPr lang="en-IN" sz="1600" dirty="0" err="1"/>
              <a:t>len;i</a:t>
            </a:r>
            <a:r>
              <a:rPr lang="en-IN" sz="1600" dirty="0"/>
              <a:t>++) {</a:t>
            </a:r>
          </a:p>
          <a:p>
            <a:pPr algn="just"/>
            <a:r>
              <a:rPr lang="en-IN" sz="1600" dirty="0"/>
              <a:t>	  </a:t>
            </a:r>
            <a:r>
              <a:rPr lang="en-IN" sz="1600" dirty="0" err="1"/>
              <a:t>System.out.println</a:t>
            </a:r>
            <a:r>
              <a:rPr lang="en-IN" sz="1600" dirty="0"/>
              <a:t>(ia1[</a:t>
            </a:r>
            <a:r>
              <a:rPr lang="en-IN" sz="1600" dirty="0" err="1"/>
              <a:t>i</a:t>
            </a:r>
            <a:r>
              <a:rPr lang="en-IN" sz="1600" dirty="0"/>
              <a:t>].</a:t>
            </a:r>
            <a:r>
              <a:rPr lang="en-IN" sz="1600" dirty="0" err="1"/>
              <a:t>getHostName</a:t>
            </a:r>
            <a:r>
              <a:rPr lang="en-IN" sz="1600" dirty="0"/>
              <a:t>()+" / "+ia1[</a:t>
            </a:r>
            <a:r>
              <a:rPr lang="en-IN" sz="1600" dirty="0" err="1"/>
              <a:t>i</a:t>
            </a:r>
            <a:r>
              <a:rPr lang="en-IN" sz="1600" dirty="0"/>
              <a:t>].</a:t>
            </a:r>
            <a:r>
              <a:rPr lang="en-IN" sz="1600" dirty="0" err="1"/>
              <a:t>getHostAddress</a:t>
            </a:r>
            <a:r>
              <a:rPr lang="en-IN" sz="1600" dirty="0"/>
              <a:t>());</a:t>
            </a:r>
          </a:p>
          <a:p>
            <a:pPr algn="just"/>
            <a:r>
              <a:rPr lang="en-IN" sz="1600" dirty="0"/>
              <a:t>	} </a:t>
            </a:r>
          </a:p>
          <a:p>
            <a:pPr algn="just"/>
            <a:r>
              <a:rPr lang="en-IN" sz="1600" dirty="0"/>
              <a:t>	</a:t>
            </a:r>
            <a:r>
              <a:rPr lang="en-IN" sz="1600" dirty="0" err="1"/>
              <a:t>System.out.println</a:t>
            </a:r>
            <a:r>
              <a:rPr lang="en-IN" sz="1600" dirty="0"/>
              <a:t>("******************************");</a:t>
            </a:r>
          </a:p>
          <a:p>
            <a:pPr algn="just"/>
            <a:r>
              <a:rPr lang="en-IN" sz="1600" dirty="0"/>
              <a:t>	</a:t>
            </a:r>
          </a:p>
          <a:p>
            <a:pPr algn="just"/>
            <a:r>
              <a:rPr lang="en-IN" sz="1600" dirty="0"/>
              <a:t>	</a:t>
            </a:r>
            <a:r>
              <a:rPr lang="en-IN" sz="1600" dirty="0" err="1"/>
              <a:t>InetAddress</a:t>
            </a:r>
            <a:r>
              <a:rPr lang="en-IN" sz="1600" dirty="0"/>
              <a:t> ia2=</a:t>
            </a:r>
            <a:r>
              <a:rPr lang="en-IN" sz="1600" dirty="0" err="1"/>
              <a:t>InetAddress.getLocalHost</a:t>
            </a:r>
            <a:r>
              <a:rPr lang="en-IN" sz="1600" dirty="0"/>
              <a:t>();</a:t>
            </a:r>
          </a:p>
          <a:p>
            <a:pPr algn="just"/>
            <a:r>
              <a:rPr lang="en-IN" sz="1600" dirty="0"/>
              <a:t>	</a:t>
            </a:r>
            <a:r>
              <a:rPr lang="en-IN" sz="1600" dirty="0" err="1"/>
              <a:t>System.out.println</a:t>
            </a:r>
            <a:r>
              <a:rPr lang="en-IN" sz="1600" dirty="0"/>
              <a:t>(ia2.getHostAddress()+" "+ia2.getHostName());</a:t>
            </a:r>
          </a:p>
          <a:p>
            <a:pPr algn="just"/>
            <a:r>
              <a:rPr lang="en-IN" sz="1600" dirty="0"/>
              <a:t>	</a:t>
            </a:r>
          </a:p>
          <a:p>
            <a:pPr algn="just"/>
            <a:r>
              <a:rPr lang="en-IN" sz="1600" dirty="0"/>
              <a:t>  }</a:t>
            </a:r>
          </a:p>
          <a:p>
            <a:pPr algn="just"/>
            <a:r>
              <a:rPr lang="en-IN" sz="1600" dirty="0"/>
              <a:t>}</a:t>
            </a:r>
          </a:p>
        </p:txBody>
      </p:sp>
      <p:sp>
        <p:nvSpPr>
          <p:cNvPr id="8" name="TextBox 7">
            <a:extLst>
              <a:ext uri="{FF2B5EF4-FFF2-40B4-BE49-F238E27FC236}">
                <a16:creationId xmlns:a16="http://schemas.microsoft.com/office/drawing/2014/main" id="{DFE5A359-92B2-D521-506E-0F0818746BFE}"/>
              </a:ext>
            </a:extLst>
          </p:cNvPr>
          <p:cNvSpPr txBox="1"/>
          <p:nvPr/>
        </p:nvSpPr>
        <p:spPr>
          <a:xfrm>
            <a:off x="6560831" y="689808"/>
            <a:ext cx="3502257" cy="3323987"/>
          </a:xfrm>
          <a:prstGeom prst="rect">
            <a:avLst/>
          </a:prstGeom>
          <a:noFill/>
        </p:spPr>
        <p:txBody>
          <a:bodyPr wrap="square">
            <a:spAutoFit/>
          </a:bodyPr>
          <a:lstStyle/>
          <a:p>
            <a:r>
              <a:rPr lang="en-IN" sz="1400" b="1" dirty="0" err="1"/>
              <a:t>javac</a:t>
            </a:r>
            <a:r>
              <a:rPr lang="en-IN" sz="1400" b="1" dirty="0"/>
              <a:t> IADemo.java</a:t>
            </a:r>
          </a:p>
          <a:p>
            <a:endParaRPr lang="en-IN" sz="1400" b="1" dirty="0"/>
          </a:p>
          <a:p>
            <a:r>
              <a:rPr lang="en-IN" sz="1400" b="1" dirty="0"/>
              <a:t>java </a:t>
            </a:r>
            <a:r>
              <a:rPr lang="en-IN" sz="1400" b="1" dirty="0" err="1"/>
              <a:t>IADemo</a:t>
            </a:r>
            <a:r>
              <a:rPr lang="en-IN" sz="1400" b="1" dirty="0"/>
              <a:t> www.google.com</a:t>
            </a:r>
          </a:p>
          <a:p>
            <a:r>
              <a:rPr lang="en-IN" sz="1400" b="1" dirty="0"/>
              <a:t>142.250.195.100</a:t>
            </a:r>
          </a:p>
          <a:p>
            <a:endParaRPr lang="en-IN" sz="1400" b="1" dirty="0"/>
          </a:p>
          <a:p>
            <a:r>
              <a:rPr lang="en-IN" sz="1400" b="1" dirty="0"/>
              <a:t>java </a:t>
            </a:r>
            <a:r>
              <a:rPr lang="en-IN" sz="1400" b="1" dirty="0" err="1"/>
              <a:t>IADemo</a:t>
            </a:r>
            <a:r>
              <a:rPr lang="en-IN" sz="1400" b="1" dirty="0"/>
              <a:t> www.ibm.com</a:t>
            </a:r>
          </a:p>
          <a:p>
            <a:r>
              <a:rPr lang="en-IN" sz="1400" b="1" dirty="0"/>
              <a:t>104.120.161.65</a:t>
            </a:r>
          </a:p>
          <a:p>
            <a:endParaRPr lang="en-IN" sz="1400" b="1" dirty="0"/>
          </a:p>
          <a:p>
            <a:r>
              <a:rPr lang="en-IN" sz="1400" b="1" dirty="0"/>
              <a:t>java </a:t>
            </a:r>
            <a:r>
              <a:rPr lang="en-IN" sz="1400" b="1" dirty="0" err="1"/>
              <a:t>IADemo</a:t>
            </a:r>
            <a:r>
              <a:rPr lang="en-IN" sz="1400" b="1" dirty="0"/>
              <a:t> www.oracle.com</a:t>
            </a:r>
          </a:p>
          <a:p>
            <a:r>
              <a:rPr lang="en-IN" sz="1400" b="1" dirty="0"/>
              <a:t>104.120.169.88</a:t>
            </a:r>
          </a:p>
          <a:p>
            <a:endParaRPr lang="en-IN" sz="1400" b="1" dirty="0"/>
          </a:p>
          <a:p>
            <a:r>
              <a:rPr lang="en-IN" sz="1400" b="1" dirty="0"/>
              <a:t>java </a:t>
            </a:r>
            <a:r>
              <a:rPr lang="en-IN" sz="1400" b="1" dirty="0" err="1"/>
              <a:t>IADemo</a:t>
            </a:r>
            <a:r>
              <a:rPr lang="en-IN" sz="1400" b="1" dirty="0"/>
              <a:t> 104.120.169.88</a:t>
            </a:r>
          </a:p>
          <a:p>
            <a:endParaRPr lang="en-IN" sz="1400" b="1" dirty="0"/>
          </a:p>
          <a:p>
            <a:r>
              <a:rPr lang="en-IN" sz="1400" b="1" dirty="0"/>
              <a:t>java </a:t>
            </a:r>
            <a:r>
              <a:rPr lang="en-IN" sz="1400" b="1" dirty="0" err="1"/>
              <a:t>IADemo</a:t>
            </a:r>
            <a:r>
              <a:rPr lang="en-IN" sz="1400" b="1" dirty="0"/>
              <a:t> www.facebook.com</a:t>
            </a:r>
          </a:p>
          <a:p>
            <a:r>
              <a:rPr lang="en-IN" sz="1400" b="1" dirty="0"/>
              <a:t>java </a:t>
            </a:r>
            <a:r>
              <a:rPr lang="en-IN" sz="1400" b="1" dirty="0" err="1"/>
              <a:t>IADemo</a:t>
            </a:r>
            <a:r>
              <a:rPr lang="en-IN" sz="1400" b="1" dirty="0"/>
              <a:t> www.youtube.com</a:t>
            </a:r>
          </a:p>
        </p:txBody>
      </p:sp>
      <p:sp>
        <p:nvSpPr>
          <p:cNvPr id="4" name="Footer Placeholder 3">
            <a:extLst>
              <a:ext uri="{FF2B5EF4-FFF2-40B4-BE49-F238E27FC236}">
                <a16:creationId xmlns:a16="http://schemas.microsoft.com/office/drawing/2014/main" id="{67F97EFD-5A0B-EA15-0355-BA1D7137C64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788677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978C9552-1298-DAC1-A2A7-C4E62F22CE97}"/>
              </a:ext>
            </a:extLst>
          </p:cNvPr>
          <p:cNvSpPr txBox="1"/>
          <p:nvPr/>
        </p:nvSpPr>
        <p:spPr>
          <a:xfrm>
            <a:off x="411038" y="715991"/>
            <a:ext cx="8685512" cy="4893647"/>
          </a:xfrm>
          <a:prstGeom prst="rect">
            <a:avLst/>
          </a:prstGeom>
          <a:noFill/>
        </p:spPr>
        <p:txBody>
          <a:bodyPr wrap="square">
            <a:spAutoFit/>
          </a:bodyPr>
          <a:lstStyle/>
          <a:p>
            <a:pPr algn="just"/>
            <a:r>
              <a:rPr lang="en-US" sz="1600" b="1" dirty="0"/>
              <a:t>=================================</a:t>
            </a:r>
          </a:p>
          <a:p>
            <a:pPr algn="just"/>
            <a:r>
              <a:rPr lang="en-US" sz="2000" b="1" dirty="0"/>
              <a:t>URL (Uniform Resource Locator)</a:t>
            </a:r>
            <a:endParaRPr lang="en-US" sz="1600" b="1" dirty="0"/>
          </a:p>
          <a:p>
            <a:pPr algn="just"/>
            <a:r>
              <a:rPr lang="en-US" sz="1600" b="1" dirty="0"/>
              <a:t>=================================</a:t>
            </a:r>
          </a:p>
          <a:p>
            <a:pPr algn="just"/>
            <a:r>
              <a:rPr lang="en-US" sz="2000" dirty="0"/>
              <a:t>With the help of URL class we can point to any resource on www server such as a web page (.html extension page) or any file (audio, video, pdf, docx, jpg, ppt, .</a:t>
            </a:r>
            <a:r>
              <a:rPr lang="en-US" sz="2000" dirty="0" err="1"/>
              <a:t>fla</a:t>
            </a:r>
            <a:r>
              <a:rPr lang="en-US" sz="2000" dirty="0"/>
              <a:t>, .</a:t>
            </a:r>
            <a:r>
              <a:rPr lang="en-US" sz="2000" dirty="0" err="1"/>
              <a:t>swf</a:t>
            </a:r>
            <a:r>
              <a:rPr lang="en-US" sz="2000" dirty="0"/>
              <a:t>, rm, .mp4). </a:t>
            </a:r>
          </a:p>
          <a:p>
            <a:pPr algn="just"/>
            <a:endParaRPr lang="en-US" sz="2000" dirty="0"/>
          </a:p>
          <a:p>
            <a:pPr algn="just"/>
            <a:r>
              <a:rPr lang="en-US" sz="2000" dirty="0"/>
              <a:t>URL stands for Uniform Resource Locator which is a subset of URI Uniform Resource Identifier/Indicator.</a:t>
            </a:r>
          </a:p>
          <a:p>
            <a:pPr algn="just"/>
            <a:endParaRPr lang="en-US" sz="2000" dirty="0"/>
          </a:p>
          <a:p>
            <a:pPr algn="just"/>
            <a:r>
              <a:rPr lang="en-US" sz="2000" dirty="0"/>
              <a:t>with the help of </a:t>
            </a:r>
            <a:r>
              <a:rPr lang="en-US" sz="2000" dirty="0" err="1"/>
              <a:t>url.openStream</a:t>
            </a:r>
            <a:r>
              <a:rPr lang="en-US" sz="2000" dirty="0"/>
              <a:t>() method that returns </a:t>
            </a:r>
            <a:r>
              <a:rPr lang="en-US" sz="2000" dirty="0" err="1"/>
              <a:t>InputStream</a:t>
            </a:r>
            <a:r>
              <a:rPr lang="en-US" sz="2000" dirty="0"/>
              <a:t> object, we can read/download the file. </a:t>
            </a:r>
          </a:p>
          <a:p>
            <a:pPr algn="just"/>
            <a:endParaRPr lang="en-US" sz="2000" dirty="0"/>
          </a:p>
          <a:p>
            <a:pPr algn="just"/>
            <a:r>
              <a:rPr lang="en-US" sz="2000" dirty="0"/>
              <a:t>If the file is text file we have to use </a:t>
            </a:r>
            <a:r>
              <a:rPr lang="en-US" sz="2000" dirty="0" err="1"/>
              <a:t>DataInputStream</a:t>
            </a:r>
            <a:r>
              <a:rPr lang="en-US" sz="2000" dirty="0"/>
              <a:t> with </a:t>
            </a:r>
            <a:r>
              <a:rPr lang="en-US" sz="2000" dirty="0" err="1"/>
              <a:t>InputStream</a:t>
            </a:r>
            <a:r>
              <a:rPr lang="en-US" sz="2000" dirty="0"/>
              <a:t> object, if the file is binary file we have to use </a:t>
            </a:r>
            <a:r>
              <a:rPr lang="en-US" sz="2000" dirty="0" err="1"/>
              <a:t>BufferedInputStream</a:t>
            </a:r>
            <a:r>
              <a:rPr lang="en-US" sz="2000" dirty="0"/>
              <a:t> with </a:t>
            </a:r>
            <a:r>
              <a:rPr lang="en-US" sz="2000" dirty="0" err="1"/>
              <a:t>InputStream</a:t>
            </a:r>
            <a:r>
              <a:rPr lang="en-US" sz="2000" dirty="0"/>
              <a:t> object to read file content.</a:t>
            </a:r>
            <a:endParaRPr lang="en-IN" sz="2000" dirty="0"/>
          </a:p>
        </p:txBody>
      </p:sp>
      <p:sp>
        <p:nvSpPr>
          <p:cNvPr id="4" name="Footer Placeholder 3">
            <a:extLst>
              <a:ext uri="{FF2B5EF4-FFF2-40B4-BE49-F238E27FC236}">
                <a16:creationId xmlns:a16="http://schemas.microsoft.com/office/drawing/2014/main" id="{261BA05A-E5E9-7C50-9A23-AC8615B8EEE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69899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978C9552-1298-DAC1-A2A7-C4E62F22CE97}"/>
              </a:ext>
            </a:extLst>
          </p:cNvPr>
          <p:cNvSpPr txBox="1"/>
          <p:nvPr/>
        </p:nvSpPr>
        <p:spPr>
          <a:xfrm>
            <a:off x="411038" y="715991"/>
            <a:ext cx="8685512" cy="2185214"/>
          </a:xfrm>
          <a:prstGeom prst="rect">
            <a:avLst/>
          </a:prstGeom>
          <a:noFill/>
        </p:spPr>
        <p:txBody>
          <a:bodyPr wrap="square">
            <a:spAutoFit/>
          </a:bodyPr>
          <a:lstStyle/>
          <a:p>
            <a:pPr algn="just"/>
            <a:r>
              <a:rPr lang="en-US" sz="2000" b="1" dirty="0"/>
              <a:t>===========</a:t>
            </a:r>
          </a:p>
          <a:p>
            <a:pPr algn="just"/>
            <a:r>
              <a:rPr lang="en-US" sz="2000" b="1" dirty="0"/>
              <a:t>URL contains:</a:t>
            </a:r>
            <a:endParaRPr lang="en-US" sz="1600" b="1" dirty="0"/>
          </a:p>
          <a:p>
            <a:pPr algn="just"/>
            <a:r>
              <a:rPr lang="en-US" sz="2000" b="1" dirty="0"/>
              <a:t>===========</a:t>
            </a:r>
            <a:endParaRPr lang="en-US" sz="1600" b="1" dirty="0"/>
          </a:p>
          <a:p>
            <a:pPr algn="just"/>
            <a:r>
              <a:rPr lang="en-US" sz="1600" b="1" dirty="0"/>
              <a:t>	</a:t>
            </a:r>
            <a:r>
              <a:rPr lang="en-US" sz="2000" b="1" dirty="0"/>
              <a:t>protocol://domainname:portnumber/path/filename</a:t>
            </a:r>
            <a:endParaRPr lang="en-US" sz="1600" b="1" dirty="0"/>
          </a:p>
          <a:p>
            <a:pPr algn="just"/>
            <a:r>
              <a:rPr lang="en-US" sz="1600" b="1" dirty="0"/>
              <a:t>	</a:t>
            </a:r>
          </a:p>
          <a:p>
            <a:pPr algn="just"/>
            <a:r>
              <a:rPr lang="en-US" sz="1600" b="1" dirty="0"/>
              <a:t>	</a:t>
            </a:r>
            <a:r>
              <a:rPr lang="en-US" sz="2000" b="1" dirty="0"/>
              <a:t>http://www.google.com:80/index.html</a:t>
            </a:r>
          </a:p>
          <a:p>
            <a:pPr algn="just"/>
            <a:r>
              <a:rPr lang="en-US" sz="2000" b="1" dirty="0"/>
              <a:t>	http://www.activenetinformatics.com:80/index.html</a:t>
            </a:r>
            <a:endParaRPr lang="en-US" sz="1600" b="1" dirty="0"/>
          </a:p>
        </p:txBody>
      </p:sp>
      <p:cxnSp>
        <p:nvCxnSpPr>
          <p:cNvPr id="8" name="Straight Arrow Connector 7">
            <a:extLst>
              <a:ext uri="{FF2B5EF4-FFF2-40B4-BE49-F238E27FC236}">
                <a16:creationId xmlns:a16="http://schemas.microsoft.com/office/drawing/2014/main" id="{13E0FE1B-45AC-DEDC-A3E3-1EDD2A000536}"/>
              </a:ext>
            </a:extLst>
          </p:cNvPr>
          <p:cNvCxnSpPr/>
          <p:nvPr/>
        </p:nvCxnSpPr>
        <p:spPr>
          <a:xfrm flipH="1">
            <a:off x="1653988" y="2017058"/>
            <a:ext cx="174812" cy="2420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B9775CB-BDB1-850C-2563-E2F1A161C5EE}"/>
              </a:ext>
            </a:extLst>
          </p:cNvPr>
          <p:cNvCxnSpPr/>
          <p:nvPr/>
        </p:nvCxnSpPr>
        <p:spPr>
          <a:xfrm flipH="1">
            <a:off x="2702859" y="1936376"/>
            <a:ext cx="121023" cy="3227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03213C-02E0-FA0F-48F4-A6458B297FFA}"/>
              </a:ext>
            </a:extLst>
          </p:cNvPr>
          <p:cNvCxnSpPr/>
          <p:nvPr/>
        </p:nvCxnSpPr>
        <p:spPr>
          <a:xfrm flipH="1">
            <a:off x="4204833" y="2030682"/>
            <a:ext cx="134470" cy="2420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78B7227-1F67-01F2-A0DA-8D8A75367F54}"/>
              </a:ext>
            </a:extLst>
          </p:cNvPr>
          <p:cNvCxnSpPr/>
          <p:nvPr/>
        </p:nvCxnSpPr>
        <p:spPr>
          <a:xfrm flipH="1">
            <a:off x="5334927" y="1963446"/>
            <a:ext cx="416859" cy="2420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E72FB65-A4CA-2D2D-8E69-775003E6152E}"/>
              </a:ext>
            </a:extLst>
          </p:cNvPr>
          <p:cNvSpPr txBox="1"/>
          <p:nvPr/>
        </p:nvSpPr>
        <p:spPr>
          <a:xfrm>
            <a:off x="295836" y="3090624"/>
            <a:ext cx="8800714" cy="3416320"/>
          </a:xfrm>
          <a:prstGeom prst="rect">
            <a:avLst/>
          </a:prstGeom>
          <a:noFill/>
        </p:spPr>
        <p:txBody>
          <a:bodyPr wrap="square">
            <a:spAutoFit/>
          </a:bodyPr>
          <a:lstStyle/>
          <a:p>
            <a:r>
              <a:rPr lang="en-IN" b="1" dirty="0"/>
              <a:t>public class URL {</a:t>
            </a:r>
          </a:p>
          <a:p>
            <a:endParaRPr lang="en-IN" dirty="0"/>
          </a:p>
          <a:p>
            <a:r>
              <a:rPr lang="en-IN" b="1" dirty="0"/>
              <a:t>  // constructors</a:t>
            </a:r>
          </a:p>
          <a:p>
            <a:r>
              <a:rPr lang="en-IN" dirty="0"/>
              <a:t>  URL(String </a:t>
            </a:r>
            <a:r>
              <a:rPr lang="en-IN" dirty="0" err="1"/>
              <a:t>url</a:t>
            </a:r>
            <a:r>
              <a:rPr lang="en-IN" dirty="0"/>
              <a:t>) throws </a:t>
            </a:r>
            <a:r>
              <a:rPr lang="en-IN" dirty="0" err="1"/>
              <a:t>MalformedURLException</a:t>
            </a:r>
            <a:endParaRPr lang="en-IN" dirty="0"/>
          </a:p>
          <a:p>
            <a:r>
              <a:rPr lang="en-IN" dirty="0"/>
              <a:t>  URL(String protocol, String host, int port, String file) throws </a:t>
            </a:r>
            <a:r>
              <a:rPr lang="en-IN" dirty="0" err="1"/>
              <a:t>MalformedURLException</a:t>
            </a:r>
            <a:endParaRPr lang="en-IN" dirty="0"/>
          </a:p>
          <a:p>
            <a:r>
              <a:rPr lang="en-IN" dirty="0"/>
              <a:t>	</a:t>
            </a:r>
          </a:p>
          <a:p>
            <a:r>
              <a:rPr lang="en-IN" b="1" i="1" dirty="0"/>
              <a:t>  If protocol/www/</a:t>
            </a:r>
            <a:r>
              <a:rPr lang="en-IN" b="1" i="1" dirty="0" err="1"/>
              <a:t>host_name</a:t>
            </a:r>
            <a:r>
              <a:rPr lang="en-IN" b="1" i="1" dirty="0"/>
              <a:t> is missing in URL </a:t>
            </a:r>
            <a:r>
              <a:rPr lang="en-IN" b="1" i="1" dirty="0" err="1"/>
              <a:t>MalformedURLException</a:t>
            </a:r>
            <a:r>
              <a:rPr lang="en-IN" b="1" i="1" dirty="0"/>
              <a:t> raises.</a:t>
            </a:r>
          </a:p>
          <a:p>
            <a:r>
              <a:rPr lang="en-IN" b="1" i="1" dirty="0"/>
              <a:t>  If the specified </a:t>
            </a:r>
            <a:r>
              <a:rPr lang="en-IN" b="1" i="1" dirty="0" err="1"/>
              <a:t>host_name</a:t>
            </a:r>
            <a:r>
              <a:rPr lang="en-IN" b="1" i="1" dirty="0"/>
              <a:t> is unknown then </a:t>
            </a:r>
            <a:r>
              <a:rPr lang="en-IN" b="1" i="1" dirty="0" err="1"/>
              <a:t>UnknowHostException</a:t>
            </a:r>
            <a:r>
              <a:rPr lang="en-IN" b="1" i="1" dirty="0"/>
              <a:t> comes</a:t>
            </a:r>
          </a:p>
          <a:p>
            <a:endParaRPr lang="en-IN" dirty="0"/>
          </a:p>
          <a:p>
            <a:r>
              <a:rPr lang="en-IN" dirty="0"/>
              <a:t>  </a:t>
            </a:r>
            <a:r>
              <a:rPr lang="en-IN" b="1" dirty="0"/>
              <a:t>// important methods</a:t>
            </a:r>
          </a:p>
          <a:p>
            <a:r>
              <a:rPr lang="en-IN" dirty="0"/>
              <a:t>  </a:t>
            </a:r>
            <a:r>
              <a:rPr lang="en-IN" dirty="0" err="1"/>
              <a:t>InputStream</a:t>
            </a:r>
            <a:r>
              <a:rPr lang="en-IN" dirty="0"/>
              <a:t> </a:t>
            </a:r>
            <a:r>
              <a:rPr lang="en-IN" dirty="0" err="1"/>
              <a:t>openStream</a:t>
            </a:r>
            <a:r>
              <a:rPr lang="en-IN" dirty="0"/>
              <a:t>()</a:t>
            </a:r>
          </a:p>
          <a:p>
            <a:r>
              <a:rPr lang="en-IN" dirty="0"/>
              <a:t>  </a:t>
            </a:r>
            <a:r>
              <a:rPr lang="en-IN" dirty="0" err="1"/>
              <a:t>URLConnection</a:t>
            </a:r>
            <a:r>
              <a:rPr lang="en-IN" dirty="0"/>
              <a:t> </a:t>
            </a:r>
            <a:r>
              <a:rPr lang="en-IN" dirty="0" err="1"/>
              <a:t>openConnection</a:t>
            </a:r>
            <a:r>
              <a:rPr lang="en-IN" dirty="0"/>
              <a:t>()</a:t>
            </a:r>
          </a:p>
        </p:txBody>
      </p:sp>
      <p:sp>
        <p:nvSpPr>
          <p:cNvPr id="26" name="TextBox 25">
            <a:extLst>
              <a:ext uri="{FF2B5EF4-FFF2-40B4-BE49-F238E27FC236}">
                <a16:creationId xmlns:a16="http://schemas.microsoft.com/office/drawing/2014/main" id="{55F982C0-273B-89E2-0FD7-A5E6E1AEAA5C}"/>
              </a:ext>
            </a:extLst>
          </p:cNvPr>
          <p:cNvSpPr txBox="1"/>
          <p:nvPr/>
        </p:nvSpPr>
        <p:spPr>
          <a:xfrm>
            <a:off x="7281906" y="1059299"/>
            <a:ext cx="4020429" cy="2585323"/>
          </a:xfrm>
          <a:prstGeom prst="rect">
            <a:avLst/>
          </a:prstGeom>
          <a:noFill/>
        </p:spPr>
        <p:txBody>
          <a:bodyPr wrap="square">
            <a:spAutoFit/>
          </a:bodyPr>
          <a:lstStyle/>
          <a:p>
            <a:r>
              <a:rPr lang="en-IN" dirty="0"/>
              <a:t>  </a:t>
            </a:r>
            <a:r>
              <a:rPr lang="en-IN" b="1" dirty="0"/>
              <a:t>// important methods</a:t>
            </a:r>
          </a:p>
          <a:p>
            <a:r>
              <a:rPr lang="en-IN" dirty="0"/>
              <a:t>  String </a:t>
            </a:r>
            <a:r>
              <a:rPr lang="en-IN" dirty="0" err="1"/>
              <a:t>getProtocol</a:t>
            </a:r>
            <a:r>
              <a:rPr lang="en-IN" dirty="0"/>
              <a:t>()</a:t>
            </a:r>
          </a:p>
          <a:p>
            <a:r>
              <a:rPr lang="en-IN" dirty="0"/>
              <a:t>  int </a:t>
            </a:r>
            <a:r>
              <a:rPr lang="en-IN" dirty="0" err="1"/>
              <a:t>getPort</a:t>
            </a:r>
            <a:r>
              <a:rPr lang="en-IN" dirty="0"/>
              <a:t>()</a:t>
            </a:r>
          </a:p>
          <a:p>
            <a:r>
              <a:rPr lang="en-IN" dirty="0"/>
              <a:t>  String </a:t>
            </a:r>
            <a:r>
              <a:rPr lang="en-IN" dirty="0" err="1"/>
              <a:t>getHost</a:t>
            </a:r>
            <a:r>
              <a:rPr lang="en-IN" dirty="0"/>
              <a:t>()</a:t>
            </a:r>
          </a:p>
          <a:p>
            <a:r>
              <a:rPr lang="en-IN" dirty="0"/>
              <a:t>  String </a:t>
            </a:r>
            <a:r>
              <a:rPr lang="en-IN" dirty="0" err="1"/>
              <a:t>getFile</a:t>
            </a:r>
            <a:r>
              <a:rPr lang="en-IN" dirty="0"/>
              <a:t>()</a:t>
            </a:r>
          </a:p>
          <a:p>
            <a:r>
              <a:rPr lang="en-IN" dirty="0"/>
              <a:t>  String </a:t>
            </a:r>
            <a:r>
              <a:rPr lang="en-IN" dirty="0" err="1"/>
              <a:t>getRef</a:t>
            </a:r>
            <a:r>
              <a:rPr lang="en-IN" dirty="0"/>
              <a:t>() </a:t>
            </a:r>
          </a:p>
          <a:p>
            <a:r>
              <a:rPr lang="en-IN" dirty="0"/>
              <a:t>  String </a:t>
            </a:r>
            <a:r>
              <a:rPr lang="en-IN" dirty="0" err="1"/>
              <a:t>getPath</a:t>
            </a:r>
            <a:r>
              <a:rPr lang="en-IN" dirty="0"/>
              <a:t>()</a:t>
            </a:r>
          </a:p>
          <a:p>
            <a:endParaRPr lang="en-IN" dirty="0"/>
          </a:p>
          <a:p>
            <a:r>
              <a:rPr lang="en-IN" b="1" dirty="0"/>
              <a:t>  // setter methods are also available</a:t>
            </a:r>
          </a:p>
        </p:txBody>
      </p:sp>
      <p:sp>
        <p:nvSpPr>
          <p:cNvPr id="4" name="Footer Placeholder 3">
            <a:extLst>
              <a:ext uri="{FF2B5EF4-FFF2-40B4-BE49-F238E27FC236}">
                <a16:creationId xmlns:a16="http://schemas.microsoft.com/office/drawing/2014/main" id="{FB0C0143-1E11-650B-7050-6B121551326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33029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9" name="TextBox 8">
            <a:extLst>
              <a:ext uri="{FF2B5EF4-FFF2-40B4-BE49-F238E27FC236}">
                <a16:creationId xmlns:a16="http://schemas.microsoft.com/office/drawing/2014/main" id="{9B184351-0EA8-8B3F-6064-4DBAE555F1DA}"/>
              </a:ext>
            </a:extLst>
          </p:cNvPr>
          <p:cNvSpPr txBox="1"/>
          <p:nvPr/>
        </p:nvSpPr>
        <p:spPr>
          <a:xfrm>
            <a:off x="598648" y="500281"/>
            <a:ext cx="6138582" cy="3170099"/>
          </a:xfrm>
          <a:prstGeom prst="rect">
            <a:avLst/>
          </a:prstGeom>
          <a:noFill/>
        </p:spPr>
        <p:txBody>
          <a:bodyPr wrap="square">
            <a:spAutoFit/>
          </a:bodyPr>
          <a:lstStyle/>
          <a:p>
            <a:r>
              <a:rPr lang="en-IN" sz="2000" b="1" dirty="0"/>
              <a:t>// URLDemo.java</a:t>
            </a:r>
          </a:p>
          <a:p>
            <a:r>
              <a:rPr lang="en-IN" sz="2000" dirty="0"/>
              <a:t>import java.net.*;</a:t>
            </a:r>
          </a:p>
          <a:p>
            <a:r>
              <a:rPr lang="en-IN" sz="2000" dirty="0"/>
              <a:t>public class </a:t>
            </a:r>
            <a:r>
              <a:rPr lang="en-IN" sz="2000" dirty="0" err="1"/>
              <a:t>URLDemo</a:t>
            </a:r>
            <a:r>
              <a:rPr lang="en-IN" sz="2000" dirty="0"/>
              <a:t> {</a:t>
            </a:r>
          </a:p>
          <a:p>
            <a:r>
              <a:rPr lang="en-IN" sz="2000" dirty="0"/>
              <a:t>  public static void main(String rags[]) throws Exception {</a:t>
            </a:r>
          </a:p>
          <a:p>
            <a:r>
              <a:rPr lang="en-IN" sz="2000" dirty="0"/>
              <a:t>    URL u=new URL(rags[0]);</a:t>
            </a:r>
          </a:p>
          <a:p>
            <a:r>
              <a:rPr lang="en-IN" sz="2000" dirty="0"/>
              <a:t>    </a:t>
            </a:r>
            <a:r>
              <a:rPr lang="en-IN" sz="2000" dirty="0" err="1"/>
              <a:t>InputStream</a:t>
            </a:r>
            <a:r>
              <a:rPr lang="en-IN" sz="2000" dirty="0"/>
              <a:t> is=</a:t>
            </a:r>
            <a:r>
              <a:rPr lang="en-IN" sz="2000" dirty="0" err="1"/>
              <a:t>u.openStream</a:t>
            </a:r>
            <a:r>
              <a:rPr lang="en-IN" sz="2000" dirty="0"/>
              <a:t>();</a:t>
            </a:r>
          </a:p>
          <a:p>
            <a:r>
              <a:rPr lang="en-IN" sz="2000" dirty="0"/>
              <a:t>    </a:t>
            </a:r>
            <a:r>
              <a:rPr lang="en-IN" sz="2000" dirty="0" err="1"/>
              <a:t>DataInputStream</a:t>
            </a:r>
            <a:r>
              <a:rPr lang="en-IN" sz="2000" dirty="0"/>
              <a:t> dis=new </a:t>
            </a:r>
            <a:r>
              <a:rPr lang="en-IN" sz="2000" dirty="0" err="1"/>
              <a:t>DataInputStream</a:t>
            </a:r>
            <a:r>
              <a:rPr lang="en-IN" sz="2000" dirty="0"/>
              <a:t>(is);</a:t>
            </a:r>
          </a:p>
          <a:p>
            <a:endParaRPr lang="en-IN" sz="2000" dirty="0"/>
          </a:p>
          <a:p>
            <a:r>
              <a:rPr lang="en-IN" sz="2000" dirty="0"/>
              <a:t>    </a:t>
            </a:r>
            <a:r>
              <a:rPr lang="en-IN" sz="2000" dirty="0" err="1"/>
              <a:t>FileOutputStream</a:t>
            </a:r>
            <a:r>
              <a:rPr lang="en-IN" sz="2000" dirty="0"/>
              <a:t> </a:t>
            </a:r>
            <a:r>
              <a:rPr lang="en-IN" sz="2000" dirty="0" err="1"/>
              <a:t>fos</a:t>
            </a:r>
            <a:r>
              <a:rPr lang="en-IN" sz="2000" dirty="0"/>
              <a:t>=new </a:t>
            </a:r>
            <a:r>
              <a:rPr lang="en-IN" sz="2000" dirty="0" err="1"/>
              <a:t>FileOutputStream</a:t>
            </a:r>
            <a:r>
              <a:rPr lang="en-IN" sz="2000" dirty="0"/>
              <a:t>(rags[1]);</a:t>
            </a:r>
          </a:p>
          <a:p>
            <a:r>
              <a:rPr lang="en-IN" sz="2000" dirty="0"/>
              <a:t>    </a:t>
            </a:r>
            <a:r>
              <a:rPr lang="en-IN" sz="2000" dirty="0" err="1"/>
              <a:t>PrintStream</a:t>
            </a:r>
            <a:r>
              <a:rPr lang="en-IN" sz="2000" dirty="0"/>
              <a:t> </a:t>
            </a:r>
            <a:r>
              <a:rPr lang="en-IN" sz="2000" dirty="0" err="1"/>
              <a:t>ps</a:t>
            </a:r>
            <a:r>
              <a:rPr lang="en-IN" sz="2000" dirty="0"/>
              <a:t>=new </a:t>
            </a:r>
            <a:r>
              <a:rPr lang="en-IN" sz="2000" dirty="0" err="1"/>
              <a:t>PrintStream</a:t>
            </a:r>
            <a:r>
              <a:rPr lang="en-IN" sz="2000" dirty="0"/>
              <a:t>(</a:t>
            </a:r>
            <a:r>
              <a:rPr lang="en-IN" sz="2000" dirty="0" err="1"/>
              <a:t>fos</a:t>
            </a:r>
            <a:r>
              <a:rPr lang="en-IN" sz="2000" dirty="0"/>
              <a:t>);</a:t>
            </a:r>
          </a:p>
        </p:txBody>
      </p:sp>
      <p:sp>
        <p:nvSpPr>
          <p:cNvPr id="13" name="TextBox 12">
            <a:extLst>
              <a:ext uri="{FF2B5EF4-FFF2-40B4-BE49-F238E27FC236}">
                <a16:creationId xmlns:a16="http://schemas.microsoft.com/office/drawing/2014/main" id="{7406776E-5BA9-889B-124D-786ACC662EB3}"/>
              </a:ext>
            </a:extLst>
          </p:cNvPr>
          <p:cNvSpPr txBox="1"/>
          <p:nvPr/>
        </p:nvSpPr>
        <p:spPr>
          <a:xfrm>
            <a:off x="598643" y="3771548"/>
            <a:ext cx="3079310" cy="1631216"/>
          </a:xfrm>
          <a:prstGeom prst="rect">
            <a:avLst/>
          </a:prstGeom>
          <a:noFill/>
        </p:spPr>
        <p:txBody>
          <a:bodyPr wrap="square">
            <a:spAutoFit/>
          </a:bodyPr>
          <a:lstStyle/>
          <a:p>
            <a:r>
              <a:rPr lang="en-IN" sz="2000" dirty="0"/>
              <a:t>    String line=</a:t>
            </a:r>
            <a:r>
              <a:rPr lang="en-IN" sz="2000" dirty="0" err="1"/>
              <a:t>dis.readLine</a:t>
            </a:r>
            <a:r>
              <a:rPr lang="en-IN" sz="2000" dirty="0"/>
              <a:t>();</a:t>
            </a:r>
          </a:p>
          <a:p>
            <a:r>
              <a:rPr lang="en-IN" sz="2000" dirty="0"/>
              <a:t>    while(line!=null) {</a:t>
            </a:r>
          </a:p>
          <a:p>
            <a:r>
              <a:rPr lang="en-IN" sz="2000" dirty="0"/>
              <a:t>      </a:t>
            </a:r>
            <a:r>
              <a:rPr lang="en-IN" sz="2000" dirty="0" err="1"/>
              <a:t>ps.println</a:t>
            </a:r>
            <a:r>
              <a:rPr lang="en-IN" sz="2000" dirty="0"/>
              <a:t>(line);</a:t>
            </a:r>
          </a:p>
          <a:p>
            <a:r>
              <a:rPr lang="en-IN" sz="2000" dirty="0"/>
              <a:t>      line=</a:t>
            </a:r>
            <a:r>
              <a:rPr lang="en-IN" sz="2000" dirty="0" err="1"/>
              <a:t>dis.readLine</a:t>
            </a:r>
            <a:r>
              <a:rPr lang="en-IN" sz="2000" dirty="0"/>
              <a:t>();</a:t>
            </a:r>
          </a:p>
          <a:p>
            <a:r>
              <a:rPr lang="en-IN" sz="2000" dirty="0"/>
              <a:t>    }</a:t>
            </a:r>
          </a:p>
        </p:txBody>
      </p:sp>
      <p:sp>
        <p:nvSpPr>
          <p:cNvPr id="25" name="TextBox 24">
            <a:extLst>
              <a:ext uri="{FF2B5EF4-FFF2-40B4-BE49-F238E27FC236}">
                <a16:creationId xmlns:a16="http://schemas.microsoft.com/office/drawing/2014/main" id="{76E3A236-E9DC-B950-FBF5-A9A17C050697}"/>
              </a:ext>
            </a:extLst>
          </p:cNvPr>
          <p:cNvSpPr txBox="1"/>
          <p:nvPr/>
        </p:nvSpPr>
        <p:spPr>
          <a:xfrm>
            <a:off x="3745188" y="3932330"/>
            <a:ext cx="2233332" cy="1938992"/>
          </a:xfrm>
          <a:prstGeom prst="rect">
            <a:avLst/>
          </a:prstGeom>
          <a:noFill/>
        </p:spPr>
        <p:txBody>
          <a:bodyPr wrap="square">
            <a:spAutoFit/>
          </a:bodyPr>
          <a:lstStyle/>
          <a:p>
            <a:r>
              <a:rPr lang="en-IN" sz="2000" dirty="0" err="1"/>
              <a:t>ps.close</a:t>
            </a:r>
            <a:r>
              <a:rPr lang="en-IN" sz="2000" dirty="0"/>
              <a:t>();</a:t>
            </a:r>
          </a:p>
          <a:p>
            <a:r>
              <a:rPr lang="en-IN" sz="2000" dirty="0"/>
              <a:t>    </a:t>
            </a:r>
            <a:r>
              <a:rPr lang="en-IN" sz="2000" dirty="0" err="1"/>
              <a:t>fos.close</a:t>
            </a:r>
            <a:r>
              <a:rPr lang="en-IN" sz="2000" dirty="0"/>
              <a:t>();</a:t>
            </a:r>
          </a:p>
          <a:p>
            <a:r>
              <a:rPr lang="en-IN" sz="2000" dirty="0"/>
              <a:t>    </a:t>
            </a:r>
            <a:r>
              <a:rPr lang="en-IN" sz="2000" dirty="0" err="1"/>
              <a:t>dis.close</a:t>
            </a:r>
            <a:r>
              <a:rPr lang="en-IN" sz="2000" dirty="0"/>
              <a:t>();</a:t>
            </a:r>
          </a:p>
          <a:p>
            <a:r>
              <a:rPr lang="en-IN" sz="2000" dirty="0"/>
              <a:t>    </a:t>
            </a:r>
            <a:r>
              <a:rPr lang="en-IN" sz="2000" dirty="0" err="1"/>
              <a:t>is.close</a:t>
            </a:r>
            <a:r>
              <a:rPr lang="en-IN" sz="2000" dirty="0"/>
              <a:t>();</a:t>
            </a:r>
          </a:p>
          <a:p>
            <a:r>
              <a:rPr lang="en-IN" sz="2000" dirty="0"/>
              <a:t>  }</a:t>
            </a:r>
          </a:p>
          <a:p>
            <a:r>
              <a:rPr lang="en-IN" sz="2000" dirty="0"/>
              <a:t>}</a:t>
            </a:r>
          </a:p>
        </p:txBody>
      </p:sp>
      <p:sp>
        <p:nvSpPr>
          <p:cNvPr id="28" name="Flowchart: Document 27">
            <a:extLst>
              <a:ext uri="{FF2B5EF4-FFF2-40B4-BE49-F238E27FC236}">
                <a16:creationId xmlns:a16="http://schemas.microsoft.com/office/drawing/2014/main" id="{EF455544-1D4D-519B-EA36-E94647798F43}"/>
              </a:ext>
            </a:extLst>
          </p:cNvPr>
          <p:cNvSpPr/>
          <p:nvPr/>
        </p:nvSpPr>
        <p:spPr>
          <a:xfrm>
            <a:off x="6952130" y="2173692"/>
            <a:ext cx="3697058" cy="1959372"/>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800" dirty="0"/>
              <a:t>&lt;html&gt;</a:t>
            </a:r>
          </a:p>
          <a:p>
            <a:r>
              <a:rPr lang="en-IN" sz="1800" dirty="0"/>
              <a:t>  &lt;body&gt;</a:t>
            </a:r>
          </a:p>
          <a:p>
            <a:r>
              <a:rPr lang="en-IN" sz="1800" dirty="0"/>
              <a:t>    Welcome to our batch schedules</a:t>
            </a:r>
          </a:p>
          <a:p>
            <a:r>
              <a:rPr lang="en-IN" sz="1800" dirty="0"/>
              <a:t>  &lt;/body&gt;</a:t>
            </a:r>
          </a:p>
          <a:p>
            <a:r>
              <a:rPr lang="en-IN" sz="1800" dirty="0"/>
              <a:t>&lt;/html&gt;</a:t>
            </a:r>
          </a:p>
        </p:txBody>
      </p:sp>
      <p:sp>
        <p:nvSpPr>
          <p:cNvPr id="29" name="Rectangle: Top Corners Rounded 28">
            <a:extLst>
              <a:ext uri="{FF2B5EF4-FFF2-40B4-BE49-F238E27FC236}">
                <a16:creationId xmlns:a16="http://schemas.microsoft.com/office/drawing/2014/main" id="{8F460CE2-4CC0-B403-88BC-35BF67432C85}"/>
              </a:ext>
            </a:extLst>
          </p:cNvPr>
          <p:cNvSpPr/>
          <p:nvPr/>
        </p:nvSpPr>
        <p:spPr>
          <a:xfrm>
            <a:off x="6952129" y="1634525"/>
            <a:ext cx="4948518" cy="523220"/>
          </a:xfrm>
          <a:prstGeom prst="round2Same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http://www.abcsite.com:80/training/batches.html</a:t>
            </a:r>
          </a:p>
        </p:txBody>
      </p:sp>
      <p:cxnSp>
        <p:nvCxnSpPr>
          <p:cNvPr id="31" name="Straight Arrow Connector 30">
            <a:extLst>
              <a:ext uri="{FF2B5EF4-FFF2-40B4-BE49-F238E27FC236}">
                <a16:creationId xmlns:a16="http://schemas.microsoft.com/office/drawing/2014/main" id="{26B66170-7B3A-4145-E917-7BDCF27237CD}"/>
              </a:ext>
            </a:extLst>
          </p:cNvPr>
          <p:cNvCxnSpPr/>
          <p:nvPr/>
        </p:nvCxnSpPr>
        <p:spPr>
          <a:xfrm flipV="1">
            <a:off x="3550024" y="1869141"/>
            <a:ext cx="3187206" cy="1075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C709940-BE69-BB5C-4E83-DFB21CA122E5}"/>
              </a:ext>
            </a:extLst>
          </p:cNvPr>
          <p:cNvSpPr txBox="1"/>
          <p:nvPr/>
        </p:nvSpPr>
        <p:spPr>
          <a:xfrm>
            <a:off x="598643" y="5777455"/>
            <a:ext cx="8558804" cy="646331"/>
          </a:xfrm>
          <a:prstGeom prst="rect">
            <a:avLst/>
          </a:prstGeom>
          <a:noFill/>
        </p:spPr>
        <p:txBody>
          <a:bodyPr wrap="square">
            <a:spAutoFit/>
          </a:bodyPr>
          <a:lstStyle/>
          <a:p>
            <a:r>
              <a:rPr lang="en-IN" dirty="0" err="1"/>
              <a:t>javac</a:t>
            </a:r>
            <a:r>
              <a:rPr lang="en-IN" dirty="0"/>
              <a:t> URLDemo.java</a:t>
            </a:r>
          </a:p>
          <a:p>
            <a:r>
              <a:rPr lang="en-IN" dirty="0"/>
              <a:t>java </a:t>
            </a:r>
            <a:r>
              <a:rPr lang="en-IN" dirty="0" err="1"/>
              <a:t>URLDemo</a:t>
            </a:r>
            <a:r>
              <a:rPr lang="en-IN" dirty="0"/>
              <a:t> </a:t>
            </a:r>
            <a:r>
              <a:rPr lang="en-IN" dirty="0">
                <a:hlinkClick r:id="rId3"/>
              </a:rPr>
              <a:t>http://www.abcsite.com/training/batches.html</a:t>
            </a:r>
            <a:r>
              <a:rPr lang="en-IN" dirty="0"/>
              <a:t> abcsite_batches.com.html</a:t>
            </a:r>
          </a:p>
        </p:txBody>
      </p:sp>
      <p:sp>
        <p:nvSpPr>
          <p:cNvPr id="4" name="Footer Placeholder 3">
            <a:extLst>
              <a:ext uri="{FF2B5EF4-FFF2-40B4-BE49-F238E27FC236}">
                <a16:creationId xmlns:a16="http://schemas.microsoft.com/office/drawing/2014/main" id="{4D6150C6-09C1-7526-FECC-F921465AB2C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96380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9" name="TextBox 8">
            <a:extLst>
              <a:ext uri="{FF2B5EF4-FFF2-40B4-BE49-F238E27FC236}">
                <a16:creationId xmlns:a16="http://schemas.microsoft.com/office/drawing/2014/main" id="{9B184351-0EA8-8B3F-6064-4DBAE555F1DA}"/>
              </a:ext>
            </a:extLst>
          </p:cNvPr>
          <p:cNvSpPr txBox="1"/>
          <p:nvPr/>
        </p:nvSpPr>
        <p:spPr>
          <a:xfrm>
            <a:off x="571501" y="1169134"/>
            <a:ext cx="9164170" cy="1938992"/>
          </a:xfrm>
          <a:prstGeom prst="rect">
            <a:avLst/>
          </a:prstGeom>
          <a:noFill/>
        </p:spPr>
        <p:txBody>
          <a:bodyPr wrap="square">
            <a:spAutoFit/>
          </a:bodyPr>
          <a:lstStyle/>
          <a:p>
            <a:pPr algn="just"/>
            <a:r>
              <a:rPr lang="en-US" sz="2400" b="1" dirty="0"/>
              <a:t>The limitations of URL class is that it can only read WWW resources / local resources into our program/system, but it cannot perform both read and write operations onto server resources (.html, servlets, .</a:t>
            </a:r>
            <a:r>
              <a:rPr lang="en-US" sz="2400" b="1" dirty="0" err="1"/>
              <a:t>jsp</a:t>
            </a:r>
            <a:r>
              <a:rPr lang="en-US" sz="2400" b="1" dirty="0"/>
              <a:t>, .asp, .</a:t>
            </a:r>
            <a:r>
              <a:rPr lang="en-US" sz="2400" b="1" dirty="0" err="1"/>
              <a:t>php</a:t>
            </a:r>
            <a:r>
              <a:rPr lang="en-US" sz="2400" b="1" dirty="0"/>
              <a:t>, .cfm, .</a:t>
            </a:r>
            <a:r>
              <a:rPr lang="en-US" sz="2400" b="1" dirty="0" err="1"/>
              <a:t>xsql</a:t>
            </a:r>
            <a:r>
              <a:rPr lang="en-US" sz="2400" b="1" dirty="0"/>
              <a:t>, .</a:t>
            </a:r>
            <a:r>
              <a:rPr lang="en-US" sz="2400" b="1" dirty="0" err="1"/>
              <a:t>py</a:t>
            </a:r>
            <a:r>
              <a:rPr lang="en-US" sz="2400" b="1" dirty="0"/>
              <a:t>, .pdf, docx, .xlsx, .pptx, .rm, .mp4, .</a:t>
            </a:r>
            <a:r>
              <a:rPr lang="en-US" sz="2400" b="1" dirty="0" err="1"/>
              <a:t>mkv</a:t>
            </a:r>
            <a:r>
              <a:rPr lang="en-US" sz="2400" b="1" dirty="0"/>
              <a:t>, .mp3, .mpg, .mpeg, .au, .wav, .iso, .</a:t>
            </a:r>
            <a:r>
              <a:rPr lang="en-US" sz="2400" b="1" dirty="0" err="1"/>
              <a:t>rar</a:t>
            </a:r>
            <a:r>
              <a:rPr lang="en-US" sz="2400" b="1" dirty="0"/>
              <a:t>, .zip, .exe, ).</a:t>
            </a:r>
            <a:endParaRPr lang="en-IN" sz="2400" dirty="0"/>
          </a:p>
        </p:txBody>
      </p:sp>
      <p:sp>
        <p:nvSpPr>
          <p:cNvPr id="7" name="TextBox 6">
            <a:extLst>
              <a:ext uri="{FF2B5EF4-FFF2-40B4-BE49-F238E27FC236}">
                <a16:creationId xmlns:a16="http://schemas.microsoft.com/office/drawing/2014/main" id="{D8C6E747-5A7F-EF1B-6789-173FB16411E6}"/>
              </a:ext>
            </a:extLst>
          </p:cNvPr>
          <p:cNvSpPr txBox="1"/>
          <p:nvPr/>
        </p:nvSpPr>
        <p:spPr>
          <a:xfrm>
            <a:off x="835088" y="4110838"/>
            <a:ext cx="7972735" cy="830997"/>
          </a:xfrm>
          <a:prstGeom prst="rect">
            <a:avLst/>
          </a:prstGeom>
          <a:noFill/>
        </p:spPr>
        <p:txBody>
          <a:bodyPr wrap="square">
            <a:spAutoFit/>
          </a:bodyPr>
          <a:lstStyle/>
          <a:p>
            <a:pPr algn="just"/>
            <a:r>
              <a:rPr lang="en-IN" sz="2400" dirty="0"/>
              <a:t>URLConnection and HttpURLConnection classes can only perform both read-write operations on server resources.</a:t>
            </a:r>
          </a:p>
        </p:txBody>
      </p:sp>
      <p:sp>
        <p:nvSpPr>
          <p:cNvPr id="8" name="TextBox 7">
            <a:extLst>
              <a:ext uri="{FF2B5EF4-FFF2-40B4-BE49-F238E27FC236}">
                <a16:creationId xmlns:a16="http://schemas.microsoft.com/office/drawing/2014/main" id="{8AE64783-2FF2-44C9-FA80-3A3E1744DF9A}"/>
              </a:ext>
            </a:extLst>
          </p:cNvPr>
          <p:cNvSpPr txBox="1"/>
          <p:nvPr/>
        </p:nvSpPr>
        <p:spPr>
          <a:xfrm>
            <a:off x="933700" y="3254713"/>
            <a:ext cx="7972735" cy="52322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IN" sz="2800" dirty="0"/>
              <a:t>All Download Manager softwares uses URL class.</a:t>
            </a:r>
          </a:p>
        </p:txBody>
      </p:sp>
      <p:sp>
        <p:nvSpPr>
          <p:cNvPr id="10" name="TextBox 9">
            <a:extLst>
              <a:ext uri="{FF2B5EF4-FFF2-40B4-BE49-F238E27FC236}">
                <a16:creationId xmlns:a16="http://schemas.microsoft.com/office/drawing/2014/main" id="{9F2DB35F-5FE7-7189-02C6-A0C645BB7D4A}"/>
              </a:ext>
            </a:extLst>
          </p:cNvPr>
          <p:cNvSpPr txBox="1"/>
          <p:nvPr/>
        </p:nvSpPr>
        <p:spPr>
          <a:xfrm>
            <a:off x="1643903" y="5020814"/>
            <a:ext cx="6138582"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en-IN" sz="1800" dirty="0"/>
              <a:t>All </a:t>
            </a:r>
            <a:r>
              <a:rPr lang="en-IN" sz="1800" dirty="0" err="1"/>
              <a:t>HttpClients</a:t>
            </a:r>
            <a:r>
              <a:rPr lang="en-IN" sz="1800" dirty="0"/>
              <a:t> like </a:t>
            </a:r>
            <a:r>
              <a:rPr lang="en-IN" sz="1800" dirty="0" err="1"/>
              <a:t>cURL</a:t>
            </a:r>
            <a:r>
              <a:rPr lang="en-IN" sz="1800" dirty="0"/>
              <a:t>, POSTMAN, Insomnia REST  Client etc.</a:t>
            </a:r>
          </a:p>
        </p:txBody>
      </p:sp>
      <p:sp>
        <p:nvSpPr>
          <p:cNvPr id="4" name="Footer Placeholder 3">
            <a:extLst>
              <a:ext uri="{FF2B5EF4-FFF2-40B4-BE49-F238E27FC236}">
                <a16:creationId xmlns:a16="http://schemas.microsoft.com/office/drawing/2014/main" id="{BD80A66A-34EC-D7B8-0860-C0F2F886C4C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15402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9" name="TextBox 8">
            <a:extLst>
              <a:ext uri="{FF2B5EF4-FFF2-40B4-BE49-F238E27FC236}">
                <a16:creationId xmlns:a16="http://schemas.microsoft.com/office/drawing/2014/main" id="{9B184351-0EA8-8B3F-6064-4DBAE555F1DA}"/>
              </a:ext>
            </a:extLst>
          </p:cNvPr>
          <p:cNvSpPr txBox="1"/>
          <p:nvPr/>
        </p:nvSpPr>
        <p:spPr>
          <a:xfrm>
            <a:off x="571501" y="1169134"/>
            <a:ext cx="9164170" cy="193899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en-US" sz="2400" b="1" dirty="0"/>
              <a:t>The limitations of URL class is that it can only read WWW resources / local resources into our program/system, but it cannot perform both read and write operations onto server resources (.html, servlets, .</a:t>
            </a:r>
            <a:r>
              <a:rPr lang="en-US" sz="2400" b="1" dirty="0" err="1"/>
              <a:t>jsp</a:t>
            </a:r>
            <a:r>
              <a:rPr lang="en-US" sz="2400" b="1" dirty="0"/>
              <a:t>, .asp, .</a:t>
            </a:r>
            <a:r>
              <a:rPr lang="en-US" sz="2400" b="1" dirty="0" err="1"/>
              <a:t>php</a:t>
            </a:r>
            <a:r>
              <a:rPr lang="en-US" sz="2400" b="1" dirty="0"/>
              <a:t>, .cfm, .</a:t>
            </a:r>
            <a:r>
              <a:rPr lang="en-US" sz="2400" b="1" dirty="0" err="1"/>
              <a:t>xsql</a:t>
            </a:r>
            <a:r>
              <a:rPr lang="en-US" sz="2400" b="1" dirty="0"/>
              <a:t>, .</a:t>
            </a:r>
            <a:r>
              <a:rPr lang="en-US" sz="2400" b="1" dirty="0" err="1"/>
              <a:t>py</a:t>
            </a:r>
            <a:r>
              <a:rPr lang="en-US" sz="2400" b="1" dirty="0"/>
              <a:t>, .pdf, docx, .xlsx, .pptx, .rm, .mp4, .</a:t>
            </a:r>
            <a:r>
              <a:rPr lang="en-US" sz="2400" b="1" dirty="0" err="1"/>
              <a:t>mkv</a:t>
            </a:r>
            <a:r>
              <a:rPr lang="en-US" sz="2400" b="1" dirty="0"/>
              <a:t>, .mp3, .mpg, .mpeg, .au, .wav, .iso, .</a:t>
            </a:r>
            <a:r>
              <a:rPr lang="en-US" sz="2400" b="1" dirty="0" err="1"/>
              <a:t>rar</a:t>
            </a:r>
            <a:r>
              <a:rPr lang="en-US" sz="2400" b="1" dirty="0"/>
              <a:t>, .zip, .exe, ).</a:t>
            </a:r>
            <a:endParaRPr lang="en-IN" sz="2400" dirty="0"/>
          </a:p>
        </p:txBody>
      </p:sp>
      <p:sp>
        <p:nvSpPr>
          <p:cNvPr id="7" name="TextBox 6">
            <a:extLst>
              <a:ext uri="{FF2B5EF4-FFF2-40B4-BE49-F238E27FC236}">
                <a16:creationId xmlns:a16="http://schemas.microsoft.com/office/drawing/2014/main" id="{D8C6E747-5A7F-EF1B-6789-173FB16411E6}"/>
              </a:ext>
            </a:extLst>
          </p:cNvPr>
          <p:cNvSpPr txBox="1"/>
          <p:nvPr/>
        </p:nvSpPr>
        <p:spPr>
          <a:xfrm>
            <a:off x="933699" y="4457283"/>
            <a:ext cx="7972735" cy="156966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IN" sz="2400" dirty="0" err="1"/>
              <a:t>URLConnection</a:t>
            </a:r>
            <a:r>
              <a:rPr lang="en-IN" sz="2400" dirty="0"/>
              <a:t> and </a:t>
            </a:r>
            <a:r>
              <a:rPr lang="en-IN" sz="2400" dirty="0" err="1"/>
              <a:t>HttpURLConnection</a:t>
            </a:r>
            <a:r>
              <a:rPr lang="en-IN" sz="2400" dirty="0"/>
              <a:t> classes can only perform both read-write operations on server resources.</a:t>
            </a:r>
          </a:p>
          <a:p>
            <a:pPr algn="just"/>
            <a:endParaRPr lang="en-IN" sz="2400" dirty="0"/>
          </a:p>
          <a:p>
            <a:pPr algn="just"/>
            <a:r>
              <a:rPr lang="en-IN" sz="2400" dirty="0"/>
              <a:t>All </a:t>
            </a:r>
            <a:r>
              <a:rPr lang="en-IN" sz="2400" dirty="0" err="1"/>
              <a:t>HttpClients</a:t>
            </a:r>
            <a:r>
              <a:rPr lang="en-IN" sz="2400" dirty="0"/>
              <a:t> like </a:t>
            </a:r>
            <a:r>
              <a:rPr lang="en-IN" sz="2400" dirty="0" err="1"/>
              <a:t>cURL</a:t>
            </a:r>
            <a:r>
              <a:rPr lang="en-IN" sz="2400" dirty="0"/>
              <a:t>, POSTMAN, Insomnia REST  Client etc.</a:t>
            </a:r>
          </a:p>
        </p:txBody>
      </p:sp>
      <p:sp>
        <p:nvSpPr>
          <p:cNvPr id="8" name="TextBox 7">
            <a:extLst>
              <a:ext uri="{FF2B5EF4-FFF2-40B4-BE49-F238E27FC236}">
                <a16:creationId xmlns:a16="http://schemas.microsoft.com/office/drawing/2014/main" id="{8AE64783-2FF2-44C9-FA80-3A3E1744DF9A}"/>
              </a:ext>
            </a:extLst>
          </p:cNvPr>
          <p:cNvSpPr txBox="1"/>
          <p:nvPr/>
        </p:nvSpPr>
        <p:spPr>
          <a:xfrm>
            <a:off x="933700" y="3254713"/>
            <a:ext cx="7972735" cy="52322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IN" sz="2800" dirty="0"/>
              <a:t>All Download Manager softwares uses URL class.</a:t>
            </a:r>
          </a:p>
        </p:txBody>
      </p:sp>
      <p:sp>
        <p:nvSpPr>
          <p:cNvPr id="4" name="Footer Placeholder 3">
            <a:extLst>
              <a:ext uri="{FF2B5EF4-FFF2-40B4-BE49-F238E27FC236}">
                <a16:creationId xmlns:a16="http://schemas.microsoft.com/office/drawing/2014/main" id="{120CC0DC-6704-359F-F91A-5D7A4ACA881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24937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9" name="TextBox 8">
            <a:extLst>
              <a:ext uri="{FF2B5EF4-FFF2-40B4-BE49-F238E27FC236}">
                <a16:creationId xmlns:a16="http://schemas.microsoft.com/office/drawing/2014/main" id="{9B184351-0EA8-8B3F-6064-4DBAE555F1DA}"/>
              </a:ext>
            </a:extLst>
          </p:cNvPr>
          <p:cNvSpPr txBox="1"/>
          <p:nvPr/>
        </p:nvSpPr>
        <p:spPr>
          <a:xfrm>
            <a:off x="571501" y="832959"/>
            <a:ext cx="916417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en-US" sz="2400" b="1" dirty="0"/>
              <a:t>About URLConnection</a:t>
            </a:r>
          </a:p>
        </p:txBody>
      </p:sp>
      <p:sp>
        <p:nvSpPr>
          <p:cNvPr id="7" name="TextBox 6">
            <a:extLst>
              <a:ext uri="{FF2B5EF4-FFF2-40B4-BE49-F238E27FC236}">
                <a16:creationId xmlns:a16="http://schemas.microsoft.com/office/drawing/2014/main" id="{D8C6E747-5A7F-EF1B-6789-173FB16411E6}"/>
              </a:ext>
            </a:extLst>
          </p:cNvPr>
          <p:cNvSpPr txBox="1"/>
          <p:nvPr/>
        </p:nvSpPr>
        <p:spPr>
          <a:xfrm>
            <a:off x="571501" y="1327231"/>
            <a:ext cx="8696823" cy="517064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IN" sz="2200" dirty="0" err="1"/>
              <a:t>URLConnection</a:t>
            </a:r>
            <a:r>
              <a:rPr lang="en-IN" sz="2200" dirty="0"/>
              <a:t> class is a abstract class, hence it can’t be instantiated through constructor. </a:t>
            </a:r>
          </a:p>
          <a:p>
            <a:pPr algn="just"/>
            <a:endParaRPr lang="en-IN" sz="2200" dirty="0"/>
          </a:p>
          <a:p>
            <a:pPr algn="just"/>
            <a:r>
              <a:rPr lang="en-IN" sz="2200" dirty="0"/>
              <a:t>Instead URL class is having one method called </a:t>
            </a:r>
            <a:r>
              <a:rPr lang="en-IN" sz="2200" b="1" dirty="0" err="1"/>
              <a:t>openConnection</a:t>
            </a:r>
            <a:r>
              <a:rPr lang="en-IN" sz="2200" b="1" dirty="0"/>
              <a:t>()</a:t>
            </a:r>
            <a:r>
              <a:rPr lang="en-IN" sz="2200" dirty="0"/>
              <a:t> that returns </a:t>
            </a:r>
            <a:r>
              <a:rPr lang="en-IN" sz="2200" b="1" dirty="0" err="1"/>
              <a:t>URLConnection</a:t>
            </a:r>
            <a:r>
              <a:rPr lang="en-IN" sz="2200" dirty="0"/>
              <a:t> object that points to </a:t>
            </a:r>
            <a:r>
              <a:rPr lang="en-IN" sz="2200" dirty="0" err="1"/>
              <a:t>url</a:t>
            </a:r>
            <a:r>
              <a:rPr lang="en-IN" sz="2200" dirty="0"/>
              <a:t> pointing by URL class object.</a:t>
            </a:r>
          </a:p>
          <a:p>
            <a:pPr algn="just"/>
            <a:endParaRPr lang="en-IN" sz="2200" dirty="0"/>
          </a:p>
          <a:p>
            <a:pPr algn="just"/>
            <a:r>
              <a:rPr lang="en-IN" sz="2200" dirty="0"/>
              <a:t>It is mainly having 4 methods which are required to use in the program they are:</a:t>
            </a:r>
          </a:p>
          <a:p>
            <a:pPr marL="800100" lvl="1" indent="-342900" algn="just">
              <a:buFont typeface="Wingdings" panose="05000000000000000000" pitchFamily="2" charset="2"/>
              <a:buChar char="v"/>
            </a:pPr>
            <a:r>
              <a:rPr lang="en-IN" sz="2200" dirty="0" err="1"/>
              <a:t>setDoOutput</a:t>
            </a:r>
            <a:r>
              <a:rPr lang="en-IN" sz="2200" dirty="0"/>
              <a:t>(</a:t>
            </a:r>
            <a:r>
              <a:rPr lang="en-IN" sz="2200" dirty="0" err="1"/>
              <a:t>boolean</a:t>
            </a:r>
            <a:r>
              <a:rPr lang="en-IN" sz="2200" dirty="0"/>
              <a:t> flag)</a:t>
            </a:r>
          </a:p>
          <a:p>
            <a:pPr marL="800100" lvl="1" indent="-342900" algn="just">
              <a:buFont typeface="Wingdings" panose="05000000000000000000" pitchFamily="2" charset="2"/>
              <a:buChar char="v"/>
            </a:pPr>
            <a:r>
              <a:rPr lang="en-IN" sz="2200" dirty="0" err="1"/>
              <a:t>setDoInput</a:t>
            </a:r>
            <a:r>
              <a:rPr lang="en-IN" sz="2200" dirty="0"/>
              <a:t>(</a:t>
            </a:r>
            <a:r>
              <a:rPr lang="en-IN" sz="2200" dirty="0" err="1"/>
              <a:t>boolean</a:t>
            </a:r>
            <a:r>
              <a:rPr lang="en-IN" sz="2200" dirty="0"/>
              <a:t> flag)</a:t>
            </a:r>
          </a:p>
          <a:p>
            <a:pPr marL="800100" lvl="1" indent="-342900" algn="just">
              <a:buFont typeface="Wingdings" panose="05000000000000000000" pitchFamily="2" charset="2"/>
              <a:buChar char="v"/>
            </a:pPr>
            <a:r>
              <a:rPr lang="en-IN" sz="2200" dirty="0" err="1"/>
              <a:t>OutputStream</a:t>
            </a:r>
            <a:r>
              <a:rPr lang="en-IN" sz="2200" dirty="0"/>
              <a:t> </a:t>
            </a:r>
            <a:r>
              <a:rPr lang="en-IN" sz="2200" dirty="0" err="1"/>
              <a:t>getOutputStream</a:t>
            </a:r>
            <a:r>
              <a:rPr lang="en-IN" sz="2200" dirty="0"/>
              <a:t>()</a:t>
            </a:r>
          </a:p>
          <a:p>
            <a:pPr marL="800100" lvl="1" indent="-342900" algn="just">
              <a:buFont typeface="Wingdings" panose="05000000000000000000" pitchFamily="2" charset="2"/>
              <a:buChar char="v"/>
            </a:pPr>
            <a:r>
              <a:rPr lang="en-IN" sz="2200" dirty="0" err="1"/>
              <a:t>InputStream</a:t>
            </a:r>
            <a:r>
              <a:rPr lang="en-IN" sz="2200" dirty="0"/>
              <a:t> </a:t>
            </a:r>
            <a:r>
              <a:rPr lang="en-IN" sz="2200" dirty="0" err="1"/>
              <a:t>getInputStream</a:t>
            </a:r>
            <a:r>
              <a:rPr lang="en-IN" sz="2200" dirty="0"/>
              <a:t>()</a:t>
            </a:r>
          </a:p>
          <a:p>
            <a:pPr marL="800100" lvl="1" indent="-342900" algn="just">
              <a:buFont typeface="Wingdings" panose="05000000000000000000" pitchFamily="2" charset="2"/>
              <a:buChar char="v"/>
            </a:pPr>
            <a:r>
              <a:rPr lang="en-IN" sz="2200" dirty="0"/>
              <a:t>and so many other setter and getter methods to know information about the URL pointing file.</a:t>
            </a:r>
          </a:p>
        </p:txBody>
      </p:sp>
      <p:sp>
        <p:nvSpPr>
          <p:cNvPr id="4" name="Footer Placeholder 3">
            <a:extLst>
              <a:ext uri="{FF2B5EF4-FFF2-40B4-BE49-F238E27FC236}">
                <a16:creationId xmlns:a16="http://schemas.microsoft.com/office/drawing/2014/main" id="{5F5C0C0D-C7D5-7E79-9A06-B4AB6725BB1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86421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9" name="TextBox 8">
            <a:extLst>
              <a:ext uri="{FF2B5EF4-FFF2-40B4-BE49-F238E27FC236}">
                <a16:creationId xmlns:a16="http://schemas.microsoft.com/office/drawing/2014/main" id="{9B184351-0EA8-8B3F-6064-4DBAE555F1DA}"/>
              </a:ext>
            </a:extLst>
          </p:cNvPr>
          <p:cNvSpPr txBox="1"/>
          <p:nvPr/>
        </p:nvSpPr>
        <p:spPr>
          <a:xfrm>
            <a:off x="571501" y="832959"/>
            <a:ext cx="9164170" cy="4616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en-US" sz="2400" b="1" dirty="0"/>
              <a:t>About HttpURLConnection</a:t>
            </a:r>
          </a:p>
        </p:txBody>
      </p:sp>
      <p:sp>
        <p:nvSpPr>
          <p:cNvPr id="7" name="TextBox 6">
            <a:extLst>
              <a:ext uri="{FF2B5EF4-FFF2-40B4-BE49-F238E27FC236}">
                <a16:creationId xmlns:a16="http://schemas.microsoft.com/office/drawing/2014/main" id="{D8C6E747-5A7F-EF1B-6789-173FB16411E6}"/>
              </a:ext>
            </a:extLst>
          </p:cNvPr>
          <p:cNvSpPr txBox="1"/>
          <p:nvPr/>
        </p:nvSpPr>
        <p:spPr>
          <a:xfrm>
            <a:off x="571501" y="1327231"/>
            <a:ext cx="8696823" cy="212365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IN" sz="2200" dirty="0" err="1"/>
              <a:t>HttpURLConnection</a:t>
            </a:r>
            <a:r>
              <a:rPr lang="en-IN" sz="2200" dirty="0"/>
              <a:t> class supports HTTP specific features such as </a:t>
            </a:r>
            <a:r>
              <a:rPr lang="en-IN" sz="2200" dirty="0" err="1"/>
              <a:t>supporing</a:t>
            </a:r>
            <a:r>
              <a:rPr lang="en-IN" sz="2200" dirty="0"/>
              <a:t> GET, POST, PUT, DELETE methods. Sending request data through </a:t>
            </a:r>
            <a:r>
              <a:rPr lang="en-IN" sz="2200" dirty="0" err="1"/>
              <a:t>QueryString</a:t>
            </a:r>
            <a:r>
              <a:rPr lang="en-IN" sz="2200" dirty="0"/>
              <a:t> (in case of GET method) or via Payload (in case of POST).</a:t>
            </a:r>
          </a:p>
          <a:p>
            <a:pPr algn="just"/>
            <a:endParaRPr lang="en-IN" sz="2200" dirty="0"/>
          </a:p>
          <a:p>
            <a:pPr algn="just"/>
            <a:r>
              <a:rPr lang="en-IN" sz="2200" dirty="0" err="1"/>
              <a:t>HttpURLConnection</a:t>
            </a:r>
            <a:r>
              <a:rPr lang="en-IN" sz="2200" dirty="0"/>
              <a:t> class also contains all HTTP status code, status message and their description.</a:t>
            </a:r>
          </a:p>
        </p:txBody>
      </p:sp>
      <p:grpSp>
        <p:nvGrpSpPr>
          <p:cNvPr id="25" name="Group 24">
            <a:extLst>
              <a:ext uri="{FF2B5EF4-FFF2-40B4-BE49-F238E27FC236}">
                <a16:creationId xmlns:a16="http://schemas.microsoft.com/office/drawing/2014/main" id="{8F294E9A-D916-B57F-B29E-0C5058562676}"/>
              </a:ext>
            </a:extLst>
          </p:cNvPr>
          <p:cNvGrpSpPr/>
          <p:nvPr/>
        </p:nvGrpSpPr>
        <p:grpSpPr>
          <a:xfrm>
            <a:off x="3880666" y="4010021"/>
            <a:ext cx="3932368" cy="1552109"/>
            <a:chOff x="3880666" y="4010021"/>
            <a:chExt cx="3932368" cy="1552109"/>
          </a:xfrm>
        </p:grpSpPr>
        <p:pic>
          <p:nvPicPr>
            <p:cNvPr id="4" name="Graphic 3" descr="Server">
              <a:extLst>
                <a:ext uri="{FF2B5EF4-FFF2-40B4-BE49-F238E27FC236}">
                  <a16:creationId xmlns:a16="http://schemas.microsoft.com/office/drawing/2014/main" id="{CBEE451D-5333-E0DE-0BA5-4D0677C0D3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4037349"/>
              <a:ext cx="914400" cy="914400"/>
            </a:xfrm>
            <a:prstGeom prst="rect">
              <a:avLst/>
            </a:prstGeom>
          </p:spPr>
        </p:pic>
        <p:pic>
          <p:nvPicPr>
            <p:cNvPr id="8" name="Graphic 7" descr="Database">
              <a:extLst>
                <a:ext uri="{FF2B5EF4-FFF2-40B4-BE49-F238E27FC236}">
                  <a16:creationId xmlns:a16="http://schemas.microsoft.com/office/drawing/2014/main" id="{CDE8C79D-B04B-1422-E913-CF634A92C2B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6407" y="4010021"/>
              <a:ext cx="914400" cy="914400"/>
            </a:xfrm>
            <a:prstGeom prst="rect">
              <a:avLst/>
            </a:prstGeom>
          </p:spPr>
        </p:pic>
        <p:pic>
          <p:nvPicPr>
            <p:cNvPr id="3074" name="Picture 2" descr="Computer Icon Vector Art, Icons, and Graphics for Free Download">
              <a:extLst>
                <a:ext uri="{FF2B5EF4-FFF2-40B4-BE49-F238E27FC236}">
                  <a16:creationId xmlns:a16="http://schemas.microsoft.com/office/drawing/2014/main" id="{988578B3-8309-D756-C9BA-BA92C16AC2F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585" b="9932"/>
            <a:stretch/>
          </p:blipFill>
          <p:spPr bwMode="auto">
            <a:xfrm>
              <a:off x="3880666" y="4037349"/>
              <a:ext cx="1332000" cy="101874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F4366EA-DF39-E622-46F6-EEE708CBD258}"/>
                </a:ext>
              </a:extLst>
            </p:cNvPr>
            <p:cNvSpPr txBox="1"/>
            <p:nvPr/>
          </p:nvSpPr>
          <p:spPr>
            <a:xfrm>
              <a:off x="4117444" y="4961966"/>
              <a:ext cx="878767" cy="600164"/>
            </a:xfrm>
            <a:prstGeom prst="rect">
              <a:avLst/>
            </a:prstGeom>
            <a:noFill/>
          </p:spPr>
          <p:txBody>
            <a:bodyPr wrap="none" rtlCol="0">
              <a:spAutoFit/>
            </a:bodyPr>
            <a:lstStyle/>
            <a:p>
              <a:pPr algn="ctr"/>
              <a:r>
                <a:rPr lang="en-IN" sz="1100" b="1" dirty="0"/>
                <a:t>Client </a:t>
              </a:r>
            </a:p>
            <a:p>
              <a:pPr algn="ctr"/>
              <a:r>
                <a:rPr lang="en-IN" sz="1100" b="1" dirty="0"/>
                <a:t>Standalone </a:t>
              </a:r>
            </a:p>
            <a:p>
              <a:pPr algn="ctr"/>
              <a:r>
                <a:rPr lang="en-IN" sz="1100" b="1" dirty="0"/>
                <a:t>Program</a:t>
              </a:r>
            </a:p>
          </p:txBody>
        </p:sp>
        <p:sp>
          <p:nvSpPr>
            <p:cNvPr id="11" name="TextBox 10">
              <a:extLst>
                <a:ext uri="{FF2B5EF4-FFF2-40B4-BE49-F238E27FC236}">
                  <a16:creationId xmlns:a16="http://schemas.microsoft.com/office/drawing/2014/main" id="{A7DD461A-279B-D1CD-763C-5115C71D0FCC}"/>
                </a:ext>
              </a:extLst>
            </p:cNvPr>
            <p:cNvSpPr txBox="1"/>
            <p:nvPr/>
          </p:nvSpPr>
          <p:spPr>
            <a:xfrm>
              <a:off x="5669943" y="4858873"/>
              <a:ext cx="875561" cy="600164"/>
            </a:xfrm>
            <a:prstGeom prst="rect">
              <a:avLst/>
            </a:prstGeom>
            <a:noFill/>
          </p:spPr>
          <p:txBody>
            <a:bodyPr wrap="none" rtlCol="0">
              <a:spAutoFit/>
            </a:bodyPr>
            <a:lstStyle/>
            <a:p>
              <a:pPr algn="ctr"/>
              <a:r>
                <a:rPr lang="en-IN" sz="1100" b="1" dirty="0"/>
                <a:t>web Server </a:t>
              </a:r>
            </a:p>
            <a:p>
              <a:pPr algn="ctr"/>
              <a:r>
                <a:rPr lang="en-IN" sz="1100" b="1" dirty="0"/>
                <a:t>running </a:t>
              </a:r>
            </a:p>
            <a:p>
              <a:pPr algn="ctr"/>
              <a:r>
                <a:rPr lang="en-IN" sz="1100" b="1" dirty="0"/>
                <a:t>Servlet/JSP</a:t>
              </a:r>
            </a:p>
          </p:txBody>
        </p:sp>
        <p:sp>
          <p:nvSpPr>
            <p:cNvPr id="12" name="TextBox 11">
              <a:extLst>
                <a:ext uri="{FF2B5EF4-FFF2-40B4-BE49-F238E27FC236}">
                  <a16:creationId xmlns:a16="http://schemas.microsoft.com/office/drawing/2014/main" id="{440209CB-1F35-0DBB-8522-6892CB0EFE99}"/>
                </a:ext>
              </a:extLst>
            </p:cNvPr>
            <p:cNvSpPr txBox="1"/>
            <p:nvPr/>
          </p:nvSpPr>
          <p:spPr>
            <a:xfrm>
              <a:off x="6724274" y="4863356"/>
              <a:ext cx="1088760" cy="600164"/>
            </a:xfrm>
            <a:prstGeom prst="rect">
              <a:avLst/>
            </a:prstGeom>
            <a:noFill/>
          </p:spPr>
          <p:txBody>
            <a:bodyPr wrap="none" rtlCol="0">
              <a:spAutoFit/>
            </a:bodyPr>
            <a:lstStyle/>
            <a:p>
              <a:pPr algn="ctr"/>
              <a:r>
                <a:rPr lang="en-IN" sz="1100" b="1" dirty="0"/>
                <a:t>consists of </a:t>
              </a:r>
            </a:p>
            <a:p>
              <a:pPr algn="ctr"/>
              <a:r>
                <a:rPr lang="en-IN" sz="1100" b="1" dirty="0"/>
                <a:t>emp and depts </a:t>
              </a:r>
            </a:p>
            <a:p>
              <a:pPr algn="ctr"/>
              <a:r>
                <a:rPr lang="en-IN" sz="1100" b="1" dirty="0"/>
                <a:t>data</a:t>
              </a:r>
            </a:p>
          </p:txBody>
        </p:sp>
        <p:sp>
          <p:nvSpPr>
            <p:cNvPr id="19" name="Arrow: Left-Right 18">
              <a:extLst>
                <a:ext uri="{FF2B5EF4-FFF2-40B4-BE49-F238E27FC236}">
                  <a16:creationId xmlns:a16="http://schemas.microsoft.com/office/drawing/2014/main" id="{D223C55E-EE9B-F5B3-66AF-206CD4A695DA}"/>
                </a:ext>
              </a:extLst>
            </p:cNvPr>
            <p:cNvSpPr/>
            <p:nvPr/>
          </p:nvSpPr>
          <p:spPr>
            <a:xfrm>
              <a:off x="5117234" y="4244324"/>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24" name="Arrow: Left-Right 23">
              <a:extLst>
                <a:ext uri="{FF2B5EF4-FFF2-40B4-BE49-F238E27FC236}">
                  <a16:creationId xmlns:a16="http://schemas.microsoft.com/office/drawing/2014/main" id="{322C8A70-C7B3-9107-F4A8-3328405B0235}"/>
                </a:ext>
              </a:extLst>
            </p:cNvPr>
            <p:cNvSpPr/>
            <p:nvPr/>
          </p:nvSpPr>
          <p:spPr>
            <a:xfrm>
              <a:off x="6399182" y="4235360"/>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13" name="Footer Placeholder 12">
            <a:extLst>
              <a:ext uri="{FF2B5EF4-FFF2-40B4-BE49-F238E27FC236}">
                <a16:creationId xmlns:a16="http://schemas.microsoft.com/office/drawing/2014/main" id="{BA88603C-B3C1-7D5E-AA45-D3F9EAA0552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95407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D8C6E747-5A7F-EF1B-6789-173FB16411E6}"/>
              </a:ext>
            </a:extLst>
          </p:cNvPr>
          <p:cNvSpPr txBox="1"/>
          <p:nvPr/>
        </p:nvSpPr>
        <p:spPr>
          <a:xfrm>
            <a:off x="490819" y="856586"/>
            <a:ext cx="8777505" cy="480131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IN" b="1" dirty="0"/>
              <a:t>// URLConnectionDemo.java</a:t>
            </a:r>
          </a:p>
          <a:p>
            <a:r>
              <a:rPr lang="en-IN" dirty="0"/>
              <a:t>import java.net.*;</a:t>
            </a:r>
          </a:p>
          <a:p>
            <a:r>
              <a:rPr lang="en-IN" dirty="0"/>
              <a:t>import java.io.*;</a:t>
            </a:r>
          </a:p>
          <a:p>
            <a:r>
              <a:rPr lang="en-IN" dirty="0"/>
              <a:t>import </a:t>
            </a:r>
            <a:r>
              <a:rPr lang="en-IN" dirty="0" err="1"/>
              <a:t>java.util</a:t>
            </a:r>
            <a:r>
              <a:rPr lang="en-IN" dirty="0"/>
              <a:t>.*;</a:t>
            </a:r>
          </a:p>
          <a:p>
            <a:r>
              <a:rPr lang="en-IN" dirty="0"/>
              <a:t>public class </a:t>
            </a:r>
            <a:r>
              <a:rPr lang="en-IN" dirty="0" err="1"/>
              <a:t>URLConnectionDemo</a:t>
            </a:r>
            <a:r>
              <a:rPr lang="en-IN" dirty="0"/>
              <a:t> {</a:t>
            </a:r>
          </a:p>
          <a:p>
            <a:r>
              <a:rPr lang="en-IN" dirty="0"/>
              <a:t>  public static void main(String rags[]) throws Exception {</a:t>
            </a:r>
          </a:p>
          <a:p>
            <a:r>
              <a:rPr lang="en-IN" dirty="0"/>
              <a:t>    URL u=new URL("http://localhost:8081/am3/</a:t>
            </a:r>
            <a:r>
              <a:rPr lang="en-IN" dirty="0" err="1"/>
              <a:t>FindEmpsByDeptno.jsp?deptno</a:t>
            </a:r>
            <a:r>
              <a:rPr lang="en-IN" dirty="0"/>
              <a:t>="+rags[0]);</a:t>
            </a:r>
          </a:p>
          <a:p>
            <a:r>
              <a:rPr lang="en-IN" dirty="0"/>
              <a:t>    /* Note: In URL class constructor if URL is not properly formed, </a:t>
            </a:r>
            <a:r>
              <a:rPr lang="en-IN" dirty="0" err="1"/>
              <a:t>MalformedURLException</a:t>
            </a:r>
            <a:r>
              <a:rPr lang="en-IN" dirty="0"/>
              <a:t> raises */</a:t>
            </a:r>
          </a:p>
          <a:p>
            <a:endParaRPr lang="en-IN" dirty="0"/>
          </a:p>
          <a:p>
            <a:r>
              <a:rPr lang="en-IN" dirty="0"/>
              <a:t>    // using </a:t>
            </a:r>
            <a:r>
              <a:rPr lang="en-IN" dirty="0" err="1"/>
              <a:t>URLConnection</a:t>
            </a:r>
            <a:r>
              <a:rPr lang="en-IN" dirty="0"/>
              <a:t> we can perform both read and write operations</a:t>
            </a:r>
          </a:p>
          <a:p>
            <a:r>
              <a:rPr lang="en-IN" dirty="0"/>
              <a:t>    </a:t>
            </a:r>
            <a:r>
              <a:rPr lang="en-IN" dirty="0" err="1"/>
              <a:t>URLConnection</a:t>
            </a:r>
            <a:r>
              <a:rPr lang="en-IN" dirty="0"/>
              <a:t> </a:t>
            </a:r>
            <a:r>
              <a:rPr lang="en-IN" dirty="0" err="1"/>
              <a:t>uc</a:t>
            </a:r>
            <a:r>
              <a:rPr lang="en-IN" dirty="0"/>
              <a:t>=</a:t>
            </a:r>
            <a:r>
              <a:rPr lang="en-IN" dirty="0" err="1"/>
              <a:t>u.openConnection</a:t>
            </a:r>
            <a:r>
              <a:rPr lang="en-IN" dirty="0"/>
              <a:t>();</a:t>
            </a:r>
          </a:p>
          <a:p>
            <a:r>
              <a:rPr lang="en-IN" dirty="0"/>
              <a:t>    // </a:t>
            </a:r>
            <a:r>
              <a:rPr lang="en-IN" dirty="0" err="1"/>
              <a:t>HttpURLConnection</a:t>
            </a:r>
            <a:r>
              <a:rPr lang="en-IN" dirty="0"/>
              <a:t> is having additional benefit of Http protocol such as we can change the method from GET to POST</a:t>
            </a:r>
          </a:p>
          <a:p>
            <a:r>
              <a:rPr lang="en-IN" dirty="0"/>
              <a:t>    </a:t>
            </a:r>
            <a:r>
              <a:rPr lang="en-IN" dirty="0" err="1"/>
              <a:t>HttpURLConnection</a:t>
            </a:r>
            <a:r>
              <a:rPr lang="en-IN" dirty="0"/>
              <a:t> </a:t>
            </a:r>
            <a:r>
              <a:rPr lang="en-IN" dirty="0" err="1"/>
              <a:t>huc</a:t>
            </a:r>
            <a:r>
              <a:rPr lang="en-IN" dirty="0"/>
              <a:t>=(</a:t>
            </a:r>
            <a:r>
              <a:rPr lang="en-IN" dirty="0" err="1"/>
              <a:t>HttpURLConnection</a:t>
            </a:r>
            <a:r>
              <a:rPr lang="en-IN" dirty="0"/>
              <a:t>)</a:t>
            </a:r>
            <a:r>
              <a:rPr lang="en-IN" dirty="0" err="1"/>
              <a:t>uc</a:t>
            </a:r>
            <a:r>
              <a:rPr lang="en-IN" dirty="0"/>
              <a:t>;</a:t>
            </a:r>
          </a:p>
          <a:p>
            <a:endParaRPr lang="en-IN" dirty="0"/>
          </a:p>
          <a:p>
            <a:r>
              <a:rPr lang="en-IN" dirty="0"/>
              <a:t>    </a:t>
            </a:r>
            <a:r>
              <a:rPr lang="en-IN" dirty="0" err="1"/>
              <a:t>huc.setRequestMethod</a:t>
            </a:r>
            <a:r>
              <a:rPr lang="en-IN" dirty="0"/>
              <a:t>("GET");</a:t>
            </a:r>
            <a:endParaRPr lang="en-IN" sz="2000" dirty="0"/>
          </a:p>
        </p:txBody>
      </p:sp>
      <p:grpSp>
        <p:nvGrpSpPr>
          <p:cNvPr id="11" name="Group 10">
            <a:extLst>
              <a:ext uri="{FF2B5EF4-FFF2-40B4-BE49-F238E27FC236}">
                <a16:creationId xmlns:a16="http://schemas.microsoft.com/office/drawing/2014/main" id="{0809952F-B8C9-F6AB-3EC2-5DE626AF9758}"/>
              </a:ext>
            </a:extLst>
          </p:cNvPr>
          <p:cNvGrpSpPr/>
          <p:nvPr/>
        </p:nvGrpSpPr>
        <p:grpSpPr>
          <a:xfrm>
            <a:off x="6721594" y="826988"/>
            <a:ext cx="3932368" cy="1552109"/>
            <a:chOff x="3880666" y="4010021"/>
            <a:chExt cx="3932368" cy="1552109"/>
          </a:xfrm>
        </p:grpSpPr>
        <p:pic>
          <p:nvPicPr>
            <p:cNvPr id="12" name="Graphic 11" descr="Server">
              <a:extLst>
                <a:ext uri="{FF2B5EF4-FFF2-40B4-BE49-F238E27FC236}">
                  <a16:creationId xmlns:a16="http://schemas.microsoft.com/office/drawing/2014/main" id="{B98E64A0-E04B-00C0-658D-1FD453CD9C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4037349"/>
              <a:ext cx="914400" cy="914400"/>
            </a:xfrm>
            <a:prstGeom prst="rect">
              <a:avLst/>
            </a:prstGeom>
          </p:spPr>
        </p:pic>
        <p:pic>
          <p:nvPicPr>
            <p:cNvPr id="13" name="Graphic 12" descr="Database">
              <a:extLst>
                <a:ext uri="{FF2B5EF4-FFF2-40B4-BE49-F238E27FC236}">
                  <a16:creationId xmlns:a16="http://schemas.microsoft.com/office/drawing/2014/main" id="{F559B28F-1F3F-0C2B-5D0A-F87CC5790D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6407" y="4010021"/>
              <a:ext cx="914400" cy="914400"/>
            </a:xfrm>
            <a:prstGeom prst="rect">
              <a:avLst/>
            </a:prstGeom>
          </p:spPr>
        </p:pic>
        <p:pic>
          <p:nvPicPr>
            <p:cNvPr id="14" name="Picture 2" descr="Computer Icon Vector Art, Icons, and Graphics for Free Download">
              <a:extLst>
                <a:ext uri="{FF2B5EF4-FFF2-40B4-BE49-F238E27FC236}">
                  <a16:creationId xmlns:a16="http://schemas.microsoft.com/office/drawing/2014/main" id="{AA140D4E-1FD7-EDDA-5E50-D430E55DF39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585" b="9932"/>
            <a:stretch/>
          </p:blipFill>
          <p:spPr bwMode="auto">
            <a:xfrm>
              <a:off x="3880666" y="4037349"/>
              <a:ext cx="1332000" cy="101874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AC3CECC4-7C87-DE96-4883-EF27F36EAB76}"/>
                </a:ext>
              </a:extLst>
            </p:cNvPr>
            <p:cNvSpPr txBox="1"/>
            <p:nvPr/>
          </p:nvSpPr>
          <p:spPr>
            <a:xfrm>
              <a:off x="4117444" y="4961966"/>
              <a:ext cx="878767" cy="600164"/>
            </a:xfrm>
            <a:prstGeom prst="rect">
              <a:avLst/>
            </a:prstGeom>
            <a:noFill/>
          </p:spPr>
          <p:txBody>
            <a:bodyPr wrap="none" rtlCol="0">
              <a:spAutoFit/>
            </a:bodyPr>
            <a:lstStyle/>
            <a:p>
              <a:pPr algn="ctr"/>
              <a:r>
                <a:rPr lang="en-IN" sz="1100" b="1" dirty="0"/>
                <a:t>Client </a:t>
              </a:r>
            </a:p>
            <a:p>
              <a:pPr algn="ctr"/>
              <a:r>
                <a:rPr lang="en-IN" sz="1100" b="1" dirty="0"/>
                <a:t>Standalone </a:t>
              </a:r>
            </a:p>
            <a:p>
              <a:pPr algn="ctr"/>
              <a:r>
                <a:rPr lang="en-IN" sz="1100" b="1" dirty="0"/>
                <a:t>Program</a:t>
              </a:r>
            </a:p>
          </p:txBody>
        </p:sp>
        <p:sp>
          <p:nvSpPr>
            <p:cNvPr id="24" name="TextBox 23">
              <a:extLst>
                <a:ext uri="{FF2B5EF4-FFF2-40B4-BE49-F238E27FC236}">
                  <a16:creationId xmlns:a16="http://schemas.microsoft.com/office/drawing/2014/main" id="{B24AF2E2-95A1-87FF-E2AC-97BA2CFD14AA}"/>
                </a:ext>
              </a:extLst>
            </p:cNvPr>
            <p:cNvSpPr txBox="1"/>
            <p:nvPr/>
          </p:nvSpPr>
          <p:spPr>
            <a:xfrm>
              <a:off x="5669943" y="4858873"/>
              <a:ext cx="875561" cy="600164"/>
            </a:xfrm>
            <a:prstGeom prst="rect">
              <a:avLst/>
            </a:prstGeom>
            <a:noFill/>
          </p:spPr>
          <p:txBody>
            <a:bodyPr wrap="none" rtlCol="0">
              <a:spAutoFit/>
            </a:bodyPr>
            <a:lstStyle/>
            <a:p>
              <a:pPr algn="ctr"/>
              <a:r>
                <a:rPr lang="en-IN" sz="1100" b="1" dirty="0"/>
                <a:t>web Server </a:t>
              </a:r>
            </a:p>
            <a:p>
              <a:pPr algn="ctr"/>
              <a:r>
                <a:rPr lang="en-IN" sz="1100" b="1" dirty="0"/>
                <a:t>running </a:t>
              </a:r>
            </a:p>
            <a:p>
              <a:pPr algn="ctr"/>
              <a:r>
                <a:rPr lang="en-IN" sz="1100" b="1" dirty="0"/>
                <a:t>Servlet/JSP</a:t>
              </a:r>
            </a:p>
          </p:txBody>
        </p:sp>
        <p:sp>
          <p:nvSpPr>
            <p:cNvPr id="25" name="TextBox 24">
              <a:extLst>
                <a:ext uri="{FF2B5EF4-FFF2-40B4-BE49-F238E27FC236}">
                  <a16:creationId xmlns:a16="http://schemas.microsoft.com/office/drawing/2014/main" id="{B562348B-7FF7-8779-4D81-84A9BC65CBC1}"/>
                </a:ext>
              </a:extLst>
            </p:cNvPr>
            <p:cNvSpPr txBox="1"/>
            <p:nvPr/>
          </p:nvSpPr>
          <p:spPr>
            <a:xfrm>
              <a:off x="6724274" y="4863356"/>
              <a:ext cx="1088760" cy="600164"/>
            </a:xfrm>
            <a:prstGeom prst="rect">
              <a:avLst/>
            </a:prstGeom>
            <a:noFill/>
          </p:spPr>
          <p:txBody>
            <a:bodyPr wrap="none" rtlCol="0">
              <a:spAutoFit/>
            </a:bodyPr>
            <a:lstStyle/>
            <a:p>
              <a:pPr algn="ctr"/>
              <a:r>
                <a:rPr lang="en-IN" sz="1100" b="1" dirty="0"/>
                <a:t>consists of </a:t>
              </a:r>
            </a:p>
            <a:p>
              <a:pPr algn="ctr"/>
              <a:r>
                <a:rPr lang="en-IN" sz="1100" b="1" dirty="0"/>
                <a:t>emp and depts </a:t>
              </a:r>
            </a:p>
            <a:p>
              <a:pPr algn="ctr"/>
              <a:r>
                <a:rPr lang="en-IN" sz="1100" b="1" dirty="0"/>
                <a:t>data</a:t>
              </a:r>
            </a:p>
          </p:txBody>
        </p:sp>
        <p:sp>
          <p:nvSpPr>
            <p:cNvPr id="26" name="Arrow: Left-Right 25">
              <a:extLst>
                <a:ext uri="{FF2B5EF4-FFF2-40B4-BE49-F238E27FC236}">
                  <a16:creationId xmlns:a16="http://schemas.microsoft.com/office/drawing/2014/main" id="{927EA675-77B3-481A-09D1-88FFE826587A}"/>
                </a:ext>
              </a:extLst>
            </p:cNvPr>
            <p:cNvSpPr/>
            <p:nvPr/>
          </p:nvSpPr>
          <p:spPr>
            <a:xfrm>
              <a:off x="5117234" y="4244324"/>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27" name="Arrow: Left-Right 26">
              <a:extLst>
                <a:ext uri="{FF2B5EF4-FFF2-40B4-BE49-F238E27FC236}">
                  <a16:creationId xmlns:a16="http://schemas.microsoft.com/office/drawing/2014/main" id="{5EF82F86-2CA2-8A9F-FADF-24A18B4FBDB7}"/>
                </a:ext>
              </a:extLst>
            </p:cNvPr>
            <p:cNvSpPr/>
            <p:nvPr/>
          </p:nvSpPr>
          <p:spPr>
            <a:xfrm>
              <a:off x="6399182" y="4235360"/>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4" name="Footer Placeholder 3">
            <a:extLst>
              <a:ext uri="{FF2B5EF4-FFF2-40B4-BE49-F238E27FC236}">
                <a16:creationId xmlns:a16="http://schemas.microsoft.com/office/drawing/2014/main" id="{AFE72D4B-B03A-3D7C-04A0-9AC6629D3BA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76736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D8C6E747-5A7F-EF1B-6789-173FB16411E6}"/>
              </a:ext>
            </a:extLst>
          </p:cNvPr>
          <p:cNvSpPr txBox="1"/>
          <p:nvPr/>
        </p:nvSpPr>
        <p:spPr>
          <a:xfrm>
            <a:off x="490819" y="1017950"/>
            <a:ext cx="8777505" cy="424731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t>    // the following statement requests URLConnection </a:t>
            </a:r>
            <a:r>
              <a:rPr lang="en-US" dirty="0" err="1"/>
              <a:t>objec</a:t>
            </a:r>
            <a:r>
              <a:rPr lang="en-US" dirty="0"/>
              <a:t> to perform both write and read operations</a:t>
            </a:r>
          </a:p>
          <a:p>
            <a:r>
              <a:rPr lang="en-US" dirty="0"/>
              <a:t>    </a:t>
            </a:r>
            <a:r>
              <a:rPr lang="en-US" dirty="0" err="1"/>
              <a:t>huc.setDoOutput</a:t>
            </a:r>
            <a:r>
              <a:rPr lang="en-US" dirty="0"/>
              <a:t>(true);</a:t>
            </a:r>
          </a:p>
          <a:p>
            <a:r>
              <a:rPr lang="en-US" dirty="0"/>
              <a:t>    </a:t>
            </a:r>
            <a:r>
              <a:rPr lang="en-US" dirty="0" err="1"/>
              <a:t>huc.setDoInput</a:t>
            </a:r>
            <a:r>
              <a:rPr lang="en-US" dirty="0"/>
              <a:t>(true);</a:t>
            </a:r>
          </a:p>
          <a:p>
            <a:r>
              <a:rPr lang="en-US" dirty="0"/>
              <a:t>	</a:t>
            </a:r>
          </a:p>
          <a:p>
            <a:r>
              <a:rPr lang="en-US" dirty="0"/>
              <a:t>    // opens </a:t>
            </a:r>
            <a:r>
              <a:rPr lang="en-US" dirty="0" err="1"/>
              <a:t>OutputStream</a:t>
            </a:r>
            <a:r>
              <a:rPr lang="en-US" dirty="0"/>
              <a:t> to write data onto server resource like servlet/</a:t>
            </a:r>
            <a:r>
              <a:rPr lang="en-US" dirty="0" err="1"/>
              <a:t>jsp</a:t>
            </a:r>
            <a:endParaRPr lang="en-US" dirty="0"/>
          </a:p>
          <a:p>
            <a:r>
              <a:rPr lang="en-US" dirty="0"/>
              <a:t>    </a:t>
            </a:r>
            <a:r>
              <a:rPr lang="en-US" dirty="0" err="1"/>
              <a:t>OutputStream</a:t>
            </a:r>
            <a:r>
              <a:rPr lang="en-US" dirty="0"/>
              <a:t> </a:t>
            </a:r>
            <a:r>
              <a:rPr lang="en-US" dirty="0" err="1"/>
              <a:t>os</a:t>
            </a:r>
            <a:r>
              <a:rPr lang="en-US" dirty="0"/>
              <a:t>=</a:t>
            </a:r>
            <a:r>
              <a:rPr lang="en-US" dirty="0" err="1"/>
              <a:t>huc.getOutputStream</a:t>
            </a:r>
            <a:r>
              <a:rPr lang="en-US" dirty="0"/>
              <a:t>();</a:t>
            </a:r>
          </a:p>
          <a:p>
            <a:r>
              <a:rPr lang="en-US" dirty="0"/>
              <a:t>    </a:t>
            </a:r>
            <a:r>
              <a:rPr lang="en-US" dirty="0" err="1"/>
              <a:t>PrintStream</a:t>
            </a:r>
            <a:r>
              <a:rPr lang="en-US" dirty="0"/>
              <a:t> </a:t>
            </a:r>
            <a:r>
              <a:rPr lang="en-US" dirty="0" err="1"/>
              <a:t>ps</a:t>
            </a:r>
            <a:r>
              <a:rPr lang="en-US" dirty="0"/>
              <a:t>=new </a:t>
            </a:r>
            <a:r>
              <a:rPr lang="en-US" dirty="0" err="1"/>
              <a:t>PrintStream</a:t>
            </a:r>
            <a:r>
              <a:rPr lang="en-US" dirty="0"/>
              <a:t>(</a:t>
            </a:r>
            <a:r>
              <a:rPr lang="en-US" dirty="0" err="1"/>
              <a:t>os</a:t>
            </a:r>
            <a:r>
              <a:rPr lang="en-US" dirty="0"/>
              <a:t>);</a:t>
            </a:r>
          </a:p>
          <a:p>
            <a:endParaRPr lang="en-US" dirty="0"/>
          </a:p>
          <a:p>
            <a:r>
              <a:rPr lang="en-US" dirty="0"/>
              <a:t>    /* </a:t>
            </a:r>
            <a:r>
              <a:rPr lang="en-US" dirty="0" err="1"/>
              <a:t>ps.println</a:t>
            </a:r>
            <a:r>
              <a:rPr lang="en-US" dirty="0"/>
              <a:t>() with no argument we are calling because we are submitting the form data through GET, hence form data sent as </a:t>
            </a:r>
            <a:r>
              <a:rPr lang="en-US" dirty="0" err="1"/>
              <a:t>queryString</a:t>
            </a:r>
            <a:r>
              <a:rPr lang="en-US" dirty="0"/>
              <a:t>. If the method is POST the form data goes through HTTP request body that we have to pass through </a:t>
            </a:r>
            <a:r>
              <a:rPr lang="en-US" dirty="0" err="1"/>
              <a:t>ps.println</a:t>
            </a:r>
            <a:r>
              <a:rPr lang="en-US" dirty="0"/>
              <a:t>() */</a:t>
            </a:r>
          </a:p>
          <a:p>
            <a:r>
              <a:rPr lang="en-US" dirty="0"/>
              <a:t>	</a:t>
            </a:r>
          </a:p>
          <a:p>
            <a:r>
              <a:rPr lang="en-US" dirty="0"/>
              <a:t>    </a:t>
            </a:r>
            <a:r>
              <a:rPr lang="en-US" dirty="0" err="1"/>
              <a:t>ps.println</a:t>
            </a:r>
            <a:r>
              <a:rPr lang="en-US" dirty="0"/>
              <a:t>();</a:t>
            </a:r>
          </a:p>
          <a:p>
            <a:r>
              <a:rPr lang="en-US" dirty="0"/>
              <a:t>    </a:t>
            </a:r>
            <a:r>
              <a:rPr lang="en-US" dirty="0" err="1"/>
              <a:t>System.out.println</a:t>
            </a:r>
            <a:r>
              <a:rPr lang="en-US" dirty="0"/>
              <a:t>("after request");</a:t>
            </a:r>
          </a:p>
        </p:txBody>
      </p:sp>
      <p:grpSp>
        <p:nvGrpSpPr>
          <p:cNvPr id="4" name="Group 3">
            <a:extLst>
              <a:ext uri="{FF2B5EF4-FFF2-40B4-BE49-F238E27FC236}">
                <a16:creationId xmlns:a16="http://schemas.microsoft.com/office/drawing/2014/main" id="{D5CE1495-489E-6F29-C58D-2DD8022550BF}"/>
              </a:ext>
            </a:extLst>
          </p:cNvPr>
          <p:cNvGrpSpPr/>
          <p:nvPr/>
        </p:nvGrpSpPr>
        <p:grpSpPr>
          <a:xfrm>
            <a:off x="7688129" y="1443933"/>
            <a:ext cx="3932368" cy="1552109"/>
            <a:chOff x="3880666" y="4010021"/>
            <a:chExt cx="3932368" cy="1552109"/>
          </a:xfrm>
        </p:grpSpPr>
        <p:pic>
          <p:nvPicPr>
            <p:cNvPr id="8" name="Graphic 7" descr="Server">
              <a:extLst>
                <a:ext uri="{FF2B5EF4-FFF2-40B4-BE49-F238E27FC236}">
                  <a16:creationId xmlns:a16="http://schemas.microsoft.com/office/drawing/2014/main" id="{F63587EC-4B5D-3105-F8E4-067B800DE7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4037349"/>
              <a:ext cx="914400" cy="914400"/>
            </a:xfrm>
            <a:prstGeom prst="rect">
              <a:avLst/>
            </a:prstGeom>
          </p:spPr>
        </p:pic>
        <p:pic>
          <p:nvPicPr>
            <p:cNvPr id="9" name="Graphic 8" descr="Database">
              <a:extLst>
                <a:ext uri="{FF2B5EF4-FFF2-40B4-BE49-F238E27FC236}">
                  <a16:creationId xmlns:a16="http://schemas.microsoft.com/office/drawing/2014/main" id="{D4D7A9D1-2852-08F3-0FE7-7883A943BC6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6407" y="4010021"/>
              <a:ext cx="914400" cy="914400"/>
            </a:xfrm>
            <a:prstGeom prst="rect">
              <a:avLst/>
            </a:prstGeom>
          </p:spPr>
        </p:pic>
        <p:pic>
          <p:nvPicPr>
            <p:cNvPr id="10" name="Picture 2" descr="Computer Icon Vector Art, Icons, and Graphics for Free Download">
              <a:extLst>
                <a:ext uri="{FF2B5EF4-FFF2-40B4-BE49-F238E27FC236}">
                  <a16:creationId xmlns:a16="http://schemas.microsoft.com/office/drawing/2014/main" id="{60D582BD-DC32-C48B-2B90-5429AC36B01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585" b="9932"/>
            <a:stretch/>
          </p:blipFill>
          <p:spPr bwMode="auto">
            <a:xfrm>
              <a:off x="3880666" y="4037349"/>
              <a:ext cx="1332000" cy="101874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477A35A-BFD5-674B-C86B-24CF78CA8738}"/>
                </a:ext>
              </a:extLst>
            </p:cNvPr>
            <p:cNvSpPr txBox="1"/>
            <p:nvPr/>
          </p:nvSpPr>
          <p:spPr>
            <a:xfrm>
              <a:off x="4117444" y="4961966"/>
              <a:ext cx="878767" cy="600164"/>
            </a:xfrm>
            <a:prstGeom prst="rect">
              <a:avLst/>
            </a:prstGeom>
            <a:noFill/>
          </p:spPr>
          <p:txBody>
            <a:bodyPr wrap="none" rtlCol="0">
              <a:spAutoFit/>
            </a:bodyPr>
            <a:lstStyle/>
            <a:p>
              <a:pPr algn="ctr"/>
              <a:r>
                <a:rPr lang="en-IN" sz="1100" b="1" dirty="0"/>
                <a:t>Client </a:t>
              </a:r>
            </a:p>
            <a:p>
              <a:pPr algn="ctr"/>
              <a:r>
                <a:rPr lang="en-IN" sz="1100" b="1" dirty="0"/>
                <a:t>Standalone </a:t>
              </a:r>
            </a:p>
            <a:p>
              <a:pPr algn="ctr"/>
              <a:r>
                <a:rPr lang="en-IN" sz="1100" b="1" dirty="0"/>
                <a:t>Program</a:t>
              </a:r>
            </a:p>
          </p:txBody>
        </p:sp>
        <p:sp>
          <p:nvSpPr>
            <p:cNvPr id="12" name="TextBox 11">
              <a:extLst>
                <a:ext uri="{FF2B5EF4-FFF2-40B4-BE49-F238E27FC236}">
                  <a16:creationId xmlns:a16="http://schemas.microsoft.com/office/drawing/2014/main" id="{760F062B-592B-F8D6-3C96-68A6F79D3605}"/>
                </a:ext>
              </a:extLst>
            </p:cNvPr>
            <p:cNvSpPr txBox="1"/>
            <p:nvPr/>
          </p:nvSpPr>
          <p:spPr>
            <a:xfrm>
              <a:off x="5669943" y="4858873"/>
              <a:ext cx="875561" cy="600164"/>
            </a:xfrm>
            <a:prstGeom prst="rect">
              <a:avLst/>
            </a:prstGeom>
            <a:noFill/>
          </p:spPr>
          <p:txBody>
            <a:bodyPr wrap="none" rtlCol="0">
              <a:spAutoFit/>
            </a:bodyPr>
            <a:lstStyle/>
            <a:p>
              <a:pPr algn="ctr"/>
              <a:r>
                <a:rPr lang="en-IN" sz="1100" b="1" dirty="0"/>
                <a:t>web Server </a:t>
              </a:r>
            </a:p>
            <a:p>
              <a:pPr algn="ctr"/>
              <a:r>
                <a:rPr lang="en-IN" sz="1100" b="1" dirty="0"/>
                <a:t>running </a:t>
              </a:r>
            </a:p>
            <a:p>
              <a:pPr algn="ctr"/>
              <a:r>
                <a:rPr lang="en-IN" sz="1100" b="1" dirty="0"/>
                <a:t>Servlet/JSP</a:t>
              </a:r>
            </a:p>
          </p:txBody>
        </p:sp>
        <p:sp>
          <p:nvSpPr>
            <p:cNvPr id="13" name="TextBox 12">
              <a:extLst>
                <a:ext uri="{FF2B5EF4-FFF2-40B4-BE49-F238E27FC236}">
                  <a16:creationId xmlns:a16="http://schemas.microsoft.com/office/drawing/2014/main" id="{5F968393-AF9F-9766-049C-5A6649C1A3A1}"/>
                </a:ext>
              </a:extLst>
            </p:cNvPr>
            <p:cNvSpPr txBox="1"/>
            <p:nvPr/>
          </p:nvSpPr>
          <p:spPr>
            <a:xfrm>
              <a:off x="6724274" y="4863356"/>
              <a:ext cx="1088760" cy="600164"/>
            </a:xfrm>
            <a:prstGeom prst="rect">
              <a:avLst/>
            </a:prstGeom>
            <a:noFill/>
          </p:spPr>
          <p:txBody>
            <a:bodyPr wrap="none" rtlCol="0">
              <a:spAutoFit/>
            </a:bodyPr>
            <a:lstStyle/>
            <a:p>
              <a:pPr algn="ctr"/>
              <a:r>
                <a:rPr lang="en-IN" sz="1100" b="1" dirty="0"/>
                <a:t>consists of </a:t>
              </a:r>
            </a:p>
            <a:p>
              <a:pPr algn="ctr"/>
              <a:r>
                <a:rPr lang="en-IN" sz="1100" b="1" dirty="0"/>
                <a:t>emp and depts </a:t>
              </a:r>
            </a:p>
            <a:p>
              <a:pPr algn="ctr"/>
              <a:r>
                <a:rPr lang="en-IN" sz="1100" b="1" dirty="0"/>
                <a:t>data</a:t>
              </a:r>
            </a:p>
          </p:txBody>
        </p:sp>
        <p:sp>
          <p:nvSpPr>
            <p:cNvPr id="14" name="Arrow: Left-Right 13">
              <a:extLst>
                <a:ext uri="{FF2B5EF4-FFF2-40B4-BE49-F238E27FC236}">
                  <a16:creationId xmlns:a16="http://schemas.microsoft.com/office/drawing/2014/main" id="{07B594AF-3915-C170-8719-62951D739E2B}"/>
                </a:ext>
              </a:extLst>
            </p:cNvPr>
            <p:cNvSpPr/>
            <p:nvPr/>
          </p:nvSpPr>
          <p:spPr>
            <a:xfrm>
              <a:off x="5117234" y="4244324"/>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9" name="Arrow: Left-Right 18">
              <a:extLst>
                <a:ext uri="{FF2B5EF4-FFF2-40B4-BE49-F238E27FC236}">
                  <a16:creationId xmlns:a16="http://schemas.microsoft.com/office/drawing/2014/main" id="{49ED08D3-8521-0CFC-4A4A-13B6565632FB}"/>
                </a:ext>
              </a:extLst>
            </p:cNvPr>
            <p:cNvSpPr/>
            <p:nvPr/>
          </p:nvSpPr>
          <p:spPr>
            <a:xfrm>
              <a:off x="6399182" y="4235360"/>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24" name="Footer Placeholder 23">
            <a:extLst>
              <a:ext uri="{FF2B5EF4-FFF2-40B4-BE49-F238E27FC236}">
                <a16:creationId xmlns:a16="http://schemas.microsoft.com/office/drawing/2014/main" id="{9A546CFB-ADF2-689F-142A-0F32A1D82FD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75748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D8C6E747-5A7F-EF1B-6789-173FB16411E6}"/>
              </a:ext>
            </a:extLst>
          </p:cNvPr>
          <p:cNvSpPr txBox="1"/>
          <p:nvPr/>
        </p:nvSpPr>
        <p:spPr>
          <a:xfrm>
            <a:off x="490819" y="749010"/>
            <a:ext cx="8777505" cy="572400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1600" dirty="0"/>
              <a:t>    /* whatever output the JSP writes back to client usually comes to browser if the request is made from browser. In this program we should read through </a:t>
            </a:r>
            <a:r>
              <a:rPr lang="en-US" sz="1600" dirty="0" err="1"/>
              <a:t>InputStream</a:t>
            </a:r>
            <a:r>
              <a:rPr lang="en-US" sz="1600" dirty="0"/>
              <a:t>. */</a:t>
            </a:r>
          </a:p>
          <a:p>
            <a:r>
              <a:rPr lang="en-US" sz="1600" dirty="0"/>
              <a:t>    </a:t>
            </a:r>
            <a:r>
              <a:rPr lang="en-US" sz="1600" dirty="0" err="1"/>
              <a:t>InputStream</a:t>
            </a:r>
            <a:r>
              <a:rPr lang="en-US" sz="1600" dirty="0"/>
              <a:t> is=</a:t>
            </a:r>
            <a:r>
              <a:rPr lang="en-US" sz="1600" dirty="0" err="1"/>
              <a:t>huc.getInputStream</a:t>
            </a:r>
            <a:r>
              <a:rPr lang="en-US" sz="1600" dirty="0"/>
              <a:t>();</a:t>
            </a:r>
          </a:p>
          <a:p>
            <a:r>
              <a:rPr lang="en-US" sz="1600" dirty="0"/>
              <a:t>    </a:t>
            </a:r>
            <a:r>
              <a:rPr lang="en-US" sz="1600" dirty="0" err="1"/>
              <a:t>DataInputStream</a:t>
            </a:r>
            <a:r>
              <a:rPr lang="en-US" sz="1600" dirty="0"/>
              <a:t> dis=new </a:t>
            </a:r>
            <a:r>
              <a:rPr lang="en-US" sz="1600" dirty="0" err="1"/>
              <a:t>DataInputStream</a:t>
            </a:r>
            <a:r>
              <a:rPr lang="en-US" sz="1600" dirty="0"/>
              <a:t>(is);</a:t>
            </a:r>
          </a:p>
          <a:p>
            <a:endParaRPr lang="en-US" sz="1600" dirty="0"/>
          </a:p>
          <a:p>
            <a:r>
              <a:rPr lang="en-US" sz="1600" dirty="0"/>
              <a:t>    String line=</a:t>
            </a:r>
            <a:r>
              <a:rPr lang="en-US" sz="1600" dirty="0" err="1"/>
              <a:t>dis.readLine</a:t>
            </a:r>
            <a:r>
              <a:rPr lang="en-US" sz="1600" dirty="0"/>
              <a:t>();</a:t>
            </a:r>
          </a:p>
          <a:p>
            <a:r>
              <a:rPr lang="en-US" sz="1600" dirty="0"/>
              <a:t>    </a:t>
            </a:r>
            <a:r>
              <a:rPr lang="en-US" sz="1600" dirty="0" err="1"/>
              <a:t>System.out.println</a:t>
            </a:r>
            <a:r>
              <a:rPr lang="en-US" sz="1600" dirty="0"/>
              <a:t>("after getting response "+line);</a:t>
            </a:r>
          </a:p>
          <a:p>
            <a:endParaRPr lang="en-US" sz="1600" dirty="0"/>
          </a:p>
          <a:p>
            <a:r>
              <a:rPr lang="en-US" sz="1600" dirty="0"/>
              <a:t>    while(line!=null) {</a:t>
            </a:r>
          </a:p>
          <a:p>
            <a:r>
              <a:rPr lang="en-US" sz="1600" dirty="0"/>
              <a:t>      </a:t>
            </a:r>
            <a:r>
              <a:rPr lang="en-US" sz="1600" dirty="0" err="1"/>
              <a:t>StringTokenizer</a:t>
            </a:r>
            <a:r>
              <a:rPr lang="en-US" sz="1600" dirty="0"/>
              <a:t> </a:t>
            </a:r>
            <a:r>
              <a:rPr lang="en-US" sz="1600" dirty="0" err="1"/>
              <a:t>st</a:t>
            </a:r>
            <a:r>
              <a:rPr lang="en-US" sz="1600" dirty="0"/>
              <a:t>=new </a:t>
            </a:r>
            <a:r>
              <a:rPr lang="en-US" sz="1600" dirty="0" err="1"/>
              <a:t>StringTokenizer</a:t>
            </a:r>
            <a:r>
              <a:rPr lang="en-US" sz="1600" dirty="0"/>
              <a:t>(line,"\n");</a:t>
            </a:r>
          </a:p>
          <a:p>
            <a:r>
              <a:rPr lang="en-US" sz="1600" dirty="0"/>
              <a:t>      while(</a:t>
            </a:r>
            <a:r>
              <a:rPr lang="en-US" sz="1600" dirty="0" err="1"/>
              <a:t>st.hasMoreTokens</a:t>
            </a:r>
            <a:r>
              <a:rPr lang="en-US" sz="1600" dirty="0"/>
              <a:t>()) {</a:t>
            </a:r>
          </a:p>
          <a:p>
            <a:r>
              <a:rPr lang="en-US" sz="1600" dirty="0"/>
              <a:t>        String emp=</a:t>
            </a:r>
            <a:r>
              <a:rPr lang="en-US" sz="1600" dirty="0" err="1"/>
              <a:t>st.nextToken</a:t>
            </a:r>
            <a:r>
              <a:rPr lang="en-US" sz="1600" dirty="0"/>
              <a:t>();// one-one line</a:t>
            </a:r>
          </a:p>
          <a:p>
            <a:r>
              <a:rPr lang="en-US" sz="1600" dirty="0"/>
              <a:t>        </a:t>
            </a:r>
            <a:r>
              <a:rPr lang="en-US" sz="1600" dirty="0" err="1"/>
              <a:t>StringTokenizer</a:t>
            </a:r>
            <a:r>
              <a:rPr lang="en-US" sz="1600" dirty="0"/>
              <a:t> st1=new </a:t>
            </a:r>
            <a:r>
              <a:rPr lang="en-US" sz="1600" dirty="0" err="1"/>
              <a:t>StringTokenizer</a:t>
            </a:r>
            <a:r>
              <a:rPr lang="en-US" sz="1600" dirty="0"/>
              <a:t>(emp,"&amp;");</a:t>
            </a:r>
          </a:p>
          <a:p>
            <a:r>
              <a:rPr lang="en-US" sz="1600" dirty="0"/>
              <a:t>        while(st1.hasMoreTokens()) {</a:t>
            </a:r>
          </a:p>
          <a:p>
            <a:r>
              <a:rPr lang="en-US" sz="1600" dirty="0"/>
              <a:t>           </a:t>
            </a:r>
            <a:r>
              <a:rPr lang="en-US" sz="1600" dirty="0" err="1"/>
              <a:t>System.out.print</a:t>
            </a:r>
            <a:r>
              <a:rPr lang="en-US" sz="1600" dirty="0"/>
              <a:t>(st1.nextToken()+"\t");</a:t>
            </a:r>
          </a:p>
          <a:p>
            <a:r>
              <a:rPr lang="en-US" sz="1600" dirty="0"/>
              <a:t>        }</a:t>
            </a:r>
          </a:p>
          <a:p>
            <a:r>
              <a:rPr lang="en-US" sz="1600" dirty="0"/>
              <a:t>        </a:t>
            </a:r>
            <a:r>
              <a:rPr lang="en-US" sz="1600" dirty="0" err="1"/>
              <a:t>System.out.println</a:t>
            </a:r>
            <a:r>
              <a:rPr lang="en-US" sz="1600" dirty="0"/>
              <a:t>();</a:t>
            </a:r>
          </a:p>
          <a:p>
            <a:r>
              <a:rPr lang="en-US" sz="1600" dirty="0"/>
              <a:t>      }</a:t>
            </a:r>
          </a:p>
          <a:p>
            <a:r>
              <a:rPr lang="en-US" sz="1600" dirty="0"/>
              <a:t>      line=</a:t>
            </a:r>
            <a:r>
              <a:rPr lang="en-US" sz="1600" dirty="0" err="1"/>
              <a:t>dis.readLine</a:t>
            </a:r>
            <a:r>
              <a:rPr lang="en-US" sz="1600" dirty="0"/>
              <a:t>();</a:t>
            </a:r>
          </a:p>
          <a:p>
            <a:r>
              <a:rPr lang="en-US" sz="1600" dirty="0"/>
              <a:t>    }</a:t>
            </a:r>
          </a:p>
          <a:p>
            <a:r>
              <a:rPr lang="en-US" sz="1600" dirty="0"/>
              <a:t>    </a:t>
            </a:r>
            <a:r>
              <a:rPr lang="en-US" sz="1600" dirty="0" err="1"/>
              <a:t>dis.close</a:t>
            </a:r>
            <a:r>
              <a:rPr lang="en-US" sz="1600" dirty="0"/>
              <a:t>(); </a:t>
            </a:r>
            <a:r>
              <a:rPr lang="en-US" sz="1600" dirty="0" err="1"/>
              <a:t>is.close</a:t>
            </a:r>
            <a:r>
              <a:rPr lang="en-US" sz="1600" dirty="0"/>
              <a:t>(); </a:t>
            </a:r>
            <a:r>
              <a:rPr lang="en-US" sz="1600" dirty="0" err="1"/>
              <a:t>ps.close</a:t>
            </a:r>
            <a:r>
              <a:rPr lang="en-US" sz="1600" dirty="0"/>
              <a:t>(); </a:t>
            </a:r>
            <a:r>
              <a:rPr lang="en-US" sz="1600" dirty="0" err="1"/>
              <a:t>os.close</a:t>
            </a:r>
            <a:r>
              <a:rPr lang="en-US" sz="1600" dirty="0"/>
              <a:t>(); </a:t>
            </a:r>
          </a:p>
          <a:p>
            <a:r>
              <a:rPr lang="en-US" sz="1600" dirty="0"/>
              <a:t>  }</a:t>
            </a:r>
          </a:p>
          <a:p>
            <a:r>
              <a:rPr lang="en-US" sz="1600" dirty="0"/>
              <a:t>}</a:t>
            </a:r>
          </a:p>
        </p:txBody>
      </p:sp>
      <p:grpSp>
        <p:nvGrpSpPr>
          <p:cNvPr id="4" name="Group 3">
            <a:extLst>
              <a:ext uri="{FF2B5EF4-FFF2-40B4-BE49-F238E27FC236}">
                <a16:creationId xmlns:a16="http://schemas.microsoft.com/office/drawing/2014/main" id="{71E98617-8E46-99AC-4F33-D7A62AF3B6F8}"/>
              </a:ext>
            </a:extLst>
          </p:cNvPr>
          <p:cNvGrpSpPr/>
          <p:nvPr/>
        </p:nvGrpSpPr>
        <p:grpSpPr>
          <a:xfrm>
            <a:off x="5482343" y="1873882"/>
            <a:ext cx="3932368" cy="1552109"/>
            <a:chOff x="3880666" y="4010021"/>
            <a:chExt cx="3932368" cy="1552109"/>
          </a:xfrm>
        </p:grpSpPr>
        <p:pic>
          <p:nvPicPr>
            <p:cNvPr id="8" name="Graphic 7" descr="Server">
              <a:extLst>
                <a:ext uri="{FF2B5EF4-FFF2-40B4-BE49-F238E27FC236}">
                  <a16:creationId xmlns:a16="http://schemas.microsoft.com/office/drawing/2014/main" id="{8ACD5DBF-8046-8AE8-EA68-1E33C84BCD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4037349"/>
              <a:ext cx="914400" cy="914400"/>
            </a:xfrm>
            <a:prstGeom prst="rect">
              <a:avLst/>
            </a:prstGeom>
          </p:spPr>
        </p:pic>
        <p:pic>
          <p:nvPicPr>
            <p:cNvPr id="9" name="Graphic 8" descr="Database">
              <a:extLst>
                <a:ext uri="{FF2B5EF4-FFF2-40B4-BE49-F238E27FC236}">
                  <a16:creationId xmlns:a16="http://schemas.microsoft.com/office/drawing/2014/main" id="{CA913B13-8C1D-4283-296D-0190E76616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6407" y="4010021"/>
              <a:ext cx="914400" cy="914400"/>
            </a:xfrm>
            <a:prstGeom prst="rect">
              <a:avLst/>
            </a:prstGeom>
          </p:spPr>
        </p:pic>
        <p:pic>
          <p:nvPicPr>
            <p:cNvPr id="10" name="Picture 2" descr="Computer Icon Vector Art, Icons, and Graphics for Free Download">
              <a:extLst>
                <a:ext uri="{FF2B5EF4-FFF2-40B4-BE49-F238E27FC236}">
                  <a16:creationId xmlns:a16="http://schemas.microsoft.com/office/drawing/2014/main" id="{1B57AC4A-13A6-BFE9-4BAA-F3A75378341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585" b="9932"/>
            <a:stretch/>
          </p:blipFill>
          <p:spPr bwMode="auto">
            <a:xfrm>
              <a:off x="3880666" y="4037349"/>
              <a:ext cx="1332000" cy="101874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3452BFD-E6E3-D8A6-FF51-4E9B6214E78C}"/>
                </a:ext>
              </a:extLst>
            </p:cNvPr>
            <p:cNvSpPr txBox="1"/>
            <p:nvPr/>
          </p:nvSpPr>
          <p:spPr>
            <a:xfrm>
              <a:off x="4117444" y="4961966"/>
              <a:ext cx="878767" cy="600164"/>
            </a:xfrm>
            <a:prstGeom prst="rect">
              <a:avLst/>
            </a:prstGeom>
            <a:noFill/>
          </p:spPr>
          <p:txBody>
            <a:bodyPr wrap="none" rtlCol="0">
              <a:spAutoFit/>
            </a:bodyPr>
            <a:lstStyle/>
            <a:p>
              <a:pPr algn="ctr"/>
              <a:r>
                <a:rPr lang="en-IN" sz="1100" b="1" dirty="0"/>
                <a:t>Client </a:t>
              </a:r>
            </a:p>
            <a:p>
              <a:pPr algn="ctr"/>
              <a:r>
                <a:rPr lang="en-IN" sz="1100" b="1" dirty="0"/>
                <a:t>Standalone </a:t>
              </a:r>
            </a:p>
            <a:p>
              <a:pPr algn="ctr"/>
              <a:r>
                <a:rPr lang="en-IN" sz="1100" b="1" dirty="0"/>
                <a:t>Program</a:t>
              </a:r>
            </a:p>
          </p:txBody>
        </p:sp>
        <p:sp>
          <p:nvSpPr>
            <p:cNvPr id="12" name="TextBox 11">
              <a:extLst>
                <a:ext uri="{FF2B5EF4-FFF2-40B4-BE49-F238E27FC236}">
                  <a16:creationId xmlns:a16="http://schemas.microsoft.com/office/drawing/2014/main" id="{9A54CFC1-19A8-E26D-D905-DEFFBF55C86B}"/>
                </a:ext>
              </a:extLst>
            </p:cNvPr>
            <p:cNvSpPr txBox="1"/>
            <p:nvPr/>
          </p:nvSpPr>
          <p:spPr>
            <a:xfrm>
              <a:off x="5669943" y="4858873"/>
              <a:ext cx="875561" cy="600164"/>
            </a:xfrm>
            <a:prstGeom prst="rect">
              <a:avLst/>
            </a:prstGeom>
            <a:noFill/>
          </p:spPr>
          <p:txBody>
            <a:bodyPr wrap="none" rtlCol="0">
              <a:spAutoFit/>
            </a:bodyPr>
            <a:lstStyle/>
            <a:p>
              <a:pPr algn="ctr"/>
              <a:r>
                <a:rPr lang="en-IN" sz="1100" b="1" dirty="0"/>
                <a:t>web Server </a:t>
              </a:r>
            </a:p>
            <a:p>
              <a:pPr algn="ctr"/>
              <a:r>
                <a:rPr lang="en-IN" sz="1100" b="1" dirty="0"/>
                <a:t>running </a:t>
              </a:r>
            </a:p>
            <a:p>
              <a:pPr algn="ctr"/>
              <a:r>
                <a:rPr lang="en-IN" sz="1100" b="1" dirty="0"/>
                <a:t>Servlet/JSP</a:t>
              </a:r>
            </a:p>
          </p:txBody>
        </p:sp>
        <p:sp>
          <p:nvSpPr>
            <p:cNvPr id="13" name="TextBox 12">
              <a:extLst>
                <a:ext uri="{FF2B5EF4-FFF2-40B4-BE49-F238E27FC236}">
                  <a16:creationId xmlns:a16="http://schemas.microsoft.com/office/drawing/2014/main" id="{8C72B0C6-7C4D-C7AD-8467-8E5B9279B191}"/>
                </a:ext>
              </a:extLst>
            </p:cNvPr>
            <p:cNvSpPr txBox="1"/>
            <p:nvPr/>
          </p:nvSpPr>
          <p:spPr>
            <a:xfrm>
              <a:off x="6724274" y="4863356"/>
              <a:ext cx="1088760" cy="600164"/>
            </a:xfrm>
            <a:prstGeom prst="rect">
              <a:avLst/>
            </a:prstGeom>
            <a:noFill/>
          </p:spPr>
          <p:txBody>
            <a:bodyPr wrap="none" rtlCol="0">
              <a:spAutoFit/>
            </a:bodyPr>
            <a:lstStyle/>
            <a:p>
              <a:pPr algn="ctr"/>
              <a:r>
                <a:rPr lang="en-IN" sz="1100" b="1" dirty="0"/>
                <a:t>consists of </a:t>
              </a:r>
            </a:p>
            <a:p>
              <a:pPr algn="ctr"/>
              <a:r>
                <a:rPr lang="en-IN" sz="1100" b="1" dirty="0"/>
                <a:t>emp and depts </a:t>
              </a:r>
            </a:p>
            <a:p>
              <a:pPr algn="ctr"/>
              <a:r>
                <a:rPr lang="en-IN" sz="1100" b="1" dirty="0"/>
                <a:t>data</a:t>
              </a:r>
            </a:p>
          </p:txBody>
        </p:sp>
        <p:sp>
          <p:nvSpPr>
            <p:cNvPr id="14" name="Arrow: Left-Right 13">
              <a:extLst>
                <a:ext uri="{FF2B5EF4-FFF2-40B4-BE49-F238E27FC236}">
                  <a16:creationId xmlns:a16="http://schemas.microsoft.com/office/drawing/2014/main" id="{98249BB1-82BF-8D1C-F5B7-9835BE842913}"/>
                </a:ext>
              </a:extLst>
            </p:cNvPr>
            <p:cNvSpPr/>
            <p:nvPr/>
          </p:nvSpPr>
          <p:spPr>
            <a:xfrm>
              <a:off x="5117234" y="4244324"/>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9" name="Arrow: Left-Right 18">
              <a:extLst>
                <a:ext uri="{FF2B5EF4-FFF2-40B4-BE49-F238E27FC236}">
                  <a16:creationId xmlns:a16="http://schemas.microsoft.com/office/drawing/2014/main" id="{0AEEBFF7-AF9E-F8EF-E9D0-6550DE8E7AFE}"/>
                </a:ext>
              </a:extLst>
            </p:cNvPr>
            <p:cNvSpPr/>
            <p:nvPr/>
          </p:nvSpPr>
          <p:spPr>
            <a:xfrm>
              <a:off x="6399182" y="4235360"/>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24" name="Footer Placeholder 23">
            <a:extLst>
              <a:ext uri="{FF2B5EF4-FFF2-40B4-BE49-F238E27FC236}">
                <a16:creationId xmlns:a16="http://schemas.microsoft.com/office/drawing/2014/main" id="{3E9FF842-5327-373D-AA70-25528E47E15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17602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D8C6E747-5A7F-EF1B-6789-173FB16411E6}"/>
              </a:ext>
            </a:extLst>
          </p:cNvPr>
          <p:cNvSpPr txBox="1"/>
          <p:nvPr/>
        </p:nvSpPr>
        <p:spPr>
          <a:xfrm>
            <a:off x="490819" y="923821"/>
            <a:ext cx="8777505" cy="424731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C:\Program Files\apache-tomcat-6.0.37-windows-x86\apache-tomcat-6.0.37\webapps\ROOT\am2\</a:t>
            </a:r>
          </a:p>
          <a:p>
            <a:r>
              <a:rPr lang="en-US" b="1" dirty="0"/>
              <a:t>&lt;%-- </a:t>
            </a:r>
            <a:r>
              <a:rPr lang="en-US" b="1" dirty="0" err="1"/>
              <a:t>FindEmpsByDeptno.jsp</a:t>
            </a:r>
            <a:r>
              <a:rPr lang="en-US" b="1" dirty="0"/>
              <a:t> --%&gt;</a:t>
            </a:r>
          </a:p>
          <a:p>
            <a:r>
              <a:rPr lang="en-US" dirty="0"/>
              <a:t>&lt;%</a:t>
            </a:r>
          </a:p>
          <a:p>
            <a:r>
              <a:rPr lang="en-US" dirty="0"/>
              <a:t>  int </a:t>
            </a:r>
            <a:r>
              <a:rPr lang="en-US" dirty="0" err="1"/>
              <a:t>deptno</a:t>
            </a:r>
            <a:r>
              <a:rPr lang="en-US" dirty="0"/>
              <a:t>=</a:t>
            </a:r>
            <a:r>
              <a:rPr lang="en-US" dirty="0" err="1"/>
              <a:t>Integer.parseInt</a:t>
            </a:r>
            <a:r>
              <a:rPr lang="en-US" dirty="0"/>
              <a:t>(</a:t>
            </a:r>
            <a:r>
              <a:rPr lang="en-US" dirty="0" err="1"/>
              <a:t>request.getParameter</a:t>
            </a:r>
            <a:r>
              <a:rPr lang="en-US" dirty="0"/>
              <a:t>("</a:t>
            </a:r>
            <a:r>
              <a:rPr lang="en-US" dirty="0" err="1"/>
              <a:t>deptno</a:t>
            </a:r>
            <a:r>
              <a:rPr lang="en-US" dirty="0"/>
              <a:t>"));</a:t>
            </a:r>
          </a:p>
          <a:p>
            <a:endParaRPr lang="en-US" dirty="0"/>
          </a:p>
          <a:p>
            <a:r>
              <a:rPr lang="en-US" dirty="0"/>
              <a:t>  </a:t>
            </a:r>
            <a:r>
              <a:rPr lang="en-US" dirty="0" err="1"/>
              <a:t>Class.forName</a:t>
            </a:r>
            <a:r>
              <a:rPr lang="en-US" dirty="0"/>
              <a:t>(“</a:t>
            </a:r>
            <a:r>
              <a:rPr lang="en-US" dirty="0" err="1"/>
              <a:t>oracle.jdbc.driver.OracleDriver</a:t>
            </a:r>
            <a:r>
              <a:rPr lang="en-US" dirty="0"/>
              <a:t>");</a:t>
            </a:r>
          </a:p>
          <a:p>
            <a:endParaRPr lang="en-US" dirty="0"/>
          </a:p>
          <a:p>
            <a:r>
              <a:rPr lang="en-US" dirty="0"/>
              <a:t>  </a:t>
            </a:r>
            <a:r>
              <a:rPr lang="en-US" dirty="0" err="1"/>
              <a:t>java.sql.Connection</a:t>
            </a:r>
            <a:r>
              <a:rPr lang="en-US" dirty="0"/>
              <a:t> con=</a:t>
            </a:r>
            <a:r>
              <a:rPr lang="en-US" dirty="0" err="1"/>
              <a:t>java.sql.DriverManager.getConnection</a:t>
            </a:r>
            <a:r>
              <a:rPr lang="en-US" dirty="0"/>
              <a:t>("</a:t>
            </a:r>
            <a:r>
              <a:rPr lang="en-US" dirty="0" err="1"/>
              <a:t>jdbc:oracle:thin</a:t>
            </a:r>
            <a:r>
              <a:rPr lang="en-US" dirty="0"/>
              <a:t>:@localhost:1521:XE","am36","am36");</a:t>
            </a:r>
          </a:p>
          <a:p>
            <a:endParaRPr lang="en-US" dirty="0"/>
          </a:p>
          <a:p>
            <a:r>
              <a:rPr lang="en-US" dirty="0"/>
              <a:t>  Statement </a:t>
            </a:r>
            <a:r>
              <a:rPr lang="en-US" dirty="0" err="1"/>
              <a:t>stmt</a:t>
            </a:r>
            <a:r>
              <a:rPr lang="en-US" dirty="0"/>
              <a:t>=</a:t>
            </a:r>
            <a:r>
              <a:rPr lang="en-US" dirty="0" err="1"/>
              <a:t>con.createStatement</a:t>
            </a:r>
            <a:r>
              <a:rPr lang="en-US" dirty="0"/>
              <a:t>();</a:t>
            </a:r>
          </a:p>
          <a:p>
            <a:endParaRPr lang="en-US" dirty="0"/>
          </a:p>
          <a:p>
            <a:r>
              <a:rPr lang="en-US" dirty="0"/>
              <a:t>  </a:t>
            </a:r>
            <a:r>
              <a:rPr lang="en-US" dirty="0" err="1"/>
              <a:t>ResultSet</a:t>
            </a:r>
            <a:r>
              <a:rPr lang="en-US" dirty="0"/>
              <a:t> </a:t>
            </a:r>
            <a:r>
              <a:rPr lang="en-US" dirty="0" err="1"/>
              <a:t>rs</a:t>
            </a:r>
            <a:r>
              <a:rPr lang="en-US" dirty="0"/>
              <a:t>=</a:t>
            </a:r>
            <a:r>
              <a:rPr lang="en-US" dirty="0" err="1"/>
              <a:t>stmt.executeQuery</a:t>
            </a:r>
            <a:r>
              <a:rPr lang="en-US" dirty="0"/>
              <a:t>("SELECT * FROM employee WHERE </a:t>
            </a:r>
            <a:r>
              <a:rPr lang="en-US" dirty="0" err="1"/>
              <a:t>deptno</a:t>
            </a:r>
            <a:r>
              <a:rPr lang="en-US" dirty="0"/>
              <a:t>="+</a:t>
            </a:r>
            <a:r>
              <a:rPr lang="en-US" dirty="0" err="1"/>
              <a:t>deptno</a:t>
            </a:r>
            <a:r>
              <a:rPr lang="en-US" dirty="0"/>
              <a:t>);</a:t>
            </a:r>
          </a:p>
        </p:txBody>
      </p:sp>
      <p:grpSp>
        <p:nvGrpSpPr>
          <p:cNvPr id="4" name="Group 3">
            <a:extLst>
              <a:ext uri="{FF2B5EF4-FFF2-40B4-BE49-F238E27FC236}">
                <a16:creationId xmlns:a16="http://schemas.microsoft.com/office/drawing/2014/main" id="{401DF444-EC85-2877-5255-09D16CAA4ECE}"/>
              </a:ext>
            </a:extLst>
          </p:cNvPr>
          <p:cNvGrpSpPr/>
          <p:nvPr/>
        </p:nvGrpSpPr>
        <p:grpSpPr>
          <a:xfrm>
            <a:off x="7375334" y="1424245"/>
            <a:ext cx="3932368" cy="1552109"/>
            <a:chOff x="3880666" y="4010021"/>
            <a:chExt cx="3932368" cy="1552109"/>
          </a:xfrm>
        </p:grpSpPr>
        <p:pic>
          <p:nvPicPr>
            <p:cNvPr id="8" name="Graphic 7" descr="Server">
              <a:extLst>
                <a:ext uri="{FF2B5EF4-FFF2-40B4-BE49-F238E27FC236}">
                  <a16:creationId xmlns:a16="http://schemas.microsoft.com/office/drawing/2014/main" id="{85C54F5A-733E-A881-EEA6-1626D38875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4037349"/>
              <a:ext cx="914400" cy="914400"/>
            </a:xfrm>
            <a:prstGeom prst="rect">
              <a:avLst/>
            </a:prstGeom>
          </p:spPr>
        </p:pic>
        <p:pic>
          <p:nvPicPr>
            <p:cNvPr id="9" name="Graphic 8" descr="Database">
              <a:extLst>
                <a:ext uri="{FF2B5EF4-FFF2-40B4-BE49-F238E27FC236}">
                  <a16:creationId xmlns:a16="http://schemas.microsoft.com/office/drawing/2014/main" id="{80A8FB01-DD21-1C55-CE92-AF1EF0E318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6407" y="4010021"/>
              <a:ext cx="914400" cy="914400"/>
            </a:xfrm>
            <a:prstGeom prst="rect">
              <a:avLst/>
            </a:prstGeom>
          </p:spPr>
        </p:pic>
        <p:pic>
          <p:nvPicPr>
            <p:cNvPr id="10" name="Picture 2" descr="Computer Icon Vector Art, Icons, and Graphics for Free Download">
              <a:extLst>
                <a:ext uri="{FF2B5EF4-FFF2-40B4-BE49-F238E27FC236}">
                  <a16:creationId xmlns:a16="http://schemas.microsoft.com/office/drawing/2014/main" id="{F6F318A5-1235-9635-6F11-9EF79FFF258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585" b="9932"/>
            <a:stretch/>
          </p:blipFill>
          <p:spPr bwMode="auto">
            <a:xfrm>
              <a:off x="3880666" y="4037349"/>
              <a:ext cx="1332000" cy="101874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41A1A2C-7A49-7F41-EFB0-872D15B432FB}"/>
                </a:ext>
              </a:extLst>
            </p:cNvPr>
            <p:cNvSpPr txBox="1"/>
            <p:nvPr/>
          </p:nvSpPr>
          <p:spPr>
            <a:xfrm>
              <a:off x="4117444" y="4961966"/>
              <a:ext cx="878767" cy="600164"/>
            </a:xfrm>
            <a:prstGeom prst="rect">
              <a:avLst/>
            </a:prstGeom>
            <a:noFill/>
          </p:spPr>
          <p:txBody>
            <a:bodyPr wrap="none" rtlCol="0">
              <a:spAutoFit/>
            </a:bodyPr>
            <a:lstStyle/>
            <a:p>
              <a:pPr algn="ctr"/>
              <a:r>
                <a:rPr lang="en-IN" sz="1100" b="1" dirty="0"/>
                <a:t>Client </a:t>
              </a:r>
            </a:p>
            <a:p>
              <a:pPr algn="ctr"/>
              <a:r>
                <a:rPr lang="en-IN" sz="1100" b="1" dirty="0"/>
                <a:t>Standalone </a:t>
              </a:r>
            </a:p>
            <a:p>
              <a:pPr algn="ctr"/>
              <a:r>
                <a:rPr lang="en-IN" sz="1100" b="1" dirty="0"/>
                <a:t>Program</a:t>
              </a:r>
            </a:p>
          </p:txBody>
        </p:sp>
        <p:sp>
          <p:nvSpPr>
            <p:cNvPr id="12" name="TextBox 11">
              <a:extLst>
                <a:ext uri="{FF2B5EF4-FFF2-40B4-BE49-F238E27FC236}">
                  <a16:creationId xmlns:a16="http://schemas.microsoft.com/office/drawing/2014/main" id="{31FA7DCD-1C98-47ED-53A2-D471E6741F3F}"/>
                </a:ext>
              </a:extLst>
            </p:cNvPr>
            <p:cNvSpPr txBox="1"/>
            <p:nvPr/>
          </p:nvSpPr>
          <p:spPr>
            <a:xfrm>
              <a:off x="5669943" y="4858873"/>
              <a:ext cx="875561" cy="600164"/>
            </a:xfrm>
            <a:prstGeom prst="rect">
              <a:avLst/>
            </a:prstGeom>
            <a:noFill/>
          </p:spPr>
          <p:txBody>
            <a:bodyPr wrap="none" rtlCol="0">
              <a:spAutoFit/>
            </a:bodyPr>
            <a:lstStyle/>
            <a:p>
              <a:pPr algn="ctr"/>
              <a:r>
                <a:rPr lang="en-IN" sz="1100" b="1" dirty="0"/>
                <a:t>web Server </a:t>
              </a:r>
            </a:p>
            <a:p>
              <a:pPr algn="ctr"/>
              <a:r>
                <a:rPr lang="en-IN" sz="1100" b="1" dirty="0"/>
                <a:t>running </a:t>
              </a:r>
            </a:p>
            <a:p>
              <a:pPr algn="ctr"/>
              <a:r>
                <a:rPr lang="en-IN" sz="1100" b="1" dirty="0"/>
                <a:t>Servlet/JSP</a:t>
              </a:r>
            </a:p>
          </p:txBody>
        </p:sp>
        <p:sp>
          <p:nvSpPr>
            <p:cNvPr id="13" name="TextBox 12">
              <a:extLst>
                <a:ext uri="{FF2B5EF4-FFF2-40B4-BE49-F238E27FC236}">
                  <a16:creationId xmlns:a16="http://schemas.microsoft.com/office/drawing/2014/main" id="{6C2AF068-0DEC-29A0-8FA1-CA976F9AA37B}"/>
                </a:ext>
              </a:extLst>
            </p:cNvPr>
            <p:cNvSpPr txBox="1"/>
            <p:nvPr/>
          </p:nvSpPr>
          <p:spPr>
            <a:xfrm>
              <a:off x="6724274" y="4863356"/>
              <a:ext cx="1088760" cy="600164"/>
            </a:xfrm>
            <a:prstGeom prst="rect">
              <a:avLst/>
            </a:prstGeom>
            <a:noFill/>
          </p:spPr>
          <p:txBody>
            <a:bodyPr wrap="none" rtlCol="0">
              <a:spAutoFit/>
            </a:bodyPr>
            <a:lstStyle/>
            <a:p>
              <a:pPr algn="ctr"/>
              <a:r>
                <a:rPr lang="en-IN" sz="1100" b="1" dirty="0"/>
                <a:t>consists of </a:t>
              </a:r>
            </a:p>
            <a:p>
              <a:pPr algn="ctr"/>
              <a:r>
                <a:rPr lang="en-IN" sz="1100" b="1" dirty="0"/>
                <a:t>emp and depts </a:t>
              </a:r>
            </a:p>
            <a:p>
              <a:pPr algn="ctr"/>
              <a:r>
                <a:rPr lang="en-IN" sz="1100" b="1" dirty="0"/>
                <a:t>data</a:t>
              </a:r>
            </a:p>
          </p:txBody>
        </p:sp>
        <p:sp>
          <p:nvSpPr>
            <p:cNvPr id="14" name="Arrow: Left-Right 13">
              <a:extLst>
                <a:ext uri="{FF2B5EF4-FFF2-40B4-BE49-F238E27FC236}">
                  <a16:creationId xmlns:a16="http://schemas.microsoft.com/office/drawing/2014/main" id="{57C21895-E469-984C-0F8D-4FCA87F014B0}"/>
                </a:ext>
              </a:extLst>
            </p:cNvPr>
            <p:cNvSpPr/>
            <p:nvPr/>
          </p:nvSpPr>
          <p:spPr>
            <a:xfrm>
              <a:off x="5117234" y="4244324"/>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9" name="Arrow: Left-Right 18">
              <a:extLst>
                <a:ext uri="{FF2B5EF4-FFF2-40B4-BE49-F238E27FC236}">
                  <a16:creationId xmlns:a16="http://schemas.microsoft.com/office/drawing/2014/main" id="{C5541CA1-A2C9-CE80-ED1D-F2EC48025FF3}"/>
                </a:ext>
              </a:extLst>
            </p:cNvPr>
            <p:cNvSpPr/>
            <p:nvPr/>
          </p:nvSpPr>
          <p:spPr>
            <a:xfrm>
              <a:off x="6399182" y="4235360"/>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24" name="Footer Placeholder 23">
            <a:extLst>
              <a:ext uri="{FF2B5EF4-FFF2-40B4-BE49-F238E27FC236}">
                <a16:creationId xmlns:a16="http://schemas.microsoft.com/office/drawing/2014/main" id="{EEA22AC0-D20B-2770-C412-817E365DBF2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2583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D8C6E747-5A7F-EF1B-6789-173FB16411E6}"/>
              </a:ext>
            </a:extLst>
          </p:cNvPr>
          <p:cNvSpPr txBox="1"/>
          <p:nvPr/>
        </p:nvSpPr>
        <p:spPr>
          <a:xfrm>
            <a:off x="490819" y="749010"/>
            <a:ext cx="8777505" cy="467820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dirty="0"/>
              <a:t> String </a:t>
            </a:r>
            <a:r>
              <a:rPr lang="en-US" sz="2000" dirty="0" err="1"/>
              <a:t>responseStr</a:t>
            </a:r>
            <a:r>
              <a:rPr lang="en-US" sz="2000" dirty="0"/>
              <a:t>="";</a:t>
            </a:r>
          </a:p>
          <a:p>
            <a:endParaRPr lang="en-US" sz="2000" dirty="0"/>
          </a:p>
          <a:p>
            <a:r>
              <a:rPr lang="en-US" sz="2000" dirty="0"/>
              <a:t>  while(</a:t>
            </a:r>
            <a:r>
              <a:rPr lang="en-US" sz="2000" dirty="0" err="1"/>
              <a:t>rs.next</a:t>
            </a:r>
            <a:r>
              <a:rPr lang="en-US" sz="2000" dirty="0"/>
              <a:t>()) {</a:t>
            </a:r>
          </a:p>
          <a:p>
            <a:r>
              <a:rPr lang="en-US" sz="2000" dirty="0"/>
              <a:t>    </a:t>
            </a:r>
            <a:r>
              <a:rPr lang="en-US" sz="2000" dirty="0" err="1"/>
              <a:t>responseStr</a:t>
            </a:r>
            <a:r>
              <a:rPr lang="en-US" sz="2000" dirty="0"/>
              <a:t>+=</a:t>
            </a:r>
            <a:r>
              <a:rPr lang="en-US" sz="2000" dirty="0" err="1"/>
              <a:t>rs.getInt</a:t>
            </a:r>
            <a:r>
              <a:rPr lang="en-US" sz="2000" dirty="0"/>
              <a:t>(1)+"&amp;";</a:t>
            </a:r>
          </a:p>
          <a:p>
            <a:r>
              <a:rPr lang="en-US" sz="2000" dirty="0"/>
              <a:t>    </a:t>
            </a:r>
            <a:r>
              <a:rPr lang="en-US" sz="2000" dirty="0" err="1"/>
              <a:t>responseStr</a:t>
            </a:r>
            <a:r>
              <a:rPr lang="en-US" sz="2000" dirty="0"/>
              <a:t>+=</a:t>
            </a:r>
            <a:r>
              <a:rPr lang="en-US" sz="2000" dirty="0" err="1"/>
              <a:t>rs.getString</a:t>
            </a:r>
            <a:r>
              <a:rPr lang="en-US" sz="2000" dirty="0"/>
              <a:t>(2)+"&amp;";</a:t>
            </a:r>
          </a:p>
          <a:p>
            <a:r>
              <a:rPr lang="en-US" sz="2000" dirty="0"/>
              <a:t>    </a:t>
            </a:r>
            <a:r>
              <a:rPr lang="en-US" sz="2000" dirty="0" err="1"/>
              <a:t>responseStr</a:t>
            </a:r>
            <a:r>
              <a:rPr lang="en-US" sz="2000" dirty="0"/>
              <a:t>+=</a:t>
            </a:r>
            <a:r>
              <a:rPr lang="en-US" sz="2000" dirty="0" err="1"/>
              <a:t>rs.getString</a:t>
            </a:r>
            <a:r>
              <a:rPr lang="en-US" sz="2000" dirty="0"/>
              <a:t>(3)+"&amp;";</a:t>
            </a:r>
          </a:p>
          <a:p>
            <a:r>
              <a:rPr lang="en-US" sz="2000" dirty="0"/>
              <a:t>    </a:t>
            </a:r>
            <a:r>
              <a:rPr lang="en-US" sz="2000" dirty="0" err="1"/>
              <a:t>responseStr</a:t>
            </a:r>
            <a:r>
              <a:rPr lang="en-US" sz="2000" dirty="0"/>
              <a:t>+=</a:t>
            </a:r>
            <a:r>
              <a:rPr lang="en-US" sz="2000" dirty="0" err="1"/>
              <a:t>rs.getString</a:t>
            </a:r>
            <a:r>
              <a:rPr lang="en-US" sz="2000" dirty="0"/>
              <a:t>(4)+"&amp;";</a:t>
            </a:r>
          </a:p>
          <a:p>
            <a:r>
              <a:rPr lang="en-US" sz="2000" dirty="0"/>
              <a:t>    </a:t>
            </a:r>
            <a:r>
              <a:rPr lang="en-US" sz="2000" dirty="0" err="1"/>
              <a:t>responseStr</a:t>
            </a:r>
            <a:r>
              <a:rPr lang="en-US" sz="2000" dirty="0"/>
              <a:t>+=</a:t>
            </a:r>
            <a:r>
              <a:rPr lang="en-US" sz="2000" dirty="0" err="1"/>
              <a:t>rs.getString</a:t>
            </a:r>
            <a:r>
              <a:rPr lang="en-US" sz="2000" dirty="0"/>
              <a:t>(5)+"&amp;";</a:t>
            </a:r>
          </a:p>
          <a:p>
            <a:r>
              <a:rPr lang="en-US" sz="2000" dirty="0"/>
              <a:t>    </a:t>
            </a:r>
            <a:r>
              <a:rPr lang="en-US" sz="2000" dirty="0" err="1"/>
              <a:t>responseStr</a:t>
            </a:r>
            <a:r>
              <a:rPr lang="en-US" sz="2000" dirty="0"/>
              <a:t>+=</a:t>
            </a:r>
            <a:r>
              <a:rPr lang="en-US" sz="2000" dirty="0" err="1"/>
              <a:t>rs.getString</a:t>
            </a:r>
            <a:r>
              <a:rPr lang="en-US" sz="2000" dirty="0"/>
              <a:t>(6)+"&amp;";</a:t>
            </a:r>
          </a:p>
          <a:p>
            <a:r>
              <a:rPr lang="en-US" sz="2000" dirty="0"/>
              <a:t>    </a:t>
            </a:r>
            <a:r>
              <a:rPr lang="en-US" sz="2000" dirty="0" err="1"/>
              <a:t>responseStr</a:t>
            </a:r>
            <a:r>
              <a:rPr lang="en-US" sz="2000" dirty="0"/>
              <a:t>+=</a:t>
            </a:r>
            <a:r>
              <a:rPr lang="en-US" sz="2000" dirty="0" err="1"/>
              <a:t>rs.getString</a:t>
            </a:r>
            <a:r>
              <a:rPr lang="en-US" sz="2000" dirty="0"/>
              <a:t>(7)+"&amp;";</a:t>
            </a:r>
          </a:p>
          <a:p>
            <a:r>
              <a:rPr lang="en-US" sz="2000" dirty="0"/>
              <a:t>    </a:t>
            </a:r>
            <a:r>
              <a:rPr lang="en-US" sz="2000" dirty="0" err="1"/>
              <a:t>responseStr</a:t>
            </a:r>
            <a:r>
              <a:rPr lang="en-US" sz="2000" dirty="0"/>
              <a:t>+=</a:t>
            </a:r>
            <a:r>
              <a:rPr lang="en-US" sz="2000" dirty="0" err="1"/>
              <a:t>rs.getString</a:t>
            </a:r>
            <a:r>
              <a:rPr lang="en-US" sz="2000" dirty="0"/>
              <a:t>(8)+"\n";</a:t>
            </a:r>
          </a:p>
          <a:p>
            <a:r>
              <a:rPr lang="en-US" sz="2000" dirty="0"/>
              <a:t>  }</a:t>
            </a:r>
          </a:p>
          <a:p>
            <a:r>
              <a:rPr lang="en-US" sz="2000" dirty="0"/>
              <a:t>  </a:t>
            </a:r>
            <a:r>
              <a:rPr lang="en-US" sz="2000" dirty="0" err="1"/>
              <a:t>rs.close</a:t>
            </a:r>
            <a:r>
              <a:rPr lang="en-US" sz="2000" dirty="0"/>
              <a:t>(); </a:t>
            </a:r>
            <a:r>
              <a:rPr lang="en-US" sz="2000" dirty="0" err="1"/>
              <a:t>stmt.close</a:t>
            </a:r>
            <a:r>
              <a:rPr lang="en-US" sz="2000" dirty="0"/>
              <a:t>(); </a:t>
            </a:r>
            <a:r>
              <a:rPr lang="en-US" sz="2000" dirty="0" err="1"/>
              <a:t>con.close</a:t>
            </a:r>
            <a:r>
              <a:rPr lang="en-US" sz="2000" dirty="0"/>
              <a:t>();</a:t>
            </a:r>
          </a:p>
          <a:p>
            <a:r>
              <a:rPr lang="en-US" sz="2000" dirty="0"/>
              <a:t>%&gt;</a:t>
            </a:r>
          </a:p>
          <a:p>
            <a:r>
              <a:rPr lang="en-US" sz="2000" dirty="0"/>
              <a:t>&lt;%=</a:t>
            </a:r>
            <a:r>
              <a:rPr lang="en-US" sz="2000" dirty="0" err="1"/>
              <a:t>responseStr</a:t>
            </a:r>
            <a:r>
              <a:rPr lang="en-US" sz="2000" dirty="0"/>
              <a:t>%&gt;</a:t>
            </a:r>
          </a:p>
        </p:txBody>
      </p:sp>
      <p:grpSp>
        <p:nvGrpSpPr>
          <p:cNvPr id="4" name="Group 3">
            <a:extLst>
              <a:ext uri="{FF2B5EF4-FFF2-40B4-BE49-F238E27FC236}">
                <a16:creationId xmlns:a16="http://schemas.microsoft.com/office/drawing/2014/main" id="{ECB3CC1B-96AA-5821-6C5D-22D1F9CC3C1E}"/>
              </a:ext>
            </a:extLst>
          </p:cNvPr>
          <p:cNvGrpSpPr/>
          <p:nvPr/>
        </p:nvGrpSpPr>
        <p:grpSpPr>
          <a:xfrm>
            <a:off x="5545506" y="1068235"/>
            <a:ext cx="3932368" cy="1552109"/>
            <a:chOff x="3880666" y="4010021"/>
            <a:chExt cx="3932368" cy="1552109"/>
          </a:xfrm>
        </p:grpSpPr>
        <p:pic>
          <p:nvPicPr>
            <p:cNvPr id="8" name="Graphic 7" descr="Server">
              <a:extLst>
                <a:ext uri="{FF2B5EF4-FFF2-40B4-BE49-F238E27FC236}">
                  <a16:creationId xmlns:a16="http://schemas.microsoft.com/office/drawing/2014/main" id="{203354A9-4E7C-2936-E65A-31BA8872DC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4037349"/>
              <a:ext cx="914400" cy="914400"/>
            </a:xfrm>
            <a:prstGeom prst="rect">
              <a:avLst/>
            </a:prstGeom>
          </p:spPr>
        </p:pic>
        <p:pic>
          <p:nvPicPr>
            <p:cNvPr id="9" name="Graphic 8" descr="Database">
              <a:extLst>
                <a:ext uri="{FF2B5EF4-FFF2-40B4-BE49-F238E27FC236}">
                  <a16:creationId xmlns:a16="http://schemas.microsoft.com/office/drawing/2014/main" id="{05EF227E-7341-82F9-20AB-AD3BD70B00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66407" y="4010021"/>
              <a:ext cx="914400" cy="914400"/>
            </a:xfrm>
            <a:prstGeom prst="rect">
              <a:avLst/>
            </a:prstGeom>
          </p:spPr>
        </p:pic>
        <p:pic>
          <p:nvPicPr>
            <p:cNvPr id="10" name="Picture 2" descr="Computer Icon Vector Art, Icons, and Graphics for Free Download">
              <a:extLst>
                <a:ext uri="{FF2B5EF4-FFF2-40B4-BE49-F238E27FC236}">
                  <a16:creationId xmlns:a16="http://schemas.microsoft.com/office/drawing/2014/main" id="{1FABC2F2-6417-AA79-AB31-1536389C895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3585" b="9932"/>
            <a:stretch/>
          </p:blipFill>
          <p:spPr bwMode="auto">
            <a:xfrm>
              <a:off x="3880666" y="4037349"/>
              <a:ext cx="1332000" cy="101874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C8FFDA0-E61E-4DA0-53A6-620EA5923D68}"/>
                </a:ext>
              </a:extLst>
            </p:cNvPr>
            <p:cNvSpPr txBox="1"/>
            <p:nvPr/>
          </p:nvSpPr>
          <p:spPr>
            <a:xfrm>
              <a:off x="4117444" y="4961966"/>
              <a:ext cx="878767" cy="600164"/>
            </a:xfrm>
            <a:prstGeom prst="rect">
              <a:avLst/>
            </a:prstGeom>
            <a:noFill/>
          </p:spPr>
          <p:txBody>
            <a:bodyPr wrap="none" rtlCol="0">
              <a:spAutoFit/>
            </a:bodyPr>
            <a:lstStyle/>
            <a:p>
              <a:pPr algn="ctr"/>
              <a:r>
                <a:rPr lang="en-IN" sz="1100" b="1" dirty="0"/>
                <a:t>Client </a:t>
              </a:r>
            </a:p>
            <a:p>
              <a:pPr algn="ctr"/>
              <a:r>
                <a:rPr lang="en-IN" sz="1100" b="1" dirty="0"/>
                <a:t>Standalone </a:t>
              </a:r>
            </a:p>
            <a:p>
              <a:pPr algn="ctr"/>
              <a:r>
                <a:rPr lang="en-IN" sz="1100" b="1" dirty="0"/>
                <a:t>Program</a:t>
              </a:r>
            </a:p>
          </p:txBody>
        </p:sp>
        <p:sp>
          <p:nvSpPr>
            <p:cNvPr id="12" name="TextBox 11">
              <a:extLst>
                <a:ext uri="{FF2B5EF4-FFF2-40B4-BE49-F238E27FC236}">
                  <a16:creationId xmlns:a16="http://schemas.microsoft.com/office/drawing/2014/main" id="{B7D132DF-AEF4-486E-0781-7BCA01246263}"/>
                </a:ext>
              </a:extLst>
            </p:cNvPr>
            <p:cNvSpPr txBox="1"/>
            <p:nvPr/>
          </p:nvSpPr>
          <p:spPr>
            <a:xfrm>
              <a:off x="5669943" y="4858873"/>
              <a:ext cx="875561" cy="600164"/>
            </a:xfrm>
            <a:prstGeom prst="rect">
              <a:avLst/>
            </a:prstGeom>
            <a:noFill/>
          </p:spPr>
          <p:txBody>
            <a:bodyPr wrap="none" rtlCol="0">
              <a:spAutoFit/>
            </a:bodyPr>
            <a:lstStyle/>
            <a:p>
              <a:pPr algn="ctr"/>
              <a:r>
                <a:rPr lang="en-IN" sz="1100" b="1" dirty="0"/>
                <a:t>web Server </a:t>
              </a:r>
            </a:p>
            <a:p>
              <a:pPr algn="ctr"/>
              <a:r>
                <a:rPr lang="en-IN" sz="1100" b="1" dirty="0"/>
                <a:t>running </a:t>
              </a:r>
            </a:p>
            <a:p>
              <a:pPr algn="ctr"/>
              <a:r>
                <a:rPr lang="en-IN" sz="1100" b="1" dirty="0"/>
                <a:t>Servlet/JSP</a:t>
              </a:r>
            </a:p>
          </p:txBody>
        </p:sp>
        <p:sp>
          <p:nvSpPr>
            <p:cNvPr id="13" name="TextBox 12">
              <a:extLst>
                <a:ext uri="{FF2B5EF4-FFF2-40B4-BE49-F238E27FC236}">
                  <a16:creationId xmlns:a16="http://schemas.microsoft.com/office/drawing/2014/main" id="{E99852E6-A13F-E7FF-19A1-5B303653E012}"/>
                </a:ext>
              </a:extLst>
            </p:cNvPr>
            <p:cNvSpPr txBox="1"/>
            <p:nvPr/>
          </p:nvSpPr>
          <p:spPr>
            <a:xfrm>
              <a:off x="6724274" y="4863356"/>
              <a:ext cx="1088760" cy="600164"/>
            </a:xfrm>
            <a:prstGeom prst="rect">
              <a:avLst/>
            </a:prstGeom>
            <a:noFill/>
          </p:spPr>
          <p:txBody>
            <a:bodyPr wrap="none" rtlCol="0">
              <a:spAutoFit/>
            </a:bodyPr>
            <a:lstStyle/>
            <a:p>
              <a:pPr algn="ctr"/>
              <a:r>
                <a:rPr lang="en-IN" sz="1100" b="1" dirty="0"/>
                <a:t>consists of </a:t>
              </a:r>
            </a:p>
            <a:p>
              <a:pPr algn="ctr"/>
              <a:r>
                <a:rPr lang="en-IN" sz="1100" b="1" dirty="0"/>
                <a:t>emp and depts </a:t>
              </a:r>
            </a:p>
            <a:p>
              <a:pPr algn="ctr"/>
              <a:r>
                <a:rPr lang="en-IN" sz="1100" b="1" dirty="0"/>
                <a:t>data</a:t>
              </a:r>
            </a:p>
          </p:txBody>
        </p:sp>
        <p:sp>
          <p:nvSpPr>
            <p:cNvPr id="14" name="Arrow: Left-Right 13">
              <a:extLst>
                <a:ext uri="{FF2B5EF4-FFF2-40B4-BE49-F238E27FC236}">
                  <a16:creationId xmlns:a16="http://schemas.microsoft.com/office/drawing/2014/main" id="{7B18DD8A-79A6-B50A-A69B-303D9F50E11F}"/>
                </a:ext>
              </a:extLst>
            </p:cNvPr>
            <p:cNvSpPr/>
            <p:nvPr/>
          </p:nvSpPr>
          <p:spPr>
            <a:xfrm>
              <a:off x="5117234" y="4244324"/>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9" name="Arrow: Left-Right 18">
              <a:extLst>
                <a:ext uri="{FF2B5EF4-FFF2-40B4-BE49-F238E27FC236}">
                  <a16:creationId xmlns:a16="http://schemas.microsoft.com/office/drawing/2014/main" id="{138A9846-210D-9EE6-120C-DAEFAB7AAA40}"/>
                </a:ext>
              </a:extLst>
            </p:cNvPr>
            <p:cNvSpPr/>
            <p:nvPr/>
          </p:nvSpPr>
          <p:spPr>
            <a:xfrm>
              <a:off x="6399182" y="4235360"/>
              <a:ext cx="571501" cy="326445"/>
            </a:xfrm>
            <a:prstGeom prst="leftRightArrow">
              <a:avLst/>
            </a:prstGeom>
            <a:ln>
              <a:noFill/>
            </a:ln>
            <a:effectLst/>
            <a:scene3d>
              <a:camera prst="orthographicFront">
                <a:rot lat="0" lon="0" rev="0"/>
              </a:camera>
              <a:lightRig rig="glow" dir="t">
                <a:rot lat="0" lon="0" rev="14100000"/>
              </a:lightRig>
            </a:scene3d>
            <a:sp3d prstMaterial="softEdge">
              <a:bevelT w="127000" prst="artDeco"/>
            </a:sp3d>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grpSp>
      <p:sp>
        <p:nvSpPr>
          <p:cNvPr id="25" name="TextBox 24">
            <a:extLst>
              <a:ext uri="{FF2B5EF4-FFF2-40B4-BE49-F238E27FC236}">
                <a16:creationId xmlns:a16="http://schemas.microsoft.com/office/drawing/2014/main" id="{703B1D0A-7803-4F27-EA54-BEDE2A9A18B4}"/>
              </a:ext>
            </a:extLst>
          </p:cNvPr>
          <p:cNvSpPr txBox="1"/>
          <p:nvPr/>
        </p:nvSpPr>
        <p:spPr>
          <a:xfrm>
            <a:off x="413464" y="5416976"/>
            <a:ext cx="8854859" cy="923330"/>
          </a:xfrm>
          <a:prstGeom prst="rect">
            <a:avLst/>
          </a:prstGeom>
          <a:noFill/>
        </p:spPr>
        <p:txBody>
          <a:bodyPr wrap="square">
            <a:spAutoFit/>
          </a:bodyPr>
          <a:lstStyle/>
          <a:p>
            <a:r>
              <a:rPr lang="en-IN" b="1" dirty="0"/>
              <a:t>To start tomcat web server</a:t>
            </a:r>
          </a:p>
          <a:p>
            <a:r>
              <a:rPr lang="en-IN" dirty="0"/>
              <a:t>C:\Program Files\apache-tomcat-6.0.37-windows-x86\apache-tomcat-6.0.37\bin\startup.bat</a:t>
            </a:r>
          </a:p>
          <a:p>
            <a:r>
              <a:rPr lang="en-IN" dirty="0"/>
              <a:t>								     tomcat.exe</a:t>
            </a:r>
          </a:p>
        </p:txBody>
      </p:sp>
      <p:sp>
        <p:nvSpPr>
          <p:cNvPr id="24" name="Footer Placeholder 23">
            <a:extLst>
              <a:ext uri="{FF2B5EF4-FFF2-40B4-BE49-F238E27FC236}">
                <a16:creationId xmlns:a16="http://schemas.microsoft.com/office/drawing/2014/main" id="{2FA2AA3F-BB34-D708-FCDD-9BECA6215F3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588623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353719" y="768016"/>
            <a:ext cx="7140387" cy="2677656"/>
          </a:xfrm>
          <a:prstGeom prst="rect">
            <a:avLst/>
          </a:prstGeom>
          <a:noFill/>
        </p:spPr>
        <p:txBody>
          <a:bodyPr wrap="square">
            <a:spAutoFit/>
          </a:bodyPr>
          <a:lstStyle/>
          <a:p>
            <a:pPr algn="ctr"/>
            <a:r>
              <a:rPr lang="en-IN" sz="2400" b="1" dirty="0"/>
              <a:t>=============================================</a:t>
            </a:r>
          </a:p>
          <a:p>
            <a:pPr algn="ctr"/>
            <a:r>
              <a:rPr lang="en-IN" sz="2400" b="1" dirty="0"/>
              <a:t>Socket Programming / TCP/IP Programming using</a:t>
            </a:r>
          </a:p>
          <a:p>
            <a:pPr algn="ctr"/>
            <a:r>
              <a:rPr lang="en-IN" sz="2400" b="1" dirty="0"/>
              <a:t>Socket and ServerSocket classes</a:t>
            </a:r>
          </a:p>
          <a:p>
            <a:pPr algn="ctr"/>
            <a:r>
              <a:rPr lang="en-IN" sz="2400" b="1" dirty="0"/>
              <a:t>=============================================</a:t>
            </a:r>
          </a:p>
          <a:p>
            <a:pPr algn="ctr"/>
            <a:r>
              <a:rPr lang="en-IN" sz="2400" b="1" dirty="0"/>
              <a:t>There are two protocol models exist:</a:t>
            </a:r>
          </a:p>
          <a:p>
            <a:pPr algn="ctr"/>
            <a:r>
              <a:rPr lang="en-IN" sz="2400" b="1" dirty="0"/>
              <a:t>- TCP/IP model</a:t>
            </a:r>
          </a:p>
          <a:p>
            <a:pPr algn="ctr"/>
            <a:r>
              <a:rPr lang="en-IN" sz="2400" b="1" dirty="0"/>
              <a:t>- ISO-OSI model</a:t>
            </a:r>
          </a:p>
        </p:txBody>
      </p:sp>
      <p:pic>
        <p:nvPicPr>
          <p:cNvPr id="4100" name="Picture 4" descr="Best Guide To Understand What Is TCP/IP Model | Simplilearn">
            <a:extLst>
              <a:ext uri="{FF2B5EF4-FFF2-40B4-BE49-F238E27FC236}">
                <a16:creationId xmlns:a16="http://schemas.microsoft.com/office/drawing/2014/main" id="{2ABBD55B-1F4F-867C-3815-F43A34A36C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82" y="3558670"/>
            <a:ext cx="4509956" cy="24840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he TCP/IP Guide - TCP/IP Architecture and the TCP/IP Model">
            <a:extLst>
              <a:ext uri="{FF2B5EF4-FFF2-40B4-BE49-F238E27FC236}">
                <a16:creationId xmlns:a16="http://schemas.microsoft.com/office/drawing/2014/main" id="{BB5440AF-D08C-9EA1-407D-23B4E0FB33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2920" y="3430018"/>
            <a:ext cx="3560203" cy="3060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CA4BFCA-A3AB-F4FC-ECA3-4068338F56E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12592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539327" y="753728"/>
            <a:ext cx="8890419" cy="830997"/>
          </a:xfrm>
          <a:prstGeom prst="rect">
            <a:avLst/>
          </a:prstGeom>
          <a:noFill/>
        </p:spPr>
        <p:txBody>
          <a:bodyPr wrap="square">
            <a:spAutoFit/>
          </a:bodyPr>
          <a:lstStyle/>
          <a:p>
            <a:pPr algn="just"/>
            <a:r>
              <a:rPr lang="en-US" sz="2400" b="1" dirty="0"/>
              <a:t>Each machine is having 65536 ports range from port number 0 to port number 65535. 0-1023 ports are reserved ports.</a:t>
            </a:r>
            <a:endParaRPr lang="en-IN" sz="2400" b="1" dirty="0"/>
          </a:p>
        </p:txBody>
      </p:sp>
      <p:sp>
        <p:nvSpPr>
          <p:cNvPr id="7" name="TextBox 6">
            <a:extLst>
              <a:ext uri="{FF2B5EF4-FFF2-40B4-BE49-F238E27FC236}">
                <a16:creationId xmlns:a16="http://schemas.microsoft.com/office/drawing/2014/main" id="{67C8CDB9-F6FE-70C1-D537-E92DA2C4B87F}"/>
              </a:ext>
            </a:extLst>
          </p:cNvPr>
          <p:cNvSpPr txBox="1"/>
          <p:nvPr/>
        </p:nvSpPr>
        <p:spPr>
          <a:xfrm>
            <a:off x="900113" y="1657191"/>
            <a:ext cx="8201025" cy="4801314"/>
          </a:xfrm>
          <a:prstGeom prst="rect">
            <a:avLst/>
          </a:prstGeom>
          <a:noFill/>
        </p:spPr>
        <p:txBody>
          <a:bodyPr wrap="square">
            <a:spAutoFit/>
          </a:bodyPr>
          <a:lstStyle/>
          <a:p>
            <a:pPr algn="just"/>
            <a:r>
              <a:rPr lang="en-IN" dirty="0"/>
              <a:t>HTTP - 80 (Hyper Text Transfer Protocol) purpose is to browse web sites</a:t>
            </a:r>
          </a:p>
          <a:p>
            <a:pPr algn="just"/>
            <a:r>
              <a:rPr lang="en-IN" dirty="0"/>
              <a:t>SMTP – 25 sending mail (Simple Mail Transfer Protocol)), POP3 (Post Office Protocol) - receiving mail</a:t>
            </a:r>
          </a:p>
          <a:p>
            <a:pPr algn="just"/>
            <a:r>
              <a:rPr lang="en-IN" dirty="0"/>
              <a:t>FTP - 21 (File Transfer Protocol) uploading files to server</a:t>
            </a:r>
          </a:p>
          <a:p>
            <a:pPr algn="just"/>
            <a:r>
              <a:rPr lang="en-IN" dirty="0"/>
              <a:t>XMPP - </a:t>
            </a:r>
            <a:r>
              <a:rPr lang="en-IN" dirty="0" err="1"/>
              <a:t>Whatsapp</a:t>
            </a:r>
            <a:r>
              <a:rPr lang="en-IN" dirty="0"/>
              <a:t> protocol (Extensible Messaging and Presence Protocol)</a:t>
            </a:r>
          </a:p>
          <a:p>
            <a:pPr algn="just"/>
            <a:r>
              <a:rPr lang="en-IN" dirty="0"/>
              <a:t>SMPP (Short Message Peer-to-Peer Protocol) sends SMS (Short Message Service) text messages.</a:t>
            </a:r>
          </a:p>
          <a:p>
            <a:pPr algn="just"/>
            <a:r>
              <a:rPr lang="en-IN" dirty="0"/>
              <a:t>Tomcat WS - 8080</a:t>
            </a:r>
          </a:p>
          <a:p>
            <a:pPr algn="just"/>
            <a:r>
              <a:rPr lang="en-IN" dirty="0" err="1"/>
              <a:t>Weblogic</a:t>
            </a:r>
            <a:r>
              <a:rPr lang="en-IN" dirty="0"/>
              <a:t> AS – 7001</a:t>
            </a:r>
          </a:p>
          <a:p>
            <a:pPr algn="just"/>
            <a:r>
              <a:rPr lang="en-IN" dirty="0"/>
              <a:t>IBM WebSphere AS – 8008</a:t>
            </a:r>
          </a:p>
          <a:p>
            <a:pPr algn="just"/>
            <a:r>
              <a:rPr lang="en-IN" dirty="0"/>
              <a:t>JBoss AS - 9990</a:t>
            </a:r>
          </a:p>
          <a:p>
            <a:pPr algn="just"/>
            <a:r>
              <a:rPr lang="en-IN" dirty="0"/>
              <a:t>Oracle DB/</a:t>
            </a:r>
            <a:r>
              <a:rPr lang="en-IN" dirty="0" err="1"/>
              <a:t>orcl</a:t>
            </a:r>
            <a:r>
              <a:rPr lang="en-IN" dirty="0"/>
              <a:t> - 1521</a:t>
            </a:r>
          </a:p>
          <a:p>
            <a:pPr algn="just"/>
            <a:r>
              <a:rPr lang="en-IN" dirty="0"/>
              <a:t>MySQL DB/</a:t>
            </a:r>
            <a:r>
              <a:rPr lang="en-IN" dirty="0" err="1"/>
              <a:t>mysql</a:t>
            </a:r>
            <a:r>
              <a:rPr lang="en-IN" dirty="0"/>
              <a:t> - 3306</a:t>
            </a:r>
          </a:p>
          <a:p>
            <a:pPr algn="just"/>
            <a:r>
              <a:rPr lang="en-IN" dirty="0"/>
              <a:t>MS-SQL Server/</a:t>
            </a:r>
            <a:r>
              <a:rPr lang="en-IN" dirty="0" err="1"/>
              <a:t>sql</a:t>
            </a:r>
            <a:r>
              <a:rPr lang="en-IN" dirty="0"/>
              <a:t> - 1431</a:t>
            </a:r>
          </a:p>
          <a:p>
            <a:pPr algn="just"/>
            <a:r>
              <a:rPr lang="en-IN" dirty="0"/>
              <a:t>IBM DB2 DB/db2 – 50000</a:t>
            </a:r>
          </a:p>
          <a:p>
            <a:pPr algn="just"/>
            <a:r>
              <a:rPr lang="en-IN" dirty="0"/>
              <a:t>Flask – 5000</a:t>
            </a:r>
          </a:p>
          <a:p>
            <a:pPr algn="just"/>
            <a:r>
              <a:rPr lang="en-IN" dirty="0"/>
              <a:t>Django – 8000</a:t>
            </a:r>
          </a:p>
        </p:txBody>
      </p:sp>
      <p:sp>
        <p:nvSpPr>
          <p:cNvPr id="4" name="Footer Placeholder 3">
            <a:extLst>
              <a:ext uri="{FF2B5EF4-FFF2-40B4-BE49-F238E27FC236}">
                <a16:creationId xmlns:a16="http://schemas.microsoft.com/office/drawing/2014/main" id="{5282D13F-976A-82CB-1C1C-5B84491DAC3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71107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539327" y="753728"/>
            <a:ext cx="8890419" cy="1200329"/>
          </a:xfrm>
          <a:prstGeom prst="rect">
            <a:avLst/>
          </a:prstGeom>
          <a:noFill/>
        </p:spPr>
        <p:txBody>
          <a:bodyPr wrap="square">
            <a:spAutoFit/>
          </a:bodyPr>
          <a:lstStyle/>
          <a:p>
            <a:pPr algn="just"/>
            <a:r>
              <a:rPr lang="en-US" sz="2400" b="1" dirty="0"/>
              <a:t>We use different protocols to connect to different server for different purposes using different TCP/IP based protocols. All the above said protocols are predefined protocols.</a:t>
            </a:r>
            <a:endParaRPr lang="en-IN" sz="2400" b="1" dirty="0"/>
          </a:p>
        </p:txBody>
      </p:sp>
      <p:sp>
        <p:nvSpPr>
          <p:cNvPr id="8" name="TextBox 7">
            <a:extLst>
              <a:ext uri="{FF2B5EF4-FFF2-40B4-BE49-F238E27FC236}">
                <a16:creationId xmlns:a16="http://schemas.microsoft.com/office/drawing/2014/main" id="{98A1A00B-0BD2-FF1C-5EE1-066C54FAC95C}"/>
              </a:ext>
            </a:extLst>
          </p:cNvPr>
          <p:cNvSpPr txBox="1"/>
          <p:nvPr/>
        </p:nvSpPr>
        <p:spPr>
          <a:xfrm>
            <a:off x="1294196" y="2114498"/>
            <a:ext cx="7974128" cy="4154984"/>
          </a:xfrm>
          <a:prstGeom prst="rect">
            <a:avLst/>
          </a:prstGeom>
          <a:noFill/>
        </p:spPr>
        <p:txBody>
          <a:bodyPr wrap="square">
            <a:spAutoFit/>
          </a:bodyPr>
          <a:lstStyle/>
          <a:p>
            <a:pPr algn="just"/>
            <a:r>
              <a:rPr lang="en-IN" sz="2400" b="1" dirty="0"/>
              <a:t>Transmission Control Protocol (TCP) is a connection-oriented protocol that provides reliable and ordered delivery of data from one computer to another.</a:t>
            </a:r>
          </a:p>
          <a:p>
            <a:pPr algn="just"/>
            <a:endParaRPr lang="en-IN" sz="2400" b="1" dirty="0"/>
          </a:p>
          <a:p>
            <a:pPr algn="just"/>
            <a:r>
              <a:rPr lang="en-IN" sz="2400" b="1" dirty="0"/>
              <a:t>In other words, TCP is the transport protocol you use whenever you want to ensure that all the bytes you send from one point reach the other completely and in the correct order.</a:t>
            </a:r>
          </a:p>
          <a:p>
            <a:pPr algn="just"/>
            <a:endParaRPr lang="en-IN" sz="2400" b="1" dirty="0"/>
          </a:p>
          <a:p>
            <a:pPr algn="just"/>
            <a:r>
              <a:rPr lang="en-IN" sz="2400" b="1" dirty="0"/>
              <a:t>One client program and one server program together called as one protocol.</a:t>
            </a:r>
          </a:p>
        </p:txBody>
      </p:sp>
      <p:sp>
        <p:nvSpPr>
          <p:cNvPr id="4" name="Footer Placeholder 3">
            <a:extLst>
              <a:ext uri="{FF2B5EF4-FFF2-40B4-BE49-F238E27FC236}">
                <a16:creationId xmlns:a16="http://schemas.microsoft.com/office/drawing/2014/main" id="{6D932F5A-5708-CDBE-6D75-47EBD2E2499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72867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53599" y="753728"/>
            <a:ext cx="8890419" cy="5262979"/>
          </a:xfrm>
          <a:prstGeom prst="rect">
            <a:avLst/>
          </a:prstGeom>
          <a:noFill/>
        </p:spPr>
        <p:txBody>
          <a:bodyPr wrap="square">
            <a:spAutoFit/>
          </a:bodyPr>
          <a:lstStyle/>
          <a:p>
            <a:pPr algn="just"/>
            <a:r>
              <a:rPr lang="en-US" sz="2400" b="1" dirty="0"/>
              <a:t>Http protocol comprises of one client/Http client (browser) and one server/Http server (web server on WWW machines)</a:t>
            </a:r>
          </a:p>
          <a:p>
            <a:pPr algn="just"/>
            <a:r>
              <a:rPr lang="en-US" sz="2400" b="1" dirty="0"/>
              <a:t>These two together called as Http protocol. That means two - client and server programs are together called as protocol.</a:t>
            </a:r>
          </a:p>
          <a:p>
            <a:pPr algn="just"/>
            <a:endParaRPr lang="en-US" sz="2400" b="1" dirty="0"/>
          </a:p>
          <a:p>
            <a:pPr algn="just"/>
            <a:r>
              <a:rPr lang="en-US" sz="2400" b="1" dirty="0"/>
              <a:t>To implement custom protocols we need to use ServerSocket and Socket classes.</a:t>
            </a:r>
          </a:p>
          <a:p>
            <a:pPr algn="just"/>
            <a:endParaRPr lang="en-US" sz="2400" b="1" dirty="0"/>
          </a:p>
          <a:p>
            <a:pPr algn="just"/>
            <a:r>
              <a:rPr lang="en-US" sz="2400" b="1" dirty="0"/>
              <a:t>In java.net package ServerSocket and Socket named two classes are given to implement TCP/IP protocol. ServerSocket class is also called as </a:t>
            </a:r>
            <a:r>
              <a:rPr lang="en-US" sz="2400" b="1" dirty="0" err="1"/>
              <a:t>ListenerSocket</a:t>
            </a:r>
            <a:r>
              <a:rPr lang="en-US" sz="2400" b="1" dirty="0"/>
              <a:t> class because it binds on to one port, listens for client requests, for each Socket client request it creates one Socket object on server system through which actual communication between client and server will take place.</a:t>
            </a:r>
            <a:endParaRPr lang="en-IN" sz="2400" b="1" dirty="0"/>
          </a:p>
        </p:txBody>
      </p:sp>
      <p:sp>
        <p:nvSpPr>
          <p:cNvPr id="4" name="Footer Placeholder 3">
            <a:extLst>
              <a:ext uri="{FF2B5EF4-FFF2-40B4-BE49-F238E27FC236}">
                <a16:creationId xmlns:a16="http://schemas.microsoft.com/office/drawing/2014/main" id="{9053037F-288F-26A7-19F6-CA4506FB6C9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432138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396566" y="713040"/>
            <a:ext cx="8890419" cy="1569660"/>
          </a:xfrm>
          <a:prstGeom prst="rect">
            <a:avLst/>
          </a:prstGeom>
          <a:noFill/>
        </p:spPr>
        <p:txBody>
          <a:bodyPr wrap="square">
            <a:spAutoFit/>
          </a:bodyPr>
          <a:lstStyle/>
          <a:p>
            <a:pPr algn="just"/>
            <a:r>
              <a:rPr lang="en-US" sz="2400" b="1" u="sng" dirty="0"/>
              <a:t>ServerSocket class</a:t>
            </a:r>
          </a:p>
          <a:p>
            <a:pPr algn="just"/>
            <a:r>
              <a:rPr lang="en-US" sz="2400" b="1" dirty="0"/>
              <a:t>This class is used to run on machine which is intended as server. To run ServerSocket port number is required as argument. We can give any port from 128 - 65535 (because 0-127 ports are reserved ports).</a:t>
            </a:r>
          </a:p>
        </p:txBody>
      </p:sp>
      <p:sp>
        <p:nvSpPr>
          <p:cNvPr id="7" name="TextBox 6">
            <a:extLst>
              <a:ext uri="{FF2B5EF4-FFF2-40B4-BE49-F238E27FC236}">
                <a16:creationId xmlns:a16="http://schemas.microsoft.com/office/drawing/2014/main" id="{6F786F4F-C0F6-9D3F-B771-FB3AF7EF2606}"/>
              </a:ext>
            </a:extLst>
          </p:cNvPr>
          <p:cNvSpPr txBox="1"/>
          <p:nvPr/>
        </p:nvSpPr>
        <p:spPr>
          <a:xfrm>
            <a:off x="828675" y="2272796"/>
            <a:ext cx="8301038" cy="4093428"/>
          </a:xfrm>
          <a:prstGeom prst="rect">
            <a:avLst/>
          </a:prstGeom>
          <a:noFill/>
        </p:spPr>
        <p:txBody>
          <a:bodyPr wrap="square">
            <a:spAutoFit/>
          </a:bodyPr>
          <a:lstStyle/>
          <a:p>
            <a:r>
              <a:rPr lang="en-IN" sz="2000" b="1" u="sng" dirty="0"/>
              <a:t>ServerSocket class constructors &amp; methods:</a:t>
            </a:r>
          </a:p>
          <a:p>
            <a:r>
              <a:rPr lang="en-IN" sz="2000" b="1" dirty="0"/>
              <a:t>ServerSocket(int port)</a:t>
            </a:r>
          </a:p>
          <a:p>
            <a:r>
              <a:rPr lang="en-IN" sz="2000" b="1" dirty="0"/>
              <a:t>	binds ServerSocket on given port number </a:t>
            </a:r>
          </a:p>
          <a:p>
            <a:r>
              <a:rPr lang="en-IN" sz="2000" b="1" dirty="0"/>
              <a:t>Socket accept() </a:t>
            </a:r>
          </a:p>
          <a:p>
            <a:r>
              <a:rPr lang="en-IN" sz="2000" b="1" dirty="0"/>
              <a:t>	this method accepts client request on server, creates a Socket object for client on server.</a:t>
            </a:r>
          </a:p>
          <a:p>
            <a:r>
              <a:rPr lang="en-IN" sz="2000" b="1" dirty="0"/>
              <a:t>InetAddress </a:t>
            </a:r>
            <a:r>
              <a:rPr lang="en-IN" sz="2000" b="1" dirty="0" err="1"/>
              <a:t>getInetAddress</a:t>
            </a:r>
            <a:r>
              <a:rPr lang="en-IN" sz="2000" b="1" dirty="0"/>
              <a:t>()</a:t>
            </a:r>
          </a:p>
          <a:p>
            <a:r>
              <a:rPr lang="en-IN" sz="2000" b="1" dirty="0"/>
              <a:t>	returns InetAddress object of the machine on which current ServerSocket is running</a:t>
            </a:r>
          </a:p>
          <a:p>
            <a:r>
              <a:rPr lang="en-IN" sz="2000" b="1" dirty="0"/>
              <a:t>int </a:t>
            </a:r>
            <a:r>
              <a:rPr lang="en-IN" sz="2000" b="1" dirty="0" err="1"/>
              <a:t>getLocalPort</a:t>
            </a:r>
            <a:r>
              <a:rPr lang="en-IN" sz="2000" b="1" dirty="0"/>
              <a:t>()</a:t>
            </a:r>
          </a:p>
          <a:p>
            <a:r>
              <a:rPr lang="en-IN" sz="2000" b="1" dirty="0"/>
              <a:t>	returns port number of which ServerSocket is running</a:t>
            </a:r>
          </a:p>
          <a:p>
            <a:r>
              <a:rPr lang="en-IN" sz="2000" b="1" dirty="0"/>
              <a:t>close()</a:t>
            </a:r>
          </a:p>
          <a:p>
            <a:r>
              <a:rPr lang="en-IN" sz="2000" b="1" dirty="0"/>
              <a:t>	closes ServerSocket object</a:t>
            </a:r>
          </a:p>
        </p:txBody>
      </p:sp>
      <p:sp>
        <p:nvSpPr>
          <p:cNvPr id="4" name="Footer Placeholder 3">
            <a:extLst>
              <a:ext uri="{FF2B5EF4-FFF2-40B4-BE49-F238E27FC236}">
                <a16:creationId xmlns:a16="http://schemas.microsoft.com/office/drawing/2014/main" id="{D8671D5A-52FD-2B2C-DFF2-1345DDA70C4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29339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396566" y="713040"/>
            <a:ext cx="8890419" cy="5324535"/>
          </a:xfrm>
          <a:prstGeom prst="rect">
            <a:avLst/>
          </a:prstGeom>
          <a:noFill/>
        </p:spPr>
        <p:txBody>
          <a:bodyPr wrap="square">
            <a:spAutoFit/>
          </a:bodyPr>
          <a:lstStyle/>
          <a:p>
            <a:pPr algn="just"/>
            <a:r>
              <a:rPr lang="en-US" sz="2000" b="1" u="sng" dirty="0"/>
              <a:t>Socket class</a:t>
            </a:r>
          </a:p>
          <a:p>
            <a:pPr algn="just"/>
            <a:r>
              <a:rPr lang="en-US" sz="2000" b="1" dirty="0"/>
              <a:t>This class is used to run on machine which is intended as client. To run Socket both hostname and port number are required as arguments.</a:t>
            </a:r>
          </a:p>
          <a:p>
            <a:pPr algn="just"/>
            <a:endParaRPr lang="en-US" sz="2000" b="1" dirty="0"/>
          </a:p>
          <a:p>
            <a:pPr algn="just"/>
            <a:r>
              <a:rPr lang="en-US" sz="2000" b="1" dirty="0"/>
              <a:t>Socket(String </a:t>
            </a:r>
            <a:r>
              <a:rPr lang="en-US" sz="2000" b="1" dirty="0" err="1"/>
              <a:t>hostName</a:t>
            </a:r>
            <a:r>
              <a:rPr lang="en-US" sz="2000" b="1" dirty="0"/>
              <a:t>, int port) </a:t>
            </a:r>
          </a:p>
          <a:p>
            <a:pPr algn="just"/>
            <a:r>
              <a:rPr lang="en-US" sz="2000" b="1" dirty="0"/>
              <a:t>	binds ServerSocket on given port number </a:t>
            </a:r>
          </a:p>
          <a:p>
            <a:pPr algn="just"/>
            <a:r>
              <a:rPr lang="en-US" sz="2000" b="1" dirty="0" err="1"/>
              <a:t>OutputStream</a:t>
            </a:r>
            <a:r>
              <a:rPr lang="en-US" sz="2000" b="1" dirty="0"/>
              <a:t> </a:t>
            </a:r>
            <a:r>
              <a:rPr lang="en-US" sz="2000" b="1" dirty="0" err="1"/>
              <a:t>getOutputStream</a:t>
            </a:r>
            <a:r>
              <a:rPr lang="en-US" sz="2000" b="1" dirty="0"/>
              <a:t>()</a:t>
            </a:r>
          </a:p>
          <a:p>
            <a:pPr algn="just"/>
            <a:r>
              <a:rPr lang="en-US" sz="2000" b="1" dirty="0"/>
              <a:t>	returns </a:t>
            </a:r>
            <a:r>
              <a:rPr lang="en-US" sz="2000" b="1" dirty="0" err="1"/>
              <a:t>OutputStream</a:t>
            </a:r>
            <a:r>
              <a:rPr lang="en-US" sz="2000" b="1" dirty="0"/>
              <a:t> on client system to write request to server</a:t>
            </a:r>
          </a:p>
          <a:p>
            <a:pPr algn="just"/>
            <a:r>
              <a:rPr lang="en-US" sz="2000" b="1" dirty="0" err="1"/>
              <a:t>InputStream</a:t>
            </a:r>
            <a:r>
              <a:rPr lang="en-US" sz="2000" b="1" dirty="0"/>
              <a:t> </a:t>
            </a:r>
            <a:r>
              <a:rPr lang="en-US" sz="2000" b="1" dirty="0" err="1"/>
              <a:t>getInputStream</a:t>
            </a:r>
            <a:r>
              <a:rPr lang="en-US" sz="2000" b="1" dirty="0"/>
              <a:t>()</a:t>
            </a:r>
          </a:p>
          <a:p>
            <a:pPr algn="just"/>
            <a:r>
              <a:rPr lang="en-US" sz="2000" b="1" dirty="0"/>
              <a:t>	returns </a:t>
            </a:r>
            <a:r>
              <a:rPr lang="en-US" sz="2000" b="1" dirty="0" err="1"/>
              <a:t>InputStream</a:t>
            </a:r>
            <a:r>
              <a:rPr lang="en-US" sz="2000" b="1" dirty="0"/>
              <a:t> on client system to read response from server</a:t>
            </a:r>
          </a:p>
          <a:p>
            <a:pPr algn="just"/>
            <a:r>
              <a:rPr lang="en-US" sz="2000" b="1" dirty="0"/>
              <a:t>InetAddress </a:t>
            </a:r>
            <a:r>
              <a:rPr lang="en-US" sz="2000" b="1" dirty="0" err="1"/>
              <a:t>getInetAddress</a:t>
            </a:r>
            <a:r>
              <a:rPr lang="en-US" sz="2000" b="1" dirty="0"/>
              <a:t>()</a:t>
            </a:r>
          </a:p>
          <a:p>
            <a:pPr algn="just"/>
            <a:r>
              <a:rPr lang="en-US" sz="2000" b="1" dirty="0"/>
              <a:t>	returns InetAddress object of the machine to which our Socket is connected</a:t>
            </a:r>
          </a:p>
          <a:p>
            <a:pPr algn="just"/>
            <a:r>
              <a:rPr lang="en-US" sz="2000" b="1" dirty="0"/>
              <a:t>int </a:t>
            </a:r>
            <a:r>
              <a:rPr lang="en-US" sz="2000" b="1" dirty="0" err="1"/>
              <a:t>getPort</a:t>
            </a:r>
            <a:r>
              <a:rPr lang="en-US" sz="2000" b="1" dirty="0"/>
              <a:t>()</a:t>
            </a:r>
          </a:p>
          <a:p>
            <a:pPr algn="just"/>
            <a:r>
              <a:rPr lang="en-US" sz="2000" b="1" dirty="0"/>
              <a:t>	returns port number of which Socket is connected on server</a:t>
            </a:r>
          </a:p>
          <a:p>
            <a:pPr algn="just"/>
            <a:r>
              <a:rPr lang="en-US" sz="2000" b="1" dirty="0"/>
              <a:t>close()</a:t>
            </a:r>
          </a:p>
          <a:p>
            <a:pPr algn="just"/>
            <a:r>
              <a:rPr lang="en-US" sz="2000" b="1" dirty="0"/>
              <a:t>	closes Socket object</a:t>
            </a:r>
          </a:p>
        </p:txBody>
      </p:sp>
      <p:sp>
        <p:nvSpPr>
          <p:cNvPr id="4" name="Footer Placeholder 3">
            <a:extLst>
              <a:ext uri="{FF2B5EF4-FFF2-40B4-BE49-F238E27FC236}">
                <a16:creationId xmlns:a16="http://schemas.microsoft.com/office/drawing/2014/main" id="{4BA8660F-D8D2-EEA5-F9DE-81861E6D2F5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87329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396566" y="713040"/>
            <a:ext cx="8890419" cy="5909310"/>
          </a:xfrm>
          <a:prstGeom prst="rect">
            <a:avLst/>
          </a:prstGeom>
          <a:noFill/>
        </p:spPr>
        <p:txBody>
          <a:bodyPr wrap="square">
            <a:spAutoFit/>
          </a:bodyPr>
          <a:lstStyle/>
          <a:p>
            <a:pPr algn="just"/>
            <a:r>
              <a:rPr lang="en-US" sz="1400" b="1" dirty="0"/>
              <a:t>// HelloServer.java</a:t>
            </a:r>
          </a:p>
          <a:p>
            <a:pPr algn="just"/>
            <a:r>
              <a:rPr lang="en-US" sz="1400" b="1" dirty="0"/>
              <a:t>import java.net.*;</a:t>
            </a:r>
          </a:p>
          <a:p>
            <a:pPr algn="just"/>
            <a:r>
              <a:rPr lang="en-US" sz="1400" b="1" dirty="0"/>
              <a:t>import java.io.*;</a:t>
            </a:r>
          </a:p>
          <a:p>
            <a:pPr algn="just"/>
            <a:r>
              <a:rPr lang="en-US" sz="1400" b="1" dirty="0"/>
              <a:t>public class </a:t>
            </a:r>
            <a:r>
              <a:rPr lang="en-US" sz="1400" b="1" dirty="0" err="1"/>
              <a:t>HelloServer</a:t>
            </a:r>
            <a:r>
              <a:rPr lang="en-US" sz="1400" b="1" dirty="0"/>
              <a:t> {</a:t>
            </a:r>
          </a:p>
          <a:p>
            <a:pPr algn="just"/>
            <a:r>
              <a:rPr lang="en-US" sz="1400" b="1" dirty="0"/>
              <a:t>  public static void main(String rags[]) throws Exception {</a:t>
            </a:r>
          </a:p>
          <a:p>
            <a:pPr algn="just"/>
            <a:r>
              <a:rPr lang="en-US" sz="1400" b="1" dirty="0"/>
              <a:t>	// 0 - 65535 ports exist; 0-1023 ports are reserved; remaining are unreserved</a:t>
            </a:r>
          </a:p>
          <a:p>
            <a:pPr algn="just"/>
            <a:r>
              <a:rPr lang="en-US" sz="1400" b="1" dirty="0"/>
              <a:t>	// port number other than 0-65535 causes </a:t>
            </a:r>
            <a:r>
              <a:rPr lang="en-US" sz="1400" b="1" dirty="0" err="1"/>
              <a:t>IllegalArgumentException</a:t>
            </a:r>
            <a:endParaRPr lang="en-US" sz="1400" b="1" dirty="0"/>
          </a:p>
          <a:p>
            <a:pPr algn="just"/>
            <a:r>
              <a:rPr lang="en-US" sz="1400" b="1" dirty="0"/>
              <a:t>    	ServerSocket ss=new ServerSocket(65000);</a:t>
            </a:r>
          </a:p>
          <a:p>
            <a:pPr algn="just"/>
            <a:endParaRPr lang="en-US" sz="1400" b="1" dirty="0"/>
          </a:p>
          <a:p>
            <a:pPr algn="just"/>
            <a:r>
              <a:rPr lang="en-US" sz="1400" b="1" dirty="0"/>
              <a:t>	// the following method waits for the client request</a:t>
            </a:r>
          </a:p>
          <a:p>
            <a:pPr algn="just"/>
            <a:r>
              <a:rPr lang="en-US" sz="1400" b="1" dirty="0"/>
              <a:t>	// a Socket object created on server system for each client</a:t>
            </a:r>
          </a:p>
          <a:p>
            <a:pPr algn="just"/>
            <a:r>
              <a:rPr lang="en-US" sz="1400" b="1" dirty="0"/>
              <a:t>	// a ss object can accepts 50 max number of client requests at a time</a:t>
            </a:r>
          </a:p>
          <a:p>
            <a:pPr algn="just"/>
            <a:r>
              <a:rPr lang="en-US" sz="1400" b="1" dirty="0"/>
              <a:t>    	Socket s=</a:t>
            </a:r>
            <a:r>
              <a:rPr lang="en-US" sz="1400" b="1" dirty="0" err="1"/>
              <a:t>ss.accept</a:t>
            </a:r>
            <a:r>
              <a:rPr lang="en-US" sz="1400" b="1" dirty="0"/>
              <a:t>();</a:t>
            </a:r>
          </a:p>
          <a:p>
            <a:pPr algn="just"/>
            <a:r>
              <a:rPr lang="en-US" sz="1400" b="1" dirty="0"/>
              <a:t>	</a:t>
            </a:r>
          </a:p>
          <a:p>
            <a:pPr algn="just"/>
            <a:r>
              <a:rPr lang="en-US" sz="1400" b="1" dirty="0"/>
              <a:t>	// </a:t>
            </a:r>
            <a:r>
              <a:rPr lang="en-US" sz="1400" b="1" dirty="0" err="1"/>
              <a:t>SocketInputStream</a:t>
            </a:r>
            <a:r>
              <a:rPr lang="en-US" sz="1400" b="1" dirty="0"/>
              <a:t> sis=</a:t>
            </a:r>
            <a:r>
              <a:rPr lang="en-US" sz="1400" b="1" dirty="0" err="1"/>
              <a:t>s.getInputStream</a:t>
            </a:r>
            <a:r>
              <a:rPr lang="en-US" sz="1400" b="1" dirty="0"/>
              <a:t>();</a:t>
            </a:r>
          </a:p>
          <a:p>
            <a:pPr algn="just"/>
            <a:r>
              <a:rPr lang="en-US" sz="1400" b="1" dirty="0"/>
              <a:t>    	</a:t>
            </a:r>
            <a:r>
              <a:rPr lang="en-US" sz="1400" b="1" dirty="0" err="1"/>
              <a:t>DataInputStream</a:t>
            </a:r>
            <a:r>
              <a:rPr lang="en-US" sz="1400" b="1" dirty="0"/>
              <a:t> dis=new </a:t>
            </a:r>
            <a:r>
              <a:rPr lang="en-US" sz="1400" b="1" dirty="0" err="1"/>
              <a:t>DataInputStream</a:t>
            </a:r>
            <a:r>
              <a:rPr lang="en-US" sz="1400" b="1" dirty="0"/>
              <a:t>(</a:t>
            </a:r>
            <a:r>
              <a:rPr lang="en-US" sz="1400" b="1" dirty="0" err="1"/>
              <a:t>s.getInputStream</a:t>
            </a:r>
            <a:r>
              <a:rPr lang="en-US" sz="1400" b="1" dirty="0"/>
              <a:t>());</a:t>
            </a:r>
          </a:p>
          <a:p>
            <a:pPr algn="just"/>
            <a:r>
              <a:rPr lang="en-US" sz="1400" b="1" dirty="0"/>
              <a:t>    	String line=</a:t>
            </a:r>
            <a:r>
              <a:rPr lang="en-US" sz="1400" b="1" dirty="0" err="1"/>
              <a:t>dis.readLine</a:t>
            </a:r>
            <a:r>
              <a:rPr lang="en-US" sz="1400" b="1" dirty="0"/>
              <a:t>();</a:t>
            </a:r>
          </a:p>
          <a:p>
            <a:pPr algn="just"/>
            <a:r>
              <a:rPr lang="en-US" sz="1400" b="1" dirty="0"/>
              <a:t>	</a:t>
            </a:r>
          </a:p>
          <a:p>
            <a:pPr algn="just"/>
            <a:r>
              <a:rPr lang="en-US" sz="1400" b="1" dirty="0"/>
              <a:t>    	line="Hello "+line;</a:t>
            </a:r>
          </a:p>
          <a:p>
            <a:pPr algn="just"/>
            <a:r>
              <a:rPr lang="en-US" sz="1400" b="1" dirty="0"/>
              <a:t>    	</a:t>
            </a:r>
            <a:r>
              <a:rPr lang="en-US" sz="1400" b="1" dirty="0" err="1"/>
              <a:t>PrintStream</a:t>
            </a:r>
            <a:r>
              <a:rPr lang="en-US" sz="1400" b="1" dirty="0"/>
              <a:t> </a:t>
            </a:r>
            <a:r>
              <a:rPr lang="en-US" sz="1400" b="1" dirty="0" err="1"/>
              <a:t>ps</a:t>
            </a:r>
            <a:r>
              <a:rPr lang="en-US" sz="1400" b="1" dirty="0"/>
              <a:t>=new </a:t>
            </a:r>
            <a:r>
              <a:rPr lang="en-US" sz="1400" b="1" dirty="0" err="1"/>
              <a:t>PrintStream</a:t>
            </a:r>
            <a:r>
              <a:rPr lang="en-US" sz="1400" b="1" dirty="0"/>
              <a:t>(</a:t>
            </a:r>
            <a:r>
              <a:rPr lang="en-US" sz="1400" b="1" dirty="0" err="1"/>
              <a:t>s.getOutputStream</a:t>
            </a:r>
            <a:r>
              <a:rPr lang="en-US" sz="1400" b="1" dirty="0"/>
              <a:t>());</a:t>
            </a:r>
          </a:p>
          <a:p>
            <a:pPr algn="just"/>
            <a:r>
              <a:rPr lang="en-US" sz="1400" b="1" dirty="0"/>
              <a:t>    	</a:t>
            </a:r>
            <a:r>
              <a:rPr lang="en-US" sz="1400" b="1" dirty="0" err="1"/>
              <a:t>ps.println</a:t>
            </a:r>
            <a:r>
              <a:rPr lang="en-US" sz="1400" b="1" dirty="0"/>
              <a:t>(line);</a:t>
            </a:r>
          </a:p>
          <a:p>
            <a:pPr algn="just"/>
            <a:r>
              <a:rPr lang="en-US" sz="1400" b="1" dirty="0"/>
              <a:t>	</a:t>
            </a:r>
          </a:p>
          <a:p>
            <a:pPr lvl="2" algn="just"/>
            <a:r>
              <a:rPr lang="en-US" sz="1400" b="1" dirty="0"/>
              <a:t>    </a:t>
            </a:r>
            <a:r>
              <a:rPr lang="en-US" sz="1400" b="1" dirty="0" err="1"/>
              <a:t>ps.close</a:t>
            </a:r>
            <a:r>
              <a:rPr lang="en-US" sz="1400" b="1" dirty="0"/>
              <a:t>();</a:t>
            </a:r>
          </a:p>
          <a:p>
            <a:pPr lvl="2" algn="just"/>
            <a:r>
              <a:rPr lang="en-US" sz="1400" b="1" dirty="0"/>
              <a:t>    </a:t>
            </a:r>
            <a:r>
              <a:rPr lang="en-US" sz="1400" b="1" dirty="0" err="1"/>
              <a:t>dis.close</a:t>
            </a:r>
            <a:r>
              <a:rPr lang="en-US" sz="1400" b="1" dirty="0"/>
              <a:t>();</a:t>
            </a:r>
          </a:p>
          <a:p>
            <a:pPr lvl="2" algn="just"/>
            <a:r>
              <a:rPr lang="en-US" sz="1400" b="1" dirty="0"/>
              <a:t>    </a:t>
            </a:r>
            <a:r>
              <a:rPr lang="en-US" sz="1400" b="1" dirty="0" err="1"/>
              <a:t>s.close</a:t>
            </a:r>
            <a:r>
              <a:rPr lang="en-US" sz="1400" b="1" dirty="0"/>
              <a:t>();</a:t>
            </a:r>
          </a:p>
          <a:p>
            <a:pPr algn="just"/>
            <a:r>
              <a:rPr lang="en-US" sz="1400" b="1" dirty="0"/>
              <a:t>  }</a:t>
            </a:r>
          </a:p>
          <a:p>
            <a:pPr algn="just"/>
            <a:r>
              <a:rPr lang="en-US" sz="1400" b="1" dirty="0"/>
              <a:t>}</a:t>
            </a:r>
          </a:p>
        </p:txBody>
      </p:sp>
      <p:sp>
        <p:nvSpPr>
          <p:cNvPr id="7" name="TextBox 6">
            <a:extLst>
              <a:ext uri="{FF2B5EF4-FFF2-40B4-BE49-F238E27FC236}">
                <a16:creationId xmlns:a16="http://schemas.microsoft.com/office/drawing/2014/main" id="{23A5BFCF-860F-3040-43B2-428EAC8E3C92}"/>
              </a:ext>
            </a:extLst>
          </p:cNvPr>
          <p:cNvSpPr txBox="1"/>
          <p:nvPr/>
        </p:nvSpPr>
        <p:spPr>
          <a:xfrm>
            <a:off x="7385501" y="1970350"/>
            <a:ext cx="3915912" cy="923330"/>
          </a:xfrm>
          <a:prstGeom prst="rect">
            <a:avLst/>
          </a:prstGeom>
          <a:noFill/>
        </p:spPr>
        <p:txBody>
          <a:bodyPr wrap="square">
            <a:spAutoFit/>
          </a:bodyPr>
          <a:lstStyle/>
          <a:p>
            <a:r>
              <a:rPr lang="en-IN" dirty="0" err="1"/>
              <a:t>javac</a:t>
            </a:r>
            <a:r>
              <a:rPr lang="en-IN" dirty="0"/>
              <a:t> *.java</a:t>
            </a:r>
          </a:p>
          <a:p>
            <a:r>
              <a:rPr lang="en-IN" dirty="0"/>
              <a:t>start java </a:t>
            </a:r>
            <a:r>
              <a:rPr lang="en-IN" dirty="0" err="1"/>
              <a:t>HelloServer</a:t>
            </a:r>
            <a:endParaRPr lang="en-IN" dirty="0"/>
          </a:p>
          <a:p>
            <a:r>
              <a:rPr lang="en-IN" dirty="0"/>
              <a:t>java </a:t>
            </a:r>
            <a:r>
              <a:rPr lang="en-IN" dirty="0" err="1"/>
              <a:t>HelloClient</a:t>
            </a:r>
            <a:r>
              <a:rPr lang="en-IN" dirty="0"/>
              <a:t> ActiveNET</a:t>
            </a:r>
          </a:p>
        </p:txBody>
      </p:sp>
      <p:sp>
        <p:nvSpPr>
          <p:cNvPr id="4" name="Footer Placeholder 3">
            <a:extLst>
              <a:ext uri="{FF2B5EF4-FFF2-40B4-BE49-F238E27FC236}">
                <a16:creationId xmlns:a16="http://schemas.microsoft.com/office/drawing/2014/main" id="{8032A560-B71B-42DB-94B7-808D5C12B5D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556189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396566" y="713040"/>
            <a:ext cx="8890419" cy="5262979"/>
          </a:xfrm>
          <a:prstGeom prst="rect">
            <a:avLst/>
          </a:prstGeom>
          <a:noFill/>
        </p:spPr>
        <p:txBody>
          <a:bodyPr wrap="square">
            <a:spAutoFit/>
          </a:bodyPr>
          <a:lstStyle/>
          <a:p>
            <a:pPr algn="just"/>
            <a:r>
              <a:rPr lang="en-US" sz="1600" b="1" dirty="0"/>
              <a:t>// HelloClient.java</a:t>
            </a:r>
          </a:p>
          <a:p>
            <a:pPr algn="just"/>
            <a:r>
              <a:rPr lang="en-US" sz="1600" b="1" dirty="0"/>
              <a:t>import java.net.*;</a:t>
            </a:r>
          </a:p>
          <a:p>
            <a:pPr algn="just"/>
            <a:r>
              <a:rPr lang="en-US" sz="1600" b="1" dirty="0"/>
              <a:t>import java.io.*;</a:t>
            </a:r>
          </a:p>
          <a:p>
            <a:pPr algn="just"/>
            <a:r>
              <a:rPr lang="en-US" sz="1600" b="1" dirty="0"/>
              <a:t>public class </a:t>
            </a:r>
            <a:r>
              <a:rPr lang="en-US" sz="1600" b="1" dirty="0" err="1"/>
              <a:t>HelloClient</a:t>
            </a:r>
            <a:r>
              <a:rPr lang="en-US" sz="1600" b="1" dirty="0"/>
              <a:t> {</a:t>
            </a:r>
          </a:p>
          <a:p>
            <a:pPr algn="just"/>
            <a:r>
              <a:rPr lang="en-US" sz="1600" b="1" dirty="0"/>
              <a:t>  public static void main(String rags[]) throws Exception {</a:t>
            </a:r>
          </a:p>
          <a:p>
            <a:pPr algn="just"/>
            <a:r>
              <a:rPr lang="en-US" sz="1600" b="1" dirty="0"/>
              <a:t>    Socket s=new Socket("localhost", 65000);</a:t>
            </a:r>
          </a:p>
          <a:p>
            <a:pPr algn="just"/>
            <a:r>
              <a:rPr lang="en-US" sz="1600" b="1" dirty="0"/>
              <a:t>	</a:t>
            </a:r>
          </a:p>
          <a:p>
            <a:pPr algn="just"/>
            <a:r>
              <a:rPr lang="en-US" sz="1600" b="1" dirty="0"/>
              <a:t>	// </a:t>
            </a:r>
            <a:r>
              <a:rPr lang="en-US" sz="1600" b="1" dirty="0" err="1"/>
              <a:t>SocketOutputStream</a:t>
            </a:r>
            <a:r>
              <a:rPr lang="en-US" sz="1600" b="1" dirty="0"/>
              <a:t> </a:t>
            </a:r>
            <a:r>
              <a:rPr lang="en-US" sz="1600" b="1" dirty="0" err="1"/>
              <a:t>sos</a:t>
            </a:r>
            <a:r>
              <a:rPr lang="en-US" sz="1600" b="1" dirty="0"/>
              <a:t>=</a:t>
            </a:r>
            <a:r>
              <a:rPr lang="en-US" sz="1600" b="1" dirty="0" err="1"/>
              <a:t>s.getOutputStream</a:t>
            </a:r>
            <a:r>
              <a:rPr lang="en-US" sz="1600" b="1" dirty="0"/>
              <a:t>();</a:t>
            </a:r>
          </a:p>
          <a:p>
            <a:pPr algn="just"/>
            <a:r>
              <a:rPr lang="en-US" sz="1600" b="1" dirty="0"/>
              <a:t>    </a:t>
            </a:r>
            <a:r>
              <a:rPr lang="en-US" sz="1600" b="1" dirty="0" err="1"/>
              <a:t>PrintStream</a:t>
            </a:r>
            <a:r>
              <a:rPr lang="en-US" sz="1600" b="1" dirty="0"/>
              <a:t> </a:t>
            </a:r>
            <a:r>
              <a:rPr lang="en-US" sz="1600" b="1" dirty="0" err="1"/>
              <a:t>ps</a:t>
            </a:r>
            <a:r>
              <a:rPr lang="en-US" sz="1600" b="1" dirty="0"/>
              <a:t>=new </a:t>
            </a:r>
            <a:r>
              <a:rPr lang="en-US" sz="1600" b="1" dirty="0" err="1"/>
              <a:t>PrintStream</a:t>
            </a:r>
            <a:r>
              <a:rPr lang="en-US" sz="1600" b="1" dirty="0"/>
              <a:t>(</a:t>
            </a:r>
            <a:r>
              <a:rPr lang="en-US" sz="1600" b="1" dirty="0" err="1"/>
              <a:t>s.getOutputStream</a:t>
            </a:r>
            <a:r>
              <a:rPr lang="en-US" sz="1600" b="1" dirty="0"/>
              <a:t>());</a:t>
            </a:r>
          </a:p>
          <a:p>
            <a:pPr algn="just"/>
            <a:r>
              <a:rPr lang="en-US" sz="1600" b="1" dirty="0"/>
              <a:t>    </a:t>
            </a:r>
            <a:r>
              <a:rPr lang="en-US" sz="1600" b="1" dirty="0" err="1"/>
              <a:t>ps.println</a:t>
            </a:r>
            <a:r>
              <a:rPr lang="en-US" sz="1600" b="1" dirty="0"/>
              <a:t>(rags[0]);</a:t>
            </a:r>
          </a:p>
          <a:p>
            <a:pPr algn="just"/>
            <a:r>
              <a:rPr lang="en-US" sz="1600" b="1" dirty="0"/>
              <a:t>	// reading some string from command line argument and sending that string to server</a:t>
            </a:r>
          </a:p>
          <a:p>
            <a:pPr algn="just"/>
            <a:r>
              <a:rPr lang="en-US" sz="1600" b="1" dirty="0"/>
              <a:t>	</a:t>
            </a:r>
          </a:p>
          <a:p>
            <a:pPr algn="just"/>
            <a:r>
              <a:rPr lang="en-US" sz="1600" b="1" dirty="0"/>
              <a:t>    </a:t>
            </a:r>
            <a:r>
              <a:rPr lang="en-US" sz="1600" b="1" dirty="0" err="1"/>
              <a:t>DataInputStream</a:t>
            </a:r>
            <a:r>
              <a:rPr lang="en-US" sz="1600" b="1" dirty="0"/>
              <a:t> dis=new </a:t>
            </a:r>
            <a:r>
              <a:rPr lang="en-US" sz="1600" b="1" dirty="0" err="1"/>
              <a:t>DataInputStream</a:t>
            </a:r>
            <a:r>
              <a:rPr lang="en-US" sz="1600" b="1" dirty="0"/>
              <a:t>(</a:t>
            </a:r>
            <a:r>
              <a:rPr lang="en-US" sz="1600" b="1" dirty="0" err="1"/>
              <a:t>s.getInputStream</a:t>
            </a:r>
            <a:r>
              <a:rPr lang="en-US" sz="1600" b="1" dirty="0"/>
              <a:t>());</a:t>
            </a:r>
          </a:p>
          <a:p>
            <a:pPr algn="just"/>
            <a:r>
              <a:rPr lang="en-US" sz="1600" b="1" dirty="0"/>
              <a:t>    String </a:t>
            </a:r>
            <a:r>
              <a:rPr lang="en-US" sz="1600" b="1" dirty="0" err="1"/>
              <a:t>responseText</a:t>
            </a:r>
            <a:r>
              <a:rPr lang="en-US" sz="1600" b="1" dirty="0"/>
              <a:t>=</a:t>
            </a:r>
            <a:r>
              <a:rPr lang="en-US" sz="1600" b="1" dirty="0" err="1"/>
              <a:t>dis.readLine</a:t>
            </a:r>
            <a:r>
              <a:rPr lang="en-US" sz="1600" b="1" dirty="0"/>
              <a:t>();</a:t>
            </a:r>
          </a:p>
          <a:p>
            <a:pPr algn="just"/>
            <a:r>
              <a:rPr lang="en-US" sz="1600" b="1" dirty="0"/>
              <a:t>    </a:t>
            </a:r>
            <a:r>
              <a:rPr lang="en-US" sz="1600" b="1" dirty="0" err="1"/>
              <a:t>System.out.println</a:t>
            </a:r>
            <a:r>
              <a:rPr lang="en-US" sz="1600" b="1" dirty="0"/>
              <a:t>(</a:t>
            </a:r>
            <a:r>
              <a:rPr lang="en-US" sz="1600" b="1" dirty="0" err="1"/>
              <a:t>responseText</a:t>
            </a:r>
            <a:r>
              <a:rPr lang="en-US" sz="1600" b="1" dirty="0"/>
              <a:t>);</a:t>
            </a:r>
          </a:p>
          <a:p>
            <a:pPr algn="just"/>
            <a:r>
              <a:rPr lang="en-US" sz="1600" b="1" dirty="0"/>
              <a:t>	</a:t>
            </a:r>
          </a:p>
          <a:p>
            <a:pPr algn="just"/>
            <a:r>
              <a:rPr lang="en-US" sz="1600" b="1" dirty="0"/>
              <a:t>	</a:t>
            </a:r>
            <a:r>
              <a:rPr lang="en-US" sz="1600" b="1" dirty="0" err="1"/>
              <a:t>dis.close</a:t>
            </a:r>
            <a:r>
              <a:rPr lang="en-US" sz="1600" b="1" dirty="0"/>
              <a:t>();</a:t>
            </a:r>
          </a:p>
          <a:p>
            <a:pPr algn="just"/>
            <a:r>
              <a:rPr lang="en-US" sz="1600" b="1" dirty="0"/>
              <a:t>	</a:t>
            </a:r>
            <a:r>
              <a:rPr lang="en-US" sz="1600" b="1" dirty="0" err="1"/>
              <a:t>ps.close</a:t>
            </a:r>
            <a:r>
              <a:rPr lang="en-US" sz="1600" b="1" dirty="0"/>
              <a:t>();</a:t>
            </a:r>
          </a:p>
          <a:p>
            <a:pPr algn="just"/>
            <a:r>
              <a:rPr lang="en-US" sz="1600" b="1" dirty="0"/>
              <a:t>    </a:t>
            </a:r>
            <a:r>
              <a:rPr lang="en-US" sz="1600" b="1" dirty="0" err="1"/>
              <a:t>s.close</a:t>
            </a:r>
            <a:r>
              <a:rPr lang="en-US" sz="1600" b="1" dirty="0"/>
              <a:t>();</a:t>
            </a:r>
          </a:p>
          <a:p>
            <a:pPr algn="just"/>
            <a:r>
              <a:rPr lang="en-US" sz="1600" b="1" dirty="0"/>
              <a:t>  }</a:t>
            </a:r>
          </a:p>
          <a:p>
            <a:pPr algn="just"/>
            <a:r>
              <a:rPr lang="en-US" sz="1600" b="1" dirty="0"/>
              <a:t>}</a:t>
            </a:r>
          </a:p>
        </p:txBody>
      </p:sp>
      <p:sp>
        <p:nvSpPr>
          <p:cNvPr id="4" name="Footer Placeholder 3">
            <a:extLst>
              <a:ext uri="{FF2B5EF4-FFF2-40B4-BE49-F238E27FC236}">
                <a16:creationId xmlns:a16="http://schemas.microsoft.com/office/drawing/2014/main" id="{084000B6-DA92-529E-6000-6A5EABEB2E0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31740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78169" y="1810165"/>
            <a:ext cx="8890419" cy="1631216"/>
          </a:xfrm>
          <a:prstGeom prst="rect">
            <a:avLst/>
          </a:prstGeom>
          <a:noFill/>
        </p:spPr>
        <p:txBody>
          <a:bodyPr wrap="square">
            <a:spAutoFit/>
          </a:bodyPr>
          <a:lstStyle/>
          <a:p>
            <a:pPr algn="just"/>
            <a:r>
              <a:rPr lang="en-US" sz="2000" b="1" dirty="0"/>
              <a:t>Above </a:t>
            </a:r>
            <a:r>
              <a:rPr lang="en-US" sz="2000" b="1" dirty="0" err="1"/>
              <a:t>HelloServer</a:t>
            </a:r>
            <a:r>
              <a:rPr lang="en-US" sz="2000" b="1" dirty="0"/>
              <a:t> program processes only one client request, once one client request process is completed the server terminates. </a:t>
            </a:r>
          </a:p>
          <a:p>
            <a:pPr algn="just"/>
            <a:endParaRPr lang="en-US" sz="2000" b="1" dirty="0"/>
          </a:p>
          <a:p>
            <a:pPr algn="just"/>
            <a:r>
              <a:rPr lang="en-US" sz="2000" b="1" dirty="0"/>
              <a:t>But we are writing following program there the server will process multiple client requests.</a:t>
            </a:r>
          </a:p>
        </p:txBody>
      </p:sp>
      <p:sp>
        <p:nvSpPr>
          <p:cNvPr id="4" name="Footer Placeholder 3">
            <a:extLst>
              <a:ext uri="{FF2B5EF4-FFF2-40B4-BE49-F238E27FC236}">
                <a16:creationId xmlns:a16="http://schemas.microsoft.com/office/drawing/2014/main" id="{FBB87B91-09A4-A05C-6F6F-F1C1217DAFF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610471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78169" y="695741"/>
            <a:ext cx="8890419" cy="5632311"/>
          </a:xfrm>
          <a:prstGeom prst="rect">
            <a:avLst/>
          </a:prstGeom>
          <a:noFill/>
        </p:spPr>
        <p:txBody>
          <a:bodyPr wrap="square">
            <a:spAutoFit/>
          </a:bodyPr>
          <a:lstStyle/>
          <a:p>
            <a:pPr algn="just"/>
            <a:r>
              <a:rPr lang="en-US" b="1" dirty="0"/>
              <a:t>// MHelloServer.java</a:t>
            </a:r>
          </a:p>
          <a:p>
            <a:pPr algn="just"/>
            <a:r>
              <a:rPr lang="en-US" b="1" dirty="0"/>
              <a:t>import java.net.*;</a:t>
            </a:r>
          </a:p>
          <a:p>
            <a:pPr algn="just"/>
            <a:r>
              <a:rPr lang="en-US" b="1" dirty="0"/>
              <a:t>import java.io.*;</a:t>
            </a:r>
          </a:p>
          <a:p>
            <a:pPr algn="just"/>
            <a:r>
              <a:rPr lang="en-US" b="1" dirty="0"/>
              <a:t>class </a:t>
            </a:r>
            <a:r>
              <a:rPr lang="en-US" b="1" dirty="0" err="1"/>
              <a:t>MHelloServer</a:t>
            </a:r>
            <a:r>
              <a:rPr lang="en-US" b="1" dirty="0"/>
              <a:t> {</a:t>
            </a:r>
          </a:p>
          <a:p>
            <a:pPr algn="just"/>
            <a:r>
              <a:rPr lang="en-US" b="1" dirty="0"/>
              <a:t>    public static void main(String rags[]) throws Exception {</a:t>
            </a:r>
          </a:p>
          <a:p>
            <a:pPr algn="just"/>
            <a:r>
              <a:rPr lang="en-US" b="1" dirty="0"/>
              <a:t>         ServerSocket ss=new ServerSocket(65000);</a:t>
            </a:r>
          </a:p>
          <a:p>
            <a:pPr algn="just"/>
            <a:endParaRPr lang="en-US" b="1" dirty="0"/>
          </a:p>
          <a:p>
            <a:pPr algn="just"/>
            <a:r>
              <a:rPr lang="en-US" b="1" dirty="0"/>
              <a:t>         // infinite loop</a:t>
            </a:r>
          </a:p>
          <a:p>
            <a:pPr algn="just"/>
            <a:r>
              <a:rPr lang="en-US" b="1" dirty="0"/>
              <a:t>         while(true) {</a:t>
            </a:r>
          </a:p>
          <a:p>
            <a:pPr algn="just"/>
            <a:r>
              <a:rPr lang="en-US" b="1" dirty="0"/>
              <a:t>	Socket s=</a:t>
            </a:r>
            <a:r>
              <a:rPr lang="en-US" b="1" dirty="0" err="1"/>
              <a:t>ss.accept</a:t>
            </a:r>
            <a:r>
              <a:rPr lang="en-US" b="1" dirty="0"/>
              <a:t>(); </a:t>
            </a:r>
          </a:p>
          <a:p>
            <a:pPr algn="just"/>
            <a:r>
              <a:rPr lang="en-US" b="1" dirty="0"/>
              <a:t>			</a:t>
            </a:r>
          </a:p>
          <a:p>
            <a:pPr algn="just"/>
            <a:r>
              <a:rPr lang="en-US" b="1" dirty="0"/>
              <a:t>                    // this program only accepts client requests, but doesn't process request here</a:t>
            </a:r>
          </a:p>
          <a:p>
            <a:pPr algn="just"/>
            <a:r>
              <a:rPr lang="en-US" b="1" dirty="0"/>
              <a:t>	// the request is processed in thread</a:t>
            </a:r>
          </a:p>
          <a:p>
            <a:pPr algn="just"/>
            <a:r>
              <a:rPr lang="en-US" b="1" dirty="0"/>
              <a:t>	// hence for each client we need to create and start one-one thread</a:t>
            </a:r>
          </a:p>
          <a:p>
            <a:pPr algn="just"/>
            <a:r>
              <a:rPr lang="en-US" b="1" dirty="0"/>
              <a:t>			</a:t>
            </a:r>
          </a:p>
          <a:p>
            <a:pPr algn="just"/>
            <a:r>
              <a:rPr lang="en-US" b="1" dirty="0"/>
              <a:t>	</a:t>
            </a:r>
            <a:r>
              <a:rPr lang="en-US" b="1" dirty="0" err="1"/>
              <a:t>HelloThread</a:t>
            </a:r>
            <a:r>
              <a:rPr lang="en-US" b="1" dirty="0"/>
              <a:t> </a:t>
            </a:r>
            <a:r>
              <a:rPr lang="en-US" b="1" dirty="0" err="1"/>
              <a:t>ht</a:t>
            </a:r>
            <a:r>
              <a:rPr lang="en-US" b="1" dirty="0"/>
              <a:t>=new </a:t>
            </a:r>
            <a:r>
              <a:rPr lang="en-US" b="1" dirty="0" err="1"/>
              <a:t>HelloThread</a:t>
            </a:r>
            <a:r>
              <a:rPr lang="en-US" b="1" dirty="0"/>
              <a:t>(s);</a:t>
            </a:r>
          </a:p>
          <a:p>
            <a:pPr algn="just"/>
            <a:r>
              <a:rPr lang="en-US" b="1" dirty="0"/>
              <a:t>	</a:t>
            </a:r>
            <a:r>
              <a:rPr lang="en-US" b="1" dirty="0" err="1"/>
              <a:t>ht.start</a:t>
            </a:r>
            <a:r>
              <a:rPr lang="en-US" b="1" dirty="0"/>
              <a:t>();</a:t>
            </a:r>
          </a:p>
          <a:p>
            <a:pPr algn="just"/>
            <a:r>
              <a:rPr lang="en-US" b="1" dirty="0"/>
              <a:t>         }</a:t>
            </a:r>
          </a:p>
          <a:p>
            <a:pPr algn="just"/>
            <a:r>
              <a:rPr lang="en-US" b="1" dirty="0"/>
              <a:t>    }	</a:t>
            </a:r>
          </a:p>
          <a:p>
            <a:pPr algn="just"/>
            <a:r>
              <a:rPr lang="en-US" b="1" dirty="0"/>
              <a:t>}</a:t>
            </a:r>
          </a:p>
        </p:txBody>
      </p:sp>
      <p:sp>
        <p:nvSpPr>
          <p:cNvPr id="4" name="Footer Placeholder 3">
            <a:extLst>
              <a:ext uri="{FF2B5EF4-FFF2-40B4-BE49-F238E27FC236}">
                <a16:creationId xmlns:a16="http://schemas.microsoft.com/office/drawing/2014/main" id="{ED96EEC9-9515-8241-2608-16FDEC8C9E1E}"/>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233609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78169" y="695741"/>
            <a:ext cx="8890419" cy="5632311"/>
          </a:xfrm>
          <a:prstGeom prst="rect">
            <a:avLst/>
          </a:prstGeom>
          <a:noFill/>
        </p:spPr>
        <p:txBody>
          <a:bodyPr wrap="square">
            <a:spAutoFit/>
          </a:bodyPr>
          <a:lstStyle/>
          <a:p>
            <a:pPr algn="just"/>
            <a:r>
              <a:rPr lang="en-US" b="1" dirty="0"/>
              <a:t>// HelloThread.java</a:t>
            </a:r>
          </a:p>
          <a:p>
            <a:pPr algn="just"/>
            <a:r>
              <a:rPr lang="en-US" b="1" dirty="0"/>
              <a:t>import java.net.*;</a:t>
            </a:r>
          </a:p>
          <a:p>
            <a:pPr algn="just"/>
            <a:r>
              <a:rPr lang="en-US" b="1" dirty="0"/>
              <a:t>import java.io.*;</a:t>
            </a:r>
          </a:p>
          <a:p>
            <a:pPr algn="just"/>
            <a:r>
              <a:rPr lang="en-US" b="1" dirty="0"/>
              <a:t>class </a:t>
            </a:r>
            <a:r>
              <a:rPr lang="en-US" b="1" dirty="0" err="1"/>
              <a:t>HelloThread</a:t>
            </a:r>
            <a:r>
              <a:rPr lang="en-US" b="1" dirty="0"/>
              <a:t> extends Thread {</a:t>
            </a:r>
          </a:p>
          <a:p>
            <a:pPr algn="just"/>
            <a:r>
              <a:rPr lang="en-US" b="1" dirty="0"/>
              <a:t>    Socket s;</a:t>
            </a:r>
          </a:p>
          <a:p>
            <a:pPr algn="just"/>
            <a:r>
              <a:rPr lang="en-US" b="1" dirty="0"/>
              <a:t>    </a:t>
            </a:r>
            <a:r>
              <a:rPr lang="en-US" b="1" dirty="0" err="1"/>
              <a:t>HelloThread</a:t>
            </a:r>
            <a:r>
              <a:rPr lang="en-US" b="1" dirty="0"/>
              <a:t>(Socket s) {</a:t>
            </a:r>
          </a:p>
          <a:p>
            <a:pPr algn="just"/>
            <a:r>
              <a:rPr lang="en-US" b="1" dirty="0"/>
              <a:t>       </a:t>
            </a:r>
            <a:r>
              <a:rPr lang="en-US" b="1" dirty="0" err="1"/>
              <a:t>this.s</a:t>
            </a:r>
            <a:r>
              <a:rPr lang="en-US" b="1" dirty="0"/>
              <a:t>=s;</a:t>
            </a:r>
          </a:p>
          <a:p>
            <a:pPr algn="just"/>
            <a:r>
              <a:rPr lang="en-US" b="1" dirty="0"/>
              <a:t>    }</a:t>
            </a:r>
          </a:p>
          <a:p>
            <a:pPr algn="just"/>
            <a:r>
              <a:rPr lang="en-US" b="1" dirty="0"/>
              <a:t>	</a:t>
            </a:r>
          </a:p>
          <a:p>
            <a:pPr algn="just"/>
            <a:r>
              <a:rPr lang="en-US" b="1" dirty="0"/>
              <a:t>    public void run() {	</a:t>
            </a:r>
          </a:p>
          <a:p>
            <a:pPr algn="just"/>
            <a:r>
              <a:rPr lang="en-US" b="1" dirty="0"/>
              <a:t>       try {</a:t>
            </a:r>
          </a:p>
          <a:p>
            <a:pPr algn="just"/>
            <a:r>
              <a:rPr lang="en-US" b="1" dirty="0"/>
              <a:t>	// read the client request</a:t>
            </a:r>
          </a:p>
          <a:p>
            <a:pPr algn="just"/>
            <a:r>
              <a:rPr lang="en-US" b="1" dirty="0"/>
              <a:t>	</a:t>
            </a:r>
            <a:r>
              <a:rPr lang="en-US" b="1" dirty="0" err="1"/>
              <a:t>InputStream</a:t>
            </a:r>
            <a:r>
              <a:rPr lang="en-US" b="1" dirty="0"/>
              <a:t> in=</a:t>
            </a:r>
            <a:r>
              <a:rPr lang="en-US" b="1" dirty="0" err="1"/>
              <a:t>s.getInputStream</a:t>
            </a:r>
            <a:r>
              <a:rPr lang="en-US" b="1" dirty="0"/>
              <a:t>();</a:t>
            </a:r>
          </a:p>
          <a:p>
            <a:pPr algn="just"/>
            <a:r>
              <a:rPr lang="en-US" b="1" dirty="0"/>
              <a:t>	</a:t>
            </a:r>
            <a:r>
              <a:rPr lang="en-US" b="1" dirty="0" err="1"/>
              <a:t>DataInputStream</a:t>
            </a:r>
            <a:r>
              <a:rPr lang="en-US" b="1" dirty="0"/>
              <a:t> dis=new </a:t>
            </a:r>
            <a:r>
              <a:rPr lang="en-US" b="1" dirty="0" err="1"/>
              <a:t>DataInputStream</a:t>
            </a:r>
            <a:r>
              <a:rPr lang="en-US" b="1" dirty="0"/>
              <a:t>(in);</a:t>
            </a:r>
          </a:p>
          <a:p>
            <a:pPr algn="just"/>
            <a:r>
              <a:rPr lang="en-US" b="1" dirty="0"/>
              <a:t>	String line=</a:t>
            </a:r>
            <a:r>
              <a:rPr lang="en-US" b="1" dirty="0" err="1"/>
              <a:t>dis.readLine</a:t>
            </a:r>
            <a:r>
              <a:rPr lang="en-US" b="1" dirty="0"/>
              <a:t>();</a:t>
            </a:r>
          </a:p>
          <a:p>
            <a:pPr algn="just"/>
            <a:r>
              <a:rPr lang="en-US" b="1" dirty="0"/>
              <a:t>			</a:t>
            </a:r>
          </a:p>
          <a:p>
            <a:pPr algn="just"/>
            <a:r>
              <a:rPr lang="en-US" b="1" dirty="0"/>
              <a:t>	// process client request</a:t>
            </a:r>
          </a:p>
          <a:p>
            <a:pPr algn="just"/>
            <a:r>
              <a:rPr lang="en-US" b="1" dirty="0"/>
              <a:t>	line="Hello "+line;</a:t>
            </a:r>
          </a:p>
          <a:p>
            <a:pPr algn="just"/>
            <a:r>
              <a:rPr lang="en-US" b="1" dirty="0"/>
              <a:t>			</a:t>
            </a:r>
          </a:p>
          <a:p>
            <a:pPr algn="just"/>
            <a:r>
              <a:rPr lang="en-US" b="1" dirty="0"/>
              <a:t>			</a:t>
            </a:r>
          </a:p>
        </p:txBody>
      </p:sp>
      <p:sp>
        <p:nvSpPr>
          <p:cNvPr id="7" name="TextBox 6">
            <a:extLst>
              <a:ext uri="{FF2B5EF4-FFF2-40B4-BE49-F238E27FC236}">
                <a16:creationId xmlns:a16="http://schemas.microsoft.com/office/drawing/2014/main" id="{4827641E-2902-2438-2C1C-1520AEAC12D0}"/>
              </a:ext>
            </a:extLst>
          </p:cNvPr>
          <p:cNvSpPr txBox="1"/>
          <p:nvPr/>
        </p:nvSpPr>
        <p:spPr>
          <a:xfrm>
            <a:off x="5918881" y="899771"/>
            <a:ext cx="4416245" cy="4524315"/>
          </a:xfrm>
          <a:prstGeom prst="rect">
            <a:avLst/>
          </a:prstGeom>
          <a:noFill/>
        </p:spPr>
        <p:txBody>
          <a:bodyPr wrap="square">
            <a:spAutoFit/>
          </a:bodyPr>
          <a:lstStyle/>
          <a:p>
            <a:pPr algn="just"/>
            <a:r>
              <a:rPr lang="en-US" b="1" dirty="0"/>
              <a:t>     // send response back to client</a:t>
            </a:r>
          </a:p>
          <a:p>
            <a:pPr algn="just"/>
            <a:r>
              <a:rPr lang="en-US" b="1" dirty="0"/>
              <a:t>    </a:t>
            </a:r>
            <a:r>
              <a:rPr lang="en-US" b="1" dirty="0" err="1"/>
              <a:t>OutputStream</a:t>
            </a:r>
            <a:r>
              <a:rPr lang="en-US" b="1" dirty="0"/>
              <a:t> out=</a:t>
            </a:r>
            <a:r>
              <a:rPr lang="en-US" b="1" dirty="0" err="1"/>
              <a:t>s.getOutputStream</a:t>
            </a:r>
            <a:r>
              <a:rPr lang="en-US" b="1" dirty="0"/>
              <a:t>();</a:t>
            </a:r>
          </a:p>
          <a:p>
            <a:pPr algn="just"/>
            <a:r>
              <a:rPr lang="en-US" b="1" dirty="0"/>
              <a:t>    </a:t>
            </a:r>
            <a:r>
              <a:rPr lang="en-US" b="1" dirty="0" err="1"/>
              <a:t>PrintStream</a:t>
            </a:r>
            <a:r>
              <a:rPr lang="en-US" b="1" dirty="0"/>
              <a:t> </a:t>
            </a:r>
            <a:r>
              <a:rPr lang="en-US" b="1" dirty="0" err="1"/>
              <a:t>ps</a:t>
            </a:r>
            <a:r>
              <a:rPr lang="en-US" b="1" dirty="0"/>
              <a:t>=new </a:t>
            </a:r>
            <a:r>
              <a:rPr lang="en-US" b="1" dirty="0" err="1"/>
              <a:t>PrintStream</a:t>
            </a:r>
            <a:r>
              <a:rPr lang="en-US" b="1" dirty="0"/>
              <a:t>(out);</a:t>
            </a:r>
          </a:p>
          <a:p>
            <a:pPr algn="just"/>
            <a:r>
              <a:rPr lang="en-US" b="1" dirty="0"/>
              <a:t>    </a:t>
            </a:r>
            <a:r>
              <a:rPr lang="en-US" b="1" dirty="0" err="1"/>
              <a:t>ps.println</a:t>
            </a:r>
            <a:r>
              <a:rPr lang="en-US" b="1" dirty="0"/>
              <a:t>(line);</a:t>
            </a:r>
          </a:p>
          <a:p>
            <a:pPr algn="just"/>
            <a:r>
              <a:rPr lang="en-US" b="1" dirty="0"/>
              <a:t>			</a:t>
            </a:r>
          </a:p>
          <a:p>
            <a:pPr algn="just"/>
            <a:r>
              <a:rPr lang="en-US" b="1" dirty="0"/>
              <a:t>      // close all the objects</a:t>
            </a:r>
          </a:p>
          <a:p>
            <a:pPr algn="just"/>
            <a:r>
              <a:rPr lang="en-US" b="1" dirty="0"/>
              <a:t>      </a:t>
            </a:r>
            <a:r>
              <a:rPr lang="en-US" b="1" dirty="0" err="1"/>
              <a:t>ps.close</a:t>
            </a:r>
            <a:r>
              <a:rPr lang="en-US" b="1" dirty="0"/>
              <a:t>();			</a:t>
            </a:r>
          </a:p>
          <a:p>
            <a:pPr algn="just"/>
            <a:r>
              <a:rPr lang="en-US" b="1" dirty="0"/>
              <a:t>      </a:t>
            </a:r>
            <a:r>
              <a:rPr lang="en-US" b="1" dirty="0" err="1"/>
              <a:t>out.close</a:t>
            </a:r>
            <a:r>
              <a:rPr lang="en-US" b="1" dirty="0"/>
              <a:t>();</a:t>
            </a:r>
          </a:p>
          <a:p>
            <a:pPr algn="just"/>
            <a:r>
              <a:rPr lang="en-US" b="1" dirty="0"/>
              <a:t>      </a:t>
            </a:r>
            <a:r>
              <a:rPr lang="en-US" b="1" dirty="0" err="1"/>
              <a:t>dis.close</a:t>
            </a:r>
            <a:r>
              <a:rPr lang="en-US" b="1" dirty="0"/>
              <a:t>();</a:t>
            </a:r>
          </a:p>
          <a:p>
            <a:pPr algn="just"/>
            <a:r>
              <a:rPr lang="en-US" b="1" dirty="0"/>
              <a:t>      </a:t>
            </a:r>
            <a:r>
              <a:rPr lang="en-US" b="1" dirty="0" err="1"/>
              <a:t>in.close</a:t>
            </a:r>
            <a:r>
              <a:rPr lang="en-US" b="1" dirty="0"/>
              <a:t>();</a:t>
            </a:r>
          </a:p>
          <a:p>
            <a:pPr algn="just"/>
            <a:r>
              <a:rPr lang="en-US" b="1" dirty="0"/>
              <a:t>      </a:t>
            </a:r>
            <a:r>
              <a:rPr lang="en-US" b="1" dirty="0" err="1"/>
              <a:t>s.close</a:t>
            </a:r>
            <a:r>
              <a:rPr lang="en-US" b="1" dirty="0"/>
              <a:t>();</a:t>
            </a:r>
          </a:p>
          <a:p>
            <a:pPr algn="just"/>
            <a:r>
              <a:rPr lang="en-US" b="1" dirty="0"/>
              <a:t>    } catch(Exception e) {</a:t>
            </a:r>
          </a:p>
          <a:p>
            <a:pPr algn="just"/>
            <a:r>
              <a:rPr lang="en-US" b="1" dirty="0"/>
              <a:t>         </a:t>
            </a:r>
            <a:r>
              <a:rPr lang="en-US" b="1" dirty="0" err="1"/>
              <a:t>e.printStackTrace</a:t>
            </a:r>
            <a:r>
              <a:rPr lang="en-US" b="1" dirty="0"/>
              <a:t>();</a:t>
            </a:r>
          </a:p>
          <a:p>
            <a:pPr algn="just"/>
            <a:r>
              <a:rPr lang="en-US" b="1" dirty="0"/>
              <a:t>     }</a:t>
            </a:r>
          </a:p>
          <a:p>
            <a:pPr algn="just"/>
            <a:r>
              <a:rPr lang="en-US" b="1" dirty="0"/>
              <a:t>  }</a:t>
            </a:r>
          </a:p>
          <a:p>
            <a:pPr algn="just"/>
            <a:r>
              <a:rPr lang="en-US" b="1" dirty="0"/>
              <a:t>}</a:t>
            </a:r>
          </a:p>
        </p:txBody>
      </p:sp>
      <p:sp>
        <p:nvSpPr>
          <p:cNvPr id="4" name="Footer Placeholder 3">
            <a:extLst>
              <a:ext uri="{FF2B5EF4-FFF2-40B4-BE49-F238E27FC236}">
                <a16:creationId xmlns:a16="http://schemas.microsoft.com/office/drawing/2014/main" id="{0E6DA61B-0B18-970C-255E-FEFB13B4D18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045616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78169" y="1426090"/>
            <a:ext cx="8890419" cy="2677656"/>
          </a:xfrm>
          <a:prstGeom prst="rect">
            <a:avLst/>
          </a:prstGeom>
          <a:noFill/>
        </p:spPr>
        <p:txBody>
          <a:bodyPr wrap="square">
            <a:spAutoFit/>
          </a:bodyPr>
          <a:lstStyle/>
          <a:p>
            <a:pPr algn="just"/>
            <a:r>
              <a:rPr lang="en-US" sz="2400" b="1" u="sng" dirty="0" err="1"/>
              <a:t>FTPServer</a:t>
            </a:r>
            <a:r>
              <a:rPr lang="en-US" sz="2400" b="1" u="sng" dirty="0"/>
              <a:t>, </a:t>
            </a:r>
            <a:r>
              <a:rPr lang="en-US" sz="2400" b="1" u="sng" dirty="0" err="1"/>
              <a:t>FTPClient</a:t>
            </a:r>
            <a:r>
              <a:rPr lang="en-US" sz="2400" b="1" u="sng" dirty="0"/>
              <a:t> and Multithreaded </a:t>
            </a:r>
            <a:r>
              <a:rPr lang="en-US" sz="2400" b="1" u="sng" dirty="0" err="1"/>
              <a:t>FTPServer</a:t>
            </a:r>
            <a:endParaRPr lang="en-US" sz="2400" b="1" u="sng" dirty="0"/>
          </a:p>
          <a:p>
            <a:pPr marL="342900" indent="-342900" algn="just">
              <a:buFont typeface="+mj-lt"/>
              <a:buAutoNum type="arabicPeriod"/>
            </a:pPr>
            <a:r>
              <a:rPr lang="en-US" sz="2400" b="1" dirty="0"/>
              <a:t>Client establishes Socket connection to server</a:t>
            </a:r>
          </a:p>
          <a:p>
            <a:pPr marL="342900" indent="-342900" algn="just">
              <a:buFont typeface="+mj-lt"/>
              <a:buAutoNum type="arabicPeriod"/>
            </a:pPr>
            <a:r>
              <a:rPr lang="en-US" sz="2400" b="1" dirty="0"/>
              <a:t>Client wants to reads one file from the server, client sends filename/</a:t>
            </a:r>
            <a:r>
              <a:rPr lang="en-US" sz="2400" b="1" dirty="0" err="1"/>
              <a:t>filepath</a:t>
            </a:r>
            <a:r>
              <a:rPr lang="en-US" sz="2400" b="1" dirty="0"/>
              <a:t> onto server</a:t>
            </a:r>
          </a:p>
          <a:p>
            <a:pPr marL="342900" indent="-342900" algn="just">
              <a:buFont typeface="+mj-lt"/>
              <a:buAutoNum type="arabicPeriod"/>
            </a:pPr>
            <a:r>
              <a:rPr lang="en-US" sz="2400" b="1" dirty="0"/>
              <a:t>Server opens the file, send file content line-line</a:t>
            </a:r>
          </a:p>
          <a:p>
            <a:pPr marL="342900" indent="-342900" algn="just">
              <a:buFont typeface="+mj-lt"/>
              <a:buAutoNum type="arabicPeriod"/>
            </a:pPr>
            <a:r>
              <a:rPr lang="en-US" sz="2400" b="1" dirty="0"/>
              <a:t>Client must read line-line until line reaches to null and print it on console or write it into another local file	</a:t>
            </a:r>
          </a:p>
        </p:txBody>
      </p:sp>
      <p:sp>
        <p:nvSpPr>
          <p:cNvPr id="4" name="Footer Placeholder 3">
            <a:extLst>
              <a:ext uri="{FF2B5EF4-FFF2-40B4-BE49-F238E27FC236}">
                <a16:creationId xmlns:a16="http://schemas.microsoft.com/office/drawing/2014/main" id="{3B2B6261-1CBD-CB12-98F5-5EEDD77F2FC8}"/>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876639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78169" y="1011744"/>
            <a:ext cx="8890419" cy="4524315"/>
          </a:xfrm>
          <a:prstGeom prst="rect">
            <a:avLst/>
          </a:prstGeom>
          <a:noFill/>
        </p:spPr>
        <p:txBody>
          <a:bodyPr wrap="square">
            <a:spAutoFit/>
          </a:bodyPr>
          <a:lstStyle/>
          <a:p>
            <a:pPr algn="just"/>
            <a:r>
              <a:rPr lang="en-US" sz="2400" b="1" u="sng" dirty="0" err="1"/>
              <a:t>FTPServer</a:t>
            </a:r>
            <a:r>
              <a:rPr lang="en-US" sz="2400" b="1" u="sng" dirty="0"/>
              <a:t>:</a:t>
            </a:r>
          </a:p>
          <a:p>
            <a:pPr marL="457200" indent="-457200" algn="just">
              <a:buFont typeface="+mj-lt"/>
              <a:buAutoNum type="arabicPeriod"/>
            </a:pPr>
            <a:r>
              <a:rPr lang="en-US" sz="2400" b="1" dirty="0"/>
              <a:t>Create ServerSocket that runs on port number 21</a:t>
            </a:r>
          </a:p>
          <a:p>
            <a:pPr marL="457200" indent="-457200" algn="just">
              <a:buFont typeface="+mj-lt"/>
              <a:buAutoNum type="arabicPeriod"/>
            </a:pPr>
            <a:r>
              <a:rPr lang="en-US" sz="2400" b="1" dirty="0"/>
              <a:t>ss should wait for the client request</a:t>
            </a:r>
          </a:p>
          <a:p>
            <a:pPr marL="457200" indent="-457200" algn="just">
              <a:buFont typeface="+mj-lt"/>
              <a:buAutoNum type="arabicPeriod"/>
            </a:pPr>
            <a:r>
              <a:rPr lang="en-US" sz="2400" b="1" dirty="0"/>
              <a:t>The moment client request comes ss will create a Socket object on server system for client</a:t>
            </a:r>
          </a:p>
          <a:p>
            <a:pPr marL="457200" indent="-457200" algn="just">
              <a:buFont typeface="+mj-lt"/>
              <a:buAutoNum type="arabicPeriod"/>
            </a:pPr>
            <a:endParaRPr lang="en-US" sz="2400" b="1" dirty="0"/>
          </a:p>
          <a:p>
            <a:pPr marL="457200" indent="-457200" algn="just">
              <a:buFont typeface="+mj-lt"/>
              <a:buAutoNum type="arabicPeriod"/>
            </a:pPr>
            <a:r>
              <a:rPr lang="en-US" sz="2400" b="1" dirty="0"/>
              <a:t>Server should read </a:t>
            </a:r>
            <a:r>
              <a:rPr lang="en-US" sz="2400" b="1" dirty="0" err="1"/>
              <a:t>filepath</a:t>
            </a:r>
            <a:r>
              <a:rPr lang="en-US" sz="2400" b="1" dirty="0"/>
              <a:t> sent by client from </a:t>
            </a:r>
            <a:r>
              <a:rPr lang="en-US" sz="2400" b="1" dirty="0" err="1"/>
              <a:t>s.inputstream</a:t>
            </a:r>
            <a:endParaRPr lang="en-US" sz="2400" b="1" dirty="0"/>
          </a:p>
          <a:p>
            <a:pPr marL="457200" indent="-457200" algn="just">
              <a:buFont typeface="+mj-lt"/>
              <a:buAutoNum type="arabicPeriod"/>
            </a:pPr>
            <a:r>
              <a:rPr lang="en-US" sz="2400" b="1" dirty="0"/>
              <a:t>Using </a:t>
            </a:r>
            <a:r>
              <a:rPr lang="en-US" sz="2400" b="1" dirty="0" err="1"/>
              <a:t>FileInputStream</a:t>
            </a:r>
            <a:r>
              <a:rPr lang="en-US" sz="2400" b="1" dirty="0"/>
              <a:t> and </a:t>
            </a:r>
            <a:r>
              <a:rPr lang="en-US" sz="2400" b="1" dirty="0" err="1"/>
              <a:t>DataInputStream</a:t>
            </a:r>
            <a:r>
              <a:rPr lang="en-US" sz="2400" b="1" dirty="0"/>
              <a:t> server must line-line (use while loop and str!=null) from file</a:t>
            </a:r>
          </a:p>
          <a:p>
            <a:pPr marL="457200" indent="-457200" algn="just">
              <a:buFont typeface="+mj-lt"/>
              <a:buAutoNum type="arabicPeriod"/>
            </a:pPr>
            <a:r>
              <a:rPr lang="en-US" sz="2400" b="1" dirty="0"/>
              <a:t>Such a each line must be send to client via </a:t>
            </a:r>
            <a:r>
              <a:rPr lang="en-US" sz="2400" b="1" dirty="0" err="1"/>
              <a:t>s.outputstream</a:t>
            </a:r>
            <a:endParaRPr lang="en-US" sz="2400" b="1" dirty="0"/>
          </a:p>
          <a:p>
            <a:pPr marL="457200" indent="-457200" algn="just">
              <a:buFont typeface="+mj-lt"/>
              <a:buAutoNum type="arabicPeriod"/>
            </a:pPr>
            <a:endParaRPr lang="en-US" sz="2400" b="1" dirty="0"/>
          </a:p>
          <a:p>
            <a:pPr marL="457200" indent="-457200" algn="just">
              <a:buFont typeface="+mj-lt"/>
              <a:buAutoNum type="arabicPeriod"/>
            </a:pPr>
            <a:r>
              <a:rPr lang="en-US" sz="2400" b="1" dirty="0"/>
              <a:t>close all the streams and socket</a:t>
            </a:r>
          </a:p>
        </p:txBody>
      </p:sp>
      <p:sp>
        <p:nvSpPr>
          <p:cNvPr id="4" name="Footer Placeholder 3">
            <a:extLst>
              <a:ext uri="{FF2B5EF4-FFF2-40B4-BE49-F238E27FC236}">
                <a16:creationId xmlns:a16="http://schemas.microsoft.com/office/drawing/2014/main" id="{D2290635-C8A6-76CC-3AC8-C0DE5E25A6B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4717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78169" y="1011744"/>
            <a:ext cx="8890419" cy="4893647"/>
          </a:xfrm>
          <a:prstGeom prst="rect">
            <a:avLst/>
          </a:prstGeom>
          <a:noFill/>
        </p:spPr>
        <p:txBody>
          <a:bodyPr wrap="square">
            <a:spAutoFit/>
          </a:bodyPr>
          <a:lstStyle/>
          <a:p>
            <a:pPr algn="just"/>
            <a:r>
              <a:rPr lang="en-US" sz="2400" b="1" u="sng" dirty="0" err="1"/>
              <a:t>FTPClient</a:t>
            </a:r>
            <a:r>
              <a:rPr lang="en-US" sz="2400" b="1" u="sng" dirty="0"/>
              <a:t>:</a:t>
            </a:r>
          </a:p>
          <a:p>
            <a:pPr marL="457200" indent="-457200" algn="just">
              <a:buFont typeface="+mj-lt"/>
              <a:buAutoNum type="arabicPeriod"/>
            </a:pPr>
            <a:r>
              <a:rPr lang="en-US" sz="2400" b="1" dirty="0"/>
              <a:t>Client should request Socket object with hostname and port number, Socket object connects to ServerSocket, that </a:t>
            </a:r>
            <a:r>
              <a:rPr lang="en-US" sz="2400" b="1" dirty="0" err="1"/>
              <a:t>inturn</a:t>
            </a:r>
            <a:r>
              <a:rPr lang="en-US" sz="2400" b="1" dirty="0"/>
              <a:t> creates one Socket object for client on server</a:t>
            </a:r>
          </a:p>
          <a:p>
            <a:pPr marL="457200" indent="-457200" algn="just">
              <a:buFont typeface="+mj-lt"/>
              <a:buAutoNum type="arabicPeriod"/>
            </a:pPr>
            <a:r>
              <a:rPr lang="en-US" sz="2400" b="1" dirty="0"/>
              <a:t>Client side Socket now connects/points to Socket object on server</a:t>
            </a:r>
          </a:p>
          <a:p>
            <a:pPr marL="457200" indent="-457200" algn="just">
              <a:buFont typeface="+mj-lt"/>
              <a:buAutoNum type="arabicPeriod"/>
            </a:pPr>
            <a:endParaRPr lang="en-US" sz="2400" b="1" dirty="0"/>
          </a:p>
          <a:p>
            <a:pPr marL="457200" indent="-457200" algn="just">
              <a:buFont typeface="+mj-lt"/>
              <a:buAutoNum type="arabicPeriod"/>
            </a:pPr>
            <a:r>
              <a:rPr lang="en-US" sz="2400" b="1" dirty="0"/>
              <a:t>Client should sent filename or file path to server via </a:t>
            </a:r>
            <a:r>
              <a:rPr lang="en-US" sz="2400" b="1" dirty="0" err="1"/>
              <a:t>socket.outputstream</a:t>
            </a:r>
            <a:endParaRPr lang="en-US" sz="2400" b="1" dirty="0"/>
          </a:p>
          <a:p>
            <a:pPr marL="457200" indent="-457200" algn="just">
              <a:buFont typeface="+mj-lt"/>
              <a:buAutoNum type="arabicPeriod"/>
            </a:pPr>
            <a:r>
              <a:rPr lang="en-US" sz="2400" b="1" dirty="0"/>
              <a:t>Client should read file content line-line from server using while loop and str!=null using </a:t>
            </a:r>
            <a:r>
              <a:rPr lang="en-US" sz="2400" b="1" dirty="0" err="1"/>
              <a:t>s.inputstream</a:t>
            </a:r>
            <a:endParaRPr lang="en-US" sz="2400" b="1" dirty="0"/>
          </a:p>
          <a:p>
            <a:pPr marL="457200" indent="-457200" algn="just">
              <a:buFont typeface="+mj-lt"/>
              <a:buAutoNum type="arabicPeriod"/>
            </a:pPr>
            <a:endParaRPr lang="en-US" sz="2400" b="1" dirty="0"/>
          </a:p>
          <a:p>
            <a:pPr marL="457200" indent="-457200" algn="just">
              <a:buFont typeface="+mj-lt"/>
              <a:buAutoNum type="arabicPeriod"/>
            </a:pPr>
            <a:r>
              <a:rPr lang="en-US" sz="2400" b="1" dirty="0"/>
              <a:t>close all the streams and socket</a:t>
            </a:r>
          </a:p>
        </p:txBody>
      </p:sp>
      <p:sp>
        <p:nvSpPr>
          <p:cNvPr id="4" name="Footer Placeholder 3">
            <a:extLst>
              <a:ext uri="{FF2B5EF4-FFF2-40B4-BE49-F238E27FC236}">
                <a16:creationId xmlns:a16="http://schemas.microsoft.com/office/drawing/2014/main" id="{751358E1-F011-0511-58BF-B09EC3356A7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09692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463881" y="640264"/>
            <a:ext cx="8890419" cy="6124754"/>
          </a:xfrm>
          <a:prstGeom prst="rect">
            <a:avLst/>
          </a:prstGeom>
          <a:noFill/>
        </p:spPr>
        <p:txBody>
          <a:bodyPr wrap="square">
            <a:spAutoFit/>
          </a:bodyPr>
          <a:lstStyle/>
          <a:p>
            <a:pPr algn="just"/>
            <a:r>
              <a:rPr lang="en-US" sz="1400" b="1" dirty="0"/>
              <a:t>// FTPServer.java</a:t>
            </a:r>
          </a:p>
          <a:p>
            <a:pPr algn="just"/>
            <a:r>
              <a:rPr lang="en-US" sz="1400" b="1" dirty="0"/>
              <a:t>import java.net.*;</a:t>
            </a:r>
          </a:p>
          <a:p>
            <a:pPr algn="just"/>
            <a:r>
              <a:rPr lang="en-US" sz="1400" b="1" dirty="0"/>
              <a:t>import java.io.*;</a:t>
            </a:r>
          </a:p>
          <a:p>
            <a:pPr algn="just"/>
            <a:r>
              <a:rPr lang="en-US" sz="1400" b="1" dirty="0"/>
              <a:t>public class </a:t>
            </a:r>
            <a:r>
              <a:rPr lang="en-US" sz="1400" b="1" dirty="0" err="1"/>
              <a:t>FTPServer</a:t>
            </a:r>
            <a:r>
              <a:rPr lang="en-US" sz="1400" b="1" dirty="0"/>
              <a:t> {</a:t>
            </a:r>
          </a:p>
          <a:p>
            <a:pPr algn="just"/>
            <a:r>
              <a:rPr lang="en-US" sz="1400" b="1" dirty="0"/>
              <a:t>  public static void main(String rags[]) throws Exception {</a:t>
            </a:r>
          </a:p>
          <a:p>
            <a:pPr algn="just"/>
            <a:r>
              <a:rPr lang="en-US" sz="1400" b="1" dirty="0"/>
              <a:t>    ServerSocket ss=new ServerSocket(21);</a:t>
            </a:r>
          </a:p>
          <a:p>
            <a:pPr algn="just"/>
            <a:r>
              <a:rPr lang="en-US" sz="1400" b="1" dirty="0"/>
              <a:t>    Socket s=</a:t>
            </a:r>
            <a:r>
              <a:rPr lang="en-US" sz="1400" b="1" dirty="0" err="1"/>
              <a:t>ss.accept</a:t>
            </a:r>
            <a:r>
              <a:rPr lang="en-US" sz="1400" b="1" dirty="0"/>
              <a:t>();</a:t>
            </a:r>
          </a:p>
          <a:p>
            <a:pPr algn="just"/>
            <a:endParaRPr lang="en-US" sz="1400" b="1" dirty="0"/>
          </a:p>
          <a:p>
            <a:pPr algn="just"/>
            <a:r>
              <a:rPr lang="en-US" sz="1400" b="1" dirty="0"/>
              <a:t>    </a:t>
            </a:r>
            <a:r>
              <a:rPr lang="en-US" sz="1400" b="1" dirty="0" err="1"/>
              <a:t>DataInputStream</a:t>
            </a:r>
            <a:r>
              <a:rPr lang="en-US" sz="1400" b="1" dirty="0"/>
              <a:t> dis=new </a:t>
            </a:r>
            <a:r>
              <a:rPr lang="en-US" sz="1400" b="1" dirty="0" err="1"/>
              <a:t>DataInputStream</a:t>
            </a:r>
            <a:r>
              <a:rPr lang="en-US" sz="1400" b="1" dirty="0"/>
              <a:t>(</a:t>
            </a:r>
            <a:r>
              <a:rPr lang="en-US" sz="1400" b="1" dirty="0" err="1"/>
              <a:t>s.getInputStream</a:t>
            </a:r>
            <a:r>
              <a:rPr lang="en-US" sz="1400" b="1" dirty="0"/>
              <a:t>());</a:t>
            </a:r>
          </a:p>
          <a:p>
            <a:pPr algn="just"/>
            <a:r>
              <a:rPr lang="en-US" sz="1400" b="1" dirty="0"/>
              <a:t>    String </a:t>
            </a:r>
            <a:r>
              <a:rPr lang="en-US" sz="1400" b="1" dirty="0" err="1"/>
              <a:t>fileName</a:t>
            </a:r>
            <a:r>
              <a:rPr lang="en-US" sz="1400" b="1" dirty="0"/>
              <a:t>=</a:t>
            </a:r>
            <a:r>
              <a:rPr lang="en-US" sz="1400" b="1" dirty="0" err="1"/>
              <a:t>dis.readLine</a:t>
            </a:r>
            <a:r>
              <a:rPr lang="en-US" sz="1400" b="1" dirty="0"/>
              <a:t>(); // reading client send filename</a:t>
            </a:r>
          </a:p>
          <a:p>
            <a:pPr algn="just"/>
            <a:endParaRPr lang="en-US" sz="1400" b="1" dirty="0"/>
          </a:p>
          <a:p>
            <a:pPr algn="just"/>
            <a:r>
              <a:rPr lang="en-US" sz="1400" b="1" dirty="0"/>
              <a:t>    // opening </a:t>
            </a:r>
            <a:r>
              <a:rPr lang="en-US" sz="1400" b="1" dirty="0" err="1"/>
              <a:t>PrintStream</a:t>
            </a:r>
            <a:r>
              <a:rPr lang="en-US" sz="1400" b="1" dirty="0"/>
              <a:t> to write response to client</a:t>
            </a:r>
          </a:p>
          <a:p>
            <a:pPr algn="just"/>
            <a:r>
              <a:rPr lang="en-US" sz="1400" b="1" dirty="0"/>
              <a:t>    </a:t>
            </a:r>
            <a:r>
              <a:rPr lang="en-US" sz="1400" b="1" dirty="0" err="1"/>
              <a:t>PrintStream</a:t>
            </a:r>
            <a:r>
              <a:rPr lang="en-US" sz="1400" b="1" dirty="0"/>
              <a:t> </a:t>
            </a:r>
            <a:r>
              <a:rPr lang="en-US" sz="1400" b="1" dirty="0" err="1"/>
              <a:t>ps</a:t>
            </a:r>
            <a:r>
              <a:rPr lang="en-US" sz="1400" b="1" dirty="0"/>
              <a:t>=new </a:t>
            </a:r>
            <a:r>
              <a:rPr lang="en-US" sz="1400" b="1" dirty="0" err="1"/>
              <a:t>PrintStream</a:t>
            </a:r>
            <a:r>
              <a:rPr lang="en-US" sz="1400" b="1" dirty="0"/>
              <a:t>(</a:t>
            </a:r>
            <a:r>
              <a:rPr lang="en-US" sz="1400" b="1" dirty="0" err="1"/>
              <a:t>s.getOutputStream</a:t>
            </a:r>
            <a:r>
              <a:rPr lang="en-US" sz="1400" b="1" dirty="0"/>
              <a:t>());</a:t>
            </a:r>
          </a:p>
          <a:p>
            <a:pPr algn="just"/>
            <a:endParaRPr lang="en-US" sz="1400" b="1" dirty="0"/>
          </a:p>
          <a:p>
            <a:pPr algn="just"/>
            <a:r>
              <a:rPr lang="en-US" sz="1400" b="1" dirty="0"/>
              <a:t>    // opening </a:t>
            </a:r>
            <a:r>
              <a:rPr lang="en-US" sz="1400" b="1" dirty="0" err="1"/>
              <a:t>DataInputStream</a:t>
            </a:r>
            <a:r>
              <a:rPr lang="en-US" sz="1400" b="1" dirty="0"/>
              <a:t> to read line-line from file</a:t>
            </a:r>
          </a:p>
          <a:p>
            <a:pPr algn="just"/>
            <a:r>
              <a:rPr lang="en-US" sz="1400" b="1" dirty="0"/>
              <a:t>    </a:t>
            </a:r>
            <a:r>
              <a:rPr lang="en-US" sz="1400" b="1" dirty="0" err="1"/>
              <a:t>DataInputStream</a:t>
            </a:r>
            <a:r>
              <a:rPr lang="en-US" sz="1400" b="1" dirty="0"/>
              <a:t> dis1=new </a:t>
            </a:r>
            <a:r>
              <a:rPr lang="en-US" sz="1400" b="1" dirty="0" err="1"/>
              <a:t>DataInputStream</a:t>
            </a:r>
            <a:r>
              <a:rPr lang="en-US" sz="1400" b="1" dirty="0"/>
              <a:t>(new </a:t>
            </a:r>
            <a:r>
              <a:rPr lang="en-US" sz="1400" b="1" dirty="0" err="1"/>
              <a:t>FileInputStream</a:t>
            </a:r>
            <a:r>
              <a:rPr lang="en-US" sz="1400" b="1" dirty="0"/>
              <a:t>(</a:t>
            </a:r>
            <a:r>
              <a:rPr lang="en-US" sz="1400" b="1" dirty="0" err="1"/>
              <a:t>fileName</a:t>
            </a:r>
            <a:r>
              <a:rPr lang="en-US" sz="1400" b="1" dirty="0"/>
              <a:t>));</a:t>
            </a:r>
          </a:p>
          <a:p>
            <a:pPr algn="just"/>
            <a:r>
              <a:rPr lang="en-US" sz="1400" b="1" dirty="0"/>
              <a:t>    String line=dis1.readLine();</a:t>
            </a:r>
          </a:p>
          <a:p>
            <a:pPr algn="just"/>
            <a:r>
              <a:rPr lang="en-US" sz="1400" b="1" dirty="0"/>
              <a:t>	</a:t>
            </a:r>
          </a:p>
          <a:p>
            <a:pPr algn="just"/>
            <a:r>
              <a:rPr lang="en-US" sz="1400" b="1" dirty="0"/>
              <a:t>    while(line!=null) {</a:t>
            </a:r>
          </a:p>
          <a:p>
            <a:pPr algn="just"/>
            <a:r>
              <a:rPr lang="en-US" sz="1400" b="1" dirty="0"/>
              <a:t>      </a:t>
            </a:r>
            <a:r>
              <a:rPr lang="en-US" sz="1400" b="1" dirty="0" err="1"/>
              <a:t>ps.println</a:t>
            </a:r>
            <a:r>
              <a:rPr lang="en-US" sz="1400" b="1" dirty="0"/>
              <a:t>(line); // print line to client</a:t>
            </a:r>
          </a:p>
          <a:p>
            <a:pPr algn="just"/>
            <a:r>
              <a:rPr lang="en-US" sz="1400" b="1" dirty="0"/>
              <a:t>      line=dis1.readLine(); // read next line</a:t>
            </a:r>
          </a:p>
          <a:p>
            <a:pPr algn="just"/>
            <a:r>
              <a:rPr lang="en-US" sz="1400" b="1" dirty="0"/>
              <a:t>    }</a:t>
            </a:r>
          </a:p>
          <a:p>
            <a:pPr algn="just"/>
            <a:endParaRPr lang="en-US" sz="1400" b="1" dirty="0"/>
          </a:p>
          <a:p>
            <a:pPr algn="just"/>
            <a:r>
              <a:rPr lang="en-US" sz="1400" b="1" dirty="0"/>
              <a:t>    dis1.close();</a:t>
            </a:r>
          </a:p>
          <a:p>
            <a:pPr algn="just"/>
            <a:r>
              <a:rPr lang="en-US" sz="1400" b="1" dirty="0"/>
              <a:t>    </a:t>
            </a:r>
            <a:r>
              <a:rPr lang="en-US" sz="1400" b="1" dirty="0" err="1"/>
              <a:t>ps.close</a:t>
            </a:r>
            <a:r>
              <a:rPr lang="en-US" sz="1400" b="1" dirty="0"/>
              <a:t>();</a:t>
            </a:r>
          </a:p>
          <a:p>
            <a:pPr algn="just"/>
            <a:r>
              <a:rPr lang="en-US" sz="1400" b="1" dirty="0"/>
              <a:t>    </a:t>
            </a:r>
            <a:r>
              <a:rPr lang="en-US" sz="1400" b="1" dirty="0" err="1"/>
              <a:t>dis.close</a:t>
            </a:r>
            <a:r>
              <a:rPr lang="en-US" sz="1400" b="1" dirty="0"/>
              <a:t>();</a:t>
            </a:r>
          </a:p>
          <a:p>
            <a:pPr algn="just"/>
            <a:r>
              <a:rPr lang="en-US" sz="1400" b="1" dirty="0"/>
              <a:t>  }</a:t>
            </a:r>
          </a:p>
          <a:p>
            <a:pPr algn="just"/>
            <a:r>
              <a:rPr lang="en-US" sz="1400" b="1" dirty="0"/>
              <a:t>}</a:t>
            </a:r>
          </a:p>
        </p:txBody>
      </p:sp>
      <p:sp>
        <p:nvSpPr>
          <p:cNvPr id="4" name="Footer Placeholder 3">
            <a:extLst>
              <a:ext uri="{FF2B5EF4-FFF2-40B4-BE49-F238E27FC236}">
                <a16:creationId xmlns:a16="http://schemas.microsoft.com/office/drawing/2014/main" id="{E3D73629-4216-EEA5-CA88-99FD171BC81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232372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640264"/>
            <a:ext cx="6057900" cy="4401205"/>
          </a:xfrm>
          <a:prstGeom prst="rect">
            <a:avLst/>
          </a:prstGeom>
          <a:noFill/>
        </p:spPr>
        <p:txBody>
          <a:bodyPr wrap="square">
            <a:spAutoFit/>
          </a:bodyPr>
          <a:lstStyle/>
          <a:p>
            <a:pPr algn="just"/>
            <a:r>
              <a:rPr lang="en-US" sz="1400" b="1" dirty="0"/>
              <a:t>// FTPClient.java</a:t>
            </a:r>
          </a:p>
          <a:p>
            <a:pPr algn="just"/>
            <a:r>
              <a:rPr lang="en-US" sz="1400" b="1" dirty="0"/>
              <a:t>import java.net.*;</a:t>
            </a:r>
          </a:p>
          <a:p>
            <a:pPr algn="just"/>
            <a:r>
              <a:rPr lang="en-US" sz="1400" b="1" dirty="0"/>
              <a:t>import java.io.*;</a:t>
            </a:r>
          </a:p>
          <a:p>
            <a:pPr algn="just"/>
            <a:r>
              <a:rPr lang="en-US" sz="1400" b="1" dirty="0"/>
              <a:t>import </a:t>
            </a:r>
            <a:r>
              <a:rPr lang="en-US" sz="1400" b="1" dirty="0" err="1"/>
              <a:t>java.util</a:t>
            </a:r>
            <a:r>
              <a:rPr lang="en-US" sz="1400" b="1" dirty="0"/>
              <a:t>.*;</a:t>
            </a:r>
          </a:p>
          <a:p>
            <a:pPr algn="just"/>
            <a:r>
              <a:rPr lang="en-US" sz="1400" b="1" dirty="0"/>
              <a:t>class </a:t>
            </a:r>
            <a:r>
              <a:rPr lang="en-US" sz="1400" b="1" dirty="0" err="1"/>
              <a:t>FTPClient</a:t>
            </a:r>
            <a:r>
              <a:rPr lang="en-US" sz="1400" b="1" dirty="0"/>
              <a:t> {</a:t>
            </a:r>
          </a:p>
          <a:p>
            <a:pPr algn="just"/>
            <a:r>
              <a:rPr lang="en-US" sz="1400" b="1" dirty="0"/>
              <a:t>   public static void main(String rags[]) throws Exception {</a:t>
            </a:r>
          </a:p>
          <a:p>
            <a:pPr algn="just"/>
            <a:r>
              <a:rPr lang="en-US" sz="1400" b="1" dirty="0"/>
              <a:t>       Socket s=new Socket("localhost", 21);</a:t>
            </a:r>
          </a:p>
          <a:p>
            <a:pPr algn="just"/>
            <a:r>
              <a:rPr lang="en-US" sz="1400" b="1" dirty="0"/>
              <a:t>		</a:t>
            </a:r>
          </a:p>
          <a:p>
            <a:pPr algn="just"/>
            <a:r>
              <a:rPr lang="en-US" sz="1400" b="1" dirty="0"/>
              <a:t>       Scanner </a:t>
            </a:r>
            <a:r>
              <a:rPr lang="en-US" sz="1400" b="1" dirty="0" err="1"/>
              <a:t>sc</a:t>
            </a:r>
            <a:r>
              <a:rPr lang="en-US" sz="1400" b="1" dirty="0"/>
              <a:t>=new Scanner(System.in);</a:t>
            </a:r>
          </a:p>
          <a:p>
            <a:pPr algn="just"/>
            <a:r>
              <a:rPr lang="en-US" sz="1400" b="1" dirty="0"/>
              <a:t>		</a:t>
            </a:r>
          </a:p>
          <a:p>
            <a:pPr algn="just"/>
            <a:r>
              <a:rPr lang="en-US" sz="1400" b="1" dirty="0"/>
              <a:t>       </a:t>
            </a:r>
            <a:r>
              <a:rPr lang="en-US" sz="1400" b="1" dirty="0" err="1"/>
              <a:t>System.out.println</a:t>
            </a:r>
            <a:r>
              <a:rPr lang="en-US" sz="1400" b="1" dirty="0"/>
              <a:t>("Enter filename/</a:t>
            </a:r>
            <a:r>
              <a:rPr lang="en-US" sz="1400" b="1" dirty="0" err="1"/>
              <a:t>filepath</a:t>
            </a:r>
            <a:r>
              <a:rPr lang="en-US" sz="1400" b="1" dirty="0"/>
              <a:t> to download from server");</a:t>
            </a:r>
          </a:p>
          <a:p>
            <a:pPr algn="just"/>
            <a:r>
              <a:rPr lang="en-US" sz="1400" b="1" dirty="0"/>
              <a:t>       String </a:t>
            </a:r>
            <a:r>
              <a:rPr lang="en-US" sz="1400" b="1" dirty="0" err="1"/>
              <a:t>fileToDownload</a:t>
            </a:r>
            <a:r>
              <a:rPr lang="en-US" sz="1400" b="1" dirty="0"/>
              <a:t>=</a:t>
            </a:r>
            <a:r>
              <a:rPr lang="en-US" sz="1400" b="1" dirty="0" err="1"/>
              <a:t>sc.next</a:t>
            </a:r>
            <a:r>
              <a:rPr lang="en-US" sz="1400" b="1" dirty="0"/>
              <a:t>();</a:t>
            </a:r>
          </a:p>
          <a:p>
            <a:pPr algn="just"/>
            <a:r>
              <a:rPr lang="en-US" sz="1400" b="1" dirty="0"/>
              <a:t>		</a:t>
            </a:r>
          </a:p>
          <a:p>
            <a:pPr algn="just"/>
            <a:r>
              <a:rPr lang="en-US" sz="1400" b="1" dirty="0"/>
              <a:t>        </a:t>
            </a:r>
            <a:r>
              <a:rPr lang="en-US" sz="1400" b="1" dirty="0" err="1"/>
              <a:t>System.out.println</a:t>
            </a:r>
            <a:r>
              <a:rPr lang="en-US" sz="1400" b="1" dirty="0"/>
              <a:t>("Enter filename/file to save it on local machine");</a:t>
            </a:r>
          </a:p>
          <a:p>
            <a:pPr algn="just"/>
            <a:r>
              <a:rPr lang="en-US" sz="1400" b="1" dirty="0"/>
              <a:t>        String </a:t>
            </a:r>
            <a:r>
              <a:rPr lang="en-US" sz="1400" b="1" dirty="0" err="1"/>
              <a:t>fileToSave</a:t>
            </a:r>
            <a:r>
              <a:rPr lang="en-US" sz="1400" b="1" dirty="0"/>
              <a:t>=</a:t>
            </a:r>
            <a:r>
              <a:rPr lang="en-US" sz="1400" b="1" dirty="0" err="1"/>
              <a:t>sc.next</a:t>
            </a:r>
            <a:r>
              <a:rPr lang="en-US" sz="1400" b="1" dirty="0"/>
              <a:t>();</a:t>
            </a:r>
          </a:p>
          <a:p>
            <a:pPr algn="just"/>
            <a:r>
              <a:rPr lang="en-US" sz="1400" b="1" dirty="0"/>
              <a:t>		</a:t>
            </a:r>
          </a:p>
          <a:p>
            <a:pPr algn="just"/>
            <a:r>
              <a:rPr lang="en-US" sz="1400" b="1" dirty="0"/>
              <a:t>        </a:t>
            </a:r>
            <a:r>
              <a:rPr lang="en-US" sz="1400" b="1" dirty="0" err="1"/>
              <a:t>PrintStream</a:t>
            </a:r>
            <a:r>
              <a:rPr lang="en-US" sz="1400" b="1" dirty="0"/>
              <a:t> </a:t>
            </a:r>
            <a:r>
              <a:rPr lang="en-US" sz="1400" b="1" dirty="0" err="1"/>
              <a:t>ps</a:t>
            </a:r>
            <a:r>
              <a:rPr lang="en-US" sz="1400" b="1" dirty="0"/>
              <a:t>=new </a:t>
            </a:r>
            <a:r>
              <a:rPr lang="en-US" sz="1400" b="1" dirty="0" err="1"/>
              <a:t>PrintStream</a:t>
            </a:r>
            <a:r>
              <a:rPr lang="en-US" sz="1400" b="1" dirty="0"/>
              <a:t>(</a:t>
            </a:r>
            <a:r>
              <a:rPr lang="en-US" sz="1400" b="1" dirty="0" err="1"/>
              <a:t>s.getOutputStream</a:t>
            </a:r>
            <a:r>
              <a:rPr lang="en-US" sz="1400" b="1" dirty="0"/>
              <a:t>());</a:t>
            </a:r>
          </a:p>
          <a:p>
            <a:pPr algn="just"/>
            <a:r>
              <a:rPr lang="en-US" sz="1400" b="1" dirty="0"/>
              <a:t>        </a:t>
            </a:r>
            <a:r>
              <a:rPr lang="en-US" sz="1400" b="1" dirty="0" err="1"/>
              <a:t>ps.println</a:t>
            </a:r>
            <a:r>
              <a:rPr lang="en-US" sz="1400" b="1" dirty="0"/>
              <a:t>(</a:t>
            </a:r>
            <a:r>
              <a:rPr lang="en-US" sz="1400" b="1" dirty="0" err="1"/>
              <a:t>fileToDownload</a:t>
            </a:r>
            <a:r>
              <a:rPr lang="en-US" sz="1400" b="1" dirty="0"/>
              <a:t>);</a:t>
            </a:r>
          </a:p>
          <a:p>
            <a:pPr algn="just"/>
            <a:r>
              <a:rPr lang="en-US" sz="1400" b="1" dirty="0"/>
              <a:t>		</a:t>
            </a:r>
          </a:p>
          <a:p>
            <a:pPr algn="just"/>
            <a:r>
              <a:rPr lang="en-US" sz="1400" b="1" dirty="0"/>
              <a:t>         </a:t>
            </a:r>
            <a:r>
              <a:rPr lang="en-US" sz="1400" b="1" dirty="0" err="1"/>
              <a:t>PrintStream</a:t>
            </a:r>
            <a:r>
              <a:rPr lang="en-US" sz="1400" b="1" dirty="0"/>
              <a:t> ps1=new </a:t>
            </a:r>
            <a:r>
              <a:rPr lang="en-US" sz="1400" b="1" dirty="0" err="1"/>
              <a:t>PrintStream</a:t>
            </a:r>
            <a:r>
              <a:rPr lang="en-US" sz="1400" b="1" dirty="0"/>
              <a:t>(new </a:t>
            </a:r>
            <a:r>
              <a:rPr lang="en-US" sz="1400" b="1" dirty="0" err="1"/>
              <a:t>FileOutputStream</a:t>
            </a:r>
            <a:r>
              <a:rPr lang="en-US" sz="1400" b="1" dirty="0"/>
              <a:t>(</a:t>
            </a:r>
            <a:r>
              <a:rPr lang="en-US" sz="1400" b="1" dirty="0" err="1"/>
              <a:t>fileToSave</a:t>
            </a:r>
            <a:r>
              <a:rPr lang="en-US" sz="1400" b="1" dirty="0"/>
              <a:t>));</a:t>
            </a:r>
          </a:p>
        </p:txBody>
      </p:sp>
      <p:sp>
        <p:nvSpPr>
          <p:cNvPr id="7" name="TextBox 6">
            <a:extLst>
              <a:ext uri="{FF2B5EF4-FFF2-40B4-BE49-F238E27FC236}">
                <a16:creationId xmlns:a16="http://schemas.microsoft.com/office/drawing/2014/main" id="{6CD155DB-66CF-C3D1-AFA3-1252BA0508FD}"/>
              </a:ext>
            </a:extLst>
          </p:cNvPr>
          <p:cNvSpPr txBox="1"/>
          <p:nvPr/>
        </p:nvSpPr>
        <p:spPr>
          <a:xfrm>
            <a:off x="5972178" y="1099173"/>
            <a:ext cx="6057900" cy="3539430"/>
          </a:xfrm>
          <a:prstGeom prst="rect">
            <a:avLst/>
          </a:prstGeom>
          <a:noFill/>
        </p:spPr>
        <p:txBody>
          <a:bodyPr wrap="square">
            <a:spAutoFit/>
          </a:bodyPr>
          <a:lstStyle/>
          <a:p>
            <a:r>
              <a:rPr lang="en-US" sz="1600" dirty="0"/>
              <a:t>		</a:t>
            </a:r>
          </a:p>
          <a:p>
            <a:r>
              <a:rPr lang="en-US" sz="1600" dirty="0"/>
              <a:t>   </a:t>
            </a:r>
            <a:r>
              <a:rPr lang="en-US" sz="1600" dirty="0" err="1"/>
              <a:t>DataInputStream</a:t>
            </a:r>
            <a:r>
              <a:rPr lang="en-US" sz="1600" dirty="0"/>
              <a:t> dis=new </a:t>
            </a:r>
            <a:r>
              <a:rPr lang="en-US" sz="1600" dirty="0" err="1"/>
              <a:t>DataInputStream</a:t>
            </a:r>
            <a:r>
              <a:rPr lang="en-US" sz="1600" dirty="0"/>
              <a:t>(</a:t>
            </a:r>
            <a:r>
              <a:rPr lang="en-US" sz="1600" dirty="0" err="1"/>
              <a:t>s.getInputStream</a:t>
            </a:r>
            <a:r>
              <a:rPr lang="en-US" sz="1600" dirty="0"/>
              <a:t>());</a:t>
            </a:r>
          </a:p>
          <a:p>
            <a:r>
              <a:rPr lang="en-US" sz="1600" dirty="0"/>
              <a:t>   String line=</a:t>
            </a:r>
            <a:r>
              <a:rPr lang="en-US" sz="1600" dirty="0" err="1"/>
              <a:t>dis.readLine</a:t>
            </a:r>
            <a:r>
              <a:rPr lang="en-US" sz="1600" dirty="0"/>
              <a:t>();</a:t>
            </a:r>
          </a:p>
          <a:p>
            <a:endParaRPr lang="en-US" sz="1600" dirty="0"/>
          </a:p>
          <a:p>
            <a:r>
              <a:rPr lang="en-US" sz="1600" dirty="0"/>
              <a:t>   while(line!=null) {</a:t>
            </a:r>
          </a:p>
          <a:p>
            <a:r>
              <a:rPr lang="en-US" sz="1600" dirty="0"/>
              <a:t>       ps1.println(line);</a:t>
            </a:r>
          </a:p>
          <a:p>
            <a:r>
              <a:rPr lang="en-US" sz="1600" dirty="0"/>
              <a:t>       line=</a:t>
            </a:r>
            <a:r>
              <a:rPr lang="en-US" sz="1600" dirty="0" err="1"/>
              <a:t>dis.readLine</a:t>
            </a:r>
            <a:r>
              <a:rPr lang="en-US" sz="1600" dirty="0"/>
              <a:t>();</a:t>
            </a:r>
          </a:p>
          <a:p>
            <a:r>
              <a:rPr lang="en-US" sz="1600" dirty="0"/>
              <a:t>    }</a:t>
            </a:r>
          </a:p>
          <a:p>
            <a:r>
              <a:rPr lang="en-US" sz="1600" dirty="0"/>
              <a:t>   </a:t>
            </a:r>
            <a:r>
              <a:rPr lang="en-US" sz="1600" dirty="0" err="1"/>
              <a:t>dis.close</a:t>
            </a:r>
            <a:r>
              <a:rPr lang="en-US" sz="1600" dirty="0"/>
              <a:t>();</a:t>
            </a:r>
          </a:p>
          <a:p>
            <a:r>
              <a:rPr lang="en-US" sz="1600" dirty="0"/>
              <a:t>   ps1.close();</a:t>
            </a:r>
          </a:p>
          <a:p>
            <a:r>
              <a:rPr lang="en-US" sz="1600" dirty="0"/>
              <a:t>   </a:t>
            </a:r>
            <a:r>
              <a:rPr lang="en-US" sz="1600" dirty="0" err="1"/>
              <a:t>ps.close</a:t>
            </a:r>
            <a:r>
              <a:rPr lang="en-US" sz="1600" dirty="0"/>
              <a:t>();</a:t>
            </a:r>
          </a:p>
          <a:p>
            <a:r>
              <a:rPr lang="en-US" sz="1600" dirty="0"/>
              <a:t>   </a:t>
            </a:r>
            <a:r>
              <a:rPr lang="en-US" sz="1600" dirty="0" err="1"/>
              <a:t>s.close</a:t>
            </a:r>
            <a:r>
              <a:rPr lang="en-US" sz="1600" dirty="0"/>
              <a:t>();</a:t>
            </a:r>
          </a:p>
          <a:p>
            <a:r>
              <a:rPr lang="en-US" sz="1600" dirty="0"/>
              <a:t> }</a:t>
            </a:r>
          </a:p>
          <a:p>
            <a:r>
              <a:rPr lang="en-US" sz="1600" dirty="0"/>
              <a:t>}</a:t>
            </a:r>
          </a:p>
        </p:txBody>
      </p:sp>
      <p:sp>
        <p:nvSpPr>
          <p:cNvPr id="4" name="Footer Placeholder 3">
            <a:extLst>
              <a:ext uri="{FF2B5EF4-FFF2-40B4-BE49-F238E27FC236}">
                <a16:creationId xmlns:a16="http://schemas.microsoft.com/office/drawing/2014/main" id="{38F0DA47-124F-8D23-B1B2-37F2368DFB02}"/>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35975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1083180"/>
            <a:ext cx="9190458" cy="4524315"/>
          </a:xfrm>
          <a:prstGeom prst="rect">
            <a:avLst/>
          </a:prstGeom>
          <a:noFill/>
        </p:spPr>
        <p:txBody>
          <a:bodyPr wrap="square">
            <a:spAutoFit/>
          </a:bodyPr>
          <a:lstStyle/>
          <a:p>
            <a:pPr algn="just"/>
            <a:r>
              <a:rPr lang="en-US" sz="1600" b="1" dirty="0"/>
              <a:t>The above FTP Server is processing single client request. In order to process multiple client requests we need to make the server side socket implementation multithreaded.</a:t>
            </a:r>
          </a:p>
          <a:p>
            <a:pPr algn="just"/>
            <a:endParaRPr lang="en-US" sz="1600" b="1" dirty="0"/>
          </a:p>
          <a:p>
            <a:pPr algn="just"/>
            <a:r>
              <a:rPr lang="en-US" sz="1600" b="1" dirty="0"/>
              <a:t>// MFTPServer.java</a:t>
            </a:r>
          </a:p>
          <a:p>
            <a:pPr algn="just"/>
            <a:r>
              <a:rPr lang="en-US" sz="1600" b="1" dirty="0"/>
              <a:t>import java.net.*;</a:t>
            </a:r>
          </a:p>
          <a:p>
            <a:pPr algn="just"/>
            <a:r>
              <a:rPr lang="en-US" sz="1600" b="1" dirty="0"/>
              <a:t>public class </a:t>
            </a:r>
            <a:r>
              <a:rPr lang="en-US" sz="1600" b="1" dirty="0" err="1"/>
              <a:t>MFTPServer</a:t>
            </a:r>
            <a:r>
              <a:rPr lang="en-US" sz="1600" b="1" dirty="0"/>
              <a:t> {</a:t>
            </a:r>
          </a:p>
          <a:p>
            <a:pPr algn="just"/>
            <a:r>
              <a:rPr lang="en-US" sz="1600" b="1" dirty="0"/>
              <a:t>  public static void main(String rags[]) throws Exception {</a:t>
            </a:r>
          </a:p>
          <a:p>
            <a:pPr algn="just"/>
            <a:r>
              <a:rPr lang="en-US" sz="1600" b="1" dirty="0"/>
              <a:t>    ServerSocket ss=new ServerSocket(21);</a:t>
            </a:r>
          </a:p>
          <a:p>
            <a:pPr algn="just"/>
            <a:r>
              <a:rPr lang="en-US" sz="1600" b="1" dirty="0"/>
              <a:t>    </a:t>
            </a:r>
            <a:r>
              <a:rPr lang="en-US" sz="1600" b="1" dirty="0" err="1"/>
              <a:t>System.out.println</a:t>
            </a:r>
            <a:r>
              <a:rPr lang="en-US" sz="1600" b="1" dirty="0"/>
              <a:t>("</a:t>
            </a:r>
            <a:r>
              <a:rPr lang="en-US" sz="1600" b="1" dirty="0" err="1"/>
              <a:t>FTPServer</a:t>
            </a:r>
            <a:r>
              <a:rPr lang="en-US" sz="1600" b="1" dirty="0"/>
              <a:t> running on port 21, waiting for client requests");</a:t>
            </a:r>
          </a:p>
          <a:p>
            <a:pPr algn="just"/>
            <a:r>
              <a:rPr lang="en-US" sz="1600" b="1" dirty="0"/>
              <a:t>    while(true) {</a:t>
            </a:r>
          </a:p>
          <a:p>
            <a:pPr algn="just"/>
            <a:r>
              <a:rPr lang="en-US" sz="1600" b="1" dirty="0"/>
              <a:t>      Socket s=</a:t>
            </a:r>
            <a:r>
              <a:rPr lang="en-US" sz="1600" b="1" dirty="0" err="1"/>
              <a:t>ss.accept</a:t>
            </a:r>
            <a:r>
              <a:rPr lang="en-US" sz="1600" b="1" dirty="0"/>
              <a:t>();</a:t>
            </a:r>
          </a:p>
          <a:p>
            <a:pPr algn="just"/>
            <a:r>
              <a:rPr lang="en-US" sz="1600" b="1" dirty="0"/>
              <a:t>      </a:t>
            </a:r>
            <a:r>
              <a:rPr lang="en-US" sz="1600" b="1" dirty="0" err="1"/>
              <a:t>FTPThread</a:t>
            </a:r>
            <a:r>
              <a:rPr lang="en-US" sz="1600" b="1" dirty="0"/>
              <a:t> </a:t>
            </a:r>
            <a:r>
              <a:rPr lang="en-US" sz="1600" b="1" dirty="0" err="1"/>
              <a:t>ftpt</a:t>
            </a:r>
            <a:r>
              <a:rPr lang="en-US" sz="1600" b="1" dirty="0"/>
              <a:t>=new </a:t>
            </a:r>
            <a:r>
              <a:rPr lang="en-US" sz="1600" b="1" dirty="0" err="1"/>
              <a:t>FTPThread</a:t>
            </a:r>
            <a:r>
              <a:rPr lang="en-US" sz="1600" b="1" dirty="0"/>
              <a:t>(s);</a:t>
            </a:r>
          </a:p>
          <a:p>
            <a:pPr algn="just"/>
            <a:r>
              <a:rPr lang="en-US" sz="1600" b="1" dirty="0"/>
              <a:t>      </a:t>
            </a:r>
            <a:r>
              <a:rPr lang="en-US" sz="1600" b="1" dirty="0" err="1"/>
              <a:t>ftpt.start</a:t>
            </a:r>
            <a:r>
              <a:rPr lang="en-US" sz="1600" b="1" dirty="0"/>
              <a:t>();</a:t>
            </a:r>
          </a:p>
          <a:p>
            <a:pPr algn="just"/>
            <a:r>
              <a:rPr lang="en-US" sz="1600" b="1" dirty="0"/>
              <a:t>    }</a:t>
            </a:r>
          </a:p>
          <a:p>
            <a:pPr algn="just"/>
            <a:r>
              <a:rPr lang="en-US" sz="1600" b="1" dirty="0"/>
              <a:t>    // </a:t>
            </a:r>
            <a:r>
              <a:rPr lang="en-US" sz="1600" b="1" dirty="0" err="1"/>
              <a:t>dont</a:t>
            </a:r>
            <a:r>
              <a:rPr lang="en-US" sz="1600" b="1" dirty="0"/>
              <a:t> write any statement after infinite loop, if do so Unreachable statement compilation error will come.</a:t>
            </a:r>
          </a:p>
          <a:p>
            <a:pPr algn="just"/>
            <a:r>
              <a:rPr lang="en-US" sz="1600" b="1" dirty="0"/>
              <a:t>  }</a:t>
            </a:r>
          </a:p>
          <a:p>
            <a:pPr algn="just"/>
            <a:r>
              <a:rPr lang="en-US" sz="1600" b="1" dirty="0"/>
              <a:t>}</a:t>
            </a:r>
          </a:p>
        </p:txBody>
      </p:sp>
      <p:sp>
        <p:nvSpPr>
          <p:cNvPr id="4" name="Footer Placeholder 3">
            <a:extLst>
              <a:ext uri="{FF2B5EF4-FFF2-40B4-BE49-F238E27FC236}">
                <a16:creationId xmlns:a16="http://schemas.microsoft.com/office/drawing/2014/main" id="{A48E9E98-6639-334D-D98C-69E3CB9890B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1214856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1083180"/>
            <a:ext cx="7894308" cy="4524315"/>
          </a:xfrm>
          <a:prstGeom prst="rect">
            <a:avLst/>
          </a:prstGeom>
          <a:noFill/>
        </p:spPr>
        <p:txBody>
          <a:bodyPr wrap="square">
            <a:spAutoFit/>
          </a:bodyPr>
          <a:lstStyle/>
          <a:p>
            <a:pPr algn="just"/>
            <a:r>
              <a:rPr lang="en-US" sz="1600" b="1" dirty="0"/>
              <a:t>// FTPThread.java</a:t>
            </a:r>
          </a:p>
          <a:p>
            <a:pPr algn="just"/>
            <a:r>
              <a:rPr lang="en-US" sz="1600" b="1" dirty="0"/>
              <a:t>import java.net.*;</a:t>
            </a:r>
          </a:p>
          <a:p>
            <a:pPr algn="just"/>
            <a:r>
              <a:rPr lang="en-US" sz="1600" b="1" dirty="0"/>
              <a:t>import java.io.*;</a:t>
            </a:r>
          </a:p>
          <a:p>
            <a:pPr algn="just"/>
            <a:r>
              <a:rPr lang="en-US" sz="1600" b="1" dirty="0"/>
              <a:t>public class </a:t>
            </a:r>
            <a:r>
              <a:rPr lang="en-US" sz="1600" b="1" dirty="0" err="1"/>
              <a:t>FTPThread</a:t>
            </a:r>
            <a:r>
              <a:rPr lang="en-US" sz="1600" b="1" dirty="0"/>
              <a:t> extends Thread {</a:t>
            </a:r>
          </a:p>
          <a:p>
            <a:pPr algn="just"/>
            <a:r>
              <a:rPr lang="en-US" sz="1600" b="1" dirty="0"/>
              <a:t>  Socket s;</a:t>
            </a:r>
          </a:p>
          <a:p>
            <a:pPr algn="just"/>
            <a:r>
              <a:rPr lang="en-US" sz="1600" b="1" dirty="0"/>
              <a:t>  public </a:t>
            </a:r>
            <a:r>
              <a:rPr lang="en-US" sz="1600" b="1" dirty="0" err="1"/>
              <a:t>FTPThread</a:t>
            </a:r>
            <a:r>
              <a:rPr lang="en-US" sz="1600" b="1" dirty="0"/>
              <a:t>(Socket s) {</a:t>
            </a:r>
          </a:p>
          <a:p>
            <a:pPr algn="just"/>
            <a:r>
              <a:rPr lang="en-US" sz="1600" b="1" dirty="0"/>
              <a:t>    </a:t>
            </a:r>
            <a:r>
              <a:rPr lang="en-US" sz="1600" b="1" dirty="0" err="1"/>
              <a:t>this.s</a:t>
            </a:r>
            <a:r>
              <a:rPr lang="en-US" sz="1600" b="1" dirty="0"/>
              <a:t>=s;</a:t>
            </a:r>
          </a:p>
          <a:p>
            <a:pPr algn="just"/>
            <a:r>
              <a:rPr lang="en-US" sz="1600" b="1" dirty="0"/>
              <a:t>  }</a:t>
            </a:r>
          </a:p>
          <a:p>
            <a:pPr algn="just"/>
            <a:r>
              <a:rPr lang="en-US" sz="1600" b="1" dirty="0"/>
              <a:t>  public void run() {</a:t>
            </a:r>
          </a:p>
          <a:p>
            <a:pPr algn="just"/>
            <a:r>
              <a:rPr lang="en-US" sz="1600" b="1" dirty="0"/>
              <a:t>    try {</a:t>
            </a:r>
          </a:p>
          <a:p>
            <a:pPr algn="just"/>
            <a:r>
              <a:rPr lang="en-US" sz="1600" b="1" dirty="0"/>
              <a:t>        </a:t>
            </a:r>
            <a:r>
              <a:rPr lang="en-US" sz="1600" b="1" dirty="0" err="1"/>
              <a:t>DataInputStream</a:t>
            </a:r>
            <a:r>
              <a:rPr lang="en-US" sz="1600" b="1" dirty="0"/>
              <a:t> dis=new </a:t>
            </a:r>
            <a:r>
              <a:rPr lang="en-US" sz="1600" b="1" dirty="0" err="1"/>
              <a:t>DataInputStream</a:t>
            </a:r>
            <a:r>
              <a:rPr lang="en-US" sz="1600" b="1" dirty="0"/>
              <a:t>(</a:t>
            </a:r>
            <a:r>
              <a:rPr lang="en-US" sz="1600" b="1" dirty="0" err="1"/>
              <a:t>s.getInputStream</a:t>
            </a:r>
            <a:r>
              <a:rPr lang="en-US" sz="1600" b="1" dirty="0"/>
              <a:t>());</a:t>
            </a:r>
          </a:p>
          <a:p>
            <a:pPr algn="just"/>
            <a:r>
              <a:rPr lang="en-US" sz="1600" b="1" dirty="0"/>
              <a:t>        </a:t>
            </a:r>
            <a:r>
              <a:rPr lang="en-US" sz="1600" b="1" dirty="0" err="1"/>
              <a:t>PrintStream</a:t>
            </a:r>
            <a:r>
              <a:rPr lang="en-US" sz="1600" b="1" dirty="0"/>
              <a:t> </a:t>
            </a:r>
            <a:r>
              <a:rPr lang="en-US" sz="1600" b="1" dirty="0" err="1"/>
              <a:t>ps</a:t>
            </a:r>
            <a:r>
              <a:rPr lang="en-US" sz="1600" b="1" dirty="0"/>
              <a:t>=new </a:t>
            </a:r>
            <a:r>
              <a:rPr lang="en-US" sz="1600" b="1" dirty="0" err="1"/>
              <a:t>PrintStream</a:t>
            </a:r>
            <a:r>
              <a:rPr lang="en-US" sz="1600" b="1" dirty="0"/>
              <a:t>(</a:t>
            </a:r>
            <a:r>
              <a:rPr lang="en-US" sz="1600" b="1" dirty="0" err="1"/>
              <a:t>s.getOutputStream</a:t>
            </a:r>
            <a:r>
              <a:rPr lang="en-US" sz="1600" b="1" dirty="0"/>
              <a:t>());</a:t>
            </a:r>
          </a:p>
          <a:p>
            <a:pPr algn="just"/>
            <a:endParaRPr lang="en-US" sz="1600" b="1" dirty="0"/>
          </a:p>
          <a:p>
            <a:pPr algn="just"/>
            <a:r>
              <a:rPr lang="en-US" sz="1600" b="1" dirty="0"/>
              <a:t>         String </a:t>
            </a:r>
            <a:r>
              <a:rPr lang="en-US" sz="1600" b="1" dirty="0" err="1"/>
              <a:t>fileName</a:t>
            </a:r>
            <a:r>
              <a:rPr lang="en-US" sz="1600" b="1" dirty="0"/>
              <a:t>=</a:t>
            </a:r>
            <a:r>
              <a:rPr lang="en-US" sz="1600" b="1" dirty="0" err="1"/>
              <a:t>dis.readLine</a:t>
            </a:r>
            <a:r>
              <a:rPr lang="en-US" sz="1600" b="1" dirty="0"/>
              <a:t>();</a:t>
            </a:r>
          </a:p>
          <a:p>
            <a:pPr algn="just"/>
            <a:endParaRPr lang="en-US" sz="1600" b="1" dirty="0"/>
          </a:p>
          <a:p>
            <a:pPr algn="just"/>
            <a:r>
              <a:rPr lang="en-US" sz="1600" b="1" dirty="0"/>
              <a:t>         </a:t>
            </a:r>
            <a:r>
              <a:rPr lang="en-US" sz="1600" b="1" dirty="0" err="1"/>
              <a:t>DataInputStream</a:t>
            </a:r>
            <a:r>
              <a:rPr lang="en-US" sz="1600" b="1" dirty="0"/>
              <a:t> dis1=new </a:t>
            </a:r>
            <a:r>
              <a:rPr lang="en-US" sz="1600" b="1" dirty="0" err="1"/>
              <a:t>DataInputStream</a:t>
            </a:r>
            <a:r>
              <a:rPr lang="en-US" sz="1600" b="1" dirty="0"/>
              <a:t>(new </a:t>
            </a:r>
            <a:r>
              <a:rPr lang="en-US" sz="1600" b="1" dirty="0" err="1"/>
              <a:t>FileInputStream</a:t>
            </a:r>
            <a:r>
              <a:rPr lang="en-US" sz="1600" b="1" dirty="0"/>
              <a:t>(</a:t>
            </a:r>
            <a:r>
              <a:rPr lang="en-US" sz="1600" b="1" dirty="0" err="1"/>
              <a:t>fileName</a:t>
            </a:r>
            <a:r>
              <a:rPr lang="en-US" sz="1600" b="1" dirty="0"/>
              <a:t>));</a:t>
            </a:r>
          </a:p>
          <a:p>
            <a:pPr algn="just"/>
            <a:endParaRPr lang="en-US" sz="1600" b="1" dirty="0"/>
          </a:p>
          <a:p>
            <a:pPr algn="just"/>
            <a:r>
              <a:rPr lang="en-US" sz="1600" b="1" dirty="0"/>
              <a:t>         String line=dis1.readLine();</a:t>
            </a:r>
          </a:p>
        </p:txBody>
      </p:sp>
      <p:sp>
        <p:nvSpPr>
          <p:cNvPr id="7" name="TextBox 6">
            <a:extLst>
              <a:ext uri="{FF2B5EF4-FFF2-40B4-BE49-F238E27FC236}">
                <a16:creationId xmlns:a16="http://schemas.microsoft.com/office/drawing/2014/main" id="{A8F3C432-D4AF-34E4-79E1-2CC63B1BD9E6}"/>
              </a:ext>
            </a:extLst>
          </p:cNvPr>
          <p:cNvSpPr txBox="1"/>
          <p:nvPr/>
        </p:nvSpPr>
        <p:spPr>
          <a:xfrm>
            <a:off x="7007735" y="980573"/>
            <a:ext cx="3767975" cy="4247317"/>
          </a:xfrm>
          <a:prstGeom prst="rect">
            <a:avLst/>
          </a:prstGeom>
          <a:noFill/>
        </p:spPr>
        <p:txBody>
          <a:bodyPr wrap="square">
            <a:spAutoFit/>
          </a:bodyPr>
          <a:lstStyle/>
          <a:p>
            <a:pPr algn="just"/>
            <a:r>
              <a:rPr lang="en-US" sz="1800" dirty="0"/>
              <a:t>	    while(line!=null) {</a:t>
            </a:r>
          </a:p>
          <a:p>
            <a:pPr algn="just"/>
            <a:r>
              <a:rPr lang="en-US" sz="1800" dirty="0"/>
              <a:t>	      </a:t>
            </a:r>
            <a:r>
              <a:rPr lang="en-US" sz="1800" dirty="0" err="1"/>
              <a:t>ps.println</a:t>
            </a:r>
            <a:r>
              <a:rPr lang="en-US" sz="1800" dirty="0"/>
              <a:t>(line);</a:t>
            </a:r>
          </a:p>
          <a:p>
            <a:pPr algn="just"/>
            <a:r>
              <a:rPr lang="en-US" sz="1800" dirty="0"/>
              <a:t>	      line=dis1.readLine();      </a:t>
            </a:r>
          </a:p>
          <a:p>
            <a:pPr algn="just"/>
            <a:r>
              <a:rPr lang="en-US" sz="1800" dirty="0"/>
              <a:t>	    }</a:t>
            </a:r>
          </a:p>
          <a:p>
            <a:pPr algn="just"/>
            <a:endParaRPr lang="en-US" sz="1800" dirty="0"/>
          </a:p>
          <a:p>
            <a:pPr algn="just"/>
            <a:r>
              <a:rPr lang="en-US" sz="1800" dirty="0"/>
              <a:t>	    dis1.close();</a:t>
            </a:r>
          </a:p>
          <a:p>
            <a:pPr algn="just"/>
            <a:r>
              <a:rPr lang="en-US" sz="1800" dirty="0"/>
              <a:t>	    </a:t>
            </a:r>
            <a:r>
              <a:rPr lang="en-US" sz="1800" dirty="0" err="1"/>
              <a:t>ps.close</a:t>
            </a:r>
            <a:r>
              <a:rPr lang="en-US" sz="1800" dirty="0"/>
              <a:t>();</a:t>
            </a:r>
          </a:p>
          <a:p>
            <a:pPr algn="just"/>
            <a:r>
              <a:rPr lang="en-US" sz="1800" dirty="0"/>
              <a:t>	    </a:t>
            </a:r>
            <a:r>
              <a:rPr lang="en-US" sz="1800" dirty="0" err="1"/>
              <a:t>dis.close</a:t>
            </a:r>
            <a:r>
              <a:rPr lang="en-US" sz="1800" dirty="0"/>
              <a:t>();</a:t>
            </a:r>
          </a:p>
          <a:p>
            <a:pPr algn="just"/>
            <a:r>
              <a:rPr lang="en-US" sz="1800" dirty="0"/>
              <a:t>		</a:t>
            </a:r>
            <a:r>
              <a:rPr lang="en-US" sz="1800" dirty="0" err="1"/>
              <a:t>s.close</a:t>
            </a:r>
            <a:r>
              <a:rPr lang="en-US" sz="1800" dirty="0"/>
              <a:t>();</a:t>
            </a:r>
          </a:p>
          <a:p>
            <a:pPr algn="just"/>
            <a:r>
              <a:rPr lang="en-US" sz="1800" dirty="0"/>
              <a:t>    }</a:t>
            </a:r>
          </a:p>
          <a:p>
            <a:pPr algn="just"/>
            <a:r>
              <a:rPr lang="en-US" sz="1800" dirty="0"/>
              <a:t>    catch(Exception e) {</a:t>
            </a:r>
          </a:p>
          <a:p>
            <a:pPr algn="just"/>
            <a:r>
              <a:rPr lang="en-US" sz="1800" dirty="0"/>
              <a:t>      </a:t>
            </a:r>
            <a:r>
              <a:rPr lang="en-US" sz="1800" dirty="0" err="1"/>
              <a:t>e.printStackTrace</a:t>
            </a:r>
            <a:r>
              <a:rPr lang="en-US" sz="1800" dirty="0"/>
              <a:t>();</a:t>
            </a:r>
          </a:p>
          <a:p>
            <a:pPr algn="just"/>
            <a:r>
              <a:rPr lang="en-US" sz="1800" dirty="0"/>
              <a:t>    }</a:t>
            </a:r>
          </a:p>
          <a:p>
            <a:pPr algn="just"/>
            <a:r>
              <a:rPr lang="en-US" sz="1800" dirty="0"/>
              <a:t>  }</a:t>
            </a:r>
          </a:p>
          <a:p>
            <a:pPr algn="just"/>
            <a:r>
              <a:rPr lang="en-US" sz="1800" dirty="0"/>
              <a:t>}</a:t>
            </a:r>
          </a:p>
        </p:txBody>
      </p:sp>
      <p:sp>
        <p:nvSpPr>
          <p:cNvPr id="4" name="Footer Placeholder 3">
            <a:extLst>
              <a:ext uri="{FF2B5EF4-FFF2-40B4-BE49-F238E27FC236}">
                <a16:creationId xmlns:a16="http://schemas.microsoft.com/office/drawing/2014/main" id="{AEC9DE5E-9A2C-3B77-BC3E-F2AF6CC7C264}"/>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8828491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1083180"/>
            <a:ext cx="9090194" cy="5078313"/>
          </a:xfrm>
          <a:prstGeom prst="rect">
            <a:avLst/>
          </a:prstGeom>
          <a:noFill/>
        </p:spPr>
        <p:txBody>
          <a:bodyPr wrap="square">
            <a:spAutoFit/>
          </a:bodyPr>
          <a:lstStyle/>
          <a:p>
            <a:pPr algn="just"/>
            <a:r>
              <a:rPr lang="en-US" b="1" u="sng" dirty="0"/>
              <a:t>UDP (User Datagram Protocol)</a:t>
            </a:r>
          </a:p>
          <a:p>
            <a:pPr algn="just"/>
            <a:r>
              <a:rPr lang="en-US" b="1" dirty="0"/>
              <a:t>TCP/IP</a:t>
            </a:r>
          </a:p>
          <a:p>
            <a:pPr algn="just"/>
            <a:r>
              <a:rPr lang="en-US" b="1" dirty="0"/>
              <a:t>	Server-Client</a:t>
            </a:r>
          </a:p>
          <a:p>
            <a:pPr algn="just"/>
            <a:r>
              <a:rPr lang="en-US" b="1" dirty="0"/>
              <a:t>UDP:</a:t>
            </a:r>
          </a:p>
          <a:p>
            <a:pPr algn="just"/>
            <a:r>
              <a:rPr lang="en-US" b="1" dirty="0"/>
              <a:t>	Sender-Receiver</a:t>
            </a:r>
          </a:p>
          <a:p>
            <a:pPr algn="just"/>
            <a:endParaRPr lang="en-US" b="1" dirty="0"/>
          </a:p>
          <a:p>
            <a:pPr algn="just"/>
            <a:r>
              <a:rPr lang="en-US" b="1" dirty="0"/>
              <a:t>Socket and ServerSocket are connection oriented protocols. </a:t>
            </a:r>
            <a:r>
              <a:rPr lang="en-US" b="1" dirty="0" err="1"/>
              <a:t>UDPSocket</a:t>
            </a:r>
            <a:r>
              <a:rPr lang="en-US" b="1" dirty="0"/>
              <a:t> and </a:t>
            </a:r>
            <a:r>
              <a:rPr lang="en-US" b="1" dirty="0" err="1"/>
              <a:t>UDPPacket</a:t>
            </a:r>
            <a:r>
              <a:rPr lang="en-US" b="1" dirty="0"/>
              <a:t> classes are used to implement UDP Protocol (User Datagram Protocol) also called connection less / unreliable protocol. </a:t>
            </a:r>
          </a:p>
          <a:p>
            <a:pPr algn="just"/>
            <a:endParaRPr lang="en-US" b="1" dirty="0"/>
          </a:p>
          <a:p>
            <a:pPr algn="just"/>
            <a:r>
              <a:rPr lang="en-US" b="1" dirty="0"/>
              <a:t>In Socket (TCP/IP Protocol) programming one Socket connection will be established to ServerSocket running on server system, that will open one Socket connection for each client on server system through which client will send and receive information. </a:t>
            </a:r>
          </a:p>
          <a:p>
            <a:pPr algn="just"/>
            <a:endParaRPr lang="en-US" b="1" dirty="0"/>
          </a:p>
          <a:p>
            <a:pPr algn="just"/>
            <a:r>
              <a:rPr lang="en-US" b="1" dirty="0"/>
              <a:t>The Socket connection exist as long as communication takes place.</a:t>
            </a:r>
          </a:p>
          <a:p>
            <a:pPr algn="just"/>
            <a:endParaRPr lang="en-US" b="1" dirty="0"/>
          </a:p>
          <a:p>
            <a:pPr algn="just"/>
            <a:r>
              <a:rPr lang="en-US" b="1" dirty="0"/>
              <a:t>Whereas in UDP, in </a:t>
            </a:r>
            <a:r>
              <a:rPr lang="en-US" b="1" dirty="0" err="1"/>
              <a:t>UDPPacket</a:t>
            </a:r>
            <a:r>
              <a:rPr lang="en-US" b="1" dirty="0"/>
              <a:t> itself contains the "data" and to which "</a:t>
            </a:r>
            <a:r>
              <a:rPr lang="en-US" b="1" dirty="0" err="1"/>
              <a:t>IPAddress</a:t>
            </a:r>
            <a:r>
              <a:rPr lang="en-US" b="1" dirty="0"/>
              <a:t> machine" and "port number" the request want to be sent contains. </a:t>
            </a:r>
          </a:p>
        </p:txBody>
      </p:sp>
      <p:sp>
        <p:nvSpPr>
          <p:cNvPr id="4" name="Footer Placeholder 3">
            <a:extLst>
              <a:ext uri="{FF2B5EF4-FFF2-40B4-BE49-F238E27FC236}">
                <a16:creationId xmlns:a16="http://schemas.microsoft.com/office/drawing/2014/main" id="{16B67189-5309-78AB-1309-B4C7508355A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527088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1083180"/>
            <a:ext cx="9090194" cy="2862322"/>
          </a:xfrm>
          <a:prstGeom prst="rect">
            <a:avLst/>
          </a:prstGeom>
          <a:noFill/>
        </p:spPr>
        <p:txBody>
          <a:bodyPr wrap="square">
            <a:spAutoFit/>
          </a:bodyPr>
          <a:lstStyle/>
          <a:p>
            <a:pPr algn="just"/>
            <a:r>
              <a:rPr lang="en-US" sz="2000" b="1" dirty="0"/>
              <a:t>On receiver system </a:t>
            </a:r>
            <a:r>
              <a:rPr lang="en-US" sz="2000" b="1" dirty="0" err="1"/>
              <a:t>UDPSocket</a:t>
            </a:r>
            <a:r>
              <a:rPr lang="en-US" sz="2000" b="1" dirty="0"/>
              <a:t> is used only to receive </a:t>
            </a:r>
            <a:r>
              <a:rPr lang="en-US" sz="2000" b="1" dirty="0" err="1"/>
              <a:t>UDPPacket</a:t>
            </a:r>
            <a:r>
              <a:rPr lang="en-US" sz="2000" b="1" dirty="0"/>
              <a:t> objects.</a:t>
            </a:r>
          </a:p>
          <a:p>
            <a:pPr algn="just"/>
            <a:endParaRPr lang="en-US" sz="2000" b="1" dirty="0"/>
          </a:p>
          <a:p>
            <a:pPr algn="just"/>
            <a:r>
              <a:rPr lang="en-US" sz="2000" b="1" dirty="0"/>
              <a:t>On server system, </a:t>
            </a:r>
            <a:r>
              <a:rPr lang="en-US" sz="2000" b="1" dirty="0" err="1"/>
              <a:t>UDPSocket</a:t>
            </a:r>
            <a:r>
              <a:rPr lang="en-US" sz="2000" b="1" dirty="0"/>
              <a:t>(int port) must be used to listen </a:t>
            </a:r>
            <a:r>
              <a:rPr lang="en-US" sz="2000" b="1" dirty="0" err="1"/>
              <a:t>UDPPacket</a:t>
            </a:r>
            <a:r>
              <a:rPr lang="en-US" sz="2000" b="1" dirty="0"/>
              <a:t>, one </a:t>
            </a:r>
            <a:r>
              <a:rPr lang="en-US" sz="2000" b="1" dirty="0" err="1"/>
              <a:t>UDPPacket</a:t>
            </a:r>
            <a:r>
              <a:rPr lang="en-US" sz="2000" b="1" dirty="0"/>
              <a:t> object must be created with empty byte array once such as </a:t>
            </a:r>
            <a:r>
              <a:rPr lang="en-US" sz="2000" b="1" dirty="0" err="1"/>
              <a:t>UDPPacket</a:t>
            </a:r>
            <a:r>
              <a:rPr lang="en-US" sz="2000" b="1" dirty="0"/>
              <a:t> object is passed as argument into </a:t>
            </a:r>
            <a:r>
              <a:rPr lang="en-US" sz="2000" b="1" dirty="0" err="1"/>
              <a:t>UDPSocket</a:t>
            </a:r>
            <a:r>
              <a:rPr lang="en-US" sz="2000" b="1" dirty="0"/>
              <a:t> class receive method, </a:t>
            </a:r>
            <a:r>
              <a:rPr lang="en-US" sz="2000" b="1" dirty="0" err="1"/>
              <a:t>UDPPacket</a:t>
            </a:r>
            <a:r>
              <a:rPr lang="en-US" sz="2000" b="1" dirty="0"/>
              <a:t> object populated with client's data. </a:t>
            </a:r>
          </a:p>
          <a:p>
            <a:pPr algn="just"/>
            <a:endParaRPr lang="en-US" sz="2000" b="1" dirty="0"/>
          </a:p>
          <a:p>
            <a:pPr algn="just"/>
            <a:r>
              <a:rPr lang="en-US" sz="2000" b="1" dirty="0"/>
              <a:t>This is how Packets are individually delivered to server. Packet itself routes the n/w communication.</a:t>
            </a:r>
          </a:p>
        </p:txBody>
      </p:sp>
      <p:sp>
        <p:nvSpPr>
          <p:cNvPr id="4" name="Footer Placeholder 3">
            <a:extLst>
              <a:ext uri="{FF2B5EF4-FFF2-40B4-BE49-F238E27FC236}">
                <a16:creationId xmlns:a16="http://schemas.microsoft.com/office/drawing/2014/main" id="{F27AD0BE-2001-7671-C9D1-D08D3AB83B1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0894951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1083180"/>
            <a:ext cx="9090194" cy="5324535"/>
          </a:xfrm>
          <a:prstGeom prst="rect">
            <a:avLst/>
          </a:prstGeom>
          <a:noFill/>
        </p:spPr>
        <p:txBody>
          <a:bodyPr wrap="square">
            <a:spAutoFit/>
          </a:bodyPr>
          <a:lstStyle/>
          <a:p>
            <a:pPr algn="just"/>
            <a:r>
              <a:rPr lang="en-US" sz="2000" b="1" dirty="0"/>
              <a:t>// SMSUDPServer.java (Receiver)</a:t>
            </a:r>
          </a:p>
          <a:p>
            <a:pPr algn="just"/>
            <a:r>
              <a:rPr lang="en-US" sz="2000" b="1" dirty="0"/>
              <a:t>import java.net.*;</a:t>
            </a:r>
          </a:p>
          <a:p>
            <a:pPr algn="just"/>
            <a:r>
              <a:rPr lang="en-US" sz="2000" b="1" dirty="0"/>
              <a:t>public class </a:t>
            </a:r>
            <a:r>
              <a:rPr lang="en-US" sz="2000" b="1" dirty="0" err="1"/>
              <a:t>SMSUDPServer</a:t>
            </a:r>
            <a:r>
              <a:rPr lang="en-US" sz="2000" b="1" dirty="0"/>
              <a:t> {</a:t>
            </a:r>
          </a:p>
          <a:p>
            <a:pPr algn="just"/>
            <a:r>
              <a:rPr lang="en-US" sz="2000" b="1" dirty="0"/>
              <a:t>  public static void main(String rags[]) throws Exception {</a:t>
            </a:r>
          </a:p>
          <a:p>
            <a:pPr algn="just"/>
            <a:r>
              <a:rPr lang="en-US" sz="2000" b="1" dirty="0"/>
              <a:t>  </a:t>
            </a:r>
          </a:p>
          <a:p>
            <a:pPr algn="just"/>
            <a:r>
              <a:rPr lang="en-US" sz="2000" b="1" dirty="0"/>
              <a:t>    DatagramSocket </a:t>
            </a:r>
            <a:r>
              <a:rPr lang="en-US" sz="2000" b="1" dirty="0" err="1"/>
              <a:t>dgs</a:t>
            </a:r>
            <a:r>
              <a:rPr lang="en-US" sz="2000" b="1" dirty="0"/>
              <a:t>=new DatagramSocket(65000);</a:t>
            </a:r>
          </a:p>
          <a:p>
            <a:pPr algn="just"/>
            <a:endParaRPr lang="en-US" sz="2000" b="1" dirty="0"/>
          </a:p>
          <a:p>
            <a:pPr algn="just"/>
            <a:r>
              <a:rPr lang="en-US" sz="2000" b="1" dirty="0"/>
              <a:t>    byte b[]=new byte[1024];</a:t>
            </a:r>
          </a:p>
          <a:p>
            <a:pPr algn="just"/>
            <a:r>
              <a:rPr lang="en-US" sz="2000" b="1" dirty="0"/>
              <a:t>	</a:t>
            </a:r>
          </a:p>
          <a:p>
            <a:pPr algn="just"/>
            <a:r>
              <a:rPr lang="en-US" sz="2000" b="1" dirty="0"/>
              <a:t>    DatagramPacket </a:t>
            </a:r>
            <a:r>
              <a:rPr lang="en-US" sz="2000" b="1" dirty="0" err="1"/>
              <a:t>dgp</a:t>
            </a:r>
            <a:r>
              <a:rPr lang="en-US" sz="2000" b="1" dirty="0"/>
              <a:t>=new DatagramPacket(b, </a:t>
            </a:r>
            <a:r>
              <a:rPr lang="en-US" sz="2000" b="1" dirty="0" err="1"/>
              <a:t>b.length</a:t>
            </a:r>
            <a:r>
              <a:rPr lang="en-US" sz="2000" b="1" dirty="0"/>
              <a:t>);</a:t>
            </a:r>
          </a:p>
          <a:p>
            <a:pPr algn="just"/>
            <a:r>
              <a:rPr lang="en-US" sz="2000" b="1" dirty="0"/>
              <a:t>	</a:t>
            </a:r>
          </a:p>
          <a:p>
            <a:pPr algn="just"/>
            <a:r>
              <a:rPr lang="en-US" sz="2000" b="1" dirty="0"/>
              <a:t>    </a:t>
            </a:r>
            <a:r>
              <a:rPr lang="en-US" sz="2000" b="1" dirty="0" err="1"/>
              <a:t>dgs.receive</a:t>
            </a:r>
            <a:r>
              <a:rPr lang="en-US" sz="2000" b="1" dirty="0"/>
              <a:t>(</a:t>
            </a:r>
            <a:r>
              <a:rPr lang="en-US" sz="2000" b="1" dirty="0" err="1"/>
              <a:t>dgp</a:t>
            </a:r>
            <a:r>
              <a:rPr lang="en-US" sz="2000" b="1" dirty="0"/>
              <a:t>);</a:t>
            </a:r>
          </a:p>
          <a:p>
            <a:pPr algn="just"/>
            <a:r>
              <a:rPr lang="en-US" sz="2000" b="1" dirty="0"/>
              <a:t>	</a:t>
            </a:r>
          </a:p>
          <a:p>
            <a:pPr algn="just"/>
            <a:r>
              <a:rPr lang="en-US" sz="2000" b="1" dirty="0"/>
              <a:t>    String str=new String(b);</a:t>
            </a:r>
          </a:p>
          <a:p>
            <a:pPr algn="just"/>
            <a:r>
              <a:rPr lang="en-US" sz="2000" b="1" dirty="0"/>
              <a:t>    </a:t>
            </a:r>
            <a:r>
              <a:rPr lang="en-US" sz="2000" b="1" dirty="0" err="1"/>
              <a:t>System.out.println</a:t>
            </a:r>
            <a:r>
              <a:rPr lang="en-US" sz="2000" b="1" dirty="0"/>
              <a:t>(</a:t>
            </a:r>
            <a:r>
              <a:rPr lang="en-US" sz="2000" b="1" dirty="0" err="1"/>
              <a:t>str.trim</a:t>
            </a:r>
            <a:r>
              <a:rPr lang="en-US" sz="2000" b="1" dirty="0"/>
              <a:t>());</a:t>
            </a:r>
          </a:p>
          <a:p>
            <a:pPr algn="just"/>
            <a:r>
              <a:rPr lang="en-US" sz="2000" b="1" dirty="0"/>
              <a:t>  }</a:t>
            </a:r>
          </a:p>
          <a:p>
            <a:pPr algn="just"/>
            <a:r>
              <a:rPr lang="en-US" sz="2000" b="1" dirty="0"/>
              <a:t>}</a:t>
            </a:r>
          </a:p>
        </p:txBody>
      </p:sp>
      <p:sp>
        <p:nvSpPr>
          <p:cNvPr id="4" name="Footer Placeholder 3">
            <a:extLst>
              <a:ext uri="{FF2B5EF4-FFF2-40B4-BE49-F238E27FC236}">
                <a16:creationId xmlns:a16="http://schemas.microsoft.com/office/drawing/2014/main" id="{2811368F-E8BC-FD90-1C49-74890180BF96}"/>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41587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78288"/>
              <a:chOff x="2877550" y="55045"/>
              <a:chExt cx="6436895" cy="678288"/>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Networking</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6" name="TextBox 25">
            <a:extLst>
              <a:ext uri="{FF2B5EF4-FFF2-40B4-BE49-F238E27FC236}">
                <a16:creationId xmlns:a16="http://schemas.microsoft.com/office/drawing/2014/main" id="{D700EB6E-ADD0-CA1E-34A5-84BFB196CA4E}"/>
              </a:ext>
            </a:extLst>
          </p:cNvPr>
          <p:cNvSpPr txBox="1"/>
          <p:nvPr/>
        </p:nvSpPr>
        <p:spPr>
          <a:xfrm>
            <a:off x="178130" y="1083180"/>
            <a:ext cx="9090194" cy="5324535"/>
          </a:xfrm>
          <a:prstGeom prst="rect">
            <a:avLst/>
          </a:prstGeom>
          <a:noFill/>
        </p:spPr>
        <p:txBody>
          <a:bodyPr wrap="square">
            <a:spAutoFit/>
          </a:bodyPr>
          <a:lstStyle/>
          <a:p>
            <a:pPr algn="just"/>
            <a:r>
              <a:rPr lang="en-US" sz="2000" b="1" dirty="0"/>
              <a:t>// SMSUDPClient.java (Sender)</a:t>
            </a:r>
          </a:p>
          <a:p>
            <a:pPr algn="just"/>
            <a:r>
              <a:rPr lang="en-US" sz="2000" b="1" dirty="0"/>
              <a:t>import java.net.*;</a:t>
            </a:r>
          </a:p>
          <a:p>
            <a:pPr algn="just"/>
            <a:r>
              <a:rPr lang="en-US" sz="2000" b="1" dirty="0"/>
              <a:t>public class </a:t>
            </a:r>
            <a:r>
              <a:rPr lang="en-US" sz="2000" b="1" dirty="0" err="1"/>
              <a:t>SMSUDPClient</a:t>
            </a:r>
            <a:r>
              <a:rPr lang="en-US" sz="2000" b="1" dirty="0"/>
              <a:t> {</a:t>
            </a:r>
          </a:p>
          <a:p>
            <a:pPr algn="just"/>
            <a:r>
              <a:rPr lang="en-US" sz="2000" b="1" dirty="0"/>
              <a:t>  public static void main(String rags[]) throws Exception {</a:t>
            </a:r>
          </a:p>
          <a:p>
            <a:pPr algn="just"/>
            <a:r>
              <a:rPr lang="en-US" sz="2000" b="1" dirty="0"/>
              <a:t>  </a:t>
            </a:r>
          </a:p>
          <a:p>
            <a:pPr algn="just"/>
            <a:r>
              <a:rPr lang="en-US" sz="2000" b="1" dirty="0"/>
              <a:t>    DatagramSocket </a:t>
            </a:r>
            <a:r>
              <a:rPr lang="en-US" sz="2000" b="1" dirty="0" err="1"/>
              <a:t>dgs</a:t>
            </a:r>
            <a:r>
              <a:rPr lang="en-US" sz="2000" b="1" dirty="0"/>
              <a:t>=new DatagramSocket();</a:t>
            </a:r>
          </a:p>
          <a:p>
            <a:pPr algn="just"/>
            <a:r>
              <a:rPr lang="en-US" sz="2000" b="1" dirty="0"/>
              <a:t>	</a:t>
            </a:r>
          </a:p>
          <a:p>
            <a:pPr algn="just"/>
            <a:r>
              <a:rPr lang="en-US" sz="2000" b="1" dirty="0"/>
              <a:t>    String msg="Hello this is the test message from my </a:t>
            </a:r>
            <a:r>
              <a:rPr lang="en-US" sz="2000" b="1" dirty="0" err="1"/>
              <a:t>SMSUDPClient</a:t>
            </a:r>
            <a:r>
              <a:rPr lang="en-US" sz="2000" b="1" dirty="0"/>
              <a:t>";</a:t>
            </a:r>
          </a:p>
          <a:p>
            <a:pPr algn="just"/>
            <a:r>
              <a:rPr lang="en-US" sz="2000" b="1" dirty="0"/>
              <a:t>	</a:t>
            </a:r>
          </a:p>
          <a:p>
            <a:pPr algn="just"/>
            <a:r>
              <a:rPr lang="en-US" sz="2000" b="1" dirty="0"/>
              <a:t>    DatagramPacket </a:t>
            </a:r>
            <a:r>
              <a:rPr lang="en-US" sz="2000" b="1" dirty="0" err="1"/>
              <a:t>dgp</a:t>
            </a:r>
            <a:r>
              <a:rPr lang="en-US" sz="2000" b="1" dirty="0"/>
              <a:t>=new DatagramPacket(</a:t>
            </a:r>
            <a:r>
              <a:rPr lang="en-US" sz="2000" b="1" dirty="0" err="1"/>
              <a:t>msg.getBytes</a:t>
            </a:r>
            <a:r>
              <a:rPr lang="en-US" sz="2000" b="1" dirty="0"/>
              <a:t>(), </a:t>
            </a:r>
            <a:r>
              <a:rPr lang="en-US" sz="2000" b="1" dirty="0" err="1"/>
              <a:t>msg.length</a:t>
            </a:r>
            <a:r>
              <a:rPr lang="en-US" sz="2000" b="1" dirty="0"/>
              <a:t>(), </a:t>
            </a:r>
            <a:r>
              <a:rPr lang="en-US" sz="2000" b="1" dirty="0" err="1"/>
              <a:t>InetAddress.getLocalHost</a:t>
            </a:r>
            <a:r>
              <a:rPr lang="en-US" sz="2000" b="1" dirty="0"/>
              <a:t>(), 65000);</a:t>
            </a:r>
          </a:p>
          <a:p>
            <a:pPr algn="just"/>
            <a:r>
              <a:rPr lang="en-US" sz="2000" b="1" dirty="0"/>
              <a:t>	</a:t>
            </a:r>
          </a:p>
          <a:p>
            <a:pPr algn="just"/>
            <a:r>
              <a:rPr lang="en-US" sz="2000" b="1" dirty="0"/>
              <a:t>    </a:t>
            </a:r>
            <a:r>
              <a:rPr lang="en-US" sz="2000" b="1" dirty="0" err="1"/>
              <a:t>dgs.send</a:t>
            </a:r>
            <a:r>
              <a:rPr lang="en-US" sz="2000" b="1" dirty="0"/>
              <a:t>(</a:t>
            </a:r>
            <a:r>
              <a:rPr lang="en-US" sz="2000" b="1" dirty="0" err="1"/>
              <a:t>dgp</a:t>
            </a:r>
            <a:r>
              <a:rPr lang="en-US" sz="2000" b="1" dirty="0"/>
              <a:t>);</a:t>
            </a:r>
          </a:p>
          <a:p>
            <a:pPr algn="just"/>
            <a:r>
              <a:rPr lang="en-US" sz="2000" b="1" dirty="0"/>
              <a:t>	</a:t>
            </a:r>
          </a:p>
          <a:p>
            <a:pPr algn="just"/>
            <a:r>
              <a:rPr lang="en-US" sz="2000" b="1" dirty="0"/>
              <a:t>    </a:t>
            </a:r>
            <a:r>
              <a:rPr lang="en-US" sz="2000" b="1" dirty="0" err="1"/>
              <a:t>System.out.println</a:t>
            </a:r>
            <a:r>
              <a:rPr lang="en-US" sz="2000" b="1" dirty="0"/>
              <a:t>("Message delivered");</a:t>
            </a:r>
          </a:p>
          <a:p>
            <a:pPr algn="just"/>
            <a:r>
              <a:rPr lang="en-US" sz="2000" b="1" dirty="0"/>
              <a:t>  }</a:t>
            </a:r>
          </a:p>
          <a:p>
            <a:pPr algn="just"/>
            <a:r>
              <a:rPr lang="en-US" sz="2000" b="1"/>
              <a:t>}</a:t>
            </a:r>
            <a:endParaRPr lang="en-US" sz="2000" b="1" dirty="0"/>
          </a:p>
        </p:txBody>
      </p:sp>
      <p:sp>
        <p:nvSpPr>
          <p:cNvPr id="4" name="Footer Placeholder 3">
            <a:extLst>
              <a:ext uri="{FF2B5EF4-FFF2-40B4-BE49-F238E27FC236}">
                <a16:creationId xmlns:a16="http://schemas.microsoft.com/office/drawing/2014/main" id="{05D5775C-5B7A-6109-F89A-CF82257276CC}"/>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106725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912</TotalTime>
  <Words>6203</Words>
  <Application>Microsoft Office PowerPoint</Application>
  <PresentationFormat>Widescreen</PresentationFormat>
  <Paragraphs>955</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66</cp:revision>
  <dcterms:created xsi:type="dcterms:W3CDTF">2021-09-13T09:22:41Z</dcterms:created>
  <dcterms:modified xsi:type="dcterms:W3CDTF">2023-08-24T06:02:23Z</dcterms:modified>
</cp:coreProperties>
</file>