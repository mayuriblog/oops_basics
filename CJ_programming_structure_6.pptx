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2"/>
  </p:notesMasterIdLst>
  <p:sldIdLst>
    <p:sldId id="314" r:id="rId2"/>
    <p:sldId id="315" r:id="rId3"/>
    <p:sldId id="320" r:id="rId4"/>
    <p:sldId id="316" r:id="rId5"/>
    <p:sldId id="386" r:id="rId6"/>
    <p:sldId id="317" r:id="rId7"/>
    <p:sldId id="318" r:id="rId8"/>
    <p:sldId id="319" r:id="rId9"/>
    <p:sldId id="387" r:id="rId10"/>
    <p:sldId id="321" r:id="rId11"/>
    <p:sldId id="322" r:id="rId12"/>
    <p:sldId id="323" r:id="rId13"/>
    <p:sldId id="324" r:id="rId14"/>
    <p:sldId id="325" r:id="rId15"/>
    <p:sldId id="326" r:id="rId16"/>
    <p:sldId id="327" r:id="rId17"/>
    <p:sldId id="328" r:id="rId18"/>
    <p:sldId id="329" r:id="rId19"/>
    <p:sldId id="330" r:id="rId20"/>
    <p:sldId id="331" r:id="rId21"/>
    <p:sldId id="332" r:id="rId22"/>
    <p:sldId id="333" r:id="rId23"/>
    <p:sldId id="334" r:id="rId24"/>
    <p:sldId id="335" r:id="rId25"/>
    <p:sldId id="389" r:id="rId26"/>
    <p:sldId id="390" r:id="rId27"/>
    <p:sldId id="391" r:id="rId28"/>
    <p:sldId id="392" r:id="rId29"/>
    <p:sldId id="344" r:id="rId30"/>
    <p:sldId id="336" r:id="rId31"/>
    <p:sldId id="337" r:id="rId32"/>
    <p:sldId id="338" r:id="rId33"/>
    <p:sldId id="340" r:id="rId34"/>
    <p:sldId id="339" r:id="rId35"/>
    <p:sldId id="341" r:id="rId36"/>
    <p:sldId id="342" r:id="rId37"/>
    <p:sldId id="343" r:id="rId38"/>
    <p:sldId id="345" r:id="rId39"/>
    <p:sldId id="346" r:id="rId40"/>
    <p:sldId id="393" r:id="rId41"/>
    <p:sldId id="347" r:id="rId42"/>
    <p:sldId id="348" r:id="rId43"/>
    <p:sldId id="349" r:id="rId44"/>
    <p:sldId id="350" r:id="rId45"/>
    <p:sldId id="373" r:id="rId46"/>
    <p:sldId id="374" r:id="rId47"/>
    <p:sldId id="375" r:id="rId48"/>
    <p:sldId id="351" r:id="rId49"/>
    <p:sldId id="394" r:id="rId50"/>
    <p:sldId id="352" r:id="rId51"/>
    <p:sldId id="353" r:id="rId52"/>
    <p:sldId id="354" r:id="rId53"/>
    <p:sldId id="355" r:id="rId54"/>
    <p:sldId id="356" r:id="rId55"/>
    <p:sldId id="357" r:id="rId56"/>
    <p:sldId id="358" r:id="rId57"/>
    <p:sldId id="359" r:id="rId58"/>
    <p:sldId id="360" r:id="rId59"/>
    <p:sldId id="361" r:id="rId60"/>
    <p:sldId id="362" r:id="rId61"/>
    <p:sldId id="363" r:id="rId62"/>
    <p:sldId id="364" r:id="rId63"/>
    <p:sldId id="365" r:id="rId64"/>
    <p:sldId id="388" r:id="rId65"/>
    <p:sldId id="366" r:id="rId66"/>
    <p:sldId id="367" r:id="rId67"/>
    <p:sldId id="368" r:id="rId68"/>
    <p:sldId id="369" r:id="rId69"/>
    <p:sldId id="370" r:id="rId70"/>
    <p:sldId id="371" r:id="rId71"/>
    <p:sldId id="372" r:id="rId72"/>
    <p:sldId id="376" r:id="rId73"/>
    <p:sldId id="377" r:id="rId74"/>
    <p:sldId id="378" r:id="rId75"/>
    <p:sldId id="379" r:id="rId76"/>
    <p:sldId id="380" r:id="rId77"/>
    <p:sldId id="381" r:id="rId78"/>
    <p:sldId id="382" r:id="rId79"/>
    <p:sldId id="384" r:id="rId80"/>
    <p:sldId id="385" r:id="rId8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3F66"/>
    <a:srgbClr val="F105D3"/>
    <a:srgbClr val="3399FF"/>
    <a:srgbClr val="990033"/>
    <a:srgbClr val="FF9933"/>
    <a:srgbClr val="FF5050"/>
    <a:srgbClr val="902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4660"/>
  </p:normalViewPr>
  <p:slideViewPr>
    <p:cSldViewPr snapToGrid="0">
      <p:cViewPr varScale="1">
        <p:scale>
          <a:sx n="67" d="100"/>
          <a:sy n="67" d="100"/>
        </p:scale>
        <p:origin x="85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7C49B4-3B50-4FF8-8FF0-C6CB4138B563}" type="datetimeFigureOut">
              <a:rPr lang="en-IN" smtClean="0"/>
              <a:t>21-09-2023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15957E-A47F-4D5C-8C63-E1DBE0ACCDC9}" type="slidenum">
              <a:rPr lang="en-IN" smtClean="0"/>
              <a:t>‹#›</a:t>
            </a:fld>
            <a:endParaRPr lang="en-IN"/>
          </a:p>
        </p:txBody>
      </p:sp>
    </p:spTree>
    <p:extLst>
      <p:ext uri="{BB962C8B-B14F-4D97-AF65-F5344CB8AC3E}">
        <p14:creationId xmlns:p14="http://schemas.microsoft.com/office/powerpoint/2010/main" val="17926478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D53D4-ADD2-48AC-8994-14A51F0D23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0537EA9-7966-48DB-8A37-F2A824B840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65E772E-FB9A-427D-A4FB-DDA4C7000266}"/>
              </a:ext>
            </a:extLst>
          </p:cNvPr>
          <p:cNvSpPr>
            <a:spLocks noGrp="1"/>
          </p:cNvSpPr>
          <p:nvPr>
            <p:ph type="dt" sz="half" idx="10"/>
          </p:nvPr>
        </p:nvSpPr>
        <p:spPr/>
        <p:txBody>
          <a:bodyPr/>
          <a:lstStyle/>
          <a:p>
            <a:fld id="{8E6DA470-5316-461B-B0BE-99E86C8FD80B}" type="datetime1">
              <a:rPr lang="en-US" smtClean="0"/>
              <a:t>9/21/2023</a:t>
            </a:fld>
            <a:endParaRPr lang="en-US"/>
          </a:p>
        </p:txBody>
      </p:sp>
      <p:sp>
        <p:nvSpPr>
          <p:cNvPr id="5" name="Footer Placeholder 4">
            <a:extLst>
              <a:ext uri="{FF2B5EF4-FFF2-40B4-BE49-F238E27FC236}">
                <a16:creationId xmlns:a16="http://schemas.microsoft.com/office/drawing/2014/main" id="{F37A32E3-D1D5-46C6-AB63-9F796F5BEC05}"/>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a16="http://schemas.microsoft.com/office/drawing/2014/main" id="{756DE672-2E16-4C2D-BE2B-5E484F172565}"/>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22741456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9C132-9C22-4029-B989-13CBB40B57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29E3EE7-F4CB-4065-A44E-0318879BBF0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DB2CBC-33D2-4A33-B187-2CD7DA66C582}"/>
              </a:ext>
            </a:extLst>
          </p:cNvPr>
          <p:cNvSpPr>
            <a:spLocks noGrp="1"/>
          </p:cNvSpPr>
          <p:nvPr>
            <p:ph type="dt" sz="half" idx="10"/>
          </p:nvPr>
        </p:nvSpPr>
        <p:spPr/>
        <p:txBody>
          <a:bodyPr/>
          <a:lstStyle/>
          <a:p>
            <a:fld id="{94D40D54-8411-4B30-AF09-497D806830C8}" type="datetime1">
              <a:rPr lang="en-US" smtClean="0"/>
              <a:t>9/21/2023</a:t>
            </a:fld>
            <a:endParaRPr lang="en-US"/>
          </a:p>
        </p:txBody>
      </p:sp>
      <p:sp>
        <p:nvSpPr>
          <p:cNvPr id="5" name="Footer Placeholder 4">
            <a:extLst>
              <a:ext uri="{FF2B5EF4-FFF2-40B4-BE49-F238E27FC236}">
                <a16:creationId xmlns:a16="http://schemas.microsoft.com/office/drawing/2014/main" id="{D98BBEDA-6CC0-4558-9D29-AB6DD426BB7A}"/>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a16="http://schemas.microsoft.com/office/drawing/2014/main" id="{7CAA790F-764D-42B5-A732-7C09D26BA16F}"/>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048941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30C65-FF2A-4010-8C73-BB6E5013133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724171B-58EF-43B4-84A8-E189462C4D0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D6566F5-22D5-459C-990D-7013F4D89A32}"/>
              </a:ext>
            </a:extLst>
          </p:cNvPr>
          <p:cNvSpPr>
            <a:spLocks noGrp="1"/>
          </p:cNvSpPr>
          <p:nvPr>
            <p:ph type="dt" sz="half" idx="10"/>
          </p:nvPr>
        </p:nvSpPr>
        <p:spPr/>
        <p:txBody>
          <a:bodyPr/>
          <a:lstStyle/>
          <a:p>
            <a:fld id="{C9A156CF-53A1-4AA4-86D7-8952A02B7A05}" type="datetime1">
              <a:rPr lang="en-US" smtClean="0"/>
              <a:t>9/21/2023</a:t>
            </a:fld>
            <a:endParaRPr lang="en-US"/>
          </a:p>
        </p:txBody>
      </p:sp>
      <p:sp>
        <p:nvSpPr>
          <p:cNvPr id="5" name="Footer Placeholder 4">
            <a:extLst>
              <a:ext uri="{FF2B5EF4-FFF2-40B4-BE49-F238E27FC236}">
                <a16:creationId xmlns:a16="http://schemas.microsoft.com/office/drawing/2014/main" id="{D96CC63D-E273-4AAA-95C9-E401177BF957}"/>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a16="http://schemas.microsoft.com/office/drawing/2014/main" id="{DDBCFC71-6835-40D7-B028-B3CB4223C1F9}"/>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674272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D4678-1CB9-4E61-9A69-472A205AB7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D61F08-F7B7-408E-BEDD-156B3EB7107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02C45BB-AABE-4D19-813B-EC4B595055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49E3F09-087B-4D93-9258-8AF6657B21C4}"/>
              </a:ext>
            </a:extLst>
          </p:cNvPr>
          <p:cNvSpPr>
            <a:spLocks noGrp="1"/>
          </p:cNvSpPr>
          <p:nvPr>
            <p:ph type="dt" sz="half" idx="10"/>
          </p:nvPr>
        </p:nvSpPr>
        <p:spPr/>
        <p:txBody>
          <a:bodyPr/>
          <a:lstStyle/>
          <a:p>
            <a:fld id="{83388A2D-E908-4CFB-A299-2B6572C99C74}" type="datetime1">
              <a:rPr lang="en-US" smtClean="0"/>
              <a:t>9/21/2023</a:t>
            </a:fld>
            <a:endParaRPr lang="en-US"/>
          </a:p>
        </p:txBody>
      </p:sp>
      <p:sp>
        <p:nvSpPr>
          <p:cNvPr id="6" name="Footer Placeholder 5">
            <a:extLst>
              <a:ext uri="{FF2B5EF4-FFF2-40B4-BE49-F238E27FC236}">
                <a16:creationId xmlns:a16="http://schemas.microsoft.com/office/drawing/2014/main" id="{60944505-AD8E-4AAE-91A7-1E3E3739CD3F}"/>
              </a:ext>
            </a:extLst>
          </p:cNvPr>
          <p:cNvSpPr>
            <a:spLocks noGrp="1"/>
          </p:cNvSpPr>
          <p:nvPr>
            <p:ph type="ftr" sz="quarter" idx="11"/>
          </p:nvPr>
        </p:nvSpPr>
        <p:spPr/>
        <p:txBody>
          <a:bodyPr/>
          <a:lstStyle/>
          <a:p>
            <a:r>
              <a:rPr lang="en-US"/>
              <a:t>Suryanarayana</a:t>
            </a:r>
          </a:p>
        </p:txBody>
      </p:sp>
      <p:sp>
        <p:nvSpPr>
          <p:cNvPr id="7" name="Slide Number Placeholder 6">
            <a:extLst>
              <a:ext uri="{FF2B5EF4-FFF2-40B4-BE49-F238E27FC236}">
                <a16:creationId xmlns:a16="http://schemas.microsoft.com/office/drawing/2014/main" id="{9E6EA56F-3ACC-4F18-9178-D44D8FC27BB9}"/>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29370965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E4EF0-CA05-417F-B465-4F0A0929541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F4F7286-079E-4D01-9619-DC462E5936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719288F-0A0B-483F-BB13-3EDE5C3DA2B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72A0B30-266B-488F-B6CB-4AD30D85DF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3F90638-24C7-42C8-8931-B2B3484939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666EBA-30E0-4DF0-96BE-62BE6AB519DD}"/>
              </a:ext>
            </a:extLst>
          </p:cNvPr>
          <p:cNvSpPr>
            <a:spLocks noGrp="1"/>
          </p:cNvSpPr>
          <p:nvPr>
            <p:ph type="dt" sz="half" idx="10"/>
          </p:nvPr>
        </p:nvSpPr>
        <p:spPr/>
        <p:txBody>
          <a:bodyPr/>
          <a:lstStyle/>
          <a:p>
            <a:fld id="{00A4FB55-9E94-4501-9C5B-50FAB5684A4A}" type="datetime1">
              <a:rPr lang="en-US" smtClean="0"/>
              <a:t>9/21/2023</a:t>
            </a:fld>
            <a:endParaRPr lang="en-US"/>
          </a:p>
        </p:txBody>
      </p:sp>
      <p:sp>
        <p:nvSpPr>
          <p:cNvPr id="8" name="Footer Placeholder 7">
            <a:extLst>
              <a:ext uri="{FF2B5EF4-FFF2-40B4-BE49-F238E27FC236}">
                <a16:creationId xmlns:a16="http://schemas.microsoft.com/office/drawing/2014/main" id="{93E8E635-E195-41C7-81C8-D3344936196F}"/>
              </a:ext>
            </a:extLst>
          </p:cNvPr>
          <p:cNvSpPr>
            <a:spLocks noGrp="1"/>
          </p:cNvSpPr>
          <p:nvPr>
            <p:ph type="ftr" sz="quarter" idx="11"/>
          </p:nvPr>
        </p:nvSpPr>
        <p:spPr/>
        <p:txBody>
          <a:bodyPr/>
          <a:lstStyle/>
          <a:p>
            <a:r>
              <a:rPr lang="en-US"/>
              <a:t>Suryanarayana</a:t>
            </a:r>
          </a:p>
        </p:txBody>
      </p:sp>
      <p:sp>
        <p:nvSpPr>
          <p:cNvPr id="9" name="Slide Number Placeholder 8">
            <a:extLst>
              <a:ext uri="{FF2B5EF4-FFF2-40B4-BE49-F238E27FC236}">
                <a16:creationId xmlns:a16="http://schemas.microsoft.com/office/drawing/2014/main" id="{F9780DF9-B1D9-49B8-81AF-4B716B67A25C}"/>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4765246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DFEEF-8D2B-4F54-B662-31AEFD3DB84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1297C29-F3EE-4250-9919-93948D0BEEB6}"/>
              </a:ext>
            </a:extLst>
          </p:cNvPr>
          <p:cNvSpPr>
            <a:spLocks noGrp="1"/>
          </p:cNvSpPr>
          <p:nvPr>
            <p:ph type="dt" sz="half" idx="10"/>
          </p:nvPr>
        </p:nvSpPr>
        <p:spPr/>
        <p:txBody>
          <a:bodyPr/>
          <a:lstStyle/>
          <a:p>
            <a:fld id="{6659BE54-118B-48BA-A6FB-1CD9B072F7C0}" type="datetime1">
              <a:rPr lang="en-US" smtClean="0"/>
              <a:t>9/21/2023</a:t>
            </a:fld>
            <a:endParaRPr lang="en-US"/>
          </a:p>
        </p:txBody>
      </p:sp>
      <p:sp>
        <p:nvSpPr>
          <p:cNvPr id="4" name="Footer Placeholder 3">
            <a:extLst>
              <a:ext uri="{FF2B5EF4-FFF2-40B4-BE49-F238E27FC236}">
                <a16:creationId xmlns:a16="http://schemas.microsoft.com/office/drawing/2014/main" id="{34AADB8D-7767-4295-999A-A9CDFEC2CE05}"/>
              </a:ext>
            </a:extLst>
          </p:cNvPr>
          <p:cNvSpPr>
            <a:spLocks noGrp="1"/>
          </p:cNvSpPr>
          <p:nvPr>
            <p:ph type="ftr" sz="quarter" idx="11"/>
          </p:nvPr>
        </p:nvSpPr>
        <p:spPr/>
        <p:txBody>
          <a:bodyPr/>
          <a:lstStyle/>
          <a:p>
            <a:r>
              <a:rPr lang="en-US"/>
              <a:t>Suryanarayana</a:t>
            </a:r>
          </a:p>
        </p:txBody>
      </p:sp>
      <p:sp>
        <p:nvSpPr>
          <p:cNvPr id="5" name="Slide Number Placeholder 4">
            <a:extLst>
              <a:ext uri="{FF2B5EF4-FFF2-40B4-BE49-F238E27FC236}">
                <a16:creationId xmlns:a16="http://schemas.microsoft.com/office/drawing/2014/main" id="{A0748590-559B-4E6B-AF48-236BD7F81832}"/>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2155143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AAAFAD-BAB5-47A0-9962-AC707DCEEC4C}"/>
              </a:ext>
            </a:extLst>
          </p:cNvPr>
          <p:cNvSpPr>
            <a:spLocks noGrp="1"/>
          </p:cNvSpPr>
          <p:nvPr>
            <p:ph type="dt" sz="half" idx="10"/>
          </p:nvPr>
        </p:nvSpPr>
        <p:spPr/>
        <p:txBody>
          <a:bodyPr/>
          <a:lstStyle/>
          <a:p>
            <a:fld id="{4D56A5F8-6327-454A-B85D-743CB1DFBACF}" type="datetime1">
              <a:rPr lang="en-US" smtClean="0"/>
              <a:t>9/21/2023</a:t>
            </a:fld>
            <a:endParaRPr lang="en-US"/>
          </a:p>
        </p:txBody>
      </p:sp>
      <p:sp>
        <p:nvSpPr>
          <p:cNvPr id="3" name="Footer Placeholder 2">
            <a:extLst>
              <a:ext uri="{FF2B5EF4-FFF2-40B4-BE49-F238E27FC236}">
                <a16:creationId xmlns:a16="http://schemas.microsoft.com/office/drawing/2014/main" id="{BE7E0FD4-2958-49A6-9B7B-5BCE813DA778}"/>
              </a:ext>
            </a:extLst>
          </p:cNvPr>
          <p:cNvSpPr>
            <a:spLocks noGrp="1"/>
          </p:cNvSpPr>
          <p:nvPr>
            <p:ph type="ftr" sz="quarter" idx="11"/>
          </p:nvPr>
        </p:nvSpPr>
        <p:spPr/>
        <p:txBody>
          <a:bodyPr/>
          <a:lstStyle/>
          <a:p>
            <a:r>
              <a:rPr lang="en-US"/>
              <a:t>Suryanarayana</a:t>
            </a:r>
          </a:p>
        </p:txBody>
      </p:sp>
      <p:sp>
        <p:nvSpPr>
          <p:cNvPr id="4" name="Slide Number Placeholder 3">
            <a:extLst>
              <a:ext uri="{FF2B5EF4-FFF2-40B4-BE49-F238E27FC236}">
                <a16:creationId xmlns:a16="http://schemas.microsoft.com/office/drawing/2014/main" id="{D47CCC7F-90C7-40A3-A729-679A94EC8C3E}"/>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5279612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927E8-8760-4B04-BDEF-1AC275A529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112E94A-ABB1-48E4-A3B6-4DA4142EC1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F4EB3F-9F7E-4886-B5A3-9143917E74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7C9E36-A297-4BF1-AC4B-B05E7A56454F}"/>
              </a:ext>
            </a:extLst>
          </p:cNvPr>
          <p:cNvSpPr>
            <a:spLocks noGrp="1"/>
          </p:cNvSpPr>
          <p:nvPr>
            <p:ph type="dt" sz="half" idx="10"/>
          </p:nvPr>
        </p:nvSpPr>
        <p:spPr/>
        <p:txBody>
          <a:bodyPr/>
          <a:lstStyle/>
          <a:p>
            <a:fld id="{231088A8-1F49-4049-9846-CD44D4612A2B}" type="datetime1">
              <a:rPr lang="en-US" smtClean="0"/>
              <a:t>9/21/2023</a:t>
            </a:fld>
            <a:endParaRPr lang="en-US"/>
          </a:p>
        </p:txBody>
      </p:sp>
      <p:sp>
        <p:nvSpPr>
          <p:cNvPr id="6" name="Footer Placeholder 5">
            <a:extLst>
              <a:ext uri="{FF2B5EF4-FFF2-40B4-BE49-F238E27FC236}">
                <a16:creationId xmlns:a16="http://schemas.microsoft.com/office/drawing/2014/main" id="{3C0882DF-10C8-41FD-B12B-C4E3CD891900}"/>
              </a:ext>
            </a:extLst>
          </p:cNvPr>
          <p:cNvSpPr>
            <a:spLocks noGrp="1"/>
          </p:cNvSpPr>
          <p:nvPr>
            <p:ph type="ftr" sz="quarter" idx="11"/>
          </p:nvPr>
        </p:nvSpPr>
        <p:spPr/>
        <p:txBody>
          <a:bodyPr/>
          <a:lstStyle/>
          <a:p>
            <a:r>
              <a:rPr lang="en-US"/>
              <a:t>Suryanarayana</a:t>
            </a:r>
          </a:p>
        </p:txBody>
      </p:sp>
      <p:sp>
        <p:nvSpPr>
          <p:cNvPr id="7" name="Slide Number Placeholder 6">
            <a:extLst>
              <a:ext uri="{FF2B5EF4-FFF2-40B4-BE49-F238E27FC236}">
                <a16:creationId xmlns:a16="http://schemas.microsoft.com/office/drawing/2014/main" id="{3A6D6DCD-5CAB-493D-B90D-5FB3795C302B}"/>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628650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D295E-4A9D-40B5-962D-C4201C17D0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8576C82-F6F1-4481-84C6-40A1DE0A0A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8E40E7-4BEF-4AE8-A81B-8308860BF9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ED0C40-7C93-47EE-B801-F4B254FD1134}"/>
              </a:ext>
            </a:extLst>
          </p:cNvPr>
          <p:cNvSpPr>
            <a:spLocks noGrp="1"/>
          </p:cNvSpPr>
          <p:nvPr>
            <p:ph type="dt" sz="half" idx="10"/>
          </p:nvPr>
        </p:nvSpPr>
        <p:spPr/>
        <p:txBody>
          <a:bodyPr/>
          <a:lstStyle/>
          <a:p>
            <a:fld id="{30FD778C-651C-4584-9081-FCD8D1E2C8F0}" type="datetime1">
              <a:rPr lang="en-US" smtClean="0"/>
              <a:t>9/21/2023</a:t>
            </a:fld>
            <a:endParaRPr lang="en-US"/>
          </a:p>
        </p:txBody>
      </p:sp>
      <p:sp>
        <p:nvSpPr>
          <p:cNvPr id="6" name="Footer Placeholder 5">
            <a:extLst>
              <a:ext uri="{FF2B5EF4-FFF2-40B4-BE49-F238E27FC236}">
                <a16:creationId xmlns:a16="http://schemas.microsoft.com/office/drawing/2014/main" id="{F08C15F7-71FB-46EE-9034-CEFA37850DE6}"/>
              </a:ext>
            </a:extLst>
          </p:cNvPr>
          <p:cNvSpPr>
            <a:spLocks noGrp="1"/>
          </p:cNvSpPr>
          <p:nvPr>
            <p:ph type="ftr" sz="quarter" idx="11"/>
          </p:nvPr>
        </p:nvSpPr>
        <p:spPr/>
        <p:txBody>
          <a:bodyPr/>
          <a:lstStyle/>
          <a:p>
            <a:r>
              <a:rPr lang="en-US"/>
              <a:t>Suryanarayana</a:t>
            </a:r>
          </a:p>
        </p:txBody>
      </p:sp>
      <p:sp>
        <p:nvSpPr>
          <p:cNvPr id="7" name="Slide Number Placeholder 6">
            <a:extLst>
              <a:ext uri="{FF2B5EF4-FFF2-40B4-BE49-F238E27FC236}">
                <a16:creationId xmlns:a16="http://schemas.microsoft.com/office/drawing/2014/main" id="{0A5B243A-27C1-407B-995C-C80EDDD36005}"/>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10607940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3B020-63B9-4BF9-B46E-630CCA8D14B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A50300-809F-4B1C-BF1F-2C1EF82E1C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BD4618-E7CC-4722-B3AA-20767EE3B7EC}"/>
              </a:ext>
            </a:extLst>
          </p:cNvPr>
          <p:cNvSpPr>
            <a:spLocks noGrp="1"/>
          </p:cNvSpPr>
          <p:nvPr>
            <p:ph type="dt" sz="half" idx="10"/>
          </p:nvPr>
        </p:nvSpPr>
        <p:spPr/>
        <p:txBody>
          <a:bodyPr/>
          <a:lstStyle/>
          <a:p>
            <a:fld id="{47057DF8-B639-4E64-A182-C2B649110EB2}" type="datetime1">
              <a:rPr lang="en-US" smtClean="0"/>
              <a:t>9/21/2023</a:t>
            </a:fld>
            <a:endParaRPr lang="en-US"/>
          </a:p>
        </p:txBody>
      </p:sp>
      <p:sp>
        <p:nvSpPr>
          <p:cNvPr id="5" name="Footer Placeholder 4">
            <a:extLst>
              <a:ext uri="{FF2B5EF4-FFF2-40B4-BE49-F238E27FC236}">
                <a16:creationId xmlns:a16="http://schemas.microsoft.com/office/drawing/2014/main" id="{6EEC0B0F-962D-40AE-ABD3-0EA484E15F63}"/>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a16="http://schemas.microsoft.com/office/drawing/2014/main" id="{0740AE87-E966-4036-A783-F3B9616652AB}"/>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2711809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3D95C4-7F0B-4781-8E51-FCBD7CF6CD2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636C176-4EC6-451D-9FCF-4E0B4E7988D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842DD7-D7F2-4D2D-B342-780C9519A101}"/>
              </a:ext>
            </a:extLst>
          </p:cNvPr>
          <p:cNvSpPr>
            <a:spLocks noGrp="1"/>
          </p:cNvSpPr>
          <p:nvPr>
            <p:ph type="dt" sz="half" idx="10"/>
          </p:nvPr>
        </p:nvSpPr>
        <p:spPr/>
        <p:txBody>
          <a:bodyPr/>
          <a:lstStyle/>
          <a:p>
            <a:fld id="{1678DA11-2AD0-4EF1-ACC6-CA1DF6DA1166}" type="datetime1">
              <a:rPr lang="en-US" smtClean="0"/>
              <a:t>9/21/2023</a:t>
            </a:fld>
            <a:endParaRPr lang="en-US"/>
          </a:p>
        </p:txBody>
      </p:sp>
      <p:sp>
        <p:nvSpPr>
          <p:cNvPr id="5" name="Footer Placeholder 4">
            <a:extLst>
              <a:ext uri="{FF2B5EF4-FFF2-40B4-BE49-F238E27FC236}">
                <a16:creationId xmlns:a16="http://schemas.microsoft.com/office/drawing/2014/main" id="{FB1DD1C9-3310-40BF-A04F-E566FCA50C24}"/>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a16="http://schemas.microsoft.com/office/drawing/2014/main" id="{CD9A0831-D597-4CA4-AB0B-B9DDC151CB09}"/>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545315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B9F031-B0EE-4257-8C48-672A5B27A7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ACC5C53-8193-4B94-A5A2-9272C0FC20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7540B0-D806-4E03-A997-E808A0A9AF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E43162-5198-4A72-BD92-EECA15DB7CB4}" type="datetime1">
              <a:rPr lang="en-US" smtClean="0"/>
              <a:t>9/21/2023</a:t>
            </a:fld>
            <a:endParaRPr lang="en-US"/>
          </a:p>
        </p:txBody>
      </p:sp>
      <p:sp>
        <p:nvSpPr>
          <p:cNvPr id="5" name="Footer Placeholder 4">
            <a:extLst>
              <a:ext uri="{FF2B5EF4-FFF2-40B4-BE49-F238E27FC236}">
                <a16:creationId xmlns:a16="http://schemas.microsoft.com/office/drawing/2014/main" id="{44CBE7AA-0209-485D-98A0-22386CF87E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Suryanarayana</a:t>
            </a:r>
          </a:p>
        </p:txBody>
      </p:sp>
      <p:sp>
        <p:nvSpPr>
          <p:cNvPr id="6" name="Slide Number Placeholder 5">
            <a:extLst>
              <a:ext uri="{FF2B5EF4-FFF2-40B4-BE49-F238E27FC236}">
                <a16:creationId xmlns:a16="http://schemas.microsoft.com/office/drawing/2014/main" id="{7362E21E-194A-44F2-8CEA-40483DA3B7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9A21A4-CB3A-4A18-A46B-5DD19456934C}" type="slidenum">
              <a:rPr lang="en-US" smtClean="0"/>
              <a:t>‹#›</a:t>
            </a:fld>
            <a:endParaRPr lang="en-US"/>
          </a:p>
        </p:txBody>
      </p:sp>
    </p:spTree>
    <p:extLst>
      <p:ext uri="{BB962C8B-B14F-4D97-AF65-F5344CB8AC3E}">
        <p14:creationId xmlns:p14="http://schemas.microsoft.com/office/powerpoint/2010/main" val="39343785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3361173" y="165225"/>
                <a:ext cx="5361368" cy="400110"/>
              </a:xfrm>
              <a:prstGeom prst="rect">
                <a:avLst/>
              </a:prstGeom>
            </p:spPr>
            <p:txBody>
              <a:bodyPr wrap="square">
                <a:spAutoFit/>
              </a:bodyPr>
              <a:lstStyle/>
              <a:p>
                <a:pPr algn="ctr"/>
                <a:r>
                  <a:rPr lang="en-US" sz="2000" b="1" dirty="0">
                    <a:solidFill>
                      <a:schemeClr val="bg1"/>
                    </a:solidFill>
                    <a:latin typeface="Bookman Old Style" panose="02050604050505020204" pitchFamily="18" charset="0"/>
                  </a:rPr>
                  <a:t>Programming Structure</a:t>
                </a: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8" name="TextBox 7">
            <a:extLst>
              <a:ext uri="{FF2B5EF4-FFF2-40B4-BE49-F238E27FC236}">
                <a16:creationId xmlns:a16="http://schemas.microsoft.com/office/drawing/2014/main" id="{8926E692-C2BA-4CA4-96A9-4894146636A4}"/>
              </a:ext>
            </a:extLst>
          </p:cNvPr>
          <p:cNvSpPr txBox="1"/>
          <p:nvPr/>
        </p:nvSpPr>
        <p:spPr>
          <a:xfrm>
            <a:off x="834888" y="1302334"/>
            <a:ext cx="9621077" cy="2308324"/>
          </a:xfrm>
          <a:prstGeom prst="rect">
            <a:avLst/>
          </a:prstGeom>
          <a:noFill/>
        </p:spPr>
        <p:txBody>
          <a:bodyPr wrap="square" rtlCol="0">
            <a:spAutoFit/>
          </a:bodyPr>
          <a:lstStyle/>
          <a:p>
            <a:pPr algn="ctr"/>
            <a:r>
              <a:rPr lang="en-US" sz="7200" b="1" dirty="0">
                <a:solidFill>
                  <a:srgbClr val="FF0000"/>
                </a:solidFill>
                <a:latin typeface="Bookman Old Style" panose="02050604050505020204" pitchFamily="18" charset="0"/>
              </a:rPr>
              <a:t>Java Programming Structure</a:t>
            </a:r>
            <a:endParaRPr lang="en-US" sz="2400" b="1" dirty="0">
              <a:solidFill>
                <a:srgbClr val="FF0000"/>
              </a:solidFill>
              <a:latin typeface="Bookman Old Style" panose="02050604050505020204" pitchFamily="18" charset="0"/>
            </a:endParaRPr>
          </a:p>
        </p:txBody>
      </p:sp>
      <p:sp>
        <p:nvSpPr>
          <p:cNvPr id="7" name="Footer Placeholder 6">
            <a:extLst>
              <a:ext uri="{FF2B5EF4-FFF2-40B4-BE49-F238E27FC236}">
                <a16:creationId xmlns:a16="http://schemas.microsoft.com/office/drawing/2014/main" id="{754334D9-9503-30C3-362B-85A685D1A445}"/>
              </a:ext>
            </a:extLst>
          </p:cNvPr>
          <p:cNvSpPr>
            <a:spLocks noGrp="1"/>
          </p:cNvSpPr>
          <p:nvPr>
            <p:ph type="ftr" sz="quarter" idx="11"/>
          </p:nvPr>
        </p:nvSpPr>
        <p:spPr/>
        <p:txBody>
          <a:bodyPr/>
          <a:lstStyle/>
          <a:p>
            <a:r>
              <a:rPr lang="en-US" sz="16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3455563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5361368" cy="400110"/>
              </a:xfrm>
              <a:prstGeom prst="rect">
                <a:avLst/>
              </a:prstGeom>
            </p:spPr>
            <p:txBody>
              <a:bodyPr wrap="square">
                <a:spAutoFit/>
              </a:bodyPr>
              <a:lstStyle/>
              <a:p>
                <a:pPr algn="ctr"/>
                <a:r>
                  <a:rPr lang="en-US" sz="2000" b="1" dirty="0">
                    <a:solidFill>
                      <a:schemeClr val="bg1"/>
                    </a:solidFill>
                    <a:latin typeface="Bookman Old Style" panose="02050604050505020204" pitchFamily="18" charset="0"/>
                  </a:rPr>
                  <a:t>Programming Structure</a:t>
                </a: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15" name="TextBox 14">
            <a:extLst>
              <a:ext uri="{FF2B5EF4-FFF2-40B4-BE49-F238E27FC236}">
                <a16:creationId xmlns:a16="http://schemas.microsoft.com/office/drawing/2014/main" id="{65CE189D-79D5-458E-97C1-909D959793D4}"/>
              </a:ext>
            </a:extLst>
          </p:cNvPr>
          <p:cNvSpPr txBox="1"/>
          <p:nvPr/>
        </p:nvSpPr>
        <p:spPr>
          <a:xfrm>
            <a:off x="777871" y="1022682"/>
            <a:ext cx="8567529" cy="5262979"/>
          </a:xfrm>
          <a:prstGeom prst="rect">
            <a:avLst/>
          </a:prstGeom>
          <a:noFill/>
        </p:spPr>
        <p:txBody>
          <a:bodyPr wrap="square">
            <a:spAutoFit/>
          </a:bodyPr>
          <a:lstStyle/>
          <a:p>
            <a:pPr algn="just"/>
            <a:r>
              <a:rPr lang="en-US" sz="2800" b="1" u="sng" dirty="0">
                <a:solidFill>
                  <a:srgbClr val="FF0000"/>
                </a:solidFill>
              </a:rPr>
              <a:t>9 parts of Java program:</a:t>
            </a:r>
          </a:p>
          <a:p>
            <a:pPr algn="just"/>
            <a:r>
              <a:rPr lang="en-US" sz="2800" b="1" dirty="0">
                <a:solidFill>
                  <a:srgbClr val="FF0000"/>
                </a:solidFill>
              </a:rPr>
              <a:t>1) Comments (optional)</a:t>
            </a:r>
          </a:p>
          <a:p>
            <a:pPr algn="just"/>
            <a:r>
              <a:rPr lang="en-US" sz="2800" b="1" dirty="0">
                <a:solidFill>
                  <a:srgbClr val="FF0000"/>
                </a:solidFill>
              </a:rPr>
              <a:t>2) package declaration (optional)</a:t>
            </a:r>
          </a:p>
          <a:p>
            <a:pPr algn="just"/>
            <a:r>
              <a:rPr lang="en-US" sz="2800" b="1" dirty="0">
                <a:solidFill>
                  <a:srgbClr val="FF0000"/>
                </a:solidFill>
              </a:rPr>
              <a:t>3) import statements (optional)</a:t>
            </a:r>
          </a:p>
          <a:p>
            <a:pPr algn="just"/>
            <a:endParaRPr lang="en-US" sz="2800" b="1" dirty="0">
              <a:solidFill>
                <a:srgbClr val="FF0000"/>
              </a:solidFill>
            </a:endParaRPr>
          </a:p>
          <a:p>
            <a:pPr algn="just"/>
            <a:r>
              <a:rPr lang="en-US" sz="2800" b="1" dirty="0">
                <a:solidFill>
                  <a:srgbClr val="FF0000"/>
                </a:solidFill>
              </a:rPr>
              <a:t>4) class declaration (compulsory)</a:t>
            </a:r>
          </a:p>
          <a:p>
            <a:pPr algn="just"/>
            <a:r>
              <a:rPr lang="en-US" sz="2800" b="1" dirty="0">
                <a:solidFill>
                  <a:srgbClr val="FF0000"/>
                </a:solidFill>
              </a:rPr>
              <a:t>5) variable declaration (optional)</a:t>
            </a:r>
          </a:p>
          <a:p>
            <a:pPr algn="just"/>
            <a:r>
              <a:rPr lang="en-US" sz="2800" b="1" dirty="0">
                <a:solidFill>
                  <a:srgbClr val="FF0000"/>
                </a:solidFill>
              </a:rPr>
              <a:t>6) constructor implementation (optional)</a:t>
            </a:r>
          </a:p>
          <a:p>
            <a:pPr algn="just"/>
            <a:r>
              <a:rPr lang="en-US" sz="2800" b="1" dirty="0">
                <a:solidFill>
                  <a:srgbClr val="FF0000"/>
                </a:solidFill>
              </a:rPr>
              <a:t>7) method implementation (compulsory)</a:t>
            </a:r>
          </a:p>
          <a:p>
            <a:pPr algn="just"/>
            <a:endParaRPr lang="en-US" sz="2800" b="1" dirty="0">
              <a:solidFill>
                <a:srgbClr val="FF0000"/>
              </a:solidFill>
            </a:endParaRPr>
          </a:p>
          <a:p>
            <a:pPr algn="just"/>
            <a:r>
              <a:rPr lang="en-US" sz="2800" b="1" dirty="0">
                <a:solidFill>
                  <a:srgbClr val="FF0000"/>
                </a:solidFill>
              </a:rPr>
              <a:t>8) static blocks (optional)</a:t>
            </a:r>
          </a:p>
          <a:p>
            <a:pPr algn="just"/>
            <a:r>
              <a:rPr lang="en-US" sz="2800" b="1" dirty="0">
                <a:solidFill>
                  <a:srgbClr val="FF0000"/>
                </a:solidFill>
              </a:rPr>
              <a:t>9) non-static blocks (optional)</a:t>
            </a:r>
          </a:p>
        </p:txBody>
      </p:sp>
      <p:sp>
        <p:nvSpPr>
          <p:cNvPr id="7" name="Footer Placeholder 6">
            <a:extLst>
              <a:ext uri="{FF2B5EF4-FFF2-40B4-BE49-F238E27FC236}">
                <a16:creationId xmlns:a16="http://schemas.microsoft.com/office/drawing/2014/main" id="{AFB8D42A-0467-06FE-E728-59F3AE760618}"/>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0990500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5361368" cy="400110"/>
              </a:xfrm>
              <a:prstGeom prst="rect">
                <a:avLst/>
              </a:prstGeom>
            </p:spPr>
            <p:txBody>
              <a:bodyPr wrap="square">
                <a:spAutoFit/>
              </a:bodyPr>
              <a:lstStyle/>
              <a:p>
                <a:pPr algn="ctr"/>
                <a:r>
                  <a:rPr lang="en-US" sz="2000" b="1" dirty="0">
                    <a:solidFill>
                      <a:schemeClr val="bg1"/>
                    </a:solidFill>
                    <a:latin typeface="Bookman Old Style" panose="02050604050505020204" pitchFamily="18" charset="0"/>
                  </a:rPr>
                  <a:t>Comments</a:t>
                </a: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8" name="TextBox 7">
            <a:extLst>
              <a:ext uri="{FF2B5EF4-FFF2-40B4-BE49-F238E27FC236}">
                <a16:creationId xmlns:a16="http://schemas.microsoft.com/office/drawing/2014/main" id="{8926E692-C2BA-4CA4-96A9-4894146636A4}"/>
              </a:ext>
            </a:extLst>
          </p:cNvPr>
          <p:cNvSpPr txBox="1"/>
          <p:nvPr/>
        </p:nvSpPr>
        <p:spPr>
          <a:xfrm>
            <a:off x="2931693" y="2102552"/>
            <a:ext cx="4770986" cy="1323439"/>
          </a:xfrm>
          <a:prstGeom prst="rect">
            <a:avLst/>
          </a:prstGeom>
          <a:noFill/>
        </p:spPr>
        <p:txBody>
          <a:bodyPr wrap="none" rtlCol="0">
            <a:spAutoFit/>
          </a:bodyPr>
          <a:lstStyle/>
          <a:p>
            <a:pPr algn="just"/>
            <a:r>
              <a:rPr lang="en-US" sz="8000" b="1" u="sng" dirty="0">
                <a:solidFill>
                  <a:srgbClr val="FF0000"/>
                </a:solidFill>
              </a:rPr>
              <a:t>Comments</a:t>
            </a:r>
            <a:endParaRPr lang="en-US" sz="3200" b="1" u="sng" dirty="0">
              <a:solidFill>
                <a:srgbClr val="FF0000"/>
              </a:solidFill>
            </a:endParaRPr>
          </a:p>
        </p:txBody>
      </p:sp>
      <p:sp>
        <p:nvSpPr>
          <p:cNvPr id="7" name="Footer Placeholder 6">
            <a:extLst>
              <a:ext uri="{FF2B5EF4-FFF2-40B4-BE49-F238E27FC236}">
                <a16:creationId xmlns:a16="http://schemas.microsoft.com/office/drawing/2014/main" id="{D308C400-63FE-816B-1A57-9562BE34A54D}"/>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0285234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5361368" cy="400110"/>
              </a:xfrm>
              <a:prstGeom prst="rect">
                <a:avLst/>
              </a:prstGeom>
            </p:spPr>
            <p:txBody>
              <a:bodyPr wrap="square">
                <a:spAutoFit/>
              </a:bodyPr>
              <a:lstStyle/>
              <a:p>
                <a:pPr algn="ctr"/>
                <a:r>
                  <a:rPr lang="en-US" sz="2000" b="1" dirty="0">
                    <a:solidFill>
                      <a:schemeClr val="bg1"/>
                    </a:solidFill>
                    <a:latin typeface="Bookman Old Style" panose="02050604050505020204" pitchFamily="18" charset="0"/>
                  </a:rPr>
                  <a:t>Comments</a:t>
                </a: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8" name="TextBox 7">
            <a:extLst>
              <a:ext uri="{FF2B5EF4-FFF2-40B4-BE49-F238E27FC236}">
                <a16:creationId xmlns:a16="http://schemas.microsoft.com/office/drawing/2014/main" id="{8926E692-C2BA-4CA4-96A9-4894146636A4}"/>
              </a:ext>
            </a:extLst>
          </p:cNvPr>
          <p:cNvSpPr txBox="1"/>
          <p:nvPr/>
        </p:nvSpPr>
        <p:spPr>
          <a:xfrm>
            <a:off x="2043252" y="2036375"/>
            <a:ext cx="6350072" cy="2062103"/>
          </a:xfrm>
          <a:prstGeom prst="rect">
            <a:avLst/>
          </a:prstGeom>
          <a:noFill/>
        </p:spPr>
        <p:txBody>
          <a:bodyPr wrap="none" rtlCol="0">
            <a:spAutoFit/>
          </a:bodyPr>
          <a:lstStyle/>
          <a:p>
            <a:pPr algn="just"/>
            <a:r>
              <a:rPr lang="en-US" sz="3200" b="1" u="sng" dirty="0">
                <a:solidFill>
                  <a:srgbClr val="FF0000"/>
                </a:solidFill>
              </a:rPr>
              <a:t>Java supports 3 types of comments:</a:t>
            </a:r>
          </a:p>
          <a:p>
            <a:pPr marL="457200" indent="-457200" algn="just">
              <a:buFont typeface="Wingdings" panose="05000000000000000000" pitchFamily="2" charset="2"/>
              <a:buChar char="Ø"/>
            </a:pPr>
            <a:r>
              <a:rPr lang="en-US" sz="3200" b="1" dirty="0">
                <a:solidFill>
                  <a:srgbClr val="FF0000"/>
                </a:solidFill>
              </a:rPr>
              <a:t>Single line comment </a:t>
            </a:r>
            <a:r>
              <a:rPr lang="en-US" sz="3200" b="1" dirty="0">
                <a:solidFill>
                  <a:srgbClr val="0000FF"/>
                </a:solidFill>
              </a:rPr>
              <a:t>// </a:t>
            </a:r>
          </a:p>
          <a:p>
            <a:pPr marL="457200" indent="-457200" algn="just">
              <a:buFont typeface="Wingdings" panose="05000000000000000000" pitchFamily="2" charset="2"/>
              <a:buChar char="Ø"/>
            </a:pPr>
            <a:r>
              <a:rPr lang="en-US" sz="3200" b="1" dirty="0">
                <a:solidFill>
                  <a:srgbClr val="FF0000"/>
                </a:solidFill>
              </a:rPr>
              <a:t>Multi line comment </a:t>
            </a:r>
            <a:r>
              <a:rPr lang="en-US" sz="3200" b="1" dirty="0">
                <a:solidFill>
                  <a:srgbClr val="0000FF"/>
                </a:solidFill>
              </a:rPr>
              <a:t>/*   */</a:t>
            </a:r>
          </a:p>
          <a:p>
            <a:pPr marL="457200" indent="-457200" algn="just">
              <a:buFont typeface="Wingdings" panose="05000000000000000000" pitchFamily="2" charset="2"/>
              <a:buChar char="Ø"/>
            </a:pPr>
            <a:r>
              <a:rPr lang="en-US" sz="3200" b="1" dirty="0">
                <a:solidFill>
                  <a:srgbClr val="FF0000"/>
                </a:solidFill>
              </a:rPr>
              <a:t>Documentation comment </a:t>
            </a:r>
            <a:r>
              <a:rPr lang="en-US" sz="3200" b="1" dirty="0">
                <a:solidFill>
                  <a:srgbClr val="0000FF"/>
                </a:solidFill>
              </a:rPr>
              <a:t>/**   */</a:t>
            </a:r>
          </a:p>
        </p:txBody>
      </p:sp>
      <p:sp>
        <p:nvSpPr>
          <p:cNvPr id="7" name="Footer Placeholder 6">
            <a:extLst>
              <a:ext uri="{FF2B5EF4-FFF2-40B4-BE49-F238E27FC236}">
                <a16:creationId xmlns:a16="http://schemas.microsoft.com/office/drawing/2014/main" id="{46A89D91-56F4-1B7B-10D7-C914D13058EC}"/>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185902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5361368" cy="400110"/>
              </a:xfrm>
              <a:prstGeom prst="rect">
                <a:avLst/>
              </a:prstGeom>
            </p:spPr>
            <p:txBody>
              <a:bodyPr wrap="square">
                <a:spAutoFit/>
              </a:bodyPr>
              <a:lstStyle/>
              <a:p>
                <a:pPr algn="ctr"/>
                <a:r>
                  <a:rPr lang="en-US" sz="2000" b="1" dirty="0">
                    <a:solidFill>
                      <a:schemeClr val="bg1"/>
                    </a:solidFill>
                    <a:latin typeface="Bookman Old Style" panose="02050604050505020204" pitchFamily="18" charset="0"/>
                  </a:rPr>
                  <a:t>Comments</a:t>
                </a: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7" name="TextBox 6">
            <a:extLst>
              <a:ext uri="{FF2B5EF4-FFF2-40B4-BE49-F238E27FC236}">
                <a16:creationId xmlns:a16="http://schemas.microsoft.com/office/drawing/2014/main" id="{B5BDA951-69BC-47A9-8EAE-57E4502EA3EE}"/>
              </a:ext>
            </a:extLst>
          </p:cNvPr>
          <p:cNvSpPr txBox="1"/>
          <p:nvPr/>
        </p:nvSpPr>
        <p:spPr>
          <a:xfrm>
            <a:off x="437323" y="1169773"/>
            <a:ext cx="8100740" cy="4401205"/>
          </a:xfrm>
          <a:prstGeom prst="rect">
            <a:avLst/>
          </a:prstGeom>
          <a:noFill/>
        </p:spPr>
        <p:txBody>
          <a:bodyPr wrap="square" rtlCol="0">
            <a:spAutoFit/>
          </a:bodyPr>
          <a:lstStyle/>
          <a:p>
            <a:pPr algn="just"/>
            <a:r>
              <a:rPr lang="en-US" sz="2800" b="1" dirty="0"/>
              <a:t>Comments are the statements that are ignored by compiler &amp; interpreter.</a:t>
            </a:r>
          </a:p>
          <a:p>
            <a:pPr algn="just"/>
            <a:endParaRPr lang="en-US" sz="2800" b="1" dirty="0"/>
          </a:p>
          <a:p>
            <a:pPr marL="457200" indent="-457200" algn="just">
              <a:buFont typeface="Wingdings" panose="05000000000000000000" pitchFamily="2" charset="2"/>
              <a:buChar char="v"/>
            </a:pPr>
            <a:r>
              <a:rPr lang="en-US" sz="2800" b="1" dirty="0"/>
              <a:t>Comments are used to provide explanation about </a:t>
            </a:r>
          </a:p>
          <a:p>
            <a:pPr marL="914400" lvl="1" indent="-457200" algn="just">
              <a:buFont typeface="Wingdings" panose="05000000000000000000" pitchFamily="2" charset="2"/>
              <a:buChar char="ü"/>
            </a:pPr>
            <a:r>
              <a:rPr lang="en-US" sz="2800" b="1" dirty="0"/>
              <a:t>why class?</a:t>
            </a:r>
          </a:p>
          <a:p>
            <a:pPr marL="914400" lvl="1" indent="-457200" algn="just">
              <a:buFont typeface="Wingdings" panose="05000000000000000000" pitchFamily="2" charset="2"/>
              <a:buChar char="ü"/>
            </a:pPr>
            <a:r>
              <a:rPr lang="en-US" sz="2800" b="1" dirty="0"/>
              <a:t>why variable?</a:t>
            </a:r>
          </a:p>
          <a:p>
            <a:pPr marL="914400" lvl="1" indent="-457200" algn="just">
              <a:buFont typeface="Wingdings" panose="05000000000000000000" pitchFamily="2" charset="2"/>
              <a:buChar char="ü"/>
            </a:pPr>
            <a:r>
              <a:rPr lang="en-US" sz="2800" b="1" dirty="0"/>
              <a:t>why constructor?</a:t>
            </a:r>
          </a:p>
          <a:p>
            <a:pPr marL="914400" lvl="1" indent="-457200" algn="just">
              <a:buFont typeface="Wingdings" panose="05000000000000000000" pitchFamily="2" charset="2"/>
              <a:buChar char="ü"/>
            </a:pPr>
            <a:r>
              <a:rPr lang="en-US" sz="2800" b="1" dirty="0"/>
              <a:t>why method?</a:t>
            </a:r>
          </a:p>
          <a:p>
            <a:pPr marL="914400" lvl="1" indent="-457200" algn="just">
              <a:buFont typeface="Wingdings" panose="05000000000000000000" pitchFamily="2" charset="2"/>
              <a:buChar char="ü"/>
            </a:pPr>
            <a:r>
              <a:rPr lang="en-US" sz="2800" b="1" dirty="0"/>
              <a:t>why and how logic is written inside method?</a:t>
            </a:r>
          </a:p>
          <a:p>
            <a:pPr marL="457200" indent="-457200" algn="just">
              <a:buFont typeface="Wingdings" panose="05000000000000000000" pitchFamily="2" charset="2"/>
              <a:buChar char="v"/>
            </a:pPr>
            <a:r>
              <a:rPr lang="en-IN" sz="2800" b="1" dirty="0"/>
              <a:t>By reading comments others understand our code</a:t>
            </a:r>
            <a:endParaRPr lang="en-US" sz="2800" b="1" dirty="0"/>
          </a:p>
        </p:txBody>
      </p:sp>
      <p:sp>
        <p:nvSpPr>
          <p:cNvPr id="8" name="Footer Placeholder 7">
            <a:extLst>
              <a:ext uri="{FF2B5EF4-FFF2-40B4-BE49-F238E27FC236}">
                <a16:creationId xmlns:a16="http://schemas.microsoft.com/office/drawing/2014/main" id="{4BF992E0-9A05-BB17-8C50-E772838E0B20}"/>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7298423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5361368" cy="400110"/>
              </a:xfrm>
              <a:prstGeom prst="rect">
                <a:avLst/>
              </a:prstGeom>
            </p:spPr>
            <p:txBody>
              <a:bodyPr wrap="square">
                <a:spAutoFit/>
              </a:bodyPr>
              <a:lstStyle/>
              <a:p>
                <a:pPr algn="ctr"/>
                <a:r>
                  <a:rPr lang="en-US" sz="2000" b="1" dirty="0">
                    <a:solidFill>
                      <a:schemeClr val="bg1"/>
                    </a:solidFill>
                    <a:latin typeface="Bookman Old Style" panose="02050604050505020204" pitchFamily="18" charset="0"/>
                  </a:rPr>
                  <a:t>Comments</a:t>
                </a: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8" name="TextBox 7">
            <a:extLst>
              <a:ext uri="{FF2B5EF4-FFF2-40B4-BE49-F238E27FC236}">
                <a16:creationId xmlns:a16="http://schemas.microsoft.com/office/drawing/2014/main" id="{8926E692-C2BA-4CA4-96A9-4894146636A4}"/>
              </a:ext>
            </a:extLst>
          </p:cNvPr>
          <p:cNvSpPr txBox="1"/>
          <p:nvPr/>
        </p:nvSpPr>
        <p:spPr>
          <a:xfrm>
            <a:off x="793140" y="1121856"/>
            <a:ext cx="8231590" cy="2739211"/>
          </a:xfrm>
          <a:prstGeom prst="rect">
            <a:avLst/>
          </a:prstGeom>
          <a:noFill/>
        </p:spPr>
        <p:txBody>
          <a:bodyPr wrap="square" rtlCol="0">
            <a:spAutoFit/>
          </a:bodyPr>
          <a:lstStyle/>
          <a:p>
            <a:pPr algn="just"/>
            <a:r>
              <a:rPr lang="en-US" sz="2400" b="1" dirty="0" err="1">
                <a:solidFill>
                  <a:srgbClr val="FF0000"/>
                </a:solidFill>
                <a:latin typeface="Bookman Old Style" panose="02050604050505020204" pitchFamily="18" charset="0"/>
              </a:rPr>
              <a:t>i</a:t>
            </a:r>
            <a:r>
              <a:rPr lang="en-US" sz="2400" b="1" dirty="0">
                <a:solidFill>
                  <a:srgbClr val="FF0000"/>
                </a:solidFill>
                <a:latin typeface="Bookman Old Style" panose="02050604050505020204" pitchFamily="18" charset="0"/>
              </a:rPr>
              <a:t>) Single line comment </a:t>
            </a:r>
          </a:p>
          <a:p>
            <a:pPr algn="just"/>
            <a:r>
              <a:rPr lang="en-US" sz="2400" b="1" dirty="0">
                <a:solidFill>
                  <a:srgbClr val="0000FF"/>
                </a:solidFill>
                <a:latin typeface="Bookman Old Style" panose="02050604050505020204" pitchFamily="18" charset="0"/>
              </a:rPr>
              <a:t>Ex: // </a:t>
            </a:r>
          </a:p>
          <a:p>
            <a:pPr algn="just"/>
            <a:r>
              <a:rPr lang="en-US" sz="2400" b="1" dirty="0">
                <a:solidFill>
                  <a:srgbClr val="0000FF"/>
                </a:solidFill>
                <a:latin typeface="Bookman Old Style" panose="02050604050505020204" pitchFamily="18" charset="0"/>
              </a:rPr>
              <a:t>- </a:t>
            </a:r>
            <a:r>
              <a:rPr lang="en-US" sz="2000" b="1" dirty="0">
                <a:solidFill>
                  <a:srgbClr val="0000FF"/>
                </a:solidFill>
                <a:latin typeface="Bookman Old Style" panose="02050604050505020204" pitchFamily="18" charset="0"/>
              </a:rPr>
              <a:t>To write class name as a file name</a:t>
            </a:r>
          </a:p>
          <a:p>
            <a:pPr algn="just"/>
            <a:r>
              <a:rPr lang="en-US" sz="2000" b="1" dirty="0">
                <a:solidFill>
                  <a:srgbClr val="0000FF"/>
                </a:solidFill>
                <a:latin typeface="Bookman Old Style" panose="02050604050505020204" pitchFamily="18" charset="0"/>
              </a:rPr>
              <a:t>- In informal documentation to describe about following classname, variable name, constructor, method </a:t>
            </a:r>
            <a:r>
              <a:rPr lang="en-US" sz="2000" b="1" dirty="0" err="1">
                <a:solidFill>
                  <a:srgbClr val="0000FF"/>
                </a:solidFill>
                <a:latin typeface="Bookman Old Style" panose="02050604050505020204" pitchFamily="18" charset="0"/>
              </a:rPr>
              <a:t>etc</a:t>
            </a:r>
            <a:endParaRPr lang="en-US" sz="2000" b="1" dirty="0">
              <a:solidFill>
                <a:srgbClr val="0000FF"/>
              </a:solidFill>
              <a:latin typeface="Bookman Old Style" panose="02050604050505020204" pitchFamily="18" charset="0"/>
            </a:endParaRPr>
          </a:p>
          <a:p>
            <a:pPr algn="just"/>
            <a:r>
              <a:rPr lang="en-US" sz="2000" b="1" dirty="0">
                <a:solidFill>
                  <a:srgbClr val="0000FF"/>
                </a:solidFill>
                <a:latin typeface="Bookman Old Style" panose="02050604050505020204" pitchFamily="18" charset="0"/>
              </a:rPr>
              <a:t>- Inside method to comment single lines such as var declaration, var initialization, object creation, method calling and return statements</a:t>
            </a:r>
          </a:p>
        </p:txBody>
      </p:sp>
      <p:sp>
        <p:nvSpPr>
          <p:cNvPr id="7" name="Footer Placeholder 6">
            <a:extLst>
              <a:ext uri="{FF2B5EF4-FFF2-40B4-BE49-F238E27FC236}">
                <a16:creationId xmlns:a16="http://schemas.microsoft.com/office/drawing/2014/main" id="{8CD3D8BD-3819-EC58-E686-12247B1CAB4E}"/>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1641320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5361368" cy="400110"/>
              </a:xfrm>
              <a:prstGeom prst="rect">
                <a:avLst/>
              </a:prstGeom>
            </p:spPr>
            <p:txBody>
              <a:bodyPr wrap="square">
                <a:spAutoFit/>
              </a:bodyPr>
              <a:lstStyle/>
              <a:p>
                <a:pPr algn="ctr"/>
                <a:r>
                  <a:rPr lang="en-US" sz="2000" b="1" dirty="0">
                    <a:solidFill>
                      <a:schemeClr val="bg1"/>
                    </a:solidFill>
                    <a:latin typeface="Bookman Old Style" panose="02050604050505020204" pitchFamily="18" charset="0"/>
                  </a:rPr>
                  <a:t>Comments</a:t>
                </a: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8" name="TextBox 7">
            <a:extLst>
              <a:ext uri="{FF2B5EF4-FFF2-40B4-BE49-F238E27FC236}">
                <a16:creationId xmlns:a16="http://schemas.microsoft.com/office/drawing/2014/main" id="{8926E692-C2BA-4CA4-96A9-4894146636A4}"/>
              </a:ext>
            </a:extLst>
          </p:cNvPr>
          <p:cNvSpPr txBox="1"/>
          <p:nvPr/>
        </p:nvSpPr>
        <p:spPr>
          <a:xfrm>
            <a:off x="793140" y="1121856"/>
            <a:ext cx="8575448" cy="5262979"/>
          </a:xfrm>
          <a:prstGeom prst="rect">
            <a:avLst/>
          </a:prstGeom>
          <a:noFill/>
        </p:spPr>
        <p:txBody>
          <a:bodyPr wrap="square" rtlCol="0">
            <a:spAutoFit/>
          </a:bodyPr>
          <a:lstStyle/>
          <a:p>
            <a:pPr algn="just"/>
            <a:r>
              <a:rPr lang="en-US" sz="1600" b="1" dirty="0">
                <a:solidFill>
                  <a:srgbClr val="FF0000"/>
                </a:solidFill>
                <a:latin typeface="Bookman Old Style" panose="02050604050505020204" pitchFamily="18" charset="0"/>
              </a:rPr>
              <a:t>ii) Multi line comment</a:t>
            </a:r>
          </a:p>
          <a:p>
            <a:pPr algn="just"/>
            <a:r>
              <a:rPr lang="en-US" sz="1600" b="1" dirty="0">
                <a:solidFill>
                  <a:srgbClr val="0000FF"/>
                </a:solidFill>
                <a:latin typeface="Bookman Old Style" panose="02050604050505020204" pitchFamily="18" charset="0"/>
              </a:rPr>
              <a:t>- we will use multi line comment to comment a block of code in the method such as conditions, loops, exception handling</a:t>
            </a:r>
          </a:p>
          <a:p>
            <a:pPr algn="just"/>
            <a:r>
              <a:rPr lang="en-US" sz="1600" b="1" dirty="0">
                <a:solidFill>
                  <a:srgbClr val="0000FF"/>
                </a:solidFill>
                <a:latin typeface="Bookman Old Style" panose="02050604050505020204" pitchFamily="18" charset="0"/>
              </a:rPr>
              <a:t>- old method implementations</a:t>
            </a:r>
          </a:p>
          <a:p>
            <a:pPr algn="just"/>
            <a:r>
              <a:rPr lang="en-US" sz="1600" b="1" dirty="0">
                <a:solidFill>
                  <a:srgbClr val="FF0000"/>
                </a:solidFill>
                <a:latin typeface="Bookman Old Style" panose="02050604050505020204" pitchFamily="18" charset="0"/>
              </a:rPr>
              <a:t>/*</a:t>
            </a:r>
          </a:p>
          <a:p>
            <a:pPr algn="just"/>
            <a:r>
              <a:rPr lang="en-US" sz="1600" b="1" dirty="0">
                <a:solidFill>
                  <a:srgbClr val="FF0000"/>
                </a:solidFill>
                <a:latin typeface="Bookman Old Style" panose="02050604050505020204" pitchFamily="18" charset="0"/>
              </a:rPr>
              <a:t>  we can write</a:t>
            </a:r>
          </a:p>
          <a:p>
            <a:pPr algn="just"/>
            <a:r>
              <a:rPr lang="en-US" sz="1600" b="1" dirty="0">
                <a:solidFill>
                  <a:srgbClr val="FF0000"/>
                </a:solidFill>
                <a:latin typeface="Bookman Old Style" panose="02050604050505020204" pitchFamily="18" charset="0"/>
              </a:rPr>
              <a:t>	multiple lines of comment</a:t>
            </a:r>
          </a:p>
          <a:p>
            <a:pPr algn="just"/>
            <a:r>
              <a:rPr lang="en-US" sz="1600" b="1" dirty="0">
                <a:solidFill>
                  <a:srgbClr val="FF0000"/>
                </a:solidFill>
                <a:latin typeface="Bookman Old Style" panose="02050604050505020204" pitchFamily="18" charset="0"/>
              </a:rPr>
              <a:t>  in below method implementation (or) we can put unused logic in multi line comment</a:t>
            </a:r>
          </a:p>
          <a:p>
            <a:pPr algn="just"/>
            <a:r>
              <a:rPr lang="en-US" sz="1600" b="1" dirty="0">
                <a:solidFill>
                  <a:srgbClr val="FF0000"/>
                </a:solidFill>
                <a:latin typeface="Bookman Old Style" panose="02050604050505020204" pitchFamily="18" charset="0"/>
              </a:rPr>
              <a:t>*/</a:t>
            </a:r>
          </a:p>
          <a:p>
            <a:pPr algn="just"/>
            <a:r>
              <a:rPr lang="en-US" sz="1600" b="1" dirty="0">
                <a:solidFill>
                  <a:srgbClr val="0000FF"/>
                </a:solidFill>
                <a:latin typeface="Bookman Old Style" panose="02050604050505020204" pitchFamily="18" charset="0"/>
              </a:rPr>
              <a:t>  </a:t>
            </a:r>
          </a:p>
          <a:p>
            <a:pPr algn="just"/>
            <a:r>
              <a:rPr lang="en-US" sz="1600" b="1" dirty="0">
                <a:solidFill>
                  <a:srgbClr val="0000FF"/>
                </a:solidFill>
                <a:latin typeface="Bookman Old Style" panose="02050604050505020204" pitchFamily="18" charset="0"/>
              </a:rPr>
              <a:t>  for( int </a:t>
            </a:r>
            <a:r>
              <a:rPr lang="en-US" sz="1600" b="1" dirty="0" err="1">
                <a:solidFill>
                  <a:srgbClr val="0000FF"/>
                </a:solidFill>
                <a:latin typeface="Bookman Old Style" panose="02050604050505020204" pitchFamily="18" charset="0"/>
              </a:rPr>
              <a:t>i</a:t>
            </a:r>
            <a:r>
              <a:rPr lang="en-US" sz="1600" b="1" dirty="0">
                <a:solidFill>
                  <a:srgbClr val="0000FF"/>
                </a:solidFill>
                <a:latin typeface="Bookman Old Style" panose="02050604050505020204" pitchFamily="18" charset="0"/>
              </a:rPr>
              <a:t>=0; </a:t>
            </a:r>
            <a:r>
              <a:rPr lang="en-US" sz="1600" b="1" dirty="0" err="1">
                <a:solidFill>
                  <a:srgbClr val="0000FF"/>
                </a:solidFill>
                <a:latin typeface="Bookman Old Style" panose="02050604050505020204" pitchFamily="18" charset="0"/>
              </a:rPr>
              <a:t>i</a:t>
            </a:r>
            <a:r>
              <a:rPr lang="en-US" sz="1600" b="1" dirty="0">
                <a:solidFill>
                  <a:srgbClr val="0000FF"/>
                </a:solidFill>
                <a:latin typeface="Bookman Old Style" panose="02050604050505020204" pitchFamily="18" charset="0"/>
              </a:rPr>
              <a:t>&lt;20; </a:t>
            </a:r>
            <a:r>
              <a:rPr lang="en-US" sz="1600" b="1" dirty="0" err="1">
                <a:solidFill>
                  <a:srgbClr val="0000FF"/>
                </a:solidFill>
                <a:latin typeface="Bookman Old Style" panose="02050604050505020204" pitchFamily="18" charset="0"/>
              </a:rPr>
              <a:t>i</a:t>
            </a:r>
            <a:r>
              <a:rPr lang="en-US" sz="1600" b="1" dirty="0">
                <a:solidFill>
                  <a:srgbClr val="0000FF"/>
                </a:solidFill>
                <a:latin typeface="Bookman Old Style" panose="02050604050505020204" pitchFamily="18" charset="0"/>
              </a:rPr>
              <a:t>++) {</a:t>
            </a:r>
          </a:p>
          <a:p>
            <a:pPr algn="just"/>
            <a:r>
              <a:rPr lang="en-US" sz="1600" b="1" dirty="0">
                <a:solidFill>
                  <a:srgbClr val="FF0000"/>
                </a:solidFill>
                <a:latin typeface="Bookman Old Style" panose="02050604050505020204" pitchFamily="18" charset="0"/>
              </a:rPr>
              <a:t>    /*</a:t>
            </a:r>
          </a:p>
          <a:p>
            <a:pPr algn="just"/>
            <a:r>
              <a:rPr lang="en-US" sz="1600" b="1" dirty="0">
                <a:solidFill>
                  <a:srgbClr val="FF0000"/>
                </a:solidFill>
                <a:latin typeface="Bookman Old Style" panose="02050604050505020204" pitchFamily="18" charset="0"/>
              </a:rPr>
              <a:t>	if(i%2==0) {</a:t>
            </a:r>
          </a:p>
          <a:p>
            <a:pPr algn="just"/>
            <a:r>
              <a:rPr lang="en-US" sz="1600" b="1" dirty="0">
                <a:solidFill>
                  <a:srgbClr val="FF0000"/>
                </a:solidFill>
                <a:latin typeface="Bookman Old Style" panose="02050604050505020204" pitchFamily="18" charset="0"/>
              </a:rPr>
              <a:t>	     System.out.println("This is even number");</a:t>
            </a:r>
          </a:p>
          <a:p>
            <a:pPr algn="just"/>
            <a:r>
              <a:rPr lang="en-US" sz="1600" b="1" dirty="0">
                <a:solidFill>
                  <a:srgbClr val="FF0000"/>
                </a:solidFill>
                <a:latin typeface="Bookman Old Style" panose="02050604050505020204" pitchFamily="18" charset="0"/>
              </a:rPr>
              <a:t>	  } else {</a:t>
            </a:r>
          </a:p>
          <a:p>
            <a:pPr algn="just"/>
            <a:r>
              <a:rPr lang="en-US" sz="1600" b="1" dirty="0">
                <a:solidFill>
                  <a:srgbClr val="FF0000"/>
                </a:solidFill>
                <a:latin typeface="Bookman Old Style" panose="02050604050505020204" pitchFamily="18" charset="0"/>
              </a:rPr>
              <a:t>	     System.out.println("This is odd number");</a:t>
            </a:r>
          </a:p>
          <a:p>
            <a:pPr algn="just"/>
            <a:r>
              <a:rPr lang="en-US" sz="1600" b="1" dirty="0">
                <a:solidFill>
                  <a:srgbClr val="FF0000"/>
                </a:solidFill>
                <a:latin typeface="Bookman Old Style" panose="02050604050505020204" pitchFamily="18" charset="0"/>
              </a:rPr>
              <a:t>	  }</a:t>
            </a:r>
          </a:p>
          <a:p>
            <a:pPr algn="just"/>
            <a:r>
              <a:rPr lang="en-US" sz="1600" b="1" dirty="0">
                <a:solidFill>
                  <a:srgbClr val="FF0000"/>
                </a:solidFill>
                <a:latin typeface="Bookman Old Style" panose="02050604050505020204" pitchFamily="18" charset="0"/>
              </a:rPr>
              <a:t>    */</a:t>
            </a:r>
          </a:p>
          <a:p>
            <a:pPr algn="just"/>
            <a:r>
              <a:rPr lang="en-US" sz="1600" b="1" dirty="0">
                <a:solidFill>
                  <a:srgbClr val="0000FF"/>
                </a:solidFill>
                <a:latin typeface="Bookman Old Style" panose="02050604050505020204" pitchFamily="18" charset="0"/>
              </a:rPr>
              <a:t>     var _oddOr$even=(i%2==0)?"This is even number":"This is odd number";</a:t>
            </a:r>
          </a:p>
          <a:p>
            <a:pPr algn="just"/>
            <a:r>
              <a:rPr lang="en-US" sz="1600" b="1" dirty="0">
                <a:solidFill>
                  <a:srgbClr val="0000FF"/>
                </a:solidFill>
                <a:latin typeface="Bookman Old Style" panose="02050604050505020204" pitchFamily="18" charset="0"/>
              </a:rPr>
              <a:t>  }</a:t>
            </a:r>
            <a:endParaRPr lang="en-US" sz="1400" b="1" dirty="0">
              <a:solidFill>
                <a:srgbClr val="0000FF"/>
              </a:solidFill>
              <a:latin typeface="Bookman Old Style" panose="02050604050505020204" pitchFamily="18" charset="0"/>
            </a:endParaRPr>
          </a:p>
        </p:txBody>
      </p:sp>
      <p:sp>
        <p:nvSpPr>
          <p:cNvPr id="7" name="Footer Placeholder 6">
            <a:extLst>
              <a:ext uri="{FF2B5EF4-FFF2-40B4-BE49-F238E27FC236}">
                <a16:creationId xmlns:a16="http://schemas.microsoft.com/office/drawing/2014/main" id="{970C82FA-BF97-9C94-3000-DF23EF4857D3}"/>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2324275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5361368" cy="400110"/>
              </a:xfrm>
              <a:prstGeom prst="rect">
                <a:avLst/>
              </a:prstGeom>
            </p:spPr>
            <p:txBody>
              <a:bodyPr wrap="square">
                <a:spAutoFit/>
              </a:bodyPr>
              <a:lstStyle/>
              <a:p>
                <a:pPr algn="ctr"/>
                <a:r>
                  <a:rPr lang="en-US" sz="2000" b="1" dirty="0">
                    <a:solidFill>
                      <a:schemeClr val="bg1"/>
                    </a:solidFill>
                    <a:latin typeface="Bookman Old Style" panose="02050604050505020204" pitchFamily="18" charset="0"/>
                  </a:rPr>
                  <a:t>Comments</a:t>
                </a: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8" name="TextBox 7">
            <a:extLst>
              <a:ext uri="{FF2B5EF4-FFF2-40B4-BE49-F238E27FC236}">
                <a16:creationId xmlns:a16="http://schemas.microsoft.com/office/drawing/2014/main" id="{8926E692-C2BA-4CA4-96A9-4894146636A4}"/>
              </a:ext>
            </a:extLst>
          </p:cNvPr>
          <p:cNvSpPr txBox="1"/>
          <p:nvPr/>
        </p:nvSpPr>
        <p:spPr>
          <a:xfrm>
            <a:off x="793140" y="817053"/>
            <a:ext cx="8575448" cy="5401479"/>
          </a:xfrm>
          <a:prstGeom prst="rect">
            <a:avLst/>
          </a:prstGeom>
          <a:noFill/>
        </p:spPr>
        <p:txBody>
          <a:bodyPr wrap="square" rtlCol="0">
            <a:spAutoFit/>
          </a:bodyPr>
          <a:lstStyle/>
          <a:p>
            <a:pPr algn="just"/>
            <a:r>
              <a:rPr lang="en-US" sz="1500" b="1" dirty="0">
                <a:solidFill>
                  <a:srgbClr val="FF0000"/>
                </a:solidFill>
                <a:latin typeface="Bookman Old Style" panose="02050604050505020204" pitchFamily="18" charset="0"/>
              </a:rPr>
              <a:t>iii) Java Documentation comment</a:t>
            </a:r>
          </a:p>
          <a:p>
            <a:pPr algn="just"/>
            <a:endParaRPr lang="en-US" sz="1500" b="1" dirty="0">
              <a:solidFill>
                <a:srgbClr val="FF0000"/>
              </a:solidFill>
              <a:latin typeface="Bookman Old Style" panose="02050604050505020204" pitchFamily="18" charset="0"/>
            </a:endParaRPr>
          </a:p>
          <a:p>
            <a:pPr algn="just"/>
            <a:r>
              <a:rPr lang="en-US" sz="1500" b="1" dirty="0">
                <a:solidFill>
                  <a:srgbClr val="FF0000"/>
                </a:solidFill>
                <a:latin typeface="Bookman Old Style" panose="02050604050505020204" pitchFamily="18" charset="0"/>
              </a:rPr>
              <a:t>/**</a:t>
            </a:r>
          </a:p>
          <a:p>
            <a:pPr algn="just"/>
            <a:r>
              <a:rPr lang="en-US" sz="1500" dirty="0">
                <a:solidFill>
                  <a:srgbClr val="FF0000"/>
                </a:solidFill>
                <a:latin typeface="Bookman Old Style" panose="02050604050505020204" pitchFamily="18" charset="0"/>
              </a:rPr>
              <a:t>* The following method adds two integer variables and return integer.</a:t>
            </a:r>
          </a:p>
          <a:p>
            <a:pPr algn="just"/>
            <a:r>
              <a:rPr lang="en-US" sz="1500" dirty="0">
                <a:solidFill>
                  <a:srgbClr val="FF0000"/>
                </a:solidFill>
                <a:latin typeface="Bookman Old Style" panose="02050604050505020204" pitchFamily="18" charset="0"/>
              </a:rPr>
              <a:t>* @author Surya</a:t>
            </a:r>
          </a:p>
          <a:p>
            <a:pPr algn="just"/>
            <a:r>
              <a:rPr lang="en-US" sz="1500" dirty="0">
                <a:solidFill>
                  <a:srgbClr val="FF0000"/>
                </a:solidFill>
                <a:latin typeface="Bookman Old Style" panose="02050604050505020204" pitchFamily="18" charset="0"/>
              </a:rPr>
              <a:t>* @version 1.0</a:t>
            </a:r>
          </a:p>
          <a:p>
            <a:pPr algn="just"/>
            <a:r>
              <a:rPr lang="en-US" sz="1500" dirty="0">
                <a:solidFill>
                  <a:srgbClr val="FF0000"/>
                </a:solidFill>
                <a:latin typeface="Bookman Old Style" panose="02050604050505020204" pitchFamily="18" charset="0"/>
              </a:rPr>
              <a:t>* @since 05-01-2022</a:t>
            </a:r>
          </a:p>
          <a:p>
            <a:pPr algn="just"/>
            <a:r>
              <a:rPr lang="en-US" sz="1500" dirty="0">
                <a:solidFill>
                  <a:srgbClr val="FF0000"/>
                </a:solidFill>
                <a:latin typeface="Bookman Old Style" panose="02050604050505020204" pitchFamily="18" charset="0"/>
              </a:rPr>
              <a:t>* @param </a:t>
            </a:r>
            <a:r>
              <a:rPr lang="en-US" sz="1500" dirty="0" err="1">
                <a:solidFill>
                  <a:srgbClr val="FF0000"/>
                </a:solidFill>
                <a:latin typeface="Bookman Old Style" panose="02050604050505020204" pitchFamily="18" charset="0"/>
              </a:rPr>
              <a:t>i</a:t>
            </a:r>
            <a:r>
              <a:rPr lang="en-US" sz="1500" dirty="0">
                <a:solidFill>
                  <a:srgbClr val="FF0000"/>
                </a:solidFill>
                <a:latin typeface="Bookman Old Style" panose="02050604050505020204" pitchFamily="18" charset="0"/>
              </a:rPr>
              <a:t> is integer</a:t>
            </a:r>
          </a:p>
          <a:p>
            <a:pPr algn="just"/>
            <a:r>
              <a:rPr lang="en-US" sz="1500" dirty="0">
                <a:solidFill>
                  <a:srgbClr val="FF0000"/>
                </a:solidFill>
                <a:latin typeface="Bookman Old Style" panose="02050604050505020204" pitchFamily="18" charset="0"/>
              </a:rPr>
              <a:t>* @param j is integer</a:t>
            </a:r>
          </a:p>
          <a:p>
            <a:pPr algn="just"/>
            <a:r>
              <a:rPr lang="en-US" sz="1500" dirty="0">
                <a:solidFill>
                  <a:srgbClr val="FF0000"/>
                </a:solidFill>
                <a:latin typeface="Bookman Old Style" panose="02050604050505020204" pitchFamily="18" charset="0"/>
              </a:rPr>
              <a:t>* @return integer</a:t>
            </a:r>
          </a:p>
          <a:p>
            <a:pPr algn="just"/>
            <a:r>
              <a:rPr lang="en-US" sz="1500" dirty="0">
                <a:solidFill>
                  <a:srgbClr val="FF0000"/>
                </a:solidFill>
                <a:latin typeface="Bookman Old Style" panose="02050604050505020204" pitchFamily="18" charset="0"/>
              </a:rPr>
              <a:t>* @exception This method parameters must be non-negative or non-zero values, otherwise IllegalArgumentException is thrown</a:t>
            </a:r>
          </a:p>
          <a:p>
            <a:pPr algn="just"/>
            <a:r>
              <a:rPr lang="en-US" sz="1500" b="1" dirty="0">
                <a:solidFill>
                  <a:srgbClr val="FF0000"/>
                </a:solidFill>
                <a:latin typeface="Bookman Old Style" panose="02050604050505020204" pitchFamily="18" charset="0"/>
              </a:rPr>
              <a:t>*/</a:t>
            </a:r>
          </a:p>
          <a:p>
            <a:pPr algn="just"/>
            <a:r>
              <a:rPr lang="en-US" sz="1500" b="1" dirty="0">
                <a:solidFill>
                  <a:srgbClr val="0000FF"/>
                </a:solidFill>
                <a:latin typeface="Bookman Old Style" panose="02050604050505020204" pitchFamily="18" charset="0"/>
              </a:rPr>
              <a:t>public int add(int </a:t>
            </a:r>
            <a:r>
              <a:rPr lang="en-US" sz="1500" b="1" dirty="0" err="1">
                <a:solidFill>
                  <a:srgbClr val="0000FF"/>
                </a:solidFill>
                <a:latin typeface="Bookman Old Style" panose="02050604050505020204" pitchFamily="18" charset="0"/>
              </a:rPr>
              <a:t>i</a:t>
            </a:r>
            <a:r>
              <a:rPr lang="en-US" sz="1500" b="1" dirty="0">
                <a:solidFill>
                  <a:srgbClr val="0000FF"/>
                </a:solidFill>
                <a:latin typeface="Bookman Old Style" panose="02050604050505020204" pitchFamily="18" charset="0"/>
              </a:rPr>
              <a:t>, int j) throws IllegalArgumentException {</a:t>
            </a:r>
          </a:p>
          <a:p>
            <a:pPr algn="just"/>
            <a:r>
              <a:rPr lang="en-US" sz="1500" b="1" dirty="0">
                <a:solidFill>
                  <a:srgbClr val="0000FF"/>
                </a:solidFill>
                <a:latin typeface="Bookman Old Style" panose="02050604050505020204" pitchFamily="18" charset="0"/>
              </a:rPr>
              <a:t>	if(</a:t>
            </a:r>
            <a:r>
              <a:rPr lang="en-US" sz="1500" b="1" dirty="0" err="1">
                <a:solidFill>
                  <a:srgbClr val="0000FF"/>
                </a:solidFill>
                <a:latin typeface="Bookman Old Style" panose="02050604050505020204" pitchFamily="18" charset="0"/>
              </a:rPr>
              <a:t>i</a:t>
            </a:r>
            <a:r>
              <a:rPr lang="en-US" sz="1500" b="1" dirty="0">
                <a:solidFill>
                  <a:srgbClr val="0000FF"/>
                </a:solidFill>
                <a:latin typeface="Bookman Old Style" panose="02050604050505020204" pitchFamily="18" charset="0"/>
              </a:rPr>
              <a:t>&lt;=0 &amp;&amp; j&lt;=0) {</a:t>
            </a:r>
          </a:p>
          <a:p>
            <a:pPr algn="just"/>
            <a:r>
              <a:rPr lang="en-US" sz="1500" b="1" dirty="0">
                <a:solidFill>
                  <a:srgbClr val="0000FF"/>
                </a:solidFill>
                <a:latin typeface="Bookman Old Style" panose="02050604050505020204" pitchFamily="18" charset="0"/>
              </a:rPr>
              <a:t>		throw new IllegalArgumentException();</a:t>
            </a:r>
          </a:p>
          <a:p>
            <a:pPr algn="just"/>
            <a:r>
              <a:rPr lang="en-US" sz="1500" b="1" dirty="0">
                <a:solidFill>
                  <a:srgbClr val="0000FF"/>
                </a:solidFill>
                <a:latin typeface="Bookman Old Style" panose="02050604050505020204" pitchFamily="18" charset="0"/>
              </a:rPr>
              <a:t>	}</a:t>
            </a:r>
          </a:p>
          <a:p>
            <a:pPr algn="just"/>
            <a:r>
              <a:rPr lang="en-US" sz="1500" b="1" dirty="0">
                <a:solidFill>
                  <a:srgbClr val="0000FF"/>
                </a:solidFill>
                <a:latin typeface="Bookman Old Style" panose="02050604050505020204" pitchFamily="18" charset="0"/>
              </a:rPr>
              <a:t>	return </a:t>
            </a:r>
            <a:r>
              <a:rPr lang="en-US" sz="1500" b="1" dirty="0" err="1">
                <a:solidFill>
                  <a:srgbClr val="0000FF"/>
                </a:solidFill>
                <a:latin typeface="Bookman Old Style" panose="02050604050505020204" pitchFamily="18" charset="0"/>
              </a:rPr>
              <a:t>i+j</a:t>
            </a:r>
            <a:r>
              <a:rPr lang="en-US" sz="1500" b="1" dirty="0">
                <a:solidFill>
                  <a:srgbClr val="0000FF"/>
                </a:solidFill>
                <a:latin typeface="Bookman Old Style" panose="02050604050505020204" pitchFamily="18" charset="0"/>
              </a:rPr>
              <a:t>;</a:t>
            </a:r>
          </a:p>
          <a:p>
            <a:pPr algn="just"/>
            <a:r>
              <a:rPr lang="en-US" sz="1500" b="1" dirty="0">
                <a:solidFill>
                  <a:srgbClr val="0000FF"/>
                </a:solidFill>
                <a:latin typeface="Bookman Old Style" panose="02050604050505020204" pitchFamily="18" charset="0"/>
              </a:rPr>
              <a:t>}</a:t>
            </a:r>
          </a:p>
          <a:p>
            <a:pPr algn="just"/>
            <a:endParaRPr lang="en-US" sz="1500" b="1" dirty="0">
              <a:solidFill>
                <a:srgbClr val="FF0000"/>
              </a:solidFill>
              <a:latin typeface="Bookman Old Style" panose="02050604050505020204" pitchFamily="18" charset="0"/>
            </a:endParaRPr>
          </a:p>
          <a:p>
            <a:pPr algn="just"/>
            <a:r>
              <a:rPr lang="en-US" sz="1500" b="1" i="1" dirty="0">
                <a:solidFill>
                  <a:srgbClr val="0000FF"/>
                </a:solidFill>
                <a:latin typeface="Bookman Old Style" panose="02050604050505020204" pitchFamily="18" charset="0"/>
              </a:rPr>
              <a:t>The following command generates </a:t>
            </a:r>
            <a:r>
              <a:rPr lang="en-US" sz="1500" b="1" i="1" dirty="0" err="1">
                <a:solidFill>
                  <a:srgbClr val="0000FF"/>
                </a:solidFill>
                <a:latin typeface="Bookman Old Style" panose="02050604050505020204" pitchFamily="18" charset="0"/>
              </a:rPr>
              <a:t>api</a:t>
            </a:r>
            <a:r>
              <a:rPr lang="en-US" sz="1500" b="1" i="1" dirty="0">
                <a:solidFill>
                  <a:srgbClr val="0000FF"/>
                </a:solidFill>
                <a:latin typeface="Bookman Old Style" panose="02050604050505020204" pitchFamily="18" charset="0"/>
              </a:rPr>
              <a:t> documentation of our current directory classes.</a:t>
            </a:r>
          </a:p>
          <a:p>
            <a:pPr algn="just"/>
            <a:r>
              <a:rPr lang="en-US" sz="1500" b="1" dirty="0" err="1">
                <a:solidFill>
                  <a:srgbClr val="FF0000"/>
                </a:solidFill>
                <a:latin typeface="Bookman Old Style" panose="02050604050505020204" pitchFamily="18" charset="0"/>
              </a:rPr>
              <a:t>javadoc</a:t>
            </a:r>
            <a:r>
              <a:rPr lang="en-US" sz="1500" b="1" dirty="0">
                <a:solidFill>
                  <a:srgbClr val="FF0000"/>
                </a:solidFill>
                <a:latin typeface="Bookman Old Style" panose="02050604050505020204" pitchFamily="18" charset="0"/>
              </a:rPr>
              <a:t> -d . *.java</a:t>
            </a:r>
          </a:p>
        </p:txBody>
      </p:sp>
      <p:sp>
        <p:nvSpPr>
          <p:cNvPr id="7" name="Footer Placeholder 6">
            <a:extLst>
              <a:ext uri="{FF2B5EF4-FFF2-40B4-BE49-F238E27FC236}">
                <a16:creationId xmlns:a16="http://schemas.microsoft.com/office/drawing/2014/main" id="{03943A52-F9E0-D1CD-FDB2-FF20E30577AF}"/>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3713256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5361368" cy="400110"/>
              </a:xfrm>
              <a:prstGeom prst="rect">
                <a:avLst/>
              </a:prstGeom>
            </p:spPr>
            <p:txBody>
              <a:bodyPr wrap="square">
                <a:spAutoFit/>
              </a:bodyPr>
              <a:lstStyle/>
              <a:p>
                <a:pPr algn="ctr"/>
                <a:r>
                  <a:rPr lang="en-US" sz="2000" b="1" dirty="0">
                    <a:solidFill>
                      <a:schemeClr val="bg1"/>
                    </a:solidFill>
                    <a:latin typeface="Bookman Old Style" panose="02050604050505020204" pitchFamily="18" charset="0"/>
                  </a:rPr>
                  <a:t>Comments</a:t>
                </a: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graphicFrame>
        <p:nvGraphicFramePr>
          <p:cNvPr id="7" name="Table 8">
            <a:extLst>
              <a:ext uri="{FF2B5EF4-FFF2-40B4-BE49-F238E27FC236}">
                <a16:creationId xmlns:a16="http://schemas.microsoft.com/office/drawing/2014/main" id="{174245AA-7C1A-469F-917A-B4ADD8344B2D}"/>
              </a:ext>
            </a:extLst>
          </p:cNvPr>
          <p:cNvGraphicFramePr>
            <a:graphicFrameLocks noGrp="1"/>
          </p:cNvGraphicFramePr>
          <p:nvPr>
            <p:extLst>
              <p:ext uri="{D42A27DB-BD31-4B8C-83A1-F6EECF244321}">
                <p14:modId xmlns:p14="http://schemas.microsoft.com/office/powerpoint/2010/main" val="1822780197"/>
              </p:ext>
            </p:extLst>
          </p:nvPr>
        </p:nvGraphicFramePr>
        <p:xfrm>
          <a:off x="408901" y="1394647"/>
          <a:ext cx="8797089" cy="4912360"/>
        </p:xfrm>
        <a:graphic>
          <a:graphicData uri="http://schemas.openxmlformats.org/drawingml/2006/table">
            <a:tbl>
              <a:tblPr firstRow="1" bandRow="1">
                <a:tableStyleId>{5C22544A-7EE6-4342-B048-85BDC9FD1C3A}</a:tableStyleId>
              </a:tblPr>
              <a:tblGrid>
                <a:gridCol w="1535596">
                  <a:extLst>
                    <a:ext uri="{9D8B030D-6E8A-4147-A177-3AD203B41FA5}">
                      <a16:colId xmlns:a16="http://schemas.microsoft.com/office/drawing/2014/main" val="590077655"/>
                    </a:ext>
                  </a:extLst>
                </a:gridCol>
                <a:gridCol w="4267200">
                  <a:extLst>
                    <a:ext uri="{9D8B030D-6E8A-4147-A177-3AD203B41FA5}">
                      <a16:colId xmlns:a16="http://schemas.microsoft.com/office/drawing/2014/main" val="2561033707"/>
                    </a:ext>
                  </a:extLst>
                </a:gridCol>
                <a:gridCol w="2994293">
                  <a:extLst>
                    <a:ext uri="{9D8B030D-6E8A-4147-A177-3AD203B41FA5}">
                      <a16:colId xmlns:a16="http://schemas.microsoft.com/office/drawing/2014/main" val="3832462993"/>
                    </a:ext>
                  </a:extLst>
                </a:gridCol>
              </a:tblGrid>
              <a:tr h="370840">
                <a:tc>
                  <a:txBody>
                    <a:bodyPr/>
                    <a:lstStyle/>
                    <a:p>
                      <a:r>
                        <a:rPr lang="en-US" sz="1600" dirty="0"/>
                        <a:t>Tag</a:t>
                      </a:r>
                      <a:endParaRPr lang="en-IN" sz="1600" dirty="0"/>
                    </a:p>
                  </a:txBody>
                  <a:tcPr/>
                </a:tc>
                <a:tc>
                  <a:txBody>
                    <a:bodyPr/>
                    <a:lstStyle/>
                    <a:p>
                      <a:r>
                        <a:rPr lang="en-US" sz="1600" dirty="0"/>
                        <a:t>Description</a:t>
                      </a:r>
                      <a:endParaRPr lang="en-IN" sz="1600" dirty="0"/>
                    </a:p>
                  </a:txBody>
                  <a:tcPr/>
                </a:tc>
                <a:tc>
                  <a:txBody>
                    <a:bodyPr/>
                    <a:lstStyle/>
                    <a:p>
                      <a:r>
                        <a:rPr lang="en-US" sz="1600" dirty="0"/>
                        <a:t>Syntax</a:t>
                      </a:r>
                      <a:endParaRPr lang="en-IN" sz="1600" dirty="0"/>
                    </a:p>
                  </a:txBody>
                  <a:tcPr/>
                </a:tc>
                <a:extLst>
                  <a:ext uri="{0D108BD9-81ED-4DB2-BD59-A6C34878D82A}">
                    <a16:rowId xmlns:a16="http://schemas.microsoft.com/office/drawing/2014/main" val="2545579625"/>
                  </a:ext>
                </a:extLst>
              </a:tr>
              <a:tr h="370840">
                <a:tc>
                  <a:txBody>
                    <a:bodyPr/>
                    <a:lstStyle/>
                    <a:p>
                      <a:pPr algn="just"/>
                      <a:r>
                        <a:rPr lang="en-US" sz="1600" dirty="0"/>
                        <a:t>@author</a:t>
                      </a:r>
                      <a:endParaRPr lang="en-IN" sz="1600" dirty="0"/>
                    </a:p>
                  </a:txBody>
                  <a:tcPr/>
                </a:tc>
                <a:tc>
                  <a:txBody>
                    <a:bodyPr/>
                    <a:lstStyle/>
                    <a:p>
                      <a:pPr algn="just"/>
                      <a:r>
                        <a:rPr lang="en-US" sz="1600" dirty="0"/>
                        <a:t>Adds the author of a class</a:t>
                      </a:r>
                      <a:endParaRPr lang="en-IN" sz="1600" dirty="0"/>
                    </a:p>
                  </a:txBody>
                  <a:tcPr/>
                </a:tc>
                <a:tc>
                  <a:txBody>
                    <a:bodyPr/>
                    <a:lstStyle/>
                    <a:p>
                      <a:pPr algn="just"/>
                      <a:r>
                        <a:rPr lang="en-US" sz="1600" dirty="0"/>
                        <a:t>@author name-text</a:t>
                      </a:r>
                      <a:endParaRPr lang="en-IN" sz="1600" dirty="0"/>
                    </a:p>
                  </a:txBody>
                  <a:tcPr/>
                </a:tc>
                <a:extLst>
                  <a:ext uri="{0D108BD9-81ED-4DB2-BD59-A6C34878D82A}">
                    <a16:rowId xmlns:a16="http://schemas.microsoft.com/office/drawing/2014/main" val="2570997508"/>
                  </a:ext>
                </a:extLst>
              </a:tr>
              <a:tr h="370840">
                <a:tc>
                  <a:txBody>
                    <a:bodyPr/>
                    <a:lstStyle/>
                    <a:p>
                      <a:pPr algn="just"/>
                      <a:r>
                        <a:rPr lang="en-US" sz="1600" dirty="0"/>
                        <a:t>@code</a:t>
                      </a:r>
                      <a:endParaRPr lang="en-IN" sz="1600" dirty="0"/>
                    </a:p>
                  </a:txBody>
                  <a:tcPr/>
                </a:tc>
                <a:tc>
                  <a:txBody>
                    <a:bodyPr/>
                    <a:lstStyle/>
                    <a:p>
                      <a:pPr algn="just"/>
                      <a:r>
                        <a:rPr lang="en-US" sz="1600" dirty="0"/>
                        <a:t>Displays text in code font without interpreting text as HTML markup</a:t>
                      </a:r>
                      <a:endParaRPr lang="en-IN" sz="1600" dirty="0"/>
                    </a:p>
                  </a:txBody>
                  <a:tcPr/>
                </a:tc>
                <a:tc>
                  <a:txBody>
                    <a:bodyPr/>
                    <a:lstStyle/>
                    <a:p>
                      <a:pPr algn="just"/>
                      <a:r>
                        <a:rPr lang="en-US" sz="1600" dirty="0"/>
                        <a:t>{@code text}</a:t>
                      </a:r>
                      <a:endParaRPr lang="en-IN" sz="1600" dirty="0"/>
                    </a:p>
                  </a:txBody>
                  <a:tcPr/>
                </a:tc>
                <a:extLst>
                  <a:ext uri="{0D108BD9-81ED-4DB2-BD59-A6C34878D82A}">
                    <a16:rowId xmlns:a16="http://schemas.microsoft.com/office/drawing/2014/main" val="1564350808"/>
                  </a:ext>
                </a:extLst>
              </a:tr>
              <a:tr h="370840">
                <a:tc>
                  <a:txBody>
                    <a:bodyPr/>
                    <a:lstStyle/>
                    <a:p>
                      <a:pPr algn="just"/>
                      <a:r>
                        <a:rPr lang="en-US" sz="1600" dirty="0"/>
                        <a:t>@deprecated</a:t>
                      </a:r>
                      <a:endParaRPr lang="en-IN" sz="1600" dirty="0"/>
                    </a:p>
                  </a:txBody>
                  <a:tcPr/>
                </a:tc>
                <a:tc>
                  <a:txBody>
                    <a:bodyPr/>
                    <a:lstStyle/>
                    <a:p>
                      <a:pPr algn="just"/>
                      <a:r>
                        <a:rPr lang="en-US" sz="1600" dirty="0"/>
                        <a:t>Adds comment saying API is no longer used</a:t>
                      </a:r>
                      <a:endParaRPr lang="en-IN" sz="1600" dirty="0"/>
                    </a:p>
                  </a:txBody>
                  <a:tcPr/>
                </a:tc>
                <a:tc>
                  <a:txBody>
                    <a:bodyPr/>
                    <a:lstStyle/>
                    <a:p>
                      <a:pPr algn="just"/>
                      <a:r>
                        <a:rPr lang="en-US" sz="1600" dirty="0"/>
                        <a:t>@deprecated </a:t>
                      </a:r>
                      <a:r>
                        <a:rPr lang="en-US" sz="1600" dirty="0" err="1"/>
                        <a:t>deprecatedtext</a:t>
                      </a:r>
                      <a:endParaRPr lang="en-IN" sz="1600" dirty="0"/>
                    </a:p>
                  </a:txBody>
                  <a:tcPr/>
                </a:tc>
                <a:extLst>
                  <a:ext uri="{0D108BD9-81ED-4DB2-BD59-A6C34878D82A}">
                    <a16:rowId xmlns:a16="http://schemas.microsoft.com/office/drawing/2014/main" val="4275101776"/>
                  </a:ext>
                </a:extLst>
              </a:tr>
              <a:tr h="370840">
                <a:tc>
                  <a:txBody>
                    <a:bodyPr/>
                    <a:lstStyle/>
                    <a:p>
                      <a:pPr algn="just"/>
                      <a:r>
                        <a:rPr lang="en-US" sz="1600" dirty="0"/>
                        <a:t>@exception</a:t>
                      </a:r>
                      <a:endParaRPr lang="en-IN" sz="1600" dirty="0"/>
                    </a:p>
                  </a:txBody>
                  <a:tcPr/>
                </a:tc>
                <a:tc>
                  <a:txBody>
                    <a:bodyPr/>
                    <a:lstStyle/>
                    <a:p>
                      <a:pPr algn="just"/>
                      <a:r>
                        <a:rPr lang="en-US" sz="1600" dirty="0"/>
                        <a:t>Reports which exception the method throws</a:t>
                      </a:r>
                      <a:endParaRPr lang="en-IN" sz="1600" dirty="0"/>
                    </a:p>
                  </a:txBody>
                  <a:tcPr/>
                </a:tc>
                <a:tc>
                  <a:txBody>
                    <a:bodyPr/>
                    <a:lstStyle/>
                    <a:p>
                      <a:pPr algn="just"/>
                      <a:r>
                        <a:rPr lang="en-US" sz="1600" dirty="0"/>
                        <a:t>@exception class-name</a:t>
                      </a:r>
                      <a:endParaRPr lang="en-IN" sz="1600" dirty="0"/>
                    </a:p>
                  </a:txBody>
                  <a:tcPr/>
                </a:tc>
                <a:extLst>
                  <a:ext uri="{0D108BD9-81ED-4DB2-BD59-A6C34878D82A}">
                    <a16:rowId xmlns:a16="http://schemas.microsoft.com/office/drawing/2014/main" val="4210988716"/>
                  </a:ext>
                </a:extLst>
              </a:tr>
              <a:tr h="370840">
                <a:tc>
                  <a:txBody>
                    <a:bodyPr/>
                    <a:lstStyle/>
                    <a:p>
                      <a:pPr algn="just"/>
                      <a:r>
                        <a:rPr lang="en-US" sz="1600" dirty="0"/>
                        <a:t>@link</a:t>
                      </a:r>
                      <a:endParaRPr lang="en-IN" sz="1600" dirty="0"/>
                    </a:p>
                  </a:txBody>
                  <a:tcPr/>
                </a:tc>
                <a:tc>
                  <a:txBody>
                    <a:bodyPr/>
                    <a:lstStyle/>
                    <a:p>
                      <a:pPr algn="just"/>
                      <a:r>
                        <a:rPr lang="en-US" sz="1600" dirty="0"/>
                        <a:t>Inserts a inline link with the visible text label </a:t>
                      </a:r>
                      <a:endParaRPr lang="en-IN" sz="1600" dirty="0"/>
                    </a:p>
                  </a:txBody>
                  <a:tcPr/>
                </a:tc>
                <a:tc>
                  <a:txBody>
                    <a:bodyPr/>
                    <a:lstStyle/>
                    <a:p>
                      <a:pPr algn="just"/>
                      <a:r>
                        <a:rPr lang="en-US" sz="1600" dirty="0"/>
                        <a:t>{@link </a:t>
                      </a:r>
                      <a:r>
                        <a:rPr lang="en-US" sz="1600" dirty="0" err="1"/>
                        <a:t>package.class#member</a:t>
                      </a:r>
                      <a:r>
                        <a:rPr lang="en-US" sz="1600" dirty="0"/>
                        <a:t>}</a:t>
                      </a:r>
                      <a:endParaRPr lang="en-IN" sz="1600" dirty="0"/>
                    </a:p>
                  </a:txBody>
                  <a:tcPr/>
                </a:tc>
                <a:extLst>
                  <a:ext uri="{0D108BD9-81ED-4DB2-BD59-A6C34878D82A}">
                    <a16:rowId xmlns:a16="http://schemas.microsoft.com/office/drawing/2014/main" val="1092670256"/>
                  </a:ext>
                </a:extLst>
              </a:tr>
              <a:tr h="370840">
                <a:tc>
                  <a:txBody>
                    <a:bodyPr/>
                    <a:lstStyle/>
                    <a:p>
                      <a:pPr algn="just"/>
                      <a:r>
                        <a:rPr lang="en-US" sz="1600" dirty="0"/>
                        <a:t>@param</a:t>
                      </a:r>
                      <a:endParaRPr lang="en-IN" sz="1600" dirty="0"/>
                    </a:p>
                  </a:txBody>
                  <a:tcPr/>
                </a:tc>
                <a:tc>
                  <a:txBody>
                    <a:bodyPr/>
                    <a:lstStyle/>
                    <a:p>
                      <a:pPr algn="just"/>
                      <a:r>
                        <a:rPr lang="en-US" sz="1600" dirty="0"/>
                        <a:t>description of each parameter in the method/constructor</a:t>
                      </a:r>
                      <a:endParaRPr lang="en-IN" sz="1600" dirty="0"/>
                    </a:p>
                  </a:txBody>
                  <a:tcPr/>
                </a:tc>
                <a:tc>
                  <a:txBody>
                    <a:bodyPr/>
                    <a:lstStyle/>
                    <a:p>
                      <a:pPr algn="just"/>
                      <a:r>
                        <a:rPr lang="en-US" sz="1600" dirty="0"/>
                        <a:t>@param param-name description</a:t>
                      </a:r>
                      <a:endParaRPr lang="en-IN" sz="1600" dirty="0"/>
                    </a:p>
                  </a:txBody>
                  <a:tcPr/>
                </a:tc>
                <a:extLst>
                  <a:ext uri="{0D108BD9-81ED-4DB2-BD59-A6C34878D82A}">
                    <a16:rowId xmlns:a16="http://schemas.microsoft.com/office/drawing/2014/main" val="3042316911"/>
                  </a:ext>
                </a:extLst>
              </a:tr>
              <a:tr h="370840">
                <a:tc>
                  <a:txBody>
                    <a:bodyPr/>
                    <a:lstStyle/>
                    <a:p>
                      <a:pPr algn="just"/>
                      <a:r>
                        <a:rPr lang="en-US" sz="1600" dirty="0"/>
                        <a:t>@return</a:t>
                      </a:r>
                      <a:endParaRPr lang="en-IN" sz="1600" dirty="0"/>
                    </a:p>
                  </a:txBody>
                  <a:tcPr/>
                </a:tc>
                <a:tc>
                  <a:txBody>
                    <a:bodyPr/>
                    <a:lstStyle/>
                    <a:p>
                      <a:pPr algn="just"/>
                      <a:r>
                        <a:rPr lang="en-US" sz="1600" dirty="0"/>
                        <a:t>Adds a return section with the description text</a:t>
                      </a:r>
                      <a:endParaRPr lang="en-IN" sz="1600" dirty="0"/>
                    </a:p>
                  </a:txBody>
                  <a:tcPr/>
                </a:tc>
                <a:tc>
                  <a:txBody>
                    <a:bodyPr/>
                    <a:lstStyle/>
                    <a:p>
                      <a:pPr algn="just"/>
                      <a:r>
                        <a:rPr lang="en-US" sz="1600" dirty="0"/>
                        <a:t>@return description</a:t>
                      </a:r>
                      <a:endParaRPr lang="en-IN" sz="1600" dirty="0"/>
                    </a:p>
                  </a:txBody>
                  <a:tcPr/>
                </a:tc>
                <a:extLst>
                  <a:ext uri="{0D108BD9-81ED-4DB2-BD59-A6C34878D82A}">
                    <a16:rowId xmlns:a16="http://schemas.microsoft.com/office/drawing/2014/main" val="2818786917"/>
                  </a:ext>
                </a:extLst>
              </a:tr>
              <a:tr h="370840">
                <a:tc>
                  <a:txBody>
                    <a:bodyPr/>
                    <a:lstStyle/>
                    <a:p>
                      <a:pPr algn="just"/>
                      <a:r>
                        <a:rPr lang="en-US" sz="1600" dirty="0"/>
                        <a:t>@since</a:t>
                      </a:r>
                      <a:endParaRPr lang="en-IN" sz="1600" dirty="0"/>
                    </a:p>
                  </a:txBody>
                  <a:tcPr/>
                </a:tc>
                <a:tc>
                  <a:txBody>
                    <a:bodyPr/>
                    <a:lstStyle/>
                    <a:p>
                      <a:pPr algn="just"/>
                      <a:r>
                        <a:rPr lang="en-US" sz="1600" dirty="0"/>
                        <a:t>specifies from when the below class/variable/constructor/method exist</a:t>
                      </a:r>
                      <a:endParaRPr lang="en-IN" sz="1600" dirty="0"/>
                    </a:p>
                  </a:txBody>
                  <a:tcPr/>
                </a:tc>
                <a:tc>
                  <a:txBody>
                    <a:bodyPr/>
                    <a:lstStyle/>
                    <a:p>
                      <a:pPr algn="just"/>
                      <a:r>
                        <a:rPr lang="en-US" sz="1600" dirty="0"/>
                        <a:t>@since release</a:t>
                      </a:r>
                      <a:endParaRPr lang="en-IN" sz="1600" dirty="0"/>
                    </a:p>
                  </a:txBody>
                  <a:tcPr/>
                </a:tc>
                <a:extLst>
                  <a:ext uri="{0D108BD9-81ED-4DB2-BD59-A6C34878D82A}">
                    <a16:rowId xmlns:a16="http://schemas.microsoft.com/office/drawing/2014/main" val="762030856"/>
                  </a:ext>
                </a:extLst>
              </a:tr>
              <a:tr h="370840">
                <a:tc>
                  <a:txBody>
                    <a:bodyPr/>
                    <a:lstStyle/>
                    <a:p>
                      <a:pPr algn="just"/>
                      <a:r>
                        <a:rPr lang="en-US" sz="1600" dirty="0"/>
                        <a:t>@throws</a:t>
                      </a:r>
                      <a:endParaRPr lang="en-IN" sz="1600" dirty="0"/>
                    </a:p>
                  </a:txBody>
                  <a:tcPr/>
                </a:tc>
                <a:tc>
                  <a:txBody>
                    <a:bodyPr/>
                    <a:lstStyle/>
                    <a:p>
                      <a:pPr algn="just"/>
                      <a:r>
                        <a:rPr lang="en-US" sz="1600" dirty="0"/>
                        <a:t>The @throws and @exception tags are same</a:t>
                      </a:r>
                      <a:endParaRPr lang="en-IN" sz="1600" dirty="0"/>
                    </a:p>
                  </a:txBody>
                  <a:tcPr/>
                </a:tc>
                <a:tc>
                  <a:txBody>
                    <a:bodyPr/>
                    <a:lstStyle/>
                    <a:p>
                      <a:pPr algn="just"/>
                      <a:r>
                        <a:rPr lang="en-US" sz="1600" dirty="0"/>
                        <a:t>@throws exception-class-name</a:t>
                      </a:r>
                      <a:endParaRPr lang="en-IN" sz="1600" dirty="0"/>
                    </a:p>
                  </a:txBody>
                  <a:tcPr/>
                </a:tc>
                <a:extLst>
                  <a:ext uri="{0D108BD9-81ED-4DB2-BD59-A6C34878D82A}">
                    <a16:rowId xmlns:a16="http://schemas.microsoft.com/office/drawing/2014/main" val="2802804875"/>
                  </a:ext>
                </a:extLst>
              </a:tr>
              <a:tr h="370840">
                <a:tc>
                  <a:txBody>
                    <a:bodyPr/>
                    <a:lstStyle/>
                    <a:p>
                      <a:pPr algn="just"/>
                      <a:r>
                        <a:rPr lang="en-US" sz="1600" dirty="0"/>
                        <a:t>@version</a:t>
                      </a:r>
                      <a:endParaRPr lang="en-IN" sz="1600" dirty="0"/>
                    </a:p>
                  </a:txBody>
                  <a:tcPr/>
                </a:tc>
                <a:tc>
                  <a:txBody>
                    <a:bodyPr/>
                    <a:lstStyle/>
                    <a:p>
                      <a:pPr algn="just"/>
                      <a:r>
                        <a:rPr lang="en-US" sz="1600" dirty="0"/>
                        <a:t>Specifies from which version of class the following var/constructor/method is introduced</a:t>
                      </a:r>
                      <a:endParaRPr lang="en-IN" sz="1600" dirty="0"/>
                    </a:p>
                  </a:txBody>
                  <a:tcPr/>
                </a:tc>
                <a:tc>
                  <a:txBody>
                    <a:bodyPr/>
                    <a:lstStyle/>
                    <a:p>
                      <a:pPr algn="just"/>
                      <a:r>
                        <a:rPr lang="en-US" sz="1600" dirty="0"/>
                        <a:t>@version version-text</a:t>
                      </a:r>
                      <a:endParaRPr lang="en-IN" sz="1600" dirty="0"/>
                    </a:p>
                  </a:txBody>
                  <a:tcPr/>
                </a:tc>
                <a:extLst>
                  <a:ext uri="{0D108BD9-81ED-4DB2-BD59-A6C34878D82A}">
                    <a16:rowId xmlns:a16="http://schemas.microsoft.com/office/drawing/2014/main" val="825326685"/>
                  </a:ext>
                </a:extLst>
              </a:tr>
            </a:tbl>
          </a:graphicData>
        </a:graphic>
      </p:graphicFrame>
      <p:sp>
        <p:nvSpPr>
          <p:cNvPr id="9" name="TextBox 8">
            <a:extLst>
              <a:ext uri="{FF2B5EF4-FFF2-40B4-BE49-F238E27FC236}">
                <a16:creationId xmlns:a16="http://schemas.microsoft.com/office/drawing/2014/main" id="{85DCD6E5-E8E6-4E77-BB37-62FA468CDEEA}"/>
              </a:ext>
            </a:extLst>
          </p:cNvPr>
          <p:cNvSpPr txBox="1"/>
          <p:nvPr/>
        </p:nvSpPr>
        <p:spPr>
          <a:xfrm>
            <a:off x="410818" y="978162"/>
            <a:ext cx="5107167" cy="461665"/>
          </a:xfrm>
          <a:prstGeom prst="rect">
            <a:avLst/>
          </a:prstGeom>
          <a:noFill/>
        </p:spPr>
        <p:txBody>
          <a:bodyPr wrap="none" rtlCol="0">
            <a:spAutoFit/>
          </a:bodyPr>
          <a:lstStyle/>
          <a:p>
            <a:r>
              <a:rPr lang="en-US" sz="2400" b="1" dirty="0">
                <a:solidFill>
                  <a:srgbClr val="0000FF"/>
                </a:solidFill>
              </a:rPr>
              <a:t>Javadoc tool recognizes following tags:</a:t>
            </a:r>
            <a:endParaRPr lang="en-IN" sz="2400" b="1" dirty="0">
              <a:solidFill>
                <a:srgbClr val="0000FF"/>
              </a:solidFill>
            </a:endParaRPr>
          </a:p>
        </p:txBody>
      </p:sp>
      <p:sp>
        <p:nvSpPr>
          <p:cNvPr id="8" name="Footer Placeholder 7">
            <a:extLst>
              <a:ext uri="{FF2B5EF4-FFF2-40B4-BE49-F238E27FC236}">
                <a16:creationId xmlns:a16="http://schemas.microsoft.com/office/drawing/2014/main" id="{6F98D672-717F-8A30-4776-937E2C1EFE0D}"/>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6866900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5361368" cy="400110"/>
              </a:xfrm>
              <a:prstGeom prst="rect">
                <a:avLst/>
              </a:prstGeom>
            </p:spPr>
            <p:txBody>
              <a:bodyPr wrap="square">
                <a:spAutoFit/>
              </a:bodyPr>
              <a:lstStyle/>
              <a:p>
                <a:pPr algn="ctr"/>
                <a:r>
                  <a:rPr lang="en-US" sz="2000" b="1" dirty="0">
                    <a:solidFill>
                      <a:schemeClr val="bg1"/>
                    </a:solidFill>
                    <a:latin typeface="Bookman Old Style" panose="02050604050505020204" pitchFamily="18" charset="0"/>
                  </a:rPr>
                  <a:t>Use of package</a:t>
                </a: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19" name="TextBox 18">
            <a:extLst>
              <a:ext uri="{FF2B5EF4-FFF2-40B4-BE49-F238E27FC236}">
                <a16:creationId xmlns:a16="http://schemas.microsoft.com/office/drawing/2014/main" id="{5666FA78-D39B-4E14-BA99-57B0F398F8B9}"/>
              </a:ext>
            </a:extLst>
          </p:cNvPr>
          <p:cNvSpPr txBox="1"/>
          <p:nvPr/>
        </p:nvSpPr>
        <p:spPr>
          <a:xfrm>
            <a:off x="1152939" y="1477819"/>
            <a:ext cx="7793233" cy="3139321"/>
          </a:xfrm>
          <a:prstGeom prst="rect">
            <a:avLst/>
          </a:prstGeom>
          <a:noFill/>
        </p:spPr>
        <p:txBody>
          <a:bodyPr wrap="square">
            <a:spAutoFit/>
          </a:bodyPr>
          <a:lstStyle/>
          <a:p>
            <a:pPr algn="ctr"/>
            <a:r>
              <a:rPr lang="en-IN" sz="6600" b="1" dirty="0">
                <a:solidFill>
                  <a:srgbClr val="FF0000"/>
                </a:solidFill>
              </a:rPr>
              <a:t>package declaration </a:t>
            </a:r>
          </a:p>
          <a:p>
            <a:pPr algn="ctr"/>
            <a:r>
              <a:rPr lang="en-IN" sz="6600" b="1" dirty="0">
                <a:solidFill>
                  <a:srgbClr val="FF0000"/>
                </a:solidFill>
              </a:rPr>
              <a:t>&amp; </a:t>
            </a:r>
          </a:p>
          <a:p>
            <a:pPr algn="ctr"/>
            <a:r>
              <a:rPr lang="en-IN" sz="6600" b="1" dirty="0">
                <a:solidFill>
                  <a:srgbClr val="FF0000"/>
                </a:solidFill>
              </a:rPr>
              <a:t>import statements</a:t>
            </a:r>
          </a:p>
        </p:txBody>
      </p:sp>
      <p:sp>
        <p:nvSpPr>
          <p:cNvPr id="7" name="Footer Placeholder 6">
            <a:extLst>
              <a:ext uri="{FF2B5EF4-FFF2-40B4-BE49-F238E27FC236}">
                <a16:creationId xmlns:a16="http://schemas.microsoft.com/office/drawing/2014/main" id="{CB471F9D-A23D-2B29-AB0B-F781B53E0BD1}"/>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1916882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5361368" cy="400110"/>
              </a:xfrm>
              <a:prstGeom prst="rect">
                <a:avLst/>
              </a:prstGeom>
            </p:spPr>
            <p:txBody>
              <a:bodyPr wrap="square">
                <a:spAutoFit/>
              </a:bodyPr>
              <a:lstStyle/>
              <a:p>
                <a:pPr algn="ctr"/>
                <a:r>
                  <a:rPr lang="en-US" sz="2000" b="1" dirty="0">
                    <a:solidFill>
                      <a:schemeClr val="bg1"/>
                    </a:solidFill>
                    <a:latin typeface="Bookman Old Style" panose="02050604050505020204" pitchFamily="18" charset="0"/>
                  </a:rPr>
                  <a:t>Use of package</a:t>
                </a: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19" name="TextBox 18">
            <a:extLst>
              <a:ext uri="{FF2B5EF4-FFF2-40B4-BE49-F238E27FC236}">
                <a16:creationId xmlns:a16="http://schemas.microsoft.com/office/drawing/2014/main" id="{5666FA78-D39B-4E14-BA99-57B0F398F8B9}"/>
              </a:ext>
            </a:extLst>
          </p:cNvPr>
          <p:cNvSpPr txBox="1"/>
          <p:nvPr/>
        </p:nvSpPr>
        <p:spPr>
          <a:xfrm>
            <a:off x="951192" y="1335688"/>
            <a:ext cx="8083826" cy="4708981"/>
          </a:xfrm>
          <a:prstGeom prst="rect">
            <a:avLst/>
          </a:prstGeom>
          <a:noFill/>
        </p:spPr>
        <p:txBody>
          <a:bodyPr wrap="square">
            <a:spAutoFit/>
          </a:bodyPr>
          <a:lstStyle/>
          <a:p>
            <a:pPr algn="just"/>
            <a:r>
              <a:rPr lang="en-US" sz="2000" b="1" dirty="0">
                <a:solidFill>
                  <a:srgbClr val="FF0000"/>
                </a:solidFill>
                <a:latin typeface="Bookman Old Style" panose="02050604050505020204" pitchFamily="18" charset="0"/>
              </a:rPr>
              <a:t>package name is a logical name to physically existing directory.</a:t>
            </a:r>
          </a:p>
          <a:p>
            <a:pPr algn="just"/>
            <a:endParaRPr lang="en-US" sz="2000" b="1" dirty="0">
              <a:solidFill>
                <a:srgbClr val="FF0000"/>
              </a:solidFill>
              <a:latin typeface="Bookman Old Style" panose="02050604050505020204" pitchFamily="18" charset="0"/>
            </a:endParaRPr>
          </a:p>
          <a:p>
            <a:pPr algn="just"/>
            <a:r>
              <a:rPr lang="en-US" sz="2000" b="1" dirty="0">
                <a:solidFill>
                  <a:srgbClr val="0070C0"/>
                </a:solidFill>
                <a:latin typeface="Bookman Old Style" panose="02050604050505020204" pitchFamily="18" charset="0"/>
              </a:rPr>
              <a:t>If classes written in one directory want to be used in other directories, then every class in a directory must have package declaration and Class should be declared as public. Variables, constructors and methods can be declared with desired scope. Such classes can be imported anywhere in the system.</a:t>
            </a:r>
          </a:p>
          <a:p>
            <a:pPr algn="just"/>
            <a:endParaRPr lang="en-US" sz="2000" b="1" dirty="0">
              <a:solidFill>
                <a:srgbClr val="FF0000"/>
              </a:solidFill>
              <a:latin typeface="Bookman Old Style" panose="02050604050505020204" pitchFamily="18" charset="0"/>
            </a:endParaRPr>
          </a:p>
          <a:p>
            <a:pPr algn="just"/>
            <a:r>
              <a:rPr lang="en-US" sz="2000" b="1" dirty="0">
                <a:solidFill>
                  <a:srgbClr val="002060"/>
                </a:solidFill>
                <a:latin typeface="Bookman Old Style" panose="02050604050505020204" pitchFamily="18" charset="0"/>
              </a:rPr>
              <a:t>package declaration is meant/mandatory if any user defined java class that want to be reusable within and outside the directory (through out the system). Along with package declaration the class also must be declared as public.</a:t>
            </a:r>
          </a:p>
        </p:txBody>
      </p:sp>
      <p:sp>
        <p:nvSpPr>
          <p:cNvPr id="7" name="Footer Placeholder 6">
            <a:extLst>
              <a:ext uri="{FF2B5EF4-FFF2-40B4-BE49-F238E27FC236}">
                <a16:creationId xmlns:a16="http://schemas.microsoft.com/office/drawing/2014/main" id="{3820DA2B-E767-9AAA-2D8A-D8BA3F2EC0C5}"/>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5521004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5361368" cy="400110"/>
              </a:xfrm>
              <a:prstGeom prst="rect">
                <a:avLst/>
              </a:prstGeom>
            </p:spPr>
            <p:txBody>
              <a:bodyPr wrap="square">
                <a:spAutoFit/>
              </a:bodyPr>
              <a:lstStyle/>
              <a:p>
                <a:pPr algn="ctr"/>
                <a:r>
                  <a:rPr lang="en-US" sz="2000" b="1" dirty="0">
                    <a:solidFill>
                      <a:schemeClr val="bg1"/>
                    </a:solidFill>
                    <a:latin typeface="Bookman Old Style" panose="02050604050505020204" pitchFamily="18" charset="0"/>
                  </a:rPr>
                  <a:t>Package example</a:t>
                </a: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19" name="TextBox 18">
            <a:extLst>
              <a:ext uri="{FF2B5EF4-FFF2-40B4-BE49-F238E27FC236}">
                <a16:creationId xmlns:a16="http://schemas.microsoft.com/office/drawing/2014/main" id="{5666FA78-D39B-4E14-BA99-57B0F398F8B9}"/>
              </a:ext>
            </a:extLst>
          </p:cNvPr>
          <p:cNvSpPr txBox="1"/>
          <p:nvPr/>
        </p:nvSpPr>
        <p:spPr>
          <a:xfrm>
            <a:off x="1086678" y="1050842"/>
            <a:ext cx="8200334" cy="5416868"/>
          </a:xfrm>
          <a:prstGeom prst="rect">
            <a:avLst/>
          </a:prstGeom>
          <a:noFill/>
        </p:spPr>
        <p:txBody>
          <a:bodyPr wrap="square">
            <a:spAutoFit/>
          </a:bodyPr>
          <a:lstStyle/>
          <a:p>
            <a:pPr algn="just"/>
            <a:r>
              <a:rPr lang="en-US" sz="2000" b="1" dirty="0">
                <a:solidFill>
                  <a:srgbClr val="FF0000"/>
                </a:solidFill>
                <a:latin typeface="Bookman Old Style" panose="02050604050505020204" pitchFamily="18" charset="0"/>
              </a:rPr>
              <a:t>Example on package declaration:</a:t>
            </a:r>
          </a:p>
          <a:p>
            <a:pPr algn="just"/>
            <a:r>
              <a:rPr lang="en-US" b="1" dirty="0">
                <a:solidFill>
                  <a:srgbClr val="002060"/>
                </a:solidFill>
                <a:latin typeface="Bookman Old Style" panose="02050604050505020204" pitchFamily="18" charset="0"/>
              </a:rPr>
              <a:t>C:\iare\core\am3\javalang\structure</a:t>
            </a:r>
          </a:p>
          <a:p>
            <a:pPr algn="just"/>
            <a:r>
              <a:rPr lang="en-US" dirty="0">
                <a:solidFill>
                  <a:srgbClr val="002060"/>
                </a:solidFill>
                <a:latin typeface="Bookman Old Style" panose="02050604050505020204" pitchFamily="18" charset="0"/>
              </a:rPr>
              <a:t>// A.java</a:t>
            </a:r>
          </a:p>
          <a:p>
            <a:pPr algn="just"/>
            <a:r>
              <a:rPr lang="en-US" dirty="0">
                <a:solidFill>
                  <a:srgbClr val="002060"/>
                </a:solidFill>
                <a:latin typeface="Bookman Old Style" panose="02050604050505020204" pitchFamily="18" charset="0"/>
              </a:rPr>
              <a:t>package core.am3.javalang.structure;</a:t>
            </a:r>
          </a:p>
          <a:p>
            <a:pPr algn="just"/>
            <a:r>
              <a:rPr lang="en-US" dirty="0">
                <a:solidFill>
                  <a:srgbClr val="002060"/>
                </a:solidFill>
                <a:latin typeface="Bookman Old Style" panose="02050604050505020204" pitchFamily="18" charset="0"/>
              </a:rPr>
              <a:t>public class A {</a:t>
            </a:r>
          </a:p>
          <a:p>
            <a:pPr algn="just"/>
            <a:endParaRPr lang="en-US" dirty="0">
              <a:solidFill>
                <a:srgbClr val="002060"/>
              </a:solidFill>
              <a:latin typeface="Bookman Old Style" panose="02050604050505020204" pitchFamily="18" charset="0"/>
            </a:endParaRPr>
          </a:p>
          <a:p>
            <a:pPr algn="just"/>
            <a:r>
              <a:rPr lang="en-US" dirty="0">
                <a:solidFill>
                  <a:srgbClr val="002060"/>
                </a:solidFill>
                <a:latin typeface="Bookman Old Style" panose="02050604050505020204" pitchFamily="18" charset="0"/>
              </a:rPr>
              <a:t>	private int a; // private access specifier variable </a:t>
            </a:r>
          </a:p>
          <a:p>
            <a:pPr algn="just"/>
            <a:r>
              <a:rPr lang="en-US" dirty="0">
                <a:solidFill>
                  <a:srgbClr val="002060"/>
                </a:solidFill>
                <a:latin typeface="Bookman Old Style" panose="02050604050505020204" pitchFamily="18" charset="0"/>
              </a:rPr>
              <a:t>	int b;  // default access specifier variable</a:t>
            </a:r>
          </a:p>
          <a:p>
            <a:pPr algn="just"/>
            <a:r>
              <a:rPr lang="en-US" dirty="0">
                <a:solidFill>
                  <a:srgbClr val="002060"/>
                </a:solidFill>
                <a:latin typeface="Bookman Old Style" panose="02050604050505020204" pitchFamily="18" charset="0"/>
              </a:rPr>
              <a:t>	protected int c;  // protected access specifier variable</a:t>
            </a:r>
          </a:p>
          <a:p>
            <a:pPr algn="just"/>
            <a:r>
              <a:rPr lang="en-US" dirty="0">
                <a:solidFill>
                  <a:srgbClr val="002060"/>
                </a:solidFill>
                <a:latin typeface="Bookman Old Style" panose="02050604050505020204" pitchFamily="18" charset="0"/>
              </a:rPr>
              <a:t>	public int d;  // public access specifier variable</a:t>
            </a:r>
          </a:p>
          <a:p>
            <a:pPr algn="just"/>
            <a:r>
              <a:rPr lang="en-US" dirty="0">
                <a:solidFill>
                  <a:srgbClr val="002060"/>
                </a:solidFill>
                <a:latin typeface="Bookman Old Style" panose="02050604050505020204" pitchFamily="18" charset="0"/>
              </a:rPr>
              <a:t>	</a:t>
            </a:r>
          </a:p>
          <a:p>
            <a:pPr algn="just"/>
            <a:r>
              <a:rPr lang="en-US" dirty="0">
                <a:solidFill>
                  <a:srgbClr val="002060"/>
                </a:solidFill>
                <a:latin typeface="Bookman Old Style" panose="02050604050505020204" pitchFamily="18" charset="0"/>
              </a:rPr>
              <a:t>	public void print() {</a:t>
            </a:r>
          </a:p>
          <a:p>
            <a:pPr algn="just"/>
            <a:r>
              <a:rPr lang="en-US" dirty="0">
                <a:solidFill>
                  <a:srgbClr val="002060"/>
                </a:solidFill>
                <a:latin typeface="Bookman Old Style" panose="02050604050505020204" pitchFamily="18" charset="0"/>
              </a:rPr>
              <a:t>		System.out.println(a); // Y</a:t>
            </a:r>
          </a:p>
          <a:p>
            <a:pPr algn="just"/>
            <a:r>
              <a:rPr lang="en-US" dirty="0">
                <a:solidFill>
                  <a:srgbClr val="002060"/>
                </a:solidFill>
                <a:latin typeface="Bookman Old Style" panose="02050604050505020204" pitchFamily="18" charset="0"/>
              </a:rPr>
              <a:t>		System.out.println(b); // Y</a:t>
            </a:r>
          </a:p>
          <a:p>
            <a:pPr algn="just"/>
            <a:r>
              <a:rPr lang="en-US" dirty="0">
                <a:solidFill>
                  <a:srgbClr val="002060"/>
                </a:solidFill>
                <a:latin typeface="Bookman Old Style" panose="02050604050505020204" pitchFamily="18" charset="0"/>
              </a:rPr>
              <a:t>		System.out.println(c); // Y</a:t>
            </a:r>
          </a:p>
          <a:p>
            <a:pPr algn="just"/>
            <a:r>
              <a:rPr lang="en-US" dirty="0">
                <a:solidFill>
                  <a:srgbClr val="002060"/>
                </a:solidFill>
                <a:latin typeface="Bookman Old Style" panose="02050604050505020204" pitchFamily="18" charset="0"/>
              </a:rPr>
              <a:t>		System.out.println(d); // Y</a:t>
            </a:r>
          </a:p>
          <a:p>
            <a:pPr algn="just"/>
            <a:r>
              <a:rPr lang="en-US" dirty="0">
                <a:solidFill>
                  <a:srgbClr val="002060"/>
                </a:solidFill>
                <a:latin typeface="Bookman Old Style" panose="02050604050505020204" pitchFamily="18" charset="0"/>
              </a:rPr>
              <a:t>	}</a:t>
            </a:r>
          </a:p>
          <a:p>
            <a:pPr algn="just"/>
            <a:r>
              <a:rPr lang="en-US" dirty="0">
                <a:solidFill>
                  <a:srgbClr val="002060"/>
                </a:solidFill>
                <a:latin typeface="Bookman Old Style" panose="02050604050505020204" pitchFamily="18" charset="0"/>
              </a:rPr>
              <a:t>}</a:t>
            </a:r>
          </a:p>
          <a:p>
            <a:pPr algn="just"/>
            <a:endParaRPr lang="en-US" sz="2000" b="1" dirty="0">
              <a:solidFill>
                <a:srgbClr val="002060"/>
              </a:solidFill>
              <a:latin typeface="Bookman Old Style" panose="02050604050505020204" pitchFamily="18" charset="0"/>
            </a:endParaRPr>
          </a:p>
        </p:txBody>
      </p:sp>
      <p:sp>
        <p:nvSpPr>
          <p:cNvPr id="7" name="Footer Placeholder 6">
            <a:extLst>
              <a:ext uri="{FF2B5EF4-FFF2-40B4-BE49-F238E27FC236}">
                <a16:creationId xmlns:a16="http://schemas.microsoft.com/office/drawing/2014/main" id="{32AC7BD0-D70E-0F82-FA3C-F8A205B7A03E}"/>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4385719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5361368" cy="400110"/>
              </a:xfrm>
              <a:prstGeom prst="rect">
                <a:avLst/>
              </a:prstGeom>
            </p:spPr>
            <p:txBody>
              <a:bodyPr wrap="square">
                <a:spAutoFit/>
              </a:bodyPr>
              <a:lstStyle/>
              <a:p>
                <a:pPr algn="ctr"/>
                <a:r>
                  <a:rPr lang="en-US" sz="2000" b="1" dirty="0">
                    <a:solidFill>
                      <a:schemeClr val="bg1"/>
                    </a:solidFill>
                    <a:latin typeface="Bookman Old Style" panose="02050604050505020204" pitchFamily="18" charset="0"/>
                  </a:rPr>
                  <a:t>Package example</a:t>
                </a: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19" name="TextBox 18">
            <a:extLst>
              <a:ext uri="{FF2B5EF4-FFF2-40B4-BE49-F238E27FC236}">
                <a16:creationId xmlns:a16="http://schemas.microsoft.com/office/drawing/2014/main" id="{5666FA78-D39B-4E14-BA99-57B0F398F8B9}"/>
              </a:ext>
            </a:extLst>
          </p:cNvPr>
          <p:cNvSpPr txBox="1"/>
          <p:nvPr/>
        </p:nvSpPr>
        <p:spPr>
          <a:xfrm>
            <a:off x="1086678" y="1050842"/>
            <a:ext cx="8200334" cy="4093428"/>
          </a:xfrm>
          <a:prstGeom prst="rect">
            <a:avLst/>
          </a:prstGeom>
          <a:noFill/>
        </p:spPr>
        <p:txBody>
          <a:bodyPr wrap="square">
            <a:spAutoFit/>
          </a:bodyPr>
          <a:lstStyle/>
          <a:p>
            <a:pPr algn="just"/>
            <a:r>
              <a:rPr lang="en-US" sz="2000" b="1" dirty="0">
                <a:solidFill>
                  <a:srgbClr val="FF0000"/>
                </a:solidFill>
                <a:latin typeface="Bookman Old Style" panose="02050604050505020204" pitchFamily="18" charset="0"/>
              </a:rPr>
              <a:t>After declaring package declaration and class as public, </a:t>
            </a:r>
            <a:r>
              <a:rPr lang="en-US" sz="2000" b="1" dirty="0">
                <a:solidFill>
                  <a:srgbClr val="990033"/>
                </a:solidFill>
                <a:latin typeface="Bookman Old Style" panose="02050604050505020204" pitchFamily="18" charset="0"/>
              </a:rPr>
              <a:t>the package parent directory must be updated in CLASSPATH</a:t>
            </a:r>
            <a:r>
              <a:rPr lang="en-US" sz="2000" b="1" dirty="0">
                <a:solidFill>
                  <a:srgbClr val="FF0000"/>
                </a:solidFill>
                <a:latin typeface="Bookman Old Style" panose="02050604050505020204" pitchFamily="18" charset="0"/>
              </a:rPr>
              <a:t>. Otherwise package and class cannot be imported in other directories.</a:t>
            </a:r>
          </a:p>
          <a:p>
            <a:pPr algn="just"/>
            <a:endParaRPr lang="en-US" sz="2000" b="1" dirty="0">
              <a:solidFill>
                <a:srgbClr val="FF0000"/>
              </a:solidFill>
              <a:latin typeface="Bookman Old Style" panose="02050604050505020204" pitchFamily="18" charset="0"/>
            </a:endParaRPr>
          </a:p>
          <a:p>
            <a:pPr algn="just"/>
            <a:r>
              <a:rPr lang="en-US" sz="2000" b="1" dirty="0">
                <a:solidFill>
                  <a:srgbClr val="FF0000"/>
                </a:solidFill>
                <a:latin typeface="Bookman Old Style" panose="02050604050505020204" pitchFamily="18" charset="0"/>
              </a:rPr>
              <a:t>The class exist in </a:t>
            </a:r>
            <a:r>
              <a:rPr lang="en-US" sz="2000" b="1" dirty="0">
                <a:solidFill>
                  <a:schemeClr val="accent2">
                    <a:lumMod val="75000"/>
                  </a:schemeClr>
                </a:solidFill>
                <a:latin typeface="Bookman Old Style" panose="02050604050505020204" pitchFamily="18" charset="0"/>
              </a:rPr>
              <a:t>C:\iare\</a:t>
            </a:r>
            <a:r>
              <a:rPr lang="en-US" sz="2000" b="1" dirty="0">
                <a:solidFill>
                  <a:srgbClr val="00B0F0"/>
                </a:solidFill>
                <a:latin typeface="Bookman Old Style" panose="02050604050505020204" pitchFamily="18" charset="0"/>
              </a:rPr>
              <a:t>core\am3\javalang\structure</a:t>
            </a:r>
          </a:p>
          <a:p>
            <a:pPr algn="just"/>
            <a:endParaRPr lang="en-US" sz="2000" dirty="0">
              <a:solidFill>
                <a:srgbClr val="FF0000"/>
              </a:solidFill>
              <a:latin typeface="Bookman Old Style" panose="02050604050505020204" pitchFamily="18" charset="0"/>
            </a:endParaRPr>
          </a:p>
          <a:p>
            <a:pPr algn="just"/>
            <a:r>
              <a:rPr lang="en-US" sz="2000" dirty="0">
                <a:solidFill>
                  <a:srgbClr val="FF0000"/>
                </a:solidFill>
                <a:latin typeface="Bookman Old Style" panose="02050604050505020204" pitchFamily="18" charset="0"/>
              </a:rPr>
              <a:t>Update CLASSPATH as below</a:t>
            </a:r>
          </a:p>
          <a:p>
            <a:pPr algn="just"/>
            <a:r>
              <a:rPr lang="en-US" sz="2000" b="1" dirty="0">
                <a:solidFill>
                  <a:srgbClr val="FF0000"/>
                </a:solidFill>
                <a:latin typeface="Bookman Old Style" panose="02050604050505020204" pitchFamily="18" charset="0"/>
              </a:rPr>
              <a:t>CLASSPATH=%CLASSPATH%;</a:t>
            </a:r>
            <a:r>
              <a:rPr lang="en-US" sz="2000" b="1" dirty="0">
                <a:solidFill>
                  <a:schemeClr val="accent2">
                    <a:lumMod val="75000"/>
                  </a:schemeClr>
                </a:solidFill>
                <a:latin typeface="Bookman Old Style" panose="02050604050505020204" pitchFamily="18" charset="0"/>
              </a:rPr>
              <a:t>C:\iare</a:t>
            </a:r>
          </a:p>
          <a:p>
            <a:pPr algn="just"/>
            <a:endParaRPr lang="en-US" sz="2000" dirty="0">
              <a:solidFill>
                <a:srgbClr val="FF0000"/>
              </a:solidFill>
              <a:latin typeface="Bookman Old Style" panose="02050604050505020204" pitchFamily="18" charset="0"/>
            </a:endParaRPr>
          </a:p>
          <a:p>
            <a:pPr algn="just"/>
            <a:r>
              <a:rPr lang="en-US" sz="2000" dirty="0">
                <a:solidFill>
                  <a:srgbClr val="FF0000"/>
                </a:solidFill>
                <a:latin typeface="Bookman Old Style" panose="02050604050505020204" pitchFamily="18" charset="0"/>
              </a:rPr>
              <a:t>package and class can be imported in other directories as:</a:t>
            </a:r>
          </a:p>
          <a:p>
            <a:pPr algn="just"/>
            <a:r>
              <a:rPr lang="en-US" sz="2000" b="1" dirty="0">
                <a:solidFill>
                  <a:srgbClr val="FF0000"/>
                </a:solidFill>
                <a:latin typeface="Bookman Old Style" panose="02050604050505020204" pitchFamily="18" charset="0"/>
              </a:rPr>
              <a:t>import </a:t>
            </a:r>
            <a:r>
              <a:rPr lang="en-US" sz="2000" b="1" dirty="0">
                <a:solidFill>
                  <a:srgbClr val="3399FF"/>
                </a:solidFill>
                <a:latin typeface="Bookman Old Style" panose="02050604050505020204" pitchFamily="18" charset="0"/>
              </a:rPr>
              <a:t>core.am3.javalang.structure.A</a:t>
            </a:r>
            <a:r>
              <a:rPr lang="en-US" sz="2000" b="1" dirty="0">
                <a:solidFill>
                  <a:srgbClr val="FF0000"/>
                </a:solidFill>
                <a:latin typeface="Bookman Old Style" panose="02050604050505020204" pitchFamily="18" charset="0"/>
              </a:rPr>
              <a:t>;</a:t>
            </a:r>
          </a:p>
          <a:p>
            <a:pPr algn="just"/>
            <a:endParaRPr lang="en-US" sz="2000" dirty="0">
              <a:solidFill>
                <a:srgbClr val="002060"/>
              </a:solidFill>
              <a:latin typeface="Bookman Old Style" panose="02050604050505020204" pitchFamily="18" charset="0"/>
            </a:endParaRPr>
          </a:p>
        </p:txBody>
      </p:sp>
      <p:sp>
        <p:nvSpPr>
          <p:cNvPr id="7" name="Footer Placeholder 6">
            <a:extLst>
              <a:ext uri="{FF2B5EF4-FFF2-40B4-BE49-F238E27FC236}">
                <a16:creationId xmlns:a16="http://schemas.microsoft.com/office/drawing/2014/main" id="{64462CB4-EE49-5F60-274F-933BCB88EF55}"/>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41800104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5361368" cy="400110"/>
              </a:xfrm>
              <a:prstGeom prst="rect">
                <a:avLst/>
              </a:prstGeom>
            </p:spPr>
            <p:txBody>
              <a:bodyPr wrap="square">
                <a:spAutoFit/>
              </a:bodyPr>
              <a:lstStyle/>
              <a:p>
                <a:pPr algn="ctr"/>
                <a:r>
                  <a:rPr lang="en-US" sz="2000" b="1" dirty="0">
                    <a:solidFill>
                      <a:schemeClr val="bg1"/>
                    </a:solidFill>
                    <a:latin typeface="Bookman Old Style" panose="02050604050505020204" pitchFamily="18" charset="0"/>
                  </a:rPr>
                  <a:t>Package example</a:t>
                </a: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19" name="TextBox 18">
            <a:extLst>
              <a:ext uri="{FF2B5EF4-FFF2-40B4-BE49-F238E27FC236}">
                <a16:creationId xmlns:a16="http://schemas.microsoft.com/office/drawing/2014/main" id="{5666FA78-D39B-4E14-BA99-57B0F398F8B9}"/>
              </a:ext>
            </a:extLst>
          </p:cNvPr>
          <p:cNvSpPr txBox="1"/>
          <p:nvPr/>
        </p:nvSpPr>
        <p:spPr>
          <a:xfrm>
            <a:off x="1086678" y="1050842"/>
            <a:ext cx="8200334" cy="4616648"/>
          </a:xfrm>
          <a:prstGeom prst="rect">
            <a:avLst/>
          </a:prstGeom>
          <a:noFill/>
        </p:spPr>
        <p:txBody>
          <a:bodyPr wrap="square">
            <a:spAutoFit/>
          </a:bodyPr>
          <a:lstStyle/>
          <a:p>
            <a:pPr algn="just"/>
            <a:r>
              <a:rPr lang="en-US" sz="2000" b="1" dirty="0">
                <a:solidFill>
                  <a:srgbClr val="FF0000"/>
                </a:solidFill>
                <a:latin typeface="Bookman Old Style" panose="02050604050505020204" pitchFamily="18" charset="0"/>
              </a:rPr>
              <a:t>Write a sub class of class A within the same package</a:t>
            </a:r>
          </a:p>
          <a:p>
            <a:pPr algn="just"/>
            <a:r>
              <a:rPr lang="en-US" sz="2000" dirty="0">
                <a:solidFill>
                  <a:srgbClr val="FF0000"/>
                </a:solidFill>
                <a:latin typeface="Bookman Old Style" panose="02050604050505020204" pitchFamily="18" charset="0"/>
              </a:rPr>
              <a:t>C:\iare\core\am3\javalang\structure</a:t>
            </a:r>
          </a:p>
          <a:p>
            <a:pPr algn="just"/>
            <a:endParaRPr lang="en-US" sz="2000" b="1" dirty="0">
              <a:solidFill>
                <a:srgbClr val="FF0000"/>
              </a:solidFill>
              <a:latin typeface="Bookman Old Style" panose="02050604050505020204" pitchFamily="18" charset="0"/>
            </a:endParaRPr>
          </a:p>
          <a:p>
            <a:pPr algn="just"/>
            <a:r>
              <a:rPr lang="en-US" b="1" dirty="0">
                <a:solidFill>
                  <a:srgbClr val="FF0000"/>
                </a:solidFill>
                <a:latin typeface="Bookman Old Style" panose="02050604050505020204" pitchFamily="18" charset="0"/>
              </a:rPr>
              <a:t>// B.java</a:t>
            </a:r>
          </a:p>
          <a:p>
            <a:pPr algn="just"/>
            <a:r>
              <a:rPr lang="en-US" b="1" dirty="0">
                <a:solidFill>
                  <a:srgbClr val="FF0000"/>
                </a:solidFill>
                <a:latin typeface="Bookman Old Style" panose="02050604050505020204" pitchFamily="18" charset="0"/>
              </a:rPr>
              <a:t>package core.am3.javalang.structure;</a:t>
            </a:r>
          </a:p>
          <a:p>
            <a:pPr algn="just"/>
            <a:r>
              <a:rPr lang="en-US" dirty="0">
                <a:solidFill>
                  <a:srgbClr val="003F66"/>
                </a:solidFill>
                <a:latin typeface="Bookman Old Style" panose="02050604050505020204" pitchFamily="18" charset="0"/>
              </a:rPr>
              <a:t>public class </a:t>
            </a:r>
            <a:r>
              <a:rPr lang="en-US" b="1" dirty="0">
                <a:solidFill>
                  <a:srgbClr val="003F66"/>
                </a:solidFill>
                <a:latin typeface="Bookman Old Style" panose="02050604050505020204" pitchFamily="18" charset="0"/>
              </a:rPr>
              <a:t>B extends A </a:t>
            </a:r>
            <a:r>
              <a:rPr lang="en-US" dirty="0">
                <a:solidFill>
                  <a:srgbClr val="003F66"/>
                </a:solidFill>
                <a:latin typeface="Bookman Old Style" panose="02050604050505020204" pitchFamily="18" charset="0"/>
              </a:rPr>
              <a:t>{ // sub class of class A within the package</a:t>
            </a:r>
          </a:p>
          <a:p>
            <a:pPr algn="just"/>
            <a:r>
              <a:rPr lang="en-US" dirty="0">
                <a:solidFill>
                  <a:srgbClr val="003F66"/>
                </a:solidFill>
                <a:latin typeface="Bookman Old Style" panose="02050604050505020204" pitchFamily="18" charset="0"/>
              </a:rPr>
              <a:t>	public void print() {</a:t>
            </a:r>
          </a:p>
          <a:p>
            <a:pPr algn="just"/>
            <a:r>
              <a:rPr lang="en-US" dirty="0">
                <a:solidFill>
                  <a:srgbClr val="003F66"/>
                </a:solidFill>
                <a:latin typeface="Bookman Old Style" panose="02050604050505020204" pitchFamily="18" charset="0"/>
              </a:rPr>
              <a:t>		System.out.println(a); // N</a:t>
            </a:r>
          </a:p>
          <a:p>
            <a:pPr algn="just"/>
            <a:r>
              <a:rPr lang="en-US" dirty="0">
                <a:solidFill>
                  <a:srgbClr val="003F66"/>
                </a:solidFill>
                <a:latin typeface="Bookman Old Style" panose="02050604050505020204" pitchFamily="18" charset="0"/>
              </a:rPr>
              <a:t>		System.out.println(b); // Y</a:t>
            </a:r>
          </a:p>
          <a:p>
            <a:pPr algn="just"/>
            <a:r>
              <a:rPr lang="en-US" dirty="0">
                <a:solidFill>
                  <a:srgbClr val="003F66"/>
                </a:solidFill>
                <a:latin typeface="Bookman Old Style" panose="02050604050505020204" pitchFamily="18" charset="0"/>
              </a:rPr>
              <a:t>		System.out.println(c); // Y</a:t>
            </a:r>
          </a:p>
          <a:p>
            <a:pPr algn="just"/>
            <a:r>
              <a:rPr lang="en-US" dirty="0">
                <a:solidFill>
                  <a:srgbClr val="003F66"/>
                </a:solidFill>
                <a:latin typeface="Bookman Old Style" panose="02050604050505020204" pitchFamily="18" charset="0"/>
              </a:rPr>
              <a:t>		System.out.println(d); // Y</a:t>
            </a:r>
          </a:p>
          <a:p>
            <a:pPr algn="just"/>
            <a:r>
              <a:rPr lang="en-US" dirty="0">
                <a:solidFill>
                  <a:srgbClr val="003F66"/>
                </a:solidFill>
                <a:latin typeface="Bookman Old Style" panose="02050604050505020204" pitchFamily="18" charset="0"/>
              </a:rPr>
              <a:t>	}</a:t>
            </a:r>
          </a:p>
          <a:p>
            <a:pPr algn="just"/>
            <a:r>
              <a:rPr lang="en-US" dirty="0">
                <a:solidFill>
                  <a:srgbClr val="003F66"/>
                </a:solidFill>
                <a:latin typeface="Bookman Old Style" panose="02050604050505020204" pitchFamily="18" charset="0"/>
              </a:rPr>
              <a:t>}</a:t>
            </a:r>
          </a:p>
          <a:p>
            <a:pPr algn="just"/>
            <a:endParaRPr lang="en-US" dirty="0">
              <a:solidFill>
                <a:srgbClr val="003F66"/>
              </a:solidFill>
              <a:latin typeface="Bookman Old Style" panose="02050604050505020204" pitchFamily="18" charset="0"/>
            </a:endParaRPr>
          </a:p>
          <a:p>
            <a:pPr algn="just"/>
            <a:r>
              <a:rPr lang="en-US" dirty="0">
                <a:solidFill>
                  <a:srgbClr val="003F66"/>
                </a:solidFill>
                <a:latin typeface="Bookman Old Style" panose="02050604050505020204" pitchFamily="18" charset="0"/>
              </a:rPr>
              <a:t>In sub class within the package except private members all other members are accessible.</a:t>
            </a:r>
          </a:p>
        </p:txBody>
      </p:sp>
      <p:sp>
        <p:nvSpPr>
          <p:cNvPr id="7" name="Footer Placeholder 6">
            <a:extLst>
              <a:ext uri="{FF2B5EF4-FFF2-40B4-BE49-F238E27FC236}">
                <a16:creationId xmlns:a16="http://schemas.microsoft.com/office/drawing/2014/main" id="{59E6777D-1F08-481C-9EF0-D82C3ED3C3DF}"/>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0460999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5361368" cy="400110"/>
              </a:xfrm>
              <a:prstGeom prst="rect">
                <a:avLst/>
              </a:prstGeom>
            </p:spPr>
            <p:txBody>
              <a:bodyPr wrap="square">
                <a:spAutoFit/>
              </a:bodyPr>
              <a:lstStyle/>
              <a:p>
                <a:pPr algn="ctr"/>
                <a:r>
                  <a:rPr lang="en-US" sz="2000" b="1" dirty="0">
                    <a:solidFill>
                      <a:schemeClr val="bg1"/>
                    </a:solidFill>
                    <a:latin typeface="Bookman Old Style" panose="02050604050505020204" pitchFamily="18" charset="0"/>
                  </a:rPr>
                  <a:t>Package example</a:t>
                </a: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19" name="TextBox 18">
            <a:extLst>
              <a:ext uri="{FF2B5EF4-FFF2-40B4-BE49-F238E27FC236}">
                <a16:creationId xmlns:a16="http://schemas.microsoft.com/office/drawing/2014/main" id="{5666FA78-D39B-4E14-BA99-57B0F398F8B9}"/>
              </a:ext>
            </a:extLst>
          </p:cNvPr>
          <p:cNvSpPr txBox="1"/>
          <p:nvPr/>
        </p:nvSpPr>
        <p:spPr>
          <a:xfrm>
            <a:off x="1086678" y="1050842"/>
            <a:ext cx="8200334" cy="4893647"/>
          </a:xfrm>
          <a:prstGeom prst="rect">
            <a:avLst/>
          </a:prstGeom>
          <a:noFill/>
        </p:spPr>
        <p:txBody>
          <a:bodyPr wrap="square">
            <a:spAutoFit/>
          </a:bodyPr>
          <a:lstStyle/>
          <a:p>
            <a:pPr algn="just"/>
            <a:r>
              <a:rPr lang="en-US" sz="2000" b="1" dirty="0">
                <a:solidFill>
                  <a:srgbClr val="FF0000"/>
                </a:solidFill>
                <a:latin typeface="Bookman Old Style" panose="02050604050505020204" pitchFamily="18" charset="0"/>
              </a:rPr>
              <a:t>Instantiated class of class A with the same package</a:t>
            </a:r>
          </a:p>
          <a:p>
            <a:pPr algn="just"/>
            <a:r>
              <a:rPr lang="en-US" sz="2000" dirty="0">
                <a:solidFill>
                  <a:srgbClr val="FF0000"/>
                </a:solidFill>
                <a:latin typeface="Bookman Old Style" panose="02050604050505020204" pitchFamily="18" charset="0"/>
              </a:rPr>
              <a:t>C:\iare\core\am3\javalang\structure</a:t>
            </a:r>
          </a:p>
          <a:p>
            <a:pPr algn="just"/>
            <a:endParaRPr lang="en-US" sz="2000" b="1" dirty="0">
              <a:solidFill>
                <a:srgbClr val="FF0000"/>
              </a:solidFill>
              <a:latin typeface="Bookman Old Style" panose="02050604050505020204" pitchFamily="18" charset="0"/>
            </a:endParaRPr>
          </a:p>
          <a:p>
            <a:pPr algn="just"/>
            <a:r>
              <a:rPr lang="en-US" b="1" dirty="0">
                <a:solidFill>
                  <a:srgbClr val="FF0000"/>
                </a:solidFill>
                <a:latin typeface="Bookman Old Style" panose="02050604050505020204" pitchFamily="18" charset="0"/>
              </a:rPr>
              <a:t>// C.java</a:t>
            </a:r>
          </a:p>
          <a:p>
            <a:pPr algn="just"/>
            <a:r>
              <a:rPr lang="en-US" b="1" dirty="0">
                <a:solidFill>
                  <a:srgbClr val="FF0000"/>
                </a:solidFill>
                <a:latin typeface="Bookman Old Style" panose="02050604050505020204" pitchFamily="18" charset="0"/>
              </a:rPr>
              <a:t>package core.am3.javalang.structure;</a:t>
            </a:r>
          </a:p>
          <a:p>
            <a:pPr algn="just"/>
            <a:r>
              <a:rPr lang="en-US" dirty="0">
                <a:solidFill>
                  <a:srgbClr val="003F66"/>
                </a:solidFill>
                <a:latin typeface="Bookman Old Style" panose="02050604050505020204" pitchFamily="18" charset="0"/>
              </a:rPr>
              <a:t>public class C {</a:t>
            </a:r>
          </a:p>
          <a:p>
            <a:pPr algn="just"/>
            <a:r>
              <a:rPr lang="en-US" dirty="0">
                <a:solidFill>
                  <a:srgbClr val="003F66"/>
                </a:solidFill>
                <a:latin typeface="Bookman Old Style" panose="02050604050505020204" pitchFamily="18" charset="0"/>
              </a:rPr>
              <a:t>	public void print() {</a:t>
            </a:r>
          </a:p>
          <a:p>
            <a:pPr algn="just"/>
            <a:r>
              <a:rPr lang="en-US" dirty="0">
                <a:solidFill>
                  <a:srgbClr val="003F66"/>
                </a:solidFill>
                <a:latin typeface="Bookman Old Style" panose="02050604050505020204" pitchFamily="18" charset="0"/>
              </a:rPr>
              <a:t>		A a=new A(); // A instantiated within the package</a:t>
            </a:r>
          </a:p>
          <a:p>
            <a:pPr algn="just"/>
            <a:r>
              <a:rPr lang="en-US" dirty="0">
                <a:solidFill>
                  <a:srgbClr val="003F66"/>
                </a:solidFill>
                <a:latin typeface="Bookman Old Style" panose="02050604050505020204" pitchFamily="18" charset="0"/>
              </a:rPr>
              <a:t>		System.out.println(</a:t>
            </a:r>
            <a:r>
              <a:rPr lang="en-US" dirty="0" err="1">
                <a:solidFill>
                  <a:srgbClr val="003F66"/>
                </a:solidFill>
                <a:latin typeface="Bookman Old Style" panose="02050604050505020204" pitchFamily="18" charset="0"/>
              </a:rPr>
              <a:t>a.a</a:t>
            </a:r>
            <a:r>
              <a:rPr lang="en-US" dirty="0">
                <a:solidFill>
                  <a:srgbClr val="003F66"/>
                </a:solidFill>
                <a:latin typeface="Bookman Old Style" panose="02050604050505020204" pitchFamily="18" charset="0"/>
              </a:rPr>
              <a:t>); // N</a:t>
            </a:r>
          </a:p>
          <a:p>
            <a:pPr algn="just"/>
            <a:r>
              <a:rPr lang="en-US" dirty="0">
                <a:solidFill>
                  <a:srgbClr val="003F66"/>
                </a:solidFill>
                <a:latin typeface="Bookman Old Style" panose="02050604050505020204" pitchFamily="18" charset="0"/>
              </a:rPr>
              <a:t>		System.out.println(</a:t>
            </a:r>
            <a:r>
              <a:rPr lang="en-US" dirty="0" err="1">
                <a:solidFill>
                  <a:srgbClr val="003F66"/>
                </a:solidFill>
                <a:latin typeface="Bookman Old Style" panose="02050604050505020204" pitchFamily="18" charset="0"/>
              </a:rPr>
              <a:t>a.b</a:t>
            </a:r>
            <a:r>
              <a:rPr lang="en-US" dirty="0">
                <a:solidFill>
                  <a:srgbClr val="003F66"/>
                </a:solidFill>
                <a:latin typeface="Bookman Old Style" panose="02050604050505020204" pitchFamily="18" charset="0"/>
              </a:rPr>
              <a:t>); // Y</a:t>
            </a:r>
          </a:p>
          <a:p>
            <a:pPr algn="just"/>
            <a:r>
              <a:rPr lang="en-US" dirty="0">
                <a:solidFill>
                  <a:srgbClr val="003F66"/>
                </a:solidFill>
                <a:latin typeface="Bookman Old Style" panose="02050604050505020204" pitchFamily="18" charset="0"/>
              </a:rPr>
              <a:t>		System.out.println(</a:t>
            </a:r>
            <a:r>
              <a:rPr lang="en-US" dirty="0" err="1">
                <a:solidFill>
                  <a:srgbClr val="003F66"/>
                </a:solidFill>
                <a:latin typeface="Bookman Old Style" panose="02050604050505020204" pitchFamily="18" charset="0"/>
              </a:rPr>
              <a:t>a.c</a:t>
            </a:r>
            <a:r>
              <a:rPr lang="en-US" dirty="0">
                <a:solidFill>
                  <a:srgbClr val="003F66"/>
                </a:solidFill>
                <a:latin typeface="Bookman Old Style" panose="02050604050505020204" pitchFamily="18" charset="0"/>
              </a:rPr>
              <a:t>); // Y</a:t>
            </a:r>
          </a:p>
          <a:p>
            <a:pPr algn="just"/>
            <a:r>
              <a:rPr lang="en-US" dirty="0">
                <a:solidFill>
                  <a:srgbClr val="003F66"/>
                </a:solidFill>
                <a:latin typeface="Bookman Old Style" panose="02050604050505020204" pitchFamily="18" charset="0"/>
              </a:rPr>
              <a:t>		System.out.println(</a:t>
            </a:r>
            <a:r>
              <a:rPr lang="en-US" dirty="0" err="1">
                <a:solidFill>
                  <a:srgbClr val="003F66"/>
                </a:solidFill>
                <a:latin typeface="Bookman Old Style" panose="02050604050505020204" pitchFamily="18" charset="0"/>
              </a:rPr>
              <a:t>a.d</a:t>
            </a:r>
            <a:r>
              <a:rPr lang="en-US" dirty="0">
                <a:solidFill>
                  <a:srgbClr val="003F66"/>
                </a:solidFill>
                <a:latin typeface="Bookman Old Style" panose="02050604050505020204" pitchFamily="18" charset="0"/>
              </a:rPr>
              <a:t>); // Y</a:t>
            </a:r>
          </a:p>
          <a:p>
            <a:pPr algn="just"/>
            <a:r>
              <a:rPr lang="en-US" dirty="0">
                <a:solidFill>
                  <a:srgbClr val="003F66"/>
                </a:solidFill>
                <a:latin typeface="Bookman Old Style" panose="02050604050505020204" pitchFamily="18" charset="0"/>
              </a:rPr>
              <a:t>	}</a:t>
            </a:r>
          </a:p>
          <a:p>
            <a:pPr algn="just"/>
            <a:r>
              <a:rPr lang="en-US" dirty="0">
                <a:solidFill>
                  <a:srgbClr val="003F66"/>
                </a:solidFill>
                <a:latin typeface="Bookman Old Style" panose="02050604050505020204" pitchFamily="18" charset="0"/>
              </a:rPr>
              <a:t>}</a:t>
            </a:r>
          </a:p>
          <a:p>
            <a:pPr algn="just"/>
            <a:endParaRPr lang="en-US" dirty="0">
              <a:solidFill>
                <a:srgbClr val="003F66"/>
              </a:solidFill>
              <a:latin typeface="Bookman Old Style" panose="02050604050505020204" pitchFamily="18" charset="0"/>
            </a:endParaRPr>
          </a:p>
          <a:p>
            <a:pPr algn="just"/>
            <a:r>
              <a:rPr lang="en-US" dirty="0">
                <a:solidFill>
                  <a:srgbClr val="003F66"/>
                </a:solidFill>
                <a:latin typeface="Bookman Old Style" panose="02050604050505020204" pitchFamily="18" charset="0"/>
              </a:rPr>
              <a:t>In instantiated class within the package also except private members all other members are accessible.</a:t>
            </a:r>
          </a:p>
        </p:txBody>
      </p:sp>
      <p:sp>
        <p:nvSpPr>
          <p:cNvPr id="7" name="Footer Placeholder 6">
            <a:extLst>
              <a:ext uri="{FF2B5EF4-FFF2-40B4-BE49-F238E27FC236}">
                <a16:creationId xmlns:a16="http://schemas.microsoft.com/office/drawing/2014/main" id="{195947C9-3F38-52CA-4025-CEE6576F6C5E}"/>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4632179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5361368" cy="400110"/>
              </a:xfrm>
              <a:prstGeom prst="rect">
                <a:avLst/>
              </a:prstGeom>
            </p:spPr>
            <p:txBody>
              <a:bodyPr wrap="square">
                <a:spAutoFit/>
              </a:bodyPr>
              <a:lstStyle/>
              <a:p>
                <a:pPr algn="ctr"/>
                <a:r>
                  <a:rPr lang="en-US" sz="2000" b="1" dirty="0">
                    <a:solidFill>
                      <a:schemeClr val="bg1"/>
                    </a:solidFill>
                    <a:latin typeface="Bookman Old Style" panose="02050604050505020204" pitchFamily="18" charset="0"/>
                  </a:rPr>
                  <a:t>Package example</a:t>
                </a: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19" name="TextBox 18">
            <a:extLst>
              <a:ext uri="{FF2B5EF4-FFF2-40B4-BE49-F238E27FC236}">
                <a16:creationId xmlns:a16="http://schemas.microsoft.com/office/drawing/2014/main" id="{5666FA78-D39B-4E14-BA99-57B0F398F8B9}"/>
              </a:ext>
            </a:extLst>
          </p:cNvPr>
          <p:cNvSpPr txBox="1"/>
          <p:nvPr/>
        </p:nvSpPr>
        <p:spPr>
          <a:xfrm>
            <a:off x="1086678" y="1050842"/>
            <a:ext cx="8200334" cy="5139869"/>
          </a:xfrm>
          <a:prstGeom prst="rect">
            <a:avLst/>
          </a:prstGeom>
          <a:noFill/>
        </p:spPr>
        <p:txBody>
          <a:bodyPr wrap="square">
            <a:spAutoFit/>
          </a:bodyPr>
          <a:lstStyle/>
          <a:p>
            <a:pPr algn="just"/>
            <a:r>
              <a:rPr lang="en-US" sz="2000" b="1" dirty="0">
                <a:solidFill>
                  <a:srgbClr val="FF0000"/>
                </a:solidFill>
                <a:latin typeface="Bookman Old Style" panose="02050604050505020204" pitchFamily="18" charset="0"/>
              </a:rPr>
              <a:t>Now write a sub class of class A outside the package</a:t>
            </a:r>
          </a:p>
          <a:p>
            <a:pPr algn="just"/>
            <a:r>
              <a:rPr lang="en-US" sz="2000" dirty="0">
                <a:solidFill>
                  <a:srgbClr val="003F66"/>
                </a:solidFill>
                <a:latin typeface="Bookman Old Style" panose="02050604050505020204" pitchFamily="18" charset="0"/>
              </a:rPr>
              <a:t>// C:\iare\core\am3\javalang\first\</a:t>
            </a:r>
          </a:p>
          <a:p>
            <a:pPr algn="just"/>
            <a:endParaRPr lang="en-US" dirty="0">
              <a:solidFill>
                <a:srgbClr val="003F66"/>
              </a:solidFill>
              <a:latin typeface="Bookman Old Style" panose="02050604050505020204" pitchFamily="18" charset="0"/>
            </a:endParaRPr>
          </a:p>
          <a:p>
            <a:pPr algn="just"/>
            <a:r>
              <a:rPr lang="en-US" dirty="0">
                <a:solidFill>
                  <a:srgbClr val="003F66"/>
                </a:solidFill>
                <a:latin typeface="Bookman Old Style" panose="02050604050505020204" pitchFamily="18" charset="0"/>
              </a:rPr>
              <a:t>// D.java</a:t>
            </a:r>
          </a:p>
          <a:p>
            <a:pPr algn="just"/>
            <a:r>
              <a:rPr lang="en-US" b="1" dirty="0">
                <a:solidFill>
                  <a:srgbClr val="003F66"/>
                </a:solidFill>
                <a:latin typeface="Bookman Old Style" panose="02050604050505020204" pitchFamily="18" charset="0"/>
              </a:rPr>
              <a:t>import core.am3.javalang.structure.A; // importing class A</a:t>
            </a:r>
          </a:p>
          <a:p>
            <a:pPr algn="just"/>
            <a:r>
              <a:rPr lang="en-US" dirty="0">
                <a:solidFill>
                  <a:srgbClr val="003F66"/>
                </a:solidFill>
                <a:latin typeface="Bookman Old Style" panose="02050604050505020204" pitchFamily="18" charset="0"/>
              </a:rPr>
              <a:t>public class </a:t>
            </a:r>
            <a:r>
              <a:rPr lang="en-US" b="1" dirty="0">
                <a:solidFill>
                  <a:srgbClr val="003F66"/>
                </a:solidFill>
                <a:latin typeface="Bookman Old Style" panose="02050604050505020204" pitchFamily="18" charset="0"/>
              </a:rPr>
              <a:t>D extends A </a:t>
            </a:r>
            <a:r>
              <a:rPr lang="en-US" dirty="0">
                <a:solidFill>
                  <a:srgbClr val="003F66"/>
                </a:solidFill>
                <a:latin typeface="Bookman Old Style" panose="02050604050505020204" pitchFamily="18" charset="0"/>
              </a:rPr>
              <a:t>{ // subclassing from class A</a:t>
            </a:r>
          </a:p>
          <a:p>
            <a:pPr algn="just"/>
            <a:endParaRPr lang="en-US" dirty="0">
              <a:solidFill>
                <a:srgbClr val="003F66"/>
              </a:solidFill>
              <a:latin typeface="Bookman Old Style" panose="02050604050505020204" pitchFamily="18" charset="0"/>
            </a:endParaRPr>
          </a:p>
          <a:p>
            <a:pPr algn="just"/>
            <a:r>
              <a:rPr lang="en-US" dirty="0">
                <a:solidFill>
                  <a:srgbClr val="003F66"/>
                </a:solidFill>
                <a:latin typeface="Bookman Old Style" panose="02050604050505020204" pitchFamily="18" charset="0"/>
              </a:rPr>
              <a:t>  public void print(){</a:t>
            </a:r>
          </a:p>
          <a:p>
            <a:pPr algn="just"/>
            <a:r>
              <a:rPr lang="en-US" dirty="0">
                <a:solidFill>
                  <a:srgbClr val="003F66"/>
                </a:solidFill>
                <a:latin typeface="Bookman Old Style" panose="02050604050505020204" pitchFamily="18" charset="0"/>
              </a:rPr>
              <a:t>    System.out.println(a);// </a:t>
            </a:r>
            <a:r>
              <a:rPr lang="en-US" dirty="0" err="1">
                <a:solidFill>
                  <a:srgbClr val="003F66"/>
                </a:solidFill>
                <a:latin typeface="Bookman Old Style" panose="02050604050505020204" pitchFamily="18" charset="0"/>
              </a:rPr>
              <a:t>na</a:t>
            </a:r>
            <a:endParaRPr lang="en-US" dirty="0">
              <a:solidFill>
                <a:srgbClr val="003F66"/>
              </a:solidFill>
              <a:latin typeface="Bookman Old Style" panose="02050604050505020204" pitchFamily="18" charset="0"/>
            </a:endParaRPr>
          </a:p>
          <a:p>
            <a:pPr algn="just"/>
            <a:r>
              <a:rPr lang="en-US" dirty="0">
                <a:solidFill>
                  <a:srgbClr val="003F66"/>
                </a:solidFill>
                <a:latin typeface="Bookman Old Style" panose="02050604050505020204" pitchFamily="18" charset="0"/>
              </a:rPr>
              <a:t>    System.out.println(b);// </a:t>
            </a:r>
            <a:r>
              <a:rPr lang="en-US" dirty="0" err="1">
                <a:solidFill>
                  <a:srgbClr val="003F66"/>
                </a:solidFill>
                <a:latin typeface="Bookman Old Style" panose="02050604050505020204" pitchFamily="18" charset="0"/>
              </a:rPr>
              <a:t>na</a:t>
            </a:r>
            <a:endParaRPr lang="en-US" dirty="0">
              <a:solidFill>
                <a:srgbClr val="003F66"/>
              </a:solidFill>
              <a:latin typeface="Bookman Old Style" panose="02050604050505020204" pitchFamily="18" charset="0"/>
            </a:endParaRPr>
          </a:p>
          <a:p>
            <a:pPr algn="just"/>
            <a:r>
              <a:rPr lang="en-US" dirty="0">
                <a:solidFill>
                  <a:srgbClr val="003F66"/>
                </a:solidFill>
                <a:latin typeface="Bookman Old Style" panose="02050604050505020204" pitchFamily="18" charset="0"/>
              </a:rPr>
              <a:t>    System.out.println(c);// a</a:t>
            </a:r>
          </a:p>
          <a:p>
            <a:pPr algn="just"/>
            <a:r>
              <a:rPr lang="en-US" dirty="0">
                <a:solidFill>
                  <a:srgbClr val="003F66"/>
                </a:solidFill>
                <a:latin typeface="Bookman Old Style" panose="02050604050505020204" pitchFamily="18" charset="0"/>
              </a:rPr>
              <a:t>    System.out.println(d);// a</a:t>
            </a:r>
          </a:p>
          <a:p>
            <a:pPr algn="just"/>
            <a:r>
              <a:rPr lang="en-US" dirty="0">
                <a:solidFill>
                  <a:srgbClr val="003F66"/>
                </a:solidFill>
                <a:latin typeface="Bookman Old Style" panose="02050604050505020204" pitchFamily="18" charset="0"/>
              </a:rPr>
              <a:t>  }</a:t>
            </a:r>
          </a:p>
          <a:p>
            <a:pPr algn="just"/>
            <a:r>
              <a:rPr lang="en-US" dirty="0">
                <a:solidFill>
                  <a:srgbClr val="003F66"/>
                </a:solidFill>
                <a:latin typeface="Bookman Old Style" panose="02050604050505020204" pitchFamily="18" charset="0"/>
              </a:rPr>
              <a:t>}</a:t>
            </a:r>
          </a:p>
          <a:p>
            <a:pPr algn="just"/>
            <a:endParaRPr lang="en-US" dirty="0">
              <a:solidFill>
                <a:srgbClr val="003F66"/>
              </a:solidFill>
              <a:latin typeface="Bookman Old Style" panose="02050604050505020204" pitchFamily="18" charset="0"/>
            </a:endParaRPr>
          </a:p>
          <a:p>
            <a:pPr algn="just"/>
            <a:r>
              <a:rPr lang="en-US" dirty="0">
                <a:solidFill>
                  <a:srgbClr val="003F66"/>
                </a:solidFill>
                <a:latin typeface="Bookman Old Style" panose="02050604050505020204" pitchFamily="18" charset="0"/>
              </a:rPr>
              <a:t>In subclass of outside package private and default members are not accessible. Only protected and public members are accessible. Default members cannot be accessible outside the package.</a:t>
            </a:r>
          </a:p>
        </p:txBody>
      </p:sp>
      <p:sp>
        <p:nvSpPr>
          <p:cNvPr id="7" name="Footer Placeholder 6">
            <a:extLst>
              <a:ext uri="{FF2B5EF4-FFF2-40B4-BE49-F238E27FC236}">
                <a16:creationId xmlns:a16="http://schemas.microsoft.com/office/drawing/2014/main" id="{33088D26-307B-E710-6FDE-5A74517E4C60}"/>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6016039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5361368" cy="400110"/>
              </a:xfrm>
              <a:prstGeom prst="rect">
                <a:avLst/>
              </a:prstGeom>
            </p:spPr>
            <p:txBody>
              <a:bodyPr wrap="square">
                <a:spAutoFit/>
              </a:bodyPr>
              <a:lstStyle/>
              <a:p>
                <a:pPr algn="ctr"/>
                <a:r>
                  <a:rPr lang="en-US" sz="2000" b="1" dirty="0">
                    <a:solidFill>
                      <a:schemeClr val="bg1"/>
                    </a:solidFill>
                    <a:latin typeface="Bookman Old Style" panose="02050604050505020204" pitchFamily="18" charset="0"/>
                  </a:rPr>
                  <a:t>Package example</a:t>
                </a: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19" name="TextBox 18">
            <a:extLst>
              <a:ext uri="{FF2B5EF4-FFF2-40B4-BE49-F238E27FC236}">
                <a16:creationId xmlns:a16="http://schemas.microsoft.com/office/drawing/2014/main" id="{5666FA78-D39B-4E14-BA99-57B0F398F8B9}"/>
              </a:ext>
            </a:extLst>
          </p:cNvPr>
          <p:cNvSpPr txBox="1"/>
          <p:nvPr/>
        </p:nvSpPr>
        <p:spPr>
          <a:xfrm>
            <a:off x="1086678" y="1050842"/>
            <a:ext cx="8200334" cy="4708981"/>
          </a:xfrm>
          <a:prstGeom prst="rect">
            <a:avLst/>
          </a:prstGeom>
          <a:noFill/>
        </p:spPr>
        <p:txBody>
          <a:bodyPr wrap="square">
            <a:spAutoFit/>
          </a:bodyPr>
          <a:lstStyle/>
          <a:p>
            <a:pPr algn="just"/>
            <a:r>
              <a:rPr lang="en-US" sz="2000" b="1" dirty="0">
                <a:solidFill>
                  <a:srgbClr val="FF0000"/>
                </a:solidFill>
                <a:latin typeface="Bookman Old Style" panose="02050604050505020204" pitchFamily="18" charset="0"/>
              </a:rPr>
              <a:t>E.java is a instantiated class of class A outside the package</a:t>
            </a:r>
          </a:p>
          <a:p>
            <a:pPr algn="just"/>
            <a:endParaRPr lang="en-US" sz="2000" b="1" dirty="0">
              <a:solidFill>
                <a:srgbClr val="FF0000"/>
              </a:solidFill>
              <a:latin typeface="Bookman Old Style" panose="02050604050505020204" pitchFamily="18" charset="0"/>
            </a:endParaRPr>
          </a:p>
          <a:p>
            <a:pPr algn="just"/>
            <a:r>
              <a:rPr lang="en-US" sz="2000" b="1" dirty="0">
                <a:solidFill>
                  <a:srgbClr val="003F66"/>
                </a:solidFill>
                <a:latin typeface="Bookman Old Style" panose="02050604050505020204" pitchFamily="18" charset="0"/>
              </a:rPr>
              <a:t>import core.am3.javalang.structure.A;</a:t>
            </a:r>
          </a:p>
          <a:p>
            <a:pPr algn="just"/>
            <a:r>
              <a:rPr lang="en-US" sz="2000" dirty="0">
                <a:solidFill>
                  <a:srgbClr val="003F66"/>
                </a:solidFill>
                <a:latin typeface="Bookman Old Style" panose="02050604050505020204" pitchFamily="18" charset="0"/>
              </a:rPr>
              <a:t>public class E {</a:t>
            </a:r>
          </a:p>
          <a:p>
            <a:pPr algn="just"/>
            <a:r>
              <a:rPr lang="en-US" sz="2000" dirty="0">
                <a:solidFill>
                  <a:srgbClr val="003F66"/>
                </a:solidFill>
                <a:latin typeface="Bookman Old Style" panose="02050604050505020204" pitchFamily="18" charset="0"/>
              </a:rPr>
              <a:t>  public void print(){</a:t>
            </a:r>
          </a:p>
          <a:p>
            <a:pPr algn="just"/>
            <a:r>
              <a:rPr lang="en-US" sz="2000" dirty="0">
                <a:solidFill>
                  <a:srgbClr val="003F66"/>
                </a:solidFill>
                <a:latin typeface="Bookman Old Style" panose="02050604050505020204" pitchFamily="18" charset="0"/>
              </a:rPr>
              <a:t>    </a:t>
            </a:r>
            <a:r>
              <a:rPr lang="en-US" sz="2000" b="1" dirty="0">
                <a:solidFill>
                  <a:srgbClr val="003F66"/>
                </a:solidFill>
                <a:latin typeface="Bookman Old Style" panose="02050604050505020204" pitchFamily="18" charset="0"/>
              </a:rPr>
              <a:t>A a=new A(); // A class instantiated</a:t>
            </a:r>
          </a:p>
          <a:p>
            <a:pPr algn="just"/>
            <a:r>
              <a:rPr lang="en-US" sz="2000" dirty="0">
                <a:solidFill>
                  <a:srgbClr val="003F66"/>
                </a:solidFill>
                <a:latin typeface="Bookman Old Style" panose="02050604050505020204" pitchFamily="18" charset="0"/>
              </a:rPr>
              <a:t>    System.out.println(</a:t>
            </a:r>
            <a:r>
              <a:rPr lang="en-US" sz="2000" dirty="0" err="1">
                <a:solidFill>
                  <a:srgbClr val="003F66"/>
                </a:solidFill>
                <a:latin typeface="Bookman Old Style" panose="02050604050505020204" pitchFamily="18" charset="0"/>
              </a:rPr>
              <a:t>a.a</a:t>
            </a:r>
            <a:r>
              <a:rPr lang="en-US" sz="2000" dirty="0">
                <a:solidFill>
                  <a:srgbClr val="003F66"/>
                </a:solidFill>
                <a:latin typeface="Bookman Old Style" panose="02050604050505020204" pitchFamily="18" charset="0"/>
              </a:rPr>
              <a:t>);// </a:t>
            </a:r>
            <a:r>
              <a:rPr lang="en-US" sz="2000" dirty="0" err="1">
                <a:solidFill>
                  <a:srgbClr val="003F66"/>
                </a:solidFill>
                <a:latin typeface="Bookman Old Style" panose="02050604050505020204" pitchFamily="18" charset="0"/>
              </a:rPr>
              <a:t>na</a:t>
            </a:r>
            <a:endParaRPr lang="en-US" sz="2000" dirty="0">
              <a:solidFill>
                <a:srgbClr val="003F66"/>
              </a:solidFill>
              <a:latin typeface="Bookman Old Style" panose="02050604050505020204" pitchFamily="18" charset="0"/>
            </a:endParaRPr>
          </a:p>
          <a:p>
            <a:pPr algn="just"/>
            <a:r>
              <a:rPr lang="en-US" sz="2000" dirty="0">
                <a:solidFill>
                  <a:srgbClr val="003F66"/>
                </a:solidFill>
                <a:latin typeface="Bookman Old Style" panose="02050604050505020204" pitchFamily="18" charset="0"/>
              </a:rPr>
              <a:t>    System.out.println(</a:t>
            </a:r>
            <a:r>
              <a:rPr lang="en-US" sz="2000" dirty="0" err="1">
                <a:solidFill>
                  <a:srgbClr val="003F66"/>
                </a:solidFill>
                <a:latin typeface="Bookman Old Style" panose="02050604050505020204" pitchFamily="18" charset="0"/>
              </a:rPr>
              <a:t>a.b</a:t>
            </a:r>
            <a:r>
              <a:rPr lang="en-US" sz="2000" dirty="0">
                <a:solidFill>
                  <a:srgbClr val="003F66"/>
                </a:solidFill>
                <a:latin typeface="Bookman Old Style" panose="02050604050505020204" pitchFamily="18" charset="0"/>
              </a:rPr>
              <a:t>);// </a:t>
            </a:r>
            <a:r>
              <a:rPr lang="en-US" sz="2000" dirty="0" err="1">
                <a:solidFill>
                  <a:srgbClr val="003F66"/>
                </a:solidFill>
                <a:latin typeface="Bookman Old Style" panose="02050604050505020204" pitchFamily="18" charset="0"/>
              </a:rPr>
              <a:t>na</a:t>
            </a:r>
            <a:endParaRPr lang="en-US" sz="2000" dirty="0">
              <a:solidFill>
                <a:srgbClr val="003F66"/>
              </a:solidFill>
              <a:latin typeface="Bookman Old Style" panose="02050604050505020204" pitchFamily="18" charset="0"/>
            </a:endParaRPr>
          </a:p>
          <a:p>
            <a:pPr algn="just"/>
            <a:r>
              <a:rPr lang="en-US" sz="2000" dirty="0">
                <a:solidFill>
                  <a:srgbClr val="003F66"/>
                </a:solidFill>
                <a:latin typeface="Bookman Old Style" panose="02050604050505020204" pitchFamily="18" charset="0"/>
              </a:rPr>
              <a:t>    System.out.println(</a:t>
            </a:r>
            <a:r>
              <a:rPr lang="en-US" sz="2000" dirty="0" err="1">
                <a:solidFill>
                  <a:srgbClr val="003F66"/>
                </a:solidFill>
                <a:latin typeface="Bookman Old Style" panose="02050604050505020204" pitchFamily="18" charset="0"/>
              </a:rPr>
              <a:t>a.c</a:t>
            </a:r>
            <a:r>
              <a:rPr lang="en-US" sz="2000" dirty="0">
                <a:solidFill>
                  <a:srgbClr val="003F66"/>
                </a:solidFill>
                <a:latin typeface="Bookman Old Style" panose="02050604050505020204" pitchFamily="18" charset="0"/>
              </a:rPr>
              <a:t>);// </a:t>
            </a:r>
            <a:r>
              <a:rPr lang="en-US" sz="2000" dirty="0" err="1">
                <a:solidFill>
                  <a:srgbClr val="003F66"/>
                </a:solidFill>
                <a:latin typeface="Bookman Old Style" panose="02050604050505020204" pitchFamily="18" charset="0"/>
              </a:rPr>
              <a:t>na</a:t>
            </a:r>
            <a:endParaRPr lang="en-US" sz="2000" dirty="0">
              <a:solidFill>
                <a:srgbClr val="003F66"/>
              </a:solidFill>
              <a:latin typeface="Bookman Old Style" panose="02050604050505020204" pitchFamily="18" charset="0"/>
            </a:endParaRPr>
          </a:p>
          <a:p>
            <a:pPr algn="just"/>
            <a:r>
              <a:rPr lang="en-US" sz="2000" dirty="0">
                <a:solidFill>
                  <a:srgbClr val="003F66"/>
                </a:solidFill>
                <a:latin typeface="Bookman Old Style" panose="02050604050505020204" pitchFamily="18" charset="0"/>
              </a:rPr>
              <a:t>    System.out.println(</a:t>
            </a:r>
            <a:r>
              <a:rPr lang="en-US" sz="2000" dirty="0" err="1">
                <a:solidFill>
                  <a:srgbClr val="003F66"/>
                </a:solidFill>
                <a:latin typeface="Bookman Old Style" panose="02050604050505020204" pitchFamily="18" charset="0"/>
              </a:rPr>
              <a:t>a.d</a:t>
            </a:r>
            <a:r>
              <a:rPr lang="en-US" sz="2000" dirty="0">
                <a:solidFill>
                  <a:srgbClr val="003F66"/>
                </a:solidFill>
                <a:latin typeface="Bookman Old Style" panose="02050604050505020204" pitchFamily="18" charset="0"/>
              </a:rPr>
              <a:t>);// a</a:t>
            </a:r>
          </a:p>
          <a:p>
            <a:pPr algn="just"/>
            <a:r>
              <a:rPr lang="en-US" sz="2000" dirty="0">
                <a:solidFill>
                  <a:srgbClr val="003F66"/>
                </a:solidFill>
                <a:latin typeface="Bookman Old Style" panose="02050604050505020204" pitchFamily="18" charset="0"/>
              </a:rPr>
              <a:t>  }   </a:t>
            </a:r>
          </a:p>
          <a:p>
            <a:pPr algn="just"/>
            <a:r>
              <a:rPr lang="en-US" sz="2000" dirty="0">
                <a:solidFill>
                  <a:srgbClr val="003F66"/>
                </a:solidFill>
                <a:latin typeface="Bookman Old Style" panose="02050604050505020204" pitchFamily="18" charset="0"/>
              </a:rPr>
              <a:t>}</a:t>
            </a:r>
          </a:p>
          <a:p>
            <a:pPr algn="just"/>
            <a:endParaRPr lang="en-US" sz="2000" dirty="0">
              <a:solidFill>
                <a:srgbClr val="003F66"/>
              </a:solidFill>
              <a:latin typeface="Bookman Old Style" panose="02050604050505020204" pitchFamily="18" charset="0"/>
            </a:endParaRPr>
          </a:p>
          <a:p>
            <a:pPr algn="just"/>
            <a:r>
              <a:rPr lang="en-US" sz="2000" dirty="0">
                <a:solidFill>
                  <a:srgbClr val="003F66"/>
                </a:solidFill>
                <a:latin typeface="Bookman Old Style" panose="02050604050505020204" pitchFamily="18" charset="0"/>
              </a:rPr>
              <a:t>In instantiated class of outside the package except public no other members are accessible.</a:t>
            </a:r>
            <a:endParaRPr lang="en-US" dirty="0">
              <a:solidFill>
                <a:srgbClr val="003F66"/>
              </a:solidFill>
              <a:latin typeface="Bookman Old Style" panose="02050604050505020204" pitchFamily="18" charset="0"/>
            </a:endParaRPr>
          </a:p>
        </p:txBody>
      </p:sp>
      <p:sp>
        <p:nvSpPr>
          <p:cNvPr id="7" name="Footer Placeholder 6">
            <a:extLst>
              <a:ext uri="{FF2B5EF4-FFF2-40B4-BE49-F238E27FC236}">
                <a16:creationId xmlns:a16="http://schemas.microsoft.com/office/drawing/2014/main" id="{6860F1FE-837F-AB49-A47D-1B4F3B043345}"/>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0525795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5361368" cy="400110"/>
              </a:xfrm>
              <a:prstGeom prst="rect">
                <a:avLst/>
              </a:prstGeom>
            </p:spPr>
            <p:txBody>
              <a:bodyPr wrap="square">
                <a:spAutoFit/>
              </a:bodyPr>
              <a:lstStyle/>
              <a:p>
                <a:pPr algn="ctr"/>
                <a:r>
                  <a:rPr lang="en-US" sz="2000" b="1" dirty="0">
                    <a:solidFill>
                      <a:schemeClr val="bg1"/>
                    </a:solidFill>
                    <a:latin typeface="Bookman Old Style" panose="02050604050505020204" pitchFamily="18" charset="0"/>
                  </a:rPr>
                  <a:t>Package example</a:t>
                </a: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19" name="TextBox 18">
            <a:extLst>
              <a:ext uri="{FF2B5EF4-FFF2-40B4-BE49-F238E27FC236}">
                <a16:creationId xmlns:a16="http://schemas.microsoft.com/office/drawing/2014/main" id="{5666FA78-D39B-4E14-BA99-57B0F398F8B9}"/>
              </a:ext>
            </a:extLst>
          </p:cNvPr>
          <p:cNvSpPr txBox="1"/>
          <p:nvPr/>
        </p:nvSpPr>
        <p:spPr>
          <a:xfrm>
            <a:off x="1086678" y="1077346"/>
            <a:ext cx="8200334" cy="2246769"/>
          </a:xfrm>
          <a:prstGeom prst="rect">
            <a:avLst/>
          </a:prstGeom>
          <a:noFill/>
        </p:spPr>
        <p:txBody>
          <a:bodyPr wrap="square">
            <a:spAutoFit/>
          </a:bodyPr>
          <a:lstStyle/>
          <a:p>
            <a:pPr algn="just"/>
            <a:r>
              <a:rPr lang="en-US" sz="2000" b="1" dirty="0">
                <a:solidFill>
                  <a:srgbClr val="FF0000"/>
                </a:solidFill>
                <a:latin typeface="Bookman Old Style" panose="02050604050505020204" pitchFamily="18" charset="0"/>
              </a:rPr>
              <a:t>In this session we understood package declaration, import statement and more importantly access scope of access specifiers:</a:t>
            </a:r>
          </a:p>
          <a:p>
            <a:pPr marL="800100" lvl="1" indent="-342900" algn="just">
              <a:buFont typeface="Wingdings" panose="05000000000000000000" pitchFamily="2" charset="2"/>
              <a:buChar char="Ø"/>
            </a:pPr>
            <a:r>
              <a:rPr lang="en-US" sz="2000" b="1" dirty="0">
                <a:solidFill>
                  <a:srgbClr val="FF0000"/>
                </a:solidFill>
                <a:latin typeface="Bookman Old Style" panose="02050604050505020204" pitchFamily="18" charset="0"/>
              </a:rPr>
              <a:t>private</a:t>
            </a:r>
          </a:p>
          <a:p>
            <a:pPr marL="800100" lvl="1" indent="-342900" algn="just">
              <a:buFont typeface="Wingdings" panose="05000000000000000000" pitchFamily="2" charset="2"/>
              <a:buChar char="Ø"/>
            </a:pPr>
            <a:r>
              <a:rPr lang="en-US" sz="2000" b="1" dirty="0">
                <a:solidFill>
                  <a:srgbClr val="FF0000"/>
                </a:solidFill>
                <a:latin typeface="Bookman Old Style" panose="02050604050505020204" pitchFamily="18" charset="0"/>
              </a:rPr>
              <a:t>default</a:t>
            </a:r>
          </a:p>
          <a:p>
            <a:pPr marL="800100" lvl="1" indent="-342900" algn="just">
              <a:buFont typeface="Wingdings" panose="05000000000000000000" pitchFamily="2" charset="2"/>
              <a:buChar char="Ø"/>
            </a:pPr>
            <a:r>
              <a:rPr lang="en-US" sz="2000" b="1" dirty="0">
                <a:solidFill>
                  <a:srgbClr val="FF0000"/>
                </a:solidFill>
                <a:latin typeface="Bookman Old Style" panose="02050604050505020204" pitchFamily="18" charset="0"/>
              </a:rPr>
              <a:t>protected </a:t>
            </a:r>
          </a:p>
          <a:p>
            <a:pPr marL="800100" lvl="1" indent="-342900" algn="just">
              <a:buFont typeface="Wingdings" panose="05000000000000000000" pitchFamily="2" charset="2"/>
              <a:buChar char="Ø"/>
            </a:pPr>
            <a:r>
              <a:rPr lang="en-US" sz="2000" b="1" dirty="0">
                <a:solidFill>
                  <a:srgbClr val="FF0000"/>
                </a:solidFill>
                <a:latin typeface="Bookman Old Style" panose="02050604050505020204" pitchFamily="18" charset="0"/>
              </a:rPr>
              <a:t>public</a:t>
            </a:r>
            <a:endParaRPr lang="en-US" dirty="0">
              <a:solidFill>
                <a:srgbClr val="003F66"/>
              </a:solidFill>
              <a:latin typeface="Bookman Old Style" panose="02050604050505020204" pitchFamily="18" charset="0"/>
            </a:endParaRPr>
          </a:p>
        </p:txBody>
      </p:sp>
      <p:sp>
        <p:nvSpPr>
          <p:cNvPr id="7" name="Footer Placeholder 6">
            <a:extLst>
              <a:ext uri="{FF2B5EF4-FFF2-40B4-BE49-F238E27FC236}">
                <a16:creationId xmlns:a16="http://schemas.microsoft.com/office/drawing/2014/main" id="{A9944CB1-36FD-D9E6-AA33-CC8A03B7CA5B}"/>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8340191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5361368" cy="400110"/>
              </a:xfrm>
              <a:prstGeom prst="rect">
                <a:avLst/>
              </a:prstGeom>
            </p:spPr>
            <p:txBody>
              <a:bodyPr wrap="square">
                <a:spAutoFit/>
              </a:bodyPr>
              <a:lstStyle/>
              <a:p>
                <a:pPr algn="ctr"/>
                <a:r>
                  <a:rPr lang="en-US" sz="2000" b="1" dirty="0">
                    <a:solidFill>
                      <a:schemeClr val="bg1"/>
                    </a:solidFill>
                    <a:latin typeface="Bookman Old Style" panose="02050604050505020204" pitchFamily="18" charset="0"/>
                  </a:rPr>
                  <a:t>Access specifiers</a:t>
                </a: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19" name="TextBox 18">
            <a:extLst>
              <a:ext uri="{FF2B5EF4-FFF2-40B4-BE49-F238E27FC236}">
                <a16:creationId xmlns:a16="http://schemas.microsoft.com/office/drawing/2014/main" id="{5666FA78-D39B-4E14-BA99-57B0F398F8B9}"/>
              </a:ext>
            </a:extLst>
          </p:cNvPr>
          <p:cNvSpPr txBox="1"/>
          <p:nvPr/>
        </p:nvSpPr>
        <p:spPr>
          <a:xfrm>
            <a:off x="1086678" y="1077346"/>
            <a:ext cx="8200334" cy="4093428"/>
          </a:xfrm>
          <a:prstGeom prst="rect">
            <a:avLst/>
          </a:prstGeom>
          <a:noFill/>
        </p:spPr>
        <p:txBody>
          <a:bodyPr wrap="square">
            <a:spAutoFit/>
          </a:bodyPr>
          <a:lstStyle/>
          <a:p>
            <a:pPr algn="just"/>
            <a:r>
              <a:rPr lang="en-US" sz="2000" b="1" u="sng" dirty="0">
                <a:solidFill>
                  <a:srgbClr val="FF0000"/>
                </a:solidFill>
                <a:latin typeface="Bookman Old Style" panose="02050604050505020204" pitchFamily="18" charset="0"/>
              </a:rPr>
              <a:t>Access specifiers and their scopes:</a:t>
            </a:r>
          </a:p>
          <a:p>
            <a:pPr algn="just"/>
            <a:r>
              <a:rPr lang="en-US" sz="2000" b="1" dirty="0">
                <a:solidFill>
                  <a:srgbClr val="003F66"/>
                </a:solidFill>
                <a:latin typeface="Bookman Old Style" panose="02050604050505020204" pitchFamily="18" charset="0"/>
              </a:rPr>
              <a:t>Variable declared as private can be accessible only within the class.</a:t>
            </a:r>
          </a:p>
          <a:p>
            <a:pPr algn="just"/>
            <a:endParaRPr lang="en-US" sz="2000" b="1" dirty="0">
              <a:solidFill>
                <a:srgbClr val="003F66"/>
              </a:solidFill>
              <a:latin typeface="Bookman Old Style" panose="02050604050505020204" pitchFamily="18" charset="0"/>
            </a:endParaRPr>
          </a:p>
          <a:p>
            <a:pPr algn="just"/>
            <a:r>
              <a:rPr lang="en-US" sz="2000" b="1" dirty="0">
                <a:solidFill>
                  <a:srgbClr val="003F66"/>
                </a:solidFill>
                <a:latin typeface="Bookman Old Style" panose="02050604050505020204" pitchFamily="18" charset="0"/>
              </a:rPr>
              <a:t>default access specifier member can be accessible in both sub class and instantiated class within the package.</a:t>
            </a:r>
          </a:p>
          <a:p>
            <a:pPr algn="just"/>
            <a:endParaRPr lang="en-US" sz="2000" b="1" dirty="0">
              <a:solidFill>
                <a:srgbClr val="003F66"/>
              </a:solidFill>
              <a:latin typeface="Bookman Old Style" panose="02050604050505020204" pitchFamily="18" charset="0"/>
            </a:endParaRPr>
          </a:p>
          <a:p>
            <a:pPr algn="just"/>
            <a:r>
              <a:rPr lang="en-US" sz="2000" b="1" dirty="0">
                <a:solidFill>
                  <a:srgbClr val="003F66"/>
                </a:solidFill>
                <a:latin typeface="Bookman Old Style" panose="02050604050505020204" pitchFamily="18" charset="0"/>
              </a:rPr>
              <a:t>protected member variable can be accessible anywhere within the package and only up-to sub class outside the package.</a:t>
            </a:r>
          </a:p>
          <a:p>
            <a:pPr algn="just"/>
            <a:endParaRPr lang="en-US" sz="2000" b="1" dirty="0">
              <a:solidFill>
                <a:srgbClr val="003F66"/>
              </a:solidFill>
              <a:latin typeface="Bookman Old Style" panose="02050604050505020204" pitchFamily="18" charset="0"/>
            </a:endParaRPr>
          </a:p>
          <a:p>
            <a:pPr algn="just"/>
            <a:r>
              <a:rPr lang="en-US" sz="2000" b="1" dirty="0">
                <a:solidFill>
                  <a:srgbClr val="003F66"/>
                </a:solidFill>
                <a:latin typeface="Bookman Old Style" panose="02050604050505020204" pitchFamily="18" charset="0"/>
              </a:rPr>
              <a:t>public member variables can be accessible in both sub classes and instantiated within and outside the package.</a:t>
            </a:r>
          </a:p>
        </p:txBody>
      </p:sp>
      <p:sp>
        <p:nvSpPr>
          <p:cNvPr id="7" name="Footer Placeholder 6">
            <a:extLst>
              <a:ext uri="{FF2B5EF4-FFF2-40B4-BE49-F238E27FC236}">
                <a16:creationId xmlns:a16="http://schemas.microsoft.com/office/drawing/2014/main" id="{CE7C0D21-8C16-612F-2371-99801FAE7060}"/>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5473572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5361368" cy="400110"/>
              </a:xfrm>
              <a:prstGeom prst="rect">
                <a:avLst/>
              </a:prstGeom>
            </p:spPr>
            <p:txBody>
              <a:bodyPr wrap="square">
                <a:spAutoFit/>
              </a:bodyPr>
              <a:lstStyle/>
              <a:p>
                <a:pPr algn="ctr"/>
                <a:r>
                  <a:rPr lang="en-US" sz="2000" b="1" dirty="0">
                    <a:solidFill>
                      <a:schemeClr val="bg1"/>
                    </a:solidFill>
                    <a:latin typeface="Bookman Old Style" panose="02050604050505020204" pitchFamily="18" charset="0"/>
                  </a:rPr>
                  <a:t>Access specifiers</a:t>
                </a: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graphicFrame>
        <p:nvGraphicFramePr>
          <p:cNvPr id="9" name="Table 9">
            <a:extLst>
              <a:ext uri="{FF2B5EF4-FFF2-40B4-BE49-F238E27FC236}">
                <a16:creationId xmlns:a16="http://schemas.microsoft.com/office/drawing/2014/main" id="{874EF253-B5DA-4911-8980-CA4A38B76D5D}"/>
              </a:ext>
            </a:extLst>
          </p:cNvPr>
          <p:cNvGraphicFramePr>
            <a:graphicFrameLocks noGrp="1"/>
          </p:cNvGraphicFramePr>
          <p:nvPr>
            <p:extLst>
              <p:ext uri="{D42A27DB-BD31-4B8C-83A1-F6EECF244321}">
                <p14:modId xmlns:p14="http://schemas.microsoft.com/office/powerpoint/2010/main" val="1872194610"/>
              </p:ext>
            </p:extLst>
          </p:nvPr>
        </p:nvGraphicFramePr>
        <p:xfrm>
          <a:off x="1136451" y="1243207"/>
          <a:ext cx="8150561" cy="3837196"/>
        </p:xfrm>
        <a:graphic>
          <a:graphicData uri="http://schemas.openxmlformats.org/drawingml/2006/table">
            <a:tbl>
              <a:tblPr firstRow="1" bandRow="1">
                <a:tableStyleId>{BC89EF96-8CEA-46FF-86C4-4CE0E7609802}</a:tableStyleId>
              </a:tblPr>
              <a:tblGrid>
                <a:gridCol w="1358427">
                  <a:extLst>
                    <a:ext uri="{9D8B030D-6E8A-4147-A177-3AD203B41FA5}">
                      <a16:colId xmlns:a16="http://schemas.microsoft.com/office/drawing/2014/main" val="2616817106"/>
                    </a:ext>
                  </a:extLst>
                </a:gridCol>
                <a:gridCol w="922844">
                  <a:extLst>
                    <a:ext uri="{9D8B030D-6E8A-4147-A177-3AD203B41FA5}">
                      <a16:colId xmlns:a16="http://schemas.microsoft.com/office/drawing/2014/main" val="40187537"/>
                    </a:ext>
                  </a:extLst>
                </a:gridCol>
                <a:gridCol w="1036538">
                  <a:extLst>
                    <a:ext uri="{9D8B030D-6E8A-4147-A177-3AD203B41FA5}">
                      <a16:colId xmlns:a16="http://schemas.microsoft.com/office/drawing/2014/main" val="3288481505"/>
                    </a:ext>
                  </a:extLst>
                </a:gridCol>
                <a:gridCol w="2006633">
                  <a:extLst>
                    <a:ext uri="{9D8B030D-6E8A-4147-A177-3AD203B41FA5}">
                      <a16:colId xmlns:a16="http://schemas.microsoft.com/office/drawing/2014/main" val="2961814536"/>
                    </a:ext>
                  </a:extLst>
                </a:gridCol>
                <a:gridCol w="903648">
                  <a:extLst>
                    <a:ext uri="{9D8B030D-6E8A-4147-A177-3AD203B41FA5}">
                      <a16:colId xmlns:a16="http://schemas.microsoft.com/office/drawing/2014/main" val="1051827910"/>
                    </a:ext>
                  </a:extLst>
                </a:gridCol>
                <a:gridCol w="1922471">
                  <a:extLst>
                    <a:ext uri="{9D8B030D-6E8A-4147-A177-3AD203B41FA5}">
                      <a16:colId xmlns:a16="http://schemas.microsoft.com/office/drawing/2014/main" val="3557496595"/>
                    </a:ext>
                  </a:extLst>
                </a:gridCol>
              </a:tblGrid>
              <a:tr h="963724">
                <a:tc>
                  <a:txBody>
                    <a:bodyPr/>
                    <a:lstStyle/>
                    <a:p>
                      <a:endParaRPr lang="en-IN"/>
                    </a:p>
                  </a:txBody>
                  <a:tcPr/>
                </a:tc>
                <a:tc>
                  <a:txBody>
                    <a:bodyPr/>
                    <a:lstStyle/>
                    <a:p>
                      <a:pPr algn="ctr"/>
                      <a:r>
                        <a:rPr lang="en-US" dirty="0"/>
                        <a:t>Within the class</a:t>
                      </a:r>
                      <a:endParaRPr lang="en-IN" dirty="0"/>
                    </a:p>
                  </a:txBody>
                  <a:tcPr/>
                </a:tc>
                <a:tc gridSpan="2">
                  <a:txBody>
                    <a:bodyPr/>
                    <a:lstStyle/>
                    <a:p>
                      <a:pPr algn="ctr"/>
                      <a:r>
                        <a:rPr lang="en-US" dirty="0"/>
                        <a:t>Within the package</a:t>
                      </a:r>
                      <a:endParaRPr lang="en-IN" dirty="0"/>
                    </a:p>
                  </a:txBody>
                  <a:tcPr/>
                </a:tc>
                <a:tc hMerge="1">
                  <a:txBody>
                    <a:bodyPr/>
                    <a:lstStyle/>
                    <a:p>
                      <a:endParaRPr lang="en-IN" dirty="0"/>
                    </a:p>
                  </a:txBody>
                  <a:tcPr/>
                </a:tc>
                <a:tc gridSpan="2">
                  <a:txBody>
                    <a:bodyPr/>
                    <a:lstStyle/>
                    <a:p>
                      <a:pPr algn="ctr"/>
                      <a:r>
                        <a:rPr lang="en-US" dirty="0"/>
                        <a:t>Outside the package</a:t>
                      </a:r>
                      <a:endParaRPr lang="en-IN" dirty="0"/>
                    </a:p>
                  </a:txBody>
                  <a:tcPr/>
                </a:tc>
                <a:tc hMerge="1">
                  <a:txBody>
                    <a:bodyPr/>
                    <a:lstStyle/>
                    <a:p>
                      <a:endParaRPr lang="en-IN" dirty="0"/>
                    </a:p>
                  </a:txBody>
                  <a:tcPr/>
                </a:tc>
                <a:extLst>
                  <a:ext uri="{0D108BD9-81ED-4DB2-BD59-A6C34878D82A}">
                    <a16:rowId xmlns:a16="http://schemas.microsoft.com/office/drawing/2014/main" val="985097493"/>
                  </a:ext>
                </a:extLst>
              </a:tr>
              <a:tr h="639444">
                <a:tc>
                  <a:txBody>
                    <a:bodyPr/>
                    <a:lstStyle/>
                    <a:p>
                      <a:endParaRPr lang="en-IN"/>
                    </a:p>
                  </a:txBody>
                  <a:tcPr/>
                </a:tc>
                <a:tc>
                  <a:txBody>
                    <a:bodyPr/>
                    <a:lstStyle/>
                    <a:p>
                      <a:endParaRPr lang="en-IN" dirty="0"/>
                    </a:p>
                  </a:txBody>
                  <a:tcPr/>
                </a:tc>
                <a:tc>
                  <a:txBody>
                    <a:bodyPr/>
                    <a:lstStyle/>
                    <a:p>
                      <a:r>
                        <a:rPr lang="en-US" b="1" dirty="0"/>
                        <a:t>Sub class</a:t>
                      </a:r>
                      <a:endParaRPr lang="en-IN" b="1" dirty="0"/>
                    </a:p>
                  </a:txBody>
                  <a:tcPr/>
                </a:tc>
                <a:tc>
                  <a:txBody>
                    <a:bodyPr/>
                    <a:lstStyle/>
                    <a:p>
                      <a:r>
                        <a:rPr lang="en-US" b="1" dirty="0"/>
                        <a:t>Instantiated class</a:t>
                      </a:r>
                      <a:endParaRPr lang="en-IN"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Sub class</a:t>
                      </a:r>
                      <a:endParaRPr lang="en-IN" b="1" dirty="0"/>
                    </a:p>
                  </a:txBody>
                  <a:tcPr/>
                </a:tc>
                <a:tc>
                  <a:txBody>
                    <a:bodyPr/>
                    <a:lstStyle/>
                    <a:p>
                      <a:r>
                        <a:rPr lang="en-US" b="1" dirty="0"/>
                        <a:t>Instantiated class</a:t>
                      </a:r>
                      <a:endParaRPr lang="en-IN" b="1" dirty="0"/>
                    </a:p>
                  </a:txBody>
                  <a:tcPr/>
                </a:tc>
                <a:extLst>
                  <a:ext uri="{0D108BD9-81ED-4DB2-BD59-A6C34878D82A}">
                    <a16:rowId xmlns:a16="http://schemas.microsoft.com/office/drawing/2014/main" val="4177512459"/>
                  </a:ext>
                </a:extLst>
              </a:tr>
              <a:tr h="558348">
                <a:tc>
                  <a:txBody>
                    <a:bodyPr/>
                    <a:lstStyle/>
                    <a:p>
                      <a:r>
                        <a:rPr lang="en-US" b="1" dirty="0"/>
                        <a:t>private</a:t>
                      </a:r>
                      <a:endParaRPr lang="en-IN" b="1" dirty="0"/>
                    </a:p>
                  </a:txBody>
                  <a:tcPr/>
                </a:tc>
                <a:tc>
                  <a:txBody>
                    <a:bodyPr/>
                    <a:lstStyle/>
                    <a:p>
                      <a:r>
                        <a:rPr lang="en-US" dirty="0"/>
                        <a:t>Yes</a:t>
                      </a:r>
                      <a:endParaRPr lang="en-IN" dirty="0"/>
                    </a:p>
                  </a:txBody>
                  <a:tcPr/>
                </a:tc>
                <a:tc>
                  <a:txBody>
                    <a:bodyPr/>
                    <a:lstStyle/>
                    <a:p>
                      <a:r>
                        <a:rPr lang="en-US" dirty="0"/>
                        <a:t>No</a:t>
                      </a:r>
                      <a:endParaRPr lang="en-IN" dirty="0"/>
                    </a:p>
                  </a:txBody>
                  <a:tcPr/>
                </a:tc>
                <a:tc>
                  <a:txBody>
                    <a:bodyPr/>
                    <a:lstStyle/>
                    <a:p>
                      <a:r>
                        <a:rPr lang="en-US" dirty="0"/>
                        <a:t>No</a:t>
                      </a:r>
                      <a:endParaRPr lang="en-IN" dirty="0"/>
                    </a:p>
                  </a:txBody>
                  <a:tcPr/>
                </a:tc>
                <a:tc>
                  <a:txBody>
                    <a:bodyPr/>
                    <a:lstStyle/>
                    <a:p>
                      <a:r>
                        <a:rPr lang="en-US" dirty="0"/>
                        <a:t>No</a:t>
                      </a:r>
                      <a:endParaRPr lang="en-IN" dirty="0"/>
                    </a:p>
                  </a:txBody>
                  <a:tcPr/>
                </a:tc>
                <a:tc>
                  <a:txBody>
                    <a:bodyPr/>
                    <a:lstStyle/>
                    <a:p>
                      <a:r>
                        <a:rPr lang="en-US" dirty="0"/>
                        <a:t>No</a:t>
                      </a:r>
                      <a:endParaRPr lang="en-IN" dirty="0"/>
                    </a:p>
                  </a:txBody>
                  <a:tcPr/>
                </a:tc>
                <a:extLst>
                  <a:ext uri="{0D108BD9-81ED-4DB2-BD59-A6C34878D82A}">
                    <a16:rowId xmlns:a16="http://schemas.microsoft.com/office/drawing/2014/main" val="265667597"/>
                  </a:ext>
                </a:extLst>
              </a:tr>
              <a:tr h="558348">
                <a:tc>
                  <a:txBody>
                    <a:bodyPr/>
                    <a:lstStyle/>
                    <a:p>
                      <a:r>
                        <a:rPr lang="en-US" b="1" dirty="0"/>
                        <a:t>default</a:t>
                      </a:r>
                      <a:endParaRPr lang="en-IN" b="1" dirty="0"/>
                    </a:p>
                  </a:txBody>
                  <a:tcPr/>
                </a:tc>
                <a:tc>
                  <a:txBody>
                    <a:bodyPr/>
                    <a:lstStyle/>
                    <a:p>
                      <a:r>
                        <a:rPr lang="en-US" dirty="0"/>
                        <a:t>Yes</a:t>
                      </a:r>
                      <a:endParaRPr lang="en-IN" dirty="0"/>
                    </a:p>
                  </a:txBody>
                  <a:tcPr/>
                </a:tc>
                <a:tc>
                  <a:txBody>
                    <a:bodyPr/>
                    <a:lstStyle/>
                    <a:p>
                      <a:r>
                        <a:rPr lang="en-US" dirty="0"/>
                        <a:t>Yes</a:t>
                      </a:r>
                      <a:endParaRPr lang="en-IN" dirty="0"/>
                    </a:p>
                  </a:txBody>
                  <a:tcPr/>
                </a:tc>
                <a:tc>
                  <a:txBody>
                    <a:bodyPr/>
                    <a:lstStyle/>
                    <a:p>
                      <a:r>
                        <a:rPr lang="en-US" dirty="0"/>
                        <a:t>Yes</a:t>
                      </a:r>
                      <a:endParaRPr lang="en-IN" dirty="0"/>
                    </a:p>
                  </a:txBody>
                  <a:tcPr/>
                </a:tc>
                <a:tc>
                  <a:txBody>
                    <a:bodyPr/>
                    <a:lstStyle/>
                    <a:p>
                      <a:r>
                        <a:rPr lang="en-US" dirty="0"/>
                        <a:t>No</a:t>
                      </a:r>
                      <a:endParaRPr lang="en-IN" dirty="0"/>
                    </a:p>
                  </a:txBody>
                  <a:tcPr/>
                </a:tc>
                <a:tc>
                  <a:txBody>
                    <a:bodyPr/>
                    <a:lstStyle/>
                    <a:p>
                      <a:r>
                        <a:rPr lang="en-US" dirty="0"/>
                        <a:t>No</a:t>
                      </a:r>
                      <a:endParaRPr lang="en-IN" dirty="0"/>
                    </a:p>
                  </a:txBody>
                  <a:tcPr/>
                </a:tc>
                <a:extLst>
                  <a:ext uri="{0D108BD9-81ED-4DB2-BD59-A6C34878D82A}">
                    <a16:rowId xmlns:a16="http://schemas.microsoft.com/office/drawing/2014/main" val="3152274957"/>
                  </a:ext>
                </a:extLst>
              </a:tr>
              <a:tr h="5583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protected </a:t>
                      </a:r>
                      <a:endParaRPr lang="en-IN" b="1" dirty="0"/>
                    </a:p>
                  </a:txBody>
                  <a:tcPr/>
                </a:tc>
                <a:tc>
                  <a:txBody>
                    <a:bodyPr/>
                    <a:lstStyle/>
                    <a:p>
                      <a:r>
                        <a:rPr lang="en-US" dirty="0"/>
                        <a:t>Yes</a:t>
                      </a:r>
                      <a:endParaRPr lang="en-IN" dirty="0"/>
                    </a:p>
                  </a:txBody>
                  <a:tcPr/>
                </a:tc>
                <a:tc>
                  <a:txBody>
                    <a:bodyPr/>
                    <a:lstStyle/>
                    <a:p>
                      <a:r>
                        <a:rPr lang="en-US" dirty="0"/>
                        <a:t>Yes</a:t>
                      </a:r>
                      <a:endParaRPr lang="en-IN" dirty="0"/>
                    </a:p>
                  </a:txBody>
                  <a:tcPr/>
                </a:tc>
                <a:tc>
                  <a:txBody>
                    <a:bodyPr/>
                    <a:lstStyle/>
                    <a:p>
                      <a:r>
                        <a:rPr lang="en-US" dirty="0"/>
                        <a:t>Yes</a:t>
                      </a:r>
                      <a:endParaRPr lang="en-IN" dirty="0"/>
                    </a:p>
                  </a:txBody>
                  <a:tcPr/>
                </a:tc>
                <a:tc>
                  <a:txBody>
                    <a:bodyPr/>
                    <a:lstStyle/>
                    <a:p>
                      <a:r>
                        <a:rPr lang="en-US" dirty="0"/>
                        <a:t>Yes</a:t>
                      </a:r>
                      <a:endParaRPr lang="en-IN" dirty="0"/>
                    </a:p>
                  </a:txBody>
                  <a:tcPr/>
                </a:tc>
                <a:tc>
                  <a:txBody>
                    <a:bodyPr/>
                    <a:lstStyle/>
                    <a:p>
                      <a:r>
                        <a:rPr lang="en-US" dirty="0"/>
                        <a:t>No</a:t>
                      </a:r>
                      <a:endParaRPr lang="en-IN" dirty="0"/>
                    </a:p>
                  </a:txBody>
                  <a:tcPr/>
                </a:tc>
                <a:extLst>
                  <a:ext uri="{0D108BD9-81ED-4DB2-BD59-A6C34878D82A}">
                    <a16:rowId xmlns:a16="http://schemas.microsoft.com/office/drawing/2014/main" val="2856265845"/>
                  </a:ext>
                </a:extLst>
              </a:tr>
              <a:tr h="558348">
                <a:tc>
                  <a:txBody>
                    <a:bodyPr/>
                    <a:lstStyle/>
                    <a:p>
                      <a:r>
                        <a:rPr lang="en-US" b="1" dirty="0"/>
                        <a:t>public</a:t>
                      </a:r>
                      <a:endParaRPr lang="en-IN" b="1" dirty="0"/>
                    </a:p>
                  </a:txBody>
                  <a:tcPr/>
                </a:tc>
                <a:tc>
                  <a:txBody>
                    <a:bodyPr/>
                    <a:lstStyle/>
                    <a:p>
                      <a:r>
                        <a:rPr lang="en-US" dirty="0"/>
                        <a:t>Yes</a:t>
                      </a:r>
                      <a:endParaRPr lang="en-IN" dirty="0"/>
                    </a:p>
                  </a:txBody>
                  <a:tcPr/>
                </a:tc>
                <a:tc>
                  <a:txBody>
                    <a:bodyPr/>
                    <a:lstStyle/>
                    <a:p>
                      <a:r>
                        <a:rPr lang="en-US" dirty="0"/>
                        <a:t>Yes</a:t>
                      </a:r>
                      <a:endParaRPr lang="en-IN" dirty="0"/>
                    </a:p>
                  </a:txBody>
                  <a:tcPr/>
                </a:tc>
                <a:tc>
                  <a:txBody>
                    <a:bodyPr/>
                    <a:lstStyle/>
                    <a:p>
                      <a:r>
                        <a:rPr lang="en-US" dirty="0"/>
                        <a:t>Yes</a:t>
                      </a:r>
                      <a:endParaRPr lang="en-IN" dirty="0"/>
                    </a:p>
                  </a:txBody>
                  <a:tcPr/>
                </a:tc>
                <a:tc>
                  <a:txBody>
                    <a:bodyPr/>
                    <a:lstStyle/>
                    <a:p>
                      <a:r>
                        <a:rPr lang="en-US" dirty="0"/>
                        <a:t>Yes</a:t>
                      </a:r>
                      <a:endParaRPr lang="en-IN" dirty="0"/>
                    </a:p>
                  </a:txBody>
                  <a:tcPr/>
                </a:tc>
                <a:tc>
                  <a:txBody>
                    <a:bodyPr/>
                    <a:lstStyle/>
                    <a:p>
                      <a:r>
                        <a:rPr lang="en-US" dirty="0"/>
                        <a:t>Yes</a:t>
                      </a:r>
                      <a:endParaRPr lang="en-IN" dirty="0"/>
                    </a:p>
                  </a:txBody>
                  <a:tcPr/>
                </a:tc>
                <a:extLst>
                  <a:ext uri="{0D108BD9-81ED-4DB2-BD59-A6C34878D82A}">
                    <a16:rowId xmlns:a16="http://schemas.microsoft.com/office/drawing/2014/main" val="2069490307"/>
                  </a:ext>
                </a:extLst>
              </a:tr>
            </a:tbl>
          </a:graphicData>
        </a:graphic>
      </p:graphicFrame>
      <p:sp>
        <p:nvSpPr>
          <p:cNvPr id="7" name="Footer Placeholder 6">
            <a:extLst>
              <a:ext uri="{FF2B5EF4-FFF2-40B4-BE49-F238E27FC236}">
                <a16:creationId xmlns:a16="http://schemas.microsoft.com/office/drawing/2014/main" id="{5D65AB5D-B252-9C34-1145-06E0319A773A}"/>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8661427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5361368" cy="400110"/>
              </a:xfrm>
              <a:prstGeom prst="rect">
                <a:avLst/>
              </a:prstGeom>
            </p:spPr>
            <p:txBody>
              <a:bodyPr wrap="square">
                <a:spAutoFit/>
              </a:bodyPr>
              <a:lstStyle/>
              <a:p>
                <a:pPr algn="ctr"/>
                <a:r>
                  <a:rPr lang="en-US" sz="2000" b="1" dirty="0">
                    <a:solidFill>
                      <a:schemeClr val="bg1"/>
                    </a:solidFill>
                    <a:latin typeface="Bookman Old Style" panose="02050604050505020204" pitchFamily="18" charset="0"/>
                  </a:rPr>
                  <a:t>Access specifiers &amp; Modifiers</a:t>
                </a: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graphicFrame>
        <p:nvGraphicFramePr>
          <p:cNvPr id="8" name="Table 9">
            <a:extLst>
              <a:ext uri="{FF2B5EF4-FFF2-40B4-BE49-F238E27FC236}">
                <a16:creationId xmlns:a16="http://schemas.microsoft.com/office/drawing/2014/main" id="{805B8D46-05C3-409D-BE96-BFF1771D87A1}"/>
              </a:ext>
            </a:extLst>
          </p:cNvPr>
          <p:cNvGraphicFramePr>
            <a:graphicFrameLocks noGrp="1"/>
          </p:cNvGraphicFramePr>
          <p:nvPr>
            <p:extLst>
              <p:ext uri="{D42A27DB-BD31-4B8C-83A1-F6EECF244321}">
                <p14:modId xmlns:p14="http://schemas.microsoft.com/office/powerpoint/2010/main" val="571191685"/>
              </p:ext>
            </p:extLst>
          </p:nvPr>
        </p:nvGraphicFramePr>
        <p:xfrm>
          <a:off x="793139" y="945749"/>
          <a:ext cx="8403870" cy="1854200"/>
        </p:xfrm>
        <a:graphic>
          <a:graphicData uri="http://schemas.openxmlformats.org/drawingml/2006/table">
            <a:tbl>
              <a:tblPr firstRow="1" bandRow="1">
                <a:tableStyleId>{FABFCF23-3B69-468F-B69F-88F6DE6A72F2}</a:tableStyleId>
              </a:tblPr>
              <a:tblGrid>
                <a:gridCol w="4201935">
                  <a:extLst>
                    <a:ext uri="{9D8B030D-6E8A-4147-A177-3AD203B41FA5}">
                      <a16:colId xmlns:a16="http://schemas.microsoft.com/office/drawing/2014/main" val="2093884678"/>
                    </a:ext>
                  </a:extLst>
                </a:gridCol>
                <a:gridCol w="4201935">
                  <a:extLst>
                    <a:ext uri="{9D8B030D-6E8A-4147-A177-3AD203B41FA5}">
                      <a16:colId xmlns:a16="http://schemas.microsoft.com/office/drawing/2014/main" val="1998974303"/>
                    </a:ext>
                  </a:extLst>
                </a:gridCol>
              </a:tblGrid>
              <a:tr h="370840">
                <a:tc>
                  <a:txBody>
                    <a:bodyPr/>
                    <a:lstStyle/>
                    <a:p>
                      <a:r>
                        <a:rPr lang="en-US" sz="1600" dirty="0"/>
                        <a:t>Access Specifiers</a:t>
                      </a:r>
                      <a:endParaRPr lang="en-IN" sz="1600" dirty="0"/>
                    </a:p>
                  </a:txBody>
                  <a:tcPr/>
                </a:tc>
                <a:tc>
                  <a:txBody>
                    <a:bodyPr/>
                    <a:lstStyle/>
                    <a:p>
                      <a:r>
                        <a:rPr lang="en-US" sz="1600" dirty="0"/>
                        <a:t>Applicability on</a:t>
                      </a:r>
                      <a:endParaRPr lang="en-IN" sz="1600" dirty="0"/>
                    </a:p>
                  </a:txBody>
                  <a:tcPr/>
                </a:tc>
                <a:extLst>
                  <a:ext uri="{0D108BD9-81ED-4DB2-BD59-A6C34878D82A}">
                    <a16:rowId xmlns:a16="http://schemas.microsoft.com/office/drawing/2014/main" val="578339862"/>
                  </a:ext>
                </a:extLst>
              </a:tr>
              <a:tr h="370840">
                <a:tc>
                  <a:txBody>
                    <a:bodyPr/>
                    <a:lstStyle/>
                    <a:p>
                      <a:r>
                        <a:rPr lang="en-US" sz="1600" dirty="0"/>
                        <a:t>private</a:t>
                      </a:r>
                      <a:endParaRPr lang="en-IN" sz="1600" dirty="0"/>
                    </a:p>
                  </a:txBody>
                  <a:tcPr/>
                </a:tc>
                <a:tc>
                  <a:txBody>
                    <a:bodyPr/>
                    <a:lstStyle/>
                    <a:p>
                      <a:r>
                        <a:rPr lang="en-US" sz="1600" dirty="0" err="1"/>
                        <a:t>V,Co,M</a:t>
                      </a:r>
                      <a:r>
                        <a:rPr lang="en-US" sz="1600" dirty="0"/>
                        <a:t> (variable, constructor, method)</a:t>
                      </a:r>
                      <a:endParaRPr lang="en-IN" sz="1600" dirty="0"/>
                    </a:p>
                  </a:txBody>
                  <a:tcPr/>
                </a:tc>
                <a:extLst>
                  <a:ext uri="{0D108BD9-81ED-4DB2-BD59-A6C34878D82A}">
                    <a16:rowId xmlns:a16="http://schemas.microsoft.com/office/drawing/2014/main" val="63910494"/>
                  </a:ext>
                </a:extLst>
              </a:tr>
              <a:tr h="370840">
                <a:tc>
                  <a:txBody>
                    <a:bodyPr/>
                    <a:lstStyle/>
                    <a:p>
                      <a:r>
                        <a:rPr lang="en-US" sz="1600" dirty="0"/>
                        <a:t>default</a:t>
                      </a:r>
                      <a:endParaRPr lang="en-IN" sz="1600" dirty="0"/>
                    </a:p>
                  </a:txBody>
                  <a:tcPr/>
                </a:tc>
                <a:tc>
                  <a:txBody>
                    <a:bodyPr/>
                    <a:lstStyle/>
                    <a:p>
                      <a:r>
                        <a:rPr lang="en-US" sz="1600" dirty="0" err="1"/>
                        <a:t>C,V,Co,M</a:t>
                      </a:r>
                      <a:r>
                        <a:rPr lang="en-US" sz="1600" dirty="0"/>
                        <a:t> (class, variable, constructor, method)</a:t>
                      </a:r>
                      <a:endParaRPr lang="en-IN" sz="1600" dirty="0"/>
                    </a:p>
                  </a:txBody>
                  <a:tcPr/>
                </a:tc>
                <a:extLst>
                  <a:ext uri="{0D108BD9-81ED-4DB2-BD59-A6C34878D82A}">
                    <a16:rowId xmlns:a16="http://schemas.microsoft.com/office/drawing/2014/main" val="1628334734"/>
                  </a:ext>
                </a:extLst>
              </a:tr>
              <a:tr h="370840">
                <a:tc>
                  <a:txBody>
                    <a:bodyPr/>
                    <a:lstStyle/>
                    <a:p>
                      <a:r>
                        <a:rPr lang="en-US" sz="1600" dirty="0"/>
                        <a:t>protected</a:t>
                      </a:r>
                      <a:endParaRPr lang="en-IN"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err="1"/>
                        <a:t>V,Co,M</a:t>
                      </a:r>
                      <a:r>
                        <a:rPr lang="en-US" sz="1600" dirty="0"/>
                        <a:t> (variable, constructor, method)</a:t>
                      </a:r>
                      <a:endParaRPr lang="en-IN" sz="1600" dirty="0"/>
                    </a:p>
                  </a:txBody>
                  <a:tcPr/>
                </a:tc>
                <a:extLst>
                  <a:ext uri="{0D108BD9-81ED-4DB2-BD59-A6C34878D82A}">
                    <a16:rowId xmlns:a16="http://schemas.microsoft.com/office/drawing/2014/main" val="2925028994"/>
                  </a:ext>
                </a:extLst>
              </a:tr>
              <a:tr h="370840">
                <a:tc>
                  <a:txBody>
                    <a:bodyPr/>
                    <a:lstStyle/>
                    <a:p>
                      <a:r>
                        <a:rPr lang="en-US" sz="1600" dirty="0"/>
                        <a:t>public</a:t>
                      </a:r>
                      <a:endParaRPr lang="en-IN"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err="1"/>
                        <a:t>C,V,Co,M</a:t>
                      </a:r>
                      <a:r>
                        <a:rPr lang="en-US" sz="1600" dirty="0"/>
                        <a:t> (class, variable, constructor, method)</a:t>
                      </a:r>
                      <a:endParaRPr lang="en-IN" sz="1600" dirty="0"/>
                    </a:p>
                  </a:txBody>
                  <a:tcPr/>
                </a:tc>
                <a:extLst>
                  <a:ext uri="{0D108BD9-81ED-4DB2-BD59-A6C34878D82A}">
                    <a16:rowId xmlns:a16="http://schemas.microsoft.com/office/drawing/2014/main" val="3408540723"/>
                  </a:ext>
                </a:extLst>
              </a:tr>
            </a:tbl>
          </a:graphicData>
        </a:graphic>
      </p:graphicFrame>
      <p:graphicFrame>
        <p:nvGraphicFramePr>
          <p:cNvPr id="24" name="Table 9">
            <a:extLst>
              <a:ext uri="{FF2B5EF4-FFF2-40B4-BE49-F238E27FC236}">
                <a16:creationId xmlns:a16="http://schemas.microsoft.com/office/drawing/2014/main" id="{C3D1621A-AD2A-4E69-83EA-1FF0520D7A00}"/>
              </a:ext>
            </a:extLst>
          </p:cNvPr>
          <p:cNvGraphicFramePr>
            <a:graphicFrameLocks noGrp="1"/>
          </p:cNvGraphicFramePr>
          <p:nvPr>
            <p:extLst>
              <p:ext uri="{D42A27DB-BD31-4B8C-83A1-F6EECF244321}">
                <p14:modId xmlns:p14="http://schemas.microsoft.com/office/powerpoint/2010/main" val="2646872886"/>
              </p:ext>
            </p:extLst>
          </p:nvPr>
        </p:nvGraphicFramePr>
        <p:xfrm>
          <a:off x="799767" y="2887199"/>
          <a:ext cx="8397242" cy="3708400"/>
        </p:xfrm>
        <a:graphic>
          <a:graphicData uri="http://schemas.openxmlformats.org/drawingml/2006/table">
            <a:tbl>
              <a:tblPr firstRow="1" bandRow="1">
                <a:tableStyleId>{9DCAF9ED-07DC-4A11-8D7F-57B35C25682E}</a:tableStyleId>
              </a:tblPr>
              <a:tblGrid>
                <a:gridCol w="3925598">
                  <a:extLst>
                    <a:ext uri="{9D8B030D-6E8A-4147-A177-3AD203B41FA5}">
                      <a16:colId xmlns:a16="http://schemas.microsoft.com/office/drawing/2014/main" val="2093884678"/>
                    </a:ext>
                  </a:extLst>
                </a:gridCol>
                <a:gridCol w="4471644">
                  <a:extLst>
                    <a:ext uri="{9D8B030D-6E8A-4147-A177-3AD203B41FA5}">
                      <a16:colId xmlns:a16="http://schemas.microsoft.com/office/drawing/2014/main" val="1998974303"/>
                    </a:ext>
                  </a:extLst>
                </a:gridCol>
              </a:tblGrid>
              <a:tr h="370840">
                <a:tc>
                  <a:txBody>
                    <a:bodyPr/>
                    <a:lstStyle/>
                    <a:p>
                      <a:r>
                        <a:rPr lang="en-US" sz="1600" dirty="0"/>
                        <a:t>Access Modifiers</a:t>
                      </a:r>
                      <a:endParaRPr lang="en-IN" sz="1600" dirty="0"/>
                    </a:p>
                  </a:txBody>
                  <a:tcPr/>
                </a:tc>
                <a:tc>
                  <a:txBody>
                    <a:bodyPr/>
                    <a:lstStyle/>
                    <a:p>
                      <a:r>
                        <a:rPr lang="en-US" sz="1600" dirty="0"/>
                        <a:t>Applicability on</a:t>
                      </a:r>
                      <a:endParaRPr lang="en-IN" sz="1600" dirty="0"/>
                    </a:p>
                  </a:txBody>
                  <a:tcPr/>
                </a:tc>
                <a:extLst>
                  <a:ext uri="{0D108BD9-81ED-4DB2-BD59-A6C34878D82A}">
                    <a16:rowId xmlns:a16="http://schemas.microsoft.com/office/drawing/2014/main" val="578339862"/>
                  </a:ext>
                </a:extLst>
              </a:tr>
              <a:tr h="370840">
                <a:tc>
                  <a:txBody>
                    <a:bodyPr/>
                    <a:lstStyle/>
                    <a:p>
                      <a:r>
                        <a:rPr lang="en-US" sz="1600" dirty="0"/>
                        <a:t>abstract</a:t>
                      </a:r>
                      <a:endParaRPr lang="en-IN" sz="1600" dirty="0"/>
                    </a:p>
                  </a:txBody>
                  <a:tcPr/>
                </a:tc>
                <a:tc>
                  <a:txBody>
                    <a:bodyPr/>
                    <a:lstStyle/>
                    <a:p>
                      <a:r>
                        <a:rPr lang="en-US" sz="1600" dirty="0"/>
                        <a:t>C,M (class, method)</a:t>
                      </a:r>
                      <a:endParaRPr lang="en-IN" sz="1600" dirty="0"/>
                    </a:p>
                  </a:txBody>
                  <a:tcPr/>
                </a:tc>
                <a:extLst>
                  <a:ext uri="{0D108BD9-81ED-4DB2-BD59-A6C34878D82A}">
                    <a16:rowId xmlns:a16="http://schemas.microsoft.com/office/drawing/2014/main" val="63910494"/>
                  </a:ext>
                </a:extLst>
              </a:tr>
              <a:tr h="370840">
                <a:tc>
                  <a:txBody>
                    <a:bodyPr/>
                    <a:lstStyle/>
                    <a:p>
                      <a:r>
                        <a:rPr lang="en-US" sz="1600" dirty="0"/>
                        <a:t>final</a:t>
                      </a:r>
                      <a:endParaRPr lang="en-IN" sz="1600" dirty="0"/>
                    </a:p>
                  </a:txBody>
                  <a:tcPr/>
                </a:tc>
                <a:tc>
                  <a:txBody>
                    <a:bodyPr/>
                    <a:lstStyle/>
                    <a:p>
                      <a:r>
                        <a:rPr lang="en-US" sz="1600" dirty="0"/>
                        <a:t>C,V,M (class, variable, method)</a:t>
                      </a:r>
                      <a:endParaRPr lang="en-IN" sz="1600" dirty="0"/>
                    </a:p>
                  </a:txBody>
                  <a:tcPr/>
                </a:tc>
                <a:extLst>
                  <a:ext uri="{0D108BD9-81ED-4DB2-BD59-A6C34878D82A}">
                    <a16:rowId xmlns:a16="http://schemas.microsoft.com/office/drawing/2014/main" val="1628334734"/>
                  </a:ext>
                </a:extLst>
              </a:tr>
              <a:tr h="370840">
                <a:tc>
                  <a:txBody>
                    <a:bodyPr/>
                    <a:lstStyle/>
                    <a:p>
                      <a:r>
                        <a:rPr lang="en-US" sz="1600" dirty="0"/>
                        <a:t>static</a:t>
                      </a:r>
                      <a:endParaRPr lang="en-IN"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V,M (variable, method)</a:t>
                      </a:r>
                      <a:endParaRPr lang="en-IN" sz="1600" dirty="0"/>
                    </a:p>
                  </a:txBody>
                  <a:tcPr/>
                </a:tc>
                <a:extLst>
                  <a:ext uri="{0D108BD9-81ED-4DB2-BD59-A6C34878D82A}">
                    <a16:rowId xmlns:a16="http://schemas.microsoft.com/office/drawing/2014/main" val="2925028994"/>
                  </a:ext>
                </a:extLst>
              </a:tr>
              <a:tr h="370840">
                <a:tc>
                  <a:txBody>
                    <a:bodyPr/>
                    <a:lstStyle/>
                    <a:p>
                      <a:endParaRPr lang="en-IN"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600" dirty="0"/>
                    </a:p>
                  </a:txBody>
                  <a:tcPr/>
                </a:tc>
                <a:extLst>
                  <a:ext uri="{0D108BD9-81ED-4DB2-BD59-A6C34878D82A}">
                    <a16:rowId xmlns:a16="http://schemas.microsoft.com/office/drawing/2014/main" val="3408540723"/>
                  </a:ext>
                </a:extLst>
              </a:tr>
              <a:tr h="370840">
                <a:tc>
                  <a:txBody>
                    <a:bodyPr/>
                    <a:lstStyle/>
                    <a:p>
                      <a:r>
                        <a:rPr lang="en-US" sz="1600" dirty="0"/>
                        <a:t>transient</a:t>
                      </a:r>
                      <a:endParaRPr lang="en-IN"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V (only on variable)</a:t>
                      </a:r>
                      <a:endParaRPr lang="en-IN" sz="1600" dirty="0"/>
                    </a:p>
                  </a:txBody>
                  <a:tcPr/>
                </a:tc>
                <a:extLst>
                  <a:ext uri="{0D108BD9-81ED-4DB2-BD59-A6C34878D82A}">
                    <a16:rowId xmlns:a16="http://schemas.microsoft.com/office/drawing/2014/main" val="3779890598"/>
                  </a:ext>
                </a:extLst>
              </a:tr>
              <a:tr h="370840">
                <a:tc>
                  <a:txBody>
                    <a:bodyPr/>
                    <a:lstStyle/>
                    <a:p>
                      <a:r>
                        <a:rPr lang="en-US" sz="1600" dirty="0"/>
                        <a:t>volatile</a:t>
                      </a:r>
                      <a:endParaRPr lang="en-IN"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V (only on variable)</a:t>
                      </a:r>
                      <a:endParaRPr lang="en-IN" sz="1600" dirty="0"/>
                    </a:p>
                  </a:txBody>
                  <a:tcPr/>
                </a:tc>
                <a:extLst>
                  <a:ext uri="{0D108BD9-81ED-4DB2-BD59-A6C34878D82A}">
                    <a16:rowId xmlns:a16="http://schemas.microsoft.com/office/drawing/2014/main" val="3367492571"/>
                  </a:ext>
                </a:extLst>
              </a:tr>
              <a:tr h="370840">
                <a:tc>
                  <a:txBody>
                    <a:bodyPr/>
                    <a:lstStyle/>
                    <a:p>
                      <a:endParaRPr lang="en-IN"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600" dirty="0"/>
                    </a:p>
                  </a:txBody>
                  <a:tcPr/>
                </a:tc>
                <a:extLst>
                  <a:ext uri="{0D108BD9-81ED-4DB2-BD59-A6C34878D82A}">
                    <a16:rowId xmlns:a16="http://schemas.microsoft.com/office/drawing/2014/main" val="825235773"/>
                  </a:ext>
                </a:extLst>
              </a:tr>
              <a:tr h="370840">
                <a:tc>
                  <a:txBody>
                    <a:bodyPr/>
                    <a:lstStyle/>
                    <a:p>
                      <a:r>
                        <a:rPr lang="en-US" sz="1600" dirty="0"/>
                        <a:t>native</a:t>
                      </a:r>
                      <a:endParaRPr lang="en-IN"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M (only on method)</a:t>
                      </a:r>
                      <a:endParaRPr lang="en-IN" sz="1600" dirty="0"/>
                    </a:p>
                  </a:txBody>
                  <a:tcPr/>
                </a:tc>
                <a:extLst>
                  <a:ext uri="{0D108BD9-81ED-4DB2-BD59-A6C34878D82A}">
                    <a16:rowId xmlns:a16="http://schemas.microsoft.com/office/drawing/2014/main" val="1322389247"/>
                  </a:ext>
                </a:extLst>
              </a:tr>
              <a:tr h="370840">
                <a:tc>
                  <a:txBody>
                    <a:bodyPr/>
                    <a:lstStyle/>
                    <a:p>
                      <a:r>
                        <a:rPr lang="en-US" sz="1600" dirty="0"/>
                        <a:t>synchronized</a:t>
                      </a:r>
                      <a:endParaRPr lang="en-IN"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M (only on method)</a:t>
                      </a:r>
                      <a:endParaRPr lang="en-IN" sz="1600" dirty="0"/>
                    </a:p>
                  </a:txBody>
                  <a:tcPr/>
                </a:tc>
                <a:extLst>
                  <a:ext uri="{0D108BD9-81ED-4DB2-BD59-A6C34878D82A}">
                    <a16:rowId xmlns:a16="http://schemas.microsoft.com/office/drawing/2014/main" val="2607699513"/>
                  </a:ext>
                </a:extLst>
              </a:tr>
            </a:tbl>
          </a:graphicData>
        </a:graphic>
      </p:graphicFrame>
      <p:sp>
        <p:nvSpPr>
          <p:cNvPr id="7" name="Footer Placeholder 6">
            <a:extLst>
              <a:ext uri="{FF2B5EF4-FFF2-40B4-BE49-F238E27FC236}">
                <a16:creationId xmlns:a16="http://schemas.microsoft.com/office/drawing/2014/main" id="{9A2EBD3A-9A86-E293-C3E3-44AAAF972E1C}"/>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2481657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338554"/>
              </a:xfrm>
              <a:prstGeom prst="rect">
                <a:avLst/>
              </a:prstGeom>
            </p:spPr>
            <p:txBody>
              <a:bodyPr wrap="square">
                <a:spAutoFit/>
              </a:bodyPr>
              <a:lstStyle/>
              <a:p>
                <a:pPr algn="ctr"/>
                <a:r>
                  <a:rPr lang="en-US" sz="1600" b="1" dirty="0">
                    <a:solidFill>
                      <a:schemeClr val="bg1"/>
                    </a:solidFill>
                    <a:latin typeface="Bookman Old Style" panose="02050604050505020204" pitchFamily="18" charset="0"/>
                  </a:rPr>
                  <a:t>Applicability of specifiers &amp; modifiers on </a:t>
                </a:r>
                <a:r>
                  <a:rPr lang="en-US" sz="1600" b="1" dirty="0" err="1">
                    <a:solidFill>
                      <a:schemeClr val="bg1"/>
                    </a:solidFill>
                    <a:latin typeface="Bookman Old Style" panose="02050604050505020204" pitchFamily="18" charset="0"/>
                  </a:rPr>
                  <a:t>C,V,Co,M</a:t>
                </a:r>
                <a:endParaRPr lang="en-US" sz="160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graphicFrame>
        <p:nvGraphicFramePr>
          <p:cNvPr id="8" name="Table 9">
            <a:extLst>
              <a:ext uri="{FF2B5EF4-FFF2-40B4-BE49-F238E27FC236}">
                <a16:creationId xmlns:a16="http://schemas.microsoft.com/office/drawing/2014/main" id="{805B8D46-05C3-409D-BE96-BFF1771D87A1}"/>
              </a:ext>
            </a:extLst>
          </p:cNvPr>
          <p:cNvGraphicFramePr>
            <a:graphicFrameLocks noGrp="1"/>
          </p:cNvGraphicFramePr>
          <p:nvPr>
            <p:extLst>
              <p:ext uri="{D42A27DB-BD31-4B8C-83A1-F6EECF244321}">
                <p14:modId xmlns:p14="http://schemas.microsoft.com/office/powerpoint/2010/main" val="3763886062"/>
              </p:ext>
            </p:extLst>
          </p:nvPr>
        </p:nvGraphicFramePr>
        <p:xfrm>
          <a:off x="793139" y="945749"/>
          <a:ext cx="8403870" cy="1112520"/>
        </p:xfrm>
        <a:graphic>
          <a:graphicData uri="http://schemas.openxmlformats.org/drawingml/2006/table">
            <a:tbl>
              <a:tblPr firstRow="1" bandRow="1">
                <a:tableStyleId>{BDBED569-4797-4DF1-A0F4-6AAB3CD982D8}</a:tableStyleId>
              </a:tblPr>
              <a:tblGrid>
                <a:gridCol w="1724774">
                  <a:extLst>
                    <a:ext uri="{9D8B030D-6E8A-4147-A177-3AD203B41FA5}">
                      <a16:colId xmlns:a16="http://schemas.microsoft.com/office/drawing/2014/main" val="2093884678"/>
                    </a:ext>
                  </a:extLst>
                </a:gridCol>
                <a:gridCol w="1481504">
                  <a:extLst>
                    <a:ext uri="{9D8B030D-6E8A-4147-A177-3AD203B41FA5}">
                      <a16:colId xmlns:a16="http://schemas.microsoft.com/office/drawing/2014/main" val="1998974303"/>
                    </a:ext>
                  </a:extLst>
                </a:gridCol>
                <a:gridCol w="2598796">
                  <a:extLst>
                    <a:ext uri="{9D8B030D-6E8A-4147-A177-3AD203B41FA5}">
                      <a16:colId xmlns:a16="http://schemas.microsoft.com/office/drawing/2014/main" val="4053596787"/>
                    </a:ext>
                  </a:extLst>
                </a:gridCol>
                <a:gridCol w="2598796">
                  <a:extLst>
                    <a:ext uri="{9D8B030D-6E8A-4147-A177-3AD203B41FA5}">
                      <a16:colId xmlns:a16="http://schemas.microsoft.com/office/drawing/2014/main" val="1533142342"/>
                    </a:ext>
                  </a:extLst>
                </a:gridCol>
              </a:tblGrid>
              <a:tr h="370840">
                <a:tc>
                  <a:txBody>
                    <a:bodyPr/>
                    <a:lstStyle/>
                    <a:p>
                      <a:r>
                        <a:rPr lang="en-US" sz="1600" dirty="0"/>
                        <a:t>class</a:t>
                      </a:r>
                      <a:endParaRPr lang="en-IN" sz="1600" dirty="0"/>
                    </a:p>
                  </a:txBody>
                  <a:tcPr/>
                </a:tc>
                <a:tc>
                  <a:txBody>
                    <a:bodyPr/>
                    <a:lstStyle/>
                    <a:p>
                      <a:r>
                        <a:rPr lang="en-US" sz="1600" dirty="0"/>
                        <a:t>Applicability</a:t>
                      </a:r>
                      <a:endParaRPr lang="en-IN" sz="1600" dirty="0"/>
                    </a:p>
                  </a:txBody>
                  <a:tcPr/>
                </a:tc>
                <a:tc>
                  <a:txBody>
                    <a:bodyPr/>
                    <a:lstStyle/>
                    <a:p>
                      <a:r>
                        <a:rPr lang="en-US" sz="1600" dirty="0"/>
                        <a:t>Example</a:t>
                      </a:r>
                      <a:endParaRPr lang="en-IN" sz="1600" dirty="0"/>
                    </a:p>
                  </a:txBody>
                  <a:tcPr/>
                </a:tc>
                <a:tc>
                  <a:txBody>
                    <a:bodyPr/>
                    <a:lstStyle/>
                    <a:p>
                      <a:endParaRPr lang="en-IN" sz="1600" dirty="0"/>
                    </a:p>
                  </a:txBody>
                  <a:tcPr/>
                </a:tc>
                <a:extLst>
                  <a:ext uri="{0D108BD9-81ED-4DB2-BD59-A6C34878D82A}">
                    <a16:rowId xmlns:a16="http://schemas.microsoft.com/office/drawing/2014/main" val="57833986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access specifiers</a:t>
                      </a:r>
                      <a:endParaRPr lang="en-IN" sz="1600" dirty="0"/>
                    </a:p>
                  </a:txBody>
                  <a:tcPr/>
                </a:tc>
                <a:tc>
                  <a:txBody>
                    <a:bodyPr/>
                    <a:lstStyle/>
                    <a:p>
                      <a:r>
                        <a:rPr lang="en-US" sz="1600" dirty="0"/>
                        <a:t>default, public</a:t>
                      </a:r>
                      <a:endParaRPr lang="en-IN" sz="1600" dirty="0"/>
                    </a:p>
                  </a:txBody>
                  <a:tcPr/>
                </a:tc>
                <a:tc>
                  <a:txBody>
                    <a:bodyPr/>
                    <a:lstStyle/>
                    <a:p>
                      <a:r>
                        <a:rPr lang="en-US" sz="1600" dirty="0"/>
                        <a:t>class Hello { }</a:t>
                      </a:r>
                      <a:endParaRPr lang="en-IN" sz="1600" dirty="0"/>
                    </a:p>
                  </a:txBody>
                  <a:tcPr/>
                </a:tc>
                <a:tc>
                  <a:txBody>
                    <a:bodyPr/>
                    <a:lstStyle/>
                    <a:p>
                      <a:r>
                        <a:rPr lang="en-US" sz="1600" dirty="0"/>
                        <a:t>public class Hai { }</a:t>
                      </a:r>
                      <a:endParaRPr lang="en-IN" sz="1600" dirty="0"/>
                    </a:p>
                  </a:txBody>
                  <a:tcPr/>
                </a:tc>
                <a:extLst>
                  <a:ext uri="{0D108BD9-81ED-4DB2-BD59-A6C34878D82A}">
                    <a16:rowId xmlns:a16="http://schemas.microsoft.com/office/drawing/2014/main" val="63910494"/>
                  </a:ext>
                </a:extLst>
              </a:tr>
              <a:tr h="370840">
                <a:tc>
                  <a:txBody>
                    <a:bodyPr/>
                    <a:lstStyle/>
                    <a:p>
                      <a:r>
                        <a:rPr lang="en-US" sz="1600" dirty="0"/>
                        <a:t>access modifiers</a:t>
                      </a:r>
                      <a:endParaRPr lang="en-IN" sz="1600" dirty="0"/>
                    </a:p>
                  </a:txBody>
                  <a:tcPr/>
                </a:tc>
                <a:tc>
                  <a:txBody>
                    <a:bodyPr/>
                    <a:lstStyle/>
                    <a:p>
                      <a:r>
                        <a:rPr lang="en-US" sz="1600" dirty="0"/>
                        <a:t>abstract, final</a:t>
                      </a:r>
                      <a:endParaRPr lang="en-IN" sz="1600" dirty="0"/>
                    </a:p>
                  </a:txBody>
                  <a:tcPr/>
                </a:tc>
                <a:tc>
                  <a:txBody>
                    <a:bodyPr/>
                    <a:lstStyle/>
                    <a:p>
                      <a:r>
                        <a:rPr lang="en-US" sz="1600" dirty="0"/>
                        <a:t>abstract class A { }</a:t>
                      </a:r>
                      <a:endParaRPr lang="en-IN" sz="1600" dirty="0"/>
                    </a:p>
                  </a:txBody>
                  <a:tcPr/>
                </a:tc>
                <a:tc>
                  <a:txBody>
                    <a:bodyPr/>
                    <a:lstStyle/>
                    <a:p>
                      <a:r>
                        <a:rPr lang="en-US" sz="1600" dirty="0"/>
                        <a:t>final class B { }</a:t>
                      </a:r>
                      <a:endParaRPr lang="en-IN" sz="1600" dirty="0"/>
                    </a:p>
                  </a:txBody>
                  <a:tcPr/>
                </a:tc>
                <a:extLst>
                  <a:ext uri="{0D108BD9-81ED-4DB2-BD59-A6C34878D82A}">
                    <a16:rowId xmlns:a16="http://schemas.microsoft.com/office/drawing/2014/main" val="1628334734"/>
                  </a:ext>
                </a:extLst>
              </a:tr>
            </a:tbl>
          </a:graphicData>
        </a:graphic>
      </p:graphicFrame>
      <p:graphicFrame>
        <p:nvGraphicFramePr>
          <p:cNvPr id="24" name="Table 9">
            <a:extLst>
              <a:ext uri="{FF2B5EF4-FFF2-40B4-BE49-F238E27FC236}">
                <a16:creationId xmlns:a16="http://schemas.microsoft.com/office/drawing/2014/main" id="{C3D1621A-AD2A-4E69-83EA-1FF0520D7A00}"/>
              </a:ext>
            </a:extLst>
          </p:cNvPr>
          <p:cNvGraphicFramePr>
            <a:graphicFrameLocks noGrp="1"/>
          </p:cNvGraphicFramePr>
          <p:nvPr>
            <p:extLst>
              <p:ext uri="{D42A27DB-BD31-4B8C-83A1-F6EECF244321}">
                <p14:modId xmlns:p14="http://schemas.microsoft.com/office/powerpoint/2010/main" val="1195190630"/>
              </p:ext>
            </p:extLst>
          </p:nvPr>
        </p:nvGraphicFramePr>
        <p:xfrm>
          <a:off x="799767" y="2198083"/>
          <a:ext cx="8397242" cy="1112520"/>
        </p:xfrm>
        <a:graphic>
          <a:graphicData uri="http://schemas.openxmlformats.org/drawingml/2006/table">
            <a:tbl>
              <a:tblPr firstRow="1" bandRow="1">
                <a:tableStyleId>{5DA37D80-6434-44D0-A028-1B22A696006F}</a:tableStyleId>
              </a:tblPr>
              <a:tblGrid>
                <a:gridCol w="3925598">
                  <a:extLst>
                    <a:ext uri="{9D8B030D-6E8A-4147-A177-3AD203B41FA5}">
                      <a16:colId xmlns:a16="http://schemas.microsoft.com/office/drawing/2014/main" val="2093884678"/>
                    </a:ext>
                  </a:extLst>
                </a:gridCol>
                <a:gridCol w="4471644">
                  <a:extLst>
                    <a:ext uri="{9D8B030D-6E8A-4147-A177-3AD203B41FA5}">
                      <a16:colId xmlns:a16="http://schemas.microsoft.com/office/drawing/2014/main" val="1998974303"/>
                    </a:ext>
                  </a:extLst>
                </a:gridCol>
              </a:tblGrid>
              <a:tr h="370840">
                <a:tc>
                  <a:txBody>
                    <a:bodyPr/>
                    <a:lstStyle/>
                    <a:p>
                      <a:r>
                        <a:rPr lang="en-US" sz="1600" dirty="0"/>
                        <a:t>variable</a:t>
                      </a:r>
                      <a:endParaRPr lang="en-IN" sz="1600" dirty="0"/>
                    </a:p>
                  </a:txBody>
                  <a:tcPr/>
                </a:tc>
                <a:tc>
                  <a:txBody>
                    <a:bodyPr/>
                    <a:lstStyle/>
                    <a:p>
                      <a:r>
                        <a:rPr lang="en-US" sz="1600" dirty="0"/>
                        <a:t>Applicability</a:t>
                      </a:r>
                      <a:endParaRPr lang="en-IN" sz="1600" dirty="0"/>
                    </a:p>
                  </a:txBody>
                  <a:tcPr/>
                </a:tc>
                <a:extLst>
                  <a:ext uri="{0D108BD9-81ED-4DB2-BD59-A6C34878D82A}">
                    <a16:rowId xmlns:a16="http://schemas.microsoft.com/office/drawing/2014/main" val="578339862"/>
                  </a:ext>
                </a:extLst>
              </a:tr>
              <a:tr h="370840">
                <a:tc>
                  <a:txBody>
                    <a:bodyPr/>
                    <a:lstStyle/>
                    <a:p>
                      <a:r>
                        <a:rPr lang="en-US" sz="1600" dirty="0"/>
                        <a:t>access specifiers</a:t>
                      </a:r>
                      <a:endParaRPr lang="en-IN" sz="1600" dirty="0"/>
                    </a:p>
                  </a:txBody>
                  <a:tcPr/>
                </a:tc>
                <a:tc>
                  <a:txBody>
                    <a:bodyPr/>
                    <a:lstStyle/>
                    <a:p>
                      <a:r>
                        <a:rPr lang="en-US" sz="1600" dirty="0"/>
                        <a:t>private, default, protected, public</a:t>
                      </a:r>
                      <a:endParaRPr lang="en-IN" sz="1600" dirty="0"/>
                    </a:p>
                  </a:txBody>
                  <a:tcPr/>
                </a:tc>
                <a:extLst>
                  <a:ext uri="{0D108BD9-81ED-4DB2-BD59-A6C34878D82A}">
                    <a16:rowId xmlns:a16="http://schemas.microsoft.com/office/drawing/2014/main" val="63910494"/>
                  </a:ext>
                </a:extLst>
              </a:tr>
              <a:tr h="370840">
                <a:tc>
                  <a:txBody>
                    <a:bodyPr/>
                    <a:lstStyle/>
                    <a:p>
                      <a:r>
                        <a:rPr lang="en-US" sz="1600" dirty="0"/>
                        <a:t>access modifiers</a:t>
                      </a:r>
                      <a:endParaRPr lang="en-IN" sz="1600" dirty="0"/>
                    </a:p>
                  </a:txBody>
                  <a:tcPr/>
                </a:tc>
                <a:tc>
                  <a:txBody>
                    <a:bodyPr/>
                    <a:lstStyle/>
                    <a:p>
                      <a:r>
                        <a:rPr lang="en-US" sz="1600" dirty="0"/>
                        <a:t>final, static, transient, volatile</a:t>
                      </a:r>
                      <a:endParaRPr lang="en-IN" sz="1600" dirty="0"/>
                    </a:p>
                  </a:txBody>
                  <a:tcPr/>
                </a:tc>
                <a:extLst>
                  <a:ext uri="{0D108BD9-81ED-4DB2-BD59-A6C34878D82A}">
                    <a16:rowId xmlns:a16="http://schemas.microsoft.com/office/drawing/2014/main" val="1628334734"/>
                  </a:ext>
                </a:extLst>
              </a:tr>
            </a:tbl>
          </a:graphicData>
        </a:graphic>
      </p:graphicFrame>
      <p:graphicFrame>
        <p:nvGraphicFramePr>
          <p:cNvPr id="19" name="Table 9">
            <a:extLst>
              <a:ext uri="{FF2B5EF4-FFF2-40B4-BE49-F238E27FC236}">
                <a16:creationId xmlns:a16="http://schemas.microsoft.com/office/drawing/2014/main" id="{6AE7D6C8-B260-4CAC-BECE-1D234C5EBDEF}"/>
              </a:ext>
            </a:extLst>
          </p:cNvPr>
          <p:cNvGraphicFramePr>
            <a:graphicFrameLocks noGrp="1"/>
          </p:cNvGraphicFramePr>
          <p:nvPr>
            <p:extLst>
              <p:ext uri="{D42A27DB-BD31-4B8C-83A1-F6EECF244321}">
                <p14:modId xmlns:p14="http://schemas.microsoft.com/office/powerpoint/2010/main" val="2054266603"/>
              </p:ext>
            </p:extLst>
          </p:nvPr>
        </p:nvGraphicFramePr>
        <p:xfrm>
          <a:off x="799767" y="3563051"/>
          <a:ext cx="8397242" cy="1112520"/>
        </p:xfrm>
        <a:graphic>
          <a:graphicData uri="http://schemas.openxmlformats.org/drawingml/2006/table">
            <a:tbl>
              <a:tblPr firstRow="1" bandRow="1">
                <a:tableStyleId>{BDBED569-4797-4DF1-A0F4-6AAB3CD982D8}</a:tableStyleId>
              </a:tblPr>
              <a:tblGrid>
                <a:gridCol w="3904755">
                  <a:extLst>
                    <a:ext uri="{9D8B030D-6E8A-4147-A177-3AD203B41FA5}">
                      <a16:colId xmlns:a16="http://schemas.microsoft.com/office/drawing/2014/main" val="2093884678"/>
                    </a:ext>
                  </a:extLst>
                </a:gridCol>
                <a:gridCol w="4492487">
                  <a:extLst>
                    <a:ext uri="{9D8B030D-6E8A-4147-A177-3AD203B41FA5}">
                      <a16:colId xmlns:a16="http://schemas.microsoft.com/office/drawing/2014/main" val="1998974303"/>
                    </a:ext>
                  </a:extLst>
                </a:gridCol>
              </a:tblGrid>
              <a:tr h="370840">
                <a:tc>
                  <a:txBody>
                    <a:bodyPr/>
                    <a:lstStyle/>
                    <a:p>
                      <a:r>
                        <a:rPr lang="en-US" sz="1600" dirty="0"/>
                        <a:t>constructor</a:t>
                      </a:r>
                      <a:endParaRPr lang="en-IN" sz="1600" dirty="0"/>
                    </a:p>
                  </a:txBody>
                  <a:tcPr/>
                </a:tc>
                <a:tc>
                  <a:txBody>
                    <a:bodyPr/>
                    <a:lstStyle/>
                    <a:p>
                      <a:r>
                        <a:rPr lang="en-US" sz="1600" dirty="0"/>
                        <a:t>Applicability</a:t>
                      </a:r>
                      <a:endParaRPr lang="en-IN" sz="1600" dirty="0"/>
                    </a:p>
                  </a:txBody>
                  <a:tcPr/>
                </a:tc>
                <a:extLst>
                  <a:ext uri="{0D108BD9-81ED-4DB2-BD59-A6C34878D82A}">
                    <a16:rowId xmlns:a16="http://schemas.microsoft.com/office/drawing/2014/main" val="57833986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access specifiers</a:t>
                      </a:r>
                      <a:endParaRPr lang="en-IN" sz="1600" dirty="0"/>
                    </a:p>
                  </a:txBody>
                  <a:tcPr/>
                </a:tc>
                <a:tc>
                  <a:txBody>
                    <a:bodyPr/>
                    <a:lstStyle/>
                    <a:p>
                      <a:r>
                        <a:rPr lang="en-US" sz="1600" dirty="0"/>
                        <a:t>private, default, protected, public</a:t>
                      </a:r>
                      <a:endParaRPr lang="en-IN" sz="1600" dirty="0"/>
                    </a:p>
                  </a:txBody>
                  <a:tcPr/>
                </a:tc>
                <a:extLst>
                  <a:ext uri="{0D108BD9-81ED-4DB2-BD59-A6C34878D82A}">
                    <a16:rowId xmlns:a16="http://schemas.microsoft.com/office/drawing/2014/main" val="63910494"/>
                  </a:ext>
                </a:extLst>
              </a:tr>
              <a:tr h="370840">
                <a:tc>
                  <a:txBody>
                    <a:bodyPr/>
                    <a:lstStyle/>
                    <a:p>
                      <a:r>
                        <a:rPr lang="en-US" sz="1600" dirty="0"/>
                        <a:t>access modifiers</a:t>
                      </a:r>
                      <a:endParaRPr lang="en-IN" sz="1600" dirty="0"/>
                    </a:p>
                  </a:txBody>
                  <a:tcPr/>
                </a:tc>
                <a:tc>
                  <a:txBody>
                    <a:bodyPr/>
                    <a:lstStyle/>
                    <a:p>
                      <a:r>
                        <a:rPr lang="en-US" sz="1600" dirty="0"/>
                        <a:t>no modifiers on constructors</a:t>
                      </a:r>
                      <a:endParaRPr lang="en-IN" sz="1600" dirty="0"/>
                    </a:p>
                  </a:txBody>
                  <a:tcPr/>
                </a:tc>
                <a:extLst>
                  <a:ext uri="{0D108BD9-81ED-4DB2-BD59-A6C34878D82A}">
                    <a16:rowId xmlns:a16="http://schemas.microsoft.com/office/drawing/2014/main" val="1628334734"/>
                  </a:ext>
                </a:extLst>
              </a:tr>
            </a:tbl>
          </a:graphicData>
        </a:graphic>
      </p:graphicFrame>
      <p:graphicFrame>
        <p:nvGraphicFramePr>
          <p:cNvPr id="25" name="Table 9">
            <a:extLst>
              <a:ext uri="{FF2B5EF4-FFF2-40B4-BE49-F238E27FC236}">
                <a16:creationId xmlns:a16="http://schemas.microsoft.com/office/drawing/2014/main" id="{71E91CFA-FE37-4417-BFE5-728D0A1712B0}"/>
              </a:ext>
            </a:extLst>
          </p:cNvPr>
          <p:cNvGraphicFramePr>
            <a:graphicFrameLocks noGrp="1"/>
          </p:cNvGraphicFramePr>
          <p:nvPr>
            <p:extLst>
              <p:ext uri="{D42A27DB-BD31-4B8C-83A1-F6EECF244321}">
                <p14:modId xmlns:p14="http://schemas.microsoft.com/office/powerpoint/2010/main" val="510098144"/>
              </p:ext>
            </p:extLst>
          </p:nvPr>
        </p:nvGraphicFramePr>
        <p:xfrm>
          <a:off x="806395" y="4828637"/>
          <a:ext cx="8397242" cy="1112520"/>
        </p:xfrm>
        <a:graphic>
          <a:graphicData uri="http://schemas.openxmlformats.org/drawingml/2006/table">
            <a:tbl>
              <a:tblPr firstRow="1" bandRow="1">
                <a:tableStyleId>{5DA37D80-6434-44D0-A028-1B22A696006F}</a:tableStyleId>
              </a:tblPr>
              <a:tblGrid>
                <a:gridCol w="3925598">
                  <a:extLst>
                    <a:ext uri="{9D8B030D-6E8A-4147-A177-3AD203B41FA5}">
                      <a16:colId xmlns:a16="http://schemas.microsoft.com/office/drawing/2014/main" val="2093884678"/>
                    </a:ext>
                  </a:extLst>
                </a:gridCol>
                <a:gridCol w="4471644">
                  <a:extLst>
                    <a:ext uri="{9D8B030D-6E8A-4147-A177-3AD203B41FA5}">
                      <a16:colId xmlns:a16="http://schemas.microsoft.com/office/drawing/2014/main" val="1998974303"/>
                    </a:ext>
                  </a:extLst>
                </a:gridCol>
              </a:tblGrid>
              <a:tr h="370840">
                <a:tc>
                  <a:txBody>
                    <a:bodyPr/>
                    <a:lstStyle/>
                    <a:p>
                      <a:r>
                        <a:rPr lang="en-US" sz="1600" dirty="0"/>
                        <a:t>method</a:t>
                      </a:r>
                      <a:endParaRPr lang="en-IN" sz="1600" dirty="0"/>
                    </a:p>
                  </a:txBody>
                  <a:tcPr/>
                </a:tc>
                <a:tc>
                  <a:txBody>
                    <a:bodyPr/>
                    <a:lstStyle/>
                    <a:p>
                      <a:r>
                        <a:rPr lang="en-US" sz="1600" dirty="0"/>
                        <a:t>Applicability</a:t>
                      </a:r>
                      <a:endParaRPr lang="en-IN" sz="1600" dirty="0"/>
                    </a:p>
                  </a:txBody>
                  <a:tcPr/>
                </a:tc>
                <a:extLst>
                  <a:ext uri="{0D108BD9-81ED-4DB2-BD59-A6C34878D82A}">
                    <a16:rowId xmlns:a16="http://schemas.microsoft.com/office/drawing/2014/main" val="578339862"/>
                  </a:ext>
                </a:extLst>
              </a:tr>
              <a:tr h="370840">
                <a:tc>
                  <a:txBody>
                    <a:bodyPr/>
                    <a:lstStyle/>
                    <a:p>
                      <a:r>
                        <a:rPr lang="en-US" sz="1600" dirty="0"/>
                        <a:t>access specifiers</a:t>
                      </a:r>
                      <a:endParaRPr lang="en-IN" sz="1600" dirty="0"/>
                    </a:p>
                  </a:txBody>
                  <a:tcPr/>
                </a:tc>
                <a:tc>
                  <a:txBody>
                    <a:bodyPr/>
                    <a:lstStyle/>
                    <a:p>
                      <a:r>
                        <a:rPr lang="en-US" sz="1600" dirty="0"/>
                        <a:t>private, default, protected, public</a:t>
                      </a:r>
                      <a:endParaRPr lang="en-IN" sz="1600" dirty="0"/>
                    </a:p>
                  </a:txBody>
                  <a:tcPr/>
                </a:tc>
                <a:extLst>
                  <a:ext uri="{0D108BD9-81ED-4DB2-BD59-A6C34878D82A}">
                    <a16:rowId xmlns:a16="http://schemas.microsoft.com/office/drawing/2014/main" val="63910494"/>
                  </a:ext>
                </a:extLst>
              </a:tr>
              <a:tr h="370840">
                <a:tc>
                  <a:txBody>
                    <a:bodyPr/>
                    <a:lstStyle/>
                    <a:p>
                      <a:r>
                        <a:rPr lang="en-US" sz="1600" dirty="0"/>
                        <a:t>access modifiers</a:t>
                      </a:r>
                      <a:endParaRPr lang="en-IN" sz="1600" dirty="0"/>
                    </a:p>
                  </a:txBody>
                  <a:tcPr/>
                </a:tc>
                <a:tc>
                  <a:txBody>
                    <a:bodyPr/>
                    <a:lstStyle/>
                    <a:p>
                      <a:r>
                        <a:rPr lang="en-US" sz="1600" dirty="0"/>
                        <a:t>abstract, final, static, native, </a:t>
                      </a:r>
                      <a:r>
                        <a:rPr lang="en-US" sz="1600" dirty="0" err="1"/>
                        <a:t>sychronized</a:t>
                      </a:r>
                      <a:endParaRPr lang="en-IN" sz="1600" dirty="0"/>
                    </a:p>
                  </a:txBody>
                  <a:tcPr/>
                </a:tc>
                <a:extLst>
                  <a:ext uri="{0D108BD9-81ED-4DB2-BD59-A6C34878D82A}">
                    <a16:rowId xmlns:a16="http://schemas.microsoft.com/office/drawing/2014/main" val="1628334734"/>
                  </a:ext>
                </a:extLst>
              </a:tr>
            </a:tbl>
          </a:graphicData>
        </a:graphic>
      </p:graphicFrame>
      <p:sp>
        <p:nvSpPr>
          <p:cNvPr id="7" name="Footer Placeholder 6">
            <a:extLst>
              <a:ext uri="{FF2B5EF4-FFF2-40B4-BE49-F238E27FC236}">
                <a16:creationId xmlns:a16="http://schemas.microsoft.com/office/drawing/2014/main" id="{5B29CE61-9873-2C80-B055-A3A85FC4301B}"/>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7381335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338554"/>
              </a:xfrm>
              <a:prstGeom prst="rect">
                <a:avLst/>
              </a:prstGeom>
            </p:spPr>
            <p:txBody>
              <a:bodyPr wrap="square">
                <a:spAutoFit/>
              </a:bodyPr>
              <a:lstStyle/>
              <a:p>
                <a:pPr algn="ctr"/>
                <a:r>
                  <a:rPr lang="en-US" sz="1600" b="1" dirty="0">
                    <a:solidFill>
                      <a:schemeClr val="bg1"/>
                    </a:solidFill>
                    <a:latin typeface="Bookman Old Style" panose="02050604050505020204" pitchFamily="18" charset="0"/>
                  </a:rPr>
                  <a:t>Syntax of declaring </a:t>
                </a:r>
                <a:r>
                  <a:rPr lang="en-US" sz="1600" b="1" dirty="0" err="1">
                    <a:solidFill>
                      <a:schemeClr val="bg1"/>
                    </a:solidFill>
                    <a:latin typeface="Bookman Old Style" panose="02050604050505020204" pitchFamily="18" charset="0"/>
                  </a:rPr>
                  <a:t>C,V,Co,M</a:t>
                </a:r>
                <a:endParaRPr lang="en-US" sz="160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26" name="TextBox 25">
            <a:extLst>
              <a:ext uri="{FF2B5EF4-FFF2-40B4-BE49-F238E27FC236}">
                <a16:creationId xmlns:a16="http://schemas.microsoft.com/office/drawing/2014/main" id="{B2C2A70B-7F8A-469E-BCE2-06539EEB7566}"/>
              </a:ext>
            </a:extLst>
          </p:cNvPr>
          <p:cNvSpPr txBox="1"/>
          <p:nvPr/>
        </p:nvSpPr>
        <p:spPr>
          <a:xfrm>
            <a:off x="1244568" y="1884532"/>
            <a:ext cx="7305260" cy="2554545"/>
          </a:xfrm>
          <a:prstGeom prst="rect">
            <a:avLst/>
          </a:prstGeom>
          <a:noFill/>
        </p:spPr>
        <p:txBody>
          <a:bodyPr wrap="square">
            <a:spAutoFit/>
          </a:bodyPr>
          <a:lstStyle/>
          <a:p>
            <a:pPr algn="just"/>
            <a:r>
              <a:rPr lang="en-US" sz="3200" b="1" dirty="0">
                <a:solidFill>
                  <a:srgbClr val="003F66"/>
                </a:solidFill>
              </a:rPr>
              <a:t>Syntaxes of declaring </a:t>
            </a:r>
          </a:p>
          <a:p>
            <a:pPr marL="457200" indent="-457200" algn="just">
              <a:buFont typeface="Wingdings" panose="05000000000000000000" pitchFamily="2" charset="2"/>
              <a:buChar char="ü"/>
            </a:pPr>
            <a:r>
              <a:rPr lang="en-US" sz="3200" b="1" dirty="0">
                <a:solidFill>
                  <a:srgbClr val="003F66"/>
                </a:solidFill>
              </a:rPr>
              <a:t>Class</a:t>
            </a:r>
          </a:p>
          <a:p>
            <a:pPr marL="457200" indent="-457200" algn="just">
              <a:buFont typeface="Wingdings" panose="05000000000000000000" pitchFamily="2" charset="2"/>
              <a:buChar char="ü"/>
            </a:pPr>
            <a:r>
              <a:rPr lang="en-US" sz="3200" b="1" dirty="0">
                <a:solidFill>
                  <a:srgbClr val="003F66"/>
                </a:solidFill>
              </a:rPr>
              <a:t>Variable</a:t>
            </a:r>
          </a:p>
          <a:p>
            <a:pPr marL="457200" indent="-457200" algn="just">
              <a:buFont typeface="Wingdings" panose="05000000000000000000" pitchFamily="2" charset="2"/>
              <a:buChar char="ü"/>
            </a:pPr>
            <a:r>
              <a:rPr lang="en-US" sz="3200" b="1" dirty="0">
                <a:solidFill>
                  <a:srgbClr val="003F66"/>
                </a:solidFill>
              </a:rPr>
              <a:t>Constructor</a:t>
            </a:r>
          </a:p>
          <a:p>
            <a:pPr marL="457200" indent="-457200" algn="just">
              <a:buFont typeface="Wingdings" panose="05000000000000000000" pitchFamily="2" charset="2"/>
              <a:buChar char="ü"/>
            </a:pPr>
            <a:r>
              <a:rPr lang="en-US" sz="3200" b="1" dirty="0">
                <a:solidFill>
                  <a:srgbClr val="003F66"/>
                </a:solidFill>
              </a:rPr>
              <a:t>Method</a:t>
            </a:r>
          </a:p>
        </p:txBody>
      </p:sp>
      <p:sp>
        <p:nvSpPr>
          <p:cNvPr id="7" name="Footer Placeholder 6">
            <a:extLst>
              <a:ext uri="{FF2B5EF4-FFF2-40B4-BE49-F238E27FC236}">
                <a16:creationId xmlns:a16="http://schemas.microsoft.com/office/drawing/2014/main" id="{8E3049C0-F5CB-3CCD-19C9-BD88AA0367A1}"/>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0601470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461665"/>
              </a:xfrm>
              <a:prstGeom prst="rect">
                <a:avLst/>
              </a:prstGeom>
            </p:spPr>
            <p:txBody>
              <a:bodyPr wrap="square">
                <a:spAutoFit/>
              </a:bodyPr>
              <a:lstStyle/>
              <a:p>
                <a:pPr algn="ctr"/>
                <a:r>
                  <a:rPr lang="en-US" sz="2400" b="1" dirty="0">
                    <a:solidFill>
                      <a:schemeClr val="bg1"/>
                    </a:solidFill>
                    <a:latin typeface="Bookman Old Style" panose="02050604050505020204" pitchFamily="18" charset="0"/>
                  </a:rPr>
                  <a:t>Class declaration</a:t>
                </a:r>
                <a:endParaRPr lang="en-US" sz="140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26" name="TextBox 25">
            <a:extLst>
              <a:ext uri="{FF2B5EF4-FFF2-40B4-BE49-F238E27FC236}">
                <a16:creationId xmlns:a16="http://schemas.microsoft.com/office/drawing/2014/main" id="{B2C2A70B-7F8A-469E-BCE2-06539EEB7566}"/>
              </a:ext>
            </a:extLst>
          </p:cNvPr>
          <p:cNvSpPr txBox="1"/>
          <p:nvPr/>
        </p:nvSpPr>
        <p:spPr>
          <a:xfrm>
            <a:off x="1696278" y="2745778"/>
            <a:ext cx="7076662" cy="1107996"/>
          </a:xfrm>
          <a:prstGeom prst="rect">
            <a:avLst/>
          </a:prstGeom>
          <a:noFill/>
        </p:spPr>
        <p:txBody>
          <a:bodyPr wrap="square">
            <a:spAutoFit/>
          </a:bodyPr>
          <a:lstStyle/>
          <a:p>
            <a:pPr algn="ctr"/>
            <a:r>
              <a:rPr lang="en-US" sz="6600" b="1" dirty="0">
                <a:solidFill>
                  <a:srgbClr val="FF0000"/>
                </a:solidFill>
                <a:latin typeface="Bookman Old Style" panose="02050604050505020204" pitchFamily="18" charset="0"/>
              </a:rPr>
              <a:t>Class Syntax</a:t>
            </a:r>
            <a:endParaRPr lang="en-US" sz="1600" b="1" dirty="0">
              <a:solidFill>
                <a:srgbClr val="FF0000"/>
              </a:solidFill>
              <a:latin typeface="Bookman Old Style" panose="02050604050505020204" pitchFamily="18" charset="0"/>
            </a:endParaRPr>
          </a:p>
        </p:txBody>
      </p:sp>
      <p:sp>
        <p:nvSpPr>
          <p:cNvPr id="7" name="Footer Placeholder 6">
            <a:extLst>
              <a:ext uri="{FF2B5EF4-FFF2-40B4-BE49-F238E27FC236}">
                <a16:creationId xmlns:a16="http://schemas.microsoft.com/office/drawing/2014/main" id="{7508DA29-6C1C-ABCF-C077-336A666A02D8}"/>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7282158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461665"/>
              </a:xfrm>
              <a:prstGeom prst="rect">
                <a:avLst/>
              </a:prstGeom>
            </p:spPr>
            <p:txBody>
              <a:bodyPr wrap="square">
                <a:spAutoFit/>
              </a:bodyPr>
              <a:lstStyle/>
              <a:p>
                <a:pPr algn="ctr"/>
                <a:r>
                  <a:rPr lang="en-US" sz="2400" b="1" dirty="0">
                    <a:solidFill>
                      <a:schemeClr val="bg1"/>
                    </a:solidFill>
                    <a:latin typeface="Bookman Old Style" panose="02050604050505020204" pitchFamily="18" charset="0"/>
                  </a:rPr>
                  <a:t>Class declaration</a:t>
                </a:r>
                <a:endParaRPr lang="en-US" sz="140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7" name="Footer Placeholder 6">
            <a:extLst>
              <a:ext uri="{FF2B5EF4-FFF2-40B4-BE49-F238E27FC236}">
                <a16:creationId xmlns:a16="http://schemas.microsoft.com/office/drawing/2014/main" id="{7508DA29-6C1C-ABCF-C077-336A666A02D8}"/>
              </a:ext>
            </a:extLst>
          </p:cNvPr>
          <p:cNvSpPr>
            <a:spLocks noGrp="1"/>
          </p:cNvSpPr>
          <p:nvPr>
            <p:ph type="ftr" sz="quarter" idx="11"/>
          </p:nvPr>
        </p:nvSpPr>
        <p:spPr/>
        <p:txBody>
          <a:bodyPr/>
          <a:lstStyle/>
          <a:p>
            <a:r>
              <a:rPr lang="en-US"/>
              <a:t>Suryanarayana</a:t>
            </a:r>
          </a:p>
        </p:txBody>
      </p:sp>
      <p:pic>
        <p:nvPicPr>
          <p:cNvPr id="1026" name="Picture 2" descr="8 Difference Between Class and Object | Class vs Object Explain">
            <a:extLst>
              <a:ext uri="{FF2B5EF4-FFF2-40B4-BE49-F238E27FC236}">
                <a16:creationId xmlns:a16="http://schemas.microsoft.com/office/drawing/2014/main" id="{F694A8BB-D37B-9B4A-2298-F564D03D2E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5387" y="1040947"/>
            <a:ext cx="6715436" cy="45176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42505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461665"/>
              </a:xfrm>
              <a:prstGeom prst="rect">
                <a:avLst/>
              </a:prstGeom>
            </p:spPr>
            <p:txBody>
              <a:bodyPr wrap="square">
                <a:spAutoFit/>
              </a:bodyPr>
              <a:lstStyle/>
              <a:p>
                <a:pPr algn="ctr"/>
                <a:r>
                  <a:rPr lang="en-US" sz="2400" b="1" dirty="0">
                    <a:solidFill>
                      <a:schemeClr val="bg1"/>
                    </a:solidFill>
                    <a:latin typeface="Bookman Old Style" panose="02050604050505020204" pitchFamily="18" charset="0"/>
                  </a:rPr>
                  <a:t>Class declaration</a:t>
                </a:r>
                <a:endParaRPr lang="en-US" sz="140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7" name="Footer Placeholder 6">
            <a:extLst>
              <a:ext uri="{FF2B5EF4-FFF2-40B4-BE49-F238E27FC236}">
                <a16:creationId xmlns:a16="http://schemas.microsoft.com/office/drawing/2014/main" id="{7508DA29-6C1C-ABCF-C077-336A666A02D8}"/>
              </a:ext>
            </a:extLst>
          </p:cNvPr>
          <p:cNvSpPr>
            <a:spLocks noGrp="1"/>
          </p:cNvSpPr>
          <p:nvPr>
            <p:ph type="ftr" sz="quarter" idx="11"/>
          </p:nvPr>
        </p:nvSpPr>
        <p:spPr/>
        <p:txBody>
          <a:bodyPr/>
          <a:lstStyle/>
          <a:p>
            <a:r>
              <a:rPr lang="en-US"/>
              <a:t>Suryanarayana</a:t>
            </a:r>
          </a:p>
        </p:txBody>
      </p:sp>
      <p:pic>
        <p:nvPicPr>
          <p:cNvPr id="2050" name="Picture 2" descr="What is Class and Object in Java OOPS? Learn with Example">
            <a:extLst>
              <a:ext uri="{FF2B5EF4-FFF2-40B4-BE49-F238E27FC236}">
                <a16:creationId xmlns:a16="http://schemas.microsoft.com/office/drawing/2014/main" id="{248114E1-6A3C-6B93-8EE3-E198713C2C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6442" y="1359395"/>
            <a:ext cx="7553325" cy="4286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8064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461665"/>
              </a:xfrm>
              <a:prstGeom prst="rect">
                <a:avLst/>
              </a:prstGeom>
            </p:spPr>
            <p:txBody>
              <a:bodyPr wrap="square">
                <a:spAutoFit/>
              </a:bodyPr>
              <a:lstStyle/>
              <a:p>
                <a:pPr algn="ctr"/>
                <a:r>
                  <a:rPr lang="en-US" sz="2400" b="1" dirty="0">
                    <a:solidFill>
                      <a:schemeClr val="bg1"/>
                    </a:solidFill>
                    <a:latin typeface="Bookman Old Style" panose="02050604050505020204" pitchFamily="18" charset="0"/>
                  </a:rPr>
                  <a:t>Class declaration</a:t>
                </a:r>
                <a:endParaRPr lang="en-US" sz="140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7" name="Footer Placeholder 6">
            <a:extLst>
              <a:ext uri="{FF2B5EF4-FFF2-40B4-BE49-F238E27FC236}">
                <a16:creationId xmlns:a16="http://schemas.microsoft.com/office/drawing/2014/main" id="{7508DA29-6C1C-ABCF-C077-336A666A02D8}"/>
              </a:ext>
            </a:extLst>
          </p:cNvPr>
          <p:cNvSpPr>
            <a:spLocks noGrp="1"/>
          </p:cNvSpPr>
          <p:nvPr>
            <p:ph type="ftr" sz="quarter" idx="11"/>
          </p:nvPr>
        </p:nvSpPr>
        <p:spPr/>
        <p:txBody>
          <a:bodyPr/>
          <a:lstStyle/>
          <a:p>
            <a:r>
              <a:rPr lang="en-US"/>
              <a:t>Suryanarayana</a:t>
            </a:r>
          </a:p>
        </p:txBody>
      </p:sp>
      <p:pic>
        <p:nvPicPr>
          <p:cNvPr id="3074" name="Picture 2" descr="Java class and object examples - Java tutorial">
            <a:extLst>
              <a:ext uri="{FF2B5EF4-FFF2-40B4-BE49-F238E27FC236}">
                <a16:creationId xmlns:a16="http://schemas.microsoft.com/office/drawing/2014/main" id="{91F68EC2-D434-355E-C47A-0B04FD7AF96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1019" t="3765" r="20678" b="4186"/>
          <a:stretch/>
        </p:blipFill>
        <p:spPr bwMode="auto">
          <a:xfrm>
            <a:off x="2516200" y="1132660"/>
            <a:ext cx="4422012" cy="48333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35702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461665"/>
              </a:xfrm>
              <a:prstGeom prst="rect">
                <a:avLst/>
              </a:prstGeom>
            </p:spPr>
            <p:txBody>
              <a:bodyPr wrap="square">
                <a:spAutoFit/>
              </a:bodyPr>
              <a:lstStyle/>
              <a:p>
                <a:pPr algn="ctr"/>
                <a:r>
                  <a:rPr lang="en-US" sz="2400" b="1" dirty="0">
                    <a:solidFill>
                      <a:schemeClr val="bg1"/>
                    </a:solidFill>
                    <a:latin typeface="Bookman Old Style" panose="02050604050505020204" pitchFamily="18" charset="0"/>
                  </a:rPr>
                  <a:t>Class declaration</a:t>
                </a:r>
                <a:endParaRPr lang="en-US" sz="140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7" name="Footer Placeholder 6">
            <a:extLst>
              <a:ext uri="{FF2B5EF4-FFF2-40B4-BE49-F238E27FC236}">
                <a16:creationId xmlns:a16="http://schemas.microsoft.com/office/drawing/2014/main" id="{7508DA29-6C1C-ABCF-C077-336A666A02D8}"/>
              </a:ext>
            </a:extLst>
          </p:cNvPr>
          <p:cNvSpPr>
            <a:spLocks noGrp="1"/>
          </p:cNvSpPr>
          <p:nvPr>
            <p:ph type="ftr" sz="quarter" idx="11"/>
          </p:nvPr>
        </p:nvSpPr>
        <p:spPr/>
        <p:txBody>
          <a:bodyPr/>
          <a:lstStyle/>
          <a:p>
            <a:r>
              <a:rPr lang="en-US"/>
              <a:t>Suryanarayana</a:t>
            </a:r>
          </a:p>
        </p:txBody>
      </p:sp>
      <p:pic>
        <p:nvPicPr>
          <p:cNvPr id="4098" name="Picture 2" descr="Classes and Objects in Java | Example Program - Scientech Easy">
            <a:extLst>
              <a:ext uri="{FF2B5EF4-FFF2-40B4-BE49-F238E27FC236}">
                <a16:creationId xmlns:a16="http://schemas.microsoft.com/office/drawing/2014/main" id="{A800E733-C6F1-6059-6137-5C9F7A24DDA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2688"/>
          <a:stretch/>
        </p:blipFill>
        <p:spPr bwMode="auto">
          <a:xfrm>
            <a:off x="1154530" y="1130887"/>
            <a:ext cx="7406098" cy="45841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36438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461665"/>
              </a:xfrm>
              <a:prstGeom prst="rect">
                <a:avLst/>
              </a:prstGeom>
            </p:spPr>
            <p:txBody>
              <a:bodyPr wrap="square">
                <a:spAutoFit/>
              </a:bodyPr>
              <a:lstStyle/>
              <a:p>
                <a:pPr algn="ctr"/>
                <a:r>
                  <a:rPr lang="en-US" sz="2400" b="1" dirty="0">
                    <a:solidFill>
                      <a:schemeClr val="bg1"/>
                    </a:solidFill>
                    <a:latin typeface="Bookman Old Style" panose="02050604050505020204" pitchFamily="18" charset="0"/>
                  </a:rPr>
                  <a:t>Class declaration</a:t>
                </a:r>
                <a:endParaRPr lang="en-US" sz="140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26" name="TextBox 25">
            <a:extLst>
              <a:ext uri="{FF2B5EF4-FFF2-40B4-BE49-F238E27FC236}">
                <a16:creationId xmlns:a16="http://schemas.microsoft.com/office/drawing/2014/main" id="{B2C2A70B-7F8A-469E-BCE2-06539EEB7566}"/>
              </a:ext>
            </a:extLst>
          </p:cNvPr>
          <p:cNvSpPr txBox="1"/>
          <p:nvPr/>
        </p:nvSpPr>
        <p:spPr>
          <a:xfrm>
            <a:off x="675860" y="1233699"/>
            <a:ext cx="8611151" cy="5262979"/>
          </a:xfrm>
          <a:prstGeom prst="rect">
            <a:avLst/>
          </a:prstGeom>
          <a:noFill/>
        </p:spPr>
        <p:txBody>
          <a:bodyPr wrap="square">
            <a:spAutoFit/>
          </a:bodyPr>
          <a:lstStyle/>
          <a:p>
            <a:pPr algn="just"/>
            <a:r>
              <a:rPr lang="en-US" sz="1600" b="1" dirty="0">
                <a:solidFill>
                  <a:srgbClr val="003F66"/>
                </a:solidFill>
                <a:latin typeface="Bookman Old Style" panose="02050604050505020204" pitchFamily="18" charset="0"/>
              </a:rPr>
              <a:t>------------------------------------</a:t>
            </a:r>
          </a:p>
          <a:p>
            <a:pPr algn="just"/>
            <a:r>
              <a:rPr lang="en-US" sz="1600" b="1" dirty="0">
                <a:solidFill>
                  <a:srgbClr val="003F66"/>
                </a:solidFill>
                <a:latin typeface="Bookman Old Style" panose="02050604050505020204" pitchFamily="18" charset="0"/>
              </a:rPr>
              <a:t>Class declaration syntax:</a:t>
            </a:r>
          </a:p>
          <a:p>
            <a:pPr algn="just"/>
            <a:r>
              <a:rPr lang="en-US" sz="1600" b="1" dirty="0">
                <a:solidFill>
                  <a:srgbClr val="003F66"/>
                </a:solidFill>
                <a:latin typeface="Bookman Old Style" panose="02050604050505020204" pitchFamily="18" charset="0"/>
              </a:rPr>
              <a:t>------------------------------------</a:t>
            </a:r>
          </a:p>
          <a:p>
            <a:pPr algn="just"/>
            <a:r>
              <a:rPr lang="en-US" sz="1600" b="1" dirty="0">
                <a:solidFill>
                  <a:srgbClr val="003F66"/>
                </a:solidFill>
                <a:latin typeface="Bookman Old Style" panose="02050604050505020204" pitchFamily="18" charset="0"/>
              </a:rPr>
              <a:t>Syntax:</a:t>
            </a:r>
          </a:p>
          <a:p>
            <a:pPr algn="just"/>
            <a:r>
              <a:rPr lang="en-US" sz="1600" b="1" dirty="0">
                <a:solidFill>
                  <a:srgbClr val="003F66"/>
                </a:solidFill>
                <a:latin typeface="Bookman Old Style" panose="02050604050505020204" pitchFamily="18" charset="0"/>
              </a:rPr>
              <a:t>-----------</a:t>
            </a:r>
          </a:p>
          <a:p>
            <a:pPr algn="just"/>
            <a:r>
              <a:rPr lang="en-US" sz="1600" b="1" dirty="0">
                <a:solidFill>
                  <a:srgbClr val="FF0000"/>
                </a:solidFill>
                <a:latin typeface="Bookman Old Style" panose="02050604050505020204" pitchFamily="18" charset="0"/>
              </a:rPr>
              <a:t>&lt;</a:t>
            </a:r>
            <a:r>
              <a:rPr lang="en-US" sz="1600" b="1" dirty="0" err="1">
                <a:solidFill>
                  <a:srgbClr val="FF0000"/>
                </a:solidFill>
                <a:latin typeface="Bookman Old Style" panose="02050604050505020204" pitchFamily="18" charset="0"/>
              </a:rPr>
              <a:t>access_specifier</a:t>
            </a:r>
            <a:r>
              <a:rPr lang="en-US" sz="1600" b="1" dirty="0">
                <a:solidFill>
                  <a:srgbClr val="FF0000"/>
                </a:solidFill>
                <a:latin typeface="Bookman Old Style" panose="02050604050505020204" pitchFamily="18" charset="0"/>
              </a:rPr>
              <a:t>&gt;</a:t>
            </a:r>
            <a:r>
              <a:rPr lang="en-US" sz="1600" b="1" dirty="0">
                <a:solidFill>
                  <a:srgbClr val="003F66"/>
                </a:solidFill>
                <a:latin typeface="Bookman Old Style" panose="02050604050505020204" pitchFamily="18" charset="0"/>
              </a:rPr>
              <a:t> </a:t>
            </a:r>
            <a:r>
              <a:rPr lang="en-US" sz="1600" b="1" dirty="0">
                <a:solidFill>
                  <a:srgbClr val="00B0F0"/>
                </a:solidFill>
                <a:latin typeface="Bookman Old Style" panose="02050604050505020204" pitchFamily="18" charset="0"/>
              </a:rPr>
              <a:t>&lt;</a:t>
            </a:r>
            <a:r>
              <a:rPr lang="en-US" sz="1600" b="1" dirty="0" err="1">
                <a:solidFill>
                  <a:srgbClr val="00B0F0"/>
                </a:solidFill>
                <a:latin typeface="Bookman Old Style" panose="02050604050505020204" pitchFamily="18" charset="0"/>
              </a:rPr>
              <a:t>access_modifier</a:t>
            </a:r>
            <a:r>
              <a:rPr lang="en-US" sz="1600" b="1" dirty="0">
                <a:solidFill>
                  <a:srgbClr val="00B0F0"/>
                </a:solidFill>
                <a:latin typeface="Bookman Old Style" panose="02050604050505020204" pitchFamily="18" charset="0"/>
              </a:rPr>
              <a:t>&gt;</a:t>
            </a:r>
            <a:r>
              <a:rPr lang="en-US" sz="1600" b="1" dirty="0">
                <a:solidFill>
                  <a:srgbClr val="003F66"/>
                </a:solidFill>
                <a:latin typeface="Bookman Old Style" panose="02050604050505020204" pitchFamily="18" charset="0"/>
              </a:rPr>
              <a:t> class </a:t>
            </a:r>
            <a:r>
              <a:rPr lang="en-US" sz="1600" b="1" dirty="0" err="1">
                <a:solidFill>
                  <a:srgbClr val="003F66"/>
                </a:solidFill>
                <a:latin typeface="Bookman Old Style" panose="02050604050505020204" pitchFamily="18" charset="0"/>
              </a:rPr>
              <a:t>ClassName</a:t>
            </a:r>
            <a:r>
              <a:rPr lang="en-US" sz="1600" b="1" dirty="0">
                <a:solidFill>
                  <a:srgbClr val="003F66"/>
                </a:solidFill>
                <a:latin typeface="Bookman Old Style" panose="02050604050505020204" pitchFamily="18" charset="0"/>
              </a:rPr>
              <a:t> &lt;extends </a:t>
            </a:r>
            <a:r>
              <a:rPr lang="en-US" sz="1600" b="1" dirty="0" err="1">
                <a:solidFill>
                  <a:srgbClr val="003F66"/>
                </a:solidFill>
                <a:latin typeface="Bookman Old Style" panose="02050604050505020204" pitchFamily="18" charset="0"/>
              </a:rPr>
              <a:t>SuperClass</a:t>
            </a:r>
            <a:r>
              <a:rPr lang="en-US" sz="1600" b="1" dirty="0">
                <a:solidFill>
                  <a:srgbClr val="003F66"/>
                </a:solidFill>
                <a:latin typeface="Bookman Old Style" panose="02050604050505020204" pitchFamily="18" charset="0"/>
              </a:rPr>
              <a:t>&gt; &lt;implements SuperInterface1, SuperInterface2&gt; {</a:t>
            </a:r>
          </a:p>
          <a:p>
            <a:pPr algn="just"/>
            <a:r>
              <a:rPr lang="en-US" sz="1600" b="1" dirty="0">
                <a:solidFill>
                  <a:srgbClr val="003F66"/>
                </a:solidFill>
                <a:latin typeface="Bookman Old Style" panose="02050604050505020204" pitchFamily="18" charset="0"/>
              </a:rPr>
              <a:t>}</a:t>
            </a:r>
          </a:p>
          <a:p>
            <a:pPr algn="just"/>
            <a:endParaRPr lang="en-US" sz="1600" b="1" dirty="0">
              <a:solidFill>
                <a:srgbClr val="003F66"/>
              </a:solidFill>
              <a:latin typeface="Bookman Old Style" panose="02050604050505020204" pitchFamily="18" charset="0"/>
            </a:endParaRPr>
          </a:p>
          <a:p>
            <a:pPr algn="just"/>
            <a:r>
              <a:rPr lang="en-US" sz="1600" b="1" dirty="0">
                <a:solidFill>
                  <a:srgbClr val="003F66"/>
                </a:solidFill>
                <a:latin typeface="Bookman Old Style" panose="02050604050505020204" pitchFamily="18" charset="0"/>
              </a:rPr>
              <a:t>Examples:</a:t>
            </a:r>
          </a:p>
          <a:p>
            <a:pPr algn="just"/>
            <a:r>
              <a:rPr lang="en-US" sz="1600" b="1" dirty="0">
                <a:solidFill>
                  <a:srgbClr val="003F66"/>
                </a:solidFill>
                <a:latin typeface="Bookman Old Style" panose="02050604050505020204" pitchFamily="18" charset="0"/>
              </a:rPr>
              <a:t>---------------</a:t>
            </a:r>
          </a:p>
          <a:p>
            <a:pPr algn="just"/>
            <a:r>
              <a:rPr lang="en-US" sz="1600" b="1" dirty="0">
                <a:solidFill>
                  <a:srgbClr val="003F66"/>
                </a:solidFill>
                <a:latin typeface="Bookman Old Style" panose="02050604050505020204" pitchFamily="18" charset="0"/>
              </a:rPr>
              <a:t>class A { }</a:t>
            </a:r>
          </a:p>
          <a:p>
            <a:pPr algn="just"/>
            <a:endParaRPr lang="en-US" sz="1600" b="1" dirty="0">
              <a:solidFill>
                <a:srgbClr val="003F66"/>
              </a:solidFill>
              <a:latin typeface="Bookman Old Style" panose="02050604050505020204" pitchFamily="18" charset="0"/>
            </a:endParaRPr>
          </a:p>
          <a:p>
            <a:pPr algn="just"/>
            <a:r>
              <a:rPr lang="en-US" sz="1600" b="1" dirty="0">
                <a:solidFill>
                  <a:srgbClr val="003F66"/>
                </a:solidFill>
                <a:latin typeface="Bookman Old Style" panose="02050604050505020204" pitchFamily="18" charset="0"/>
              </a:rPr>
              <a:t>abstract class A {</a:t>
            </a:r>
          </a:p>
          <a:p>
            <a:pPr algn="just"/>
            <a:r>
              <a:rPr lang="en-US" sz="1600" b="1" dirty="0">
                <a:solidFill>
                  <a:srgbClr val="003F66"/>
                </a:solidFill>
                <a:latin typeface="Bookman Old Style" panose="02050604050505020204" pitchFamily="18" charset="0"/>
              </a:rPr>
              <a:t>}</a:t>
            </a:r>
          </a:p>
          <a:p>
            <a:pPr algn="just"/>
            <a:endParaRPr lang="en-US" sz="1600" b="1" dirty="0">
              <a:solidFill>
                <a:srgbClr val="003F66"/>
              </a:solidFill>
              <a:latin typeface="Bookman Old Style" panose="02050604050505020204" pitchFamily="18" charset="0"/>
            </a:endParaRPr>
          </a:p>
          <a:p>
            <a:pPr algn="just"/>
            <a:r>
              <a:rPr lang="en-US" sz="1600" b="1" dirty="0">
                <a:solidFill>
                  <a:srgbClr val="003F66"/>
                </a:solidFill>
                <a:latin typeface="Bookman Old Style" panose="02050604050505020204" pitchFamily="18" charset="0"/>
              </a:rPr>
              <a:t>public final class A extends ABC implements XYZ, MNO {</a:t>
            </a:r>
          </a:p>
          <a:p>
            <a:pPr algn="just"/>
            <a:r>
              <a:rPr lang="en-US" sz="1600" b="1" dirty="0">
                <a:solidFill>
                  <a:srgbClr val="003F66"/>
                </a:solidFill>
                <a:latin typeface="Bookman Old Style" panose="02050604050505020204" pitchFamily="18" charset="0"/>
              </a:rPr>
              <a:t>}</a:t>
            </a:r>
          </a:p>
          <a:p>
            <a:pPr algn="just"/>
            <a:endParaRPr lang="en-US" sz="1600" b="1" dirty="0">
              <a:solidFill>
                <a:srgbClr val="003F66"/>
              </a:solidFill>
              <a:latin typeface="Bookman Old Style" panose="02050604050505020204" pitchFamily="18" charset="0"/>
            </a:endParaRPr>
          </a:p>
          <a:p>
            <a:pPr algn="just"/>
            <a:r>
              <a:rPr lang="en-US" sz="1600" b="1" dirty="0">
                <a:solidFill>
                  <a:srgbClr val="003F66"/>
                </a:solidFill>
                <a:latin typeface="Bookman Old Style" panose="02050604050505020204" pitchFamily="18" charset="0"/>
              </a:rPr>
              <a:t>class Hello extends Hai implements A, B, C { </a:t>
            </a:r>
          </a:p>
          <a:p>
            <a:pPr algn="just"/>
            <a:r>
              <a:rPr lang="en-US" sz="1600" b="1" dirty="0">
                <a:solidFill>
                  <a:srgbClr val="003F66"/>
                </a:solidFill>
                <a:latin typeface="Bookman Old Style" panose="02050604050505020204" pitchFamily="18" charset="0"/>
              </a:rPr>
              <a:t>}</a:t>
            </a:r>
          </a:p>
        </p:txBody>
      </p:sp>
      <p:sp>
        <p:nvSpPr>
          <p:cNvPr id="7" name="TextBox 6">
            <a:extLst>
              <a:ext uri="{FF2B5EF4-FFF2-40B4-BE49-F238E27FC236}">
                <a16:creationId xmlns:a16="http://schemas.microsoft.com/office/drawing/2014/main" id="{9B8624F0-84FB-41C2-B2CF-D9721E309B94}"/>
              </a:ext>
            </a:extLst>
          </p:cNvPr>
          <p:cNvSpPr txBox="1"/>
          <p:nvPr/>
        </p:nvSpPr>
        <p:spPr>
          <a:xfrm>
            <a:off x="9594574" y="1444487"/>
            <a:ext cx="2464127" cy="1754326"/>
          </a:xfrm>
          <a:prstGeom prst="rect">
            <a:avLst/>
          </a:prstGeom>
          <a:noFill/>
        </p:spPr>
        <p:txBody>
          <a:bodyPr wrap="square" rtlCol="0">
            <a:spAutoFit/>
          </a:bodyPr>
          <a:lstStyle/>
          <a:p>
            <a:r>
              <a:rPr lang="en-US" b="1" dirty="0">
                <a:solidFill>
                  <a:srgbClr val="FF0000"/>
                </a:solidFill>
              </a:rPr>
              <a:t>A class can extend from only one super class.</a:t>
            </a:r>
          </a:p>
          <a:p>
            <a:endParaRPr lang="en-US" b="1" dirty="0">
              <a:solidFill>
                <a:srgbClr val="FF0000"/>
              </a:solidFill>
            </a:endParaRPr>
          </a:p>
          <a:p>
            <a:r>
              <a:rPr lang="en-US" b="1" dirty="0">
                <a:solidFill>
                  <a:srgbClr val="FF0000"/>
                </a:solidFill>
              </a:rPr>
              <a:t>A class can implement from any number of super interfaces</a:t>
            </a:r>
            <a:endParaRPr lang="en-IN" b="1" dirty="0">
              <a:solidFill>
                <a:srgbClr val="FF0000"/>
              </a:solidFill>
            </a:endParaRPr>
          </a:p>
        </p:txBody>
      </p:sp>
      <p:sp>
        <p:nvSpPr>
          <p:cNvPr id="8" name="Footer Placeholder 7">
            <a:extLst>
              <a:ext uri="{FF2B5EF4-FFF2-40B4-BE49-F238E27FC236}">
                <a16:creationId xmlns:a16="http://schemas.microsoft.com/office/drawing/2014/main" id="{6CEB2F06-5FE3-64DA-88EE-BA2C8BF7F906}"/>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7609319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338554"/>
              </a:xfrm>
              <a:prstGeom prst="rect">
                <a:avLst/>
              </a:prstGeom>
            </p:spPr>
            <p:txBody>
              <a:bodyPr wrap="square">
                <a:spAutoFit/>
              </a:bodyPr>
              <a:lstStyle/>
              <a:p>
                <a:pPr algn="ctr"/>
                <a:r>
                  <a:rPr lang="en-US" sz="1600" b="1" dirty="0">
                    <a:solidFill>
                      <a:schemeClr val="bg1"/>
                    </a:solidFill>
                    <a:latin typeface="Bookman Old Style" panose="02050604050505020204" pitchFamily="18" charset="0"/>
                  </a:rPr>
                  <a:t>Consequences of applying access specifiers on class</a:t>
                </a:r>
                <a:endParaRPr lang="en-US" sz="105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26" name="TextBox 25">
            <a:extLst>
              <a:ext uri="{FF2B5EF4-FFF2-40B4-BE49-F238E27FC236}">
                <a16:creationId xmlns:a16="http://schemas.microsoft.com/office/drawing/2014/main" id="{B2C2A70B-7F8A-469E-BCE2-06539EEB7566}"/>
              </a:ext>
            </a:extLst>
          </p:cNvPr>
          <p:cNvSpPr txBox="1"/>
          <p:nvPr/>
        </p:nvSpPr>
        <p:spPr>
          <a:xfrm>
            <a:off x="771389" y="733246"/>
            <a:ext cx="8611151" cy="5139869"/>
          </a:xfrm>
          <a:prstGeom prst="rect">
            <a:avLst/>
          </a:prstGeom>
          <a:noFill/>
        </p:spPr>
        <p:txBody>
          <a:bodyPr wrap="square">
            <a:spAutoFit/>
          </a:bodyPr>
          <a:lstStyle/>
          <a:p>
            <a:pPr algn="just"/>
            <a:r>
              <a:rPr lang="en-US" sz="2400" b="1" dirty="0">
                <a:solidFill>
                  <a:srgbClr val="003F66"/>
                </a:solidFill>
                <a:latin typeface="Bookman Old Style" panose="02050604050505020204" pitchFamily="18" charset="0"/>
              </a:rPr>
              <a:t>access specifiers on class:</a:t>
            </a:r>
          </a:p>
          <a:p>
            <a:pPr algn="just"/>
            <a:r>
              <a:rPr lang="en-US" sz="2400" b="1" dirty="0">
                <a:solidFill>
                  <a:srgbClr val="003F66"/>
                </a:solidFill>
                <a:latin typeface="Bookman Old Style" panose="02050604050505020204" pitchFamily="18" charset="0"/>
              </a:rPr>
              <a:t>--------------------------------------</a:t>
            </a:r>
          </a:p>
          <a:p>
            <a:pPr algn="just"/>
            <a:r>
              <a:rPr lang="en-US" sz="1400" b="1" dirty="0">
                <a:solidFill>
                  <a:srgbClr val="003F66"/>
                </a:solidFill>
                <a:latin typeface="Bookman Old Style" panose="02050604050505020204" pitchFamily="18" charset="0"/>
              </a:rPr>
              <a:t>private (NA):</a:t>
            </a:r>
            <a:r>
              <a:rPr lang="en-US" sz="1400" dirty="0">
                <a:solidFill>
                  <a:srgbClr val="003F66"/>
                </a:solidFill>
                <a:latin typeface="Bookman Old Style" panose="02050604050505020204" pitchFamily="18" charset="0"/>
              </a:rPr>
              <a:t> class members such as v, co, m are declared as private and they cannot be accessible outside of the class. But there is no meaning in declaring class as private. </a:t>
            </a:r>
            <a:r>
              <a:rPr lang="en-US" sz="1400" dirty="0">
                <a:solidFill>
                  <a:srgbClr val="FF0000"/>
                </a:solidFill>
                <a:latin typeface="Bookman Old Style" panose="02050604050505020204" pitchFamily="18" charset="0"/>
              </a:rPr>
              <a:t>Class cannot be declared as private</a:t>
            </a:r>
            <a:r>
              <a:rPr lang="en-US" sz="1400" dirty="0">
                <a:solidFill>
                  <a:srgbClr val="003F66"/>
                </a:solidFill>
                <a:latin typeface="Bookman Old Style" panose="02050604050505020204" pitchFamily="18" charset="0"/>
              </a:rPr>
              <a:t>, instead their members can be declared as private.</a:t>
            </a:r>
          </a:p>
          <a:p>
            <a:pPr algn="just"/>
            <a:endParaRPr lang="en-US" sz="1400" dirty="0">
              <a:solidFill>
                <a:srgbClr val="003F66"/>
              </a:solidFill>
              <a:latin typeface="Bookman Old Style" panose="02050604050505020204" pitchFamily="18" charset="0"/>
            </a:endParaRPr>
          </a:p>
          <a:p>
            <a:pPr algn="just"/>
            <a:r>
              <a:rPr lang="en-US" sz="1400" b="1" dirty="0">
                <a:solidFill>
                  <a:srgbClr val="003F66"/>
                </a:solidFill>
                <a:latin typeface="Bookman Old Style" panose="02050604050505020204" pitchFamily="18" charset="0"/>
              </a:rPr>
              <a:t>default (A):</a:t>
            </a:r>
            <a:r>
              <a:rPr lang="en-US" sz="1400" dirty="0">
                <a:solidFill>
                  <a:srgbClr val="003F66"/>
                </a:solidFill>
                <a:latin typeface="Bookman Old Style" panose="02050604050505020204" pitchFamily="18" charset="0"/>
              </a:rPr>
              <a:t> default access specifier classes can be accessible only within the directory though package is declared.</a:t>
            </a:r>
          </a:p>
          <a:p>
            <a:pPr algn="just"/>
            <a:r>
              <a:rPr lang="en-US" sz="1400" dirty="0">
                <a:solidFill>
                  <a:srgbClr val="003F66"/>
                </a:solidFill>
                <a:latin typeface="Bookman Old Style" panose="02050604050505020204" pitchFamily="18" charset="0"/>
              </a:rPr>
              <a:t>	package pack1; </a:t>
            </a:r>
            <a:r>
              <a:rPr lang="en-US" sz="1400" dirty="0">
                <a:solidFill>
                  <a:srgbClr val="FF0000"/>
                </a:solidFill>
                <a:latin typeface="Bookman Old Style" panose="02050604050505020204" pitchFamily="18" charset="0"/>
              </a:rPr>
              <a:t>// Not a public class hence no use</a:t>
            </a:r>
            <a:endParaRPr lang="en-US" sz="1400" dirty="0">
              <a:solidFill>
                <a:srgbClr val="003F66"/>
              </a:solidFill>
              <a:latin typeface="Bookman Old Style" panose="02050604050505020204" pitchFamily="18" charset="0"/>
            </a:endParaRPr>
          </a:p>
          <a:p>
            <a:pPr algn="just"/>
            <a:r>
              <a:rPr lang="en-US" sz="1400" dirty="0">
                <a:solidFill>
                  <a:srgbClr val="003F66"/>
                </a:solidFill>
                <a:latin typeface="Bookman Old Style" panose="02050604050505020204" pitchFamily="18" charset="0"/>
              </a:rPr>
              <a:t>	class A { }</a:t>
            </a:r>
            <a:endParaRPr lang="en-US" sz="1400" dirty="0">
              <a:solidFill>
                <a:srgbClr val="FF0000"/>
              </a:solidFill>
              <a:latin typeface="Bookman Old Style" panose="02050604050505020204" pitchFamily="18" charset="0"/>
            </a:endParaRPr>
          </a:p>
          <a:p>
            <a:pPr algn="just"/>
            <a:r>
              <a:rPr lang="en-US" sz="1400" dirty="0">
                <a:solidFill>
                  <a:srgbClr val="003F66"/>
                </a:solidFill>
                <a:latin typeface="Bookman Old Style" panose="02050604050505020204" pitchFamily="18" charset="0"/>
              </a:rPr>
              <a:t>	</a:t>
            </a:r>
          </a:p>
          <a:p>
            <a:pPr algn="just"/>
            <a:r>
              <a:rPr lang="en-US" sz="1400" dirty="0">
                <a:solidFill>
                  <a:srgbClr val="003F66"/>
                </a:solidFill>
                <a:latin typeface="Bookman Old Style" panose="02050604050505020204" pitchFamily="18" charset="0"/>
              </a:rPr>
              <a:t>	public class B { } </a:t>
            </a:r>
            <a:r>
              <a:rPr lang="en-US" sz="1400" dirty="0">
                <a:solidFill>
                  <a:srgbClr val="FF0000"/>
                </a:solidFill>
                <a:latin typeface="Bookman Old Style" panose="02050604050505020204" pitchFamily="18" charset="0"/>
              </a:rPr>
              <a:t>// No package; hence no use</a:t>
            </a:r>
          </a:p>
          <a:p>
            <a:pPr algn="just"/>
            <a:endParaRPr lang="en-US" sz="1400" dirty="0">
              <a:solidFill>
                <a:srgbClr val="FF0000"/>
              </a:solidFill>
              <a:latin typeface="Bookman Old Style" panose="02050604050505020204" pitchFamily="18" charset="0"/>
            </a:endParaRPr>
          </a:p>
          <a:p>
            <a:pPr algn="just"/>
            <a:r>
              <a:rPr lang="en-US" sz="1400" dirty="0">
                <a:solidFill>
                  <a:srgbClr val="003F66"/>
                </a:solidFill>
                <a:latin typeface="Bookman Old Style" panose="02050604050505020204" pitchFamily="18" charset="0"/>
              </a:rPr>
              <a:t>	package pack1; </a:t>
            </a:r>
            <a:r>
              <a:rPr lang="en-US" sz="1400" dirty="0">
                <a:solidFill>
                  <a:srgbClr val="FF0000"/>
                </a:solidFill>
                <a:latin typeface="Bookman Old Style" panose="02050604050505020204" pitchFamily="18" charset="0"/>
              </a:rPr>
              <a:t>// Not a public class hence no use</a:t>
            </a:r>
            <a:endParaRPr lang="en-US" sz="1400" dirty="0">
              <a:solidFill>
                <a:srgbClr val="003F66"/>
              </a:solidFill>
              <a:latin typeface="Bookman Old Style" panose="02050604050505020204" pitchFamily="18" charset="0"/>
            </a:endParaRPr>
          </a:p>
          <a:p>
            <a:pPr algn="just"/>
            <a:r>
              <a:rPr lang="en-US" sz="1400" dirty="0">
                <a:solidFill>
                  <a:srgbClr val="003F66"/>
                </a:solidFill>
                <a:latin typeface="Bookman Old Style" panose="02050604050505020204" pitchFamily="18" charset="0"/>
              </a:rPr>
              <a:t>	public class C { }</a:t>
            </a:r>
            <a:endParaRPr lang="en-US" sz="1400" dirty="0">
              <a:solidFill>
                <a:srgbClr val="FF0000"/>
              </a:solidFill>
              <a:latin typeface="Bookman Old Style" panose="02050604050505020204" pitchFamily="18" charset="0"/>
            </a:endParaRPr>
          </a:p>
          <a:p>
            <a:pPr algn="just"/>
            <a:endParaRPr lang="en-US" sz="1400" dirty="0">
              <a:solidFill>
                <a:srgbClr val="FF0000"/>
              </a:solidFill>
              <a:latin typeface="Bookman Old Style" panose="02050604050505020204" pitchFamily="18" charset="0"/>
            </a:endParaRPr>
          </a:p>
          <a:p>
            <a:pPr algn="just"/>
            <a:endParaRPr lang="en-US" sz="1400" dirty="0">
              <a:solidFill>
                <a:srgbClr val="003F66"/>
              </a:solidFill>
              <a:latin typeface="Bookman Old Style" panose="02050604050505020204" pitchFamily="18" charset="0"/>
            </a:endParaRPr>
          </a:p>
          <a:p>
            <a:pPr algn="just"/>
            <a:r>
              <a:rPr lang="en-US" sz="1400" b="1" dirty="0">
                <a:solidFill>
                  <a:srgbClr val="003F66"/>
                </a:solidFill>
                <a:latin typeface="Bookman Old Style" panose="02050604050505020204" pitchFamily="18" charset="0"/>
              </a:rPr>
              <a:t>protected (NA):</a:t>
            </a:r>
            <a:r>
              <a:rPr lang="en-US" sz="1400" dirty="0">
                <a:solidFill>
                  <a:srgbClr val="003F66"/>
                </a:solidFill>
                <a:latin typeface="Bookman Old Style" panose="02050604050505020204" pitchFamily="18" charset="0"/>
              </a:rPr>
              <a:t> members can be accessible up-to sub classes outside the package. </a:t>
            </a:r>
            <a:r>
              <a:rPr lang="en-US" sz="1400" dirty="0">
                <a:solidFill>
                  <a:srgbClr val="FF0000"/>
                </a:solidFill>
                <a:latin typeface="Bookman Old Style" panose="02050604050505020204" pitchFamily="18" charset="0"/>
              </a:rPr>
              <a:t>But class cannot be declared as protected</a:t>
            </a:r>
            <a:r>
              <a:rPr lang="en-US" sz="1400" dirty="0">
                <a:solidFill>
                  <a:srgbClr val="003F66"/>
                </a:solidFill>
                <a:latin typeface="Bookman Old Style" panose="02050604050505020204" pitchFamily="18" charset="0"/>
              </a:rPr>
              <a:t>.</a:t>
            </a:r>
          </a:p>
          <a:p>
            <a:pPr algn="just"/>
            <a:endParaRPr lang="en-US" sz="1400" dirty="0">
              <a:solidFill>
                <a:srgbClr val="003F66"/>
              </a:solidFill>
              <a:latin typeface="Bookman Old Style" panose="02050604050505020204" pitchFamily="18" charset="0"/>
            </a:endParaRPr>
          </a:p>
          <a:p>
            <a:pPr algn="just"/>
            <a:r>
              <a:rPr lang="en-US" sz="1400" b="1" dirty="0">
                <a:solidFill>
                  <a:srgbClr val="003F66"/>
                </a:solidFill>
                <a:latin typeface="Bookman Old Style" panose="02050604050505020204" pitchFamily="18" charset="0"/>
              </a:rPr>
              <a:t>public (A):</a:t>
            </a:r>
            <a:r>
              <a:rPr lang="en-US" sz="1400" dirty="0">
                <a:solidFill>
                  <a:srgbClr val="003F66"/>
                </a:solidFill>
                <a:latin typeface="Bookman Old Style" panose="02050604050505020204" pitchFamily="18" charset="0"/>
              </a:rPr>
              <a:t> can be accessible anywhere in the system. If want to be accessible then package declaration and classpath up-to package parent directory updation is must.</a:t>
            </a:r>
          </a:p>
        </p:txBody>
      </p:sp>
      <p:sp>
        <p:nvSpPr>
          <p:cNvPr id="7" name="TextBox 6">
            <a:extLst>
              <a:ext uri="{FF2B5EF4-FFF2-40B4-BE49-F238E27FC236}">
                <a16:creationId xmlns:a16="http://schemas.microsoft.com/office/drawing/2014/main" id="{DC0FD8E3-4ADF-4A93-91F7-FB92165DE3A8}"/>
              </a:ext>
            </a:extLst>
          </p:cNvPr>
          <p:cNvSpPr txBox="1"/>
          <p:nvPr/>
        </p:nvSpPr>
        <p:spPr>
          <a:xfrm>
            <a:off x="9647583" y="1524000"/>
            <a:ext cx="2279373" cy="2031325"/>
          </a:xfrm>
          <a:prstGeom prst="rect">
            <a:avLst/>
          </a:prstGeom>
          <a:noFill/>
        </p:spPr>
        <p:txBody>
          <a:bodyPr wrap="square" rtlCol="0">
            <a:spAutoFit/>
          </a:bodyPr>
          <a:lstStyle/>
          <a:p>
            <a:r>
              <a:rPr lang="en-US" dirty="0">
                <a:solidFill>
                  <a:srgbClr val="FF0000"/>
                </a:solidFill>
              </a:rPr>
              <a:t>accessible means inherited or instantiated</a:t>
            </a:r>
          </a:p>
          <a:p>
            <a:endParaRPr lang="en-US" dirty="0">
              <a:solidFill>
                <a:srgbClr val="FF0000"/>
              </a:solidFill>
            </a:endParaRPr>
          </a:p>
          <a:p>
            <a:r>
              <a:rPr lang="en-US" dirty="0">
                <a:solidFill>
                  <a:srgbClr val="FF0000"/>
                </a:solidFill>
              </a:rPr>
              <a:t>extends</a:t>
            </a:r>
          </a:p>
          <a:p>
            <a:r>
              <a:rPr lang="en-US" dirty="0">
                <a:solidFill>
                  <a:srgbClr val="FF0000"/>
                </a:solidFill>
              </a:rPr>
              <a:t>(or)</a:t>
            </a:r>
          </a:p>
          <a:p>
            <a:r>
              <a:rPr lang="en-US" dirty="0">
                <a:solidFill>
                  <a:srgbClr val="FF0000"/>
                </a:solidFill>
              </a:rPr>
              <a:t>object creation</a:t>
            </a:r>
            <a:endParaRPr lang="en-IN" dirty="0">
              <a:solidFill>
                <a:srgbClr val="FF0000"/>
              </a:solidFill>
            </a:endParaRPr>
          </a:p>
        </p:txBody>
      </p:sp>
      <p:cxnSp>
        <p:nvCxnSpPr>
          <p:cNvPr id="9" name="Straight Arrow Connector 8">
            <a:extLst>
              <a:ext uri="{FF2B5EF4-FFF2-40B4-BE49-F238E27FC236}">
                <a16:creationId xmlns:a16="http://schemas.microsoft.com/office/drawing/2014/main" id="{AAA2B51F-7E1D-491D-A59F-03B766ED95A1}"/>
              </a:ext>
            </a:extLst>
          </p:cNvPr>
          <p:cNvCxnSpPr>
            <a:cxnSpLocks/>
          </p:cNvCxnSpPr>
          <p:nvPr/>
        </p:nvCxnSpPr>
        <p:spPr>
          <a:xfrm flipV="1">
            <a:off x="7328452" y="2460974"/>
            <a:ext cx="2319131" cy="571365"/>
          </a:xfrm>
          <a:prstGeom prst="straightConnector1">
            <a:avLst/>
          </a:prstGeom>
          <a:ln w="76200">
            <a:tailEnd type="triangle"/>
          </a:ln>
          <a:effectLst>
            <a:glow rad="228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8" name="Footer Placeholder 7">
            <a:extLst>
              <a:ext uri="{FF2B5EF4-FFF2-40B4-BE49-F238E27FC236}">
                <a16:creationId xmlns:a16="http://schemas.microsoft.com/office/drawing/2014/main" id="{F1610D41-F404-18D4-457A-7B84D9B9134E}"/>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7155272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338554"/>
              </a:xfrm>
              <a:prstGeom prst="rect">
                <a:avLst/>
              </a:prstGeom>
            </p:spPr>
            <p:txBody>
              <a:bodyPr wrap="square">
                <a:spAutoFit/>
              </a:bodyPr>
              <a:lstStyle/>
              <a:p>
                <a:pPr algn="ctr"/>
                <a:r>
                  <a:rPr lang="en-US" sz="1600" b="1" dirty="0">
                    <a:solidFill>
                      <a:schemeClr val="bg1"/>
                    </a:solidFill>
                    <a:latin typeface="Bookman Old Style" panose="02050604050505020204" pitchFamily="18" charset="0"/>
                  </a:rPr>
                  <a:t>Consequences of applying access specifiers on class</a:t>
                </a:r>
                <a:endParaRPr lang="en-US" sz="105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26" name="TextBox 25">
            <a:extLst>
              <a:ext uri="{FF2B5EF4-FFF2-40B4-BE49-F238E27FC236}">
                <a16:creationId xmlns:a16="http://schemas.microsoft.com/office/drawing/2014/main" id="{B2C2A70B-7F8A-469E-BCE2-06539EEB7566}"/>
              </a:ext>
            </a:extLst>
          </p:cNvPr>
          <p:cNvSpPr txBox="1"/>
          <p:nvPr/>
        </p:nvSpPr>
        <p:spPr>
          <a:xfrm>
            <a:off x="675860" y="1233699"/>
            <a:ext cx="8611151" cy="4031873"/>
          </a:xfrm>
          <a:prstGeom prst="rect">
            <a:avLst/>
          </a:prstGeom>
          <a:noFill/>
        </p:spPr>
        <p:txBody>
          <a:bodyPr wrap="square">
            <a:spAutoFit/>
          </a:bodyPr>
          <a:lstStyle/>
          <a:p>
            <a:pPr algn="just"/>
            <a:r>
              <a:rPr lang="en-US" sz="2800" b="1" dirty="0">
                <a:solidFill>
                  <a:srgbClr val="003F66"/>
                </a:solidFill>
                <a:latin typeface="Bookman Old Style" panose="02050604050505020204" pitchFamily="18" charset="0"/>
              </a:rPr>
              <a:t>access modifiers on class:</a:t>
            </a:r>
          </a:p>
          <a:p>
            <a:pPr algn="just"/>
            <a:r>
              <a:rPr lang="en-US" sz="2800" b="1" dirty="0">
                <a:solidFill>
                  <a:srgbClr val="003F66"/>
                </a:solidFill>
                <a:latin typeface="Bookman Old Style" panose="02050604050505020204" pitchFamily="18" charset="0"/>
              </a:rPr>
              <a:t>-------------------------------------- </a:t>
            </a:r>
          </a:p>
          <a:p>
            <a:pPr algn="just"/>
            <a:r>
              <a:rPr lang="en-US" sz="2400" b="1" u="sng" dirty="0">
                <a:solidFill>
                  <a:srgbClr val="003F66"/>
                </a:solidFill>
                <a:latin typeface="Bookman Old Style" panose="02050604050505020204" pitchFamily="18" charset="0"/>
              </a:rPr>
              <a:t>abstract:</a:t>
            </a:r>
            <a:r>
              <a:rPr lang="en-US" sz="2400" b="1" dirty="0">
                <a:solidFill>
                  <a:srgbClr val="003F66"/>
                </a:solidFill>
                <a:latin typeface="Bookman Old Style" panose="02050604050505020204" pitchFamily="18" charset="0"/>
              </a:rPr>
              <a:t> </a:t>
            </a:r>
            <a:endParaRPr lang="en-US" sz="1600" b="1" dirty="0">
              <a:solidFill>
                <a:srgbClr val="003F66"/>
              </a:solidFill>
              <a:latin typeface="Bookman Old Style" panose="02050604050505020204" pitchFamily="18" charset="0"/>
            </a:endParaRPr>
          </a:p>
          <a:p>
            <a:pPr marL="285750" indent="-285750" algn="just">
              <a:buFont typeface="Wingdings" panose="05000000000000000000" pitchFamily="2" charset="2"/>
              <a:buChar char="v"/>
            </a:pPr>
            <a:r>
              <a:rPr lang="en-US" sz="1600" dirty="0">
                <a:solidFill>
                  <a:srgbClr val="003F66"/>
                </a:solidFill>
                <a:latin typeface="Bookman Old Style" panose="02050604050505020204" pitchFamily="18" charset="0"/>
              </a:rPr>
              <a:t>abstract means unclear or not fully implemented. If class contains abstract method(s) - unimplemented methods - only declared methods, then it must be declared as abstract. </a:t>
            </a:r>
          </a:p>
          <a:p>
            <a:pPr marL="285750" indent="-285750" algn="just">
              <a:buFont typeface="Wingdings" panose="05000000000000000000" pitchFamily="2" charset="2"/>
              <a:buChar char="v"/>
            </a:pPr>
            <a:endParaRPr lang="en-US" sz="1600" dirty="0">
              <a:solidFill>
                <a:srgbClr val="003F66"/>
              </a:solidFill>
              <a:latin typeface="Bookman Old Style" panose="02050604050505020204" pitchFamily="18" charset="0"/>
            </a:endParaRPr>
          </a:p>
          <a:p>
            <a:pPr marL="285750" indent="-285750" algn="just">
              <a:buFont typeface="Wingdings" panose="05000000000000000000" pitchFamily="2" charset="2"/>
              <a:buChar char="v"/>
            </a:pPr>
            <a:r>
              <a:rPr lang="en-US" sz="1600" dirty="0">
                <a:solidFill>
                  <a:srgbClr val="003F66"/>
                </a:solidFill>
                <a:latin typeface="Bookman Old Style" panose="02050604050505020204" pitchFamily="18" charset="0"/>
              </a:rPr>
              <a:t>But it is not mandatory that abstract class must contain abstract methods. </a:t>
            </a:r>
          </a:p>
          <a:p>
            <a:pPr marL="285750" indent="-285750" algn="just">
              <a:buFont typeface="Wingdings" panose="05000000000000000000" pitchFamily="2" charset="2"/>
              <a:buChar char="v"/>
            </a:pPr>
            <a:endParaRPr lang="en-US" sz="1600" dirty="0">
              <a:solidFill>
                <a:srgbClr val="003F66"/>
              </a:solidFill>
              <a:latin typeface="Bookman Old Style" panose="02050604050505020204" pitchFamily="18" charset="0"/>
            </a:endParaRPr>
          </a:p>
          <a:p>
            <a:pPr marL="285750" indent="-285750" algn="just">
              <a:buFont typeface="Wingdings" panose="05000000000000000000" pitchFamily="2" charset="2"/>
              <a:buChar char="v"/>
            </a:pPr>
            <a:r>
              <a:rPr lang="en-US" sz="1600" dirty="0">
                <a:solidFill>
                  <a:srgbClr val="003F66"/>
                </a:solidFill>
                <a:latin typeface="Bookman Old Style" panose="02050604050505020204" pitchFamily="18" charset="0"/>
              </a:rPr>
              <a:t>Classes which do not want to be instantiated are also declared as abstract. </a:t>
            </a:r>
          </a:p>
          <a:p>
            <a:pPr marL="285750" indent="-285750" algn="just">
              <a:buFont typeface="Wingdings" panose="05000000000000000000" pitchFamily="2" charset="2"/>
              <a:buChar char="v"/>
            </a:pPr>
            <a:endParaRPr lang="en-US" sz="1600" dirty="0">
              <a:solidFill>
                <a:srgbClr val="003F66"/>
              </a:solidFill>
              <a:latin typeface="Bookman Old Style" panose="02050604050505020204" pitchFamily="18" charset="0"/>
            </a:endParaRPr>
          </a:p>
          <a:p>
            <a:pPr marL="285750" indent="-285750" algn="just">
              <a:buFont typeface="Wingdings" panose="05000000000000000000" pitchFamily="2" charset="2"/>
              <a:buChar char="v"/>
            </a:pPr>
            <a:r>
              <a:rPr lang="en-US" sz="1600" dirty="0">
                <a:solidFill>
                  <a:srgbClr val="003F66"/>
                </a:solidFill>
                <a:latin typeface="Bookman Old Style" panose="02050604050505020204" pitchFamily="18" charset="0"/>
              </a:rPr>
              <a:t>abstract class methods are implemented in sub classes. </a:t>
            </a:r>
          </a:p>
          <a:p>
            <a:pPr marL="285750" indent="-285750" algn="just">
              <a:buFont typeface="Wingdings" panose="05000000000000000000" pitchFamily="2" charset="2"/>
              <a:buChar char="v"/>
            </a:pPr>
            <a:endParaRPr lang="en-US" sz="1600" dirty="0">
              <a:solidFill>
                <a:srgbClr val="003F66"/>
              </a:solidFill>
              <a:latin typeface="Bookman Old Style" panose="02050604050505020204" pitchFamily="18" charset="0"/>
            </a:endParaRPr>
          </a:p>
          <a:p>
            <a:pPr marL="285750" indent="-285750" algn="just">
              <a:buFont typeface="Wingdings" panose="05000000000000000000" pitchFamily="2" charset="2"/>
              <a:buChar char="v"/>
            </a:pPr>
            <a:r>
              <a:rPr lang="en-US" sz="1600" dirty="0">
                <a:solidFill>
                  <a:srgbClr val="003F66"/>
                </a:solidFill>
                <a:latin typeface="Bookman Old Style" panose="02050604050505020204" pitchFamily="18" charset="0"/>
              </a:rPr>
              <a:t>abstract class cannot be instantiated, but can only be inherited.</a:t>
            </a:r>
            <a:endParaRPr lang="en-US" sz="1050" dirty="0">
              <a:solidFill>
                <a:srgbClr val="003F66"/>
              </a:solidFill>
              <a:latin typeface="Bookman Old Style" panose="02050604050505020204" pitchFamily="18" charset="0"/>
            </a:endParaRPr>
          </a:p>
        </p:txBody>
      </p:sp>
      <p:sp>
        <p:nvSpPr>
          <p:cNvPr id="7" name="Footer Placeholder 6">
            <a:extLst>
              <a:ext uri="{FF2B5EF4-FFF2-40B4-BE49-F238E27FC236}">
                <a16:creationId xmlns:a16="http://schemas.microsoft.com/office/drawing/2014/main" id="{757651F8-7989-8512-F09F-9C10C0F915A6}"/>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1671357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338554"/>
              </a:xfrm>
              <a:prstGeom prst="rect">
                <a:avLst/>
              </a:prstGeom>
            </p:spPr>
            <p:txBody>
              <a:bodyPr wrap="square">
                <a:spAutoFit/>
              </a:bodyPr>
              <a:lstStyle/>
              <a:p>
                <a:pPr algn="ctr"/>
                <a:r>
                  <a:rPr lang="en-US" sz="1600" b="1" dirty="0">
                    <a:solidFill>
                      <a:schemeClr val="bg1"/>
                    </a:solidFill>
                    <a:latin typeface="Bookman Old Style" panose="02050604050505020204" pitchFamily="18" charset="0"/>
                  </a:rPr>
                  <a:t>Consequences of applying access specifiers on class</a:t>
                </a:r>
                <a:endParaRPr lang="en-US" sz="105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26" name="TextBox 25">
            <a:extLst>
              <a:ext uri="{FF2B5EF4-FFF2-40B4-BE49-F238E27FC236}">
                <a16:creationId xmlns:a16="http://schemas.microsoft.com/office/drawing/2014/main" id="{B2C2A70B-7F8A-469E-BCE2-06539EEB7566}"/>
              </a:ext>
            </a:extLst>
          </p:cNvPr>
          <p:cNvSpPr txBox="1"/>
          <p:nvPr/>
        </p:nvSpPr>
        <p:spPr>
          <a:xfrm>
            <a:off x="675860" y="682372"/>
            <a:ext cx="8611151" cy="1323439"/>
          </a:xfrm>
          <a:prstGeom prst="rect">
            <a:avLst/>
          </a:prstGeom>
          <a:noFill/>
        </p:spPr>
        <p:txBody>
          <a:bodyPr wrap="square">
            <a:spAutoFit/>
          </a:bodyPr>
          <a:lstStyle/>
          <a:p>
            <a:pPr algn="just"/>
            <a:r>
              <a:rPr lang="en-US" sz="2800" b="1" dirty="0">
                <a:solidFill>
                  <a:srgbClr val="003F66"/>
                </a:solidFill>
                <a:latin typeface="Bookman Old Style" panose="02050604050505020204" pitchFamily="18" charset="0"/>
              </a:rPr>
              <a:t>access modifiers on class:</a:t>
            </a:r>
          </a:p>
          <a:p>
            <a:pPr algn="just"/>
            <a:r>
              <a:rPr lang="en-US" sz="2800" b="1" dirty="0">
                <a:solidFill>
                  <a:srgbClr val="003F66"/>
                </a:solidFill>
                <a:latin typeface="Bookman Old Style" panose="02050604050505020204" pitchFamily="18" charset="0"/>
              </a:rPr>
              <a:t>-------------------------------------- </a:t>
            </a:r>
          </a:p>
          <a:p>
            <a:pPr algn="just"/>
            <a:r>
              <a:rPr lang="en-US" sz="2400" b="1" u="sng" dirty="0">
                <a:solidFill>
                  <a:srgbClr val="003F66"/>
                </a:solidFill>
                <a:latin typeface="Bookman Old Style" panose="02050604050505020204" pitchFamily="18" charset="0"/>
              </a:rPr>
              <a:t>abstract class example:</a:t>
            </a:r>
            <a:endParaRPr lang="en-US" sz="1600" b="1" dirty="0">
              <a:solidFill>
                <a:srgbClr val="003F66"/>
              </a:solidFill>
              <a:latin typeface="Bookman Old Style" panose="02050604050505020204" pitchFamily="18" charset="0"/>
            </a:endParaRPr>
          </a:p>
        </p:txBody>
      </p:sp>
      <p:sp>
        <p:nvSpPr>
          <p:cNvPr id="19" name="TextBox 18">
            <a:extLst>
              <a:ext uri="{FF2B5EF4-FFF2-40B4-BE49-F238E27FC236}">
                <a16:creationId xmlns:a16="http://schemas.microsoft.com/office/drawing/2014/main" id="{C5AEB1B9-DBD7-4716-B7A4-C9FA0B07D7F0}"/>
              </a:ext>
            </a:extLst>
          </p:cNvPr>
          <p:cNvSpPr txBox="1"/>
          <p:nvPr/>
        </p:nvSpPr>
        <p:spPr>
          <a:xfrm>
            <a:off x="657912" y="1989193"/>
            <a:ext cx="7465671" cy="1754326"/>
          </a:xfrm>
          <a:prstGeom prst="rect">
            <a:avLst/>
          </a:prstGeom>
          <a:noFill/>
        </p:spPr>
        <p:txBody>
          <a:bodyPr wrap="square">
            <a:spAutoFit/>
          </a:bodyPr>
          <a:lstStyle/>
          <a:p>
            <a:pPr algn="just"/>
            <a:r>
              <a:rPr lang="en-US" sz="1800" dirty="0">
                <a:solidFill>
                  <a:srgbClr val="003F66"/>
                </a:solidFill>
                <a:latin typeface="Bookman Old Style" panose="02050604050505020204" pitchFamily="18" charset="0"/>
              </a:rPr>
              <a:t>public abstract class </a:t>
            </a:r>
            <a:r>
              <a:rPr lang="en-US" sz="1800" dirty="0" err="1">
                <a:solidFill>
                  <a:srgbClr val="003F66"/>
                </a:solidFill>
                <a:latin typeface="Bookman Old Style" panose="02050604050505020204" pitchFamily="18" charset="0"/>
              </a:rPr>
              <a:t>AbstractClass</a:t>
            </a:r>
            <a:r>
              <a:rPr lang="en-US" sz="1800" dirty="0">
                <a:solidFill>
                  <a:srgbClr val="003F66"/>
                </a:solidFill>
                <a:latin typeface="Bookman Old Style" panose="02050604050505020204" pitchFamily="18" charset="0"/>
              </a:rPr>
              <a:t> {</a:t>
            </a:r>
          </a:p>
          <a:p>
            <a:pPr algn="just"/>
            <a:r>
              <a:rPr lang="en-US" sz="1800" dirty="0">
                <a:solidFill>
                  <a:srgbClr val="003F66"/>
                </a:solidFill>
                <a:latin typeface="Bookman Old Style" panose="02050604050505020204" pitchFamily="18" charset="0"/>
              </a:rPr>
              <a:t>	abstract void m1(); // abstract methods</a:t>
            </a:r>
          </a:p>
          <a:p>
            <a:pPr algn="just"/>
            <a:r>
              <a:rPr lang="en-US" sz="1800" dirty="0">
                <a:solidFill>
                  <a:srgbClr val="003F66"/>
                </a:solidFill>
                <a:latin typeface="Bookman Old Style" panose="02050604050505020204" pitchFamily="18" charset="0"/>
              </a:rPr>
              <a:t>	abstract void m2(); // must be implemented in sub class</a:t>
            </a:r>
          </a:p>
          <a:p>
            <a:pPr algn="just"/>
            <a:r>
              <a:rPr lang="en-US" sz="1800" dirty="0">
                <a:solidFill>
                  <a:srgbClr val="003F66"/>
                </a:solidFill>
                <a:latin typeface="Bookman Old Style" panose="02050604050505020204" pitchFamily="18" charset="0"/>
              </a:rPr>
              <a:t>	void m3() {}</a:t>
            </a:r>
          </a:p>
          <a:p>
            <a:pPr algn="just"/>
            <a:r>
              <a:rPr lang="en-US" sz="1800" dirty="0">
                <a:solidFill>
                  <a:srgbClr val="003F66"/>
                </a:solidFill>
                <a:latin typeface="Bookman Old Style" panose="02050604050505020204" pitchFamily="18" charset="0"/>
              </a:rPr>
              <a:t>	void m4() {}</a:t>
            </a:r>
          </a:p>
          <a:p>
            <a:pPr algn="just"/>
            <a:r>
              <a:rPr lang="en-US" sz="1800" dirty="0">
                <a:solidFill>
                  <a:srgbClr val="003F66"/>
                </a:solidFill>
                <a:latin typeface="Bookman Old Style" panose="02050604050505020204" pitchFamily="18" charset="0"/>
              </a:rPr>
              <a:t>}</a:t>
            </a:r>
            <a:endParaRPr lang="en-IN" dirty="0"/>
          </a:p>
        </p:txBody>
      </p:sp>
      <p:sp>
        <p:nvSpPr>
          <p:cNvPr id="24" name="TextBox 23">
            <a:extLst>
              <a:ext uri="{FF2B5EF4-FFF2-40B4-BE49-F238E27FC236}">
                <a16:creationId xmlns:a16="http://schemas.microsoft.com/office/drawing/2014/main" id="{A8B1A79A-9D5E-44A5-A23C-E123DD40E575}"/>
              </a:ext>
            </a:extLst>
          </p:cNvPr>
          <p:cNvSpPr txBox="1"/>
          <p:nvPr/>
        </p:nvSpPr>
        <p:spPr>
          <a:xfrm>
            <a:off x="708192" y="4451289"/>
            <a:ext cx="5884661" cy="1477328"/>
          </a:xfrm>
          <a:prstGeom prst="rect">
            <a:avLst/>
          </a:prstGeom>
          <a:noFill/>
        </p:spPr>
        <p:txBody>
          <a:bodyPr wrap="square">
            <a:spAutoFit/>
          </a:bodyPr>
          <a:lstStyle/>
          <a:p>
            <a:pPr algn="just"/>
            <a:r>
              <a:rPr lang="en-US" sz="1800" dirty="0">
                <a:solidFill>
                  <a:srgbClr val="003F66"/>
                </a:solidFill>
                <a:latin typeface="Bookman Old Style" panose="02050604050505020204" pitchFamily="18" charset="0"/>
              </a:rPr>
              <a:t>public class </a:t>
            </a:r>
            <a:r>
              <a:rPr lang="en-US" sz="1800" dirty="0" err="1">
                <a:solidFill>
                  <a:srgbClr val="003F66"/>
                </a:solidFill>
                <a:latin typeface="Bookman Old Style" panose="02050604050505020204" pitchFamily="18" charset="0"/>
              </a:rPr>
              <a:t>ACSubClass</a:t>
            </a:r>
            <a:r>
              <a:rPr lang="en-US" sz="1800" dirty="0">
                <a:solidFill>
                  <a:srgbClr val="003F66"/>
                </a:solidFill>
                <a:latin typeface="Bookman Old Style" panose="02050604050505020204" pitchFamily="18" charset="0"/>
              </a:rPr>
              <a:t> extends </a:t>
            </a:r>
            <a:r>
              <a:rPr lang="en-US" sz="1800" dirty="0" err="1">
                <a:solidFill>
                  <a:srgbClr val="003F66"/>
                </a:solidFill>
                <a:latin typeface="Bookman Old Style" panose="02050604050505020204" pitchFamily="18" charset="0"/>
              </a:rPr>
              <a:t>AbstractClass</a:t>
            </a:r>
            <a:r>
              <a:rPr lang="en-US" sz="1800" dirty="0">
                <a:solidFill>
                  <a:srgbClr val="003F66"/>
                </a:solidFill>
                <a:latin typeface="Bookman Old Style" panose="02050604050505020204" pitchFamily="18" charset="0"/>
              </a:rPr>
              <a:t> {</a:t>
            </a:r>
          </a:p>
          <a:p>
            <a:pPr algn="just"/>
            <a:r>
              <a:rPr lang="en-US" sz="1800" dirty="0">
                <a:solidFill>
                  <a:srgbClr val="003F66"/>
                </a:solidFill>
                <a:latin typeface="Bookman Old Style" panose="02050604050505020204" pitchFamily="18" charset="0"/>
              </a:rPr>
              <a:t>	void m1() {} // must to implement</a:t>
            </a:r>
          </a:p>
          <a:p>
            <a:pPr algn="just"/>
            <a:r>
              <a:rPr lang="en-US" sz="1800" dirty="0">
                <a:solidFill>
                  <a:srgbClr val="003F66"/>
                </a:solidFill>
                <a:latin typeface="Bookman Old Style" panose="02050604050505020204" pitchFamily="18" charset="0"/>
              </a:rPr>
              <a:t>	void m2() {} // must to implement</a:t>
            </a:r>
          </a:p>
          <a:p>
            <a:pPr algn="just"/>
            <a:r>
              <a:rPr lang="en-US" sz="1800" dirty="0">
                <a:solidFill>
                  <a:srgbClr val="003F66"/>
                </a:solidFill>
                <a:latin typeface="Bookman Old Style" panose="02050604050505020204" pitchFamily="18" charset="0"/>
              </a:rPr>
              <a:t>	void m3() {} //can be optionally override</a:t>
            </a:r>
          </a:p>
          <a:p>
            <a:pPr algn="just"/>
            <a:r>
              <a:rPr lang="en-US" sz="1800" dirty="0">
                <a:solidFill>
                  <a:srgbClr val="003F66"/>
                </a:solidFill>
                <a:latin typeface="Bookman Old Style" panose="02050604050505020204" pitchFamily="18" charset="0"/>
              </a:rPr>
              <a:t>}</a:t>
            </a:r>
            <a:endParaRPr lang="en-IN" dirty="0"/>
          </a:p>
        </p:txBody>
      </p:sp>
      <p:sp>
        <p:nvSpPr>
          <p:cNvPr id="25" name="TextBox 24">
            <a:extLst>
              <a:ext uri="{FF2B5EF4-FFF2-40B4-BE49-F238E27FC236}">
                <a16:creationId xmlns:a16="http://schemas.microsoft.com/office/drawing/2014/main" id="{9024B54D-EF14-425F-A924-37C779A68EFE}"/>
              </a:ext>
            </a:extLst>
          </p:cNvPr>
          <p:cNvSpPr txBox="1"/>
          <p:nvPr/>
        </p:nvSpPr>
        <p:spPr>
          <a:xfrm>
            <a:off x="7210280" y="1090117"/>
            <a:ext cx="4695966" cy="2169825"/>
          </a:xfrm>
          <a:prstGeom prst="rect">
            <a:avLst/>
          </a:prstGeom>
          <a:noFill/>
        </p:spPr>
        <p:txBody>
          <a:bodyPr wrap="square">
            <a:spAutoFit/>
          </a:bodyPr>
          <a:lstStyle/>
          <a:p>
            <a:pPr algn="just"/>
            <a:r>
              <a:rPr lang="en-US" sz="1500" dirty="0">
                <a:solidFill>
                  <a:srgbClr val="003F66"/>
                </a:solidFill>
                <a:latin typeface="Bookman Old Style" panose="02050604050505020204" pitchFamily="18" charset="0"/>
              </a:rPr>
              <a:t>public class </a:t>
            </a:r>
            <a:r>
              <a:rPr lang="en-US" sz="1500" dirty="0" err="1">
                <a:solidFill>
                  <a:srgbClr val="003F66"/>
                </a:solidFill>
                <a:latin typeface="Bookman Old Style" panose="02050604050505020204" pitchFamily="18" charset="0"/>
              </a:rPr>
              <a:t>ACInstantiatedClass</a:t>
            </a:r>
            <a:r>
              <a:rPr lang="en-US" sz="1500" dirty="0">
                <a:solidFill>
                  <a:srgbClr val="003F66"/>
                </a:solidFill>
                <a:latin typeface="Bookman Old Style" panose="02050604050505020204" pitchFamily="18" charset="0"/>
              </a:rPr>
              <a:t>  {</a:t>
            </a:r>
          </a:p>
          <a:p>
            <a:pPr algn="just"/>
            <a:r>
              <a:rPr lang="en-US" sz="1500" dirty="0">
                <a:solidFill>
                  <a:srgbClr val="003F66"/>
                </a:solidFill>
                <a:latin typeface="Bookman Old Style" panose="02050604050505020204" pitchFamily="18" charset="0"/>
              </a:rPr>
              <a:t>	p s v main(String rags[]) {</a:t>
            </a:r>
          </a:p>
          <a:p>
            <a:pPr algn="just"/>
            <a:r>
              <a:rPr lang="en-US" sz="1500" dirty="0">
                <a:solidFill>
                  <a:srgbClr val="003F66"/>
                </a:solidFill>
                <a:latin typeface="Bookman Old Style" panose="02050604050505020204" pitchFamily="18" charset="0"/>
              </a:rPr>
              <a:t>	</a:t>
            </a:r>
            <a:r>
              <a:rPr lang="en-US" sz="1500" dirty="0" err="1">
                <a:solidFill>
                  <a:srgbClr val="003F66"/>
                </a:solidFill>
                <a:latin typeface="Bookman Old Style" panose="02050604050505020204" pitchFamily="18" charset="0"/>
              </a:rPr>
              <a:t>ACSubClass</a:t>
            </a:r>
            <a:r>
              <a:rPr lang="en-US" sz="1500" dirty="0">
                <a:solidFill>
                  <a:srgbClr val="003F66"/>
                </a:solidFill>
                <a:latin typeface="Bookman Old Style" panose="02050604050505020204" pitchFamily="18" charset="0"/>
              </a:rPr>
              <a:t> </a:t>
            </a:r>
            <a:r>
              <a:rPr lang="en-US" sz="1500" dirty="0" err="1">
                <a:solidFill>
                  <a:srgbClr val="003F66"/>
                </a:solidFill>
                <a:latin typeface="Bookman Old Style" panose="02050604050505020204" pitchFamily="18" charset="0"/>
              </a:rPr>
              <a:t>acsc</a:t>
            </a:r>
            <a:r>
              <a:rPr lang="en-US" sz="1500" dirty="0">
                <a:solidFill>
                  <a:srgbClr val="003F66"/>
                </a:solidFill>
                <a:latin typeface="Bookman Old Style" panose="02050604050505020204" pitchFamily="18" charset="0"/>
              </a:rPr>
              <a:t>=new </a:t>
            </a:r>
            <a:r>
              <a:rPr lang="en-US" sz="1500" dirty="0" err="1">
                <a:solidFill>
                  <a:srgbClr val="003F66"/>
                </a:solidFill>
                <a:latin typeface="Bookman Old Style" panose="02050604050505020204" pitchFamily="18" charset="0"/>
              </a:rPr>
              <a:t>ACSubClass</a:t>
            </a:r>
            <a:r>
              <a:rPr lang="en-US" sz="1500" dirty="0">
                <a:solidFill>
                  <a:srgbClr val="003F66"/>
                </a:solidFill>
                <a:latin typeface="Bookman Old Style" panose="02050604050505020204" pitchFamily="18" charset="0"/>
              </a:rPr>
              <a:t>();</a:t>
            </a:r>
          </a:p>
          <a:p>
            <a:pPr algn="just"/>
            <a:r>
              <a:rPr lang="en-US" sz="1500" dirty="0">
                <a:solidFill>
                  <a:srgbClr val="003F66"/>
                </a:solidFill>
                <a:latin typeface="Bookman Old Style" panose="02050604050505020204" pitchFamily="18" charset="0"/>
              </a:rPr>
              <a:t>	acsc.m1();</a:t>
            </a:r>
          </a:p>
          <a:p>
            <a:pPr algn="just"/>
            <a:r>
              <a:rPr lang="en-US" sz="1500" dirty="0">
                <a:solidFill>
                  <a:srgbClr val="003F66"/>
                </a:solidFill>
                <a:latin typeface="Bookman Old Style" panose="02050604050505020204" pitchFamily="18" charset="0"/>
              </a:rPr>
              <a:t>	acsc.m2();</a:t>
            </a:r>
          </a:p>
          <a:p>
            <a:pPr algn="just"/>
            <a:r>
              <a:rPr lang="en-US" sz="1500" dirty="0">
                <a:solidFill>
                  <a:srgbClr val="003F66"/>
                </a:solidFill>
                <a:latin typeface="Bookman Old Style" panose="02050604050505020204" pitchFamily="18" charset="0"/>
              </a:rPr>
              <a:t>	acsc.m3();</a:t>
            </a:r>
          </a:p>
          <a:p>
            <a:pPr algn="just"/>
            <a:r>
              <a:rPr lang="en-US" sz="1500" dirty="0">
                <a:solidFill>
                  <a:srgbClr val="003F66"/>
                </a:solidFill>
                <a:latin typeface="Bookman Old Style" panose="02050604050505020204" pitchFamily="18" charset="0"/>
              </a:rPr>
              <a:t>	acsc.m4();</a:t>
            </a:r>
          </a:p>
          <a:p>
            <a:pPr algn="just"/>
            <a:r>
              <a:rPr lang="en-US" sz="1500" dirty="0">
                <a:solidFill>
                  <a:srgbClr val="003F66"/>
                </a:solidFill>
                <a:latin typeface="Bookman Old Style" panose="02050604050505020204" pitchFamily="18" charset="0"/>
              </a:rPr>
              <a:t>	}</a:t>
            </a:r>
          </a:p>
          <a:p>
            <a:pPr algn="just"/>
            <a:r>
              <a:rPr lang="en-US" sz="1500" dirty="0">
                <a:solidFill>
                  <a:srgbClr val="003F66"/>
                </a:solidFill>
                <a:latin typeface="Bookman Old Style" panose="02050604050505020204" pitchFamily="18" charset="0"/>
              </a:rPr>
              <a:t>}</a:t>
            </a:r>
            <a:endParaRPr lang="en-IN" sz="1500" dirty="0"/>
          </a:p>
        </p:txBody>
      </p:sp>
      <p:sp>
        <p:nvSpPr>
          <p:cNvPr id="27" name="TextBox 26">
            <a:extLst>
              <a:ext uri="{FF2B5EF4-FFF2-40B4-BE49-F238E27FC236}">
                <a16:creationId xmlns:a16="http://schemas.microsoft.com/office/drawing/2014/main" id="{411FE822-149A-DA14-5E9C-1E887A1B2ADB}"/>
              </a:ext>
            </a:extLst>
          </p:cNvPr>
          <p:cNvSpPr txBox="1"/>
          <p:nvPr/>
        </p:nvSpPr>
        <p:spPr>
          <a:xfrm>
            <a:off x="4135833" y="3912738"/>
            <a:ext cx="4914041" cy="369332"/>
          </a:xfrm>
          <a:prstGeom prst="rect">
            <a:avLst/>
          </a:prstGeom>
          <a:noFill/>
        </p:spPr>
        <p:txBody>
          <a:bodyPr wrap="square">
            <a:spAutoFit/>
          </a:bodyPr>
          <a:lstStyle/>
          <a:p>
            <a:pPr algn="just"/>
            <a:r>
              <a:rPr lang="en-US" sz="1800" dirty="0" err="1">
                <a:solidFill>
                  <a:srgbClr val="FF0000"/>
                </a:solidFill>
                <a:latin typeface="Bookman Old Style" panose="02050604050505020204" pitchFamily="18" charset="0"/>
              </a:rPr>
              <a:t>AbstractClass</a:t>
            </a:r>
            <a:r>
              <a:rPr lang="en-US" sz="1800" dirty="0">
                <a:solidFill>
                  <a:srgbClr val="FF0000"/>
                </a:solidFill>
                <a:latin typeface="Bookman Old Style" panose="02050604050505020204" pitchFamily="18" charset="0"/>
              </a:rPr>
              <a:t> ac=new </a:t>
            </a:r>
            <a:r>
              <a:rPr lang="en-US" sz="1800" dirty="0" err="1">
                <a:solidFill>
                  <a:srgbClr val="FF0000"/>
                </a:solidFill>
                <a:latin typeface="Bookman Old Style" panose="02050604050505020204" pitchFamily="18" charset="0"/>
              </a:rPr>
              <a:t>AbstractClass</a:t>
            </a:r>
            <a:r>
              <a:rPr lang="en-US" sz="1800" dirty="0">
                <a:solidFill>
                  <a:srgbClr val="FF0000"/>
                </a:solidFill>
                <a:latin typeface="Bookman Old Style" panose="02050604050505020204" pitchFamily="18" charset="0"/>
              </a:rPr>
              <a:t>();</a:t>
            </a:r>
          </a:p>
        </p:txBody>
      </p:sp>
      <p:sp>
        <p:nvSpPr>
          <p:cNvPr id="28" name="TextBox 27">
            <a:extLst>
              <a:ext uri="{FF2B5EF4-FFF2-40B4-BE49-F238E27FC236}">
                <a16:creationId xmlns:a16="http://schemas.microsoft.com/office/drawing/2014/main" id="{27784F5E-B3FD-3C60-6079-650D333BA4A7}"/>
              </a:ext>
            </a:extLst>
          </p:cNvPr>
          <p:cNvSpPr txBox="1"/>
          <p:nvPr/>
        </p:nvSpPr>
        <p:spPr>
          <a:xfrm>
            <a:off x="7406869" y="3298548"/>
            <a:ext cx="4440921" cy="646331"/>
          </a:xfrm>
          <a:prstGeom prst="rect">
            <a:avLst/>
          </a:prstGeom>
          <a:noFill/>
        </p:spPr>
        <p:txBody>
          <a:bodyPr wrap="square">
            <a:spAutoFit/>
          </a:bodyPr>
          <a:lstStyle/>
          <a:p>
            <a:pPr algn="just"/>
            <a:r>
              <a:rPr lang="en-US" dirty="0">
                <a:solidFill>
                  <a:srgbClr val="FF0000"/>
                </a:solidFill>
                <a:latin typeface="Bookman Old Style" panose="02050604050505020204" pitchFamily="18" charset="0"/>
              </a:rPr>
              <a:t>abstract class cannot be instantiated</a:t>
            </a:r>
          </a:p>
          <a:p>
            <a:pPr algn="just"/>
            <a:r>
              <a:rPr lang="en-US" sz="1800" dirty="0">
                <a:solidFill>
                  <a:srgbClr val="FF0000"/>
                </a:solidFill>
                <a:latin typeface="Bookman Old Style" panose="02050604050505020204" pitchFamily="18" charset="0"/>
              </a:rPr>
              <a:t>It can be only inherited</a:t>
            </a:r>
          </a:p>
        </p:txBody>
      </p:sp>
      <p:cxnSp>
        <p:nvCxnSpPr>
          <p:cNvPr id="9" name="Straight Connector 8">
            <a:extLst>
              <a:ext uri="{FF2B5EF4-FFF2-40B4-BE49-F238E27FC236}">
                <a16:creationId xmlns:a16="http://schemas.microsoft.com/office/drawing/2014/main" id="{E6097C76-AECA-3606-1BEF-8405D22D22B4}"/>
              </a:ext>
            </a:extLst>
          </p:cNvPr>
          <p:cNvCxnSpPr/>
          <p:nvPr/>
        </p:nvCxnSpPr>
        <p:spPr>
          <a:xfrm>
            <a:off x="5755341" y="3912738"/>
            <a:ext cx="578224" cy="53855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54C5B06-2410-B614-0328-242C5DD7EF7E}"/>
              </a:ext>
            </a:extLst>
          </p:cNvPr>
          <p:cNvCxnSpPr/>
          <p:nvPr/>
        </p:nvCxnSpPr>
        <p:spPr>
          <a:xfrm flipH="1">
            <a:off x="5968707" y="3850432"/>
            <a:ext cx="335037" cy="69613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Footer Placeholder 6">
            <a:extLst>
              <a:ext uri="{FF2B5EF4-FFF2-40B4-BE49-F238E27FC236}">
                <a16:creationId xmlns:a16="http://schemas.microsoft.com/office/drawing/2014/main" id="{D864A3DA-3B3E-F59A-20D2-347839DA918F}"/>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8911717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338554"/>
              </a:xfrm>
              <a:prstGeom prst="rect">
                <a:avLst/>
              </a:prstGeom>
            </p:spPr>
            <p:txBody>
              <a:bodyPr wrap="square">
                <a:spAutoFit/>
              </a:bodyPr>
              <a:lstStyle/>
              <a:p>
                <a:pPr algn="ctr"/>
                <a:r>
                  <a:rPr lang="en-US" sz="1600" b="1" dirty="0">
                    <a:solidFill>
                      <a:schemeClr val="bg1"/>
                    </a:solidFill>
                    <a:latin typeface="Bookman Old Style" panose="02050604050505020204" pitchFamily="18" charset="0"/>
                  </a:rPr>
                  <a:t>Consequences of applying access specifiers on class</a:t>
                </a:r>
                <a:endParaRPr lang="en-US" sz="105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26" name="TextBox 25">
            <a:extLst>
              <a:ext uri="{FF2B5EF4-FFF2-40B4-BE49-F238E27FC236}">
                <a16:creationId xmlns:a16="http://schemas.microsoft.com/office/drawing/2014/main" id="{B2C2A70B-7F8A-469E-BCE2-06539EEB7566}"/>
              </a:ext>
            </a:extLst>
          </p:cNvPr>
          <p:cNvSpPr txBox="1"/>
          <p:nvPr/>
        </p:nvSpPr>
        <p:spPr>
          <a:xfrm>
            <a:off x="675860" y="1233699"/>
            <a:ext cx="8611151" cy="4924425"/>
          </a:xfrm>
          <a:prstGeom prst="rect">
            <a:avLst/>
          </a:prstGeom>
          <a:noFill/>
        </p:spPr>
        <p:txBody>
          <a:bodyPr wrap="square">
            <a:spAutoFit/>
          </a:bodyPr>
          <a:lstStyle/>
          <a:p>
            <a:pPr algn="just"/>
            <a:r>
              <a:rPr lang="en-US" sz="2800" b="1" dirty="0">
                <a:solidFill>
                  <a:srgbClr val="003F66"/>
                </a:solidFill>
                <a:latin typeface="Bookman Old Style" panose="02050604050505020204" pitchFamily="18" charset="0"/>
              </a:rPr>
              <a:t>access modifiers on class:</a:t>
            </a:r>
          </a:p>
          <a:p>
            <a:pPr algn="just"/>
            <a:r>
              <a:rPr lang="en-US" sz="2800" b="1" dirty="0">
                <a:solidFill>
                  <a:srgbClr val="003F66"/>
                </a:solidFill>
                <a:latin typeface="Bookman Old Style" panose="02050604050505020204" pitchFamily="18" charset="0"/>
              </a:rPr>
              <a:t>-------------------------------------- </a:t>
            </a:r>
          </a:p>
          <a:p>
            <a:pPr algn="just"/>
            <a:r>
              <a:rPr lang="en-US" sz="2400" b="1" u="sng" dirty="0">
                <a:solidFill>
                  <a:srgbClr val="003F66"/>
                </a:solidFill>
                <a:latin typeface="Bookman Old Style" panose="02050604050505020204" pitchFamily="18" charset="0"/>
              </a:rPr>
              <a:t>Imp points about abstract class:</a:t>
            </a:r>
          </a:p>
          <a:p>
            <a:pPr algn="just"/>
            <a:r>
              <a:rPr lang="en-US" b="1" dirty="0">
                <a:solidFill>
                  <a:srgbClr val="003F66"/>
                </a:solidFill>
                <a:latin typeface="Bookman Old Style" panose="02050604050505020204" pitchFamily="18" charset="0"/>
              </a:rPr>
              <a:t>What happens if class is declared as abstract?</a:t>
            </a:r>
          </a:p>
          <a:p>
            <a:pPr algn="just"/>
            <a:r>
              <a:rPr lang="en-US" dirty="0">
                <a:solidFill>
                  <a:srgbClr val="003F66"/>
                </a:solidFill>
                <a:latin typeface="Bookman Old Style" panose="02050604050505020204" pitchFamily="18" charset="0"/>
              </a:rPr>
              <a:t>abstract class cannot be instantiated. It can be only inherited. Inherited sub class must implement all the super class abstract methods.</a:t>
            </a:r>
          </a:p>
          <a:p>
            <a:pPr algn="just"/>
            <a:endParaRPr lang="en-US" b="1" dirty="0">
              <a:solidFill>
                <a:srgbClr val="003F66"/>
              </a:solidFill>
              <a:latin typeface="Bookman Old Style" panose="02050604050505020204" pitchFamily="18" charset="0"/>
            </a:endParaRPr>
          </a:p>
          <a:p>
            <a:pPr algn="just"/>
            <a:r>
              <a:rPr lang="en-US" b="1" dirty="0">
                <a:solidFill>
                  <a:srgbClr val="003F66"/>
                </a:solidFill>
                <a:latin typeface="Bookman Old Style" panose="02050604050505020204" pitchFamily="18" charset="0"/>
              </a:rPr>
              <a:t>Is it mandatory that abstract class must contain abstract methods?</a:t>
            </a:r>
          </a:p>
          <a:p>
            <a:pPr algn="just"/>
            <a:r>
              <a:rPr lang="en-US" dirty="0">
                <a:solidFill>
                  <a:srgbClr val="003F66"/>
                </a:solidFill>
                <a:latin typeface="Bookman Old Style" panose="02050604050505020204" pitchFamily="18" charset="0"/>
              </a:rPr>
              <a:t>No need. Without abstract methods also sometimes class will be declared as abstract.</a:t>
            </a:r>
          </a:p>
          <a:p>
            <a:pPr algn="just"/>
            <a:endParaRPr lang="en-US" b="1" dirty="0">
              <a:solidFill>
                <a:srgbClr val="003F66"/>
              </a:solidFill>
              <a:latin typeface="Bookman Old Style" panose="02050604050505020204" pitchFamily="18" charset="0"/>
            </a:endParaRPr>
          </a:p>
          <a:p>
            <a:pPr algn="just"/>
            <a:r>
              <a:rPr lang="en-US" b="1" dirty="0">
                <a:solidFill>
                  <a:srgbClr val="003F66"/>
                </a:solidFill>
                <a:latin typeface="Bookman Old Style" panose="02050604050505020204" pitchFamily="18" charset="0"/>
              </a:rPr>
              <a:t>Then without abstract methods why a class need to be declared as abstract?</a:t>
            </a:r>
          </a:p>
          <a:p>
            <a:pPr algn="just"/>
            <a:r>
              <a:rPr lang="en-US" dirty="0">
                <a:solidFill>
                  <a:srgbClr val="003F66"/>
                </a:solidFill>
                <a:latin typeface="Bookman Old Style" panose="02050604050505020204" pitchFamily="18" charset="0"/>
              </a:rPr>
              <a:t>Most generic classes who provide common functionality are declared as abstract class. Such class don't want to be instantiated directly. They allow their methods to be called via sub classes.</a:t>
            </a:r>
          </a:p>
        </p:txBody>
      </p:sp>
      <p:sp>
        <p:nvSpPr>
          <p:cNvPr id="7" name="Footer Placeholder 6">
            <a:extLst>
              <a:ext uri="{FF2B5EF4-FFF2-40B4-BE49-F238E27FC236}">
                <a16:creationId xmlns:a16="http://schemas.microsoft.com/office/drawing/2014/main" id="{AF481E1E-32D2-95B6-3C3C-138113A3E139}"/>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5283206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338554"/>
              </a:xfrm>
              <a:prstGeom prst="rect">
                <a:avLst/>
              </a:prstGeom>
            </p:spPr>
            <p:txBody>
              <a:bodyPr wrap="square">
                <a:spAutoFit/>
              </a:bodyPr>
              <a:lstStyle/>
              <a:p>
                <a:pPr algn="ctr"/>
                <a:r>
                  <a:rPr lang="en-US" sz="1600" b="1" dirty="0">
                    <a:solidFill>
                      <a:schemeClr val="bg1"/>
                    </a:solidFill>
                    <a:latin typeface="Bookman Old Style" panose="02050604050505020204" pitchFamily="18" charset="0"/>
                  </a:rPr>
                  <a:t>Consequences of applying access specifiers on class</a:t>
                </a:r>
                <a:endParaRPr lang="en-US" sz="105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26" name="TextBox 25">
            <a:extLst>
              <a:ext uri="{FF2B5EF4-FFF2-40B4-BE49-F238E27FC236}">
                <a16:creationId xmlns:a16="http://schemas.microsoft.com/office/drawing/2014/main" id="{B2C2A70B-7F8A-469E-BCE2-06539EEB7566}"/>
              </a:ext>
            </a:extLst>
          </p:cNvPr>
          <p:cNvSpPr txBox="1"/>
          <p:nvPr/>
        </p:nvSpPr>
        <p:spPr>
          <a:xfrm>
            <a:off x="675860" y="1233699"/>
            <a:ext cx="8611151" cy="2308324"/>
          </a:xfrm>
          <a:prstGeom prst="rect">
            <a:avLst/>
          </a:prstGeom>
          <a:noFill/>
        </p:spPr>
        <p:txBody>
          <a:bodyPr wrap="square">
            <a:spAutoFit/>
          </a:bodyPr>
          <a:lstStyle/>
          <a:p>
            <a:pPr algn="just"/>
            <a:r>
              <a:rPr lang="en-US" sz="2800" b="1" dirty="0">
                <a:solidFill>
                  <a:srgbClr val="003F66"/>
                </a:solidFill>
                <a:latin typeface="Bookman Old Style" panose="02050604050505020204" pitchFamily="18" charset="0"/>
              </a:rPr>
              <a:t>access modifiers on class:</a:t>
            </a:r>
          </a:p>
          <a:p>
            <a:pPr algn="just"/>
            <a:r>
              <a:rPr lang="en-US" sz="2800" b="1" dirty="0">
                <a:solidFill>
                  <a:srgbClr val="003F66"/>
                </a:solidFill>
                <a:latin typeface="Bookman Old Style" panose="02050604050505020204" pitchFamily="18" charset="0"/>
              </a:rPr>
              <a:t>-------------------------------------- </a:t>
            </a:r>
          </a:p>
          <a:p>
            <a:pPr algn="just"/>
            <a:r>
              <a:rPr lang="en-US" sz="2400" b="1" u="sng" dirty="0">
                <a:solidFill>
                  <a:srgbClr val="003F66"/>
                </a:solidFill>
                <a:latin typeface="Bookman Old Style" panose="02050604050505020204" pitchFamily="18" charset="0"/>
              </a:rPr>
              <a:t>final:</a:t>
            </a:r>
            <a:r>
              <a:rPr lang="en-US" sz="2400" b="1" dirty="0">
                <a:solidFill>
                  <a:srgbClr val="003F66"/>
                </a:solidFill>
                <a:latin typeface="Bookman Old Style" panose="02050604050505020204" pitchFamily="18" charset="0"/>
              </a:rPr>
              <a:t> </a:t>
            </a:r>
            <a:endParaRPr lang="en-US" sz="1600" b="1" dirty="0">
              <a:solidFill>
                <a:srgbClr val="003F66"/>
              </a:solidFill>
              <a:latin typeface="Bookman Old Style" panose="02050604050505020204" pitchFamily="18" charset="0"/>
            </a:endParaRPr>
          </a:p>
          <a:p>
            <a:pPr marL="285750" indent="-285750" algn="just">
              <a:buFont typeface="Wingdings" panose="05000000000000000000" pitchFamily="2" charset="2"/>
              <a:buChar char="v"/>
            </a:pPr>
            <a:r>
              <a:rPr lang="en-US" sz="1600" dirty="0">
                <a:solidFill>
                  <a:srgbClr val="003F66"/>
                </a:solidFill>
                <a:latin typeface="Bookman Old Style" panose="02050604050505020204" pitchFamily="18" charset="0"/>
              </a:rPr>
              <a:t>final is opposite to abstract. </a:t>
            </a:r>
          </a:p>
          <a:p>
            <a:pPr marL="285750" indent="-285750" algn="just">
              <a:buFont typeface="Wingdings" panose="05000000000000000000" pitchFamily="2" charset="2"/>
              <a:buChar char="v"/>
            </a:pPr>
            <a:r>
              <a:rPr lang="en-US" sz="1600" dirty="0">
                <a:solidFill>
                  <a:srgbClr val="003F66"/>
                </a:solidFill>
                <a:latin typeface="Bookman Old Style" panose="02050604050505020204" pitchFamily="18" charset="0"/>
              </a:rPr>
              <a:t>final class cannot be inherited, it can be only instantiated. </a:t>
            </a:r>
          </a:p>
          <a:p>
            <a:pPr marL="285750" indent="-285750" algn="just">
              <a:buFont typeface="Wingdings" panose="05000000000000000000" pitchFamily="2" charset="2"/>
              <a:buChar char="v"/>
            </a:pPr>
            <a:r>
              <a:rPr lang="en-US" sz="1600" dirty="0">
                <a:solidFill>
                  <a:srgbClr val="003F66"/>
                </a:solidFill>
                <a:latin typeface="Bookman Old Style" panose="02050604050505020204" pitchFamily="18" charset="0"/>
              </a:rPr>
              <a:t>That means no sub classes exist for final class.</a:t>
            </a:r>
          </a:p>
          <a:p>
            <a:pPr marL="285750" indent="-285750" algn="just">
              <a:buFont typeface="Wingdings" panose="05000000000000000000" pitchFamily="2" charset="2"/>
              <a:buChar char="v"/>
            </a:pPr>
            <a:r>
              <a:rPr lang="en-US" sz="1600" dirty="0">
                <a:solidFill>
                  <a:srgbClr val="003F66"/>
                </a:solidFill>
                <a:latin typeface="Bookman Old Style" panose="02050604050505020204" pitchFamily="18" charset="0"/>
              </a:rPr>
              <a:t>Most constant variables are declared in final class or in interface.</a:t>
            </a:r>
          </a:p>
        </p:txBody>
      </p:sp>
      <p:sp>
        <p:nvSpPr>
          <p:cNvPr id="19" name="TextBox 18">
            <a:extLst>
              <a:ext uri="{FF2B5EF4-FFF2-40B4-BE49-F238E27FC236}">
                <a16:creationId xmlns:a16="http://schemas.microsoft.com/office/drawing/2014/main" id="{A0A2FF33-7F2F-4DAB-BEE8-2D0BC4950856}"/>
              </a:ext>
            </a:extLst>
          </p:cNvPr>
          <p:cNvSpPr txBox="1"/>
          <p:nvPr/>
        </p:nvSpPr>
        <p:spPr>
          <a:xfrm>
            <a:off x="778562" y="4075908"/>
            <a:ext cx="2985055" cy="1477328"/>
          </a:xfrm>
          <a:prstGeom prst="rect">
            <a:avLst/>
          </a:prstGeom>
          <a:noFill/>
        </p:spPr>
        <p:txBody>
          <a:bodyPr wrap="square">
            <a:spAutoFit/>
          </a:bodyPr>
          <a:lstStyle/>
          <a:p>
            <a:r>
              <a:rPr lang="en-IN" dirty="0"/>
              <a:t>public final class </a:t>
            </a:r>
            <a:r>
              <a:rPr lang="en-IN" dirty="0" err="1"/>
              <a:t>FinalClass</a:t>
            </a:r>
            <a:r>
              <a:rPr lang="en-IN" dirty="0"/>
              <a:t> { </a:t>
            </a:r>
          </a:p>
          <a:p>
            <a:r>
              <a:rPr lang="en-IN" dirty="0"/>
              <a:t>	void m1() { }  </a:t>
            </a:r>
          </a:p>
          <a:p>
            <a:r>
              <a:rPr lang="en-IN" dirty="0"/>
              <a:t>	void m2() { }</a:t>
            </a:r>
          </a:p>
          <a:p>
            <a:r>
              <a:rPr lang="en-IN" dirty="0"/>
              <a:t>	void m3() { }</a:t>
            </a:r>
          </a:p>
          <a:p>
            <a:r>
              <a:rPr lang="en-IN" dirty="0"/>
              <a:t>}</a:t>
            </a:r>
          </a:p>
        </p:txBody>
      </p:sp>
      <p:sp>
        <p:nvSpPr>
          <p:cNvPr id="25" name="TextBox 24">
            <a:extLst>
              <a:ext uri="{FF2B5EF4-FFF2-40B4-BE49-F238E27FC236}">
                <a16:creationId xmlns:a16="http://schemas.microsoft.com/office/drawing/2014/main" id="{B933F8A5-9A85-4C86-A66B-B403FFF4CF39}"/>
              </a:ext>
            </a:extLst>
          </p:cNvPr>
          <p:cNvSpPr txBox="1"/>
          <p:nvPr/>
        </p:nvSpPr>
        <p:spPr>
          <a:xfrm>
            <a:off x="7022693" y="1661108"/>
            <a:ext cx="4784035" cy="2308324"/>
          </a:xfrm>
          <a:prstGeom prst="rect">
            <a:avLst/>
          </a:prstGeom>
          <a:noFill/>
        </p:spPr>
        <p:txBody>
          <a:bodyPr wrap="square">
            <a:spAutoFit/>
          </a:bodyPr>
          <a:lstStyle/>
          <a:p>
            <a:r>
              <a:rPr lang="en-IN" dirty="0"/>
              <a:t>public class FCIC {</a:t>
            </a:r>
          </a:p>
          <a:p>
            <a:r>
              <a:rPr lang="en-IN" dirty="0"/>
              <a:t>	p s v main(String rags[]) {</a:t>
            </a:r>
          </a:p>
          <a:p>
            <a:r>
              <a:rPr lang="en-IN" dirty="0"/>
              <a:t>	</a:t>
            </a:r>
            <a:r>
              <a:rPr lang="en-IN" dirty="0" err="1"/>
              <a:t>FinalClass</a:t>
            </a:r>
            <a:r>
              <a:rPr lang="en-IN" dirty="0"/>
              <a:t> fc=new </a:t>
            </a:r>
            <a:r>
              <a:rPr lang="en-IN" dirty="0" err="1"/>
              <a:t>FinalClass</a:t>
            </a:r>
            <a:r>
              <a:rPr lang="en-IN" dirty="0"/>
              <a:t>();</a:t>
            </a:r>
          </a:p>
          <a:p>
            <a:r>
              <a:rPr lang="en-IN" dirty="0"/>
              <a:t>	fc.m1();</a:t>
            </a:r>
          </a:p>
          <a:p>
            <a:r>
              <a:rPr lang="en-IN" dirty="0"/>
              <a:t>	fc.m2();</a:t>
            </a:r>
          </a:p>
          <a:p>
            <a:r>
              <a:rPr lang="en-IN" dirty="0"/>
              <a:t>	fc.m3();</a:t>
            </a:r>
          </a:p>
          <a:p>
            <a:r>
              <a:rPr lang="en-IN" dirty="0"/>
              <a:t>	} </a:t>
            </a:r>
          </a:p>
          <a:p>
            <a:r>
              <a:rPr lang="en-IN" dirty="0"/>
              <a:t>}</a:t>
            </a:r>
          </a:p>
        </p:txBody>
      </p:sp>
      <p:grpSp>
        <p:nvGrpSpPr>
          <p:cNvPr id="12" name="Group 11">
            <a:extLst>
              <a:ext uri="{FF2B5EF4-FFF2-40B4-BE49-F238E27FC236}">
                <a16:creationId xmlns:a16="http://schemas.microsoft.com/office/drawing/2014/main" id="{1E418E0B-2475-413A-ACA6-3A095C0BF71A}"/>
              </a:ext>
            </a:extLst>
          </p:cNvPr>
          <p:cNvGrpSpPr/>
          <p:nvPr/>
        </p:nvGrpSpPr>
        <p:grpSpPr>
          <a:xfrm>
            <a:off x="3660916" y="4853640"/>
            <a:ext cx="3614527" cy="710115"/>
            <a:chOff x="3660916" y="4005500"/>
            <a:chExt cx="3614527" cy="710115"/>
          </a:xfrm>
        </p:grpSpPr>
        <p:sp>
          <p:nvSpPr>
            <p:cNvPr id="24" name="TextBox 23">
              <a:extLst>
                <a:ext uri="{FF2B5EF4-FFF2-40B4-BE49-F238E27FC236}">
                  <a16:creationId xmlns:a16="http://schemas.microsoft.com/office/drawing/2014/main" id="{9CC4A964-8F21-4818-AB1E-79DE865527D6}"/>
                </a:ext>
              </a:extLst>
            </p:cNvPr>
            <p:cNvSpPr txBox="1"/>
            <p:nvPr/>
          </p:nvSpPr>
          <p:spPr>
            <a:xfrm>
              <a:off x="3660916" y="4069284"/>
              <a:ext cx="3614527" cy="646331"/>
            </a:xfrm>
            <a:prstGeom prst="rect">
              <a:avLst/>
            </a:prstGeom>
            <a:noFill/>
          </p:spPr>
          <p:txBody>
            <a:bodyPr wrap="square">
              <a:spAutoFit/>
            </a:bodyPr>
            <a:lstStyle/>
            <a:p>
              <a:r>
                <a:rPr lang="en-IN" dirty="0"/>
                <a:t>public class FCSC extends </a:t>
              </a:r>
              <a:r>
                <a:rPr lang="en-IN" dirty="0" err="1"/>
                <a:t>FinalClass</a:t>
              </a:r>
              <a:r>
                <a:rPr lang="en-IN" dirty="0"/>
                <a:t> { </a:t>
              </a:r>
            </a:p>
            <a:p>
              <a:r>
                <a:rPr lang="en-IN" dirty="0"/>
                <a:t>}</a:t>
              </a:r>
            </a:p>
          </p:txBody>
        </p:sp>
        <p:cxnSp>
          <p:nvCxnSpPr>
            <p:cNvPr id="9" name="Straight Connector 8">
              <a:extLst>
                <a:ext uri="{FF2B5EF4-FFF2-40B4-BE49-F238E27FC236}">
                  <a16:creationId xmlns:a16="http://schemas.microsoft.com/office/drawing/2014/main" id="{013E9A59-E196-4AEF-88F2-DCC7AD6D713D}"/>
                </a:ext>
              </a:extLst>
            </p:cNvPr>
            <p:cNvCxnSpPr/>
            <p:nvPr/>
          </p:nvCxnSpPr>
          <p:spPr>
            <a:xfrm>
              <a:off x="4981435" y="4075908"/>
              <a:ext cx="690495" cy="46958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EF42D26-00ED-449C-96B9-1B307E0C5783}"/>
                </a:ext>
              </a:extLst>
            </p:cNvPr>
            <p:cNvCxnSpPr/>
            <p:nvPr/>
          </p:nvCxnSpPr>
          <p:spPr>
            <a:xfrm flipH="1">
              <a:off x="4981435" y="4005500"/>
              <a:ext cx="589445" cy="624406"/>
            </a:xfrm>
            <a:prstGeom prst="line">
              <a:avLst/>
            </a:prstGeom>
            <a:ln w="38100"/>
          </p:spPr>
          <p:style>
            <a:lnRef idx="1">
              <a:schemeClr val="accent1"/>
            </a:lnRef>
            <a:fillRef idx="0">
              <a:schemeClr val="accent1"/>
            </a:fillRef>
            <a:effectRef idx="0">
              <a:schemeClr val="accent1"/>
            </a:effectRef>
            <a:fontRef idx="minor">
              <a:schemeClr val="tx1"/>
            </a:fontRef>
          </p:style>
        </p:cxnSp>
      </p:grpSp>
      <p:cxnSp>
        <p:nvCxnSpPr>
          <p:cNvPr id="14" name="Straight Arrow Connector 13">
            <a:extLst>
              <a:ext uri="{FF2B5EF4-FFF2-40B4-BE49-F238E27FC236}">
                <a16:creationId xmlns:a16="http://schemas.microsoft.com/office/drawing/2014/main" id="{7D75AE7C-D758-4015-A9AF-C0BA4F312004}"/>
              </a:ext>
            </a:extLst>
          </p:cNvPr>
          <p:cNvCxnSpPr/>
          <p:nvPr/>
        </p:nvCxnSpPr>
        <p:spPr>
          <a:xfrm>
            <a:off x="3591339" y="3255858"/>
            <a:ext cx="967409" cy="136110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03DFEE50-B77C-4AFE-A55C-37CAE4220F66}"/>
              </a:ext>
            </a:extLst>
          </p:cNvPr>
          <p:cNvCxnSpPr/>
          <p:nvPr/>
        </p:nvCxnSpPr>
        <p:spPr>
          <a:xfrm flipV="1">
            <a:off x="6150140" y="2372139"/>
            <a:ext cx="1711233" cy="52321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7" name="Footer Placeholder 6">
            <a:extLst>
              <a:ext uri="{FF2B5EF4-FFF2-40B4-BE49-F238E27FC236}">
                <a16:creationId xmlns:a16="http://schemas.microsoft.com/office/drawing/2014/main" id="{DE070891-EAD8-E0FD-05C0-10944E1B0857}"/>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2959295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338554"/>
              </a:xfrm>
              <a:prstGeom prst="rect">
                <a:avLst/>
              </a:prstGeom>
            </p:spPr>
            <p:txBody>
              <a:bodyPr wrap="square">
                <a:spAutoFit/>
              </a:bodyPr>
              <a:lstStyle/>
              <a:p>
                <a:pPr algn="ctr"/>
                <a:r>
                  <a:rPr lang="en-US" sz="1600" b="1" dirty="0">
                    <a:solidFill>
                      <a:schemeClr val="bg1"/>
                    </a:solidFill>
                    <a:latin typeface="Bookman Old Style" panose="02050604050505020204" pitchFamily="18" charset="0"/>
                  </a:rPr>
                  <a:t>Consequences of applying access specifiers on class</a:t>
                </a:r>
                <a:endParaRPr lang="en-US" sz="105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26" name="TextBox 25">
            <a:extLst>
              <a:ext uri="{FF2B5EF4-FFF2-40B4-BE49-F238E27FC236}">
                <a16:creationId xmlns:a16="http://schemas.microsoft.com/office/drawing/2014/main" id="{B2C2A70B-7F8A-469E-BCE2-06539EEB7566}"/>
              </a:ext>
            </a:extLst>
          </p:cNvPr>
          <p:cNvSpPr txBox="1"/>
          <p:nvPr/>
        </p:nvSpPr>
        <p:spPr>
          <a:xfrm>
            <a:off x="675860" y="1233699"/>
            <a:ext cx="8611151" cy="2677656"/>
          </a:xfrm>
          <a:prstGeom prst="rect">
            <a:avLst/>
          </a:prstGeom>
          <a:noFill/>
        </p:spPr>
        <p:txBody>
          <a:bodyPr wrap="square">
            <a:spAutoFit/>
          </a:bodyPr>
          <a:lstStyle/>
          <a:p>
            <a:pPr algn="just"/>
            <a:r>
              <a:rPr lang="en-US" sz="2800" b="1" u="sng" dirty="0">
                <a:solidFill>
                  <a:srgbClr val="003F66"/>
                </a:solidFill>
                <a:latin typeface="Bookman Old Style" panose="02050604050505020204" pitchFamily="18" charset="0"/>
              </a:rPr>
              <a:t>Some final classes in Java:</a:t>
            </a:r>
          </a:p>
          <a:p>
            <a:pPr algn="just"/>
            <a:r>
              <a:rPr lang="en-US" sz="2000" dirty="0">
                <a:solidFill>
                  <a:srgbClr val="003F66"/>
                </a:solidFill>
                <a:latin typeface="Bookman Old Style" panose="02050604050505020204" pitchFamily="18" charset="0"/>
              </a:rPr>
              <a:t>In Java all wrapper classes are final.</a:t>
            </a:r>
          </a:p>
          <a:p>
            <a:pPr marL="800100" lvl="1" indent="-342900" algn="just">
              <a:buFont typeface="Wingdings" panose="05000000000000000000" pitchFamily="2" charset="2"/>
              <a:buChar char="v"/>
            </a:pPr>
            <a:r>
              <a:rPr lang="en-US" sz="2000" dirty="0" err="1">
                <a:solidFill>
                  <a:srgbClr val="003F66"/>
                </a:solidFill>
                <a:latin typeface="Bookman Old Style" panose="02050604050505020204" pitchFamily="18" charset="0"/>
              </a:rPr>
              <a:t>java.lang.String</a:t>
            </a:r>
            <a:endParaRPr lang="en-US" sz="2000" dirty="0">
              <a:solidFill>
                <a:srgbClr val="003F66"/>
              </a:solidFill>
              <a:latin typeface="Bookman Old Style" panose="02050604050505020204" pitchFamily="18" charset="0"/>
            </a:endParaRPr>
          </a:p>
          <a:p>
            <a:pPr marL="800100" lvl="1" indent="-342900" algn="just">
              <a:buFont typeface="Wingdings" panose="05000000000000000000" pitchFamily="2" charset="2"/>
              <a:buChar char="v"/>
            </a:pPr>
            <a:r>
              <a:rPr lang="en-US" sz="2000" dirty="0" err="1">
                <a:solidFill>
                  <a:srgbClr val="003F66"/>
                </a:solidFill>
                <a:latin typeface="Bookman Old Style" panose="02050604050505020204" pitchFamily="18" charset="0"/>
              </a:rPr>
              <a:t>java.lang.Integer</a:t>
            </a:r>
            <a:endParaRPr lang="en-US" sz="2000" dirty="0">
              <a:solidFill>
                <a:srgbClr val="003F66"/>
              </a:solidFill>
              <a:latin typeface="Bookman Old Style" panose="02050604050505020204" pitchFamily="18" charset="0"/>
            </a:endParaRPr>
          </a:p>
          <a:p>
            <a:pPr marL="800100" lvl="1" indent="-342900" algn="just">
              <a:buFont typeface="Wingdings" panose="05000000000000000000" pitchFamily="2" charset="2"/>
              <a:buChar char="v"/>
            </a:pPr>
            <a:r>
              <a:rPr lang="en-US" sz="2000" dirty="0" err="1">
                <a:solidFill>
                  <a:srgbClr val="003F66"/>
                </a:solidFill>
                <a:latin typeface="Bookman Old Style" panose="02050604050505020204" pitchFamily="18" charset="0"/>
              </a:rPr>
              <a:t>java.lang.Double</a:t>
            </a:r>
            <a:endParaRPr lang="en-US" sz="2000" dirty="0">
              <a:solidFill>
                <a:srgbClr val="003F66"/>
              </a:solidFill>
              <a:latin typeface="Bookman Old Style" panose="02050604050505020204" pitchFamily="18" charset="0"/>
            </a:endParaRPr>
          </a:p>
          <a:p>
            <a:pPr marL="800100" lvl="1" indent="-342900" algn="just">
              <a:buFont typeface="Wingdings" panose="05000000000000000000" pitchFamily="2" charset="2"/>
              <a:buChar char="v"/>
            </a:pPr>
            <a:r>
              <a:rPr lang="en-US" sz="2000" dirty="0" err="1">
                <a:solidFill>
                  <a:srgbClr val="003F66"/>
                </a:solidFill>
                <a:latin typeface="Bookman Old Style" panose="02050604050505020204" pitchFamily="18" charset="0"/>
              </a:rPr>
              <a:t>java.lang.Long</a:t>
            </a:r>
            <a:endParaRPr lang="en-US" sz="2000" dirty="0">
              <a:solidFill>
                <a:srgbClr val="003F66"/>
              </a:solidFill>
              <a:latin typeface="Bookman Old Style" panose="02050604050505020204" pitchFamily="18" charset="0"/>
            </a:endParaRPr>
          </a:p>
          <a:p>
            <a:pPr marL="800100" lvl="1" indent="-342900" algn="just">
              <a:buFont typeface="Wingdings" panose="05000000000000000000" pitchFamily="2" charset="2"/>
              <a:buChar char="v"/>
            </a:pPr>
            <a:r>
              <a:rPr lang="en-US" sz="2000" dirty="0" err="1">
                <a:solidFill>
                  <a:srgbClr val="003F66"/>
                </a:solidFill>
                <a:latin typeface="Bookman Old Style" panose="02050604050505020204" pitchFamily="18" charset="0"/>
              </a:rPr>
              <a:t>java.lang.Boolean</a:t>
            </a:r>
            <a:endParaRPr lang="en-US" sz="2000" dirty="0">
              <a:solidFill>
                <a:srgbClr val="003F66"/>
              </a:solidFill>
              <a:latin typeface="Bookman Old Style" panose="02050604050505020204" pitchFamily="18" charset="0"/>
            </a:endParaRPr>
          </a:p>
          <a:p>
            <a:pPr marL="800100" lvl="1" indent="-342900" algn="just">
              <a:buFont typeface="Wingdings" panose="05000000000000000000" pitchFamily="2" charset="2"/>
              <a:buChar char="v"/>
            </a:pPr>
            <a:r>
              <a:rPr lang="en-US" sz="2000" dirty="0" err="1">
                <a:solidFill>
                  <a:srgbClr val="003F66"/>
                </a:solidFill>
                <a:latin typeface="Bookman Old Style" panose="02050604050505020204" pitchFamily="18" charset="0"/>
              </a:rPr>
              <a:t>java.lang.Character</a:t>
            </a:r>
            <a:endParaRPr lang="en-US" sz="1400" dirty="0">
              <a:solidFill>
                <a:srgbClr val="003F66"/>
              </a:solidFill>
              <a:latin typeface="Bookman Old Style" panose="02050604050505020204" pitchFamily="18" charset="0"/>
            </a:endParaRPr>
          </a:p>
        </p:txBody>
      </p:sp>
      <p:sp>
        <p:nvSpPr>
          <p:cNvPr id="7" name="Footer Placeholder 6">
            <a:extLst>
              <a:ext uri="{FF2B5EF4-FFF2-40B4-BE49-F238E27FC236}">
                <a16:creationId xmlns:a16="http://schemas.microsoft.com/office/drawing/2014/main" id="{3E311C49-4800-D7AB-5BE3-288ADE658180}"/>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2125221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338554"/>
              </a:xfrm>
              <a:prstGeom prst="rect">
                <a:avLst/>
              </a:prstGeom>
            </p:spPr>
            <p:txBody>
              <a:bodyPr wrap="square">
                <a:spAutoFit/>
              </a:bodyPr>
              <a:lstStyle/>
              <a:p>
                <a:pPr algn="ctr"/>
                <a:r>
                  <a:rPr lang="en-US" sz="1600" b="1" dirty="0">
                    <a:solidFill>
                      <a:schemeClr val="bg1"/>
                    </a:solidFill>
                    <a:latin typeface="Bookman Old Style" panose="02050604050505020204" pitchFamily="18" charset="0"/>
                  </a:rPr>
                  <a:t>Consequences of applying access specifiers on class</a:t>
                </a:r>
                <a:endParaRPr lang="en-US" sz="105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26" name="TextBox 25">
            <a:extLst>
              <a:ext uri="{FF2B5EF4-FFF2-40B4-BE49-F238E27FC236}">
                <a16:creationId xmlns:a16="http://schemas.microsoft.com/office/drawing/2014/main" id="{B2C2A70B-7F8A-469E-BCE2-06539EEB7566}"/>
              </a:ext>
            </a:extLst>
          </p:cNvPr>
          <p:cNvSpPr txBox="1"/>
          <p:nvPr/>
        </p:nvSpPr>
        <p:spPr>
          <a:xfrm>
            <a:off x="675861" y="1233699"/>
            <a:ext cx="4638262" cy="954107"/>
          </a:xfrm>
          <a:prstGeom prst="rect">
            <a:avLst/>
          </a:prstGeom>
          <a:noFill/>
        </p:spPr>
        <p:txBody>
          <a:bodyPr wrap="square">
            <a:spAutoFit/>
          </a:bodyPr>
          <a:lstStyle/>
          <a:p>
            <a:pPr algn="just"/>
            <a:r>
              <a:rPr lang="en-US" sz="2800" b="1" dirty="0">
                <a:solidFill>
                  <a:srgbClr val="003F66"/>
                </a:solidFill>
                <a:latin typeface="Bookman Old Style" panose="02050604050505020204" pitchFamily="18" charset="0"/>
              </a:rPr>
              <a:t>non final class example:</a:t>
            </a:r>
          </a:p>
          <a:p>
            <a:pPr algn="just"/>
            <a:r>
              <a:rPr lang="en-US" sz="2800" b="1" dirty="0">
                <a:solidFill>
                  <a:srgbClr val="003F66"/>
                </a:solidFill>
                <a:latin typeface="Bookman Old Style" panose="02050604050505020204" pitchFamily="18" charset="0"/>
              </a:rPr>
              <a:t>----------------------------------</a:t>
            </a:r>
          </a:p>
        </p:txBody>
      </p:sp>
      <p:sp>
        <p:nvSpPr>
          <p:cNvPr id="15" name="TextBox 14">
            <a:extLst>
              <a:ext uri="{FF2B5EF4-FFF2-40B4-BE49-F238E27FC236}">
                <a16:creationId xmlns:a16="http://schemas.microsoft.com/office/drawing/2014/main" id="{DE18B4BA-EC4C-4279-A866-51DACB53996F}"/>
              </a:ext>
            </a:extLst>
          </p:cNvPr>
          <p:cNvSpPr txBox="1"/>
          <p:nvPr/>
        </p:nvSpPr>
        <p:spPr>
          <a:xfrm>
            <a:off x="614918" y="2041964"/>
            <a:ext cx="2918791" cy="1754326"/>
          </a:xfrm>
          <a:prstGeom prst="rect">
            <a:avLst/>
          </a:prstGeom>
          <a:noFill/>
        </p:spPr>
        <p:txBody>
          <a:bodyPr wrap="square">
            <a:spAutoFit/>
          </a:bodyPr>
          <a:lstStyle/>
          <a:p>
            <a:r>
              <a:rPr lang="en-IN" dirty="0"/>
              <a:t>class </a:t>
            </a:r>
            <a:r>
              <a:rPr lang="en-IN" dirty="0" err="1"/>
              <a:t>NonFinalClass</a:t>
            </a:r>
            <a:r>
              <a:rPr lang="en-IN" dirty="0"/>
              <a:t> {</a:t>
            </a:r>
          </a:p>
          <a:p>
            <a:r>
              <a:rPr lang="en-IN" dirty="0"/>
              <a:t>	void m1() {}</a:t>
            </a:r>
          </a:p>
          <a:p>
            <a:r>
              <a:rPr lang="en-IN" dirty="0"/>
              <a:t>	void m2() {}</a:t>
            </a:r>
          </a:p>
          <a:p>
            <a:r>
              <a:rPr lang="en-IN" dirty="0"/>
              <a:t>	final void m3() {}</a:t>
            </a:r>
          </a:p>
          <a:p>
            <a:r>
              <a:rPr lang="en-IN" dirty="0"/>
              <a:t>	final void m4() {}</a:t>
            </a:r>
          </a:p>
          <a:p>
            <a:r>
              <a:rPr lang="en-IN" dirty="0"/>
              <a:t>}</a:t>
            </a:r>
          </a:p>
        </p:txBody>
      </p:sp>
      <p:sp>
        <p:nvSpPr>
          <p:cNvPr id="19" name="TextBox 18">
            <a:extLst>
              <a:ext uri="{FF2B5EF4-FFF2-40B4-BE49-F238E27FC236}">
                <a16:creationId xmlns:a16="http://schemas.microsoft.com/office/drawing/2014/main" id="{3C6A3418-1942-4AB0-871C-2A26EA8C362C}"/>
              </a:ext>
            </a:extLst>
          </p:cNvPr>
          <p:cNvSpPr txBox="1"/>
          <p:nvPr/>
        </p:nvSpPr>
        <p:spPr>
          <a:xfrm>
            <a:off x="3199702" y="2803359"/>
            <a:ext cx="6168886" cy="3046988"/>
          </a:xfrm>
          <a:prstGeom prst="rect">
            <a:avLst/>
          </a:prstGeom>
          <a:noFill/>
        </p:spPr>
        <p:txBody>
          <a:bodyPr wrap="square">
            <a:spAutoFit/>
          </a:bodyPr>
          <a:lstStyle/>
          <a:p>
            <a:r>
              <a:rPr lang="en-IN" sz="1600" dirty="0"/>
              <a:t>class </a:t>
            </a:r>
            <a:r>
              <a:rPr lang="en-IN" sz="1600" dirty="0" err="1"/>
              <a:t>NonFinalClassSubClass</a:t>
            </a:r>
            <a:r>
              <a:rPr lang="en-IN" sz="1600" dirty="0"/>
              <a:t> extends </a:t>
            </a:r>
            <a:r>
              <a:rPr lang="en-IN" sz="1600" dirty="0" err="1"/>
              <a:t>NonFinalClass</a:t>
            </a:r>
            <a:r>
              <a:rPr lang="en-IN" sz="1600" dirty="0"/>
              <a:t> {</a:t>
            </a:r>
          </a:p>
          <a:p>
            <a:r>
              <a:rPr lang="en-IN" sz="1600" dirty="0"/>
              <a:t>	// m1() and m2() can be overridden</a:t>
            </a:r>
          </a:p>
          <a:p>
            <a:r>
              <a:rPr lang="en-IN" sz="1600" dirty="0"/>
              <a:t>	void m1() {}</a:t>
            </a:r>
          </a:p>
          <a:p>
            <a:r>
              <a:rPr lang="en-IN" sz="1600" dirty="0"/>
              <a:t>	void m2() {}</a:t>
            </a:r>
          </a:p>
          <a:p>
            <a:r>
              <a:rPr lang="en-IN" sz="1600" dirty="0"/>
              <a:t>		</a:t>
            </a:r>
          </a:p>
          <a:p>
            <a:r>
              <a:rPr lang="en-IN" sz="1600" dirty="0"/>
              <a:t>	// m3() and m4() cannot be overridden because of </a:t>
            </a:r>
          </a:p>
          <a:p>
            <a:r>
              <a:rPr lang="en-IN" sz="1600" dirty="0"/>
              <a:t>	// final methods</a:t>
            </a:r>
          </a:p>
          <a:p>
            <a:r>
              <a:rPr lang="en-IN" sz="1600" dirty="0"/>
              <a:t>	// if overrides so, we will get compilation error saying final</a:t>
            </a:r>
          </a:p>
          <a:p>
            <a:r>
              <a:rPr lang="en-IN" sz="1600" dirty="0"/>
              <a:t>	// methods cannot be overridden</a:t>
            </a:r>
          </a:p>
          <a:p>
            <a:r>
              <a:rPr lang="en-IN" sz="1600" dirty="0"/>
              <a:t>	void m3() {} 	</a:t>
            </a:r>
          </a:p>
          <a:p>
            <a:r>
              <a:rPr lang="en-IN" sz="1600" dirty="0"/>
              <a:t>	</a:t>
            </a:r>
            <a:r>
              <a:rPr lang="en-IN" sz="1600"/>
              <a:t>void m4() </a:t>
            </a:r>
            <a:r>
              <a:rPr lang="en-IN" sz="1600" dirty="0"/>
              <a:t>{}</a:t>
            </a:r>
          </a:p>
          <a:p>
            <a:r>
              <a:rPr lang="en-IN" sz="1600" dirty="0"/>
              <a:t>}</a:t>
            </a:r>
          </a:p>
        </p:txBody>
      </p:sp>
      <p:sp>
        <p:nvSpPr>
          <p:cNvPr id="7" name="Footer Placeholder 6">
            <a:extLst>
              <a:ext uri="{FF2B5EF4-FFF2-40B4-BE49-F238E27FC236}">
                <a16:creationId xmlns:a16="http://schemas.microsoft.com/office/drawing/2014/main" id="{49BFDA10-9E76-6D4D-D3AC-B2EAEE8AF183}"/>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4583558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338554"/>
              </a:xfrm>
              <a:prstGeom prst="rect">
                <a:avLst/>
              </a:prstGeom>
            </p:spPr>
            <p:txBody>
              <a:bodyPr wrap="square">
                <a:spAutoFit/>
              </a:bodyPr>
              <a:lstStyle/>
              <a:p>
                <a:pPr algn="ctr"/>
                <a:r>
                  <a:rPr lang="en-US" sz="1600" b="1" dirty="0">
                    <a:solidFill>
                      <a:schemeClr val="bg1"/>
                    </a:solidFill>
                    <a:latin typeface="Bookman Old Style" panose="02050604050505020204" pitchFamily="18" charset="0"/>
                  </a:rPr>
                  <a:t>Consequences of applying access specifiers on class</a:t>
                </a:r>
                <a:endParaRPr lang="en-US" sz="105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26" name="TextBox 25">
            <a:extLst>
              <a:ext uri="{FF2B5EF4-FFF2-40B4-BE49-F238E27FC236}">
                <a16:creationId xmlns:a16="http://schemas.microsoft.com/office/drawing/2014/main" id="{B2C2A70B-7F8A-469E-BCE2-06539EEB7566}"/>
              </a:ext>
            </a:extLst>
          </p:cNvPr>
          <p:cNvSpPr txBox="1"/>
          <p:nvPr/>
        </p:nvSpPr>
        <p:spPr>
          <a:xfrm>
            <a:off x="675861" y="1233699"/>
            <a:ext cx="4638262" cy="954107"/>
          </a:xfrm>
          <a:prstGeom prst="rect">
            <a:avLst/>
          </a:prstGeom>
          <a:noFill/>
        </p:spPr>
        <p:txBody>
          <a:bodyPr wrap="square">
            <a:spAutoFit/>
          </a:bodyPr>
          <a:lstStyle/>
          <a:p>
            <a:pPr algn="just"/>
            <a:r>
              <a:rPr lang="en-US" sz="2800" b="1" dirty="0">
                <a:solidFill>
                  <a:srgbClr val="003F66"/>
                </a:solidFill>
                <a:latin typeface="Bookman Old Style" panose="02050604050505020204" pitchFamily="18" charset="0"/>
              </a:rPr>
              <a:t>non final class example:</a:t>
            </a:r>
          </a:p>
          <a:p>
            <a:pPr algn="just"/>
            <a:r>
              <a:rPr lang="en-US" sz="2800" b="1" dirty="0">
                <a:solidFill>
                  <a:srgbClr val="003F66"/>
                </a:solidFill>
                <a:latin typeface="Bookman Old Style" panose="02050604050505020204" pitchFamily="18" charset="0"/>
              </a:rPr>
              <a:t>----------------------------------</a:t>
            </a:r>
          </a:p>
        </p:txBody>
      </p:sp>
      <p:sp>
        <p:nvSpPr>
          <p:cNvPr id="15" name="TextBox 14">
            <a:extLst>
              <a:ext uri="{FF2B5EF4-FFF2-40B4-BE49-F238E27FC236}">
                <a16:creationId xmlns:a16="http://schemas.microsoft.com/office/drawing/2014/main" id="{DE18B4BA-EC4C-4279-A866-51DACB53996F}"/>
              </a:ext>
            </a:extLst>
          </p:cNvPr>
          <p:cNvSpPr txBox="1"/>
          <p:nvPr/>
        </p:nvSpPr>
        <p:spPr>
          <a:xfrm>
            <a:off x="614918" y="2041964"/>
            <a:ext cx="8555586" cy="3785652"/>
          </a:xfrm>
          <a:prstGeom prst="rect">
            <a:avLst/>
          </a:prstGeom>
          <a:noFill/>
        </p:spPr>
        <p:txBody>
          <a:bodyPr wrap="square">
            <a:spAutoFit/>
          </a:bodyPr>
          <a:lstStyle/>
          <a:p>
            <a:r>
              <a:rPr lang="en-US" sz="2400" dirty="0"/>
              <a:t>If NonFinalClass want all its methods don't want to be overridden in sub class, then we are having two solutions:</a:t>
            </a:r>
          </a:p>
          <a:p>
            <a:endParaRPr lang="en-US" sz="2400" dirty="0"/>
          </a:p>
          <a:p>
            <a:pPr marL="400050" indent="-400050">
              <a:buAutoNum type="romanLcParenR"/>
            </a:pPr>
            <a:r>
              <a:rPr lang="en-US" sz="2400" dirty="0"/>
              <a:t>declare all 4 methods as final</a:t>
            </a:r>
          </a:p>
          <a:p>
            <a:pPr lvl="1"/>
            <a:r>
              <a:rPr lang="en-US" sz="2400" dirty="0"/>
              <a:t>then NonFinalClass can be still inherited, but its methods cannot be overridden</a:t>
            </a:r>
          </a:p>
          <a:p>
            <a:pPr lvl="1"/>
            <a:endParaRPr lang="en-US" sz="2400" dirty="0"/>
          </a:p>
          <a:p>
            <a:r>
              <a:rPr lang="en-US" sz="2400" dirty="0"/>
              <a:t>ii) instead of declaring methods as final, declare class itself as final</a:t>
            </a:r>
          </a:p>
          <a:p>
            <a:pPr lvl="1"/>
            <a:r>
              <a:rPr lang="en-US" sz="2400" dirty="0"/>
              <a:t>then final class cannot be inherited, when there is no inheritance, there is no overriding</a:t>
            </a:r>
            <a:endParaRPr lang="en-IN" sz="2400" dirty="0"/>
          </a:p>
        </p:txBody>
      </p:sp>
      <p:sp>
        <p:nvSpPr>
          <p:cNvPr id="7" name="Footer Placeholder 6">
            <a:extLst>
              <a:ext uri="{FF2B5EF4-FFF2-40B4-BE49-F238E27FC236}">
                <a16:creationId xmlns:a16="http://schemas.microsoft.com/office/drawing/2014/main" id="{2BB45842-D418-3E0A-BE72-8BE693B145EB}"/>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4328962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461665"/>
              </a:xfrm>
              <a:prstGeom prst="rect">
                <a:avLst/>
              </a:prstGeom>
            </p:spPr>
            <p:txBody>
              <a:bodyPr wrap="square">
                <a:spAutoFit/>
              </a:bodyPr>
              <a:lstStyle/>
              <a:p>
                <a:pPr algn="ctr"/>
                <a:r>
                  <a:rPr lang="en-US" sz="2400" b="1" dirty="0">
                    <a:solidFill>
                      <a:schemeClr val="bg1"/>
                    </a:solidFill>
                    <a:latin typeface="Bookman Old Style" panose="02050604050505020204" pitchFamily="18" charset="0"/>
                  </a:rPr>
                  <a:t>Variable syntax</a:t>
                </a:r>
                <a:endParaRPr lang="en-US" sz="105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15" name="TextBox 14">
            <a:extLst>
              <a:ext uri="{FF2B5EF4-FFF2-40B4-BE49-F238E27FC236}">
                <a16:creationId xmlns:a16="http://schemas.microsoft.com/office/drawing/2014/main" id="{DE18B4BA-EC4C-4279-A866-51DACB53996F}"/>
              </a:ext>
            </a:extLst>
          </p:cNvPr>
          <p:cNvSpPr txBox="1"/>
          <p:nvPr/>
        </p:nvSpPr>
        <p:spPr>
          <a:xfrm>
            <a:off x="614918" y="2041964"/>
            <a:ext cx="8555586" cy="1107996"/>
          </a:xfrm>
          <a:prstGeom prst="rect">
            <a:avLst/>
          </a:prstGeom>
          <a:noFill/>
        </p:spPr>
        <p:txBody>
          <a:bodyPr wrap="square">
            <a:spAutoFit/>
          </a:bodyPr>
          <a:lstStyle/>
          <a:p>
            <a:pPr algn="ctr"/>
            <a:r>
              <a:rPr lang="en-US" sz="6600" b="1" dirty="0">
                <a:solidFill>
                  <a:srgbClr val="FF0000"/>
                </a:solidFill>
                <a:latin typeface="Bookman Old Style" panose="02050604050505020204" pitchFamily="18" charset="0"/>
              </a:rPr>
              <a:t>Variable Syntaxes</a:t>
            </a:r>
          </a:p>
        </p:txBody>
      </p:sp>
      <p:sp>
        <p:nvSpPr>
          <p:cNvPr id="7" name="Footer Placeholder 6">
            <a:extLst>
              <a:ext uri="{FF2B5EF4-FFF2-40B4-BE49-F238E27FC236}">
                <a16:creationId xmlns:a16="http://schemas.microsoft.com/office/drawing/2014/main" id="{A61E51C4-A7F0-C787-8DF7-CCEDFE3BF406}"/>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8501166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461665"/>
              </a:xfrm>
              <a:prstGeom prst="rect">
                <a:avLst/>
              </a:prstGeom>
            </p:spPr>
            <p:txBody>
              <a:bodyPr wrap="square">
                <a:spAutoFit/>
              </a:bodyPr>
              <a:lstStyle/>
              <a:p>
                <a:pPr algn="ctr"/>
                <a:r>
                  <a:rPr lang="en-US" sz="2400" b="1" dirty="0">
                    <a:solidFill>
                      <a:schemeClr val="bg1"/>
                    </a:solidFill>
                    <a:latin typeface="Bookman Old Style" panose="02050604050505020204" pitchFamily="18" charset="0"/>
                  </a:rPr>
                  <a:t>Variable syntaxes</a:t>
                </a:r>
                <a:endParaRPr lang="en-US" sz="105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19" name="TextBox 18">
            <a:extLst>
              <a:ext uri="{FF2B5EF4-FFF2-40B4-BE49-F238E27FC236}">
                <a16:creationId xmlns:a16="http://schemas.microsoft.com/office/drawing/2014/main" id="{714B5B16-979C-49D5-A896-12440A366387}"/>
              </a:ext>
            </a:extLst>
          </p:cNvPr>
          <p:cNvSpPr txBox="1"/>
          <p:nvPr/>
        </p:nvSpPr>
        <p:spPr>
          <a:xfrm>
            <a:off x="278296" y="737371"/>
            <a:ext cx="9136410" cy="4585871"/>
          </a:xfrm>
          <a:prstGeom prst="rect">
            <a:avLst/>
          </a:prstGeom>
          <a:noFill/>
        </p:spPr>
        <p:txBody>
          <a:bodyPr wrap="square">
            <a:spAutoFit/>
          </a:bodyPr>
          <a:lstStyle/>
          <a:p>
            <a:pPr algn="just"/>
            <a:r>
              <a:rPr lang="en-US" sz="1600" b="1" dirty="0">
                <a:solidFill>
                  <a:srgbClr val="003F66"/>
                </a:solidFill>
                <a:latin typeface="Bookman Old Style" panose="02050604050505020204" pitchFamily="18" charset="0"/>
              </a:rPr>
              <a:t>--------------------------------------------------------------</a:t>
            </a:r>
          </a:p>
          <a:p>
            <a:pPr algn="just"/>
            <a:r>
              <a:rPr lang="en-US" sz="2400" b="1" dirty="0">
                <a:solidFill>
                  <a:srgbClr val="003F66"/>
                </a:solidFill>
                <a:latin typeface="Bookman Old Style" panose="02050604050505020204" pitchFamily="18" charset="0"/>
              </a:rPr>
              <a:t>Variable declaration syntax:</a:t>
            </a:r>
          </a:p>
          <a:p>
            <a:pPr algn="just"/>
            <a:r>
              <a:rPr lang="en-US" sz="1600" b="1" dirty="0">
                <a:solidFill>
                  <a:srgbClr val="003F66"/>
                </a:solidFill>
                <a:latin typeface="Bookman Old Style" panose="02050604050505020204" pitchFamily="18" charset="0"/>
              </a:rPr>
              <a:t>---------------------------------------------------------------</a:t>
            </a:r>
          </a:p>
          <a:p>
            <a:pPr algn="just"/>
            <a:r>
              <a:rPr lang="en-US" sz="1600" b="1" u="sng" dirty="0">
                <a:solidFill>
                  <a:srgbClr val="003F66"/>
                </a:solidFill>
                <a:latin typeface="Bookman Old Style" panose="02050604050505020204" pitchFamily="18" charset="0"/>
              </a:rPr>
              <a:t>Variables declaration with all access specifiers and modifiers</a:t>
            </a:r>
          </a:p>
          <a:p>
            <a:pPr algn="just"/>
            <a:r>
              <a:rPr lang="en-US" sz="2000" b="1" dirty="0">
                <a:solidFill>
                  <a:srgbClr val="003F66"/>
                </a:solidFill>
                <a:latin typeface="Bookman Old Style" panose="02050604050505020204" pitchFamily="18" charset="0"/>
              </a:rPr>
              <a:t>int </a:t>
            </a:r>
            <a:r>
              <a:rPr lang="en-US" sz="2000" b="1" dirty="0" err="1">
                <a:solidFill>
                  <a:srgbClr val="003F66"/>
                </a:solidFill>
                <a:latin typeface="Bookman Old Style" panose="02050604050505020204" pitchFamily="18" charset="0"/>
              </a:rPr>
              <a:t>i</a:t>
            </a:r>
            <a:r>
              <a:rPr lang="en-US" sz="2000" b="1" dirty="0">
                <a:solidFill>
                  <a:srgbClr val="003F66"/>
                </a:solidFill>
                <a:latin typeface="Bookman Old Style" panose="02050604050505020204" pitchFamily="18" charset="0"/>
              </a:rPr>
              <a:t>; </a:t>
            </a:r>
            <a:r>
              <a:rPr lang="en-US" sz="2000" dirty="0">
                <a:solidFill>
                  <a:srgbClr val="003F66"/>
                </a:solidFill>
                <a:latin typeface="Bookman Old Style" panose="02050604050505020204" pitchFamily="18" charset="0"/>
              </a:rPr>
              <a:t>// simple int variable declaration</a:t>
            </a:r>
          </a:p>
          <a:p>
            <a:pPr algn="just"/>
            <a:r>
              <a:rPr lang="en-US" sz="2000" b="1" dirty="0">
                <a:solidFill>
                  <a:srgbClr val="003F66"/>
                </a:solidFill>
                <a:latin typeface="Bookman Old Style" panose="02050604050505020204" pitchFamily="18" charset="0"/>
              </a:rPr>
              <a:t>private int </a:t>
            </a:r>
            <a:r>
              <a:rPr lang="en-US" sz="2000" b="1" dirty="0" err="1">
                <a:solidFill>
                  <a:srgbClr val="003F66"/>
                </a:solidFill>
                <a:latin typeface="Bookman Old Style" panose="02050604050505020204" pitchFamily="18" charset="0"/>
              </a:rPr>
              <a:t>i</a:t>
            </a:r>
            <a:r>
              <a:rPr lang="en-US" sz="2000" b="1" dirty="0">
                <a:solidFill>
                  <a:srgbClr val="003F66"/>
                </a:solidFill>
                <a:latin typeface="Bookman Old Style" panose="02050604050505020204" pitchFamily="18" charset="0"/>
              </a:rPr>
              <a:t>; </a:t>
            </a:r>
            <a:r>
              <a:rPr lang="en-US" sz="2000" dirty="0">
                <a:solidFill>
                  <a:srgbClr val="003F66"/>
                </a:solidFill>
                <a:latin typeface="Bookman Old Style" panose="02050604050505020204" pitchFamily="18" charset="0"/>
              </a:rPr>
              <a:t>// private variable declaration</a:t>
            </a:r>
          </a:p>
          <a:p>
            <a:pPr algn="just"/>
            <a:r>
              <a:rPr lang="en-US" sz="2000" b="1" dirty="0">
                <a:solidFill>
                  <a:srgbClr val="003F66"/>
                </a:solidFill>
                <a:latin typeface="Bookman Old Style" panose="02050604050505020204" pitchFamily="18" charset="0"/>
              </a:rPr>
              <a:t>int </a:t>
            </a:r>
            <a:r>
              <a:rPr lang="en-US" sz="2000" b="1" dirty="0" err="1">
                <a:solidFill>
                  <a:srgbClr val="003F66"/>
                </a:solidFill>
                <a:latin typeface="Bookman Old Style" panose="02050604050505020204" pitchFamily="18" charset="0"/>
              </a:rPr>
              <a:t>i</a:t>
            </a:r>
            <a:r>
              <a:rPr lang="en-US" sz="2000" b="1" dirty="0">
                <a:solidFill>
                  <a:srgbClr val="003F66"/>
                </a:solidFill>
                <a:latin typeface="Bookman Old Style" panose="02050604050505020204" pitchFamily="18" charset="0"/>
              </a:rPr>
              <a:t>; </a:t>
            </a:r>
            <a:r>
              <a:rPr lang="en-US" sz="2000" dirty="0">
                <a:solidFill>
                  <a:srgbClr val="003F66"/>
                </a:solidFill>
                <a:latin typeface="Bookman Old Style" panose="02050604050505020204" pitchFamily="18" charset="0"/>
              </a:rPr>
              <a:t>// default access specifier variable declaration</a:t>
            </a:r>
          </a:p>
          <a:p>
            <a:pPr algn="just"/>
            <a:r>
              <a:rPr lang="en-US" sz="2000" b="1" dirty="0">
                <a:solidFill>
                  <a:srgbClr val="003F66"/>
                </a:solidFill>
                <a:latin typeface="Bookman Old Style" panose="02050604050505020204" pitchFamily="18" charset="0"/>
              </a:rPr>
              <a:t>protected int </a:t>
            </a:r>
            <a:r>
              <a:rPr lang="en-US" sz="2000" b="1" dirty="0" err="1">
                <a:solidFill>
                  <a:srgbClr val="003F66"/>
                </a:solidFill>
                <a:latin typeface="Bookman Old Style" panose="02050604050505020204" pitchFamily="18" charset="0"/>
              </a:rPr>
              <a:t>i</a:t>
            </a:r>
            <a:r>
              <a:rPr lang="en-US" sz="2000" b="1" dirty="0">
                <a:solidFill>
                  <a:srgbClr val="003F66"/>
                </a:solidFill>
                <a:latin typeface="Bookman Old Style" panose="02050604050505020204" pitchFamily="18" charset="0"/>
              </a:rPr>
              <a:t>; </a:t>
            </a:r>
            <a:r>
              <a:rPr lang="en-US" sz="2000" dirty="0">
                <a:solidFill>
                  <a:srgbClr val="003F66"/>
                </a:solidFill>
                <a:latin typeface="Bookman Old Style" panose="02050604050505020204" pitchFamily="18" charset="0"/>
              </a:rPr>
              <a:t>// protected variable declaration</a:t>
            </a:r>
          </a:p>
          <a:p>
            <a:pPr algn="just"/>
            <a:r>
              <a:rPr lang="en-US" sz="2000" b="1" dirty="0">
                <a:solidFill>
                  <a:srgbClr val="003F66"/>
                </a:solidFill>
                <a:latin typeface="Bookman Old Style" panose="02050604050505020204" pitchFamily="18" charset="0"/>
              </a:rPr>
              <a:t>public int </a:t>
            </a:r>
            <a:r>
              <a:rPr lang="en-US" sz="2000" b="1" dirty="0" err="1">
                <a:solidFill>
                  <a:srgbClr val="003F66"/>
                </a:solidFill>
                <a:latin typeface="Bookman Old Style" panose="02050604050505020204" pitchFamily="18" charset="0"/>
              </a:rPr>
              <a:t>i</a:t>
            </a:r>
            <a:r>
              <a:rPr lang="en-US" sz="2000" b="1" dirty="0">
                <a:solidFill>
                  <a:srgbClr val="003F66"/>
                </a:solidFill>
                <a:latin typeface="Bookman Old Style" panose="02050604050505020204" pitchFamily="18" charset="0"/>
              </a:rPr>
              <a:t>; </a:t>
            </a:r>
            <a:r>
              <a:rPr lang="en-US" sz="2000" dirty="0">
                <a:solidFill>
                  <a:srgbClr val="003F66"/>
                </a:solidFill>
                <a:latin typeface="Bookman Old Style" panose="02050604050505020204" pitchFamily="18" charset="0"/>
              </a:rPr>
              <a:t>// public variable declaration</a:t>
            </a:r>
          </a:p>
          <a:p>
            <a:pPr algn="just"/>
            <a:r>
              <a:rPr lang="en-US" sz="2000" b="1" dirty="0">
                <a:solidFill>
                  <a:srgbClr val="003F66"/>
                </a:solidFill>
                <a:latin typeface="Bookman Old Style" panose="02050604050505020204" pitchFamily="18" charset="0"/>
              </a:rPr>
              <a:t>int </a:t>
            </a:r>
            <a:r>
              <a:rPr lang="en-US" sz="2000" b="1" dirty="0" err="1">
                <a:solidFill>
                  <a:srgbClr val="003F66"/>
                </a:solidFill>
                <a:latin typeface="Bookman Old Style" panose="02050604050505020204" pitchFamily="18" charset="0"/>
              </a:rPr>
              <a:t>i</a:t>
            </a:r>
            <a:r>
              <a:rPr lang="en-US" sz="2000" b="1" dirty="0">
                <a:solidFill>
                  <a:srgbClr val="003F66"/>
                </a:solidFill>
                <a:latin typeface="Bookman Old Style" panose="02050604050505020204" pitchFamily="18" charset="0"/>
              </a:rPr>
              <a:t>=10; </a:t>
            </a:r>
            <a:r>
              <a:rPr lang="en-US" sz="2000" dirty="0">
                <a:solidFill>
                  <a:srgbClr val="003F66"/>
                </a:solidFill>
                <a:latin typeface="Bookman Old Style" panose="02050604050505020204" pitchFamily="18" charset="0"/>
              </a:rPr>
              <a:t>// int variable declaration &amp; initialization</a:t>
            </a:r>
          </a:p>
          <a:p>
            <a:pPr algn="just"/>
            <a:r>
              <a:rPr lang="en-US" sz="2000" b="1" dirty="0">
                <a:solidFill>
                  <a:srgbClr val="003F66"/>
                </a:solidFill>
                <a:latin typeface="Bookman Old Style" panose="02050604050505020204" pitchFamily="18" charset="0"/>
              </a:rPr>
              <a:t>final int </a:t>
            </a:r>
            <a:r>
              <a:rPr lang="en-US" sz="2000" b="1" dirty="0" err="1">
                <a:solidFill>
                  <a:srgbClr val="003F66"/>
                </a:solidFill>
                <a:latin typeface="Bookman Old Style" panose="02050604050505020204" pitchFamily="18" charset="0"/>
              </a:rPr>
              <a:t>i</a:t>
            </a:r>
            <a:r>
              <a:rPr lang="en-US" sz="2000" b="1" dirty="0">
                <a:solidFill>
                  <a:srgbClr val="003F66"/>
                </a:solidFill>
                <a:latin typeface="Bookman Old Style" panose="02050604050505020204" pitchFamily="18" charset="0"/>
              </a:rPr>
              <a:t>=10; </a:t>
            </a:r>
            <a:r>
              <a:rPr lang="en-US" sz="2000" dirty="0">
                <a:solidFill>
                  <a:srgbClr val="003F66"/>
                </a:solidFill>
                <a:latin typeface="Bookman Old Style" panose="02050604050505020204" pitchFamily="18" charset="0"/>
              </a:rPr>
              <a:t>// final variable declaration &amp; initialization</a:t>
            </a:r>
          </a:p>
          <a:p>
            <a:pPr algn="just"/>
            <a:r>
              <a:rPr lang="en-US" sz="2000" b="1" dirty="0">
                <a:solidFill>
                  <a:srgbClr val="003F66"/>
                </a:solidFill>
                <a:latin typeface="Bookman Old Style" panose="02050604050505020204" pitchFamily="18" charset="0"/>
              </a:rPr>
              <a:t>public static final int </a:t>
            </a:r>
            <a:r>
              <a:rPr lang="en-US" sz="2000" b="1" dirty="0" err="1">
                <a:solidFill>
                  <a:srgbClr val="003F66"/>
                </a:solidFill>
                <a:latin typeface="Bookman Old Style" panose="02050604050505020204" pitchFamily="18" charset="0"/>
              </a:rPr>
              <a:t>i</a:t>
            </a:r>
            <a:r>
              <a:rPr lang="en-US" sz="2000" b="1" dirty="0">
                <a:solidFill>
                  <a:srgbClr val="003F66"/>
                </a:solidFill>
                <a:latin typeface="Bookman Old Style" panose="02050604050505020204" pitchFamily="18" charset="0"/>
              </a:rPr>
              <a:t>=10; </a:t>
            </a:r>
            <a:r>
              <a:rPr lang="en-US" sz="2000" dirty="0">
                <a:solidFill>
                  <a:srgbClr val="003F66"/>
                </a:solidFill>
                <a:latin typeface="Bookman Old Style" panose="02050604050505020204" pitchFamily="18" charset="0"/>
              </a:rPr>
              <a:t>// public static final variable declaration &amp; initialization</a:t>
            </a:r>
          </a:p>
          <a:p>
            <a:pPr algn="just"/>
            <a:r>
              <a:rPr lang="en-US" sz="2000" b="1" dirty="0">
                <a:solidFill>
                  <a:srgbClr val="003F66"/>
                </a:solidFill>
                <a:latin typeface="Bookman Old Style" panose="02050604050505020204" pitchFamily="18" charset="0"/>
              </a:rPr>
              <a:t>transient int </a:t>
            </a:r>
            <a:r>
              <a:rPr lang="en-US" sz="2000" b="1" dirty="0" err="1">
                <a:solidFill>
                  <a:srgbClr val="003F66"/>
                </a:solidFill>
                <a:latin typeface="Bookman Old Style" panose="02050604050505020204" pitchFamily="18" charset="0"/>
              </a:rPr>
              <a:t>i</a:t>
            </a:r>
            <a:r>
              <a:rPr lang="en-US" sz="2000" b="1" dirty="0">
                <a:solidFill>
                  <a:srgbClr val="003F66"/>
                </a:solidFill>
                <a:latin typeface="Bookman Old Style" panose="02050604050505020204" pitchFamily="18" charset="0"/>
              </a:rPr>
              <a:t>=10; </a:t>
            </a:r>
            <a:r>
              <a:rPr lang="en-US" sz="2000" dirty="0">
                <a:solidFill>
                  <a:srgbClr val="003F66"/>
                </a:solidFill>
                <a:latin typeface="Bookman Old Style" panose="02050604050505020204" pitchFamily="18" charset="0"/>
              </a:rPr>
              <a:t>// transient int variable</a:t>
            </a:r>
          </a:p>
          <a:p>
            <a:pPr algn="just"/>
            <a:r>
              <a:rPr lang="en-US" sz="2000" b="1" dirty="0">
                <a:solidFill>
                  <a:srgbClr val="003F66"/>
                </a:solidFill>
                <a:latin typeface="Bookman Old Style" panose="02050604050505020204" pitchFamily="18" charset="0"/>
              </a:rPr>
              <a:t>volatile int </a:t>
            </a:r>
            <a:r>
              <a:rPr lang="en-US" sz="2000" b="1" dirty="0" err="1">
                <a:solidFill>
                  <a:srgbClr val="003F66"/>
                </a:solidFill>
                <a:latin typeface="Bookman Old Style" panose="02050604050505020204" pitchFamily="18" charset="0"/>
              </a:rPr>
              <a:t>i</a:t>
            </a:r>
            <a:r>
              <a:rPr lang="en-US" sz="2000" b="1" dirty="0">
                <a:solidFill>
                  <a:srgbClr val="003F66"/>
                </a:solidFill>
                <a:latin typeface="Bookman Old Style" panose="02050604050505020204" pitchFamily="18" charset="0"/>
              </a:rPr>
              <a:t>=10; </a:t>
            </a:r>
            <a:r>
              <a:rPr lang="en-US" sz="2000" dirty="0">
                <a:solidFill>
                  <a:srgbClr val="003F66"/>
                </a:solidFill>
                <a:latin typeface="Bookman Old Style" panose="02050604050505020204" pitchFamily="18" charset="0"/>
              </a:rPr>
              <a:t>// volatile variable declaration</a:t>
            </a:r>
            <a:endParaRPr lang="en-IN" sz="2000" dirty="0"/>
          </a:p>
        </p:txBody>
      </p:sp>
      <p:sp>
        <p:nvSpPr>
          <p:cNvPr id="7" name="Footer Placeholder 6">
            <a:extLst>
              <a:ext uri="{FF2B5EF4-FFF2-40B4-BE49-F238E27FC236}">
                <a16:creationId xmlns:a16="http://schemas.microsoft.com/office/drawing/2014/main" id="{0F0AF39E-7FA6-D291-8B51-9FFDB7586E7A}"/>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5256801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461665"/>
              </a:xfrm>
              <a:prstGeom prst="rect">
                <a:avLst/>
              </a:prstGeom>
            </p:spPr>
            <p:txBody>
              <a:bodyPr wrap="square">
                <a:spAutoFit/>
              </a:bodyPr>
              <a:lstStyle/>
              <a:p>
                <a:pPr algn="ctr"/>
                <a:r>
                  <a:rPr lang="en-US" sz="2400" b="1" dirty="0">
                    <a:solidFill>
                      <a:schemeClr val="bg1"/>
                    </a:solidFill>
                    <a:latin typeface="Bookman Old Style" panose="02050604050505020204" pitchFamily="18" charset="0"/>
                  </a:rPr>
                  <a:t>Variable syntaxes</a:t>
                </a:r>
                <a:endParaRPr lang="en-US" sz="105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19" name="TextBox 18">
            <a:extLst>
              <a:ext uri="{FF2B5EF4-FFF2-40B4-BE49-F238E27FC236}">
                <a16:creationId xmlns:a16="http://schemas.microsoft.com/office/drawing/2014/main" id="{714B5B16-979C-49D5-A896-12440A366387}"/>
              </a:ext>
            </a:extLst>
          </p:cNvPr>
          <p:cNvSpPr txBox="1"/>
          <p:nvPr/>
        </p:nvSpPr>
        <p:spPr>
          <a:xfrm>
            <a:off x="278296" y="737371"/>
            <a:ext cx="5408129" cy="1938992"/>
          </a:xfrm>
          <a:prstGeom prst="rect">
            <a:avLst/>
          </a:prstGeom>
          <a:noFill/>
        </p:spPr>
        <p:txBody>
          <a:bodyPr wrap="square">
            <a:spAutoFit/>
          </a:bodyPr>
          <a:lstStyle/>
          <a:p>
            <a:pPr algn="just"/>
            <a:r>
              <a:rPr lang="en-US" sz="1600" b="1" dirty="0">
                <a:solidFill>
                  <a:srgbClr val="003F66"/>
                </a:solidFill>
                <a:latin typeface="Bookman Old Style" panose="02050604050505020204" pitchFamily="18" charset="0"/>
              </a:rPr>
              <a:t>------------------------------------------------------------------</a:t>
            </a:r>
          </a:p>
          <a:p>
            <a:pPr algn="just"/>
            <a:r>
              <a:rPr lang="en-US" sz="2400" b="1" dirty="0">
                <a:solidFill>
                  <a:srgbClr val="003F66"/>
                </a:solidFill>
                <a:latin typeface="Bookman Old Style" panose="02050604050505020204" pitchFamily="18" charset="0"/>
              </a:rPr>
              <a:t>Scope of variable declarations:</a:t>
            </a:r>
          </a:p>
          <a:p>
            <a:pPr algn="just"/>
            <a:r>
              <a:rPr lang="en-US" sz="1600" b="1" dirty="0">
                <a:solidFill>
                  <a:srgbClr val="003F66"/>
                </a:solidFill>
                <a:latin typeface="Bookman Old Style" panose="02050604050505020204" pitchFamily="18" charset="0"/>
              </a:rPr>
              <a:t>------------------------------------------------------------------</a:t>
            </a:r>
          </a:p>
          <a:p>
            <a:pPr algn="just"/>
            <a:r>
              <a:rPr lang="en-US" sz="1600" b="1" dirty="0">
                <a:solidFill>
                  <a:srgbClr val="003F66"/>
                </a:solidFill>
                <a:latin typeface="Bookman Old Style" panose="02050604050505020204" pitchFamily="18" charset="0"/>
              </a:rPr>
              <a:t>class variables</a:t>
            </a:r>
          </a:p>
          <a:p>
            <a:pPr algn="just"/>
            <a:r>
              <a:rPr lang="en-US" sz="1600" b="1" dirty="0">
                <a:solidFill>
                  <a:srgbClr val="003F66"/>
                </a:solidFill>
                <a:latin typeface="Bookman Old Style" panose="02050604050505020204" pitchFamily="18" charset="0"/>
              </a:rPr>
              <a:t>instance variables</a:t>
            </a:r>
          </a:p>
          <a:p>
            <a:pPr algn="just"/>
            <a:r>
              <a:rPr lang="en-US" sz="1600" b="1" dirty="0">
                <a:solidFill>
                  <a:srgbClr val="003F66"/>
                </a:solidFill>
                <a:latin typeface="Bookman Old Style" panose="02050604050505020204" pitchFamily="18" charset="0"/>
              </a:rPr>
              <a:t>local variables</a:t>
            </a:r>
          </a:p>
          <a:p>
            <a:pPr algn="just"/>
            <a:r>
              <a:rPr lang="en-US" sz="1600" b="1" dirty="0">
                <a:solidFill>
                  <a:srgbClr val="003F66"/>
                </a:solidFill>
                <a:latin typeface="Bookman Old Style" panose="02050604050505020204" pitchFamily="18" charset="0"/>
              </a:rPr>
              <a:t>block level variables</a:t>
            </a:r>
          </a:p>
        </p:txBody>
      </p:sp>
      <p:sp>
        <p:nvSpPr>
          <p:cNvPr id="7" name="Footer Placeholder 6">
            <a:extLst>
              <a:ext uri="{FF2B5EF4-FFF2-40B4-BE49-F238E27FC236}">
                <a16:creationId xmlns:a16="http://schemas.microsoft.com/office/drawing/2014/main" id="{0F0AF39E-7FA6-D291-8B51-9FFDB7586E7A}"/>
              </a:ext>
            </a:extLst>
          </p:cNvPr>
          <p:cNvSpPr>
            <a:spLocks noGrp="1"/>
          </p:cNvSpPr>
          <p:nvPr>
            <p:ph type="ftr" sz="quarter" idx="11"/>
          </p:nvPr>
        </p:nvSpPr>
        <p:spPr/>
        <p:txBody>
          <a:bodyPr/>
          <a:lstStyle/>
          <a:p>
            <a:r>
              <a:rPr lang="en-US"/>
              <a:t>Suryanarayana</a:t>
            </a:r>
          </a:p>
        </p:txBody>
      </p:sp>
      <p:sp>
        <p:nvSpPr>
          <p:cNvPr id="8" name="TextBox 7">
            <a:extLst>
              <a:ext uri="{FF2B5EF4-FFF2-40B4-BE49-F238E27FC236}">
                <a16:creationId xmlns:a16="http://schemas.microsoft.com/office/drawing/2014/main" id="{B6ED498F-B4B1-1AD4-4070-1B3DBAB11EFE}"/>
              </a:ext>
            </a:extLst>
          </p:cNvPr>
          <p:cNvSpPr txBox="1"/>
          <p:nvPr/>
        </p:nvSpPr>
        <p:spPr>
          <a:xfrm>
            <a:off x="285750" y="2691668"/>
            <a:ext cx="5408129" cy="2554545"/>
          </a:xfrm>
          <a:prstGeom prst="rect">
            <a:avLst/>
          </a:prstGeom>
          <a:noFill/>
        </p:spPr>
        <p:txBody>
          <a:bodyPr wrap="square">
            <a:spAutoFit/>
          </a:bodyPr>
          <a:lstStyle/>
          <a:p>
            <a:pPr algn="just"/>
            <a:r>
              <a:rPr lang="en-US" sz="1600" b="1" dirty="0">
                <a:solidFill>
                  <a:srgbClr val="003F66"/>
                </a:solidFill>
                <a:latin typeface="Bookman Old Style" panose="02050604050505020204" pitchFamily="18" charset="0"/>
              </a:rPr>
              <a:t>class A {</a:t>
            </a:r>
          </a:p>
          <a:p>
            <a:pPr algn="just"/>
            <a:r>
              <a:rPr lang="en-US" sz="1600" b="1" dirty="0">
                <a:solidFill>
                  <a:srgbClr val="003F66"/>
                </a:solidFill>
                <a:latin typeface="Bookman Old Style" panose="02050604050505020204" pitchFamily="18" charset="0"/>
              </a:rPr>
              <a:t>	static int a=10;</a:t>
            </a:r>
          </a:p>
          <a:p>
            <a:pPr algn="just"/>
            <a:r>
              <a:rPr lang="en-US" sz="1600" b="1" dirty="0">
                <a:solidFill>
                  <a:srgbClr val="003F66"/>
                </a:solidFill>
                <a:latin typeface="Bookman Old Style" panose="02050604050505020204" pitchFamily="18" charset="0"/>
              </a:rPr>
              <a:t>	int b=20;</a:t>
            </a:r>
          </a:p>
          <a:p>
            <a:pPr algn="just"/>
            <a:r>
              <a:rPr lang="en-US" sz="1600" b="1" dirty="0">
                <a:solidFill>
                  <a:srgbClr val="003F66"/>
                </a:solidFill>
                <a:latin typeface="Bookman Old Style" panose="02050604050505020204" pitchFamily="18" charset="0"/>
              </a:rPr>
              <a:t>	void method1() {</a:t>
            </a:r>
          </a:p>
          <a:p>
            <a:pPr algn="just"/>
            <a:r>
              <a:rPr lang="en-US" sz="1600" b="1" dirty="0">
                <a:solidFill>
                  <a:srgbClr val="003F66"/>
                </a:solidFill>
                <a:latin typeface="Bookman Old Style" panose="02050604050505020204" pitchFamily="18" charset="0"/>
              </a:rPr>
              <a:t>		int c=30;</a:t>
            </a:r>
          </a:p>
          <a:p>
            <a:pPr algn="just"/>
            <a:r>
              <a:rPr lang="en-US" sz="1600" b="1" dirty="0">
                <a:solidFill>
                  <a:srgbClr val="003F66"/>
                </a:solidFill>
                <a:latin typeface="Bookman Old Style" panose="02050604050505020204" pitchFamily="18" charset="0"/>
              </a:rPr>
              <a:t>		if(c&gt;-30) {</a:t>
            </a:r>
          </a:p>
          <a:p>
            <a:pPr algn="just"/>
            <a:r>
              <a:rPr lang="en-US" sz="1600" b="1" dirty="0">
                <a:solidFill>
                  <a:srgbClr val="003F66"/>
                </a:solidFill>
                <a:latin typeface="Bookman Old Style" panose="02050604050505020204" pitchFamily="18" charset="0"/>
              </a:rPr>
              <a:t>			int d=40;</a:t>
            </a:r>
          </a:p>
          <a:p>
            <a:pPr algn="just"/>
            <a:r>
              <a:rPr lang="en-US" sz="1600" b="1" dirty="0">
                <a:solidFill>
                  <a:srgbClr val="003F66"/>
                </a:solidFill>
                <a:latin typeface="Bookman Old Style" panose="02050604050505020204" pitchFamily="18" charset="0"/>
              </a:rPr>
              <a:t>		}</a:t>
            </a:r>
          </a:p>
          <a:p>
            <a:pPr algn="just"/>
            <a:r>
              <a:rPr lang="en-US" sz="1600" b="1" dirty="0">
                <a:solidFill>
                  <a:srgbClr val="003F66"/>
                </a:solidFill>
                <a:latin typeface="Bookman Old Style" panose="02050604050505020204" pitchFamily="18" charset="0"/>
              </a:rPr>
              <a:t>	}</a:t>
            </a:r>
          </a:p>
          <a:p>
            <a:pPr algn="just"/>
            <a:r>
              <a:rPr lang="en-US" sz="1600" b="1" dirty="0">
                <a:solidFill>
                  <a:srgbClr val="003F66"/>
                </a:solidFill>
                <a:latin typeface="Bookman Old Style" panose="02050604050505020204" pitchFamily="18" charset="0"/>
              </a:rPr>
              <a:t>}</a:t>
            </a:r>
          </a:p>
        </p:txBody>
      </p:sp>
      <p:sp>
        <p:nvSpPr>
          <p:cNvPr id="10" name="TextBox 9">
            <a:extLst>
              <a:ext uri="{FF2B5EF4-FFF2-40B4-BE49-F238E27FC236}">
                <a16:creationId xmlns:a16="http://schemas.microsoft.com/office/drawing/2014/main" id="{38605933-534C-31D4-3C2A-8346313059D2}"/>
              </a:ext>
            </a:extLst>
          </p:cNvPr>
          <p:cNvSpPr txBox="1"/>
          <p:nvPr/>
        </p:nvSpPr>
        <p:spPr>
          <a:xfrm>
            <a:off x="4221327" y="2726518"/>
            <a:ext cx="1928813" cy="338554"/>
          </a:xfrm>
          <a:prstGeom prst="rect">
            <a:avLst/>
          </a:prstGeom>
          <a:noFill/>
        </p:spPr>
        <p:txBody>
          <a:bodyPr wrap="square">
            <a:spAutoFit/>
          </a:bodyPr>
          <a:lstStyle/>
          <a:p>
            <a:r>
              <a:rPr lang="en-US" sz="1600" b="1" dirty="0">
                <a:solidFill>
                  <a:srgbClr val="003F66"/>
                </a:solidFill>
                <a:latin typeface="Bookman Old Style" panose="02050604050505020204" pitchFamily="18" charset="0"/>
              </a:rPr>
              <a:t>class variables</a:t>
            </a:r>
            <a:endParaRPr lang="en-IN" sz="1600" b="1" dirty="0"/>
          </a:p>
        </p:txBody>
      </p:sp>
      <p:sp>
        <p:nvSpPr>
          <p:cNvPr id="11" name="TextBox 10">
            <a:extLst>
              <a:ext uri="{FF2B5EF4-FFF2-40B4-BE49-F238E27FC236}">
                <a16:creationId xmlns:a16="http://schemas.microsoft.com/office/drawing/2014/main" id="{C4DCEF56-C6A2-216A-9D3F-782E944F59DB}"/>
              </a:ext>
            </a:extLst>
          </p:cNvPr>
          <p:cNvSpPr txBox="1"/>
          <p:nvPr/>
        </p:nvSpPr>
        <p:spPr>
          <a:xfrm>
            <a:off x="4359440" y="3151817"/>
            <a:ext cx="2138678" cy="338554"/>
          </a:xfrm>
          <a:prstGeom prst="rect">
            <a:avLst/>
          </a:prstGeom>
          <a:noFill/>
        </p:spPr>
        <p:txBody>
          <a:bodyPr wrap="square">
            <a:spAutoFit/>
          </a:bodyPr>
          <a:lstStyle/>
          <a:p>
            <a:r>
              <a:rPr lang="en-US" sz="1600" b="1" dirty="0">
                <a:solidFill>
                  <a:srgbClr val="003F66"/>
                </a:solidFill>
                <a:latin typeface="Bookman Old Style" panose="02050604050505020204" pitchFamily="18" charset="0"/>
              </a:rPr>
              <a:t>instance variables</a:t>
            </a:r>
            <a:endParaRPr lang="en-IN" sz="1600" b="1" dirty="0"/>
          </a:p>
        </p:txBody>
      </p:sp>
      <p:sp>
        <p:nvSpPr>
          <p:cNvPr id="12" name="TextBox 11">
            <a:extLst>
              <a:ext uri="{FF2B5EF4-FFF2-40B4-BE49-F238E27FC236}">
                <a16:creationId xmlns:a16="http://schemas.microsoft.com/office/drawing/2014/main" id="{82DB58F8-1789-4C0C-A645-12A36915F390}"/>
              </a:ext>
            </a:extLst>
          </p:cNvPr>
          <p:cNvSpPr txBox="1"/>
          <p:nvPr/>
        </p:nvSpPr>
        <p:spPr>
          <a:xfrm>
            <a:off x="4661075" y="3643959"/>
            <a:ext cx="1928813" cy="338554"/>
          </a:xfrm>
          <a:prstGeom prst="rect">
            <a:avLst/>
          </a:prstGeom>
          <a:noFill/>
        </p:spPr>
        <p:txBody>
          <a:bodyPr wrap="square">
            <a:spAutoFit/>
          </a:bodyPr>
          <a:lstStyle/>
          <a:p>
            <a:r>
              <a:rPr lang="en-US" sz="1600" b="1" dirty="0">
                <a:solidFill>
                  <a:srgbClr val="003F66"/>
                </a:solidFill>
                <a:latin typeface="Bookman Old Style" panose="02050604050505020204" pitchFamily="18" charset="0"/>
              </a:rPr>
              <a:t>local variables</a:t>
            </a:r>
            <a:endParaRPr lang="en-IN" sz="1600" b="1" dirty="0"/>
          </a:p>
        </p:txBody>
      </p:sp>
      <p:sp>
        <p:nvSpPr>
          <p:cNvPr id="13" name="TextBox 12">
            <a:extLst>
              <a:ext uri="{FF2B5EF4-FFF2-40B4-BE49-F238E27FC236}">
                <a16:creationId xmlns:a16="http://schemas.microsoft.com/office/drawing/2014/main" id="{01604FF2-1F32-1DBB-C0C0-A51DEB5A1367}"/>
              </a:ext>
            </a:extLst>
          </p:cNvPr>
          <p:cNvSpPr txBox="1"/>
          <p:nvPr/>
        </p:nvSpPr>
        <p:spPr>
          <a:xfrm>
            <a:off x="4866518" y="4169458"/>
            <a:ext cx="2455386" cy="338554"/>
          </a:xfrm>
          <a:prstGeom prst="rect">
            <a:avLst/>
          </a:prstGeom>
          <a:noFill/>
        </p:spPr>
        <p:txBody>
          <a:bodyPr wrap="square">
            <a:spAutoFit/>
          </a:bodyPr>
          <a:lstStyle/>
          <a:p>
            <a:r>
              <a:rPr lang="en-US" sz="1600" b="1" dirty="0">
                <a:solidFill>
                  <a:srgbClr val="003F66"/>
                </a:solidFill>
                <a:latin typeface="Bookman Old Style" panose="02050604050505020204" pitchFamily="18" charset="0"/>
              </a:rPr>
              <a:t>block level  variables</a:t>
            </a:r>
            <a:endParaRPr lang="en-IN" sz="1600" b="1" dirty="0"/>
          </a:p>
        </p:txBody>
      </p:sp>
      <p:cxnSp>
        <p:nvCxnSpPr>
          <p:cNvPr id="15" name="Straight Arrow Connector 14">
            <a:extLst>
              <a:ext uri="{FF2B5EF4-FFF2-40B4-BE49-F238E27FC236}">
                <a16:creationId xmlns:a16="http://schemas.microsoft.com/office/drawing/2014/main" id="{204F1241-F2DD-2CDF-79D8-1173B66ABDDF}"/>
              </a:ext>
            </a:extLst>
          </p:cNvPr>
          <p:cNvCxnSpPr/>
          <p:nvPr/>
        </p:nvCxnSpPr>
        <p:spPr>
          <a:xfrm flipV="1">
            <a:off x="2931693" y="2928938"/>
            <a:ext cx="1289634" cy="1361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34E47836-B324-EE8B-BAFB-4EEB6328C5CC}"/>
              </a:ext>
            </a:extLst>
          </p:cNvPr>
          <p:cNvCxnSpPr>
            <a:cxnSpLocks/>
          </p:cNvCxnSpPr>
          <p:nvPr/>
        </p:nvCxnSpPr>
        <p:spPr>
          <a:xfrm flipV="1">
            <a:off x="2387138" y="3331733"/>
            <a:ext cx="1834189" cy="574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AF740F5E-5810-730C-D15C-9D5FCB76C25E}"/>
              </a:ext>
            </a:extLst>
          </p:cNvPr>
          <p:cNvCxnSpPr>
            <a:cxnSpLocks/>
          </p:cNvCxnSpPr>
          <p:nvPr/>
        </p:nvCxnSpPr>
        <p:spPr>
          <a:xfrm>
            <a:off x="3237429" y="3799081"/>
            <a:ext cx="1320284" cy="141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8BD20FA-A2F0-22E5-B3E1-5D845C269111}"/>
              </a:ext>
            </a:extLst>
          </p:cNvPr>
          <p:cNvCxnSpPr>
            <a:cxnSpLocks/>
          </p:cNvCxnSpPr>
          <p:nvPr/>
        </p:nvCxnSpPr>
        <p:spPr>
          <a:xfrm>
            <a:off x="4221327" y="4306454"/>
            <a:ext cx="648771" cy="412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09342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461665"/>
              </a:xfrm>
              <a:prstGeom prst="rect">
                <a:avLst/>
              </a:prstGeom>
            </p:spPr>
            <p:txBody>
              <a:bodyPr wrap="square">
                <a:spAutoFit/>
              </a:bodyPr>
              <a:lstStyle/>
              <a:p>
                <a:pPr algn="ctr"/>
                <a:r>
                  <a:rPr lang="en-US" sz="2400" b="1" dirty="0">
                    <a:solidFill>
                      <a:schemeClr val="bg1"/>
                    </a:solidFill>
                    <a:latin typeface="Bookman Old Style" panose="02050604050505020204" pitchFamily="18" charset="0"/>
                  </a:rPr>
                  <a:t>Variable syntaxes</a:t>
                </a:r>
                <a:endParaRPr lang="en-US" sz="105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19" name="TextBox 18">
            <a:extLst>
              <a:ext uri="{FF2B5EF4-FFF2-40B4-BE49-F238E27FC236}">
                <a16:creationId xmlns:a16="http://schemas.microsoft.com/office/drawing/2014/main" id="{714B5B16-979C-49D5-A896-12440A366387}"/>
              </a:ext>
            </a:extLst>
          </p:cNvPr>
          <p:cNvSpPr txBox="1"/>
          <p:nvPr/>
        </p:nvSpPr>
        <p:spPr>
          <a:xfrm>
            <a:off x="285750" y="1452988"/>
            <a:ext cx="9082838" cy="3416320"/>
          </a:xfrm>
          <a:prstGeom prst="rect">
            <a:avLst/>
          </a:prstGeom>
          <a:noFill/>
        </p:spPr>
        <p:txBody>
          <a:bodyPr wrap="square">
            <a:spAutoFit/>
          </a:bodyPr>
          <a:lstStyle/>
          <a:p>
            <a:pPr algn="just"/>
            <a:r>
              <a:rPr lang="en-US" sz="1800" b="1" dirty="0">
                <a:solidFill>
                  <a:srgbClr val="003F66"/>
                </a:solidFill>
                <a:latin typeface="Bookman Old Style" panose="02050604050505020204" pitchFamily="18" charset="0"/>
              </a:rPr>
              <a:t>Syntax:</a:t>
            </a:r>
          </a:p>
          <a:p>
            <a:pPr algn="just"/>
            <a:r>
              <a:rPr lang="en-US" sz="1800" b="1" dirty="0">
                <a:solidFill>
                  <a:srgbClr val="003F66"/>
                </a:solidFill>
                <a:latin typeface="Bookman Old Style" panose="02050604050505020204" pitchFamily="18" charset="0"/>
              </a:rPr>
              <a:t>&lt;</a:t>
            </a:r>
            <a:r>
              <a:rPr lang="en-US" sz="1800" b="1" dirty="0">
                <a:solidFill>
                  <a:srgbClr val="FF0000"/>
                </a:solidFill>
                <a:latin typeface="Bookman Old Style" panose="02050604050505020204" pitchFamily="18" charset="0"/>
              </a:rPr>
              <a:t>access_specifier</a:t>
            </a:r>
            <a:r>
              <a:rPr lang="en-US" sz="1800" b="1" dirty="0">
                <a:solidFill>
                  <a:srgbClr val="003F66"/>
                </a:solidFill>
                <a:latin typeface="Bookman Old Style" panose="02050604050505020204" pitchFamily="18" charset="0"/>
              </a:rPr>
              <a:t>&gt; &lt;</a:t>
            </a:r>
            <a:r>
              <a:rPr lang="en-US" sz="1800" b="1" dirty="0">
                <a:solidFill>
                  <a:schemeClr val="accent2">
                    <a:lumMod val="75000"/>
                  </a:schemeClr>
                </a:solidFill>
                <a:latin typeface="Bookman Old Style" panose="02050604050505020204" pitchFamily="18" charset="0"/>
              </a:rPr>
              <a:t>access_modifier</a:t>
            </a:r>
            <a:r>
              <a:rPr lang="en-US" sz="1800" b="1" dirty="0">
                <a:solidFill>
                  <a:srgbClr val="003F66"/>
                </a:solidFill>
                <a:latin typeface="Bookman Old Style" panose="02050604050505020204" pitchFamily="18" charset="0"/>
              </a:rPr>
              <a:t>&gt; </a:t>
            </a:r>
            <a:r>
              <a:rPr lang="en-US" sz="1800" b="1" dirty="0">
                <a:solidFill>
                  <a:schemeClr val="accent6">
                    <a:lumMod val="75000"/>
                  </a:schemeClr>
                </a:solidFill>
                <a:latin typeface="Bookman Old Style" panose="02050604050505020204" pitchFamily="18" charset="0"/>
              </a:rPr>
              <a:t>data_type</a:t>
            </a:r>
            <a:r>
              <a:rPr lang="en-US" sz="1800" b="1" dirty="0">
                <a:solidFill>
                  <a:srgbClr val="003F66"/>
                </a:solidFill>
                <a:latin typeface="Bookman Old Style" panose="02050604050505020204" pitchFamily="18" charset="0"/>
              </a:rPr>
              <a:t> var_name/identifier &lt;=initializer/value/literal&gt;;</a:t>
            </a:r>
          </a:p>
          <a:p>
            <a:pPr algn="just"/>
            <a:endParaRPr lang="en-US" sz="1800" b="1" dirty="0">
              <a:solidFill>
                <a:srgbClr val="003F66"/>
              </a:solidFill>
              <a:latin typeface="Bookman Old Style" panose="02050604050505020204" pitchFamily="18" charset="0"/>
            </a:endParaRPr>
          </a:p>
          <a:p>
            <a:pPr algn="just"/>
            <a:r>
              <a:rPr lang="en-US" sz="3600" b="1" u="sng" dirty="0">
                <a:solidFill>
                  <a:srgbClr val="003F66"/>
                </a:solidFill>
                <a:latin typeface="Bookman Old Style" panose="02050604050505020204" pitchFamily="18" charset="0"/>
              </a:rPr>
              <a:t>access specifiers:</a:t>
            </a:r>
          </a:p>
          <a:p>
            <a:pPr algn="just"/>
            <a:r>
              <a:rPr lang="en-US" sz="1800" b="1" dirty="0">
                <a:solidFill>
                  <a:srgbClr val="003F66"/>
                </a:solidFill>
                <a:latin typeface="Bookman Old Style" panose="02050604050505020204" pitchFamily="18" charset="0"/>
              </a:rPr>
              <a:t>all access_specifiers are applicable on variables</a:t>
            </a:r>
          </a:p>
          <a:p>
            <a:pPr marL="285750" indent="-285750" algn="just">
              <a:buFont typeface="Wingdings" panose="05000000000000000000" pitchFamily="2" charset="2"/>
              <a:buChar char="v"/>
            </a:pPr>
            <a:r>
              <a:rPr lang="en-US" sz="1800" b="1" dirty="0">
                <a:solidFill>
                  <a:srgbClr val="003F66"/>
                </a:solidFill>
                <a:latin typeface="Bookman Old Style" panose="02050604050505020204" pitchFamily="18" charset="0"/>
              </a:rPr>
              <a:t>private: accessible only within the class</a:t>
            </a:r>
          </a:p>
          <a:p>
            <a:pPr marL="285750" indent="-285750" algn="just">
              <a:buFont typeface="Wingdings" panose="05000000000000000000" pitchFamily="2" charset="2"/>
              <a:buChar char="v"/>
            </a:pPr>
            <a:r>
              <a:rPr lang="en-US" sz="1800" b="1" dirty="0">
                <a:solidFill>
                  <a:srgbClr val="003F66"/>
                </a:solidFill>
                <a:latin typeface="Bookman Old Style" panose="02050604050505020204" pitchFamily="18" charset="0"/>
              </a:rPr>
              <a:t>default: accessible only within the package</a:t>
            </a:r>
          </a:p>
          <a:p>
            <a:pPr marL="285750" indent="-285750" algn="just">
              <a:buFont typeface="Wingdings" panose="05000000000000000000" pitchFamily="2" charset="2"/>
              <a:buChar char="v"/>
            </a:pPr>
            <a:r>
              <a:rPr lang="en-US" sz="1800" b="1" dirty="0">
                <a:solidFill>
                  <a:srgbClr val="003F66"/>
                </a:solidFill>
                <a:latin typeface="Bookman Old Style" panose="02050604050505020204" pitchFamily="18" charset="0"/>
              </a:rPr>
              <a:t>protected: accessible within the package and up to sub class outside the package</a:t>
            </a:r>
          </a:p>
          <a:p>
            <a:pPr marL="285750" indent="-285750" algn="just">
              <a:buFont typeface="Wingdings" panose="05000000000000000000" pitchFamily="2" charset="2"/>
              <a:buChar char="v"/>
            </a:pPr>
            <a:r>
              <a:rPr lang="en-US" sz="1800" b="1" dirty="0">
                <a:solidFill>
                  <a:srgbClr val="003F66"/>
                </a:solidFill>
                <a:latin typeface="Bookman Old Style" panose="02050604050505020204" pitchFamily="18" charset="0"/>
              </a:rPr>
              <a:t>public: accessible anywhere within and outside the package</a:t>
            </a:r>
            <a:endParaRPr lang="en-IN" sz="2400" dirty="0"/>
          </a:p>
        </p:txBody>
      </p:sp>
      <p:sp>
        <p:nvSpPr>
          <p:cNvPr id="7" name="Footer Placeholder 6">
            <a:extLst>
              <a:ext uri="{FF2B5EF4-FFF2-40B4-BE49-F238E27FC236}">
                <a16:creationId xmlns:a16="http://schemas.microsoft.com/office/drawing/2014/main" id="{910E30F7-B7D4-08ED-6F10-3DFC2EA00AE2}"/>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6763190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461665"/>
              </a:xfrm>
              <a:prstGeom prst="rect">
                <a:avLst/>
              </a:prstGeom>
            </p:spPr>
            <p:txBody>
              <a:bodyPr wrap="square">
                <a:spAutoFit/>
              </a:bodyPr>
              <a:lstStyle/>
              <a:p>
                <a:pPr algn="ctr"/>
                <a:r>
                  <a:rPr lang="en-US" sz="2400" b="1" dirty="0">
                    <a:solidFill>
                      <a:schemeClr val="bg1"/>
                    </a:solidFill>
                    <a:latin typeface="Bookman Old Style" panose="02050604050505020204" pitchFamily="18" charset="0"/>
                  </a:rPr>
                  <a:t>Variable syntaxes</a:t>
                </a:r>
                <a:endParaRPr lang="en-US" sz="105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19" name="TextBox 18">
            <a:extLst>
              <a:ext uri="{FF2B5EF4-FFF2-40B4-BE49-F238E27FC236}">
                <a16:creationId xmlns:a16="http://schemas.microsoft.com/office/drawing/2014/main" id="{714B5B16-979C-49D5-A896-12440A366387}"/>
              </a:ext>
            </a:extLst>
          </p:cNvPr>
          <p:cNvSpPr txBox="1"/>
          <p:nvPr/>
        </p:nvSpPr>
        <p:spPr>
          <a:xfrm>
            <a:off x="285750" y="1174694"/>
            <a:ext cx="9082838" cy="5293757"/>
          </a:xfrm>
          <a:prstGeom prst="rect">
            <a:avLst/>
          </a:prstGeom>
          <a:noFill/>
        </p:spPr>
        <p:txBody>
          <a:bodyPr wrap="square">
            <a:spAutoFit/>
          </a:bodyPr>
          <a:lstStyle/>
          <a:p>
            <a:pPr algn="just"/>
            <a:r>
              <a:rPr lang="en-US" sz="3600" b="1" u="sng" dirty="0">
                <a:solidFill>
                  <a:srgbClr val="003F66"/>
                </a:solidFill>
                <a:latin typeface="Bookman Old Style" panose="02050604050505020204" pitchFamily="18" charset="0"/>
              </a:rPr>
              <a:t>access modifiers:</a:t>
            </a:r>
          </a:p>
          <a:p>
            <a:pPr algn="just"/>
            <a:r>
              <a:rPr lang="en-US" sz="2800" b="1" strike="sngStrike" dirty="0">
                <a:solidFill>
                  <a:srgbClr val="FF0000"/>
                </a:solidFill>
                <a:latin typeface="Bookman Old Style" panose="02050604050505020204" pitchFamily="18" charset="0"/>
              </a:rPr>
              <a:t>abstract:</a:t>
            </a:r>
            <a:r>
              <a:rPr lang="en-US" sz="2800" b="1" dirty="0">
                <a:solidFill>
                  <a:srgbClr val="003F66"/>
                </a:solidFill>
                <a:latin typeface="Bookman Old Style" panose="02050604050505020204" pitchFamily="18" charset="0"/>
              </a:rPr>
              <a:t> </a:t>
            </a:r>
          </a:p>
          <a:p>
            <a:pPr marL="285750" indent="-285750" algn="just">
              <a:buFont typeface="Wingdings" panose="05000000000000000000" pitchFamily="2" charset="2"/>
              <a:buChar char="v"/>
            </a:pPr>
            <a:r>
              <a:rPr lang="en-US" sz="2000" b="1" dirty="0">
                <a:solidFill>
                  <a:srgbClr val="003F66"/>
                </a:solidFill>
                <a:latin typeface="Bookman Old Style" panose="02050604050505020204" pitchFamily="18" charset="0"/>
              </a:rPr>
              <a:t>is applicable only on class and methods because only class and method are having body/implementation. </a:t>
            </a:r>
          </a:p>
          <a:p>
            <a:pPr marL="285750" indent="-285750" algn="just">
              <a:buFont typeface="Wingdings" panose="05000000000000000000" pitchFamily="2" charset="2"/>
              <a:buChar char="v"/>
            </a:pPr>
            <a:r>
              <a:rPr lang="en-US" sz="2000" b="1" dirty="0">
                <a:solidFill>
                  <a:srgbClr val="003F66"/>
                </a:solidFill>
                <a:latin typeface="Bookman Old Style" panose="02050604050505020204" pitchFamily="18" charset="0"/>
              </a:rPr>
              <a:t>variables are just initialized. </a:t>
            </a:r>
          </a:p>
          <a:p>
            <a:pPr marL="285750" indent="-285750" algn="just">
              <a:buFont typeface="Wingdings" panose="05000000000000000000" pitchFamily="2" charset="2"/>
              <a:buChar char="v"/>
            </a:pPr>
            <a:r>
              <a:rPr lang="en-US" sz="2000" b="1" dirty="0">
                <a:solidFill>
                  <a:srgbClr val="003F66"/>
                </a:solidFill>
                <a:latin typeface="Bookman Old Style" panose="02050604050505020204" pitchFamily="18" charset="0"/>
              </a:rPr>
              <a:t>We should not declare variable as abstract. - Not Applicable</a:t>
            </a:r>
          </a:p>
          <a:p>
            <a:pPr algn="just"/>
            <a:endParaRPr lang="en-US" b="1" dirty="0">
              <a:solidFill>
                <a:srgbClr val="003F66"/>
              </a:solidFill>
              <a:latin typeface="Bookman Old Style" panose="02050604050505020204" pitchFamily="18" charset="0"/>
            </a:endParaRPr>
          </a:p>
          <a:p>
            <a:pPr algn="just"/>
            <a:r>
              <a:rPr lang="en-US" sz="2800" b="1" dirty="0">
                <a:solidFill>
                  <a:srgbClr val="FF0000"/>
                </a:solidFill>
                <a:latin typeface="Bookman Old Style" panose="02050604050505020204" pitchFamily="18" charset="0"/>
              </a:rPr>
              <a:t>final: </a:t>
            </a:r>
          </a:p>
          <a:p>
            <a:pPr marL="285750" indent="-285750" algn="just">
              <a:buFont typeface="Wingdings" panose="05000000000000000000" pitchFamily="2" charset="2"/>
              <a:buChar char="v"/>
            </a:pPr>
            <a:r>
              <a:rPr lang="en-US" sz="2000" b="1" dirty="0">
                <a:solidFill>
                  <a:srgbClr val="003F66"/>
                </a:solidFill>
                <a:latin typeface="Bookman Old Style" panose="02050604050505020204" pitchFamily="18" charset="0"/>
              </a:rPr>
              <a:t>var whose value want to be constant forever are declared as final. </a:t>
            </a:r>
          </a:p>
          <a:p>
            <a:pPr marL="285750" indent="-285750" algn="just">
              <a:buFont typeface="Wingdings" panose="05000000000000000000" pitchFamily="2" charset="2"/>
              <a:buChar char="v"/>
            </a:pPr>
            <a:r>
              <a:rPr lang="en-US" sz="2000" b="1" dirty="0">
                <a:solidFill>
                  <a:srgbClr val="003F66"/>
                </a:solidFill>
                <a:latin typeface="Bookman Old Style" panose="02050604050505020204" pitchFamily="18" charset="0"/>
              </a:rPr>
              <a:t>final var value must be initialized at the time of declaration. </a:t>
            </a:r>
          </a:p>
          <a:p>
            <a:pPr marL="285750" indent="-285750" algn="just">
              <a:buFont typeface="Wingdings" panose="05000000000000000000" pitchFamily="2" charset="2"/>
              <a:buChar char="v"/>
            </a:pPr>
            <a:r>
              <a:rPr lang="en-US" sz="2000" b="1" dirty="0">
                <a:solidFill>
                  <a:srgbClr val="003F66"/>
                </a:solidFill>
                <a:latin typeface="Bookman Old Style" panose="02050604050505020204" pitchFamily="18" charset="0"/>
              </a:rPr>
              <a:t>They can't be reinitialized. initialization means assigning value.</a:t>
            </a:r>
          </a:p>
          <a:p>
            <a:pPr algn="just"/>
            <a:endParaRPr lang="en-US" sz="2000" b="1" dirty="0">
              <a:solidFill>
                <a:srgbClr val="003F66"/>
              </a:solidFill>
              <a:latin typeface="Bookman Old Style" panose="02050604050505020204" pitchFamily="18" charset="0"/>
            </a:endParaRPr>
          </a:p>
          <a:p>
            <a:pPr algn="just"/>
            <a:r>
              <a:rPr lang="en-US" sz="2400" dirty="0"/>
              <a:t>		    </a:t>
            </a:r>
            <a:r>
              <a:rPr lang="en-US" sz="2400" dirty="0" err="1">
                <a:solidFill>
                  <a:srgbClr val="F105D3"/>
                </a:solidFill>
              </a:rPr>
              <a:t>minAgeForVote</a:t>
            </a:r>
            <a:endParaRPr lang="en-US" sz="2400" dirty="0">
              <a:solidFill>
                <a:srgbClr val="F105D3"/>
              </a:solidFill>
            </a:endParaRPr>
          </a:p>
          <a:p>
            <a:pPr algn="just"/>
            <a:r>
              <a:rPr lang="en-US" sz="2400" dirty="0">
                <a:solidFill>
                  <a:srgbClr val="F105D3"/>
                </a:solidFill>
              </a:rPr>
              <a:t>public final int MIN_AGE_FOR_VOTE = 18;</a:t>
            </a:r>
            <a:endParaRPr lang="en-IN" sz="2400" dirty="0">
              <a:solidFill>
                <a:srgbClr val="F105D3"/>
              </a:solidFill>
            </a:endParaRPr>
          </a:p>
        </p:txBody>
      </p:sp>
      <p:sp>
        <p:nvSpPr>
          <p:cNvPr id="7" name="Footer Placeholder 6">
            <a:extLst>
              <a:ext uri="{FF2B5EF4-FFF2-40B4-BE49-F238E27FC236}">
                <a16:creationId xmlns:a16="http://schemas.microsoft.com/office/drawing/2014/main" id="{FBAFEDB7-CE31-B750-0019-F02981ECB0FF}"/>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3439081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461665"/>
              </a:xfrm>
              <a:prstGeom prst="rect">
                <a:avLst/>
              </a:prstGeom>
            </p:spPr>
            <p:txBody>
              <a:bodyPr wrap="square">
                <a:spAutoFit/>
              </a:bodyPr>
              <a:lstStyle/>
              <a:p>
                <a:pPr algn="ctr"/>
                <a:r>
                  <a:rPr lang="en-US" sz="2400" b="1" dirty="0">
                    <a:solidFill>
                      <a:schemeClr val="bg1"/>
                    </a:solidFill>
                    <a:latin typeface="Bookman Old Style" panose="02050604050505020204" pitchFamily="18" charset="0"/>
                  </a:rPr>
                  <a:t>Variable syntaxes</a:t>
                </a:r>
                <a:endParaRPr lang="en-US" sz="105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19" name="TextBox 18">
            <a:extLst>
              <a:ext uri="{FF2B5EF4-FFF2-40B4-BE49-F238E27FC236}">
                <a16:creationId xmlns:a16="http://schemas.microsoft.com/office/drawing/2014/main" id="{714B5B16-979C-49D5-A896-12440A366387}"/>
              </a:ext>
            </a:extLst>
          </p:cNvPr>
          <p:cNvSpPr txBox="1"/>
          <p:nvPr/>
        </p:nvSpPr>
        <p:spPr>
          <a:xfrm>
            <a:off x="285750" y="1452988"/>
            <a:ext cx="9082838" cy="5047536"/>
          </a:xfrm>
          <a:prstGeom prst="rect">
            <a:avLst/>
          </a:prstGeom>
          <a:noFill/>
        </p:spPr>
        <p:txBody>
          <a:bodyPr wrap="square">
            <a:spAutoFit/>
          </a:bodyPr>
          <a:lstStyle/>
          <a:p>
            <a:pPr algn="just"/>
            <a:r>
              <a:rPr lang="en-US" sz="2800" b="1" dirty="0">
                <a:solidFill>
                  <a:srgbClr val="FF0000"/>
                </a:solidFill>
                <a:latin typeface="Bookman Old Style" panose="02050604050505020204" pitchFamily="18" charset="0"/>
              </a:rPr>
              <a:t>static: </a:t>
            </a:r>
            <a:r>
              <a:rPr lang="en-US" sz="1400" b="1" dirty="0">
                <a:solidFill>
                  <a:srgbClr val="003F66"/>
                </a:solidFill>
                <a:latin typeface="Bookman Old Style" panose="02050604050505020204" pitchFamily="18" charset="0"/>
              </a:rPr>
              <a:t>While declaring vars, vars which are not prefixed with static keyword are called as non static vars/class instance var/dynamic var (</a:t>
            </a:r>
            <a:r>
              <a:rPr lang="en-US" sz="1400" b="1" dirty="0" err="1">
                <a:solidFill>
                  <a:srgbClr val="003F66"/>
                </a:solidFill>
                <a:latin typeface="Bookman Old Style" panose="02050604050505020204" pitchFamily="18" charset="0"/>
              </a:rPr>
              <a:t>eid</a:t>
            </a:r>
            <a:r>
              <a:rPr lang="en-US" sz="1400" b="1" dirty="0">
                <a:solidFill>
                  <a:srgbClr val="003F66"/>
                </a:solidFill>
                <a:latin typeface="Bookman Old Style" panose="02050604050505020204" pitchFamily="18" charset="0"/>
              </a:rPr>
              <a:t>, </a:t>
            </a:r>
            <a:r>
              <a:rPr lang="en-US" sz="1400" b="1" dirty="0" err="1">
                <a:solidFill>
                  <a:srgbClr val="003F66"/>
                </a:solidFill>
                <a:latin typeface="Bookman Old Style" panose="02050604050505020204" pitchFamily="18" charset="0"/>
              </a:rPr>
              <a:t>ename</a:t>
            </a:r>
            <a:r>
              <a:rPr lang="en-US" sz="1400" b="1" dirty="0">
                <a:solidFill>
                  <a:srgbClr val="003F66"/>
                </a:solidFill>
                <a:latin typeface="Bookman Old Style" panose="02050604050505020204" pitchFamily="18" charset="0"/>
              </a:rPr>
              <a:t>, </a:t>
            </a:r>
            <a:r>
              <a:rPr lang="en-US" sz="1400" b="1" dirty="0" err="1">
                <a:solidFill>
                  <a:srgbClr val="003F66"/>
                </a:solidFill>
                <a:latin typeface="Bookman Old Style" panose="02050604050505020204" pitchFamily="18" charset="0"/>
              </a:rPr>
              <a:t>sal</a:t>
            </a:r>
            <a:r>
              <a:rPr lang="en-US" sz="1400" b="1" dirty="0">
                <a:solidFill>
                  <a:srgbClr val="003F66"/>
                </a:solidFill>
                <a:latin typeface="Bookman Old Style" panose="02050604050505020204" pitchFamily="18" charset="0"/>
              </a:rPr>
              <a:t>, </a:t>
            </a:r>
            <a:r>
              <a:rPr lang="en-US" sz="1400" b="1" dirty="0" err="1">
                <a:solidFill>
                  <a:srgbClr val="003F66"/>
                </a:solidFill>
                <a:latin typeface="Bookman Old Style" panose="02050604050505020204" pitchFamily="18" charset="0"/>
              </a:rPr>
              <a:t>desig</a:t>
            </a:r>
            <a:r>
              <a:rPr lang="en-US" sz="1400" b="1" dirty="0">
                <a:solidFill>
                  <a:srgbClr val="003F66"/>
                </a:solidFill>
                <a:latin typeface="Bookman Old Style" panose="02050604050505020204" pitchFamily="18" charset="0"/>
              </a:rPr>
              <a:t>). To such variables as many objects/instances of a class are created in those many instances the memory will be allocated to variables. The var value changes from instance-instance hence they are called as dynamic variables.</a:t>
            </a:r>
          </a:p>
          <a:p>
            <a:pPr algn="just"/>
            <a:endParaRPr lang="en-US" sz="1400" b="1" dirty="0">
              <a:solidFill>
                <a:srgbClr val="003F66"/>
              </a:solidFill>
              <a:latin typeface="Bookman Old Style" panose="02050604050505020204" pitchFamily="18" charset="0"/>
            </a:endParaRPr>
          </a:p>
          <a:p>
            <a:pPr algn="just"/>
            <a:r>
              <a:rPr lang="en-US" sz="1400" b="1" dirty="0">
                <a:solidFill>
                  <a:srgbClr val="003F66"/>
                </a:solidFill>
                <a:latin typeface="Bookman Old Style" panose="02050604050505020204" pitchFamily="18" charset="0"/>
              </a:rPr>
              <a:t>Variable which is prefixed with static is called as static var/class var/not a class instance variable.</a:t>
            </a:r>
          </a:p>
          <a:p>
            <a:pPr algn="just"/>
            <a:endParaRPr lang="en-US" sz="1400" b="1" dirty="0">
              <a:solidFill>
                <a:srgbClr val="003F66"/>
              </a:solidFill>
              <a:latin typeface="Bookman Old Style" panose="02050604050505020204" pitchFamily="18" charset="0"/>
            </a:endParaRPr>
          </a:p>
          <a:p>
            <a:pPr algn="just"/>
            <a:r>
              <a:rPr lang="en-US" sz="1400" b="1" dirty="0">
                <a:solidFill>
                  <a:srgbClr val="003F66"/>
                </a:solidFill>
                <a:latin typeface="Bookman Old Style" panose="02050604050505020204" pitchFamily="18" charset="0"/>
              </a:rPr>
              <a:t>Generally final variables are declared as static also because final variables value doesn't change though as many number of instances of the class are created, but in every instance memory, memory will be allocated non-static which unnecessarily consumes the memory. Hence not to consume memory unnecessarily for final variable, the var is also declared as static.</a:t>
            </a:r>
          </a:p>
          <a:p>
            <a:pPr algn="just"/>
            <a:endParaRPr lang="en-US" sz="1400" b="1" dirty="0">
              <a:solidFill>
                <a:srgbClr val="003F66"/>
              </a:solidFill>
              <a:latin typeface="Bookman Old Style" panose="02050604050505020204" pitchFamily="18" charset="0"/>
            </a:endParaRPr>
          </a:p>
          <a:p>
            <a:pPr algn="just"/>
            <a:r>
              <a:rPr lang="en-US" sz="1400" b="1" dirty="0">
                <a:solidFill>
                  <a:srgbClr val="003F66"/>
                </a:solidFill>
                <a:latin typeface="Bookman Old Style" panose="02050604050505020204" pitchFamily="18" charset="0"/>
              </a:rPr>
              <a:t>Every static variable may not final such as counter variable incremented in Student class constructor which will tell the count how many number of instances of Student class are created.</a:t>
            </a:r>
          </a:p>
          <a:p>
            <a:pPr algn="just"/>
            <a:endParaRPr lang="en-US" sz="1400" b="1" dirty="0">
              <a:solidFill>
                <a:srgbClr val="003F66"/>
              </a:solidFill>
              <a:latin typeface="Bookman Old Style" panose="02050604050505020204" pitchFamily="18" charset="0"/>
            </a:endParaRPr>
          </a:p>
          <a:p>
            <a:pPr algn="just"/>
            <a:r>
              <a:rPr lang="en-US" sz="1400" b="1" dirty="0">
                <a:solidFill>
                  <a:srgbClr val="003F66"/>
                </a:solidFill>
                <a:latin typeface="Bookman Old Style" panose="02050604050505020204" pitchFamily="18" charset="0"/>
              </a:rPr>
              <a:t>If a variable is declared as static in one super class, with the same variable name if one more variable is declared in sub class. static vars are not derived into sub class, they will be directly called using classname.varname. static variables should not be called with this and super keywords. But they can be called with super class or sub class instances.</a:t>
            </a:r>
            <a:endParaRPr lang="en-IN" sz="1050" dirty="0">
              <a:solidFill>
                <a:srgbClr val="F105D3"/>
              </a:solidFill>
            </a:endParaRPr>
          </a:p>
        </p:txBody>
      </p:sp>
      <p:sp>
        <p:nvSpPr>
          <p:cNvPr id="7" name="Footer Placeholder 6">
            <a:extLst>
              <a:ext uri="{FF2B5EF4-FFF2-40B4-BE49-F238E27FC236}">
                <a16:creationId xmlns:a16="http://schemas.microsoft.com/office/drawing/2014/main" id="{C856D1F6-7818-2EFC-FFA3-3D898F833DB9}"/>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40118406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461665"/>
              </a:xfrm>
              <a:prstGeom prst="rect">
                <a:avLst/>
              </a:prstGeom>
            </p:spPr>
            <p:txBody>
              <a:bodyPr wrap="square">
                <a:spAutoFit/>
              </a:bodyPr>
              <a:lstStyle/>
              <a:p>
                <a:pPr algn="ctr"/>
                <a:r>
                  <a:rPr lang="en-US" sz="2400" b="1" dirty="0">
                    <a:solidFill>
                      <a:schemeClr val="bg1"/>
                    </a:solidFill>
                    <a:latin typeface="Bookman Old Style" panose="02050604050505020204" pitchFamily="18" charset="0"/>
                  </a:rPr>
                  <a:t>Variable syntaxes</a:t>
                </a:r>
                <a:endParaRPr lang="en-US" sz="105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19" name="TextBox 18">
            <a:extLst>
              <a:ext uri="{FF2B5EF4-FFF2-40B4-BE49-F238E27FC236}">
                <a16:creationId xmlns:a16="http://schemas.microsoft.com/office/drawing/2014/main" id="{714B5B16-979C-49D5-A896-12440A366387}"/>
              </a:ext>
            </a:extLst>
          </p:cNvPr>
          <p:cNvSpPr txBox="1"/>
          <p:nvPr/>
        </p:nvSpPr>
        <p:spPr>
          <a:xfrm>
            <a:off x="285750" y="1452988"/>
            <a:ext cx="9082838" cy="4278094"/>
          </a:xfrm>
          <a:prstGeom prst="rect">
            <a:avLst/>
          </a:prstGeom>
          <a:noFill/>
        </p:spPr>
        <p:txBody>
          <a:bodyPr wrap="square">
            <a:spAutoFit/>
          </a:bodyPr>
          <a:lstStyle/>
          <a:p>
            <a:pPr algn="just"/>
            <a:r>
              <a:rPr lang="en-US" sz="2800" b="1" dirty="0">
                <a:solidFill>
                  <a:srgbClr val="FF0000"/>
                </a:solidFill>
                <a:latin typeface="Bookman Old Style" panose="02050604050505020204" pitchFamily="18" charset="0"/>
              </a:rPr>
              <a:t>transient:</a:t>
            </a:r>
            <a:r>
              <a:rPr lang="en-US" b="1" dirty="0">
                <a:solidFill>
                  <a:srgbClr val="003F66"/>
                </a:solidFill>
                <a:latin typeface="Bookman Old Style" panose="02050604050505020204" pitchFamily="18" charset="0"/>
              </a:rPr>
              <a:t> variable which cannot be serialized</a:t>
            </a:r>
          </a:p>
          <a:p>
            <a:pPr algn="just"/>
            <a:r>
              <a:rPr lang="en-US" b="1" dirty="0">
                <a:solidFill>
                  <a:srgbClr val="003F66"/>
                </a:solidFill>
                <a:latin typeface="Bookman Old Style" panose="02050604050505020204" pitchFamily="18" charset="0"/>
              </a:rPr>
              <a:t>Vars declared as transient cannot be persistent. Persistent means in a Emp or Student class we will declare vars such </a:t>
            </a:r>
            <a:r>
              <a:rPr lang="en-US" b="1" dirty="0" err="1">
                <a:solidFill>
                  <a:srgbClr val="003F66"/>
                </a:solidFill>
                <a:latin typeface="Bookman Old Style" panose="02050604050505020204" pitchFamily="18" charset="0"/>
              </a:rPr>
              <a:t>sid</a:t>
            </a:r>
            <a:r>
              <a:rPr lang="en-US" b="1" dirty="0">
                <a:solidFill>
                  <a:srgbClr val="003F66"/>
                </a:solidFill>
                <a:latin typeface="Bookman Old Style" panose="02050604050505020204" pitchFamily="18" charset="0"/>
              </a:rPr>
              <a:t>, </a:t>
            </a:r>
            <a:r>
              <a:rPr lang="en-US" b="1" dirty="0" err="1">
                <a:solidFill>
                  <a:srgbClr val="003F66"/>
                </a:solidFill>
                <a:latin typeface="Bookman Old Style" panose="02050604050505020204" pitchFamily="18" charset="0"/>
              </a:rPr>
              <a:t>sname</a:t>
            </a:r>
            <a:r>
              <a:rPr lang="en-US" b="1" dirty="0">
                <a:solidFill>
                  <a:srgbClr val="003F66"/>
                </a:solidFill>
                <a:latin typeface="Bookman Old Style" panose="02050604050505020204" pitchFamily="18" charset="0"/>
              </a:rPr>
              <a:t>, email, mobile, course, create object of Student class, initialize its state and can be stored into .ser file or the object can be passed into n/w to other machine. In the process of object serialization except transient variables all other variables are serialized.</a:t>
            </a:r>
          </a:p>
          <a:p>
            <a:pPr algn="just"/>
            <a:endParaRPr lang="en-US" b="1" dirty="0">
              <a:solidFill>
                <a:srgbClr val="003F66"/>
              </a:solidFill>
              <a:latin typeface="Bookman Old Style" panose="02050604050505020204" pitchFamily="18" charset="0"/>
            </a:endParaRPr>
          </a:p>
          <a:p>
            <a:pPr algn="just"/>
            <a:r>
              <a:rPr lang="en-US" sz="2800" b="1" dirty="0">
                <a:solidFill>
                  <a:srgbClr val="FF0000"/>
                </a:solidFill>
                <a:latin typeface="Bookman Old Style" panose="02050604050505020204" pitchFamily="18" charset="0"/>
              </a:rPr>
              <a:t>volatile: </a:t>
            </a:r>
            <a:r>
              <a:rPr lang="en-US" b="1" dirty="0">
                <a:solidFill>
                  <a:srgbClr val="003F66"/>
                </a:solidFill>
                <a:latin typeface="Bookman Old Style" panose="02050604050505020204" pitchFamily="18" charset="0"/>
              </a:rPr>
              <a:t>variable which cannot be synchronized</a:t>
            </a:r>
          </a:p>
          <a:p>
            <a:pPr algn="just"/>
            <a:r>
              <a:rPr lang="en-US" b="1" dirty="0">
                <a:solidFill>
                  <a:srgbClr val="003F66"/>
                </a:solidFill>
                <a:latin typeface="Bookman Old Style" panose="02050604050505020204" pitchFamily="18" charset="0"/>
              </a:rPr>
              <a:t>When a single class instance is used in multiple threads, the object state can be accessed or modified in multiple threads. Hence they are thread-safe. To keep object state in thread-safe we can synchronize threads. During thread synchronization except volatile variables all other vars are in synchronous state. Volatile variables are asynchronous.</a:t>
            </a:r>
            <a:endParaRPr lang="en-IN" sz="800" b="1" dirty="0">
              <a:solidFill>
                <a:srgbClr val="F105D3"/>
              </a:solidFill>
            </a:endParaRPr>
          </a:p>
        </p:txBody>
      </p:sp>
      <p:sp>
        <p:nvSpPr>
          <p:cNvPr id="7" name="Footer Placeholder 6">
            <a:extLst>
              <a:ext uri="{FF2B5EF4-FFF2-40B4-BE49-F238E27FC236}">
                <a16:creationId xmlns:a16="http://schemas.microsoft.com/office/drawing/2014/main" id="{41CD9449-6241-5E0A-0672-367C151D2914}"/>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2948411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461665"/>
              </a:xfrm>
              <a:prstGeom prst="rect">
                <a:avLst/>
              </a:prstGeom>
            </p:spPr>
            <p:txBody>
              <a:bodyPr wrap="square">
                <a:spAutoFit/>
              </a:bodyPr>
              <a:lstStyle/>
              <a:p>
                <a:pPr algn="ctr"/>
                <a:r>
                  <a:rPr lang="en-US" sz="2400" b="1" dirty="0">
                    <a:solidFill>
                      <a:schemeClr val="bg1"/>
                    </a:solidFill>
                    <a:latin typeface="Bookman Old Style" panose="02050604050505020204" pitchFamily="18" charset="0"/>
                  </a:rPr>
                  <a:t>Variable syntaxes</a:t>
                </a:r>
                <a:endParaRPr lang="en-US" sz="105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19" name="TextBox 18">
            <a:extLst>
              <a:ext uri="{FF2B5EF4-FFF2-40B4-BE49-F238E27FC236}">
                <a16:creationId xmlns:a16="http://schemas.microsoft.com/office/drawing/2014/main" id="{714B5B16-979C-49D5-A896-12440A366387}"/>
              </a:ext>
            </a:extLst>
          </p:cNvPr>
          <p:cNvSpPr txBox="1"/>
          <p:nvPr/>
        </p:nvSpPr>
        <p:spPr>
          <a:xfrm>
            <a:off x="285750" y="1452988"/>
            <a:ext cx="6923433" cy="4401205"/>
          </a:xfrm>
          <a:prstGeom prst="rect">
            <a:avLst/>
          </a:prstGeom>
          <a:noFill/>
        </p:spPr>
        <p:txBody>
          <a:bodyPr wrap="square">
            <a:spAutoFit/>
          </a:bodyPr>
          <a:lstStyle/>
          <a:p>
            <a:pPr algn="just"/>
            <a:r>
              <a:rPr lang="en-US" sz="2800" b="1" u="sng" dirty="0">
                <a:solidFill>
                  <a:srgbClr val="FF0000"/>
                </a:solidFill>
                <a:latin typeface="Bookman Old Style" panose="02050604050505020204" pitchFamily="18" charset="0"/>
              </a:rPr>
              <a:t>Example on final variable:</a:t>
            </a:r>
          </a:p>
          <a:p>
            <a:pPr algn="just"/>
            <a:r>
              <a:rPr lang="en-IN" dirty="0"/>
              <a:t>// FinalSuperClass.java</a:t>
            </a:r>
          </a:p>
          <a:p>
            <a:pPr algn="just"/>
            <a:r>
              <a:rPr lang="en-IN" dirty="0"/>
              <a:t>public class </a:t>
            </a:r>
            <a:r>
              <a:rPr lang="en-IN" dirty="0" err="1"/>
              <a:t>FinalVariableClass</a:t>
            </a:r>
            <a:r>
              <a:rPr lang="en-IN" dirty="0"/>
              <a:t> {</a:t>
            </a:r>
          </a:p>
          <a:p>
            <a:pPr algn="just"/>
            <a:r>
              <a:rPr lang="en-IN" dirty="0"/>
              <a:t>	</a:t>
            </a:r>
            <a:r>
              <a:rPr lang="en-IN" b="1" dirty="0"/>
              <a:t>// 1</a:t>
            </a:r>
            <a:r>
              <a:rPr lang="en-IN" b="1" baseline="30000" dirty="0"/>
              <a:t>st</a:t>
            </a:r>
            <a:r>
              <a:rPr lang="en-IN" b="1" dirty="0"/>
              <a:t> way</a:t>
            </a:r>
          </a:p>
          <a:p>
            <a:pPr algn="just"/>
            <a:r>
              <a:rPr lang="en-IN" dirty="0"/>
              <a:t>	</a:t>
            </a:r>
            <a:r>
              <a:rPr lang="en-IN" dirty="0">
                <a:solidFill>
                  <a:srgbClr val="FF0000"/>
                </a:solidFill>
              </a:rPr>
              <a:t>final int MIN_AGE=18;// once if declared &amp; initialized</a:t>
            </a:r>
          </a:p>
          <a:p>
            <a:pPr algn="just"/>
            <a:r>
              <a:rPr lang="en-IN" dirty="0"/>
              <a:t>	public </a:t>
            </a:r>
            <a:r>
              <a:rPr lang="en-IN" dirty="0" err="1"/>
              <a:t>FinalVariableClass</a:t>
            </a:r>
            <a:r>
              <a:rPr lang="en-IN" dirty="0"/>
              <a:t>() {</a:t>
            </a:r>
          </a:p>
          <a:p>
            <a:pPr algn="just"/>
            <a:r>
              <a:rPr lang="en-IN" dirty="0"/>
              <a:t>		</a:t>
            </a:r>
            <a:r>
              <a:rPr lang="en-IN" dirty="0">
                <a:solidFill>
                  <a:srgbClr val="FF0000"/>
                </a:solidFill>
              </a:rPr>
              <a:t>// MIN_AGE=21; // it cannot reinitialized</a:t>
            </a:r>
          </a:p>
          <a:p>
            <a:pPr algn="just"/>
            <a:r>
              <a:rPr lang="en-IN" dirty="0"/>
              <a:t>  	}</a:t>
            </a:r>
          </a:p>
          <a:p>
            <a:pPr algn="just"/>
            <a:r>
              <a:rPr lang="en-IN" dirty="0"/>
              <a:t>  </a:t>
            </a:r>
          </a:p>
          <a:p>
            <a:pPr lvl="1" algn="just"/>
            <a:r>
              <a:rPr lang="en-IN" b="1" dirty="0"/>
              <a:t>  	// 2</a:t>
            </a:r>
            <a:r>
              <a:rPr lang="en-IN" b="1" baseline="30000" dirty="0"/>
              <a:t>nd</a:t>
            </a:r>
            <a:r>
              <a:rPr lang="en-IN" b="1" dirty="0"/>
              <a:t> way</a:t>
            </a:r>
          </a:p>
          <a:p>
            <a:pPr algn="just"/>
            <a:r>
              <a:rPr lang="en-IN" dirty="0"/>
              <a:t>  </a:t>
            </a:r>
            <a:r>
              <a:rPr lang="en-IN" dirty="0">
                <a:solidFill>
                  <a:srgbClr val="FF0000"/>
                </a:solidFill>
              </a:rPr>
              <a:t>	final int MIN_AGE; // if var declared but not initialized</a:t>
            </a:r>
          </a:p>
          <a:p>
            <a:pPr algn="just"/>
            <a:r>
              <a:rPr lang="en-IN" dirty="0">
                <a:solidFill>
                  <a:srgbClr val="FF0000"/>
                </a:solidFill>
              </a:rPr>
              <a:t> </a:t>
            </a:r>
            <a:r>
              <a:rPr lang="en-IN" dirty="0"/>
              <a:t> 	public </a:t>
            </a:r>
            <a:r>
              <a:rPr lang="en-IN" dirty="0" err="1"/>
              <a:t>FinalVariableClass</a:t>
            </a:r>
            <a:r>
              <a:rPr lang="en-IN" dirty="0"/>
              <a:t>() {</a:t>
            </a:r>
          </a:p>
          <a:p>
            <a:pPr algn="just"/>
            <a:r>
              <a:rPr lang="en-IN" dirty="0"/>
              <a:t>    		</a:t>
            </a:r>
            <a:r>
              <a:rPr lang="en-IN" dirty="0">
                <a:solidFill>
                  <a:srgbClr val="FF0000"/>
                </a:solidFill>
              </a:rPr>
              <a:t>MIN_AGE=21; // it can be initialized in constructor</a:t>
            </a:r>
          </a:p>
          <a:p>
            <a:pPr algn="just"/>
            <a:r>
              <a:rPr lang="en-IN" dirty="0"/>
              <a:t>  	}</a:t>
            </a:r>
          </a:p>
          <a:p>
            <a:pPr algn="just"/>
            <a:r>
              <a:rPr lang="en-IN" dirty="0"/>
              <a:t>}</a:t>
            </a:r>
          </a:p>
        </p:txBody>
      </p:sp>
      <p:sp>
        <p:nvSpPr>
          <p:cNvPr id="7" name="TextBox 6">
            <a:extLst>
              <a:ext uri="{FF2B5EF4-FFF2-40B4-BE49-F238E27FC236}">
                <a16:creationId xmlns:a16="http://schemas.microsoft.com/office/drawing/2014/main" id="{6E692389-1681-4FDE-9EFF-4B19F8887E73}"/>
              </a:ext>
            </a:extLst>
          </p:cNvPr>
          <p:cNvSpPr txBox="1"/>
          <p:nvPr/>
        </p:nvSpPr>
        <p:spPr>
          <a:xfrm>
            <a:off x="6346209" y="789520"/>
            <a:ext cx="5274283" cy="1477328"/>
          </a:xfrm>
          <a:prstGeom prst="rect">
            <a:avLst/>
          </a:prstGeom>
          <a:noFill/>
        </p:spPr>
        <p:txBody>
          <a:bodyPr wrap="square" rtlCol="0">
            <a:spAutoFit/>
          </a:bodyPr>
          <a:lstStyle/>
          <a:p>
            <a:r>
              <a:rPr lang="en-US" b="1" dirty="0"/>
              <a:t>How final variable can be accessed?</a:t>
            </a:r>
          </a:p>
          <a:p>
            <a:r>
              <a:rPr lang="en-US" dirty="0"/>
              <a:t>If final variable is declared as static it can be called with </a:t>
            </a:r>
            <a:r>
              <a:rPr lang="en-US" b="1" dirty="0" err="1">
                <a:solidFill>
                  <a:srgbClr val="FF0000"/>
                </a:solidFill>
              </a:rPr>
              <a:t>ClassName.varName</a:t>
            </a:r>
            <a:endParaRPr lang="en-US" b="1" dirty="0">
              <a:solidFill>
                <a:srgbClr val="FF0000"/>
              </a:solidFill>
            </a:endParaRPr>
          </a:p>
          <a:p>
            <a:r>
              <a:rPr lang="en-US" dirty="0"/>
              <a:t>If final var is not declared as static it must be accessed using </a:t>
            </a:r>
            <a:r>
              <a:rPr lang="en-US" b="1" dirty="0" err="1">
                <a:solidFill>
                  <a:srgbClr val="FF0000"/>
                </a:solidFill>
              </a:rPr>
              <a:t>object.varNames</a:t>
            </a:r>
            <a:endParaRPr lang="en-IN" b="1" dirty="0">
              <a:solidFill>
                <a:srgbClr val="FF0000"/>
              </a:solidFill>
            </a:endParaRPr>
          </a:p>
        </p:txBody>
      </p:sp>
      <p:sp>
        <p:nvSpPr>
          <p:cNvPr id="24" name="TextBox 23">
            <a:extLst>
              <a:ext uri="{FF2B5EF4-FFF2-40B4-BE49-F238E27FC236}">
                <a16:creationId xmlns:a16="http://schemas.microsoft.com/office/drawing/2014/main" id="{1DD93BD5-404F-4CB6-A216-40A54948F7B9}"/>
              </a:ext>
            </a:extLst>
          </p:cNvPr>
          <p:cNvSpPr txBox="1"/>
          <p:nvPr/>
        </p:nvSpPr>
        <p:spPr>
          <a:xfrm>
            <a:off x="6235394" y="2307803"/>
            <a:ext cx="5274283" cy="1754326"/>
          </a:xfrm>
          <a:prstGeom prst="rect">
            <a:avLst/>
          </a:prstGeom>
          <a:noFill/>
        </p:spPr>
        <p:txBody>
          <a:bodyPr wrap="square" rtlCol="0">
            <a:spAutoFit/>
          </a:bodyPr>
          <a:lstStyle/>
          <a:p>
            <a:r>
              <a:rPr lang="en-US" b="1" dirty="0"/>
              <a:t>class FVAC {</a:t>
            </a:r>
          </a:p>
          <a:p>
            <a:r>
              <a:rPr lang="en-US" b="1" dirty="0"/>
              <a:t>    p s v main(String rags[]) {</a:t>
            </a:r>
          </a:p>
          <a:p>
            <a:r>
              <a:rPr lang="en-US" b="1" dirty="0"/>
              <a:t>       </a:t>
            </a:r>
            <a:r>
              <a:rPr lang="en-US" b="1" dirty="0" err="1"/>
              <a:t>FinalVariableClass</a:t>
            </a:r>
            <a:r>
              <a:rPr lang="en-US" b="1" dirty="0"/>
              <a:t> </a:t>
            </a:r>
            <a:r>
              <a:rPr lang="en-US" b="1" dirty="0" err="1"/>
              <a:t>fvc</a:t>
            </a:r>
            <a:r>
              <a:rPr lang="en-US" b="1" dirty="0"/>
              <a:t>=new </a:t>
            </a:r>
            <a:r>
              <a:rPr lang="en-US" b="1" dirty="0" err="1"/>
              <a:t>FinalVariableClass</a:t>
            </a:r>
            <a:r>
              <a:rPr lang="en-US" b="1" dirty="0"/>
              <a:t>();</a:t>
            </a:r>
          </a:p>
          <a:p>
            <a:r>
              <a:rPr lang="en-US" b="1" dirty="0"/>
              <a:t>       System.out.println(</a:t>
            </a:r>
            <a:r>
              <a:rPr lang="en-US" b="1" dirty="0" err="1"/>
              <a:t>fvc.MIN_AGE</a:t>
            </a:r>
            <a:r>
              <a:rPr lang="en-US" b="1" dirty="0"/>
              <a:t>);</a:t>
            </a:r>
          </a:p>
          <a:p>
            <a:r>
              <a:rPr lang="en-US" b="1" dirty="0"/>
              <a:t>    }</a:t>
            </a:r>
          </a:p>
          <a:p>
            <a:r>
              <a:rPr lang="en-US" b="1" dirty="0"/>
              <a:t>}</a:t>
            </a:r>
            <a:endParaRPr lang="en-IN" b="1" dirty="0">
              <a:solidFill>
                <a:srgbClr val="FF0000"/>
              </a:solidFill>
            </a:endParaRPr>
          </a:p>
        </p:txBody>
      </p:sp>
      <p:sp>
        <p:nvSpPr>
          <p:cNvPr id="8" name="Footer Placeholder 7">
            <a:extLst>
              <a:ext uri="{FF2B5EF4-FFF2-40B4-BE49-F238E27FC236}">
                <a16:creationId xmlns:a16="http://schemas.microsoft.com/office/drawing/2014/main" id="{809B361B-EE0E-05D1-B8CF-475C29B3CAD2}"/>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06128194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461665"/>
              </a:xfrm>
              <a:prstGeom prst="rect">
                <a:avLst/>
              </a:prstGeom>
            </p:spPr>
            <p:txBody>
              <a:bodyPr wrap="square">
                <a:spAutoFit/>
              </a:bodyPr>
              <a:lstStyle/>
              <a:p>
                <a:pPr algn="ctr"/>
                <a:r>
                  <a:rPr lang="en-US" sz="2400" b="1" dirty="0">
                    <a:solidFill>
                      <a:schemeClr val="bg1"/>
                    </a:solidFill>
                    <a:latin typeface="Bookman Old Style" panose="02050604050505020204" pitchFamily="18" charset="0"/>
                  </a:rPr>
                  <a:t>Variable syntaxes</a:t>
                </a:r>
                <a:endParaRPr lang="en-US" sz="105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grpSp>
        <p:nvGrpSpPr>
          <p:cNvPr id="7" name="Group 6">
            <a:extLst>
              <a:ext uri="{FF2B5EF4-FFF2-40B4-BE49-F238E27FC236}">
                <a16:creationId xmlns:a16="http://schemas.microsoft.com/office/drawing/2014/main" id="{854D046A-44B8-483D-A4EF-9D394CFB9286}"/>
              </a:ext>
            </a:extLst>
          </p:cNvPr>
          <p:cNvGrpSpPr/>
          <p:nvPr/>
        </p:nvGrpSpPr>
        <p:grpSpPr>
          <a:xfrm>
            <a:off x="132456" y="702832"/>
            <a:ext cx="11721619" cy="5809166"/>
            <a:chOff x="132456" y="702832"/>
            <a:chExt cx="11721619" cy="5809166"/>
          </a:xfrm>
        </p:grpSpPr>
        <p:sp>
          <p:nvSpPr>
            <p:cNvPr id="19" name="TextBox 18">
              <a:extLst>
                <a:ext uri="{FF2B5EF4-FFF2-40B4-BE49-F238E27FC236}">
                  <a16:creationId xmlns:a16="http://schemas.microsoft.com/office/drawing/2014/main" id="{714B5B16-979C-49D5-A896-12440A366387}"/>
                </a:ext>
              </a:extLst>
            </p:cNvPr>
            <p:cNvSpPr txBox="1"/>
            <p:nvPr/>
          </p:nvSpPr>
          <p:spPr>
            <a:xfrm>
              <a:off x="132456" y="867083"/>
              <a:ext cx="4480488" cy="4801314"/>
            </a:xfrm>
            <a:prstGeom prst="rect">
              <a:avLst/>
            </a:prstGeom>
            <a:noFill/>
          </p:spPr>
          <p:txBody>
            <a:bodyPr wrap="square">
              <a:spAutoFit/>
            </a:bodyPr>
            <a:lstStyle/>
            <a:p>
              <a:pPr algn="just"/>
              <a:r>
                <a:rPr lang="en-US" b="1" u="sng" dirty="0">
                  <a:solidFill>
                    <a:srgbClr val="FF0000"/>
                  </a:solidFill>
                  <a:latin typeface="Bookman Old Style" panose="02050604050505020204" pitchFamily="18" charset="0"/>
                </a:rPr>
                <a:t>Importance of declaring final variable as static:</a:t>
              </a:r>
            </a:p>
            <a:p>
              <a:pPr algn="just"/>
              <a:r>
                <a:rPr lang="en-IN" dirty="0"/>
                <a:t>// Emp.java</a:t>
              </a:r>
            </a:p>
            <a:p>
              <a:pPr algn="just"/>
              <a:r>
                <a:rPr lang="en-IN" dirty="0"/>
                <a:t>public class Emp {</a:t>
              </a:r>
            </a:p>
            <a:p>
              <a:pPr algn="just"/>
              <a:r>
                <a:rPr lang="en-IN" dirty="0"/>
                <a:t>   int </a:t>
              </a:r>
              <a:r>
                <a:rPr lang="en-IN" dirty="0" err="1"/>
                <a:t>eid</a:t>
              </a:r>
              <a:r>
                <a:rPr lang="en-IN" dirty="0"/>
                <a:t>;</a:t>
              </a:r>
            </a:p>
            <a:p>
              <a:pPr algn="just"/>
              <a:r>
                <a:rPr lang="en-IN" dirty="0"/>
                <a:t>   String </a:t>
              </a:r>
              <a:r>
                <a:rPr lang="en-IN" dirty="0" err="1"/>
                <a:t>ename</a:t>
              </a:r>
              <a:r>
                <a:rPr lang="en-IN" dirty="0"/>
                <a:t>;</a:t>
              </a:r>
            </a:p>
            <a:p>
              <a:pPr algn="just"/>
              <a:r>
                <a:rPr lang="en-IN" dirty="0"/>
                <a:t>   double </a:t>
              </a:r>
              <a:r>
                <a:rPr lang="en-IN" dirty="0" err="1"/>
                <a:t>sal</a:t>
              </a:r>
              <a:r>
                <a:rPr lang="en-IN" dirty="0"/>
                <a:t>;</a:t>
              </a:r>
            </a:p>
            <a:p>
              <a:pPr algn="just"/>
              <a:r>
                <a:rPr lang="en-IN" dirty="0"/>
                <a:t>   String </a:t>
              </a:r>
              <a:r>
                <a:rPr lang="en-IN" dirty="0" err="1"/>
                <a:t>desig</a:t>
              </a:r>
              <a:r>
                <a:rPr lang="en-IN" dirty="0"/>
                <a:t>;</a:t>
              </a:r>
            </a:p>
            <a:p>
              <a:pPr algn="just"/>
              <a:r>
                <a:rPr lang="en-IN" dirty="0"/>
                <a:t>   final int MIN_AGE=18; // only final var</a:t>
              </a:r>
            </a:p>
            <a:p>
              <a:pPr algn="just"/>
              <a:endParaRPr lang="en-IN" dirty="0"/>
            </a:p>
            <a:p>
              <a:pPr algn="just"/>
              <a:r>
                <a:rPr lang="en-IN" dirty="0"/>
                <a:t>   Emp(int id, String </a:t>
              </a:r>
              <a:r>
                <a:rPr lang="en-IN" dirty="0" err="1"/>
                <a:t>en</a:t>
              </a:r>
              <a:r>
                <a:rPr lang="en-IN" dirty="0"/>
                <a:t>, double </a:t>
              </a:r>
              <a:r>
                <a:rPr lang="en-IN" dirty="0" err="1"/>
                <a:t>sa</a:t>
              </a:r>
              <a:r>
                <a:rPr lang="en-IN" dirty="0"/>
                <a:t>, String dg) {</a:t>
              </a:r>
            </a:p>
            <a:p>
              <a:pPr algn="just"/>
              <a:r>
                <a:rPr lang="en-IN" dirty="0"/>
                <a:t>      </a:t>
              </a:r>
              <a:r>
                <a:rPr lang="en-IN" dirty="0" err="1"/>
                <a:t>this.eid</a:t>
              </a:r>
              <a:r>
                <a:rPr lang="en-IN" dirty="0"/>
                <a:t>=id;</a:t>
              </a:r>
            </a:p>
            <a:p>
              <a:pPr algn="just"/>
              <a:r>
                <a:rPr lang="en-IN" dirty="0"/>
                <a:t>      </a:t>
              </a:r>
              <a:r>
                <a:rPr lang="en-IN" dirty="0" err="1"/>
                <a:t>ename</a:t>
              </a:r>
              <a:r>
                <a:rPr lang="en-IN" dirty="0"/>
                <a:t>=</a:t>
              </a:r>
              <a:r>
                <a:rPr lang="en-IN" dirty="0" err="1"/>
                <a:t>en</a:t>
              </a:r>
              <a:r>
                <a:rPr lang="en-IN" dirty="0"/>
                <a:t>;</a:t>
              </a:r>
            </a:p>
            <a:p>
              <a:pPr algn="just"/>
              <a:r>
                <a:rPr lang="en-IN" dirty="0"/>
                <a:t>      </a:t>
              </a:r>
              <a:r>
                <a:rPr lang="en-IN" dirty="0" err="1"/>
                <a:t>sal</a:t>
              </a:r>
              <a:r>
                <a:rPr lang="en-IN" dirty="0"/>
                <a:t>=</a:t>
              </a:r>
              <a:r>
                <a:rPr lang="en-IN" dirty="0" err="1"/>
                <a:t>sa</a:t>
              </a:r>
              <a:r>
                <a:rPr lang="en-IN" dirty="0"/>
                <a:t>;</a:t>
              </a:r>
            </a:p>
            <a:p>
              <a:pPr algn="just"/>
              <a:r>
                <a:rPr lang="en-IN" dirty="0"/>
                <a:t>      </a:t>
              </a:r>
              <a:r>
                <a:rPr lang="en-IN" dirty="0" err="1"/>
                <a:t>desig</a:t>
              </a:r>
              <a:r>
                <a:rPr lang="en-IN" dirty="0"/>
                <a:t>=dg;</a:t>
              </a:r>
            </a:p>
            <a:p>
              <a:pPr algn="just"/>
              <a:r>
                <a:rPr lang="en-IN" dirty="0"/>
                <a:t>   }</a:t>
              </a:r>
            </a:p>
            <a:p>
              <a:pPr algn="just"/>
              <a:r>
                <a:rPr lang="en-IN" dirty="0"/>
                <a:t>}</a:t>
              </a:r>
            </a:p>
          </p:txBody>
        </p:sp>
        <p:sp>
          <p:nvSpPr>
            <p:cNvPr id="25" name="TextBox 24">
              <a:extLst>
                <a:ext uri="{FF2B5EF4-FFF2-40B4-BE49-F238E27FC236}">
                  <a16:creationId xmlns:a16="http://schemas.microsoft.com/office/drawing/2014/main" id="{49B8E5D2-8A01-40AD-A118-A059B3B807D2}"/>
                </a:ext>
              </a:extLst>
            </p:cNvPr>
            <p:cNvSpPr txBox="1"/>
            <p:nvPr/>
          </p:nvSpPr>
          <p:spPr>
            <a:xfrm>
              <a:off x="4665258" y="1231207"/>
              <a:ext cx="5827595" cy="2031325"/>
            </a:xfrm>
            <a:prstGeom prst="rect">
              <a:avLst/>
            </a:prstGeom>
            <a:noFill/>
          </p:spPr>
          <p:txBody>
            <a:bodyPr wrap="square">
              <a:spAutoFit/>
            </a:bodyPr>
            <a:lstStyle/>
            <a:p>
              <a:pPr algn="just"/>
              <a:r>
                <a:rPr lang="en-IN" dirty="0"/>
                <a:t>// EmpClient.java</a:t>
              </a:r>
            </a:p>
            <a:p>
              <a:pPr algn="just"/>
              <a:r>
                <a:rPr lang="en-IN" dirty="0"/>
                <a:t>public class </a:t>
              </a:r>
              <a:r>
                <a:rPr lang="en-IN" dirty="0" err="1"/>
                <a:t>EmpClient</a:t>
              </a:r>
              <a:r>
                <a:rPr lang="en-IN" dirty="0"/>
                <a:t> {</a:t>
              </a:r>
            </a:p>
            <a:p>
              <a:pPr algn="just"/>
              <a:r>
                <a:rPr lang="en-IN" dirty="0"/>
                <a:t>    public static void main(String rags[]) {</a:t>
              </a:r>
            </a:p>
            <a:p>
              <a:pPr algn="just"/>
              <a:r>
                <a:rPr lang="en-IN" dirty="0"/>
                <a:t>       Emp e1=new Emp(1, “ABC”, 50000.00, “Developer”);</a:t>
              </a:r>
            </a:p>
            <a:p>
              <a:pPr algn="just"/>
              <a:r>
                <a:rPr lang="en-IN" dirty="0"/>
                <a:t>       Emp e2=new Emp(2, “XYZ”, 100000.00, “Architect”);</a:t>
              </a:r>
            </a:p>
            <a:p>
              <a:pPr algn="just"/>
              <a:r>
                <a:rPr lang="en-IN" dirty="0"/>
                <a:t>    }</a:t>
              </a:r>
            </a:p>
            <a:p>
              <a:pPr algn="just"/>
              <a:r>
                <a:rPr lang="en-IN" dirty="0"/>
                <a:t>}</a:t>
              </a:r>
            </a:p>
          </p:txBody>
        </p:sp>
        <p:sp>
          <p:nvSpPr>
            <p:cNvPr id="8" name="Oval 7">
              <a:extLst>
                <a:ext uri="{FF2B5EF4-FFF2-40B4-BE49-F238E27FC236}">
                  <a16:creationId xmlns:a16="http://schemas.microsoft.com/office/drawing/2014/main" id="{18906C0B-8EFF-42E8-928C-C22316259CA2}"/>
                </a:ext>
              </a:extLst>
            </p:cNvPr>
            <p:cNvSpPr/>
            <p:nvPr/>
          </p:nvSpPr>
          <p:spPr>
            <a:xfrm>
              <a:off x="8570794" y="702832"/>
              <a:ext cx="1922059" cy="132895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err="1"/>
                <a:t>eid</a:t>
              </a:r>
              <a:r>
                <a:rPr lang="en-US" sz="1200" dirty="0"/>
                <a:t>=1 </a:t>
              </a:r>
              <a:r>
                <a:rPr lang="en-US" sz="1200" dirty="0" err="1"/>
                <a:t>ename</a:t>
              </a:r>
              <a:r>
                <a:rPr lang="en-US" sz="1200" dirty="0"/>
                <a:t>=“ABC” </a:t>
              </a:r>
              <a:r>
                <a:rPr lang="en-US" sz="1200" dirty="0" err="1"/>
                <a:t>sal</a:t>
              </a:r>
              <a:r>
                <a:rPr lang="en-US" sz="1200" dirty="0"/>
                <a:t>=50000.00 </a:t>
              </a:r>
              <a:r>
                <a:rPr lang="en-US" sz="1200" dirty="0" err="1"/>
                <a:t>desig</a:t>
              </a:r>
              <a:r>
                <a:rPr lang="en-US" sz="1200" dirty="0"/>
                <a:t>=“Developer”</a:t>
              </a:r>
            </a:p>
            <a:p>
              <a:pPr algn="ctr"/>
              <a:r>
                <a:rPr lang="en-US" sz="1200" dirty="0"/>
                <a:t>MIN_AGE=18</a:t>
              </a:r>
              <a:endParaRPr lang="en-IN" sz="1200" dirty="0"/>
            </a:p>
          </p:txBody>
        </p:sp>
        <p:sp>
          <p:nvSpPr>
            <p:cNvPr id="26" name="Oval 25">
              <a:extLst>
                <a:ext uri="{FF2B5EF4-FFF2-40B4-BE49-F238E27FC236}">
                  <a16:creationId xmlns:a16="http://schemas.microsoft.com/office/drawing/2014/main" id="{6E41CBE8-E349-4DBD-8015-8D5D0999091B}"/>
                </a:ext>
              </a:extLst>
            </p:cNvPr>
            <p:cNvSpPr/>
            <p:nvPr/>
          </p:nvSpPr>
          <p:spPr>
            <a:xfrm>
              <a:off x="9806721" y="2533129"/>
              <a:ext cx="1922059" cy="123607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err="1"/>
                <a:t>eid</a:t>
              </a:r>
              <a:r>
                <a:rPr lang="en-US" sz="1200" dirty="0"/>
                <a:t>=2 </a:t>
              </a:r>
              <a:r>
                <a:rPr lang="en-US" sz="1200" dirty="0" err="1"/>
                <a:t>ename</a:t>
              </a:r>
              <a:r>
                <a:rPr lang="en-US" sz="1200" dirty="0"/>
                <a:t>=“XYZ” </a:t>
              </a:r>
              <a:r>
                <a:rPr lang="en-US" sz="1200" dirty="0" err="1"/>
                <a:t>sal</a:t>
              </a:r>
              <a:r>
                <a:rPr lang="en-US" sz="1200" dirty="0"/>
                <a:t>=100000.00 </a:t>
              </a:r>
              <a:r>
                <a:rPr lang="en-US" sz="1200" dirty="0" err="1"/>
                <a:t>desig</a:t>
              </a:r>
              <a:r>
                <a:rPr lang="en-US" sz="1200" dirty="0"/>
                <a:t>=“Architect” MIN_AGE=18</a:t>
              </a:r>
              <a:endParaRPr lang="en-IN" sz="1200" dirty="0"/>
            </a:p>
          </p:txBody>
        </p:sp>
        <p:cxnSp>
          <p:nvCxnSpPr>
            <p:cNvPr id="10" name="Straight Arrow Connector 9">
              <a:extLst>
                <a:ext uri="{FF2B5EF4-FFF2-40B4-BE49-F238E27FC236}">
                  <a16:creationId xmlns:a16="http://schemas.microsoft.com/office/drawing/2014/main" id="{64C6BE88-7A28-4CA7-8E24-66A2B3239214}"/>
                </a:ext>
              </a:extLst>
            </p:cNvPr>
            <p:cNvCxnSpPr/>
            <p:nvPr/>
          </p:nvCxnSpPr>
          <p:spPr>
            <a:xfrm flipV="1">
              <a:off x="5718412" y="1578347"/>
              <a:ext cx="2852382" cy="5604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1E74F947-1894-47F5-AFB1-EFC2130DE52F}"/>
                </a:ext>
              </a:extLst>
            </p:cNvPr>
            <p:cNvCxnSpPr/>
            <p:nvPr/>
          </p:nvCxnSpPr>
          <p:spPr>
            <a:xfrm>
              <a:off x="5691116" y="2610953"/>
              <a:ext cx="4115605" cy="6499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12DCAB80-257C-4623-BD6E-4E78532E2208}"/>
                </a:ext>
              </a:extLst>
            </p:cNvPr>
            <p:cNvSpPr txBox="1"/>
            <p:nvPr/>
          </p:nvSpPr>
          <p:spPr>
            <a:xfrm>
              <a:off x="4745400" y="3372677"/>
              <a:ext cx="4419877" cy="3139321"/>
            </a:xfrm>
            <a:prstGeom prst="rect">
              <a:avLst/>
            </a:prstGeom>
            <a:noFill/>
          </p:spPr>
          <p:txBody>
            <a:bodyPr wrap="square" rtlCol="0">
              <a:spAutoFit/>
            </a:bodyPr>
            <a:lstStyle/>
            <a:p>
              <a:pPr algn="just"/>
              <a:r>
                <a:rPr lang="en-US" dirty="0" err="1"/>
                <a:t>eid</a:t>
              </a:r>
              <a:r>
                <a:rPr lang="en-US" dirty="0"/>
                <a:t>, </a:t>
              </a:r>
              <a:r>
                <a:rPr lang="en-US" dirty="0" err="1"/>
                <a:t>ename</a:t>
              </a:r>
              <a:r>
                <a:rPr lang="en-US" dirty="0"/>
                <a:t>, </a:t>
              </a:r>
              <a:r>
                <a:rPr lang="en-US" dirty="0" err="1"/>
                <a:t>sal</a:t>
              </a:r>
              <a:r>
                <a:rPr lang="en-US" dirty="0"/>
                <a:t>, </a:t>
              </a:r>
              <a:r>
                <a:rPr lang="en-US" dirty="0" err="1"/>
                <a:t>desig</a:t>
              </a:r>
              <a:r>
                <a:rPr lang="en-US" dirty="0"/>
                <a:t> are called as non-static variables or instance variables because in every instance of class memory is allocated to these variables because every object should hold different emp data.</a:t>
              </a:r>
            </a:p>
            <a:p>
              <a:pPr algn="just"/>
              <a:endParaRPr lang="en-US" dirty="0"/>
            </a:p>
            <a:p>
              <a:pPr algn="just"/>
              <a:r>
                <a:rPr lang="en-US" dirty="0"/>
                <a:t>But MIN_AGE is final, that means for any number of instances the var value remains same. Then why a separate memory is allocating in every instance which is waste of memory?</a:t>
              </a:r>
              <a:endParaRPr lang="en-IN" dirty="0"/>
            </a:p>
          </p:txBody>
        </p:sp>
        <p:sp>
          <p:nvSpPr>
            <p:cNvPr id="27" name="TextBox 26">
              <a:extLst>
                <a:ext uri="{FF2B5EF4-FFF2-40B4-BE49-F238E27FC236}">
                  <a16:creationId xmlns:a16="http://schemas.microsoft.com/office/drawing/2014/main" id="{1E64190A-294E-4FFB-9B29-52B457A05E1F}"/>
                </a:ext>
              </a:extLst>
            </p:cNvPr>
            <p:cNvSpPr txBox="1"/>
            <p:nvPr/>
          </p:nvSpPr>
          <p:spPr>
            <a:xfrm>
              <a:off x="10259279" y="1921917"/>
              <a:ext cx="1594796" cy="307777"/>
            </a:xfrm>
            <a:prstGeom prst="rect">
              <a:avLst/>
            </a:prstGeom>
            <a:noFill/>
          </p:spPr>
          <p:txBody>
            <a:bodyPr wrap="none" rtlCol="0">
              <a:spAutoFit/>
            </a:bodyPr>
            <a:lstStyle/>
            <a:p>
              <a:r>
                <a:rPr lang="en-US" sz="1400" b="1" dirty="0"/>
                <a:t>instance memories</a:t>
              </a:r>
              <a:endParaRPr lang="en-IN" b="1" dirty="0"/>
            </a:p>
          </p:txBody>
        </p:sp>
        <p:cxnSp>
          <p:nvCxnSpPr>
            <p:cNvPr id="28" name="Straight Arrow Connector 27">
              <a:extLst>
                <a:ext uri="{FF2B5EF4-FFF2-40B4-BE49-F238E27FC236}">
                  <a16:creationId xmlns:a16="http://schemas.microsoft.com/office/drawing/2014/main" id="{BDBC7E19-7A28-4639-A1F2-BA7D352D6207}"/>
                </a:ext>
              </a:extLst>
            </p:cNvPr>
            <p:cNvCxnSpPr/>
            <p:nvPr/>
          </p:nvCxnSpPr>
          <p:spPr>
            <a:xfrm flipH="1" flipV="1">
              <a:off x="10484565" y="1675650"/>
              <a:ext cx="397565" cy="2462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5BFA5EBF-96B1-4A3D-95DC-FE02B90F0CB1}"/>
                </a:ext>
              </a:extLst>
            </p:cNvPr>
            <p:cNvCxnSpPr/>
            <p:nvPr/>
          </p:nvCxnSpPr>
          <p:spPr>
            <a:xfrm flipH="1">
              <a:off x="10762860" y="2229694"/>
              <a:ext cx="159026" cy="2703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9" name="Footer Placeholder 8">
            <a:extLst>
              <a:ext uri="{FF2B5EF4-FFF2-40B4-BE49-F238E27FC236}">
                <a16:creationId xmlns:a16="http://schemas.microsoft.com/office/drawing/2014/main" id="{FDE2967B-30C5-542D-A8DA-DF03AC5785ED}"/>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2922607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461665"/>
              </a:xfrm>
              <a:prstGeom prst="rect">
                <a:avLst/>
              </a:prstGeom>
            </p:spPr>
            <p:txBody>
              <a:bodyPr wrap="square">
                <a:spAutoFit/>
              </a:bodyPr>
              <a:lstStyle/>
              <a:p>
                <a:pPr algn="ctr"/>
                <a:r>
                  <a:rPr lang="en-US" sz="2400" b="1" dirty="0">
                    <a:solidFill>
                      <a:schemeClr val="bg1"/>
                    </a:solidFill>
                    <a:latin typeface="Bookman Old Style" panose="02050604050505020204" pitchFamily="18" charset="0"/>
                  </a:rPr>
                  <a:t>Variable syntaxes</a:t>
                </a:r>
                <a:endParaRPr lang="en-US" sz="105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cxnSp>
        <p:nvCxnSpPr>
          <p:cNvPr id="10" name="Straight Arrow Connector 9">
            <a:extLst>
              <a:ext uri="{FF2B5EF4-FFF2-40B4-BE49-F238E27FC236}">
                <a16:creationId xmlns:a16="http://schemas.microsoft.com/office/drawing/2014/main" id="{64C6BE88-7A28-4CA7-8E24-66A2B3239214}"/>
              </a:ext>
            </a:extLst>
          </p:cNvPr>
          <p:cNvCxnSpPr>
            <a:cxnSpLocks/>
          </p:cNvCxnSpPr>
          <p:nvPr/>
        </p:nvCxnSpPr>
        <p:spPr>
          <a:xfrm flipV="1">
            <a:off x="5718412" y="1594184"/>
            <a:ext cx="3966214" cy="5446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1E74F947-1894-47F5-AFB1-EFC2130DE52F}"/>
              </a:ext>
            </a:extLst>
          </p:cNvPr>
          <p:cNvCxnSpPr/>
          <p:nvPr/>
        </p:nvCxnSpPr>
        <p:spPr>
          <a:xfrm>
            <a:off x="5691116" y="2610953"/>
            <a:ext cx="4115605" cy="6499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0A95E1F5-C704-4DE8-BBAD-3A4A8E43D205}"/>
              </a:ext>
            </a:extLst>
          </p:cNvPr>
          <p:cNvGrpSpPr/>
          <p:nvPr/>
        </p:nvGrpSpPr>
        <p:grpSpPr>
          <a:xfrm>
            <a:off x="132456" y="856383"/>
            <a:ext cx="12037576" cy="5087336"/>
            <a:chOff x="132456" y="856383"/>
            <a:chExt cx="12037576" cy="5087336"/>
          </a:xfrm>
        </p:grpSpPr>
        <p:sp>
          <p:nvSpPr>
            <p:cNvPr id="19" name="TextBox 18">
              <a:extLst>
                <a:ext uri="{FF2B5EF4-FFF2-40B4-BE49-F238E27FC236}">
                  <a16:creationId xmlns:a16="http://schemas.microsoft.com/office/drawing/2014/main" id="{714B5B16-979C-49D5-A896-12440A366387}"/>
                </a:ext>
              </a:extLst>
            </p:cNvPr>
            <p:cNvSpPr txBox="1"/>
            <p:nvPr/>
          </p:nvSpPr>
          <p:spPr>
            <a:xfrm>
              <a:off x="132456" y="865406"/>
              <a:ext cx="4480488" cy="5078313"/>
            </a:xfrm>
            <a:prstGeom prst="rect">
              <a:avLst/>
            </a:prstGeom>
            <a:noFill/>
          </p:spPr>
          <p:txBody>
            <a:bodyPr wrap="square">
              <a:spAutoFit/>
            </a:bodyPr>
            <a:lstStyle/>
            <a:p>
              <a:pPr algn="just"/>
              <a:r>
                <a:rPr lang="en-US" b="1" u="sng" dirty="0">
                  <a:solidFill>
                    <a:srgbClr val="FF0000"/>
                  </a:solidFill>
                  <a:latin typeface="Bookman Old Style" panose="02050604050505020204" pitchFamily="18" charset="0"/>
                </a:rPr>
                <a:t>Importance of declaring final variable as static:</a:t>
              </a:r>
            </a:p>
            <a:p>
              <a:pPr algn="just"/>
              <a:r>
                <a:rPr lang="en-IN" dirty="0"/>
                <a:t>// Emp.java</a:t>
              </a:r>
            </a:p>
            <a:p>
              <a:pPr algn="just"/>
              <a:r>
                <a:rPr lang="en-IN" dirty="0"/>
                <a:t>public class Emp {</a:t>
              </a:r>
            </a:p>
            <a:p>
              <a:pPr algn="just"/>
              <a:r>
                <a:rPr lang="en-IN" dirty="0"/>
                <a:t>   int </a:t>
              </a:r>
              <a:r>
                <a:rPr lang="en-IN" dirty="0" err="1"/>
                <a:t>eid</a:t>
              </a:r>
              <a:r>
                <a:rPr lang="en-IN" dirty="0"/>
                <a:t>;</a:t>
              </a:r>
            </a:p>
            <a:p>
              <a:pPr algn="just"/>
              <a:r>
                <a:rPr lang="en-IN" dirty="0"/>
                <a:t>   String </a:t>
              </a:r>
              <a:r>
                <a:rPr lang="en-IN" dirty="0" err="1"/>
                <a:t>ename</a:t>
              </a:r>
              <a:r>
                <a:rPr lang="en-IN" dirty="0"/>
                <a:t>;</a:t>
              </a:r>
            </a:p>
            <a:p>
              <a:pPr algn="just"/>
              <a:r>
                <a:rPr lang="en-IN" dirty="0"/>
                <a:t>   double </a:t>
              </a:r>
              <a:r>
                <a:rPr lang="en-IN" dirty="0" err="1"/>
                <a:t>sal</a:t>
              </a:r>
              <a:r>
                <a:rPr lang="en-IN" dirty="0"/>
                <a:t>;</a:t>
              </a:r>
            </a:p>
            <a:p>
              <a:pPr algn="just"/>
              <a:r>
                <a:rPr lang="en-IN" dirty="0"/>
                <a:t>   String </a:t>
              </a:r>
              <a:r>
                <a:rPr lang="en-IN" dirty="0" err="1"/>
                <a:t>desig</a:t>
              </a:r>
              <a:r>
                <a:rPr lang="en-IN" dirty="0"/>
                <a:t>;</a:t>
              </a:r>
            </a:p>
            <a:p>
              <a:pPr algn="just"/>
              <a:r>
                <a:rPr lang="en-IN" dirty="0"/>
                <a:t>   static final int MIN_AGE=18; </a:t>
              </a:r>
            </a:p>
            <a:p>
              <a:pPr algn="just"/>
              <a:r>
                <a:rPr lang="en-IN" dirty="0"/>
                <a:t>   // static final var</a:t>
              </a:r>
            </a:p>
            <a:p>
              <a:pPr algn="just"/>
              <a:endParaRPr lang="en-IN" dirty="0"/>
            </a:p>
            <a:p>
              <a:pPr algn="just"/>
              <a:r>
                <a:rPr lang="en-IN" dirty="0"/>
                <a:t>   Emp(int id, String </a:t>
              </a:r>
              <a:r>
                <a:rPr lang="en-IN" dirty="0" err="1"/>
                <a:t>en</a:t>
              </a:r>
              <a:r>
                <a:rPr lang="en-IN" dirty="0"/>
                <a:t>, double </a:t>
              </a:r>
              <a:r>
                <a:rPr lang="en-IN" dirty="0" err="1"/>
                <a:t>sa</a:t>
              </a:r>
              <a:r>
                <a:rPr lang="en-IN" dirty="0"/>
                <a:t>, String dg) {</a:t>
              </a:r>
            </a:p>
            <a:p>
              <a:pPr algn="just"/>
              <a:r>
                <a:rPr lang="en-IN" dirty="0"/>
                <a:t>      </a:t>
              </a:r>
              <a:r>
                <a:rPr lang="en-IN" dirty="0" err="1"/>
                <a:t>this.eid</a:t>
              </a:r>
              <a:r>
                <a:rPr lang="en-IN" dirty="0"/>
                <a:t>=id;</a:t>
              </a:r>
            </a:p>
            <a:p>
              <a:pPr algn="just"/>
              <a:r>
                <a:rPr lang="en-IN" dirty="0"/>
                <a:t>      </a:t>
              </a:r>
              <a:r>
                <a:rPr lang="en-IN" dirty="0" err="1"/>
                <a:t>ename</a:t>
              </a:r>
              <a:r>
                <a:rPr lang="en-IN" dirty="0"/>
                <a:t>=</a:t>
              </a:r>
              <a:r>
                <a:rPr lang="en-IN" dirty="0" err="1"/>
                <a:t>en</a:t>
              </a:r>
              <a:r>
                <a:rPr lang="en-IN" dirty="0"/>
                <a:t>;</a:t>
              </a:r>
            </a:p>
            <a:p>
              <a:pPr algn="just"/>
              <a:r>
                <a:rPr lang="en-IN" dirty="0"/>
                <a:t>      </a:t>
              </a:r>
              <a:r>
                <a:rPr lang="en-IN" dirty="0" err="1"/>
                <a:t>sal</a:t>
              </a:r>
              <a:r>
                <a:rPr lang="en-IN" dirty="0"/>
                <a:t>=</a:t>
              </a:r>
              <a:r>
                <a:rPr lang="en-IN" dirty="0" err="1"/>
                <a:t>sa</a:t>
              </a:r>
              <a:r>
                <a:rPr lang="en-IN" dirty="0"/>
                <a:t>;</a:t>
              </a:r>
            </a:p>
            <a:p>
              <a:pPr algn="just"/>
              <a:r>
                <a:rPr lang="en-IN" dirty="0"/>
                <a:t>      </a:t>
              </a:r>
              <a:r>
                <a:rPr lang="en-IN" dirty="0" err="1"/>
                <a:t>desig</a:t>
              </a:r>
              <a:r>
                <a:rPr lang="en-IN" dirty="0"/>
                <a:t>=dg;</a:t>
              </a:r>
            </a:p>
            <a:p>
              <a:pPr algn="just"/>
              <a:r>
                <a:rPr lang="en-IN" dirty="0"/>
                <a:t>   }</a:t>
              </a:r>
            </a:p>
            <a:p>
              <a:pPr algn="just"/>
              <a:r>
                <a:rPr lang="en-IN" dirty="0"/>
                <a:t>}</a:t>
              </a:r>
            </a:p>
          </p:txBody>
        </p:sp>
        <p:sp>
          <p:nvSpPr>
            <p:cNvPr id="25" name="TextBox 24">
              <a:extLst>
                <a:ext uri="{FF2B5EF4-FFF2-40B4-BE49-F238E27FC236}">
                  <a16:creationId xmlns:a16="http://schemas.microsoft.com/office/drawing/2014/main" id="{49B8E5D2-8A01-40AD-A118-A059B3B807D2}"/>
                </a:ext>
              </a:extLst>
            </p:cNvPr>
            <p:cNvSpPr txBox="1"/>
            <p:nvPr/>
          </p:nvSpPr>
          <p:spPr>
            <a:xfrm>
              <a:off x="4665258" y="1229530"/>
              <a:ext cx="5827595" cy="2031325"/>
            </a:xfrm>
            <a:prstGeom prst="rect">
              <a:avLst/>
            </a:prstGeom>
            <a:noFill/>
          </p:spPr>
          <p:txBody>
            <a:bodyPr wrap="square">
              <a:spAutoFit/>
            </a:bodyPr>
            <a:lstStyle/>
            <a:p>
              <a:pPr algn="just"/>
              <a:r>
                <a:rPr lang="en-IN" dirty="0"/>
                <a:t>// EmpClient.java</a:t>
              </a:r>
            </a:p>
            <a:p>
              <a:pPr algn="just"/>
              <a:r>
                <a:rPr lang="en-IN" dirty="0"/>
                <a:t>public class </a:t>
              </a:r>
              <a:r>
                <a:rPr lang="en-IN" dirty="0" err="1"/>
                <a:t>EmpClient</a:t>
              </a:r>
              <a:r>
                <a:rPr lang="en-IN" dirty="0"/>
                <a:t> {</a:t>
              </a:r>
            </a:p>
            <a:p>
              <a:pPr algn="just"/>
              <a:r>
                <a:rPr lang="en-IN" dirty="0"/>
                <a:t>    public static void main(String rags[]) {</a:t>
              </a:r>
            </a:p>
            <a:p>
              <a:pPr algn="just"/>
              <a:r>
                <a:rPr lang="en-IN" dirty="0"/>
                <a:t>       Emp e1=new Emp(1, “ABC”, 50000.00, “Developer”);</a:t>
              </a:r>
            </a:p>
            <a:p>
              <a:pPr algn="just"/>
              <a:r>
                <a:rPr lang="en-IN" dirty="0"/>
                <a:t>       Emp e2=new Emp(2, “XYZ”, 100000.00, “Architect”);</a:t>
              </a:r>
            </a:p>
            <a:p>
              <a:pPr algn="just"/>
              <a:r>
                <a:rPr lang="en-IN" dirty="0"/>
                <a:t>    }</a:t>
              </a:r>
            </a:p>
            <a:p>
              <a:pPr algn="just"/>
              <a:r>
                <a:rPr lang="en-IN" dirty="0"/>
                <a:t>}</a:t>
              </a:r>
            </a:p>
          </p:txBody>
        </p:sp>
        <p:sp>
          <p:nvSpPr>
            <p:cNvPr id="8" name="Oval 7">
              <a:extLst>
                <a:ext uri="{FF2B5EF4-FFF2-40B4-BE49-F238E27FC236}">
                  <a16:creationId xmlns:a16="http://schemas.microsoft.com/office/drawing/2014/main" id="{18906C0B-8EFF-42E8-928C-C22316259CA2}"/>
                </a:ext>
              </a:extLst>
            </p:cNvPr>
            <p:cNvSpPr/>
            <p:nvPr/>
          </p:nvSpPr>
          <p:spPr>
            <a:xfrm>
              <a:off x="9531823" y="856383"/>
              <a:ext cx="1922059" cy="1044204"/>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err="1"/>
                <a:t>eid</a:t>
              </a:r>
              <a:r>
                <a:rPr lang="en-US" sz="1200" dirty="0"/>
                <a:t>=1 </a:t>
              </a:r>
              <a:r>
                <a:rPr lang="en-US" sz="1200" dirty="0" err="1"/>
                <a:t>ename</a:t>
              </a:r>
              <a:r>
                <a:rPr lang="en-US" sz="1200" dirty="0"/>
                <a:t>=“ABC” </a:t>
              </a:r>
              <a:r>
                <a:rPr lang="en-US" sz="1200" dirty="0" err="1"/>
                <a:t>sal</a:t>
              </a:r>
              <a:r>
                <a:rPr lang="en-US" sz="1200" dirty="0"/>
                <a:t>=50000.00 </a:t>
              </a:r>
              <a:r>
                <a:rPr lang="en-US" sz="1200" dirty="0" err="1"/>
                <a:t>desig</a:t>
              </a:r>
              <a:r>
                <a:rPr lang="en-US" sz="1200" dirty="0"/>
                <a:t>=“Developer”</a:t>
              </a:r>
            </a:p>
          </p:txBody>
        </p:sp>
        <p:sp>
          <p:nvSpPr>
            <p:cNvPr id="26" name="Oval 25">
              <a:extLst>
                <a:ext uri="{FF2B5EF4-FFF2-40B4-BE49-F238E27FC236}">
                  <a16:creationId xmlns:a16="http://schemas.microsoft.com/office/drawing/2014/main" id="{6E41CBE8-E349-4DBD-8015-8D5D0999091B}"/>
                </a:ext>
              </a:extLst>
            </p:cNvPr>
            <p:cNvSpPr/>
            <p:nvPr/>
          </p:nvSpPr>
          <p:spPr>
            <a:xfrm>
              <a:off x="9806721" y="2725003"/>
              <a:ext cx="1922059" cy="1044204"/>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err="1"/>
                <a:t>eid</a:t>
              </a:r>
              <a:r>
                <a:rPr lang="en-US" sz="1200" dirty="0"/>
                <a:t>=2 </a:t>
              </a:r>
              <a:r>
                <a:rPr lang="en-US" sz="1200" dirty="0" err="1"/>
                <a:t>ename</a:t>
              </a:r>
              <a:r>
                <a:rPr lang="en-US" sz="1200" dirty="0"/>
                <a:t>=“XYZ” </a:t>
              </a:r>
              <a:r>
                <a:rPr lang="en-US" sz="1200" dirty="0" err="1"/>
                <a:t>sal</a:t>
              </a:r>
              <a:r>
                <a:rPr lang="en-US" sz="1200" dirty="0"/>
                <a:t>=100000.00 </a:t>
              </a:r>
              <a:r>
                <a:rPr lang="en-US" sz="1200" dirty="0" err="1"/>
                <a:t>desig</a:t>
              </a:r>
              <a:r>
                <a:rPr lang="en-US" sz="1200" dirty="0"/>
                <a:t>=“Architect”</a:t>
              </a:r>
              <a:endParaRPr lang="en-IN" sz="1200" dirty="0"/>
            </a:p>
          </p:txBody>
        </p:sp>
        <p:sp>
          <p:nvSpPr>
            <p:cNvPr id="13" name="TextBox 12">
              <a:extLst>
                <a:ext uri="{FF2B5EF4-FFF2-40B4-BE49-F238E27FC236}">
                  <a16:creationId xmlns:a16="http://schemas.microsoft.com/office/drawing/2014/main" id="{12DCAB80-257C-4623-BD6E-4E78532E2208}"/>
                </a:ext>
              </a:extLst>
            </p:cNvPr>
            <p:cNvSpPr txBox="1"/>
            <p:nvPr/>
          </p:nvSpPr>
          <p:spPr>
            <a:xfrm>
              <a:off x="4745400" y="3596285"/>
              <a:ext cx="4419877" cy="2031325"/>
            </a:xfrm>
            <a:prstGeom prst="rect">
              <a:avLst/>
            </a:prstGeom>
            <a:noFill/>
          </p:spPr>
          <p:txBody>
            <a:bodyPr wrap="square" rtlCol="0">
              <a:spAutoFit/>
            </a:bodyPr>
            <a:lstStyle/>
            <a:p>
              <a:pPr algn="just"/>
              <a:r>
                <a:rPr lang="en-US" dirty="0"/>
                <a:t>If final variable is declared as static. Then to static variable the memory is allocated in class memory (common memory) not in instance memory. Memory wastage reduces.</a:t>
              </a:r>
            </a:p>
            <a:p>
              <a:pPr algn="just"/>
              <a:endParaRPr lang="en-US" dirty="0"/>
            </a:p>
            <a:p>
              <a:pPr algn="just"/>
              <a:r>
                <a:rPr lang="en-US" dirty="0"/>
                <a:t>Hence final variables are recommended to be declared as static too.</a:t>
              </a:r>
              <a:endParaRPr lang="en-IN" dirty="0"/>
            </a:p>
          </p:txBody>
        </p:sp>
        <p:sp>
          <p:nvSpPr>
            <p:cNvPr id="9" name="Oval 8">
              <a:extLst>
                <a:ext uri="{FF2B5EF4-FFF2-40B4-BE49-F238E27FC236}">
                  <a16:creationId xmlns:a16="http://schemas.microsoft.com/office/drawing/2014/main" id="{00FA806A-C5A2-4273-B19D-01A81F00A2DA}"/>
                </a:ext>
              </a:extLst>
            </p:cNvPr>
            <p:cNvSpPr/>
            <p:nvPr/>
          </p:nvSpPr>
          <p:spPr>
            <a:xfrm>
              <a:off x="6864856" y="865406"/>
              <a:ext cx="2500349" cy="61863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a:t>MIN_AGE=18</a:t>
              </a:r>
              <a:endParaRPr lang="en-IN" sz="1800" dirty="0"/>
            </a:p>
          </p:txBody>
        </p:sp>
        <p:sp>
          <p:nvSpPr>
            <p:cNvPr id="11" name="TextBox 10">
              <a:extLst>
                <a:ext uri="{FF2B5EF4-FFF2-40B4-BE49-F238E27FC236}">
                  <a16:creationId xmlns:a16="http://schemas.microsoft.com/office/drawing/2014/main" id="{7A5CE7DE-8EBD-4107-9647-2EBD8AFBA7AD}"/>
                </a:ext>
              </a:extLst>
            </p:cNvPr>
            <p:cNvSpPr txBox="1"/>
            <p:nvPr/>
          </p:nvSpPr>
          <p:spPr>
            <a:xfrm>
              <a:off x="10575236" y="2146854"/>
              <a:ext cx="1594796" cy="307777"/>
            </a:xfrm>
            <a:prstGeom prst="rect">
              <a:avLst/>
            </a:prstGeom>
            <a:noFill/>
          </p:spPr>
          <p:txBody>
            <a:bodyPr wrap="none" rtlCol="0">
              <a:spAutoFit/>
            </a:bodyPr>
            <a:lstStyle/>
            <a:p>
              <a:r>
                <a:rPr lang="en-US" sz="1400" b="1" dirty="0"/>
                <a:t>instance memories</a:t>
              </a:r>
              <a:endParaRPr lang="en-IN" b="1" dirty="0"/>
            </a:p>
          </p:txBody>
        </p:sp>
        <p:cxnSp>
          <p:nvCxnSpPr>
            <p:cNvPr id="15" name="Straight Arrow Connector 14">
              <a:extLst>
                <a:ext uri="{FF2B5EF4-FFF2-40B4-BE49-F238E27FC236}">
                  <a16:creationId xmlns:a16="http://schemas.microsoft.com/office/drawing/2014/main" id="{839798B5-6692-4789-9490-E367960CBF18}"/>
                </a:ext>
              </a:extLst>
            </p:cNvPr>
            <p:cNvCxnSpPr/>
            <p:nvPr/>
          </p:nvCxnSpPr>
          <p:spPr>
            <a:xfrm flipH="1" flipV="1">
              <a:off x="10800522" y="1900587"/>
              <a:ext cx="397565" cy="2462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63DE113B-B765-4E64-AECA-023ED14F097E}"/>
                </a:ext>
              </a:extLst>
            </p:cNvPr>
            <p:cNvCxnSpPr/>
            <p:nvPr/>
          </p:nvCxnSpPr>
          <p:spPr>
            <a:xfrm flipH="1">
              <a:off x="11078817" y="2454631"/>
              <a:ext cx="159026" cy="2703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28" name="TextBox 27">
            <a:extLst>
              <a:ext uri="{FF2B5EF4-FFF2-40B4-BE49-F238E27FC236}">
                <a16:creationId xmlns:a16="http://schemas.microsoft.com/office/drawing/2014/main" id="{4B205671-F81C-4DBA-AE16-4DFC9584C047}"/>
              </a:ext>
            </a:extLst>
          </p:cNvPr>
          <p:cNvSpPr txBox="1"/>
          <p:nvPr/>
        </p:nvSpPr>
        <p:spPr>
          <a:xfrm>
            <a:off x="5698663" y="679877"/>
            <a:ext cx="1492140" cy="369332"/>
          </a:xfrm>
          <a:prstGeom prst="rect">
            <a:avLst/>
          </a:prstGeom>
          <a:noFill/>
        </p:spPr>
        <p:txBody>
          <a:bodyPr wrap="none" rtlCol="0">
            <a:spAutoFit/>
          </a:bodyPr>
          <a:lstStyle/>
          <a:p>
            <a:r>
              <a:rPr lang="en-US" b="1" dirty="0"/>
              <a:t>class memory</a:t>
            </a:r>
            <a:endParaRPr lang="en-IN" b="1" dirty="0"/>
          </a:p>
        </p:txBody>
      </p:sp>
      <p:cxnSp>
        <p:nvCxnSpPr>
          <p:cNvPr id="24" name="Straight Arrow Connector 23">
            <a:extLst>
              <a:ext uri="{FF2B5EF4-FFF2-40B4-BE49-F238E27FC236}">
                <a16:creationId xmlns:a16="http://schemas.microsoft.com/office/drawing/2014/main" id="{22576CAA-D220-B55B-4961-2D9344A9AE1D}"/>
              </a:ext>
            </a:extLst>
          </p:cNvPr>
          <p:cNvCxnSpPr/>
          <p:nvPr/>
        </p:nvCxnSpPr>
        <p:spPr>
          <a:xfrm flipV="1">
            <a:off x="3031955" y="1229530"/>
            <a:ext cx="3832901" cy="195883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BE4138A4-3FF7-5697-3FE5-988E548A54EA}"/>
              </a:ext>
            </a:extLst>
          </p:cNvPr>
          <p:cNvSpPr txBox="1"/>
          <p:nvPr/>
        </p:nvSpPr>
        <p:spPr>
          <a:xfrm>
            <a:off x="9806721" y="679877"/>
            <a:ext cx="1111202" cy="369332"/>
          </a:xfrm>
          <a:prstGeom prst="rect">
            <a:avLst/>
          </a:prstGeom>
          <a:noFill/>
        </p:spPr>
        <p:txBody>
          <a:bodyPr wrap="none" rtlCol="0">
            <a:spAutoFit/>
          </a:bodyPr>
          <a:lstStyle/>
          <a:p>
            <a:r>
              <a:rPr lang="en-IN" dirty="0"/>
              <a:t>e1 object </a:t>
            </a:r>
          </a:p>
        </p:txBody>
      </p:sp>
      <p:sp>
        <p:nvSpPr>
          <p:cNvPr id="30" name="TextBox 29">
            <a:extLst>
              <a:ext uri="{FF2B5EF4-FFF2-40B4-BE49-F238E27FC236}">
                <a16:creationId xmlns:a16="http://schemas.microsoft.com/office/drawing/2014/main" id="{A68AA163-F933-444C-FC66-C069A1CD79D0}"/>
              </a:ext>
            </a:extLst>
          </p:cNvPr>
          <p:cNvSpPr txBox="1"/>
          <p:nvPr/>
        </p:nvSpPr>
        <p:spPr>
          <a:xfrm>
            <a:off x="9906555" y="2598671"/>
            <a:ext cx="1111202" cy="369332"/>
          </a:xfrm>
          <a:prstGeom prst="rect">
            <a:avLst/>
          </a:prstGeom>
          <a:noFill/>
        </p:spPr>
        <p:txBody>
          <a:bodyPr wrap="none" rtlCol="0">
            <a:spAutoFit/>
          </a:bodyPr>
          <a:lstStyle/>
          <a:p>
            <a:r>
              <a:rPr lang="en-IN" dirty="0"/>
              <a:t>e2 object </a:t>
            </a:r>
          </a:p>
        </p:txBody>
      </p:sp>
      <p:sp>
        <p:nvSpPr>
          <p:cNvPr id="14" name="Footer Placeholder 13">
            <a:extLst>
              <a:ext uri="{FF2B5EF4-FFF2-40B4-BE49-F238E27FC236}">
                <a16:creationId xmlns:a16="http://schemas.microsoft.com/office/drawing/2014/main" id="{E78E787C-16A4-B44C-1A34-F4FD64D22ECE}"/>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9621965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461665"/>
              </a:xfrm>
              <a:prstGeom prst="rect">
                <a:avLst/>
              </a:prstGeom>
            </p:spPr>
            <p:txBody>
              <a:bodyPr wrap="square">
                <a:spAutoFit/>
              </a:bodyPr>
              <a:lstStyle/>
              <a:p>
                <a:pPr algn="ctr"/>
                <a:r>
                  <a:rPr lang="en-US" sz="2400" b="1" dirty="0">
                    <a:solidFill>
                      <a:schemeClr val="bg1"/>
                    </a:solidFill>
                    <a:latin typeface="Bookman Old Style" panose="02050604050505020204" pitchFamily="18" charset="0"/>
                  </a:rPr>
                  <a:t>Constructor Syntax</a:t>
                </a:r>
                <a:endParaRPr lang="en-US" sz="105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19" name="TextBox 18">
            <a:extLst>
              <a:ext uri="{FF2B5EF4-FFF2-40B4-BE49-F238E27FC236}">
                <a16:creationId xmlns:a16="http://schemas.microsoft.com/office/drawing/2014/main" id="{714B5B16-979C-49D5-A896-12440A366387}"/>
              </a:ext>
            </a:extLst>
          </p:cNvPr>
          <p:cNvSpPr txBox="1"/>
          <p:nvPr/>
        </p:nvSpPr>
        <p:spPr>
          <a:xfrm>
            <a:off x="285750" y="1452988"/>
            <a:ext cx="9082838" cy="523220"/>
          </a:xfrm>
          <a:prstGeom prst="rect">
            <a:avLst/>
          </a:prstGeom>
          <a:noFill/>
        </p:spPr>
        <p:txBody>
          <a:bodyPr wrap="square">
            <a:spAutoFit/>
          </a:bodyPr>
          <a:lstStyle/>
          <a:p>
            <a:pPr algn="just"/>
            <a:r>
              <a:rPr lang="en-US" sz="2800" b="1" dirty="0">
                <a:solidFill>
                  <a:srgbClr val="FF0000"/>
                </a:solidFill>
                <a:latin typeface="Bookman Old Style" panose="02050604050505020204" pitchFamily="18" charset="0"/>
              </a:rPr>
              <a:t>What is Constructor?</a:t>
            </a:r>
            <a:endParaRPr lang="en-IN" sz="800" dirty="0">
              <a:solidFill>
                <a:srgbClr val="F105D3"/>
              </a:solidFill>
            </a:endParaRPr>
          </a:p>
        </p:txBody>
      </p:sp>
      <p:sp>
        <p:nvSpPr>
          <p:cNvPr id="24" name="TextBox 23">
            <a:extLst>
              <a:ext uri="{FF2B5EF4-FFF2-40B4-BE49-F238E27FC236}">
                <a16:creationId xmlns:a16="http://schemas.microsoft.com/office/drawing/2014/main" id="{4B45DD34-D16E-47ED-92F0-D728B79006AA}"/>
              </a:ext>
            </a:extLst>
          </p:cNvPr>
          <p:cNvSpPr txBox="1"/>
          <p:nvPr/>
        </p:nvSpPr>
        <p:spPr>
          <a:xfrm>
            <a:off x="623578" y="2225662"/>
            <a:ext cx="8407181" cy="2308324"/>
          </a:xfrm>
          <a:prstGeom prst="rect">
            <a:avLst/>
          </a:prstGeom>
          <a:noFill/>
        </p:spPr>
        <p:txBody>
          <a:bodyPr wrap="square">
            <a:spAutoFit/>
          </a:bodyPr>
          <a:lstStyle/>
          <a:p>
            <a:pPr algn="just"/>
            <a:r>
              <a:rPr lang="en-IN" dirty="0">
                <a:solidFill>
                  <a:srgbClr val="FF0000"/>
                </a:solidFill>
                <a:latin typeface="Open Sans" panose="020B0606030504020204" pitchFamily="34" charset="0"/>
                <a:ea typeface="Open Sans" panose="020B0606030504020204" pitchFamily="34" charset="0"/>
                <a:cs typeface="Open Sans" panose="020B0606030504020204" pitchFamily="34" charset="0"/>
              </a:rPr>
              <a:t>While discussing about classes one of the most important topic is constructor. Every class has one constructor. If we don’t write any constructor in java, by default compiler generates one no parameters constructor called default constructor. And a class can have any numbers of constructors like no parameter constructor, PK/ID parameter constructor, essential parameters as constructor, all parameters constructor etc.</a:t>
            </a:r>
          </a:p>
          <a:p>
            <a:pPr algn="just"/>
            <a:endParaRPr lang="en-IN" dirty="0">
              <a:solidFill>
                <a:srgbClr val="FF0000"/>
              </a:solidFill>
              <a:latin typeface="Open Sans" panose="020B0606030504020204" pitchFamily="34" charset="0"/>
              <a:ea typeface="Open Sans" panose="020B0606030504020204" pitchFamily="34" charset="0"/>
              <a:cs typeface="Open Sans" panose="020B0606030504020204" pitchFamily="34" charset="0"/>
            </a:endParaRPr>
          </a:p>
          <a:p>
            <a:pPr algn="just"/>
            <a:r>
              <a:rPr lang="en-IN" dirty="0">
                <a:solidFill>
                  <a:srgbClr val="FF0000"/>
                </a:solidFill>
                <a:latin typeface="Open Sans" panose="020B0606030504020204" pitchFamily="34" charset="0"/>
                <a:ea typeface="Open Sans" panose="020B0606030504020204" pitchFamily="34" charset="0"/>
                <a:cs typeface="Open Sans" panose="020B0606030504020204" pitchFamily="34" charset="0"/>
              </a:rPr>
              <a:t>While creating object of class, any one of the constructor must </a:t>
            </a:r>
            <a:r>
              <a:rPr lang="en-IN">
                <a:solidFill>
                  <a:srgbClr val="FF0000"/>
                </a:solidFill>
                <a:latin typeface="Open Sans" panose="020B0606030504020204" pitchFamily="34" charset="0"/>
                <a:ea typeface="Open Sans" panose="020B0606030504020204" pitchFamily="34" charset="0"/>
                <a:cs typeface="Open Sans" panose="020B0606030504020204" pitchFamily="34" charset="0"/>
              </a:rPr>
              <a:t>be invoked.</a:t>
            </a:r>
            <a:endParaRPr lang="en-IN" dirty="0">
              <a:latin typeface="Open Sans" panose="020B0606030504020204" pitchFamily="34" charset="0"/>
              <a:ea typeface="Open Sans" panose="020B0606030504020204" pitchFamily="34" charset="0"/>
              <a:cs typeface="Open Sans" panose="020B0606030504020204" pitchFamily="34" charset="0"/>
            </a:endParaRPr>
          </a:p>
        </p:txBody>
      </p:sp>
      <p:sp>
        <p:nvSpPr>
          <p:cNvPr id="7" name="Footer Placeholder 6">
            <a:extLst>
              <a:ext uri="{FF2B5EF4-FFF2-40B4-BE49-F238E27FC236}">
                <a16:creationId xmlns:a16="http://schemas.microsoft.com/office/drawing/2014/main" id="{8A38EF74-B174-FF7B-50A7-BB0DE50D0CED}"/>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3624897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461665"/>
              </a:xfrm>
              <a:prstGeom prst="rect">
                <a:avLst/>
              </a:prstGeom>
            </p:spPr>
            <p:txBody>
              <a:bodyPr wrap="square">
                <a:spAutoFit/>
              </a:bodyPr>
              <a:lstStyle/>
              <a:p>
                <a:pPr algn="ctr"/>
                <a:r>
                  <a:rPr lang="en-US" sz="2400" b="1" dirty="0">
                    <a:solidFill>
                      <a:schemeClr val="bg1"/>
                    </a:solidFill>
                    <a:latin typeface="Bookman Old Style" panose="02050604050505020204" pitchFamily="18" charset="0"/>
                  </a:rPr>
                  <a:t>Constructor Syntax</a:t>
                </a:r>
                <a:endParaRPr lang="en-US" sz="105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19" name="TextBox 18">
            <a:extLst>
              <a:ext uri="{FF2B5EF4-FFF2-40B4-BE49-F238E27FC236}">
                <a16:creationId xmlns:a16="http://schemas.microsoft.com/office/drawing/2014/main" id="{714B5B16-979C-49D5-A896-12440A366387}"/>
              </a:ext>
            </a:extLst>
          </p:cNvPr>
          <p:cNvSpPr txBox="1"/>
          <p:nvPr/>
        </p:nvSpPr>
        <p:spPr>
          <a:xfrm>
            <a:off x="285750" y="1452988"/>
            <a:ext cx="9082838" cy="523220"/>
          </a:xfrm>
          <a:prstGeom prst="rect">
            <a:avLst/>
          </a:prstGeom>
          <a:noFill/>
        </p:spPr>
        <p:txBody>
          <a:bodyPr wrap="square">
            <a:spAutoFit/>
          </a:bodyPr>
          <a:lstStyle/>
          <a:p>
            <a:pPr algn="just"/>
            <a:r>
              <a:rPr lang="en-US" sz="2800" b="1" dirty="0">
                <a:solidFill>
                  <a:srgbClr val="FF0000"/>
                </a:solidFill>
                <a:latin typeface="Bookman Old Style" panose="02050604050505020204" pitchFamily="18" charset="0"/>
              </a:rPr>
              <a:t>Constructor syntax</a:t>
            </a:r>
            <a:endParaRPr lang="en-IN" sz="800" dirty="0">
              <a:solidFill>
                <a:srgbClr val="F105D3"/>
              </a:solidFill>
            </a:endParaRPr>
          </a:p>
        </p:txBody>
      </p:sp>
      <p:sp>
        <p:nvSpPr>
          <p:cNvPr id="24" name="TextBox 23">
            <a:extLst>
              <a:ext uri="{FF2B5EF4-FFF2-40B4-BE49-F238E27FC236}">
                <a16:creationId xmlns:a16="http://schemas.microsoft.com/office/drawing/2014/main" id="{4B45DD34-D16E-47ED-92F0-D728B79006AA}"/>
              </a:ext>
            </a:extLst>
          </p:cNvPr>
          <p:cNvSpPr txBox="1"/>
          <p:nvPr/>
        </p:nvSpPr>
        <p:spPr>
          <a:xfrm>
            <a:off x="623578" y="2225662"/>
            <a:ext cx="8407181" cy="1569660"/>
          </a:xfrm>
          <a:prstGeom prst="rect">
            <a:avLst/>
          </a:prstGeom>
          <a:noFill/>
        </p:spPr>
        <p:txBody>
          <a:bodyPr wrap="square">
            <a:spAutoFit/>
          </a:bodyPr>
          <a:lstStyle/>
          <a:p>
            <a:r>
              <a:rPr lang="en-IN" sz="2400" b="1" dirty="0">
                <a:solidFill>
                  <a:srgbClr val="FF0000"/>
                </a:solidFill>
              </a:rPr>
              <a:t>&lt;access_specifier&gt; </a:t>
            </a:r>
            <a:r>
              <a:rPr lang="en-IN" sz="2400" b="1" dirty="0" err="1">
                <a:solidFill>
                  <a:srgbClr val="0000FF"/>
                </a:solidFill>
              </a:rPr>
              <a:t>ClassNameAsConstructor</a:t>
            </a:r>
            <a:r>
              <a:rPr lang="en-IN" sz="2400" b="1" dirty="0"/>
              <a:t>(&lt;</a:t>
            </a:r>
            <a:r>
              <a:rPr lang="en-IN" sz="2400" b="1" dirty="0" err="1"/>
              <a:t>param_type</a:t>
            </a:r>
            <a:r>
              <a:rPr lang="en-IN" sz="2400" b="1" dirty="0"/>
              <a:t> </a:t>
            </a:r>
            <a:r>
              <a:rPr lang="en-IN" sz="2400" b="1" dirty="0" err="1"/>
              <a:t>param_name</a:t>
            </a:r>
            <a:r>
              <a:rPr lang="en-IN" sz="2400" b="1" dirty="0"/>
              <a:t>, </a:t>
            </a:r>
            <a:r>
              <a:rPr lang="en-IN" sz="2400" b="1" dirty="0" err="1"/>
              <a:t>param_type</a:t>
            </a:r>
            <a:r>
              <a:rPr lang="en-IN" sz="2400" b="1" dirty="0"/>
              <a:t> </a:t>
            </a:r>
            <a:r>
              <a:rPr lang="en-IN" sz="2400" b="1" dirty="0" err="1"/>
              <a:t>param_name</a:t>
            </a:r>
            <a:r>
              <a:rPr lang="en-IN" sz="2400" b="1" dirty="0"/>
              <a:t>, ....&gt;) {</a:t>
            </a:r>
          </a:p>
          <a:p>
            <a:r>
              <a:rPr lang="en-IN" sz="2400" b="1" dirty="0"/>
              <a:t>	// class instance variables initialization</a:t>
            </a:r>
          </a:p>
          <a:p>
            <a:r>
              <a:rPr lang="en-IN" sz="2400" b="1" dirty="0"/>
              <a:t>}</a:t>
            </a:r>
          </a:p>
        </p:txBody>
      </p:sp>
      <p:sp>
        <p:nvSpPr>
          <p:cNvPr id="7" name="Footer Placeholder 6">
            <a:extLst>
              <a:ext uri="{FF2B5EF4-FFF2-40B4-BE49-F238E27FC236}">
                <a16:creationId xmlns:a16="http://schemas.microsoft.com/office/drawing/2014/main" id="{8A38EF74-B174-FF7B-50A7-BB0DE50D0CED}"/>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9927610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461665"/>
              </a:xfrm>
              <a:prstGeom prst="rect">
                <a:avLst/>
              </a:prstGeom>
            </p:spPr>
            <p:txBody>
              <a:bodyPr wrap="square">
                <a:spAutoFit/>
              </a:bodyPr>
              <a:lstStyle/>
              <a:p>
                <a:pPr algn="ctr"/>
                <a:r>
                  <a:rPr lang="en-US" sz="2400" b="1">
                    <a:solidFill>
                      <a:schemeClr val="bg1"/>
                    </a:solidFill>
                    <a:latin typeface="Bookman Old Style" panose="02050604050505020204" pitchFamily="18" charset="0"/>
                  </a:rPr>
                  <a:t>Constructor Syntax</a:t>
                </a:r>
                <a:endParaRPr lang="en-US" sz="105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19" name="TextBox 18">
            <a:extLst>
              <a:ext uri="{FF2B5EF4-FFF2-40B4-BE49-F238E27FC236}">
                <a16:creationId xmlns:a16="http://schemas.microsoft.com/office/drawing/2014/main" id="{714B5B16-979C-49D5-A896-12440A366387}"/>
              </a:ext>
            </a:extLst>
          </p:cNvPr>
          <p:cNvSpPr txBox="1"/>
          <p:nvPr/>
        </p:nvSpPr>
        <p:spPr>
          <a:xfrm>
            <a:off x="285750" y="1452988"/>
            <a:ext cx="9082838" cy="523220"/>
          </a:xfrm>
          <a:prstGeom prst="rect">
            <a:avLst/>
          </a:prstGeom>
          <a:noFill/>
        </p:spPr>
        <p:txBody>
          <a:bodyPr wrap="square">
            <a:spAutoFit/>
          </a:bodyPr>
          <a:lstStyle/>
          <a:p>
            <a:pPr algn="just"/>
            <a:r>
              <a:rPr lang="en-US" sz="2800" b="1" dirty="0">
                <a:solidFill>
                  <a:srgbClr val="FF0000"/>
                </a:solidFill>
                <a:latin typeface="Bookman Old Style" panose="02050604050505020204" pitchFamily="18" charset="0"/>
              </a:rPr>
              <a:t>About default Constructor</a:t>
            </a:r>
            <a:endParaRPr lang="en-IN" sz="800" dirty="0">
              <a:solidFill>
                <a:srgbClr val="F105D3"/>
              </a:solidFill>
            </a:endParaRPr>
          </a:p>
        </p:txBody>
      </p:sp>
      <p:sp>
        <p:nvSpPr>
          <p:cNvPr id="25" name="TextBox 24">
            <a:extLst>
              <a:ext uri="{FF2B5EF4-FFF2-40B4-BE49-F238E27FC236}">
                <a16:creationId xmlns:a16="http://schemas.microsoft.com/office/drawing/2014/main" id="{C7DE3A63-C96C-4ADB-BF0A-54C125EF14F7}"/>
              </a:ext>
            </a:extLst>
          </p:cNvPr>
          <p:cNvSpPr txBox="1"/>
          <p:nvPr/>
        </p:nvSpPr>
        <p:spPr>
          <a:xfrm>
            <a:off x="285750" y="2117778"/>
            <a:ext cx="8858250" cy="4339650"/>
          </a:xfrm>
          <a:prstGeom prst="rect">
            <a:avLst/>
          </a:prstGeom>
          <a:noFill/>
        </p:spPr>
        <p:txBody>
          <a:bodyPr wrap="square">
            <a:spAutoFit/>
          </a:bodyPr>
          <a:lstStyle/>
          <a:p>
            <a:pPr algn="just"/>
            <a:r>
              <a:rPr lang="en-IN" sz="2000" dirty="0"/>
              <a:t>Before discussing consequences of applying access specifiers on constructor, we will discuss about default constructor.</a:t>
            </a:r>
          </a:p>
          <a:p>
            <a:pPr algn="just"/>
            <a:endParaRPr lang="en-IN" sz="2000" dirty="0"/>
          </a:p>
          <a:p>
            <a:pPr algn="just"/>
            <a:r>
              <a:rPr lang="en-IN" b="1" u="sng" dirty="0"/>
              <a:t>default constructor generation for default access specifier class:</a:t>
            </a:r>
          </a:p>
          <a:p>
            <a:pPr algn="just"/>
            <a:r>
              <a:rPr lang="en-IN" dirty="0"/>
              <a:t>class A {</a:t>
            </a:r>
          </a:p>
          <a:p>
            <a:pPr algn="just"/>
            <a:r>
              <a:rPr lang="en-IN" dirty="0"/>
              <a:t>	// if we </a:t>
            </a:r>
            <a:r>
              <a:rPr lang="en-IN" dirty="0" err="1"/>
              <a:t>dont</a:t>
            </a:r>
            <a:r>
              <a:rPr lang="en-IN" dirty="0"/>
              <a:t> write any constructor</a:t>
            </a:r>
          </a:p>
          <a:p>
            <a:pPr algn="just"/>
            <a:r>
              <a:rPr lang="en-IN" dirty="0"/>
              <a:t>}</a:t>
            </a:r>
          </a:p>
          <a:p>
            <a:pPr algn="just"/>
            <a:endParaRPr lang="en-IN" dirty="0"/>
          </a:p>
          <a:p>
            <a:pPr algn="just"/>
            <a:r>
              <a:rPr lang="en-IN" dirty="0" err="1"/>
              <a:t>javac</a:t>
            </a:r>
            <a:r>
              <a:rPr lang="en-IN" dirty="0"/>
              <a:t> A.java during compilation, compiler generates one default constructor</a:t>
            </a:r>
          </a:p>
          <a:p>
            <a:pPr algn="just"/>
            <a:r>
              <a:rPr lang="en-IN" dirty="0"/>
              <a:t>	in  </a:t>
            </a:r>
            <a:r>
              <a:rPr lang="en-IN" dirty="0" err="1"/>
              <a:t>A.class</a:t>
            </a:r>
            <a:endParaRPr lang="en-IN" dirty="0"/>
          </a:p>
          <a:p>
            <a:pPr algn="just"/>
            <a:r>
              <a:rPr lang="en-IN" dirty="0"/>
              <a:t>		</a:t>
            </a:r>
          </a:p>
          <a:p>
            <a:pPr algn="just"/>
            <a:r>
              <a:rPr lang="en-IN" dirty="0"/>
              <a:t>class A {</a:t>
            </a:r>
          </a:p>
          <a:p>
            <a:pPr algn="just"/>
            <a:r>
              <a:rPr lang="en-IN" dirty="0"/>
              <a:t>	A() {} // default constructor; access specifier same as class access specifier with no param constructor</a:t>
            </a:r>
          </a:p>
          <a:p>
            <a:pPr algn="just"/>
            <a:r>
              <a:rPr lang="en-IN" dirty="0"/>
              <a:t>}</a:t>
            </a:r>
          </a:p>
        </p:txBody>
      </p:sp>
      <p:sp>
        <p:nvSpPr>
          <p:cNvPr id="7" name="Footer Placeholder 6">
            <a:extLst>
              <a:ext uri="{FF2B5EF4-FFF2-40B4-BE49-F238E27FC236}">
                <a16:creationId xmlns:a16="http://schemas.microsoft.com/office/drawing/2014/main" id="{BFA63AF1-8E23-3E73-20A7-ECFB543700EC}"/>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6072340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461665"/>
              </a:xfrm>
              <a:prstGeom prst="rect">
                <a:avLst/>
              </a:prstGeom>
            </p:spPr>
            <p:txBody>
              <a:bodyPr wrap="square">
                <a:spAutoFit/>
              </a:bodyPr>
              <a:lstStyle/>
              <a:p>
                <a:pPr algn="ctr"/>
                <a:r>
                  <a:rPr lang="en-US" sz="2400" b="1">
                    <a:solidFill>
                      <a:schemeClr val="bg1"/>
                    </a:solidFill>
                    <a:latin typeface="Bookman Old Style" panose="02050604050505020204" pitchFamily="18" charset="0"/>
                  </a:rPr>
                  <a:t>Constructor Syntax</a:t>
                </a:r>
                <a:endParaRPr lang="en-US" sz="105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19" name="TextBox 18">
            <a:extLst>
              <a:ext uri="{FF2B5EF4-FFF2-40B4-BE49-F238E27FC236}">
                <a16:creationId xmlns:a16="http://schemas.microsoft.com/office/drawing/2014/main" id="{714B5B16-979C-49D5-A896-12440A366387}"/>
              </a:ext>
            </a:extLst>
          </p:cNvPr>
          <p:cNvSpPr txBox="1"/>
          <p:nvPr/>
        </p:nvSpPr>
        <p:spPr>
          <a:xfrm>
            <a:off x="285750" y="1452988"/>
            <a:ext cx="9082838" cy="523220"/>
          </a:xfrm>
          <a:prstGeom prst="rect">
            <a:avLst/>
          </a:prstGeom>
          <a:noFill/>
        </p:spPr>
        <p:txBody>
          <a:bodyPr wrap="square">
            <a:spAutoFit/>
          </a:bodyPr>
          <a:lstStyle/>
          <a:p>
            <a:pPr algn="just"/>
            <a:r>
              <a:rPr lang="en-US" sz="2800" b="1" dirty="0">
                <a:solidFill>
                  <a:srgbClr val="FF0000"/>
                </a:solidFill>
                <a:latin typeface="Bookman Old Style" panose="02050604050505020204" pitchFamily="18" charset="0"/>
              </a:rPr>
              <a:t>About default Constructor</a:t>
            </a:r>
            <a:endParaRPr lang="en-IN" sz="800" dirty="0">
              <a:solidFill>
                <a:srgbClr val="F105D3"/>
              </a:solidFill>
            </a:endParaRPr>
          </a:p>
        </p:txBody>
      </p:sp>
      <p:sp>
        <p:nvSpPr>
          <p:cNvPr id="25" name="TextBox 24">
            <a:extLst>
              <a:ext uri="{FF2B5EF4-FFF2-40B4-BE49-F238E27FC236}">
                <a16:creationId xmlns:a16="http://schemas.microsoft.com/office/drawing/2014/main" id="{C7DE3A63-C96C-4ADB-BF0A-54C125EF14F7}"/>
              </a:ext>
            </a:extLst>
          </p:cNvPr>
          <p:cNvSpPr txBox="1"/>
          <p:nvPr/>
        </p:nvSpPr>
        <p:spPr>
          <a:xfrm>
            <a:off x="285750" y="2117778"/>
            <a:ext cx="8858250" cy="4401205"/>
          </a:xfrm>
          <a:prstGeom prst="rect">
            <a:avLst/>
          </a:prstGeom>
          <a:noFill/>
        </p:spPr>
        <p:txBody>
          <a:bodyPr wrap="square">
            <a:spAutoFit/>
          </a:bodyPr>
          <a:lstStyle/>
          <a:p>
            <a:pPr algn="just"/>
            <a:r>
              <a:rPr lang="en-IN" sz="2000" b="1" u="sng" dirty="0"/>
              <a:t>default constructor generation for public access specifier class:</a:t>
            </a:r>
          </a:p>
          <a:p>
            <a:pPr algn="just"/>
            <a:r>
              <a:rPr lang="en-IN" sz="2000" dirty="0"/>
              <a:t>package </a:t>
            </a:r>
            <a:r>
              <a:rPr lang="en-IN" sz="2000" dirty="0" err="1"/>
              <a:t>mypack</a:t>
            </a:r>
            <a:r>
              <a:rPr lang="en-IN" sz="2000" dirty="0"/>
              <a:t>;</a:t>
            </a:r>
          </a:p>
          <a:p>
            <a:pPr algn="just"/>
            <a:r>
              <a:rPr lang="en-IN" sz="2000" dirty="0"/>
              <a:t>public class B {</a:t>
            </a:r>
          </a:p>
          <a:p>
            <a:pPr algn="just"/>
            <a:r>
              <a:rPr lang="en-IN" sz="2000" dirty="0"/>
              <a:t>	if no constructor is written, compiler generates one default constructor with the same access specifier as class.</a:t>
            </a:r>
          </a:p>
          <a:p>
            <a:pPr algn="just"/>
            <a:r>
              <a:rPr lang="en-IN" sz="2000" dirty="0"/>
              <a:t>}</a:t>
            </a:r>
          </a:p>
          <a:p>
            <a:pPr algn="just"/>
            <a:endParaRPr lang="en-IN" sz="2000" dirty="0"/>
          </a:p>
          <a:p>
            <a:pPr algn="just"/>
            <a:r>
              <a:rPr lang="en-IN" sz="2000" dirty="0" err="1"/>
              <a:t>javac</a:t>
            </a:r>
            <a:r>
              <a:rPr lang="en-IN" sz="2000" dirty="0"/>
              <a:t> B.java</a:t>
            </a:r>
          </a:p>
          <a:p>
            <a:pPr algn="just"/>
            <a:endParaRPr lang="en-IN" sz="2000" dirty="0"/>
          </a:p>
          <a:p>
            <a:pPr algn="just"/>
            <a:r>
              <a:rPr lang="en-IN" sz="2000" dirty="0"/>
              <a:t>public class B {</a:t>
            </a:r>
          </a:p>
          <a:p>
            <a:pPr algn="just"/>
            <a:r>
              <a:rPr lang="en-IN" sz="2000" dirty="0"/>
              <a:t>	</a:t>
            </a:r>
            <a:r>
              <a:rPr lang="en-IN" sz="2000" b="1" dirty="0">
                <a:solidFill>
                  <a:srgbClr val="FF0000"/>
                </a:solidFill>
              </a:rPr>
              <a:t>public B() {} </a:t>
            </a:r>
          </a:p>
          <a:p>
            <a:pPr algn="just"/>
            <a:r>
              <a:rPr lang="en-IN" sz="2000" dirty="0"/>
              <a:t>	// default constructor</a:t>
            </a:r>
          </a:p>
          <a:p>
            <a:pPr algn="just"/>
            <a:r>
              <a:rPr lang="en-IN" sz="2000" dirty="0"/>
              <a:t>	// constructor is generated as public because class access specifier is public</a:t>
            </a:r>
          </a:p>
          <a:p>
            <a:pPr algn="just"/>
            <a:r>
              <a:rPr lang="en-IN" sz="2000" dirty="0"/>
              <a:t>}</a:t>
            </a:r>
          </a:p>
        </p:txBody>
      </p:sp>
      <p:sp>
        <p:nvSpPr>
          <p:cNvPr id="7" name="Footer Placeholder 6">
            <a:extLst>
              <a:ext uri="{FF2B5EF4-FFF2-40B4-BE49-F238E27FC236}">
                <a16:creationId xmlns:a16="http://schemas.microsoft.com/office/drawing/2014/main" id="{D9124E54-FE71-93D1-BAB8-BB3AF5B235BE}"/>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5929943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461665"/>
              </a:xfrm>
              <a:prstGeom prst="rect">
                <a:avLst/>
              </a:prstGeom>
            </p:spPr>
            <p:txBody>
              <a:bodyPr wrap="square">
                <a:spAutoFit/>
              </a:bodyPr>
              <a:lstStyle/>
              <a:p>
                <a:pPr algn="ctr"/>
                <a:r>
                  <a:rPr lang="en-US" sz="2400" b="1">
                    <a:solidFill>
                      <a:schemeClr val="bg1"/>
                    </a:solidFill>
                    <a:latin typeface="Bookman Old Style" panose="02050604050505020204" pitchFamily="18" charset="0"/>
                  </a:rPr>
                  <a:t>Constructor Syntax</a:t>
                </a:r>
                <a:endParaRPr lang="en-US" sz="105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19" name="TextBox 18">
            <a:extLst>
              <a:ext uri="{FF2B5EF4-FFF2-40B4-BE49-F238E27FC236}">
                <a16:creationId xmlns:a16="http://schemas.microsoft.com/office/drawing/2014/main" id="{714B5B16-979C-49D5-A896-12440A366387}"/>
              </a:ext>
            </a:extLst>
          </p:cNvPr>
          <p:cNvSpPr txBox="1"/>
          <p:nvPr/>
        </p:nvSpPr>
        <p:spPr>
          <a:xfrm>
            <a:off x="285750" y="1452988"/>
            <a:ext cx="9082838" cy="523220"/>
          </a:xfrm>
          <a:prstGeom prst="rect">
            <a:avLst/>
          </a:prstGeom>
          <a:noFill/>
        </p:spPr>
        <p:txBody>
          <a:bodyPr wrap="square">
            <a:spAutoFit/>
          </a:bodyPr>
          <a:lstStyle/>
          <a:p>
            <a:pPr algn="just"/>
            <a:r>
              <a:rPr lang="en-US" sz="2800" b="1" dirty="0">
                <a:solidFill>
                  <a:srgbClr val="FF0000"/>
                </a:solidFill>
                <a:latin typeface="Bookman Old Style" panose="02050604050505020204" pitchFamily="18" charset="0"/>
              </a:rPr>
              <a:t>About default Constructor</a:t>
            </a:r>
            <a:endParaRPr lang="en-IN" sz="800" dirty="0">
              <a:solidFill>
                <a:srgbClr val="F105D3"/>
              </a:solidFill>
            </a:endParaRPr>
          </a:p>
        </p:txBody>
      </p:sp>
      <p:sp>
        <p:nvSpPr>
          <p:cNvPr id="25" name="TextBox 24">
            <a:extLst>
              <a:ext uri="{FF2B5EF4-FFF2-40B4-BE49-F238E27FC236}">
                <a16:creationId xmlns:a16="http://schemas.microsoft.com/office/drawing/2014/main" id="{C7DE3A63-C96C-4ADB-BF0A-54C125EF14F7}"/>
              </a:ext>
            </a:extLst>
          </p:cNvPr>
          <p:cNvSpPr txBox="1"/>
          <p:nvPr/>
        </p:nvSpPr>
        <p:spPr>
          <a:xfrm>
            <a:off x="285750" y="2117778"/>
            <a:ext cx="8858250" cy="1569660"/>
          </a:xfrm>
          <a:prstGeom prst="rect">
            <a:avLst/>
          </a:prstGeom>
          <a:noFill/>
        </p:spPr>
        <p:txBody>
          <a:bodyPr wrap="square">
            <a:spAutoFit/>
          </a:bodyPr>
          <a:lstStyle/>
          <a:p>
            <a:pPr algn="just"/>
            <a:r>
              <a:rPr lang="en-US" sz="3200" b="1" u="sng" dirty="0"/>
              <a:t>Note: </a:t>
            </a:r>
          </a:p>
          <a:p>
            <a:pPr algn="just"/>
            <a:r>
              <a:rPr lang="en-US" sz="2000" b="1" dirty="0"/>
              <a:t>	</a:t>
            </a:r>
            <a:r>
              <a:rPr lang="en-US" sz="3200" b="1" dirty="0"/>
              <a:t>default constructors are generated by compilers only if no constructor is present in class.</a:t>
            </a:r>
            <a:endParaRPr lang="en-IN" sz="3200" dirty="0"/>
          </a:p>
        </p:txBody>
      </p:sp>
      <p:sp>
        <p:nvSpPr>
          <p:cNvPr id="7" name="Footer Placeholder 6">
            <a:extLst>
              <a:ext uri="{FF2B5EF4-FFF2-40B4-BE49-F238E27FC236}">
                <a16:creationId xmlns:a16="http://schemas.microsoft.com/office/drawing/2014/main" id="{2E5768AA-CF09-1860-F03C-11C0DD0676F6}"/>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66787379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461665"/>
              </a:xfrm>
              <a:prstGeom prst="rect">
                <a:avLst/>
              </a:prstGeom>
            </p:spPr>
            <p:txBody>
              <a:bodyPr wrap="square">
                <a:spAutoFit/>
              </a:bodyPr>
              <a:lstStyle/>
              <a:p>
                <a:pPr algn="ctr"/>
                <a:r>
                  <a:rPr lang="en-US" sz="2400" b="1">
                    <a:solidFill>
                      <a:schemeClr val="bg1"/>
                    </a:solidFill>
                    <a:latin typeface="Bookman Old Style" panose="02050604050505020204" pitchFamily="18" charset="0"/>
                  </a:rPr>
                  <a:t>Constructor Syntax</a:t>
                </a:r>
                <a:endParaRPr lang="en-US" sz="105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19" name="TextBox 18">
            <a:extLst>
              <a:ext uri="{FF2B5EF4-FFF2-40B4-BE49-F238E27FC236}">
                <a16:creationId xmlns:a16="http://schemas.microsoft.com/office/drawing/2014/main" id="{714B5B16-979C-49D5-A896-12440A366387}"/>
              </a:ext>
            </a:extLst>
          </p:cNvPr>
          <p:cNvSpPr txBox="1"/>
          <p:nvPr/>
        </p:nvSpPr>
        <p:spPr>
          <a:xfrm>
            <a:off x="285750" y="1134936"/>
            <a:ext cx="9082838" cy="461665"/>
          </a:xfrm>
          <a:prstGeom prst="rect">
            <a:avLst/>
          </a:prstGeom>
          <a:noFill/>
        </p:spPr>
        <p:txBody>
          <a:bodyPr wrap="square">
            <a:spAutoFit/>
          </a:bodyPr>
          <a:lstStyle/>
          <a:p>
            <a:pPr algn="just"/>
            <a:r>
              <a:rPr lang="en-US" sz="2400" b="1" u="sng" dirty="0">
                <a:solidFill>
                  <a:srgbClr val="FF0000"/>
                </a:solidFill>
                <a:latin typeface="Bookman Old Style" panose="02050604050505020204" pitchFamily="18" charset="0"/>
              </a:rPr>
              <a:t>Consequence of access specifiers on Constructors</a:t>
            </a:r>
            <a:endParaRPr lang="en-IN" sz="700" u="sng" dirty="0">
              <a:solidFill>
                <a:srgbClr val="F105D3"/>
              </a:solidFill>
            </a:endParaRPr>
          </a:p>
        </p:txBody>
      </p:sp>
      <p:sp>
        <p:nvSpPr>
          <p:cNvPr id="25" name="TextBox 24">
            <a:extLst>
              <a:ext uri="{FF2B5EF4-FFF2-40B4-BE49-F238E27FC236}">
                <a16:creationId xmlns:a16="http://schemas.microsoft.com/office/drawing/2014/main" id="{C7DE3A63-C96C-4ADB-BF0A-54C125EF14F7}"/>
              </a:ext>
            </a:extLst>
          </p:cNvPr>
          <p:cNvSpPr txBox="1"/>
          <p:nvPr/>
        </p:nvSpPr>
        <p:spPr>
          <a:xfrm>
            <a:off x="285750" y="1586384"/>
            <a:ext cx="8858250" cy="5078313"/>
          </a:xfrm>
          <a:prstGeom prst="rect">
            <a:avLst/>
          </a:prstGeom>
          <a:noFill/>
        </p:spPr>
        <p:txBody>
          <a:bodyPr wrap="square">
            <a:spAutoFit/>
          </a:bodyPr>
          <a:lstStyle/>
          <a:p>
            <a:pPr algn="just"/>
            <a:r>
              <a:rPr lang="en-US" b="1" u="sng" dirty="0"/>
              <a:t>access_specifiers:</a:t>
            </a:r>
          </a:p>
          <a:p>
            <a:pPr algn="just"/>
            <a:r>
              <a:rPr lang="en-US" dirty="0"/>
              <a:t>	</a:t>
            </a:r>
            <a:r>
              <a:rPr lang="en-US" b="1" u="sng" dirty="0"/>
              <a:t>private: </a:t>
            </a:r>
          </a:p>
          <a:p>
            <a:pPr algn="just"/>
            <a:r>
              <a:rPr lang="en-US" dirty="0"/>
              <a:t>	If constructor is declared as private such classes cannot be </a:t>
            </a:r>
            <a:r>
              <a:rPr lang="en-US" b="1" i="1" dirty="0"/>
              <a:t>inherited or instantiated</a:t>
            </a:r>
            <a:r>
              <a:rPr lang="en-US" dirty="0"/>
              <a:t>. </a:t>
            </a:r>
          </a:p>
          <a:p>
            <a:pPr algn="just"/>
            <a:r>
              <a:rPr lang="en-US" dirty="0"/>
              <a:t>		</a:t>
            </a:r>
          </a:p>
          <a:p>
            <a:pPr algn="just"/>
            <a:r>
              <a:rPr lang="en-US" dirty="0"/>
              <a:t>	We can't subclass</a:t>
            </a:r>
          </a:p>
          <a:p>
            <a:pPr algn="just"/>
            <a:r>
              <a:rPr lang="en-US" dirty="0"/>
              <a:t>	We can't instantiate / create object</a:t>
            </a:r>
          </a:p>
          <a:p>
            <a:pPr algn="just"/>
            <a:r>
              <a:rPr lang="en-US" dirty="0"/>
              <a:t>		</a:t>
            </a:r>
          </a:p>
          <a:p>
            <a:pPr algn="just"/>
            <a:r>
              <a:rPr lang="en-US" dirty="0"/>
              <a:t>	A class cannot be instantiated:</a:t>
            </a:r>
          </a:p>
          <a:p>
            <a:pPr algn="just"/>
            <a:r>
              <a:rPr lang="en-US" dirty="0"/>
              <a:t>	</a:t>
            </a:r>
            <a:r>
              <a:rPr lang="en-US" b="1" dirty="0"/>
              <a:t>A a=new A(); // error saying class constructor is private</a:t>
            </a:r>
          </a:p>
          <a:p>
            <a:pPr algn="just"/>
            <a:endParaRPr lang="en-US" dirty="0"/>
          </a:p>
          <a:p>
            <a:pPr algn="just"/>
            <a:r>
              <a:rPr lang="en-US" dirty="0"/>
              <a:t>	class cannot be sub classed. calling super() from B class constructor says A class constructor is private</a:t>
            </a:r>
          </a:p>
          <a:p>
            <a:pPr algn="just"/>
            <a:r>
              <a:rPr lang="en-US" dirty="0"/>
              <a:t>	</a:t>
            </a:r>
            <a:r>
              <a:rPr lang="en-US" b="1" dirty="0"/>
              <a:t>class B extends A </a:t>
            </a:r>
            <a:r>
              <a:rPr lang="en-US" dirty="0"/>
              <a:t>{</a:t>
            </a:r>
          </a:p>
          <a:p>
            <a:pPr algn="just"/>
            <a:r>
              <a:rPr lang="en-US" dirty="0"/>
              <a:t>		B() {</a:t>
            </a:r>
          </a:p>
          <a:p>
            <a:pPr algn="just"/>
            <a:r>
              <a:rPr lang="en-US" dirty="0"/>
              <a:t>			</a:t>
            </a:r>
            <a:r>
              <a:rPr lang="en-US" b="1" dirty="0"/>
              <a:t>super();</a:t>
            </a:r>
            <a:r>
              <a:rPr lang="en-US" dirty="0"/>
              <a:t> // super class constructor is private</a:t>
            </a:r>
          </a:p>
          <a:p>
            <a:pPr algn="just"/>
            <a:r>
              <a:rPr lang="en-US" dirty="0"/>
              <a:t>		}</a:t>
            </a:r>
          </a:p>
          <a:p>
            <a:pPr algn="just"/>
            <a:r>
              <a:rPr lang="en-US" dirty="0"/>
              <a:t>	}</a:t>
            </a:r>
          </a:p>
        </p:txBody>
      </p:sp>
      <p:sp>
        <p:nvSpPr>
          <p:cNvPr id="7" name="Footer Placeholder 6">
            <a:extLst>
              <a:ext uri="{FF2B5EF4-FFF2-40B4-BE49-F238E27FC236}">
                <a16:creationId xmlns:a16="http://schemas.microsoft.com/office/drawing/2014/main" id="{44F55546-8CC1-4D30-417E-47984B4DD6E9}"/>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88417354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461665"/>
              </a:xfrm>
              <a:prstGeom prst="rect">
                <a:avLst/>
              </a:prstGeom>
            </p:spPr>
            <p:txBody>
              <a:bodyPr wrap="square">
                <a:spAutoFit/>
              </a:bodyPr>
              <a:lstStyle/>
              <a:p>
                <a:pPr algn="ctr"/>
                <a:r>
                  <a:rPr lang="en-US" sz="2400" b="1">
                    <a:solidFill>
                      <a:schemeClr val="bg1"/>
                    </a:solidFill>
                    <a:latin typeface="Bookman Old Style" panose="02050604050505020204" pitchFamily="18" charset="0"/>
                  </a:rPr>
                  <a:t>Constructor Syntax</a:t>
                </a:r>
                <a:endParaRPr lang="en-US" sz="105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19" name="TextBox 18">
            <a:extLst>
              <a:ext uri="{FF2B5EF4-FFF2-40B4-BE49-F238E27FC236}">
                <a16:creationId xmlns:a16="http://schemas.microsoft.com/office/drawing/2014/main" id="{714B5B16-979C-49D5-A896-12440A366387}"/>
              </a:ext>
            </a:extLst>
          </p:cNvPr>
          <p:cNvSpPr txBox="1"/>
          <p:nvPr/>
        </p:nvSpPr>
        <p:spPr>
          <a:xfrm>
            <a:off x="285750" y="1452988"/>
            <a:ext cx="9082838" cy="461665"/>
          </a:xfrm>
          <a:prstGeom prst="rect">
            <a:avLst/>
          </a:prstGeom>
          <a:noFill/>
        </p:spPr>
        <p:txBody>
          <a:bodyPr wrap="square">
            <a:spAutoFit/>
          </a:bodyPr>
          <a:lstStyle/>
          <a:p>
            <a:pPr algn="just"/>
            <a:r>
              <a:rPr lang="en-US" sz="2400" b="1" u="sng" dirty="0">
                <a:solidFill>
                  <a:srgbClr val="FF0000"/>
                </a:solidFill>
                <a:latin typeface="Bookman Old Style" panose="02050604050505020204" pitchFamily="18" charset="0"/>
              </a:rPr>
              <a:t>Consequence of access specifiers on Constructors</a:t>
            </a:r>
            <a:endParaRPr lang="en-IN" sz="700" u="sng" dirty="0">
              <a:solidFill>
                <a:srgbClr val="F105D3"/>
              </a:solidFill>
            </a:endParaRPr>
          </a:p>
        </p:txBody>
      </p:sp>
      <p:sp>
        <p:nvSpPr>
          <p:cNvPr id="25" name="TextBox 24">
            <a:extLst>
              <a:ext uri="{FF2B5EF4-FFF2-40B4-BE49-F238E27FC236}">
                <a16:creationId xmlns:a16="http://schemas.microsoft.com/office/drawing/2014/main" id="{C7DE3A63-C96C-4ADB-BF0A-54C125EF14F7}"/>
              </a:ext>
            </a:extLst>
          </p:cNvPr>
          <p:cNvSpPr txBox="1"/>
          <p:nvPr/>
        </p:nvSpPr>
        <p:spPr>
          <a:xfrm>
            <a:off x="285750" y="1904436"/>
            <a:ext cx="9001262" cy="3847207"/>
          </a:xfrm>
          <a:prstGeom prst="rect">
            <a:avLst/>
          </a:prstGeom>
          <a:noFill/>
        </p:spPr>
        <p:txBody>
          <a:bodyPr wrap="square">
            <a:spAutoFit/>
          </a:bodyPr>
          <a:lstStyle/>
          <a:p>
            <a:pPr algn="just"/>
            <a:r>
              <a:rPr lang="en-US" sz="2800" b="1" dirty="0">
                <a:solidFill>
                  <a:srgbClr val="003F66"/>
                </a:solidFill>
              </a:rPr>
              <a:t>Then when class constructors are declared as private?</a:t>
            </a:r>
            <a:endParaRPr lang="en-US" sz="2400" b="1" dirty="0">
              <a:solidFill>
                <a:srgbClr val="003F66"/>
              </a:solidFill>
            </a:endParaRPr>
          </a:p>
          <a:p>
            <a:pPr marL="285750" indent="-285750" algn="just">
              <a:buFont typeface="Wingdings" panose="05000000000000000000" pitchFamily="2" charset="2"/>
              <a:buChar char="v"/>
            </a:pPr>
            <a:r>
              <a:rPr lang="en-US" sz="2400" b="1" dirty="0"/>
              <a:t>Class which don’t want to be instantiated or inherited by others such class constructors are declared as private.</a:t>
            </a:r>
          </a:p>
          <a:p>
            <a:pPr marL="285750" indent="-285750" algn="just">
              <a:buFont typeface="Wingdings" panose="05000000000000000000" pitchFamily="2" charset="2"/>
              <a:buChar char="v"/>
            </a:pPr>
            <a:r>
              <a:rPr lang="en-US" sz="2400" b="1" dirty="0"/>
              <a:t>Such a class contains one static method like </a:t>
            </a:r>
            <a:r>
              <a:rPr lang="en-US" sz="2400" b="1" dirty="0" err="1"/>
              <a:t>getInstance</a:t>
            </a:r>
            <a:r>
              <a:rPr lang="en-US" sz="2400" b="1" dirty="0"/>
              <a:t>() that returns the single instance of same class for any number of client requests.</a:t>
            </a:r>
          </a:p>
          <a:p>
            <a:pPr marL="285750" indent="-285750" algn="just">
              <a:buFont typeface="Wingdings" panose="05000000000000000000" pitchFamily="2" charset="2"/>
              <a:buChar char="v"/>
            </a:pPr>
            <a:r>
              <a:rPr lang="en-US" sz="2400" b="1" dirty="0"/>
              <a:t>Singleton classes are like this.</a:t>
            </a:r>
          </a:p>
          <a:p>
            <a:pPr marL="285750" indent="-285750" algn="just">
              <a:buFont typeface="Wingdings" panose="05000000000000000000" pitchFamily="2" charset="2"/>
              <a:buChar char="v"/>
            </a:pPr>
            <a:r>
              <a:rPr lang="en-US" sz="2400" b="1" dirty="0"/>
              <a:t>Classes which want to instantiate themself such classes are called as Singleton classes.</a:t>
            </a:r>
          </a:p>
          <a:p>
            <a:pPr marL="285750" indent="-285750" algn="just">
              <a:buFont typeface="Wingdings" panose="05000000000000000000" pitchFamily="2" charset="2"/>
              <a:buChar char="v"/>
            </a:pPr>
            <a:r>
              <a:rPr lang="en-US" sz="2400" b="1" dirty="0"/>
              <a:t>Singleton classes will have only one single object per JVM.</a:t>
            </a:r>
            <a:endParaRPr lang="en-US" sz="2400" dirty="0"/>
          </a:p>
        </p:txBody>
      </p:sp>
      <p:sp>
        <p:nvSpPr>
          <p:cNvPr id="7" name="Footer Placeholder 6">
            <a:extLst>
              <a:ext uri="{FF2B5EF4-FFF2-40B4-BE49-F238E27FC236}">
                <a16:creationId xmlns:a16="http://schemas.microsoft.com/office/drawing/2014/main" id="{C2FACCA8-B71A-2C91-8E50-3281647380D2}"/>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79072058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461665"/>
              </a:xfrm>
              <a:prstGeom prst="rect">
                <a:avLst/>
              </a:prstGeom>
            </p:spPr>
            <p:txBody>
              <a:bodyPr wrap="square">
                <a:spAutoFit/>
              </a:bodyPr>
              <a:lstStyle/>
              <a:p>
                <a:pPr algn="ctr"/>
                <a:r>
                  <a:rPr lang="en-US" sz="2400" b="1">
                    <a:solidFill>
                      <a:schemeClr val="bg1"/>
                    </a:solidFill>
                    <a:latin typeface="Bookman Old Style" panose="02050604050505020204" pitchFamily="18" charset="0"/>
                  </a:rPr>
                  <a:t>Constructor Syntax</a:t>
                </a:r>
                <a:endParaRPr lang="en-US" sz="105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19" name="TextBox 18">
            <a:extLst>
              <a:ext uri="{FF2B5EF4-FFF2-40B4-BE49-F238E27FC236}">
                <a16:creationId xmlns:a16="http://schemas.microsoft.com/office/drawing/2014/main" id="{714B5B16-979C-49D5-A896-12440A366387}"/>
              </a:ext>
            </a:extLst>
          </p:cNvPr>
          <p:cNvSpPr txBox="1"/>
          <p:nvPr/>
        </p:nvSpPr>
        <p:spPr>
          <a:xfrm>
            <a:off x="285750" y="949405"/>
            <a:ext cx="9082838" cy="569387"/>
          </a:xfrm>
          <a:prstGeom prst="rect">
            <a:avLst/>
          </a:prstGeom>
          <a:noFill/>
        </p:spPr>
        <p:txBody>
          <a:bodyPr wrap="square">
            <a:spAutoFit/>
          </a:bodyPr>
          <a:lstStyle/>
          <a:p>
            <a:pPr algn="just"/>
            <a:r>
              <a:rPr lang="en-US" sz="2400" b="1" dirty="0">
                <a:solidFill>
                  <a:srgbClr val="FF0000"/>
                </a:solidFill>
              </a:rPr>
              <a:t>Singleton class example:</a:t>
            </a:r>
          </a:p>
          <a:p>
            <a:pPr algn="just"/>
            <a:endParaRPr lang="en-IN" sz="700" u="sng" dirty="0">
              <a:solidFill>
                <a:srgbClr val="F105D3"/>
              </a:solidFill>
            </a:endParaRPr>
          </a:p>
        </p:txBody>
      </p:sp>
      <p:sp>
        <p:nvSpPr>
          <p:cNvPr id="25" name="TextBox 24">
            <a:extLst>
              <a:ext uri="{FF2B5EF4-FFF2-40B4-BE49-F238E27FC236}">
                <a16:creationId xmlns:a16="http://schemas.microsoft.com/office/drawing/2014/main" id="{C7DE3A63-C96C-4ADB-BF0A-54C125EF14F7}"/>
              </a:ext>
            </a:extLst>
          </p:cNvPr>
          <p:cNvSpPr txBox="1"/>
          <p:nvPr/>
        </p:nvSpPr>
        <p:spPr>
          <a:xfrm>
            <a:off x="352010" y="1321341"/>
            <a:ext cx="5916268" cy="5355312"/>
          </a:xfrm>
          <a:prstGeom prst="rect">
            <a:avLst/>
          </a:prstGeom>
          <a:noFill/>
        </p:spPr>
        <p:txBody>
          <a:bodyPr wrap="square">
            <a:spAutoFit/>
          </a:bodyPr>
          <a:lstStyle/>
          <a:p>
            <a:pPr algn="just"/>
            <a:r>
              <a:rPr lang="en-US" b="1" dirty="0"/>
              <a:t>class A {</a:t>
            </a:r>
          </a:p>
          <a:p>
            <a:pPr algn="just"/>
            <a:r>
              <a:rPr lang="en-US" b="1" dirty="0"/>
              <a:t>	static A </a:t>
            </a:r>
            <a:r>
              <a:rPr lang="en-US" b="1" dirty="0" err="1"/>
              <a:t>a</a:t>
            </a:r>
            <a:r>
              <a:rPr lang="en-US" b="1" dirty="0"/>
              <a:t>;</a:t>
            </a:r>
          </a:p>
          <a:p>
            <a:pPr algn="just"/>
            <a:endParaRPr lang="en-US" b="1" dirty="0"/>
          </a:p>
          <a:p>
            <a:pPr algn="just"/>
            <a:r>
              <a:rPr lang="en-US" b="1" dirty="0"/>
              <a:t>	</a:t>
            </a:r>
            <a:r>
              <a:rPr lang="en-US" b="1" dirty="0">
                <a:solidFill>
                  <a:srgbClr val="FF0000"/>
                </a:solidFill>
              </a:rPr>
              <a:t>private A() {</a:t>
            </a:r>
          </a:p>
          <a:p>
            <a:pPr algn="just"/>
            <a:r>
              <a:rPr lang="en-US" b="1" dirty="0">
                <a:solidFill>
                  <a:srgbClr val="FF0000"/>
                </a:solidFill>
              </a:rPr>
              <a:t>	}</a:t>
            </a:r>
          </a:p>
          <a:p>
            <a:pPr algn="just"/>
            <a:r>
              <a:rPr lang="en-US" b="1" dirty="0">
                <a:solidFill>
                  <a:srgbClr val="FF0000"/>
                </a:solidFill>
              </a:rPr>
              <a:t>	</a:t>
            </a:r>
            <a:r>
              <a:rPr lang="en-US" b="1" dirty="0"/>
              <a:t>		</a:t>
            </a:r>
          </a:p>
          <a:p>
            <a:pPr algn="just"/>
            <a:r>
              <a:rPr lang="en-US" b="1" dirty="0"/>
              <a:t>	// following factory methods returns A class object</a:t>
            </a:r>
          </a:p>
          <a:p>
            <a:pPr algn="just"/>
            <a:r>
              <a:rPr lang="en-US" b="1" dirty="0"/>
              <a:t>	static A getInstance() {</a:t>
            </a:r>
          </a:p>
          <a:p>
            <a:pPr algn="just"/>
            <a:r>
              <a:rPr lang="en-US" b="1" dirty="0"/>
              <a:t>		if(a==null) {</a:t>
            </a:r>
          </a:p>
          <a:p>
            <a:pPr algn="just"/>
            <a:r>
              <a:rPr lang="en-US" b="1" dirty="0"/>
              <a:t>			a=new A();</a:t>
            </a:r>
          </a:p>
          <a:p>
            <a:pPr algn="just"/>
            <a:r>
              <a:rPr lang="en-US" b="1" dirty="0"/>
              <a:t>		}</a:t>
            </a:r>
          </a:p>
          <a:p>
            <a:pPr algn="just"/>
            <a:r>
              <a:rPr lang="en-US" b="1" dirty="0"/>
              <a:t>		return a;		</a:t>
            </a:r>
          </a:p>
          <a:p>
            <a:pPr algn="just"/>
            <a:r>
              <a:rPr lang="en-US" b="1" dirty="0"/>
              <a:t>	}</a:t>
            </a:r>
          </a:p>
          <a:p>
            <a:pPr algn="just"/>
            <a:endParaRPr lang="en-US" b="1" dirty="0"/>
          </a:p>
          <a:p>
            <a:pPr algn="just"/>
            <a:r>
              <a:rPr lang="en-US" b="1" dirty="0"/>
              <a:t>	void </a:t>
            </a:r>
            <a:r>
              <a:rPr lang="en-US" b="1" dirty="0" err="1"/>
              <a:t>xyz</a:t>
            </a:r>
            <a:r>
              <a:rPr lang="en-US" b="1" dirty="0"/>
              <a:t>() {}</a:t>
            </a:r>
          </a:p>
          <a:p>
            <a:pPr algn="just"/>
            <a:r>
              <a:rPr lang="en-US" b="1" dirty="0"/>
              <a:t>	void </a:t>
            </a:r>
            <a:r>
              <a:rPr lang="en-US" b="1" dirty="0" err="1"/>
              <a:t>lmn</a:t>
            </a:r>
            <a:r>
              <a:rPr lang="en-US" b="1" dirty="0"/>
              <a:t>() {}</a:t>
            </a:r>
          </a:p>
          <a:p>
            <a:pPr algn="just"/>
            <a:r>
              <a:rPr lang="en-US" b="1" dirty="0"/>
              <a:t>	static void </a:t>
            </a:r>
            <a:r>
              <a:rPr lang="en-US" b="1" dirty="0" err="1"/>
              <a:t>pqr</a:t>
            </a:r>
            <a:r>
              <a:rPr lang="en-US" b="1" dirty="0"/>
              <a:t>() {}</a:t>
            </a:r>
          </a:p>
          <a:p>
            <a:pPr algn="just"/>
            <a:r>
              <a:rPr lang="en-US" b="1" dirty="0"/>
              <a:t>	static void </a:t>
            </a:r>
            <a:r>
              <a:rPr lang="en-US" b="1" dirty="0" err="1"/>
              <a:t>mno</a:t>
            </a:r>
            <a:r>
              <a:rPr lang="en-US" b="1" dirty="0"/>
              <a:t>() {}</a:t>
            </a:r>
          </a:p>
          <a:p>
            <a:pPr algn="just"/>
            <a:r>
              <a:rPr lang="en-US" b="1" dirty="0"/>
              <a:t>}</a:t>
            </a:r>
            <a:endParaRPr lang="en-US" dirty="0"/>
          </a:p>
        </p:txBody>
      </p:sp>
      <p:sp>
        <p:nvSpPr>
          <p:cNvPr id="7" name="Footer Placeholder 6">
            <a:extLst>
              <a:ext uri="{FF2B5EF4-FFF2-40B4-BE49-F238E27FC236}">
                <a16:creationId xmlns:a16="http://schemas.microsoft.com/office/drawing/2014/main" id="{4208920B-D075-71A5-29DB-817CF25B5B32}"/>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92820153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461665"/>
              </a:xfrm>
              <a:prstGeom prst="rect">
                <a:avLst/>
              </a:prstGeom>
            </p:spPr>
            <p:txBody>
              <a:bodyPr wrap="square">
                <a:spAutoFit/>
              </a:bodyPr>
              <a:lstStyle/>
              <a:p>
                <a:pPr algn="ctr"/>
                <a:r>
                  <a:rPr lang="en-US" sz="2400" b="1">
                    <a:solidFill>
                      <a:schemeClr val="bg1"/>
                    </a:solidFill>
                    <a:latin typeface="Bookman Old Style" panose="02050604050505020204" pitchFamily="18" charset="0"/>
                  </a:rPr>
                  <a:t>Constructor Syntax</a:t>
                </a:r>
                <a:endParaRPr lang="en-US" sz="105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19" name="TextBox 18">
            <a:extLst>
              <a:ext uri="{FF2B5EF4-FFF2-40B4-BE49-F238E27FC236}">
                <a16:creationId xmlns:a16="http://schemas.microsoft.com/office/drawing/2014/main" id="{714B5B16-979C-49D5-A896-12440A366387}"/>
              </a:ext>
            </a:extLst>
          </p:cNvPr>
          <p:cNvSpPr txBox="1"/>
          <p:nvPr/>
        </p:nvSpPr>
        <p:spPr>
          <a:xfrm>
            <a:off x="285750" y="949405"/>
            <a:ext cx="9082838" cy="569387"/>
          </a:xfrm>
          <a:prstGeom prst="rect">
            <a:avLst/>
          </a:prstGeom>
          <a:noFill/>
        </p:spPr>
        <p:txBody>
          <a:bodyPr wrap="square">
            <a:spAutoFit/>
          </a:bodyPr>
          <a:lstStyle/>
          <a:p>
            <a:pPr algn="just"/>
            <a:r>
              <a:rPr lang="en-US" sz="2400" b="1" dirty="0">
                <a:solidFill>
                  <a:srgbClr val="FF0000"/>
                </a:solidFill>
              </a:rPr>
              <a:t>Singleton class example:</a:t>
            </a:r>
          </a:p>
          <a:p>
            <a:pPr algn="just"/>
            <a:endParaRPr lang="en-IN" sz="700" u="sng" dirty="0">
              <a:solidFill>
                <a:srgbClr val="F105D3"/>
              </a:solidFill>
            </a:endParaRPr>
          </a:p>
        </p:txBody>
      </p:sp>
      <p:sp>
        <p:nvSpPr>
          <p:cNvPr id="24" name="TextBox 23">
            <a:extLst>
              <a:ext uri="{FF2B5EF4-FFF2-40B4-BE49-F238E27FC236}">
                <a16:creationId xmlns:a16="http://schemas.microsoft.com/office/drawing/2014/main" id="{B6D28575-3FEA-4AF8-81AE-A04F8772C886}"/>
              </a:ext>
            </a:extLst>
          </p:cNvPr>
          <p:cNvSpPr txBox="1"/>
          <p:nvPr/>
        </p:nvSpPr>
        <p:spPr>
          <a:xfrm>
            <a:off x="285750" y="1372198"/>
            <a:ext cx="9082838" cy="3416320"/>
          </a:xfrm>
          <a:prstGeom prst="rect">
            <a:avLst/>
          </a:prstGeom>
          <a:noFill/>
        </p:spPr>
        <p:txBody>
          <a:bodyPr wrap="square">
            <a:spAutoFit/>
          </a:bodyPr>
          <a:lstStyle/>
          <a:p>
            <a:r>
              <a:rPr lang="en-IN" sz="2400" dirty="0"/>
              <a:t>A singleton class object can be obtained:</a:t>
            </a:r>
          </a:p>
          <a:p>
            <a:r>
              <a:rPr lang="en-IN" sz="2400" dirty="0"/>
              <a:t>	A a=</a:t>
            </a:r>
            <a:r>
              <a:rPr lang="en-IN" sz="2400" dirty="0" err="1"/>
              <a:t>A.getInstance</a:t>
            </a:r>
            <a:r>
              <a:rPr lang="en-IN" sz="2400" dirty="0"/>
              <a:t>();</a:t>
            </a:r>
          </a:p>
          <a:p>
            <a:r>
              <a:rPr lang="en-IN" sz="2400" dirty="0"/>
              <a:t>	</a:t>
            </a:r>
            <a:r>
              <a:rPr lang="en-IN" sz="2400" dirty="0" err="1"/>
              <a:t>a.xyz</a:t>
            </a:r>
            <a:r>
              <a:rPr lang="en-IN" sz="2400" dirty="0"/>
              <a:t>();</a:t>
            </a:r>
          </a:p>
          <a:p>
            <a:r>
              <a:rPr lang="en-IN" sz="2400" dirty="0"/>
              <a:t>	</a:t>
            </a:r>
            <a:r>
              <a:rPr lang="en-IN" sz="2400" dirty="0" err="1"/>
              <a:t>a.lmn</a:t>
            </a:r>
            <a:r>
              <a:rPr lang="en-IN" sz="2400" dirty="0"/>
              <a:t>();</a:t>
            </a:r>
          </a:p>
          <a:p>
            <a:r>
              <a:rPr lang="en-IN" sz="2400" dirty="0"/>
              <a:t>	</a:t>
            </a:r>
            <a:r>
              <a:rPr lang="en-IN" sz="2400" dirty="0" err="1"/>
              <a:t>A.pqr</a:t>
            </a:r>
            <a:r>
              <a:rPr lang="en-IN" sz="2400" dirty="0"/>
              <a:t>();</a:t>
            </a:r>
          </a:p>
          <a:p>
            <a:r>
              <a:rPr lang="en-IN" sz="2400" dirty="0"/>
              <a:t>	</a:t>
            </a:r>
            <a:r>
              <a:rPr lang="en-IN" sz="2400" dirty="0" err="1"/>
              <a:t>A.mno</a:t>
            </a:r>
            <a:r>
              <a:rPr lang="en-IN" sz="2400" dirty="0"/>
              <a:t>();</a:t>
            </a:r>
          </a:p>
          <a:p>
            <a:endParaRPr lang="en-IN" sz="2400" dirty="0"/>
          </a:p>
          <a:p>
            <a:pPr algn="just"/>
            <a:r>
              <a:rPr lang="en-IN" sz="2400" dirty="0"/>
              <a:t>Usually singleton class constructors are declared as private (class which contains only one instance per JVM).</a:t>
            </a:r>
          </a:p>
        </p:txBody>
      </p:sp>
      <p:sp>
        <p:nvSpPr>
          <p:cNvPr id="7" name="Footer Placeholder 6">
            <a:extLst>
              <a:ext uri="{FF2B5EF4-FFF2-40B4-BE49-F238E27FC236}">
                <a16:creationId xmlns:a16="http://schemas.microsoft.com/office/drawing/2014/main" id="{C4FD2F2F-D8D9-D3CD-663A-AF48638280A7}"/>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35364216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461665"/>
              </a:xfrm>
              <a:prstGeom prst="rect">
                <a:avLst/>
              </a:prstGeom>
            </p:spPr>
            <p:txBody>
              <a:bodyPr wrap="square">
                <a:spAutoFit/>
              </a:bodyPr>
              <a:lstStyle/>
              <a:p>
                <a:pPr algn="ctr"/>
                <a:r>
                  <a:rPr lang="en-US" sz="2400" b="1">
                    <a:solidFill>
                      <a:schemeClr val="bg1"/>
                    </a:solidFill>
                    <a:latin typeface="Bookman Old Style" panose="02050604050505020204" pitchFamily="18" charset="0"/>
                  </a:rPr>
                  <a:t>Constructor Syntax</a:t>
                </a:r>
                <a:endParaRPr lang="en-US" sz="105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19" name="TextBox 18">
            <a:extLst>
              <a:ext uri="{FF2B5EF4-FFF2-40B4-BE49-F238E27FC236}">
                <a16:creationId xmlns:a16="http://schemas.microsoft.com/office/drawing/2014/main" id="{714B5B16-979C-49D5-A896-12440A366387}"/>
              </a:ext>
            </a:extLst>
          </p:cNvPr>
          <p:cNvSpPr txBox="1"/>
          <p:nvPr/>
        </p:nvSpPr>
        <p:spPr>
          <a:xfrm>
            <a:off x="285750" y="949405"/>
            <a:ext cx="9082838" cy="569387"/>
          </a:xfrm>
          <a:prstGeom prst="rect">
            <a:avLst/>
          </a:prstGeom>
          <a:noFill/>
        </p:spPr>
        <p:txBody>
          <a:bodyPr wrap="square">
            <a:spAutoFit/>
          </a:bodyPr>
          <a:lstStyle/>
          <a:p>
            <a:pPr algn="just"/>
            <a:r>
              <a:rPr lang="en-US" sz="2400" b="1" dirty="0">
                <a:solidFill>
                  <a:srgbClr val="FF0000"/>
                </a:solidFill>
              </a:rPr>
              <a:t>Singleton class example:</a:t>
            </a:r>
          </a:p>
          <a:p>
            <a:pPr algn="just"/>
            <a:endParaRPr lang="en-IN" sz="700" u="sng" dirty="0">
              <a:solidFill>
                <a:srgbClr val="F105D3"/>
              </a:solidFill>
            </a:endParaRPr>
          </a:p>
        </p:txBody>
      </p:sp>
      <p:sp>
        <p:nvSpPr>
          <p:cNvPr id="24" name="TextBox 23">
            <a:extLst>
              <a:ext uri="{FF2B5EF4-FFF2-40B4-BE49-F238E27FC236}">
                <a16:creationId xmlns:a16="http://schemas.microsoft.com/office/drawing/2014/main" id="{B6D28575-3FEA-4AF8-81AE-A04F8772C886}"/>
              </a:ext>
            </a:extLst>
          </p:cNvPr>
          <p:cNvSpPr txBox="1"/>
          <p:nvPr/>
        </p:nvSpPr>
        <p:spPr>
          <a:xfrm>
            <a:off x="285750" y="1305938"/>
            <a:ext cx="9082838" cy="4924425"/>
          </a:xfrm>
          <a:prstGeom prst="rect">
            <a:avLst/>
          </a:prstGeom>
          <a:noFill/>
        </p:spPr>
        <p:txBody>
          <a:bodyPr wrap="square">
            <a:spAutoFit/>
          </a:bodyPr>
          <a:lstStyle/>
          <a:p>
            <a:r>
              <a:rPr lang="en-IN" sz="2200" b="1" dirty="0"/>
              <a:t>Without instantiating and sub classing how a class can be useful?</a:t>
            </a:r>
          </a:p>
          <a:p>
            <a:r>
              <a:rPr lang="en-IN" sz="2200" dirty="0"/>
              <a:t>	Hence in such classes, the class itself contains its own instance.</a:t>
            </a:r>
          </a:p>
          <a:p>
            <a:endParaRPr lang="en-IN" sz="2200" dirty="0"/>
          </a:p>
          <a:p>
            <a:r>
              <a:rPr lang="en-IN" sz="2200" dirty="0"/>
              <a:t>	The instance is created and returned from one static method of the same class called factory method. Such classes are called as Singleton classes.</a:t>
            </a:r>
          </a:p>
          <a:p>
            <a:endParaRPr lang="en-IN" sz="2200" dirty="0"/>
          </a:p>
          <a:p>
            <a:r>
              <a:rPr lang="en-IN" sz="2200" dirty="0"/>
              <a:t>Some of the Singleton classes in java are:</a:t>
            </a:r>
          </a:p>
          <a:p>
            <a:pPr marL="342900" indent="-342900">
              <a:buFont typeface="Wingdings" panose="05000000000000000000" pitchFamily="2" charset="2"/>
              <a:buChar char="v"/>
            </a:pPr>
            <a:r>
              <a:rPr lang="en-IN" sz="2000" dirty="0" err="1"/>
              <a:t>ResourceBundle</a:t>
            </a:r>
            <a:endParaRPr lang="en-IN" sz="2000" dirty="0"/>
          </a:p>
          <a:p>
            <a:pPr marL="342900" indent="-342900">
              <a:buFont typeface="Wingdings" panose="05000000000000000000" pitchFamily="2" charset="2"/>
              <a:buChar char="v"/>
            </a:pPr>
            <a:r>
              <a:rPr lang="en-IN" sz="2000" dirty="0"/>
              <a:t>Runtime</a:t>
            </a:r>
          </a:p>
          <a:p>
            <a:pPr marL="342900" indent="-342900">
              <a:buFont typeface="Wingdings" panose="05000000000000000000" pitchFamily="2" charset="2"/>
              <a:buChar char="v"/>
            </a:pPr>
            <a:r>
              <a:rPr lang="en-IN" sz="2000" dirty="0"/>
              <a:t>Logger</a:t>
            </a:r>
          </a:p>
          <a:p>
            <a:pPr marL="342900" indent="-342900">
              <a:buFont typeface="Wingdings" panose="05000000000000000000" pitchFamily="2" charset="2"/>
              <a:buChar char="v"/>
            </a:pPr>
            <a:r>
              <a:rPr lang="en-IN" sz="2000" dirty="0"/>
              <a:t>Toolkit</a:t>
            </a:r>
          </a:p>
          <a:p>
            <a:pPr marL="342900" indent="-342900">
              <a:buFont typeface="Wingdings" panose="05000000000000000000" pitchFamily="2" charset="2"/>
              <a:buChar char="v"/>
            </a:pPr>
            <a:r>
              <a:rPr lang="en-IN" sz="2000" dirty="0" err="1"/>
              <a:t>DocumentBuilderFactory</a:t>
            </a:r>
            <a:endParaRPr lang="en-IN" sz="2000" dirty="0"/>
          </a:p>
          <a:p>
            <a:pPr marL="342900" indent="-342900">
              <a:buFont typeface="Wingdings" panose="05000000000000000000" pitchFamily="2" charset="2"/>
              <a:buChar char="v"/>
            </a:pPr>
            <a:r>
              <a:rPr lang="en-IN" sz="2000" dirty="0" err="1"/>
              <a:t>DocumentBuilder</a:t>
            </a:r>
            <a:endParaRPr lang="en-IN" sz="2000" dirty="0"/>
          </a:p>
          <a:p>
            <a:pPr marL="342900" indent="-342900">
              <a:buFont typeface="Wingdings" panose="05000000000000000000" pitchFamily="2" charset="2"/>
              <a:buChar char="v"/>
            </a:pPr>
            <a:r>
              <a:rPr lang="en-IN" sz="2000" dirty="0"/>
              <a:t>System </a:t>
            </a:r>
          </a:p>
          <a:p>
            <a:pPr marL="342900" indent="-342900">
              <a:buFont typeface="Wingdings" panose="05000000000000000000" pitchFamily="2" charset="2"/>
              <a:buChar char="v"/>
            </a:pPr>
            <a:r>
              <a:rPr lang="en-IN" sz="2000" dirty="0"/>
              <a:t>Math</a:t>
            </a:r>
            <a:endParaRPr lang="en-IN" sz="2200" dirty="0"/>
          </a:p>
        </p:txBody>
      </p:sp>
      <p:sp>
        <p:nvSpPr>
          <p:cNvPr id="7" name="Footer Placeholder 6">
            <a:extLst>
              <a:ext uri="{FF2B5EF4-FFF2-40B4-BE49-F238E27FC236}">
                <a16:creationId xmlns:a16="http://schemas.microsoft.com/office/drawing/2014/main" id="{A5DF1BD9-9CD4-207D-3D83-D61FA01BD522}"/>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400221264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461665"/>
              </a:xfrm>
              <a:prstGeom prst="rect">
                <a:avLst/>
              </a:prstGeom>
            </p:spPr>
            <p:txBody>
              <a:bodyPr wrap="square">
                <a:spAutoFit/>
              </a:bodyPr>
              <a:lstStyle/>
              <a:p>
                <a:pPr algn="ctr"/>
                <a:r>
                  <a:rPr lang="en-US" sz="2400" b="1">
                    <a:solidFill>
                      <a:schemeClr val="bg1"/>
                    </a:solidFill>
                    <a:latin typeface="Bookman Old Style" panose="02050604050505020204" pitchFamily="18" charset="0"/>
                  </a:rPr>
                  <a:t>Constructor Syntax</a:t>
                </a:r>
                <a:endParaRPr lang="en-US" sz="105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19" name="TextBox 18">
            <a:extLst>
              <a:ext uri="{FF2B5EF4-FFF2-40B4-BE49-F238E27FC236}">
                <a16:creationId xmlns:a16="http://schemas.microsoft.com/office/drawing/2014/main" id="{714B5B16-979C-49D5-A896-12440A366387}"/>
              </a:ext>
            </a:extLst>
          </p:cNvPr>
          <p:cNvSpPr txBox="1"/>
          <p:nvPr/>
        </p:nvSpPr>
        <p:spPr>
          <a:xfrm>
            <a:off x="285750" y="949405"/>
            <a:ext cx="9082838" cy="461665"/>
          </a:xfrm>
          <a:prstGeom prst="rect">
            <a:avLst/>
          </a:prstGeom>
          <a:noFill/>
        </p:spPr>
        <p:txBody>
          <a:bodyPr wrap="square">
            <a:spAutoFit/>
          </a:bodyPr>
          <a:lstStyle/>
          <a:p>
            <a:r>
              <a:rPr lang="en-US" sz="2400" b="1" dirty="0">
                <a:solidFill>
                  <a:srgbClr val="FF0000"/>
                </a:solidFill>
              </a:rPr>
              <a:t>default:</a:t>
            </a:r>
          </a:p>
        </p:txBody>
      </p:sp>
      <p:sp>
        <p:nvSpPr>
          <p:cNvPr id="24" name="TextBox 23">
            <a:extLst>
              <a:ext uri="{FF2B5EF4-FFF2-40B4-BE49-F238E27FC236}">
                <a16:creationId xmlns:a16="http://schemas.microsoft.com/office/drawing/2014/main" id="{B6D28575-3FEA-4AF8-81AE-A04F8772C886}"/>
              </a:ext>
            </a:extLst>
          </p:cNvPr>
          <p:cNvSpPr txBox="1"/>
          <p:nvPr/>
        </p:nvSpPr>
        <p:spPr>
          <a:xfrm>
            <a:off x="285750" y="1345694"/>
            <a:ext cx="9082838" cy="4154984"/>
          </a:xfrm>
          <a:prstGeom prst="rect">
            <a:avLst/>
          </a:prstGeom>
          <a:noFill/>
        </p:spPr>
        <p:txBody>
          <a:bodyPr wrap="square">
            <a:spAutoFit/>
          </a:bodyPr>
          <a:lstStyle/>
          <a:p>
            <a:pPr algn="just"/>
            <a:r>
              <a:rPr lang="en-US" sz="2200" b="1" dirty="0"/>
              <a:t>	class which contains default access specifier constructor </a:t>
            </a:r>
            <a:r>
              <a:rPr lang="en-US" sz="2200" b="1" dirty="0">
                <a:solidFill>
                  <a:srgbClr val="FF0000"/>
                </a:solidFill>
              </a:rPr>
              <a:t>can be sub classed </a:t>
            </a:r>
            <a:r>
              <a:rPr lang="en-US" sz="2200" b="1" dirty="0"/>
              <a:t>and i</a:t>
            </a:r>
            <a:r>
              <a:rPr lang="en-US" sz="2200" b="1" dirty="0">
                <a:solidFill>
                  <a:srgbClr val="FF0000"/>
                </a:solidFill>
              </a:rPr>
              <a:t>nstantiated only within the package</a:t>
            </a:r>
            <a:r>
              <a:rPr lang="en-US" sz="2200" b="1" dirty="0"/>
              <a:t>. It cannot be sub classes or instantiated classes outside the package.</a:t>
            </a:r>
          </a:p>
          <a:p>
            <a:pPr algn="just"/>
            <a:endParaRPr lang="en-US" sz="2200" b="1" dirty="0"/>
          </a:p>
          <a:p>
            <a:pPr algn="just"/>
            <a:r>
              <a:rPr lang="en-US" sz="2200" b="1" i="1" dirty="0"/>
              <a:t>	// though class is public</a:t>
            </a:r>
          </a:p>
          <a:p>
            <a:pPr algn="just"/>
            <a:r>
              <a:rPr lang="en-US" sz="2200" b="1" dirty="0"/>
              <a:t>	</a:t>
            </a:r>
            <a:r>
              <a:rPr lang="en-US" sz="2200" dirty="0"/>
              <a:t>public class A {</a:t>
            </a:r>
          </a:p>
          <a:p>
            <a:pPr algn="just"/>
            <a:r>
              <a:rPr lang="en-US" sz="2200" dirty="0"/>
              <a:t>		</a:t>
            </a:r>
            <a:r>
              <a:rPr lang="en-US" sz="2200" b="1" dirty="0">
                <a:solidFill>
                  <a:srgbClr val="FF0000"/>
                </a:solidFill>
              </a:rPr>
              <a:t>A() { </a:t>
            </a:r>
            <a:r>
              <a:rPr lang="en-US" sz="2200" b="1" dirty="0"/>
              <a:t>// explicitly written default access specifier constructor</a:t>
            </a:r>
          </a:p>
          <a:p>
            <a:pPr algn="just"/>
            <a:r>
              <a:rPr lang="en-US" sz="2200" dirty="0"/>
              <a:t>		}</a:t>
            </a:r>
          </a:p>
          <a:p>
            <a:pPr algn="just"/>
            <a:r>
              <a:rPr lang="en-US" sz="2200" dirty="0"/>
              <a:t>	}</a:t>
            </a:r>
          </a:p>
          <a:p>
            <a:pPr algn="just"/>
            <a:endParaRPr lang="en-US" sz="2200" dirty="0"/>
          </a:p>
          <a:p>
            <a:pPr marL="342900" indent="-342900" algn="just">
              <a:buFont typeface="Arial" panose="020B0604020202020204" pitchFamily="34" charset="0"/>
              <a:buChar char="•"/>
            </a:pPr>
            <a:r>
              <a:rPr lang="en-US" sz="2200" dirty="0"/>
              <a:t>class cannot be inherited</a:t>
            </a:r>
          </a:p>
          <a:p>
            <a:pPr marL="342900" indent="-342900" algn="just">
              <a:buFont typeface="Arial" panose="020B0604020202020204" pitchFamily="34" charset="0"/>
              <a:buChar char="•"/>
            </a:pPr>
            <a:r>
              <a:rPr lang="en-US" sz="2200" dirty="0"/>
              <a:t>class cannot be instantiated outside the package</a:t>
            </a:r>
            <a:endParaRPr lang="en-IN" sz="2200" dirty="0"/>
          </a:p>
        </p:txBody>
      </p:sp>
      <p:sp>
        <p:nvSpPr>
          <p:cNvPr id="7" name="Footer Placeholder 6">
            <a:extLst>
              <a:ext uri="{FF2B5EF4-FFF2-40B4-BE49-F238E27FC236}">
                <a16:creationId xmlns:a16="http://schemas.microsoft.com/office/drawing/2014/main" id="{126935F2-75B5-6522-0071-C53597C3BC23}"/>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9070988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461665"/>
              </a:xfrm>
              <a:prstGeom prst="rect">
                <a:avLst/>
              </a:prstGeom>
            </p:spPr>
            <p:txBody>
              <a:bodyPr wrap="square">
                <a:spAutoFit/>
              </a:bodyPr>
              <a:lstStyle/>
              <a:p>
                <a:pPr algn="ctr"/>
                <a:r>
                  <a:rPr lang="en-US" sz="2400" b="1">
                    <a:solidFill>
                      <a:schemeClr val="bg1"/>
                    </a:solidFill>
                    <a:latin typeface="Bookman Old Style" panose="02050604050505020204" pitchFamily="18" charset="0"/>
                  </a:rPr>
                  <a:t>Constructor Syntax</a:t>
                </a:r>
                <a:endParaRPr lang="en-US" sz="105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19" name="TextBox 18">
            <a:extLst>
              <a:ext uri="{FF2B5EF4-FFF2-40B4-BE49-F238E27FC236}">
                <a16:creationId xmlns:a16="http://schemas.microsoft.com/office/drawing/2014/main" id="{714B5B16-979C-49D5-A896-12440A366387}"/>
              </a:ext>
            </a:extLst>
          </p:cNvPr>
          <p:cNvSpPr txBox="1"/>
          <p:nvPr/>
        </p:nvSpPr>
        <p:spPr>
          <a:xfrm>
            <a:off x="285750" y="949405"/>
            <a:ext cx="9082838" cy="461665"/>
          </a:xfrm>
          <a:prstGeom prst="rect">
            <a:avLst/>
          </a:prstGeom>
          <a:noFill/>
        </p:spPr>
        <p:txBody>
          <a:bodyPr wrap="square">
            <a:spAutoFit/>
          </a:bodyPr>
          <a:lstStyle/>
          <a:p>
            <a:r>
              <a:rPr lang="en-IN" sz="2400" b="1" dirty="0">
                <a:solidFill>
                  <a:srgbClr val="FF0000"/>
                </a:solidFill>
              </a:rPr>
              <a:t>protected:</a:t>
            </a:r>
          </a:p>
        </p:txBody>
      </p:sp>
      <p:sp>
        <p:nvSpPr>
          <p:cNvPr id="25" name="TextBox 24">
            <a:extLst>
              <a:ext uri="{FF2B5EF4-FFF2-40B4-BE49-F238E27FC236}">
                <a16:creationId xmlns:a16="http://schemas.microsoft.com/office/drawing/2014/main" id="{B1907334-D926-4BE8-97CA-E6997C3A606B}"/>
              </a:ext>
            </a:extLst>
          </p:cNvPr>
          <p:cNvSpPr txBox="1"/>
          <p:nvPr/>
        </p:nvSpPr>
        <p:spPr>
          <a:xfrm>
            <a:off x="298996" y="1405798"/>
            <a:ext cx="9082837" cy="2554545"/>
          </a:xfrm>
          <a:prstGeom prst="rect">
            <a:avLst/>
          </a:prstGeom>
          <a:noFill/>
        </p:spPr>
        <p:txBody>
          <a:bodyPr wrap="square">
            <a:spAutoFit/>
          </a:bodyPr>
          <a:lstStyle/>
          <a:p>
            <a:pPr algn="just"/>
            <a:r>
              <a:rPr lang="en-IN" sz="2000" b="1" dirty="0"/>
              <a:t>If class constructor is declared as protected then the </a:t>
            </a:r>
            <a:r>
              <a:rPr lang="en-IN" sz="2000" b="1" dirty="0">
                <a:solidFill>
                  <a:srgbClr val="FF0000"/>
                </a:solidFill>
              </a:rPr>
              <a:t>class can be sub classes and instantiated both within the package</a:t>
            </a:r>
            <a:r>
              <a:rPr lang="en-IN" sz="2000" b="1" dirty="0"/>
              <a:t>. But can be only sub classed outside the package, class cannot be instantiated outside the package.</a:t>
            </a:r>
          </a:p>
          <a:p>
            <a:pPr algn="just"/>
            <a:endParaRPr lang="en-IN" sz="2000" b="1" dirty="0"/>
          </a:p>
          <a:p>
            <a:pPr algn="just"/>
            <a:r>
              <a:rPr lang="en-IN" sz="2000" b="1" dirty="0"/>
              <a:t>		public class A {</a:t>
            </a:r>
          </a:p>
          <a:p>
            <a:pPr algn="just"/>
            <a:r>
              <a:rPr lang="en-IN" sz="2000" b="1" dirty="0"/>
              <a:t>			</a:t>
            </a:r>
            <a:r>
              <a:rPr lang="en-IN" sz="2000" b="1" dirty="0">
                <a:solidFill>
                  <a:srgbClr val="FF0000"/>
                </a:solidFill>
              </a:rPr>
              <a:t>protected</a:t>
            </a:r>
            <a:r>
              <a:rPr lang="en-IN" sz="2000" b="1" dirty="0"/>
              <a:t> A() {</a:t>
            </a:r>
          </a:p>
          <a:p>
            <a:pPr algn="just"/>
            <a:r>
              <a:rPr lang="en-IN" sz="2000" b="1" dirty="0"/>
              <a:t>			}</a:t>
            </a:r>
          </a:p>
          <a:p>
            <a:pPr algn="just"/>
            <a:r>
              <a:rPr lang="en-IN" sz="2000" b="1" dirty="0"/>
              <a:t>		}</a:t>
            </a:r>
          </a:p>
        </p:txBody>
      </p:sp>
      <p:sp>
        <p:nvSpPr>
          <p:cNvPr id="26" name="TextBox 25">
            <a:extLst>
              <a:ext uri="{FF2B5EF4-FFF2-40B4-BE49-F238E27FC236}">
                <a16:creationId xmlns:a16="http://schemas.microsoft.com/office/drawing/2014/main" id="{006E18D6-C2A2-48B6-9079-B1A058536977}"/>
              </a:ext>
            </a:extLst>
          </p:cNvPr>
          <p:cNvSpPr txBox="1"/>
          <p:nvPr/>
        </p:nvSpPr>
        <p:spPr>
          <a:xfrm>
            <a:off x="327992" y="3949716"/>
            <a:ext cx="9040595" cy="2123658"/>
          </a:xfrm>
          <a:prstGeom prst="rect">
            <a:avLst/>
          </a:prstGeom>
          <a:noFill/>
        </p:spPr>
        <p:txBody>
          <a:bodyPr wrap="square">
            <a:spAutoFit/>
          </a:bodyPr>
          <a:lstStyle/>
          <a:p>
            <a:pPr algn="just"/>
            <a:r>
              <a:rPr lang="en-IN" sz="2400" b="1" dirty="0">
                <a:solidFill>
                  <a:srgbClr val="FF0000"/>
                </a:solidFill>
              </a:rPr>
              <a:t>public:</a:t>
            </a:r>
          </a:p>
          <a:p>
            <a:pPr algn="just"/>
            <a:r>
              <a:rPr lang="en-IN" b="1" dirty="0"/>
              <a:t>class constructor containing public access specifier can have both sub class and instantiated class within and outside the package.</a:t>
            </a:r>
          </a:p>
          <a:p>
            <a:pPr algn="just"/>
            <a:endParaRPr lang="en-IN" b="1" dirty="0"/>
          </a:p>
          <a:p>
            <a:pPr algn="just"/>
            <a:r>
              <a:rPr lang="en-IN" b="1" dirty="0">
                <a:solidFill>
                  <a:srgbClr val="FF0000"/>
                </a:solidFill>
              </a:rPr>
              <a:t>Imp Note:</a:t>
            </a:r>
          </a:p>
          <a:p>
            <a:pPr algn="just"/>
            <a:r>
              <a:rPr lang="en-IN" b="1" dirty="0">
                <a:solidFill>
                  <a:srgbClr val="FF0000"/>
                </a:solidFill>
              </a:rPr>
              <a:t>access modifiers:</a:t>
            </a:r>
          </a:p>
          <a:p>
            <a:pPr algn="just"/>
            <a:r>
              <a:rPr lang="en-IN" b="1" dirty="0">
                <a:solidFill>
                  <a:srgbClr val="FF0000"/>
                </a:solidFill>
              </a:rPr>
              <a:t>	Constructor don't accept any access modifiers.</a:t>
            </a:r>
          </a:p>
        </p:txBody>
      </p:sp>
      <p:sp>
        <p:nvSpPr>
          <p:cNvPr id="7" name="Footer Placeholder 6">
            <a:extLst>
              <a:ext uri="{FF2B5EF4-FFF2-40B4-BE49-F238E27FC236}">
                <a16:creationId xmlns:a16="http://schemas.microsoft.com/office/drawing/2014/main" id="{3F44E51C-A45C-FDF8-1571-091615936EE4}"/>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73150439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461665"/>
              </a:xfrm>
              <a:prstGeom prst="rect">
                <a:avLst/>
              </a:prstGeom>
            </p:spPr>
            <p:txBody>
              <a:bodyPr wrap="square">
                <a:spAutoFit/>
              </a:bodyPr>
              <a:lstStyle/>
              <a:p>
                <a:pPr algn="ctr"/>
                <a:r>
                  <a:rPr lang="en-US" sz="2400" b="1">
                    <a:solidFill>
                      <a:schemeClr val="bg1"/>
                    </a:solidFill>
                    <a:latin typeface="Bookman Old Style" panose="02050604050505020204" pitchFamily="18" charset="0"/>
                  </a:rPr>
                  <a:t>Constructor Syntax</a:t>
                </a:r>
                <a:endParaRPr lang="en-US" sz="105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24" name="TextBox 23">
            <a:extLst>
              <a:ext uri="{FF2B5EF4-FFF2-40B4-BE49-F238E27FC236}">
                <a16:creationId xmlns:a16="http://schemas.microsoft.com/office/drawing/2014/main" id="{2F970678-8FE6-4468-BF25-4863336BF21A}"/>
              </a:ext>
            </a:extLst>
          </p:cNvPr>
          <p:cNvSpPr txBox="1"/>
          <p:nvPr/>
        </p:nvSpPr>
        <p:spPr>
          <a:xfrm>
            <a:off x="381002" y="875590"/>
            <a:ext cx="6168886" cy="5632311"/>
          </a:xfrm>
          <a:prstGeom prst="rect">
            <a:avLst/>
          </a:prstGeom>
          <a:noFill/>
        </p:spPr>
        <p:txBody>
          <a:bodyPr wrap="square">
            <a:spAutoFit/>
          </a:bodyPr>
          <a:lstStyle/>
          <a:p>
            <a:r>
              <a:rPr lang="en-IN" b="1" dirty="0"/>
              <a:t>Example on constructor:</a:t>
            </a:r>
          </a:p>
          <a:p>
            <a:r>
              <a:rPr lang="en-IN" dirty="0"/>
              <a:t>public class Emp {</a:t>
            </a:r>
          </a:p>
          <a:p>
            <a:pPr lvl="1"/>
            <a:r>
              <a:rPr lang="en-IN" dirty="0"/>
              <a:t>int </a:t>
            </a:r>
            <a:r>
              <a:rPr lang="en-IN" dirty="0" err="1"/>
              <a:t>eid</a:t>
            </a:r>
            <a:r>
              <a:rPr lang="en-IN" dirty="0"/>
              <a:t>;</a:t>
            </a:r>
          </a:p>
          <a:p>
            <a:pPr lvl="1"/>
            <a:r>
              <a:rPr lang="en-IN" dirty="0"/>
              <a:t>String </a:t>
            </a:r>
            <a:r>
              <a:rPr lang="en-IN" dirty="0" err="1"/>
              <a:t>ename</a:t>
            </a:r>
            <a:r>
              <a:rPr lang="en-IN" dirty="0"/>
              <a:t>;</a:t>
            </a:r>
          </a:p>
          <a:p>
            <a:pPr lvl="1"/>
            <a:r>
              <a:rPr lang="en-IN" dirty="0"/>
              <a:t>double </a:t>
            </a:r>
            <a:r>
              <a:rPr lang="en-IN" dirty="0" err="1"/>
              <a:t>sal</a:t>
            </a:r>
            <a:r>
              <a:rPr lang="en-IN" dirty="0"/>
              <a:t>;</a:t>
            </a:r>
          </a:p>
          <a:p>
            <a:pPr lvl="1"/>
            <a:r>
              <a:rPr lang="en-IN" dirty="0"/>
              <a:t>String </a:t>
            </a:r>
            <a:r>
              <a:rPr lang="en-IN" dirty="0" err="1"/>
              <a:t>desig</a:t>
            </a:r>
            <a:r>
              <a:rPr lang="en-IN" dirty="0"/>
              <a:t>;</a:t>
            </a:r>
          </a:p>
          <a:p>
            <a:pPr lvl="1"/>
            <a:r>
              <a:rPr lang="en-IN" dirty="0"/>
              <a:t>double </a:t>
            </a:r>
            <a:r>
              <a:rPr lang="en-IN" dirty="0" err="1"/>
              <a:t>grossSalary</a:t>
            </a:r>
            <a:r>
              <a:rPr lang="en-IN" dirty="0"/>
              <a:t>;</a:t>
            </a:r>
          </a:p>
          <a:p>
            <a:pPr lvl="1"/>
            <a:r>
              <a:rPr lang="en-IN" dirty="0"/>
              <a:t>double </a:t>
            </a:r>
            <a:r>
              <a:rPr lang="en-IN" dirty="0" err="1"/>
              <a:t>netSalary</a:t>
            </a:r>
            <a:r>
              <a:rPr lang="en-IN" dirty="0"/>
              <a:t>;</a:t>
            </a:r>
          </a:p>
          <a:p>
            <a:r>
              <a:rPr lang="en-IN" dirty="0"/>
              <a:t>	  </a:t>
            </a:r>
          </a:p>
          <a:p>
            <a:pPr lvl="1"/>
            <a:r>
              <a:rPr lang="en-IN" b="1" dirty="0"/>
              <a:t>// public no param constructor</a:t>
            </a:r>
          </a:p>
          <a:p>
            <a:pPr lvl="1"/>
            <a:r>
              <a:rPr lang="en-IN" dirty="0"/>
              <a:t>public Emp() {</a:t>
            </a:r>
          </a:p>
          <a:p>
            <a:pPr lvl="1"/>
            <a:r>
              <a:rPr lang="en-IN" dirty="0"/>
              <a:t>	super(); // implicit statement</a:t>
            </a:r>
          </a:p>
          <a:p>
            <a:pPr lvl="1"/>
            <a:r>
              <a:rPr lang="en-IN" dirty="0"/>
              <a:t>}</a:t>
            </a:r>
          </a:p>
          <a:p>
            <a:pPr lvl="1"/>
            <a:r>
              <a:rPr lang="en-IN" dirty="0"/>
              <a:t>	  </a:t>
            </a:r>
          </a:p>
          <a:p>
            <a:pPr lvl="1"/>
            <a:r>
              <a:rPr lang="en-IN" b="1" dirty="0"/>
              <a:t>// public single parameter constructor</a:t>
            </a:r>
          </a:p>
          <a:p>
            <a:pPr lvl="1"/>
            <a:r>
              <a:rPr lang="en-IN" dirty="0"/>
              <a:t>// with pk property as a parameter</a:t>
            </a:r>
          </a:p>
          <a:p>
            <a:pPr lvl="1"/>
            <a:r>
              <a:rPr lang="en-IN" dirty="0"/>
              <a:t>public Emp(int </a:t>
            </a:r>
            <a:r>
              <a:rPr lang="en-IN" dirty="0" err="1"/>
              <a:t>eid</a:t>
            </a:r>
            <a:r>
              <a:rPr lang="en-IN" dirty="0"/>
              <a:t>) {</a:t>
            </a:r>
          </a:p>
          <a:p>
            <a:pPr lvl="1"/>
            <a:r>
              <a:rPr lang="en-IN" dirty="0"/>
              <a:t>	super(); // implicit statement</a:t>
            </a:r>
          </a:p>
          <a:p>
            <a:pPr lvl="1"/>
            <a:r>
              <a:rPr lang="en-IN" dirty="0"/>
              <a:t>	</a:t>
            </a:r>
            <a:r>
              <a:rPr lang="en-IN" dirty="0" err="1"/>
              <a:t>this.eid</a:t>
            </a:r>
            <a:r>
              <a:rPr lang="en-IN" dirty="0"/>
              <a:t>=</a:t>
            </a:r>
            <a:r>
              <a:rPr lang="en-IN" dirty="0" err="1"/>
              <a:t>eid</a:t>
            </a:r>
            <a:r>
              <a:rPr lang="en-IN" dirty="0"/>
              <a:t>;</a:t>
            </a:r>
          </a:p>
          <a:p>
            <a:pPr lvl="1"/>
            <a:r>
              <a:rPr lang="en-IN" dirty="0"/>
              <a:t>}</a:t>
            </a:r>
          </a:p>
        </p:txBody>
      </p:sp>
      <p:sp>
        <p:nvSpPr>
          <p:cNvPr id="7" name="Footer Placeholder 6">
            <a:extLst>
              <a:ext uri="{FF2B5EF4-FFF2-40B4-BE49-F238E27FC236}">
                <a16:creationId xmlns:a16="http://schemas.microsoft.com/office/drawing/2014/main" id="{C065AC10-4B3D-3ED7-B150-66733F9D701A}"/>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413801678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461665"/>
              </a:xfrm>
              <a:prstGeom prst="rect">
                <a:avLst/>
              </a:prstGeom>
            </p:spPr>
            <p:txBody>
              <a:bodyPr wrap="square">
                <a:spAutoFit/>
              </a:bodyPr>
              <a:lstStyle/>
              <a:p>
                <a:pPr algn="ctr"/>
                <a:r>
                  <a:rPr lang="en-US" sz="2400" b="1">
                    <a:solidFill>
                      <a:schemeClr val="bg1"/>
                    </a:solidFill>
                    <a:latin typeface="Bookman Old Style" panose="02050604050505020204" pitchFamily="18" charset="0"/>
                  </a:rPr>
                  <a:t>Constructor Syntax</a:t>
                </a:r>
                <a:endParaRPr lang="en-US" sz="105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24" name="TextBox 23">
            <a:extLst>
              <a:ext uri="{FF2B5EF4-FFF2-40B4-BE49-F238E27FC236}">
                <a16:creationId xmlns:a16="http://schemas.microsoft.com/office/drawing/2014/main" id="{2F970678-8FE6-4468-BF25-4863336BF21A}"/>
              </a:ext>
            </a:extLst>
          </p:cNvPr>
          <p:cNvSpPr txBox="1"/>
          <p:nvPr/>
        </p:nvSpPr>
        <p:spPr>
          <a:xfrm>
            <a:off x="381002" y="875590"/>
            <a:ext cx="6168886" cy="5078313"/>
          </a:xfrm>
          <a:prstGeom prst="rect">
            <a:avLst/>
          </a:prstGeom>
          <a:noFill/>
        </p:spPr>
        <p:txBody>
          <a:bodyPr wrap="square">
            <a:spAutoFit/>
          </a:bodyPr>
          <a:lstStyle/>
          <a:p>
            <a:pPr lvl="1"/>
            <a:r>
              <a:rPr lang="en-IN" dirty="0"/>
              <a:t> </a:t>
            </a:r>
            <a:r>
              <a:rPr lang="en-IN" b="1" dirty="0"/>
              <a:t>// public two parameters constructor</a:t>
            </a:r>
          </a:p>
          <a:p>
            <a:pPr lvl="1"/>
            <a:r>
              <a:rPr lang="en-IN" dirty="0"/>
              <a:t>// with required/essential variables as a parameters	  public Emp(String </a:t>
            </a:r>
            <a:r>
              <a:rPr lang="en-IN" dirty="0" err="1"/>
              <a:t>ename</a:t>
            </a:r>
            <a:r>
              <a:rPr lang="en-IN" dirty="0"/>
              <a:t>, String </a:t>
            </a:r>
            <a:r>
              <a:rPr lang="en-IN" dirty="0" err="1"/>
              <a:t>desig</a:t>
            </a:r>
            <a:r>
              <a:rPr lang="en-IN" dirty="0"/>
              <a:t>) {</a:t>
            </a:r>
          </a:p>
          <a:p>
            <a:pPr lvl="1"/>
            <a:r>
              <a:rPr lang="en-IN" dirty="0"/>
              <a:t>	super(); // implicit statement</a:t>
            </a:r>
          </a:p>
          <a:p>
            <a:pPr lvl="1"/>
            <a:r>
              <a:rPr lang="en-IN" dirty="0"/>
              <a:t>	</a:t>
            </a:r>
            <a:r>
              <a:rPr lang="en-IN" dirty="0" err="1"/>
              <a:t>this.ename</a:t>
            </a:r>
            <a:r>
              <a:rPr lang="en-IN" dirty="0"/>
              <a:t>=</a:t>
            </a:r>
            <a:r>
              <a:rPr lang="en-IN" dirty="0" err="1"/>
              <a:t>ename</a:t>
            </a:r>
            <a:r>
              <a:rPr lang="en-IN" dirty="0"/>
              <a:t>;</a:t>
            </a:r>
          </a:p>
          <a:p>
            <a:pPr lvl="1"/>
            <a:r>
              <a:rPr lang="en-IN" dirty="0"/>
              <a:t>	</a:t>
            </a:r>
            <a:r>
              <a:rPr lang="en-IN" dirty="0" err="1"/>
              <a:t>this.desig</a:t>
            </a:r>
            <a:r>
              <a:rPr lang="en-IN" dirty="0"/>
              <a:t>=</a:t>
            </a:r>
            <a:r>
              <a:rPr lang="en-IN" dirty="0" err="1"/>
              <a:t>desig</a:t>
            </a:r>
            <a:r>
              <a:rPr lang="en-IN" dirty="0"/>
              <a:t>;</a:t>
            </a:r>
          </a:p>
          <a:p>
            <a:pPr lvl="1"/>
            <a:r>
              <a:rPr lang="en-IN" dirty="0"/>
              <a:t>}</a:t>
            </a:r>
          </a:p>
          <a:p>
            <a:pPr lvl="1"/>
            <a:endParaRPr lang="en-IN" dirty="0"/>
          </a:p>
          <a:p>
            <a:pPr lvl="1"/>
            <a:r>
              <a:rPr lang="en-IN" b="1" dirty="0"/>
              <a:t>// public all parameters constructor</a:t>
            </a:r>
          </a:p>
          <a:p>
            <a:pPr lvl="1"/>
            <a:r>
              <a:rPr lang="en-IN" dirty="0"/>
              <a:t>// with all class instance variables passed as parameters</a:t>
            </a:r>
          </a:p>
          <a:p>
            <a:pPr lvl="1"/>
            <a:r>
              <a:rPr lang="en-IN" dirty="0"/>
              <a:t>public Emp(int </a:t>
            </a:r>
            <a:r>
              <a:rPr lang="en-IN" dirty="0" err="1"/>
              <a:t>eid</a:t>
            </a:r>
            <a:r>
              <a:rPr lang="en-IN" dirty="0"/>
              <a:t>, String </a:t>
            </a:r>
            <a:r>
              <a:rPr lang="en-IN" dirty="0" err="1"/>
              <a:t>en</a:t>
            </a:r>
            <a:r>
              <a:rPr lang="en-IN" dirty="0"/>
              <a:t>, double </a:t>
            </a:r>
            <a:r>
              <a:rPr lang="en-IN" dirty="0" err="1"/>
              <a:t>sal</a:t>
            </a:r>
            <a:r>
              <a:rPr lang="en-IN" dirty="0"/>
              <a:t>, String </a:t>
            </a:r>
            <a:r>
              <a:rPr lang="en-IN" dirty="0" err="1"/>
              <a:t>desig</a:t>
            </a:r>
            <a:r>
              <a:rPr lang="en-IN" dirty="0"/>
              <a:t>) {</a:t>
            </a:r>
          </a:p>
          <a:p>
            <a:pPr lvl="1"/>
            <a:r>
              <a:rPr lang="en-IN" dirty="0"/>
              <a:t>	super(); // implicit statement</a:t>
            </a:r>
          </a:p>
          <a:p>
            <a:pPr lvl="1"/>
            <a:r>
              <a:rPr lang="en-IN" dirty="0"/>
              <a:t>	</a:t>
            </a:r>
            <a:r>
              <a:rPr lang="en-IN" dirty="0" err="1"/>
              <a:t>this.eid</a:t>
            </a:r>
            <a:r>
              <a:rPr lang="en-IN" dirty="0"/>
              <a:t>=</a:t>
            </a:r>
            <a:r>
              <a:rPr lang="en-IN" dirty="0" err="1"/>
              <a:t>eid</a:t>
            </a:r>
            <a:r>
              <a:rPr lang="en-IN" dirty="0"/>
              <a:t>;</a:t>
            </a:r>
          </a:p>
          <a:p>
            <a:pPr lvl="1"/>
            <a:r>
              <a:rPr lang="en-IN" dirty="0"/>
              <a:t>	</a:t>
            </a:r>
            <a:r>
              <a:rPr lang="en-IN" dirty="0" err="1"/>
              <a:t>ename</a:t>
            </a:r>
            <a:r>
              <a:rPr lang="en-IN" dirty="0"/>
              <a:t>=</a:t>
            </a:r>
            <a:r>
              <a:rPr lang="en-IN" dirty="0" err="1"/>
              <a:t>en</a:t>
            </a:r>
            <a:r>
              <a:rPr lang="en-IN" dirty="0"/>
              <a:t>;</a:t>
            </a:r>
          </a:p>
          <a:p>
            <a:pPr lvl="1"/>
            <a:r>
              <a:rPr lang="en-IN" dirty="0"/>
              <a:t>	</a:t>
            </a:r>
            <a:r>
              <a:rPr lang="en-IN" dirty="0" err="1"/>
              <a:t>this.sal</a:t>
            </a:r>
            <a:r>
              <a:rPr lang="en-IN" dirty="0"/>
              <a:t>=</a:t>
            </a:r>
            <a:r>
              <a:rPr lang="en-IN" dirty="0" err="1"/>
              <a:t>sal</a:t>
            </a:r>
            <a:r>
              <a:rPr lang="en-IN" dirty="0"/>
              <a:t>;</a:t>
            </a:r>
          </a:p>
          <a:p>
            <a:pPr lvl="1"/>
            <a:r>
              <a:rPr lang="en-IN" dirty="0"/>
              <a:t>	</a:t>
            </a:r>
            <a:r>
              <a:rPr lang="en-IN" dirty="0" err="1"/>
              <a:t>this.desig</a:t>
            </a:r>
            <a:r>
              <a:rPr lang="en-IN" dirty="0"/>
              <a:t>=</a:t>
            </a:r>
            <a:r>
              <a:rPr lang="en-IN" dirty="0" err="1"/>
              <a:t>desig</a:t>
            </a:r>
            <a:r>
              <a:rPr lang="en-IN" dirty="0"/>
              <a:t>;</a:t>
            </a:r>
          </a:p>
          <a:p>
            <a:pPr lvl="1"/>
            <a:r>
              <a:rPr lang="en-IN" dirty="0"/>
              <a:t>}</a:t>
            </a:r>
          </a:p>
          <a:p>
            <a:r>
              <a:rPr lang="en-IN" sz="1800" dirty="0"/>
              <a:t>}</a:t>
            </a:r>
            <a:endParaRPr lang="en-IN" dirty="0"/>
          </a:p>
        </p:txBody>
      </p:sp>
      <p:sp>
        <p:nvSpPr>
          <p:cNvPr id="7" name="Footer Placeholder 6">
            <a:extLst>
              <a:ext uri="{FF2B5EF4-FFF2-40B4-BE49-F238E27FC236}">
                <a16:creationId xmlns:a16="http://schemas.microsoft.com/office/drawing/2014/main" id="{A170E537-0F4F-B5C9-81B2-6DC0719F3855}"/>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62986834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461665"/>
              </a:xfrm>
              <a:prstGeom prst="rect">
                <a:avLst/>
              </a:prstGeom>
            </p:spPr>
            <p:txBody>
              <a:bodyPr wrap="square">
                <a:spAutoFit/>
              </a:bodyPr>
              <a:lstStyle/>
              <a:p>
                <a:pPr algn="ctr"/>
                <a:r>
                  <a:rPr lang="en-US" sz="2400" b="1">
                    <a:solidFill>
                      <a:schemeClr val="bg1"/>
                    </a:solidFill>
                    <a:latin typeface="Bookman Old Style" panose="02050604050505020204" pitchFamily="18" charset="0"/>
                  </a:rPr>
                  <a:t>Constructor Syntax</a:t>
                </a:r>
                <a:endParaRPr lang="en-US" sz="105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19" name="TextBox 18">
            <a:extLst>
              <a:ext uri="{FF2B5EF4-FFF2-40B4-BE49-F238E27FC236}">
                <a16:creationId xmlns:a16="http://schemas.microsoft.com/office/drawing/2014/main" id="{8CC96048-28AD-4CE1-A90C-59D2133E723F}"/>
              </a:ext>
            </a:extLst>
          </p:cNvPr>
          <p:cNvSpPr txBox="1"/>
          <p:nvPr/>
        </p:nvSpPr>
        <p:spPr>
          <a:xfrm>
            <a:off x="571500" y="1607821"/>
            <a:ext cx="8715512" cy="3046988"/>
          </a:xfrm>
          <a:prstGeom prst="rect">
            <a:avLst/>
          </a:prstGeom>
          <a:noFill/>
        </p:spPr>
        <p:txBody>
          <a:bodyPr wrap="square">
            <a:spAutoFit/>
          </a:bodyPr>
          <a:lstStyle/>
          <a:p>
            <a:r>
              <a:rPr lang="en-IN" sz="2400" b="1" dirty="0"/>
              <a:t>class EmpClient {</a:t>
            </a:r>
          </a:p>
          <a:p>
            <a:r>
              <a:rPr lang="en-IN" sz="2400" b="1" dirty="0"/>
              <a:t>	public static void main(String rags[]) {</a:t>
            </a:r>
          </a:p>
          <a:p>
            <a:r>
              <a:rPr lang="en-IN" sz="2400" b="1" dirty="0"/>
              <a:t>		Emp e1=new Emp();</a:t>
            </a:r>
          </a:p>
          <a:p>
            <a:r>
              <a:rPr lang="en-IN" sz="2400" b="1" dirty="0"/>
              <a:t>		Emp e2=new Emp(1);</a:t>
            </a:r>
          </a:p>
          <a:p>
            <a:r>
              <a:rPr lang="en-IN" sz="2400" b="1" dirty="0"/>
              <a:t>		Emp e3=new Emp("ABC", "Soft </a:t>
            </a:r>
            <a:r>
              <a:rPr lang="en-IN" sz="2400" b="1" dirty="0" err="1"/>
              <a:t>Engg</a:t>
            </a:r>
            <a:r>
              <a:rPr lang="en-IN" sz="2400" b="1" dirty="0"/>
              <a:t>");</a:t>
            </a:r>
          </a:p>
          <a:p>
            <a:r>
              <a:rPr lang="en-IN" sz="2400" b="1" dirty="0"/>
              <a:t>		Emp e4=new Emp(1, "ABC", 50000.00, "Soft </a:t>
            </a:r>
            <a:r>
              <a:rPr lang="en-IN" sz="2400" b="1" dirty="0" err="1"/>
              <a:t>Engg</a:t>
            </a:r>
            <a:r>
              <a:rPr lang="en-IN" sz="2400" b="1" dirty="0"/>
              <a:t>");</a:t>
            </a:r>
          </a:p>
          <a:p>
            <a:r>
              <a:rPr lang="en-IN" sz="2400" b="1" dirty="0"/>
              <a:t>	}</a:t>
            </a:r>
          </a:p>
          <a:p>
            <a:r>
              <a:rPr lang="en-IN" sz="2400" b="1" dirty="0"/>
              <a:t>}</a:t>
            </a:r>
          </a:p>
        </p:txBody>
      </p:sp>
      <p:sp>
        <p:nvSpPr>
          <p:cNvPr id="7" name="Footer Placeholder 6">
            <a:extLst>
              <a:ext uri="{FF2B5EF4-FFF2-40B4-BE49-F238E27FC236}">
                <a16:creationId xmlns:a16="http://schemas.microsoft.com/office/drawing/2014/main" id="{0BCFB074-F94C-EC33-D1C2-1C5A3AF223CA}"/>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20598244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461665"/>
              </a:xfrm>
              <a:prstGeom prst="rect">
                <a:avLst/>
              </a:prstGeom>
            </p:spPr>
            <p:txBody>
              <a:bodyPr wrap="square">
                <a:spAutoFit/>
              </a:bodyPr>
              <a:lstStyle/>
              <a:p>
                <a:pPr algn="ctr"/>
                <a:r>
                  <a:rPr lang="en-US" sz="2400" b="1" dirty="0">
                    <a:solidFill>
                      <a:schemeClr val="bg1"/>
                    </a:solidFill>
                    <a:latin typeface="Bookman Old Style" panose="02050604050505020204" pitchFamily="18" charset="0"/>
                  </a:rPr>
                  <a:t>Method Syntax</a:t>
                </a:r>
                <a:endParaRPr lang="en-US" sz="105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19" name="TextBox 18">
            <a:extLst>
              <a:ext uri="{FF2B5EF4-FFF2-40B4-BE49-F238E27FC236}">
                <a16:creationId xmlns:a16="http://schemas.microsoft.com/office/drawing/2014/main" id="{8CC96048-28AD-4CE1-A90C-59D2133E723F}"/>
              </a:ext>
            </a:extLst>
          </p:cNvPr>
          <p:cNvSpPr txBox="1"/>
          <p:nvPr/>
        </p:nvSpPr>
        <p:spPr>
          <a:xfrm>
            <a:off x="571500" y="1607821"/>
            <a:ext cx="7830378" cy="1200329"/>
          </a:xfrm>
          <a:prstGeom prst="rect">
            <a:avLst/>
          </a:prstGeom>
          <a:noFill/>
        </p:spPr>
        <p:txBody>
          <a:bodyPr wrap="square">
            <a:spAutoFit/>
          </a:bodyPr>
          <a:lstStyle/>
          <a:p>
            <a:r>
              <a:rPr lang="en-IN" sz="7200" b="1" u="sng" dirty="0"/>
              <a:t>Method declaration</a:t>
            </a:r>
            <a:endParaRPr lang="en-IN" sz="2000" b="1" dirty="0"/>
          </a:p>
        </p:txBody>
      </p:sp>
      <p:sp>
        <p:nvSpPr>
          <p:cNvPr id="7" name="Footer Placeholder 6">
            <a:extLst>
              <a:ext uri="{FF2B5EF4-FFF2-40B4-BE49-F238E27FC236}">
                <a16:creationId xmlns:a16="http://schemas.microsoft.com/office/drawing/2014/main" id="{A97D8655-663E-7AC8-795D-C57B20C1BDA5}"/>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69107887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461665"/>
              </a:xfrm>
              <a:prstGeom prst="rect">
                <a:avLst/>
              </a:prstGeom>
            </p:spPr>
            <p:txBody>
              <a:bodyPr wrap="square">
                <a:spAutoFit/>
              </a:bodyPr>
              <a:lstStyle/>
              <a:p>
                <a:pPr algn="ctr"/>
                <a:r>
                  <a:rPr lang="en-US" sz="2400" b="1" dirty="0">
                    <a:solidFill>
                      <a:schemeClr val="bg1"/>
                    </a:solidFill>
                    <a:latin typeface="Bookman Old Style" panose="02050604050505020204" pitchFamily="18" charset="0"/>
                  </a:rPr>
                  <a:t>Method Syntax</a:t>
                </a:r>
                <a:endParaRPr lang="en-US" sz="105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19" name="TextBox 18">
            <a:extLst>
              <a:ext uri="{FF2B5EF4-FFF2-40B4-BE49-F238E27FC236}">
                <a16:creationId xmlns:a16="http://schemas.microsoft.com/office/drawing/2014/main" id="{8CC96048-28AD-4CE1-A90C-59D2133E723F}"/>
              </a:ext>
            </a:extLst>
          </p:cNvPr>
          <p:cNvSpPr txBox="1"/>
          <p:nvPr/>
        </p:nvSpPr>
        <p:spPr>
          <a:xfrm>
            <a:off x="571500" y="1607821"/>
            <a:ext cx="8715512" cy="4708981"/>
          </a:xfrm>
          <a:prstGeom prst="rect">
            <a:avLst/>
          </a:prstGeom>
          <a:noFill/>
        </p:spPr>
        <p:txBody>
          <a:bodyPr wrap="square">
            <a:spAutoFit/>
          </a:bodyPr>
          <a:lstStyle/>
          <a:p>
            <a:r>
              <a:rPr lang="en-IN" sz="2000" b="1" u="sng" dirty="0"/>
              <a:t>Syntax:</a:t>
            </a:r>
          </a:p>
          <a:p>
            <a:r>
              <a:rPr lang="en-IN" sz="2000" b="1" dirty="0">
                <a:solidFill>
                  <a:srgbClr val="FF0000"/>
                </a:solidFill>
              </a:rPr>
              <a:t>&lt;access_specifier&gt;</a:t>
            </a:r>
            <a:r>
              <a:rPr lang="en-IN" sz="2000" b="1" dirty="0"/>
              <a:t> </a:t>
            </a:r>
            <a:r>
              <a:rPr lang="en-IN" sz="2000" b="1" dirty="0">
                <a:solidFill>
                  <a:srgbClr val="0000FF"/>
                </a:solidFill>
              </a:rPr>
              <a:t>&lt;</a:t>
            </a:r>
            <a:r>
              <a:rPr lang="en-IN" sz="2000" b="1" dirty="0" err="1">
                <a:solidFill>
                  <a:srgbClr val="0000FF"/>
                </a:solidFill>
              </a:rPr>
              <a:t>access_modifier</a:t>
            </a:r>
            <a:r>
              <a:rPr lang="en-IN" sz="2000" b="1" dirty="0">
                <a:solidFill>
                  <a:srgbClr val="0000FF"/>
                </a:solidFill>
              </a:rPr>
              <a:t>&gt;</a:t>
            </a:r>
            <a:r>
              <a:rPr lang="en-IN" sz="2000" b="1" dirty="0"/>
              <a:t> </a:t>
            </a:r>
            <a:r>
              <a:rPr lang="en-IN" sz="2000" b="1" dirty="0" err="1">
                <a:solidFill>
                  <a:srgbClr val="0070C0"/>
                </a:solidFill>
              </a:rPr>
              <a:t>return_type</a:t>
            </a:r>
            <a:r>
              <a:rPr lang="en-IN" sz="2000" b="1" dirty="0"/>
              <a:t> </a:t>
            </a:r>
            <a:r>
              <a:rPr lang="en-IN" sz="2000" b="1" dirty="0" err="1"/>
              <a:t>method_name</a:t>
            </a:r>
            <a:r>
              <a:rPr lang="en-IN" sz="2000" b="1" dirty="0"/>
              <a:t>(&lt;paramtype1 paramname1, paramtype2 paraname2&gt;) &lt;throws </a:t>
            </a:r>
            <a:r>
              <a:rPr lang="en-IN" sz="2000" b="1" dirty="0" err="1"/>
              <a:t>ExceptionsList</a:t>
            </a:r>
            <a:r>
              <a:rPr lang="en-IN" sz="2000" b="1" dirty="0"/>
              <a:t>&gt; {</a:t>
            </a:r>
          </a:p>
          <a:p>
            <a:endParaRPr lang="en-IN" sz="2000" b="1" dirty="0"/>
          </a:p>
          <a:p>
            <a:r>
              <a:rPr lang="en-IN" sz="2000" b="1" dirty="0"/>
              <a:t>}</a:t>
            </a:r>
          </a:p>
          <a:p>
            <a:endParaRPr lang="en-IN" sz="2000" b="1" dirty="0"/>
          </a:p>
          <a:p>
            <a:r>
              <a:rPr lang="en-IN" sz="2000" b="1" u="sng" dirty="0"/>
              <a:t>Examples:</a:t>
            </a:r>
          </a:p>
          <a:p>
            <a:r>
              <a:rPr lang="en-IN" sz="2000" b="1" dirty="0"/>
              <a:t>void add() {</a:t>
            </a:r>
          </a:p>
          <a:p>
            <a:r>
              <a:rPr lang="en-IN" sz="2000" b="1" dirty="0"/>
              <a:t>}</a:t>
            </a:r>
          </a:p>
          <a:p>
            <a:endParaRPr lang="en-IN" sz="2000" b="1" dirty="0"/>
          </a:p>
          <a:p>
            <a:r>
              <a:rPr lang="en-IN" sz="2000" b="1" dirty="0"/>
              <a:t>public abstract double divide(int </a:t>
            </a:r>
            <a:r>
              <a:rPr lang="en-IN" sz="2000" b="1" dirty="0" err="1"/>
              <a:t>i</a:t>
            </a:r>
            <a:r>
              <a:rPr lang="en-IN" sz="2000" b="1" dirty="0"/>
              <a:t>, int j) throws </a:t>
            </a:r>
            <a:r>
              <a:rPr lang="en-IN" sz="2000" b="1" dirty="0" err="1"/>
              <a:t>ArithmeticException</a:t>
            </a:r>
            <a:r>
              <a:rPr lang="en-IN" sz="2000" b="1" dirty="0"/>
              <a:t>;</a:t>
            </a:r>
          </a:p>
          <a:p>
            <a:endParaRPr lang="en-IN" sz="2000" b="1" dirty="0"/>
          </a:p>
          <a:p>
            <a:r>
              <a:rPr lang="en-IN" sz="2000" b="1" dirty="0"/>
              <a:t>public final int add(int a, int b) {</a:t>
            </a:r>
          </a:p>
          <a:p>
            <a:r>
              <a:rPr lang="en-IN" sz="2000" b="1" dirty="0"/>
              <a:t>	return a + b;</a:t>
            </a:r>
          </a:p>
          <a:p>
            <a:r>
              <a:rPr lang="en-IN" sz="2000" b="1" dirty="0"/>
              <a:t>}</a:t>
            </a:r>
          </a:p>
        </p:txBody>
      </p:sp>
      <p:sp>
        <p:nvSpPr>
          <p:cNvPr id="7" name="Footer Placeholder 6">
            <a:extLst>
              <a:ext uri="{FF2B5EF4-FFF2-40B4-BE49-F238E27FC236}">
                <a16:creationId xmlns:a16="http://schemas.microsoft.com/office/drawing/2014/main" id="{91905A40-A9C3-B88C-E774-09B36A0A5C37}"/>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98756229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461665"/>
              </a:xfrm>
              <a:prstGeom prst="rect">
                <a:avLst/>
              </a:prstGeom>
            </p:spPr>
            <p:txBody>
              <a:bodyPr wrap="square">
                <a:spAutoFit/>
              </a:bodyPr>
              <a:lstStyle/>
              <a:p>
                <a:pPr algn="ctr"/>
                <a:r>
                  <a:rPr lang="en-US" sz="2400" b="1" dirty="0">
                    <a:solidFill>
                      <a:schemeClr val="bg1"/>
                    </a:solidFill>
                    <a:latin typeface="Bookman Old Style" panose="02050604050505020204" pitchFamily="18" charset="0"/>
                  </a:rPr>
                  <a:t>Method Syntax</a:t>
                </a:r>
                <a:endParaRPr lang="en-US" sz="105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19" name="TextBox 18">
            <a:extLst>
              <a:ext uri="{FF2B5EF4-FFF2-40B4-BE49-F238E27FC236}">
                <a16:creationId xmlns:a16="http://schemas.microsoft.com/office/drawing/2014/main" id="{8CC96048-28AD-4CE1-A90C-59D2133E723F}"/>
              </a:ext>
            </a:extLst>
          </p:cNvPr>
          <p:cNvSpPr txBox="1"/>
          <p:nvPr/>
        </p:nvSpPr>
        <p:spPr>
          <a:xfrm>
            <a:off x="571500" y="1607821"/>
            <a:ext cx="8715512" cy="4278094"/>
          </a:xfrm>
          <a:prstGeom prst="rect">
            <a:avLst/>
          </a:prstGeom>
          <a:noFill/>
        </p:spPr>
        <p:txBody>
          <a:bodyPr wrap="square">
            <a:spAutoFit/>
          </a:bodyPr>
          <a:lstStyle/>
          <a:p>
            <a:pPr algn="just"/>
            <a:r>
              <a:rPr lang="en-US" sz="3200" b="1" u="sng" dirty="0">
                <a:solidFill>
                  <a:srgbClr val="FF0000"/>
                </a:solidFill>
              </a:rPr>
              <a:t>access specifiers:</a:t>
            </a:r>
          </a:p>
          <a:p>
            <a:pPr algn="just"/>
            <a:r>
              <a:rPr lang="en-US" sz="2000" b="1" dirty="0">
                <a:solidFill>
                  <a:srgbClr val="FF0000"/>
                </a:solidFill>
              </a:rPr>
              <a:t>private:</a:t>
            </a:r>
            <a:r>
              <a:rPr lang="en-US" sz="2000" b="1" dirty="0"/>
              <a:t> private methods can be accessible only within the class</a:t>
            </a:r>
          </a:p>
          <a:p>
            <a:pPr algn="just"/>
            <a:endParaRPr lang="en-US" sz="2000" b="1" dirty="0"/>
          </a:p>
          <a:p>
            <a:pPr algn="just"/>
            <a:r>
              <a:rPr lang="en-US" sz="2000" b="1" dirty="0">
                <a:solidFill>
                  <a:srgbClr val="FF0000"/>
                </a:solidFill>
              </a:rPr>
              <a:t>default:</a:t>
            </a:r>
            <a:r>
              <a:rPr lang="en-US" sz="2000" b="1" dirty="0"/>
              <a:t> default methods can be accessible only within the package</a:t>
            </a:r>
          </a:p>
          <a:p>
            <a:pPr algn="just"/>
            <a:endParaRPr lang="en-US" sz="2000" b="1" dirty="0"/>
          </a:p>
          <a:p>
            <a:pPr algn="just"/>
            <a:r>
              <a:rPr lang="en-US" sz="2000" b="1" dirty="0">
                <a:solidFill>
                  <a:srgbClr val="FF0000"/>
                </a:solidFill>
              </a:rPr>
              <a:t>protected:</a:t>
            </a:r>
            <a:r>
              <a:rPr lang="en-US" sz="2000" b="1" dirty="0"/>
              <a:t> protected methods can be accessible up to sub class outside the package. Sub class outside the package when overriding super class method, same access specifier can be maintained or access scope can be increased, but scope should not be reduced. For example protected method can be overridden as protected/public but not default/private. If do so compilation error comes saying "Weaker Access Specifier Error".</a:t>
            </a:r>
          </a:p>
          <a:p>
            <a:pPr algn="just"/>
            <a:endParaRPr lang="en-US" sz="2000" b="1" dirty="0"/>
          </a:p>
          <a:p>
            <a:pPr algn="just"/>
            <a:r>
              <a:rPr lang="en-US" sz="2000" b="1" dirty="0">
                <a:solidFill>
                  <a:srgbClr val="FF0000"/>
                </a:solidFill>
              </a:rPr>
              <a:t>public:</a:t>
            </a:r>
            <a:r>
              <a:rPr lang="en-US" sz="2000" b="1" dirty="0"/>
              <a:t> public methods can be accessible anywhere.</a:t>
            </a:r>
            <a:endParaRPr lang="en-IN" sz="2000" b="1" dirty="0"/>
          </a:p>
        </p:txBody>
      </p:sp>
      <p:sp>
        <p:nvSpPr>
          <p:cNvPr id="7" name="Footer Placeholder 6">
            <a:extLst>
              <a:ext uri="{FF2B5EF4-FFF2-40B4-BE49-F238E27FC236}">
                <a16:creationId xmlns:a16="http://schemas.microsoft.com/office/drawing/2014/main" id="{6AE11C49-FCE7-CAFC-4936-61D11405A558}"/>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25985832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461665"/>
              </a:xfrm>
              <a:prstGeom prst="rect">
                <a:avLst/>
              </a:prstGeom>
            </p:spPr>
            <p:txBody>
              <a:bodyPr wrap="square">
                <a:spAutoFit/>
              </a:bodyPr>
              <a:lstStyle/>
              <a:p>
                <a:pPr algn="ctr"/>
                <a:r>
                  <a:rPr lang="en-US" sz="2400" b="1" dirty="0">
                    <a:solidFill>
                      <a:schemeClr val="bg1"/>
                    </a:solidFill>
                    <a:latin typeface="Bookman Old Style" panose="02050604050505020204" pitchFamily="18" charset="0"/>
                  </a:rPr>
                  <a:t>Method Syntax</a:t>
                </a:r>
                <a:endParaRPr lang="en-US" sz="105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grpSp>
        <p:nvGrpSpPr>
          <p:cNvPr id="8" name="Group 7">
            <a:extLst>
              <a:ext uri="{FF2B5EF4-FFF2-40B4-BE49-F238E27FC236}">
                <a16:creationId xmlns:a16="http://schemas.microsoft.com/office/drawing/2014/main" id="{B4EE6FB3-DD1A-4680-8152-86E976547BD3}"/>
              </a:ext>
            </a:extLst>
          </p:cNvPr>
          <p:cNvGrpSpPr/>
          <p:nvPr/>
        </p:nvGrpSpPr>
        <p:grpSpPr>
          <a:xfrm>
            <a:off x="571500" y="1263265"/>
            <a:ext cx="10942980" cy="5245949"/>
            <a:chOff x="571500" y="1263265"/>
            <a:chExt cx="10942980" cy="5245949"/>
          </a:xfrm>
        </p:grpSpPr>
        <p:sp>
          <p:nvSpPr>
            <p:cNvPr id="19" name="TextBox 18">
              <a:extLst>
                <a:ext uri="{FF2B5EF4-FFF2-40B4-BE49-F238E27FC236}">
                  <a16:creationId xmlns:a16="http://schemas.microsoft.com/office/drawing/2014/main" id="{8CC96048-28AD-4CE1-A90C-59D2133E723F}"/>
                </a:ext>
              </a:extLst>
            </p:cNvPr>
            <p:cNvSpPr txBox="1"/>
            <p:nvPr/>
          </p:nvSpPr>
          <p:spPr>
            <a:xfrm>
              <a:off x="571500" y="1263265"/>
              <a:ext cx="8715512" cy="954107"/>
            </a:xfrm>
            <a:prstGeom prst="rect">
              <a:avLst/>
            </a:prstGeom>
            <a:noFill/>
          </p:spPr>
          <p:txBody>
            <a:bodyPr wrap="square">
              <a:spAutoFit/>
            </a:bodyPr>
            <a:lstStyle/>
            <a:p>
              <a:pPr algn="just"/>
              <a:r>
                <a:rPr lang="en-US" sz="2800" b="1" u="sng" dirty="0">
                  <a:solidFill>
                    <a:srgbClr val="FF0000"/>
                  </a:solidFill>
                </a:rPr>
                <a:t>Example on protected method access within the package </a:t>
              </a:r>
              <a:r>
                <a:rPr lang="en-US" sz="2400" b="1" u="sng" dirty="0">
                  <a:solidFill>
                    <a:srgbClr val="FF0000"/>
                  </a:solidFill>
                </a:rPr>
                <a:t>(in both sub class and instantiated class)</a:t>
              </a:r>
              <a:r>
                <a:rPr lang="en-US" sz="2800" b="1" u="sng" dirty="0">
                  <a:solidFill>
                    <a:srgbClr val="FF0000"/>
                  </a:solidFill>
                </a:rPr>
                <a:t>:</a:t>
              </a:r>
            </a:p>
          </p:txBody>
        </p:sp>
        <p:sp>
          <p:nvSpPr>
            <p:cNvPr id="24" name="TextBox 23">
              <a:extLst>
                <a:ext uri="{FF2B5EF4-FFF2-40B4-BE49-F238E27FC236}">
                  <a16:creationId xmlns:a16="http://schemas.microsoft.com/office/drawing/2014/main" id="{86CF8A4F-34C6-45C6-A049-53C499E2A0DD}"/>
                </a:ext>
              </a:extLst>
            </p:cNvPr>
            <p:cNvSpPr txBox="1"/>
            <p:nvPr/>
          </p:nvSpPr>
          <p:spPr>
            <a:xfrm>
              <a:off x="571500" y="2348987"/>
              <a:ext cx="3197087" cy="1200329"/>
            </a:xfrm>
            <a:prstGeom prst="rect">
              <a:avLst/>
            </a:prstGeom>
            <a:noFill/>
          </p:spPr>
          <p:txBody>
            <a:bodyPr wrap="square">
              <a:spAutoFit/>
            </a:bodyPr>
            <a:lstStyle/>
            <a:p>
              <a:pPr algn="just"/>
              <a:r>
                <a:rPr lang="en-US" sz="1800" dirty="0">
                  <a:solidFill>
                    <a:srgbClr val="FF0000"/>
                  </a:solidFill>
                </a:rPr>
                <a:t>package a;</a:t>
              </a:r>
            </a:p>
            <a:p>
              <a:pPr algn="just"/>
              <a:r>
                <a:rPr lang="en-US" sz="1800" dirty="0">
                  <a:solidFill>
                    <a:srgbClr val="FF0000"/>
                  </a:solidFill>
                </a:rPr>
                <a:t>public class A {</a:t>
              </a:r>
            </a:p>
            <a:p>
              <a:pPr algn="just"/>
              <a:r>
                <a:rPr lang="en-US" sz="1800" dirty="0">
                  <a:solidFill>
                    <a:srgbClr val="FF0000"/>
                  </a:solidFill>
                </a:rPr>
                <a:t>	protected void a() {}</a:t>
              </a:r>
            </a:p>
            <a:p>
              <a:pPr algn="just"/>
              <a:r>
                <a:rPr lang="en-US" sz="1800" dirty="0">
                  <a:solidFill>
                    <a:srgbClr val="FF0000"/>
                  </a:solidFill>
                </a:rPr>
                <a:t>}</a:t>
              </a:r>
              <a:endParaRPr lang="en-IN" dirty="0"/>
            </a:p>
          </p:txBody>
        </p:sp>
        <p:sp>
          <p:nvSpPr>
            <p:cNvPr id="25" name="TextBox 24">
              <a:extLst>
                <a:ext uri="{FF2B5EF4-FFF2-40B4-BE49-F238E27FC236}">
                  <a16:creationId xmlns:a16="http://schemas.microsoft.com/office/drawing/2014/main" id="{5DDE1D75-C484-4416-8236-82C25F4CBAB6}"/>
                </a:ext>
              </a:extLst>
            </p:cNvPr>
            <p:cNvSpPr txBox="1"/>
            <p:nvPr/>
          </p:nvSpPr>
          <p:spPr>
            <a:xfrm>
              <a:off x="4598504" y="3145945"/>
              <a:ext cx="3445566" cy="1754326"/>
            </a:xfrm>
            <a:prstGeom prst="rect">
              <a:avLst/>
            </a:prstGeom>
            <a:noFill/>
          </p:spPr>
          <p:txBody>
            <a:bodyPr wrap="square">
              <a:spAutoFit/>
            </a:bodyPr>
            <a:lstStyle/>
            <a:p>
              <a:pPr algn="just"/>
              <a:r>
                <a:rPr lang="en-US" sz="1800" dirty="0">
                  <a:solidFill>
                    <a:srgbClr val="FF0000"/>
                  </a:solidFill>
                </a:rPr>
                <a:t>package a;</a:t>
              </a:r>
            </a:p>
            <a:p>
              <a:pPr algn="just"/>
              <a:r>
                <a:rPr lang="en-US" sz="1800" dirty="0">
                  <a:solidFill>
                    <a:srgbClr val="FF0000"/>
                  </a:solidFill>
                </a:rPr>
                <a:t>public class B extends A {</a:t>
              </a:r>
            </a:p>
            <a:p>
              <a:pPr algn="just"/>
              <a:r>
                <a:rPr lang="en-US" sz="1800" dirty="0">
                  <a:solidFill>
                    <a:srgbClr val="FF0000"/>
                  </a:solidFill>
                </a:rPr>
                <a:t>	protected void a() {}</a:t>
              </a:r>
            </a:p>
            <a:p>
              <a:pPr algn="just"/>
              <a:r>
                <a:rPr lang="en-US" dirty="0">
                  <a:solidFill>
                    <a:srgbClr val="FF0000"/>
                  </a:solidFill>
                </a:rPr>
                <a:t>		(or)</a:t>
              </a:r>
              <a:endParaRPr lang="en-US" sz="1800" dirty="0">
                <a:solidFill>
                  <a:srgbClr val="FF0000"/>
                </a:solidFill>
              </a:endParaRPr>
            </a:p>
            <a:p>
              <a:pPr algn="just"/>
              <a:r>
                <a:rPr lang="en-US" sz="1800" dirty="0">
                  <a:solidFill>
                    <a:srgbClr val="FF0000"/>
                  </a:solidFill>
                </a:rPr>
                <a:t>	public void a() {}</a:t>
              </a:r>
            </a:p>
            <a:p>
              <a:pPr algn="just"/>
              <a:r>
                <a:rPr lang="en-US" sz="1800" dirty="0">
                  <a:solidFill>
                    <a:srgbClr val="FF0000"/>
                  </a:solidFill>
                </a:rPr>
                <a:t>}</a:t>
              </a:r>
              <a:endParaRPr lang="en-IN" dirty="0"/>
            </a:p>
          </p:txBody>
        </p:sp>
        <p:sp>
          <p:nvSpPr>
            <p:cNvPr id="26" name="TextBox 25">
              <a:extLst>
                <a:ext uri="{FF2B5EF4-FFF2-40B4-BE49-F238E27FC236}">
                  <a16:creationId xmlns:a16="http://schemas.microsoft.com/office/drawing/2014/main" id="{DD87EBFF-80F7-44F0-92D1-6824F6AB40B0}"/>
                </a:ext>
              </a:extLst>
            </p:cNvPr>
            <p:cNvSpPr txBox="1"/>
            <p:nvPr/>
          </p:nvSpPr>
          <p:spPr>
            <a:xfrm>
              <a:off x="571500" y="4477889"/>
              <a:ext cx="4027004" cy="2031325"/>
            </a:xfrm>
            <a:prstGeom prst="rect">
              <a:avLst/>
            </a:prstGeom>
            <a:noFill/>
          </p:spPr>
          <p:txBody>
            <a:bodyPr wrap="square">
              <a:spAutoFit/>
            </a:bodyPr>
            <a:lstStyle/>
            <a:p>
              <a:pPr algn="just"/>
              <a:r>
                <a:rPr lang="en-US" sz="1800" dirty="0">
                  <a:solidFill>
                    <a:srgbClr val="FF0000"/>
                  </a:solidFill>
                </a:rPr>
                <a:t>package a;</a:t>
              </a:r>
            </a:p>
            <a:p>
              <a:pPr algn="just"/>
              <a:r>
                <a:rPr lang="en-US" sz="1800" dirty="0">
                  <a:solidFill>
                    <a:srgbClr val="FF0000"/>
                  </a:solidFill>
                </a:rPr>
                <a:t>public class C {</a:t>
              </a:r>
            </a:p>
            <a:p>
              <a:pPr algn="just"/>
              <a:r>
                <a:rPr lang="en-US" sz="1800" dirty="0">
                  <a:solidFill>
                    <a:srgbClr val="FF0000"/>
                  </a:solidFill>
                </a:rPr>
                <a:t>	p s v main(String rags[]) {</a:t>
              </a:r>
            </a:p>
            <a:p>
              <a:pPr algn="just"/>
              <a:r>
                <a:rPr lang="en-US" dirty="0">
                  <a:solidFill>
                    <a:srgbClr val="FF0000"/>
                  </a:solidFill>
                </a:rPr>
                <a:t>		A a=new A();</a:t>
              </a:r>
            </a:p>
            <a:p>
              <a:pPr algn="just"/>
              <a:r>
                <a:rPr lang="en-US" dirty="0">
                  <a:solidFill>
                    <a:srgbClr val="FF0000"/>
                  </a:solidFill>
                </a:rPr>
                <a:t>		</a:t>
              </a:r>
              <a:r>
                <a:rPr lang="en-US" dirty="0" err="1">
                  <a:solidFill>
                    <a:srgbClr val="FF0000"/>
                  </a:solidFill>
                </a:rPr>
                <a:t>a.a</a:t>
              </a:r>
              <a:r>
                <a:rPr lang="en-US" dirty="0">
                  <a:solidFill>
                    <a:srgbClr val="FF0000"/>
                  </a:solidFill>
                </a:rPr>
                <a:t>();</a:t>
              </a:r>
            </a:p>
            <a:p>
              <a:pPr algn="just"/>
              <a:r>
                <a:rPr lang="en-US" sz="1800" dirty="0">
                  <a:solidFill>
                    <a:srgbClr val="FF0000"/>
                  </a:solidFill>
                </a:rPr>
                <a:t>	}</a:t>
              </a:r>
            </a:p>
            <a:p>
              <a:pPr algn="just"/>
              <a:r>
                <a:rPr lang="en-US" sz="1800" dirty="0">
                  <a:solidFill>
                    <a:srgbClr val="FF0000"/>
                  </a:solidFill>
                </a:rPr>
                <a:t>}</a:t>
              </a:r>
              <a:endParaRPr lang="en-IN" dirty="0"/>
            </a:p>
          </p:txBody>
        </p:sp>
        <p:sp>
          <p:nvSpPr>
            <p:cNvPr id="7" name="TextBox 6">
              <a:extLst>
                <a:ext uri="{FF2B5EF4-FFF2-40B4-BE49-F238E27FC236}">
                  <a16:creationId xmlns:a16="http://schemas.microsoft.com/office/drawing/2014/main" id="{A841B624-172C-49B5-8043-8998542B7499}"/>
                </a:ext>
              </a:extLst>
            </p:cNvPr>
            <p:cNvSpPr txBox="1"/>
            <p:nvPr/>
          </p:nvSpPr>
          <p:spPr>
            <a:xfrm>
              <a:off x="6128183" y="2195616"/>
              <a:ext cx="2385391" cy="1200329"/>
            </a:xfrm>
            <a:prstGeom prst="rect">
              <a:avLst/>
            </a:prstGeom>
            <a:noFill/>
          </p:spPr>
          <p:txBody>
            <a:bodyPr wrap="square" rtlCol="0">
              <a:spAutoFit/>
            </a:bodyPr>
            <a:lstStyle/>
            <a:p>
              <a:pPr algn="just"/>
              <a:r>
                <a:rPr lang="en-US" dirty="0"/>
                <a:t>protected method can be overridden as protected or public in sub class</a:t>
              </a:r>
              <a:endParaRPr lang="en-IN" dirty="0"/>
            </a:p>
          </p:txBody>
        </p:sp>
        <p:sp>
          <p:nvSpPr>
            <p:cNvPr id="27" name="TextBox 26">
              <a:extLst>
                <a:ext uri="{FF2B5EF4-FFF2-40B4-BE49-F238E27FC236}">
                  <a16:creationId xmlns:a16="http://schemas.microsoft.com/office/drawing/2014/main" id="{EAEDC334-C34A-4E15-A22A-5508E70DACC6}"/>
                </a:ext>
              </a:extLst>
            </p:cNvPr>
            <p:cNvSpPr txBox="1"/>
            <p:nvPr/>
          </p:nvSpPr>
          <p:spPr>
            <a:xfrm>
              <a:off x="6597687" y="4522560"/>
              <a:ext cx="2385391" cy="923330"/>
            </a:xfrm>
            <a:prstGeom prst="rect">
              <a:avLst/>
            </a:prstGeom>
            <a:noFill/>
          </p:spPr>
          <p:txBody>
            <a:bodyPr wrap="square" rtlCol="0">
              <a:spAutoFit/>
            </a:bodyPr>
            <a:lstStyle/>
            <a:p>
              <a:pPr algn="just"/>
              <a:r>
                <a:rPr lang="en-US" dirty="0"/>
                <a:t>overriding protected method in sub class within the package.</a:t>
              </a:r>
              <a:endParaRPr lang="en-IN" dirty="0"/>
            </a:p>
          </p:txBody>
        </p:sp>
        <p:sp>
          <p:nvSpPr>
            <p:cNvPr id="28" name="TextBox 27">
              <a:extLst>
                <a:ext uri="{FF2B5EF4-FFF2-40B4-BE49-F238E27FC236}">
                  <a16:creationId xmlns:a16="http://schemas.microsoft.com/office/drawing/2014/main" id="{BE64FDB1-1EDE-492F-9D3F-67CA4EB58F36}"/>
                </a:ext>
              </a:extLst>
            </p:cNvPr>
            <p:cNvSpPr txBox="1"/>
            <p:nvPr/>
          </p:nvSpPr>
          <p:spPr>
            <a:xfrm>
              <a:off x="3847860" y="5483345"/>
              <a:ext cx="2385391" cy="923330"/>
            </a:xfrm>
            <a:prstGeom prst="rect">
              <a:avLst/>
            </a:prstGeom>
            <a:noFill/>
          </p:spPr>
          <p:txBody>
            <a:bodyPr wrap="square" rtlCol="0">
              <a:spAutoFit/>
            </a:bodyPr>
            <a:lstStyle/>
            <a:p>
              <a:pPr algn="just"/>
              <a:r>
                <a:rPr lang="en-US" dirty="0"/>
                <a:t>calling protected method within the package.</a:t>
              </a:r>
              <a:endParaRPr lang="en-IN" dirty="0"/>
            </a:p>
          </p:txBody>
        </p:sp>
        <p:sp>
          <p:nvSpPr>
            <p:cNvPr id="29" name="TextBox 28">
              <a:extLst>
                <a:ext uri="{FF2B5EF4-FFF2-40B4-BE49-F238E27FC236}">
                  <a16:creationId xmlns:a16="http://schemas.microsoft.com/office/drawing/2014/main" id="{3A5CAEF7-4426-49A4-8535-7C91AB357712}"/>
                </a:ext>
              </a:extLst>
            </p:cNvPr>
            <p:cNvSpPr txBox="1"/>
            <p:nvPr/>
          </p:nvSpPr>
          <p:spPr>
            <a:xfrm>
              <a:off x="9129089" y="2150746"/>
              <a:ext cx="2385391" cy="1384995"/>
            </a:xfrm>
            <a:prstGeom prst="rect">
              <a:avLst/>
            </a:prstGeom>
            <a:noFill/>
          </p:spPr>
          <p:txBody>
            <a:bodyPr wrap="square" rtlCol="0">
              <a:spAutoFit/>
            </a:bodyPr>
            <a:lstStyle/>
            <a:p>
              <a:pPr algn="just"/>
              <a:r>
                <a:rPr lang="en-US" sz="1400" dirty="0">
                  <a:solidFill>
                    <a:srgbClr val="FF0000"/>
                  </a:solidFill>
                </a:rPr>
                <a:t>Imp Note: While overriding methods in sub class, method access specifier scope can be increased but not reduced. If do so “</a:t>
              </a:r>
              <a:r>
                <a:rPr lang="en-US" sz="1400" dirty="0" err="1">
                  <a:solidFill>
                    <a:srgbClr val="FF0000"/>
                  </a:solidFill>
                </a:rPr>
                <a:t>WeakAccessSpecifier</a:t>
              </a:r>
              <a:r>
                <a:rPr lang="en-US" sz="1400" dirty="0">
                  <a:solidFill>
                    <a:srgbClr val="FF0000"/>
                  </a:solidFill>
                </a:rPr>
                <a:t>” privilege error comes.</a:t>
              </a:r>
              <a:endParaRPr lang="en-IN" sz="1400" dirty="0">
                <a:solidFill>
                  <a:srgbClr val="FF0000"/>
                </a:solidFill>
              </a:endParaRPr>
            </a:p>
          </p:txBody>
        </p:sp>
      </p:grpSp>
      <p:sp>
        <p:nvSpPr>
          <p:cNvPr id="9" name="Footer Placeholder 8">
            <a:extLst>
              <a:ext uri="{FF2B5EF4-FFF2-40B4-BE49-F238E27FC236}">
                <a16:creationId xmlns:a16="http://schemas.microsoft.com/office/drawing/2014/main" id="{22F922C9-D10C-96CA-E2DE-40C1A2750AF5}"/>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71960749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461665"/>
              </a:xfrm>
              <a:prstGeom prst="rect">
                <a:avLst/>
              </a:prstGeom>
            </p:spPr>
            <p:txBody>
              <a:bodyPr wrap="square">
                <a:spAutoFit/>
              </a:bodyPr>
              <a:lstStyle/>
              <a:p>
                <a:pPr algn="ctr"/>
                <a:r>
                  <a:rPr lang="en-US" sz="2400" b="1" dirty="0">
                    <a:solidFill>
                      <a:schemeClr val="bg1"/>
                    </a:solidFill>
                    <a:latin typeface="Bookman Old Style" panose="02050604050505020204" pitchFamily="18" charset="0"/>
                  </a:rPr>
                  <a:t>Method Syntax</a:t>
                </a:r>
                <a:endParaRPr lang="en-US" sz="105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grpSp>
        <p:nvGrpSpPr>
          <p:cNvPr id="7" name="Group 6">
            <a:extLst>
              <a:ext uri="{FF2B5EF4-FFF2-40B4-BE49-F238E27FC236}">
                <a16:creationId xmlns:a16="http://schemas.microsoft.com/office/drawing/2014/main" id="{E08F6F5E-7B69-4270-98F6-D7FFA23E387B}"/>
              </a:ext>
            </a:extLst>
          </p:cNvPr>
          <p:cNvGrpSpPr/>
          <p:nvPr/>
        </p:nvGrpSpPr>
        <p:grpSpPr>
          <a:xfrm>
            <a:off x="544993" y="1263265"/>
            <a:ext cx="8742019" cy="5572066"/>
            <a:chOff x="544993" y="1263265"/>
            <a:chExt cx="8742019" cy="5572066"/>
          </a:xfrm>
        </p:grpSpPr>
        <p:sp>
          <p:nvSpPr>
            <p:cNvPr id="19" name="TextBox 18">
              <a:extLst>
                <a:ext uri="{FF2B5EF4-FFF2-40B4-BE49-F238E27FC236}">
                  <a16:creationId xmlns:a16="http://schemas.microsoft.com/office/drawing/2014/main" id="{8CC96048-28AD-4CE1-A90C-59D2133E723F}"/>
                </a:ext>
              </a:extLst>
            </p:cNvPr>
            <p:cNvSpPr txBox="1"/>
            <p:nvPr/>
          </p:nvSpPr>
          <p:spPr>
            <a:xfrm>
              <a:off x="571500" y="1263265"/>
              <a:ext cx="8715512" cy="954107"/>
            </a:xfrm>
            <a:prstGeom prst="rect">
              <a:avLst/>
            </a:prstGeom>
            <a:noFill/>
          </p:spPr>
          <p:txBody>
            <a:bodyPr wrap="square">
              <a:spAutoFit/>
            </a:bodyPr>
            <a:lstStyle/>
            <a:p>
              <a:pPr algn="just"/>
              <a:r>
                <a:rPr lang="en-US" sz="2800" b="1" u="sng" dirty="0">
                  <a:solidFill>
                    <a:srgbClr val="FF0000"/>
                  </a:solidFill>
                </a:rPr>
                <a:t>Example on protected method access outside the package </a:t>
              </a:r>
              <a:r>
                <a:rPr lang="en-US" sz="2400" b="1" u="sng" dirty="0">
                  <a:solidFill>
                    <a:srgbClr val="FF0000"/>
                  </a:solidFill>
                </a:rPr>
                <a:t>(in both sub class and instantiated class)</a:t>
              </a:r>
              <a:r>
                <a:rPr lang="en-US" sz="2800" b="1" u="sng" dirty="0">
                  <a:solidFill>
                    <a:srgbClr val="FF0000"/>
                  </a:solidFill>
                </a:rPr>
                <a:t>:</a:t>
              </a:r>
            </a:p>
          </p:txBody>
        </p:sp>
        <p:sp>
          <p:nvSpPr>
            <p:cNvPr id="24" name="TextBox 23">
              <a:extLst>
                <a:ext uri="{FF2B5EF4-FFF2-40B4-BE49-F238E27FC236}">
                  <a16:creationId xmlns:a16="http://schemas.microsoft.com/office/drawing/2014/main" id="{86CF8A4F-34C6-45C6-A049-53C499E2A0DD}"/>
                </a:ext>
              </a:extLst>
            </p:cNvPr>
            <p:cNvSpPr txBox="1"/>
            <p:nvPr/>
          </p:nvSpPr>
          <p:spPr>
            <a:xfrm>
              <a:off x="571500" y="2348987"/>
              <a:ext cx="3197087" cy="1200329"/>
            </a:xfrm>
            <a:prstGeom prst="rect">
              <a:avLst/>
            </a:prstGeom>
            <a:noFill/>
          </p:spPr>
          <p:txBody>
            <a:bodyPr wrap="square">
              <a:spAutoFit/>
            </a:bodyPr>
            <a:lstStyle/>
            <a:p>
              <a:pPr algn="just"/>
              <a:r>
                <a:rPr lang="en-US" sz="1800" dirty="0">
                  <a:solidFill>
                    <a:srgbClr val="FF0000"/>
                  </a:solidFill>
                </a:rPr>
                <a:t>package a;</a:t>
              </a:r>
            </a:p>
            <a:p>
              <a:pPr algn="just"/>
              <a:r>
                <a:rPr lang="en-US" sz="1800" dirty="0">
                  <a:solidFill>
                    <a:srgbClr val="FF0000"/>
                  </a:solidFill>
                </a:rPr>
                <a:t>public class A {</a:t>
              </a:r>
            </a:p>
            <a:p>
              <a:pPr algn="just"/>
              <a:r>
                <a:rPr lang="en-US" sz="1800" dirty="0">
                  <a:solidFill>
                    <a:srgbClr val="FF0000"/>
                  </a:solidFill>
                </a:rPr>
                <a:t>	protected void a() {}</a:t>
              </a:r>
            </a:p>
            <a:p>
              <a:pPr algn="just"/>
              <a:r>
                <a:rPr lang="en-US" sz="1800" dirty="0">
                  <a:solidFill>
                    <a:srgbClr val="FF0000"/>
                  </a:solidFill>
                </a:rPr>
                <a:t>}</a:t>
              </a:r>
              <a:endParaRPr lang="en-IN" dirty="0"/>
            </a:p>
          </p:txBody>
        </p:sp>
        <p:sp>
          <p:nvSpPr>
            <p:cNvPr id="25" name="TextBox 24">
              <a:extLst>
                <a:ext uri="{FF2B5EF4-FFF2-40B4-BE49-F238E27FC236}">
                  <a16:creationId xmlns:a16="http://schemas.microsoft.com/office/drawing/2014/main" id="{5DDE1D75-C484-4416-8236-82C25F4CBAB6}"/>
                </a:ext>
              </a:extLst>
            </p:cNvPr>
            <p:cNvSpPr txBox="1"/>
            <p:nvPr/>
          </p:nvSpPr>
          <p:spPr>
            <a:xfrm>
              <a:off x="4598504" y="2385679"/>
              <a:ext cx="4688508" cy="2308324"/>
            </a:xfrm>
            <a:prstGeom prst="rect">
              <a:avLst/>
            </a:prstGeom>
            <a:noFill/>
          </p:spPr>
          <p:txBody>
            <a:bodyPr wrap="square">
              <a:spAutoFit/>
            </a:bodyPr>
            <a:lstStyle/>
            <a:p>
              <a:pPr algn="just"/>
              <a:r>
                <a:rPr lang="en-US" sz="1800" dirty="0">
                  <a:solidFill>
                    <a:srgbClr val="FF0000"/>
                  </a:solidFill>
                </a:rPr>
                <a:t>package b;</a:t>
              </a:r>
            </a:p>
            <a:p>
              <a:pPr algn="just"/>
              <a:r>
                <a:rPr lang="en-US" dirty="0">
                  <a:solidFill>
                    <a:srgbClr val="FF0000"/>
                  </a:solidFill>
                </a:rPr>
                <a:t>import </a:t>
              </a:r>
              <a:r>
                <a:rPr lang="en-US" dirty="0" err="1">
                  <a:solidFill>
                    <a:srgbClr val="FF0000"/>
                  </a:solidFill>
                </a:rPr>
                <a:t>a.A</a:t>
              </a:r>
              <a:r>
                <a:rPr lang="en-US" dirty="0">
                  <a:solidFill>
                    <a:srgbClr val="FF0000"/>
                  </a:solidFill>
                </a:rPr>
                <a:t>;</a:t>
              </a:r>
              <a:endParaRPr lang="en-US" sz="1800" dirty="0">
                <a:solidFill>
                  <a:srgbClr val="FF0000"/>
                </a:solidFill>
              </a:endParaRPr>
            </a:p>
            <a:p>
              <a:pPr algn="just"/>
              <a:r>
                <a:rPr lang="en-US" sz="1800" dirty="0">
                  <a:solidFill>
                    <a:srgbClr val="FF0000"/>
                  </a:solidFill>
                </a:rPr>
                <a:t>public class D extends A {</a:t>
              </a:r>
            </a:p>
            <a:p>
              <a:pPr algn="just"/>
              <a:r>
                <a:rPr lang="en-US" sz="1800" b="1" dirty="0">
                  <a:solidFill>
                    <a:srgbClr val="0000FF"/>
                  </a:solidFill>
                </a:rPr>
                <a:t>	// </a:t>
              </a:r>
              <a:r>
                <a:rPr lang="en-US" sz="1600" b="1" dirty="0">
                  <a:solidFill>
                    <a:srgbClr val="0000FF"/>
                  </a:solidFill>
                </a:rPr>
                <a:t>override as protected or public</a:t>
              </a:r>
              <a:endParaRPr lang="en-US" sz="1800" b="1" dirty="0">
                <a:solidFill>
                  <a:srgbClr val="0000FF"/>
                </a:solidFill>
              </a:endParaRPr>
            </a:p>
            <a:p>
              <a:pPr algn="just"/>
              <a:r>
                <a:rPr lang="en-US" sz="1800" dirty="0">
                  <a:solidFill>
                    <a:srgbClr val="FF0000"/>
                  </a:solidFill>
                </a:rPr>
                <a:t>	protected void a() {}</a:t>
              </a:r>
            </a:p>
            <a:p>
              <a:pPr algn="just"/>
              <a:r>
                <a:rPr lang="en-US" dirty="0">
                  <a:solidFill>
                    <a:srgbClr val="FF0000"/>
                  </a:solidFill>
                </a:rPr>
                <a:t>		(or)</a:t>
              </a:r>
              <a:endParaRPr lang="en-US" sz="1800" dirty="0">
                <a:solidFill>
                  <a:srgbClr val="FF0000"/>
                </a:solidFill>
              </a:endParaRPr>
            </a:p>
            <a:p>
              <a:pPr algn="just"/>
              <a:r>
                <a:rPr lang="en-US" sz="1800" dirty="0">
                  <a:solidFill>
                    <a:srgbClr val="FF0000"/>
                  </a:solidFill>
                </a:rPr>
                <a:t>	public void a() {}</a:t>
              </a:r>
            </a:p>
            <a:p>
              <a:pPr algn="just"/>
              <a:r>
                <a:rPr lang="en-US" sz="1800" dirty="0">
                  <a:solidFill>
                    <a:srgbClr val="FF0000"/>
                  </a:solidFill>
                </a:rPr>
                <a:t>}</a:t>
              </a:r>
              <a:endParaRPr lang="en-IN" dirty="0"/>
            </a:p>
          </p:txBody>
        </p:sp>
        <p:sp>
          <p:nvSpPr>
            <p:cNvPr id="26" name="TextBox 25">
              <a:extLst>
                <a:ext uri="{FF2B5EF4-FFF2-40B4-BE49-F238E27FC236}">
                  <a16:creationId xmlns:a16="http://schemas.microsoft.com/office/drawing/2014/main" id="{DD87EBFF-80F7-44F0-92D1-6824F6AB40B0}"/>
                </a:ext>
              </a:extLst>
            </p:cNvPr>
            <p:cNvSpPr txBox="1"/>
            <p:nvPr/>
          </p:nvSpPr>
          <p:spPr>
            <a:xfrm>
              <a:off x="544993" y="3696010"/>
              <a:ext cx="4027004" cy="3139321"/>
            </a:xfrm>
            <a:prstGeom prst="rect">
              <a:avLst/>
            </a:prstGeom>
            <a:noFill/>
          </p:spPr>
          <p:txBody>
            <a:bodyPr wrap="square">
              <a:spAutoFit/>
            </a:bodyPr>
            <a:lstStyle/>
            <a:p>
              <a:pPr algn="just"/>
              <a:r>
                <a:rPr lang="en-US" sz="1800" dirty="0">
                  <a:solidFill>
                    <a:srgbClr val="FF0000"/>
                  </a:solidFill>
                </a:rPr>
                <a:t>package b;</a:t>
              </a:r>
            </a:p>
            <a:p>
              <a:pPr algn="just"/>
              <a:r>
                <a:rPr lang="en-US" dirty="0">
                  <a:solidFill>
                    <a:srgbClr val="FF0000"/>
                  </a:solidFill>
                </a:rPr>
                <a:t>import </a:t>
              </a:r>
              <a:r>
                <a:rPr lang="en-US" dirty="0" err="1">
                  <a:solidFill>
                    <a:srgbClr val="FF0000"/>
                  </a:solidFill>
                </a:rPr>
                <a:t>a.A</a:t>
              </a:r>
              <a:r>
                <a:rPr lang="en-US" dirty="0">
                  <a:solidFill>
                    <a:srgbClr val="FF0000"/>
                  </a:solidFill>
                </a:rPr>
                <a:t>;</a:t>
              </a:r>
              <a:endParaRPr lang="en-US" sz="1800" dirty="0">
                <a:solidFill>
                  <a:srgbClr val="FF0000"/>
                </a:solidFill>
              </a:endParaRPr>
            </a:p>
            <a:p>
              <a:pPr algn="just"/>
              <a:r>
                <a:rPr lang="en-US" sz="1800" dirty="0">
                  <a:solidFill>
                    <a:srgbClr val="FF0000"/>
                  </a:solidFill>
                </a:rPr>
                <a:t>public class E {</a:t>
              </a:r>
            </a:p>
            <a:p>
              <a:pPr algn="just"/>
              <a:r>
                <a:rPr lang="en-US" sz="1800" dirty="0">
                  <a:solidFill>
                    <a:srgbClr val="FF0000"/>
                  </a:solidFill>
                </a:rPr>
                <a:t>	p s v main(String rags[]) {</a:t>
              </a:r>
            </a:p>
            <a:p>
              <a:pPr algn="just"/>
              <a:r>
                <a:rPr lang="en-US" dirty="0">
                  <a:solidFill>
                    <a:srgbClr val="FF0000"/>
                  </a:solidFill>
                </a:rPr>
                <a:t>		A a=new A();</a:t>
              </a:r>
            </a:p>
            <a:p>
              <a:pPr algn="just"/>
              <a:r>
                <a:rPr lang="en-US" dirty="0">
                  <a:solidFill>
                    <a:srgbClr val="FF0000"/>
                  </a:solidFill>
                </a:rPr>
                <a:t>		</a:t>
              </a:r>
              <a:r>
                <a:rPr lang="en-US" dirty="0" err="1">
                  <a:solidFill>
                    <a:srgbClr val="FF0000"/>
                  </a:solidFill>
                </a:rPr>
                <a:t>a.a</a:t>
              </a:r>
              <a:r>
                <a:rPr lang="en-US" dirty="0">
                  <a:solidFill>
                    <a:srgbClr val="FF0000"/>
                  </a:solidFill>
                </a:rPr>
                <a:t>(); </a:t>
              </a:r>
            </a:p>
            <a:p>
              <a:pPr algn="just"/>
              <a:r>
                <a:rPr lang="en-US" sz="1600" b="1" dirty="0">
                  <a:solidFill>
                    <a:srgbClr val="0000FF"/>
                  </a:solidFill>
                </a:rPr>
                <a:t>// error protected method cannot be accessed in instantiated class outside the package</a:t>
              </a:r>
            </a:p>
            <a:p>
              <a:pPr algn="just"/>
              <a:r>
                <a:rPr lang="en-US" sz="1800" dirty="0">
                  <a:solidFill>
                    <a:srgbClr val="FF0000"/>
                  </a:solidFill>
                </a:rPr>
                <a:t>	}</a:t>
              </a:r>
            </a:p>
            <a:p>
              <a:pPr algn="just"/>
              <a:r>
                <a:rPr lang="en-US" sz="1800" dirty="0">
                  <a:solidFill>
                    <a:srgbClr val="FF0000"/>
                  </a:solidFill>
                </a:rPr>
                <a:t>}</a:t>
              </a:r>
              <a:endParaRPr lang="en-IN" dirty="0"/>
            </a:p>
          </p:txBody>
        </p:sp>
        <p:sp>
          <p:nvSpPr>
            <p:cNvPr id="28" name="TextBox 27">
              <a:extLst>
                <a:ext uri="{FF2B5EF4-FFF2-40B4-BE49-F238E27FC236}">
                  <a16:creationId xmlns:a16="http://schemas.microsoft.com/office/drawing/2014/main" id="{688A9FAE-8F5D-43D4-84E2-379D69B92FB0}"/>
                </a:ext>
              </a:extLst>
            </p:cNvPr>
            <p:cNvSpPr txBox="1"/>
            <p:nvPr/>
          </p:nvSpPr>
          <p:spPr>
            <a:xfrm>
              <a:off x="5211969" y="4457031"/>
              <a:ext cx="4027004" cy="2031325"/>
            </a:xfrm>
            <a:prstGeom prst="rect">
              <a:avLst/>
            </a:prstGeom>
            <a:noFill/>
          </p:spPr>
          <p:txBody>
            <a:bodyPr wrap="square">
              <a:spAutoFit/>
            </a:bodyPr>
            <a:lstStyle/>
            <a:p>
              <a:pPr algn="just"/>
              <a:r>
                <a:rPr lang="en-US" sz="1800" dirty="0">
                  <a:solidFill>
                    <a:srgbClr val="FF0000"/>
                  </a:solidFill>
                </a:rPr>
                <a:t>package b;</a:t>
              </a:r>
            </a:p>
            <a:p>
              <a:pPr algn="just"/>
              <a:r>
                <a:rPr lang="en-US" sz="1800" dirty="0">
                  <a:solidFill>
                    <a:srgbClr val="FF0000"/>
                  </a:solidFill>
                </a:rPr>
                <a:t>public class F {</a:t>
              </a:r>
            </a:p>
            <a:p>
              <a:pPr algn="just"/>
              <a:r>
                <a:rPr lang="en-US" sz="1800" dirty="0">
                  <a:solidFill>
                    <a:srgbClr val="FF0000"/>
                  </a:solidFill>
                </a:rPr>
                <a:t>	p s v main(String rags[]) {</a:t>
              </a:r>
            </a:p>
            <a:p>
              <a:pPr algn="just"/>
              <a:r>
                <a:rPr lang="en-US" dirty="0">
                  <a:solidFill>
                    <a:srgbClr val="FF0000"/>
                  </a:solidFill>
                </a:rPr>
                <a:t>		D d=new D();</a:t>
              </a:r>
            </a:p>
            <a:p>
              <a:pPr algn="just"/>
              <a:r>
                <a:rPr lang="en-US" dirty="0">
                  <a:solidFill>
                    <a:srgbClr val="FF0000"/>
                  </a:solidFill>
                </a:rPr>
                <a:t>		</a:t>
              </a:r>
              <a:r>
                <a:rPr lang="en-US" dirty="0" err="1">
                  <a:solidFill>
                    <a:srgbClr val="FF0000"/>
                  </a:solidFill>
                </a:rPr>
                <a:t>d.b</a:t>
              </a:r>
              <a:r>
                <a:rPr lang="en-US" dirty="0">
                  <a:solidFill>
                    <a:srgbClr val="FF0000"/>
                  </a:solidFill>
                </a:rPr>
                <a:t>();</a:t>
              </a:r>
            </a:p>
            <a:p>
              <a:pPr algn="just"/>
              <a:r>
                <a:rPr lang="en-US" sz="1800" dirty="0">
                  <a:solidFill>
                    <a:srgbClr val="FF0000"/>
                  </a:solidFill>
                </a:rPr>
                <a:t>	}</a:t>
              </a:r>
            </a:p>
            <a:p>
              <a:pPr algn="just"/>
              <a:r>
                <a:rPr lang="en-US" sz="1800" dirty="0">
                  <a:solidFill>
                    <a:srgbClr val="FF0000"/>
                  </a:solidFill>
                </a:rPr>
                <a:t>}</a:t>
              </a:r>
              <a:endParaRPr lang="en-IN" dirty="0"/>
            </a:p>
          </p:txBody>
        </p:sp>
      </p:grpSp>
      <p:sp>
        <p:nvSpPr>
          <p:cNvPr id="8" name="Footer Placeholder 7">
            <a:extLst>
              <a:ext uri="{FF2B5EF4-FFF2-40B4-BE49-F238E27FC236}">
                <a16:creationId xmlns:a16="http://schemas.microsoft.com/office/drawing/2014/main" id="{FF62B6BB-288D-8313-6E90-B04188DD01C6}"/>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07409140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461665"/>
              </a:xfrm>
              <a:prstGeom prst="rect">
                <a:avLst/>
              </a:prstGeom>
            </p:spPr>
            <p:txBody>
              <a:bodyPr wrap="square">
                <a:spAutoFit/>
              </a:bodyPr>
              <a:lstStyle/>
              <a:p>
                <a:pPr algn="ctr"/>
                <a:r>
                  <a:rPr lang="en-US" sz="2400" b="1" dirty="0">
                    <a:solidFill>
                      <a:schemeClr val="bg1"/>
                    </a:solidFill>
                    <a:latin typeface="Bookman Old Style" panose="02050604050505020204" pitchFamily="18" charset="0"/>
                  </a:rPr>
                  <a:t>Method Syntax</a:t>
                </a:r>
                <a:endParaRPr lang="en-US" sz="105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27" name="TextBox 26">
            <a:extLst>
              <a:ext uri="{FF2B5EF4-FFF2-40B4-BE49-F238E27FC236}">
                <a16:creationId xmlns:a16="http://schemas.microsoft.com/office/drawing/2014/main" id="{B391ADAD-C3D9-4175-B2AC-F9254A693EC0}"/>
              </a:ext>
            </a:extLst>
          </p:cNvPr>
          <p:cNvSpPr txBox="1"/>
          <p:nvPr/>
        </p:nvSpPr>
        <p:spPr>
          <a:xfrm>
            <a:off x="571500" y="917715"/>
            <a:ext cx="8628821" cy="2462213"/>
          </a:xfrm>
          <a:prstGeom prst="rect">
            <a:avLst/>
          </a:prstGeom>
          <a:noFill/>
        </p:spPr>
        <p:txBody>
          <a:bodyPr wrap="square">
            <a:spAutoFit/>
          </a:bodyPr>
          <a:lstStyle/>
          <a:p>
            <a:r>
              <a:rPr lang="en-IN" sz="2800" b="1" dirty="0"/>
              <a:t>access modifiers:</a:t>
            </a:r>
          </a:p>
          <a:p>
            <a:pPr algn="just"/>
            <a:r>
              <a:rPr lang="en-IN" b="1" u="sng" dirty="0">
                <a:solidFill>
                  <a:srgbClr val="FF0000"/>
                </a:solidFill>
              </a:rPr>
              <a:t>abstract:</a:t>
            </a:r>
          </a:p>
          <a:p>
            <a:pPr marL="285750" indent="-285750">
              <a:buFont typeface="Wingdings" panose="05000000000000000000" pitchFamily="2" charset="2"/>
              <a:buChar char="v"/>
            </a:pPr>
            <a:r>
              <a:rPr lang="en-IN" dirty="0"/>
              <a:t>method which is declared but not implemented is declared as abstract</a:t>
            </a:r>
          </a:p>
          <a:p>
            <a:pPr marL="285750" indent="-285750">
              <a:buFont typeface="Wingdings" panose="05000000000000000000" pitchFamily="2" charset="2"/>
              <a:buChar char="v"/>
            </a:pPr>
            <a:r>
              <a:rPr lang="en-IN" dirty="0"/>
              <a:t>no method implementation/no flower braces exist for abstract method</a:t>
            </a:r>
          </a:p>
          <a:p>
            <a:pPr marL="285750" indent="-285750">
              <a:buFont typeface="Wingdings" panose="05000000000000000000" pitchFamily="2" charset="2"/>
              <a:buChar char="v"/>
            </a:pPr>
            <a:r>
              <a:rPr lang="en-IN" dirty="0"/>
              <a:t>class which contains abstract method must also be declared as abstract</a:t>
            </a:r>
          </a:p>
          <a:p>
            <a:pPr marL="285750" indent="-285750">
              <a:buFont typeface="Wingdings" panose="05000000000000000000" pitchFamily="2" charset="2"/>
              <a:buChar char="v"/>
            </a:pPr>
            <a:r>
              <a:rPr lang="en-IN" dirty="0"/>
              <a:t>But abstract class need not contain abstract methods</a:t>
            </a:r>
          </a:p>
          <a:p>
            <a:pPr marL="285750" indent="-285750">
              <a:buFont typeface="Wingdings" panose="05000000000000000000" pitchFamily="2" charset="2"/>
              <a:buChar char="v"/>
            </a:pPr>
            <a:r>
              <a:rPr lang="en-IN" dirty="0"/>
              <a:t>Abstract methods must be implemented in sub classes</a:t>
            </a:r>
          </a:p>
          <a:p>
            <a:pPr marL="285750" indent="-285750">
              <a:buFont typeface="Wingdings" panose="05000000000000000000" pitchFamily="2" charset="2"/>
              <a:buChar char="v"/>
            </a:pPr>
            <a:r>
              <a:rPr lang="en-IN" dirty="0"/>
              <a:t>Abstraction importance is to achieve runtime polymorphism</a:t>
            </a:r>
          </a:p>
        </p:txBody>
      </p:sp>
      <p:sp>
        <p:nvSpPr>
          <p:cNvPr id="29" name="TextBox 28">
            <a:extLst>
              <a:ext uri="{FF2B5EF4-FFF2-40B4-BE49-F238E27FC236}">
                <a16:creationId xmlns:a16="http://schemas.microsoft.com/office/drawing/2014/main" id="{C9F54E1D-D74E-4AAD-B383-A074E36CA73E}"/>
              </a:ext>
            </a:extLst>
          </p:cNvPr>
          <p:cNvSpPr txBox="1"/>
          <p:nvPr/>
        </p:nvSpPr>
        <p:spPr>
          <a:xfrm>
            <a:off x="1457739" y="3657486"/>
            <a:ext cx="7742582" cy="2616101"/>
          </a:xfrm>
          <a:prstGeom prst="rect">
            <a:avLst/>
          </a:prstGeom>
          <a:noFill/>
        </p:spPr>
        <p:txBody>
          <a:bodyPr wrap="square">
            <a:spAutoFit/>
          </a:bodyPr>
          <a:lstStyle/>
          <a:p>
            <a:pPr algn="just"/>
            <a:r>
              <a:rPr lang="en-US" sz="2000" b="1" u="sng" dirty="0">
                <a:solidFill>
                  <a:srgbClr val="FF0000"/>
                </a:solidFill>
              </a:rPr>
              <a:t>final:</a:t>
            </a:r>
          </a:p>
          <a:p>
            <a:pPr marL="285750" indent="-285750" algn="just">
              <a:buFont typeface="Wingdings" panose="05000000000000000000" pitchFamily="2" charset="2"/>
              <a:buChar char="v"/>
            </a:pPr>
            <a:r>
              <a:rPr lang="en-US" dirty="0"/>
              <a:t>Methods which don't want to be overridden in sub classes are declared as final.</a:t>
            </a:r>
          </a:p>
          <a:p>
            <a:pPr marL="285750" indent="-285750" algn="just">
              <a:buFont typeface="Wingdings" panose="05000000000000000000" pitchFamily="2" charset="2"/>
              <a:buChar char="v"/>
            </a:pPr>
            <a:r>
              <a:rPr lang="en-US" dirty="0"/>
              <a:t>If all the methods of a class want to be declared as final, instead of declaring all the methods as final, declare class itself as final. When there is no inheritance there is no overriding.</a:t>
            </a:r>
          </a:p>
          <a:p>
            <a:pPr marL="285750" indent="-285750" algn="just">
              <a:buFont typeface="Wingdings" panose="05000000000000000000" pitchFamily="2" charset="2"/>
              <a:buChar char="v"/>
            </a:pPr>
            <a:r>
              <a:rPr lang="en-US" dirty="0"/>
              <a:t>For better memory optimization it is recommended to declare final methods as static also.</a:t>
            </a:r>
          </a:p>
          <a:p>
            <a:pPr marL="285750" indent="-285750" algn="just">
              <a:buFont typeface="Wingdings" panose="05000000000000000000" pitchFamily="2" charset="2"/>
              <a:buChar char="v"/>
            </a:pPr>
            <a:r>
              <a:rPr lang="en-US" dirty="0"/>
              <a:t>But not all static methods are final.</a:t>
            </a:r>
          </a:p>
        </p:txBody>
      </p:sp>
      <p:sp>
        <p:nvSpPr>
          <p:cNvPr id="7" name="Footer Placeholder 6">
            <a:extLst>
              <a:ext uri="{FF2B5EF4-FFF2-40B4-BE49-F238E27FC236}">
                <a16:creationId xmlns:a16="http://schemas.microsoft.com/office/drawing/2014/main" id="{9D84DFF8-E868-CFF8-B9AD-07765853E13B}"/>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30497404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461665"/>
              </a:xfrm>
              <a:prstGeom prst="rect">
                <a:avLst/>
              </a:prstGeom>
            </p:spPr>
            <p:txBody>
              <a:bodyPr wrap="square">
                <a:spAutoFit/>
              </a:bodyPr>
              <a:lstStyle/>
              <a:p>
                <a:pPr algn="ctr"/>
                <a:r>
                  <a:rPr lang="en-US" sz="2400" b="1" dirty="0">
                    <a:solidFill>
                      <a:schemeClr val="bg1"/>
                    </a:solidFill>
                    <a:latin typeface="Bookman Old Style" panose="02050604050505020204" pitchFamily="18" charset="0"/>
                  </a:rPr>
                  <a:t>Method Syntax</a:t>
                </a:r>
                <a:endParaRPr lang="en-US" sz="105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27" name="TextBox 26">
            <a:extLst>
              <a:ext uri="{FF2B5EF4-FFF2-40B4-BE49-F238E27FC236}">
                <a16:creationId xmlns:a16="http://schemas.microsoft.com/office/drawing/2014/main" id="{B391ADAD-C3D9-4175-B2AC-F9254A693EC0}"/>
              </a:ext>
            </a:extLst>
          </p:cNvPr>
          <p:cNvSpPr txBox="1"/>
          <p:nvPr/>
        </p:nvSpPr>
        <p:spPr>
          <a:xfrm>
            <a:off x="571500" y="798447"/>
            <a:ext cx="8628821" cy="4462760"/>
          </a:xfrm>
          <a:prstGeom prst="rect">
            <a:avLst/>
          </a:prstGeom>
          <a:noFill/>
        </p:spPr>
        <p:txBody>
          <a:bodyPr wrap="square">
            <a:spAutoFit/>
          </a:bodyPr>
          <a:lstStyle/>
          <a:p>
            <a:pPr algn="just"/>
            <a:r>
              <a:rPr lang="en-US" sz="2800" b="1" u="sng" dirty="0">
                <a:solidFill>
                  <a:srgbClr val="FF0000"/>
                </a:solidFill>
              </a:rPr>
              <a:t>static:</a:t>
            </a:r>
          </a:p>
          <a:p>
            <a:pPr algn="just"/>
            <a:r>
              <a:rPr lang="en-US" sz="2400" dirty="0"/>
              <a:t>static methods will have only one copy of memory. non-static methods will have instance methods. static methods are called as class methods. non-static methods are called as class instance methods.</a:t>
            </a:r>
          </a:p>
          <a:p>
            <a:pPr algn="just"/>
            <a:endParaRPr lang="en-US" sz="1600" dirty="0"/>
          </a:p>
          <a:p>
            <a:pPr algn="just"/>
            <a:r>
              <a:rPr lang="en-IN" sz="2400" b="1" u="sng" dirty="0">
                <a:solidFill>
                  <a:srgbClr val="FF0000"/>
                </a:solidFill>
              </a:rPr>
              <a:t>native:</a:t>
            </a:r>
            <a:r>
              <a:rPr lang="en-IN" sz="2400" u="sng" dirty="0"/>
              <a:t> </a:t>
            </a:r>
            <a:r>
              <a:rPr lang="en-IN" sz="2400" dirty="0"/>
              <a:t>Methods declared in java and implemented in C or any native language is called as native method.</a:t>
            </a:r>
          </a:p>
          <a:p>
            <a:pPr algn="just"/>
            <a:r>
              <a:rPr lang="en-IN" sz="2400" dirty="0"/>
              <a:t> </a:t>
            </a:r>
          </a:p>
          <a:p>
            <a:pPr algn="just"/>
            <a:r>
              <a:rPr lang="en-IN" sz="2400" b="1" u="sng" dirty="0">
                <a:solidFill>
                  <a:srgbClr val="FF0000"/>
                </a:solidFill>
              </a:rPr>
              <a:t>synchronized:</a:t>
            </a:r>
            <a:r>
              <a:rPr lang="en-IN" sz="2400" u="sng" dirty="0">
                <a:solidFill>
                  <a:srgbClr val="FF0000"/>
                </a:solidFill>
              </a:rPr>
              <a:t> </a:t>
            </a:r>
            <a:r>
              <a:rPr lang="en-IN" sz="2400" dirty="0"/>
              <a:t>Threads; We can declare synchronized methods in threads. To control concurrent execution of threads method is declare as synchronized.</a:t>
            </a:r>
            <a:endParaRPr lang="en-IN" sz="1600" dirty="0"/>
          </a:p>
        </p:txBody>
      </p:sp>
      <p:sp>
        <p:nvSpPr>
          <p:cNvPr id="7" name="Footer Placeholder 6">
            <a:extLst>
              <a:ext uri="{FF2B5EF4-FFF2-40B4-BE49-F238E27FC236}">
                <a16:creationId xmlns:a16="http://schemas.microsoft.com/office/drawing/2014/main" id="{845EEDB7-B4CA-74CC-6BF1-EC1D3AE01FC7}"/>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22925208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461665"/>
              </a:xfrm>
              <a:prstGeom prst="rect">
                <a:avLst/>
              </a:prstGeom>
            </p:spPr>
            <p:txBody>
              <a:bodyPr wrap="square">
                <a:spAutoFit/>
              </a:bodyPr>
              <a:lstStyle/>
              <a:p>
                <a:pPr algn="ctr"/>
                <a:r>
                  <a:rPr lang="en-US" sz="2400" b="1" dirty="0">
                    <a:solidFill>
                      <a:schemeClr val="bg1"/>
                    </a:solidFill>
                    <a:latin typeface="Bookman Old Style" panose="02050604050505020204" pitchFamily="18" charset="0"/>
                  </a:rPr>
                  <a:t>Method Syntax</a:t>
                </a:r>
                <a:endParaRPr lang="en-US" sz="105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27" name="TextBox 26">
            <a:extLst>
              <a:ext uri="{FF2B5EF4-FFF2-40B4-BE49-F238E27FC236}">
                <a16:creationId xmlns:a16="http://schemas.microsoft.com/office/drawing/2014/main" id="{B391ADAD-C3D9-4175-B2AC-F9254A693EC0}"/>
              </a:ext>
            </a:extLst>
          </p:cNvPr>
          <p:cNvSpPr txBox="1"/>
          <p:nvPr/>
        </p:nvSpPr>
        <p:spPr>
          <a:xfrm>
            <a:off x="571500" y="798447"/>
            <a:ext cx="8628821" cy="5232202"/>
          </a:xfrm>
          <a:prstGeom prst="rect">
            <a:avLst/>
          </a:prstGeom>
          <a:noFill/>
        </p:spPr>
        <p:txBody>
          <a:bodyPr wrap="square">
            <a:spAutoFit/>
          </a:bodyPr>
          <a:lstStyle/>
          <a:p>
            <a:pPr algn="just"/>
            <a:r>
              <a:rPr lang="en-US" sz="2800" u="sng" dirty="0">
                <a:solidFill>
                  <a:srgbClr val="FF0000"/>
                </a:solidFill>
              </a:rPr>
              <a:t>Example on abstract method:</a:t>
            </a:r>
          </a:p>
          <a:p>
            <a:pPr algn="just"/>
            <a:r>
              <a:rPr lang="en-IN" b="1" dirty="0"/>
              <a:t>// EmpPayroll.java</a:t>
            </a:r>
          </a:p>
          <a:p>
            <a:pPr algn="just"/>
            <a:r>
              <a:rPr lang="en-IN" dirty="0"/>
              <a:t>public class </a:t>
            </a:r>
            <a:r>
              <a:rPr lang="en-IN" dirty="0" err="1"/>
              <a:t>EmpPayroll</a:t>
            </a:r>
            <a:r>
              <a:rPr lang="en-IN" dirty="0"/>
              <a:t> {</a:t>
            </a:r>
          </a:p>
          <a:p>
            <a:pPr algn="just"/>
            <a:r>
              <a:rPr lang="en-IN" dirty="0"/>
              <a:t>  public void </a:t>
            </a:r>
            <a:r>
              <a:rPr lang="en-IN" dirty="0" err="1"/>
              <a:t>calSal</a:t>
            </a:r>
            <a:r>
              <a:rPr lang="en-IN" dirty="0"/>
              <a:t>();</a:t>
            </a:r>
          </a:p>
          <a:p>
            <a:pPr algn="just"/>
            <a:r>
              <a:rPr lang="en-IN" dirty="0"/>
              <a:t>}</a:t>
            </a:r>
          </a:p>
          <a:p>
            <a:pPr algn="just"/>
            <a:endParaRPr lang="en-IN" dirty="0"/>
          </a:p>
          <a:p>
            <a:pPr algn="just"/>
            <a:r>
              <a:rPr lang="en-IN" b="1" dirty="0"/>
              <a:t>// AdminEmpPayroll.java</a:t>
            </a:r>
          </a:p>
          <a:p>
            <a:pPr algn="just"/>
            <a:r>
              <a:rPr lang="en-IN" dirty="0"/>
              <a:t>public class </a:t>
            </a:r>
            <a:r>
              <a:rPr lang="en-IN" dirty="0" err="1"/>
              <a:t>AdminEmpPayroll</a:t>
            </a:r>
            <a:r>
              <a:rPr lang="en-IN" dirty="0"/>
              <a:t> extends </a:t>
            </a:r>
            <a:r>
              <a:rPr lang="en-IN" dirty="0" err="1"/>
              <a:t>EmpPayroll</a:t>
            </a:r>
            <a:r>
              <a:rPr lang="en-IN" dirty="0"/>
              <a:t> {</a:t>
            </a:r>
          </a:p>
          <a:p>
            <a:pPr algn="just"/>
            <a:r>
              <a:rPr lang="en-IN" dirty="0"/>
              <a:t>  public void </a:t>
            </a:r>
            <a:r>
              <a:rPr lang="en-IN" dirty="0" err="1"/>
              <a:t>calSal</a:t>
            </a:r>
            <a:r>
              <a:rPr lang="en-IN" dirty="0"/>
              <a:t>() {</a:t>
            </a:r>
          </a:p>
          <a:p>
            <a:pPr algn="just"/>
            <a:r>
              <a:rPr lang="en-IN" dirty="0"/>
              <a:t>    System.out.println("Admin Emp Payroll is : now*</a:t>
            </a:r>
            <a:r>
              <a:rPr lang="en-IN" dirty="0" err="1"/>
              <a:t>pds</a:t>
            </a:r>
            <a:r>
              <a:rPr lang="en-IN" dirty="0"/>
              <a:t>");</a:t>
            </a:r>
          </a:p>
          <a:p>
            <a:pPr algn="just"/>
            <a:r>
              <a:rPr lang="en-IN" dirty="0"/>
              <a:t>  }</a:t>
            </a:r>
          </a:p>
          <a:p>
            <a:pPr algn="just"/>
            <a:r>
              <a:rPr lang="en-IN" dirty="0"/>
              <a:t>}</a:t>
            </a:r>
            <a:endParaRPr lang="en-US" sz="2800" dirty="0"/>
          </a:p>
          <a:p>
            <a:pPr algn="just"/>
            <a:r>
              <a:rPr lang="en-IN" b="1" dirty="0"/>
              <a:t>// SalesEmpPayroll.java</a:t>
            </a:r>
          </a:p>
          <a:p>
            <a:pPr algn="just"/>
            <a:r>
              <a:rPr lang="en-IN" dirty="0"/>
              <a:t>public class </a:t>
            </a:r>
            <a:r>
              <a:rPr lang="en-IN" dirty="0" err="1"/>
              <a:t>SalesEmpPayroll</a:t>
            </a:r>
            <a:r>
              <a:rPr lang="en-IN" dirty="0"/>
              <a:t> extends </a:t>
            </a:r>
            <a:r>
              <a:rPr lang="en-IN" dirty="0" err="1"/>
              <a:t>EmpPayroll</a:t>
            </a:r>
            <a:r>
              <a:rPr lang="en-IN" dirty="0"/>
              <a:t> {</a:t>
            </a:r>
          </a:p>
          <a:p>
            <a:pPr algn="just"/>
            <a:r>
              <a:rPr lang="en-IN" dirty="0"/>
              <a:t>  public void </a:t>
            </a:r>
            <a:r>
              <a:rPr lang="en-IN" dirty="0" err="1"/>
              <a:t>calSal</a:t>
            </a:r>
            <a:r>
              <a:rPr lang="en-IN" dirty="0"/>
              <a:t>() {</a:t>
            </a:r>
          </a:p>
          <a:p>
            <a:pPr algn="just"/>
            <a:r>
              <a:rPr lang="en-IN" dirty="0"/>
              <a:t>    System.out.println("Sales Emp Payroll is : (now*</a:t>
            </a:r>
            <a:r>
              <a:rPr lang="en-IN" dirty="0" err="1"/>
              <a:t>pds</a:t>
            </a:r>
            <a:r>
              <a:rPr lang="en-IN" dirty="0"/>
              <a:t>)+(</a:t>
            </a:r>
            <a:r>
              <a:rPr lang="en-IN" dirty="0" err="1"/>
              <a:t>salesamt</a:t>
            </a:r>
            <a:r>
              <a:rPr lang="en-IN" dirty="0"/>
              <a:t>*perc)");</a:t>
            </a:r>
          </a:p>
          <a:p>
            <a:pPr algn="just"/>
            <a:r>
              <a:rPr lang="en-IN" dirty="0"/>
              <a:t>  }</a:t>
            </a:r>
          </a:p>
          <a:p>
            <a:pPr algn="just"/>
            <a:r>
              <a:rPr lang="en-IN" dirty="0"/>
              <a:t>}</a:t>
            </a:r>
          </a:p>
        </p:txBody>
      </p:sp>
      <p:sp>
        <p:nvSpPr>
          <p:cNvPr id="7" name="Footer Placeholder 6">
            <a:extLst>
              <a:ext uri="{FF2B5EF4-FFF2-40B4-BE49-F238E27FC236}">
                <a16:creationId xmlns:a16="http://schemas.microsoft.com/office/drawing/2014/main" id="{C6678584-815B-DB39-B070-47D3F86DE0D6}"/>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426927850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461665"/>
              </a:xfrm>
              <a:prstGeom prst="rect">
                <a:avLst/>
              </a:prstGeom>
            </p:spPr>
            <p:txBody>
              <a:bodyPr wrap="square">
                <a:spAutoFit/>
              </a:bodyPr>
              <a:lstStyle/>
              <a:p>
                <a:pPr algn="ctr"/>
                <a:r>
                  <a:rPr lang="en-US" sz="2400" b="1" dirty="0">
                    <a:solidFill>
                      <a:schemeClr val="bg1"/>
                    </a:solidFill>
                    <a:latin typeface="Bookman Old Style" panose="02050604050505020204" pitchFamily="18" charset="0"/>
                  </a:rPr>
                  <a:t>Method Syntax</a:t>
                </a:r>
                <a:endParaRPr lang="en-US" sz="105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27" name="TextBox 26">
            <a:extLst>
              <a:ext uri="{FF2B5EF4-FFF2-40B4-BE49-F238E27FC236}">
                <a16:creationId xmlns:a16="http://schemas.microsoft.com/office/drawing/2014/main" id="{B391ADAD-C3D9-4175-B2AC-F9254A693EC0}"/>
              </a:ext>
            </a:extLst>
          </p:cNvPr>
          <p:cNvSpPr txBox="1"/>
          <p:nvPr/>
        </p:nvSpPr>
        <p:spPr>
          <a:xfrm>
            <a:off x="332965" y="798447"/>
            <a:ext cx="7936396" cy="5078313"/>
          </a:xfrm>
          <a:prstGeom prst="rect">
            <a:avLst/>
          </a:prstGeom>
          <a:noFill/>
        </p:spPr>
        <p:txBody>
          <a:bodyPr wrap="square">
            <a:spAutoFit/>
          </a:bodyPr>
          <a:lstStyle/>
          <a:p>
            <a:pPr algn="just"/>
            <a:r>
              <a:rPr lang="en-IN" b="1" dirty="0"/>
              <a:t>// ProdEmpPayroll.java</a:t>
            </a:r>
          </a:p>
          <a:p>
            <a:pPr algn="just"/>
            <a:r>
              <a:rPr lang="en-IN" dirty="0"/>
              <a:t>public class </a:t>
            </a:r>
            <a:r>
              <a:rPr lang="en-IN" dirty="0" err="1"/>
              <a:t>ProdEmpPayroll</a:t>
            </a:r>
            <a:r>
              <a:rPr lang="en-IN" dirty="0"/>
              <a:t> extends </a:t>
            </a:r>
            <a:r>
              <a:rPr lang="en-IN" dirty="0" err="1"/>
              <a:t>EmpPayroll</a:t>
            </a:r>
            <a:r>
              <a:rPr lang="en-IN" dirty="0"/>
              <a:t> {</a:t>
            </a:r>
          </a:p>
          <a:p>
            <a:pPr algn="just"/>
            <a:r>
              <a:rPr lang="en-IN" dirty="0"/>
              <a:t>  public void </a:t>
            </a:r>
            <a:r>
              <a:rPr lang="en-IN" dirty="0" err="1"/>
              <a:t>calSal</a:t>
            </a:r>
            <a:r>
              <a:rPr lang="en-IN" dirty="0"/>
              <a:t>() {</a:t>
            </a:r>
          </a:p>
          <a:p>
            <a:pPr algn="just"/>
            <a:r>
              <a:rPr lang="en-IN" dirty="0"/>
              <a:t>    System.out.println("Prod Emp Payroll is : (now*</a:t>
            </a:r>
            <a:r>
              <a:rPr lang="en-IN" dirty="0" err="1"/>
              <a:t>pds</a:t>
            </a:r>
            <a:r>
              <a:rPr lang="en-IN" dirty="0"/>
              <a:t>)+(</a:t>
            </a:r>
            <a:r>
              <a:rPr lang="en-IN" dirty="0" err="1"/>
              <a:t>overtimehours</a:t>
            </a:r>
            <a:r>
              <a:rPr lang="en-IN" dirty="0"/>
              <a:t>*</a:t>
            </a:r>
            <a:r>
              <a:rPr lang="en-IN" dirty="0" err="1"/>
              <a:t>othamt</a:t>
            </a:r>
            <a:r>
              <a:rPr lang="en-IN" dirty="0"/>
              <a:t>)");</a:t>
            </a:r>
          </a:p>
          <a:p>
            <a:pPr algn="just"/>
            <a:r>
              <a:rPr lang="en-IN" dirty="0"/>
              <a:t>  }</a:t>
            </a:r>
          </a:p>
          <a:p>
            <a:pPr algn="just"/>
            <a:r>
              <a:rPr lang="en-IN" dirty="0"/>
              <a:t>}</a:t>
            </a:r>
          </a:p>
          <a:p>
            <a:pPr algn="just"/>
            <a:endParaRPr lang="en-IN" dirty="0"/>
          </a:p>
          <a:p>
            <a:pPr algn="just"/>
            <a:r>
              <a:rPr lang="en-IN" b="1" dirty="0"/>
              <a:t>// EPFactory.java</a:t>
            </a:r>
          </a:p>
          <a:p>
            <a:pPr algn="just"/>
            <a:r>
              <a:rPr lang="en-IN" dirty="0"/>
              <a:t>public class </a:t>
            </a:r>
            <a:r>
              <a:rPr lang="en-IN" dirty="0" err="1"/>
              <a:t>EPFactory</a:t>
            </a:r>
            <a:r>
              <a:rPr lang="en-IN" dirty="0"/>
              <a:t> {</a:t>
            </a:r>
          </a:p>
          <a:p>
            <a:pPr algn="just"/>
            <a:r>
              <a:rPr lang="en-IN" dirty="0"/>
              <a:t>  public static </a:t>
            </a:r>
            <a:r>
              <a:rPr lang="en-IN" dirty="0" err="1"/>
              <a:t>EmpPayroll</a:t>
            </a:r>
            <a:r>
              <a:rPr lang="en-IN" dirty="0"/>
              <a:t> </a:t>
            </a:r>
            <a:r>
              <a:rPr lang="en-IN" dirty="0" err="1"/>
              <a:t>getEmpPayroll</a:t>
            </a:r>
            <a:r>
              <a:rPr lang="en-IN" dirty="0"/>
              <a:t>(String type) {</a:t>
            </a:r>
          </a:p>
          <a:p>
            <a:pPr algn="just"/>
            <a:r>
              <a:rPr lang="en-IN" dirty="0"/>
              <a:t>    if(</a:t>
            </a:r>
            <a:r>
              <a:rPr lang="en-IN" dirty="0" err="1"/>
              <a:t>type.equalsIgnoreCase</a:t>
            </a:r>
            <a:r>
              <a:rPr lang="en-IN" dirty="0"/>
              <a:t>("admin"))</a:t>
            </a:r>
          </a:p>
          <a:p>
            <a:pPr algn="just"/>
            <a:r>
              <a:rPr lang="en-IN" dirty="0"/>
              <a:t>	  return new </a:t>
            </a:r>
            <a:r>
              <a:rPr lang="en-IN" dirty="0" err="1"/>
              <a:t>AdminEmpPayroll</a:t>
            </a:r>
            <a:r>
              <a:rPr lang="en-IN" dirty="0"/>
              <a:t>();</a:t>
            </a:r>
          </a:p>
          <a:p>
            <a:pPr algn="just"/>
            <a:r>
              <a:rPr lang="en-IN" dirty="0"/>
              <a:t>    else if(</a:t>
            </a:r>
            <a:r>
              <a:rPr lang="en-IN" dirty="0" err="1"/>
              <a:t>type.equalsIgnoreCase</a:t>
            </a:r>
            <a:r>
              <a:rPr lang="en-IN" dirty="0"/>
              <a:t>("sales"))</a:t>
            </a:r>
          </a:p>
          <a:p>
            <a:pPr algn="just"/>
            <a:r>
              <a:rPr lang="en-IN" dirty="0"/>
              <a:t>	  return new </a:t>
            </a:r>
            <a:r>
              <a:rPr lang="en-IN" dirty="0" err="1"/>
              <a:t>SalesEmpPayroll</a:t>
            </a:r>
            <a:r>
              <a:rPr lang="en-IN" dirty="0"/>
              <a:t>();</a:t>
            </a:r>
          </a:p>
          <a:p>
            <a:pPr algn="just"/>
            <a:r>
              <a:rPr lang="en-IN" dirty="0"/>
              <a:t>    else</a:t>
            </a:r>
          </a:p>
          <a:p>
            <a:pPr algn="just"/>
            <a:r>
              <a:rPr lang="en-IN" dirty="0"/>
              <a:t>	  return new </a:t>
            </a:r>
            <a:r>
              <a:rPr lang="en-IN" dirty="0" err="1"/>
              <a:t>ProdEmpPayroll</a:t>
            </a:r>
            <a:r>
              <a:rPr lang="en-IN" dirty="0"/>
              <a:t>();</a:t>
            </a:r>
          </a:p>
          <a:p>
            <a:pPr algn="just"/>
            <a:r>
              <a:rPr lang="en-IN" dirty="0"/>
              <a:t>  }</a:t>
            </a:r>
          </a:p>
          <a:p>
            <a:pPr algn="just"/>
            <a:r>
              <a:rPr lang="en-IN" dirty="0"/>
              <a:t>}</a:t>
            </a:r>
          </a:p>
        </p:txBody>
      </p:sp>
      <p:sp>
        <p:nvSpPr>
          <p:cNvPr id="19" name="TextBox 18">
            <a:extLst>
              <a:ext uri="{FF2B5EF4-FFF2-40B4-BE49-F238E27FC236}">
                <a16:creationId xmlns:a16="http://schemas.microsoft.com/office/drawing/2014/main" id="{9B1C86EA-EB6F-479C-9BE3-ACFBFBE9894C}"/>
              </a:ext>
            </a:extLst>
          </p:cNvPr>
          <p:cNvSpPr txBox="1"/>
          <p:nvPr/>
        </p:nvSpPr>
        <p:spPr>
          <a:xfrm>
            <a:off x="6732105" y="1986590"/>
            <a:ext cx="5133939" cy="2031325"/>
          </a:xfrm>
          <a:prstGeom prst="rect">
            <a:avLst/>
          </a:prstGeom>
          <a:noFill/>
        </p:spPr>
        <p:txBody>
          <a:bodyPr wrap="square">
            <a:spAutoFit/>
          </a:bodyPr>
          <a:lstStyle/>
          <a:p>
            <a:pPr algn="just"/>
            <a:r>
              <a:rPr lang="en-IN" b="1" dirty="0"/>
              <a:t>// EPClient.java</a:t>
            </a:r>
          </a:p>
          <a:p>
            <a:pPr algn="just"/>
            <a:r>
              <a:rPr lang="en-IN" dirty="0"/>
              <a:t>public class </a:t>
            </a:r>
            <a:r>
              <a:rPr lang="en-IN" dirty="0" err="1"/>
              <a:t>EPClient</a:t>
            </a:r>
            <a:r>
              <a:rPr lang="en-IN" dirty="0"/>
              <a:t> {</a:t>
            </a:r>
          </a:p>
          <a:p>
            <a:pPr algn="just"/>
            <a:r>
              <a:rPr lang="en-IN" dirty="0"/>
              <a:t>  public static void main(String rags[]) {</a:t>
            </a:r>
          </a:p>
          <a:p>
            <a:pPr algn="just"/>
            <a:r>
              <a:rPr lang="en-IN" dirty="0"/>
              <a:t>     </a:t>
            </a:r>
            <a:r>
              <a:rPr lang="en-IN" dirty="0" err="1"/>
              <a:t>EmpPayroll</a:t>
            </a:r>
            <a:r>
              <a:rPr lang="en-IN" dirty="0"/>
              <a:t> ep=</a:t>
            </a:r>
            <a:r>
              <a:rPr lang="en-IN" dirty="0" err="1"/>
              <a:t>EPFactory.getEmpPayroll</a:t>
            </a:r>
            <a:r>
              <a:rPr lang="en-IN" dirty="0"/>
              <a:t>(rags[0]);</a:t>
            </a:r>
          </a:p>
          <a:p>
            <a:pPr algn="just"/>
            <a:r>
              <a:rPr lang="en-IN" dirty="0"/>
              <a:t>     </a:t>
            </a:r>
            <a:r>
              <a:rPr lang="en-IN" dirty="0" err="1"/>
              <a:t>ep.calSal</a:t>
            </a:r>
            <a:r>
              <a:rPr lang="en-IN" dirty="0"/>
              <a:t>();</a:t>
            </a:r>
          </a:p>
          <a:p>
            <a:pPr algn="just"/>
            <a:r>
              <a:rPr lang="en-IN" dirty="0"/>
              <a:t>  }</a:t>
            </a:r>
          </a:p>
          <a:p>
            <a:pPr algn="just"/>
            <a:r>
              <a:rPr lang="en-IN" dirty="0"/>
              <a:t>}</a:t>
            </a:r>
          </a:p>
        </p:txBody>
      </p:sp>
      <p:sp>
        <p:nvSpPr>
          <p:cNvPr id="24" name="TextBox 23">
            <a:extLst>
              <a:ext uri="{FF2B5EF4-FFF2-40B4-BE49-F238E27FC236}">
                <a16:creationId xmlns:a16="http://schemas.microsoft.com/office/drawing/2014/main" id="{DDF5905D-0ACE-47AC-BD1F-978C4A60C85A}"/>
              </a:ext>
            </a:extLst>
          </p:cNvPr>
          <p:cNvSpPr txBox="1"/>
          <p:nvPr/>
        </p:nvSpPr>
        <p:spPr>
          <a:xfrm>
            <a:off x="4257375" y="4773130"/>
            <a:ext cx="5133939" cy="1754326"/>
          </a:xfrm>
          <a:prstGeom prst="rect">
            <a:avLst/>
          </a:prstGeom>
          <a:noFill/>
        </p:spPr>
        <p:txBody>
          <a:bodyPr wrap="square">
            <a:spAutoFit/>
          </a:bodyPr>
          <a:lstStyle/>
          <a:p>
            <a:pPr algn="just"/>
            <a:r>
              <a:rPr lang="en-IN" sz="1200" b="1" dirty="0"/>
              <a:t>Abstraction main benefit is to loosely couple client with the various types of of method implementations they want to invoke chosen @ runtime. </a:t>
            </a:r>
          </a:p>
          <a:p>
            <a:pPr algn="r"/>
            <a:r>
              <a:rPr lang="en-IN" sz="1200" b="1" dirty="0"/>
              <a:t>- Runtime binding / Runtime Polymorphism.</a:t>
            </a:r>
          </a:p>
          <a:p>
            <a:pPr algn="just"/>
            <a:endParaRPr lang="en-IN" sz="1200" b="1" dirty="0"/>
          </a:p>
          <a:p>
            <a:pPr algn="just"/>
            <a:r>
              <a:rPr lang="en-IN" sz="1200" b="1" dirty="0"/>
              <a:t>In the above client program the client holding </a:t>
            </a:r>
            <a:r>
              <a:rPr lang="en-IN" sz="1200" b="1" dirty="0" err="1"/>
              <a:t>EmpPayroll</a:t>
            </a:r>
            <a:r>
              <a:rPr lang="en-IN" sz="1200" b="1" dirty="0"/>
              <a:t> class ref can be assigned with any one of the object of sub class of </a:t>
            </a:r>
            <a:r>
              <a:rPr lang="en-IN" sz="1200" b="1" dirty="0" err="1"/>
              <a:t>EmpPayroll</a:t>
            </a:r>
            <a:r>
              <a:rPr lang="en-IN" sz="1200" b="1" dirty="0"/>
              <a:t> class at runtime. Based on the runtime argument passed into factory method </a:t>
            </a:r>
            <a:r>
              <a:rPr lang="en-IN" sz="1200" b="1" dirty="0" err="1"/>
              <a:t>getEmpPayroll</a:t>
            </a:r>
            <a:r>
              <a:rPr lang="en-IN" sz="1200" b="1" dirty="0"/>
              <a:t>() of </a:t>
            </a:r>
            <a:r>
              <a:rPr lang="en-IN" sz="1200" b="1" dirty="0" err="1"/>
              <a:t>EPFactory</a:t>
            </a:r>
            <a:r>
              <a:rPr lang="en-IN" sz="1200" b="1" dirty="0"/>
              <a:t> one of the </a:t>
            </a:r>
            <a:r>
              <a:rPr lang="en-IN" sz="1200" b="1" dirty="0" err="1"/>
              <a:t>EmpPayroll</a:t>
            </a:r>
            <a:r>
              <a:rPr lang="en-IN" sz="1200" b="1" dirty="0"/>
              <a:t> class object will be created and returned.</a:t>
            </a:r>
          </a:p>
        </p:txBody>
      </p:sp>
      <p:sp>
        <p:nvSpPr>
          <p:cNvPr id="7" name="Footer Placeholder 6">
            <a:extLst>
              <a:ext uri="{FF2B5EF4-FFF2-40B4-BE49-F238E27FC236}">
                <a16:creationId xmlns:a16="http://schemas.microsoft.com/office/drawing/2014/main" id="{DECB520D-40F2-76B6-D7FE-919898FFAF0F}"/>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24526034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461665"/>
              </a:xfrm>
              <a:prstGeom prst="rect">
                <a:avLst/>
              </a:prstGeom>
            </p:spPr>
            <p:txBody>
              <a:bodyPr wrap="square">
                <a:spAutoFit/>
              </a:bodyPr>
              <a:lstStyle/>
              <a:p>
                <a:pPr algn="ctr"/>
                <a:r>
                  <a:rPr lang="en-US" sz="2400" b="1" dirty="0">
                    <a:solidFill>
                      <a:schemeClr val="bg1"/>
                    </a:solidFill>
                    <a:latin typeface="Bookman Old Style" panose="02050604050505020204" pitchFamily="18" charset="0"/>
                  </a:rPr>
                  <a:t>Method Syntax</a:t>
                </a:r>
                <a:endParaRPr lang="en-US" sz="105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27" name="TextBox 26">
            <a:extLst>
              <a:ext uri="{FF2B5EF4-FFF2-40B4-BE49-F238E27FC236}">
                <a16:creationId xmlns:a16="http://schemas.microsoft.com/office/drawing/2014/main" id="{B391ADAD-C3D9-4175-B2AC-F9254A693EC0}"/>
              </a:ext>
            </a:extLst>
          </p:cNvPr>
          <p:cNvSpPr txBox="1"/>
          <p:nvPr/>
        </p:nvSpPr>
        <p:spPr>
          <a:xfrm>
            <a:off x="571500" y="798447"/>
            <a:ext cx="8628821" cy="2739211"/>
          </a:xfrm>
          <a:prstGeom prst="rect">
            <a:avLst/>
          </a:prstGeom>
          <a:noFill/>
        </p:spPr>
        <p:txBody>
          <a:bodyPr wrap="square">
            <a:spAutoFit/>
          </a:bodyPr>
          <a:lstStyle/>
          <a:p>
            <a:pPr algn="just"/>
            <a:r>
              <a:rPr lang="en-US" sz="2800" u="sng" dirty="0">
                <a:solidFill>
                  <a:srgbClr val="FF0000"/>
                </a:solidFill>
              </a:rPr>
              <a:t>Example on final method:</a:t>
            </a:r>
          </a:p>
          <a:p>
            <a:pPr marL="285750" indent="-285750" algn="just">
              <a:buFont typeface="Arial" panose="020B0604020202020204" pitchFamily="34" charset="0"/>
              <a:buChar char="•"/>
            </a:pPr>
            <a:r>
              <a:rPr lang="en-IN" sz="2400" dirty="0"/>
              <a:t>final methods cannot be overridden in sub class</a:t>
            </a:r>
          </a:p>
          <a:p>
            <a:pPr marL="285750" indent="-285750" algn="just">
              <a:buFont typeface="Arial" panose="020B0604020202020204" pitchFamily="34" charset="0"/>
              <a:buChar char="•"/>
            </a:pPr>
            <a:r>
              <a:rPr lang="en-IN" sz="2400" dirty="0"/>
              <a:t>final methods can be only accessed in instantiated class</a:t>
            </a:r>
          </a:p>
          <a:p>
            <a:pPr marL="285750" indent="-285750" algn="just">
              <a:buFont typeface="Arial" panose="020B0604020202020204" pitchFamily="34" charset="0"/>
              <a:buChar char="•"/>
            </a:pPr>
            <a:endParaRPr lang="en-IN" sz="2400" dirty="0"/>
          </a:p>
          <a:p>
            <a:pPr marL="285750" indent="-285750" algn="just">
              <a:buFont typeface="Arial" panose="020B0604020202020204" pitchFamily="34" charset="0"/>
              <a:buChar char="•"/>
            </a:pPr>
            <a:r>
              <a:rPr lang="en-IN" sz="2400" dirty="0"/>
              <a:t>class which feels like its method implementation is final and don’t want to be changed in subclass such methods are declared as final in class.</a:t>
            </a:r>
          </a:p>
        </p:txBody>
      </p:sp>
      <p:sp>
        <p:nvSpPr>
          <p:cNvPr id="7" name="TextBox 6">
            <a:extLst>
              <a:ext uri="{FF2B5EF4-FFF2-40B4-BE49-F238E27FC236}">
                <a16:creationId xmlns:a16="http://schemas.microsoft.com/office/drawing/2014/main" id="{B4999EBC-AC34-4DEA-A058-0B241A8A5914}"/>
              </a:ext>
            </a:extLst>
          </p:cNvPr>
          <p:cNvSpPr txBox="1"/>
          <p:nvPr/>
        </p:nvSpPr>
        <p:spPr>
          <a:xfrm>
            <a:off x="755374" y="4048625"/>
            <a:ext cx="3326296" cy="1477328"/>
          </a:xfrm>
          <a:prstGeom prst="rect">
            <a:avLst/>
          </a:prstGeom>
          <a:noFill/>
        </p:spPr>
        <p:txBody>
          <a:bodyPr wrap="square" rtlCol="0">
            <a:spAutoFit/>
          </a:bodyPr>
          <a:lstStyle/>
          <a:p>
            <a:r>
              <a:rPr lang="en-US" dirty="0"/>
              <a:t>class </a:t>
            </a:r>
            <a:r>
              <a:rPr lang="en-US" dirty="0" err="1"/>
              <a:t>FinalMethodClass</a:t>
            </a:r>
            <a:r>
              <a:rPr lang="en-US" dirty="0"/>
              <a:t> {</a:t>
            </a:r>
          </a:p>
          <a:p>
            <a:r>
              <a:rPr lang="en-US" dirty="0"/>
              <a:t>	void method1() {}</a:t>
            </a:r>
          </a:p>
          <a:p>
            <a:r>
              <a:rPr lang="en-US" dirty="0"/>
              <a:t>	void method2() {}</a:t>
            </a:r>
          </a:p>
          <a:p>
            <a:r>
              <a:rPr lang="en-US" dirty="0"/>
              <a:t>	final void method3() {}</a:t>
            </a:r>
          </a:p>
          <a:p>
            <a:r>
              <a:rPr lang="en-US" dirty="0"/>
              <a:t>}</a:t>
            </a:r>
            <a:endParaRPr lang="en-IN" dirty="0"/>
          </a:p>
        </p:txBody>
      </p:sp>
      <p:sp>
        <p:nvSpPr>
          <p:cNvPr id="19" name="TextBox 18">
            <a:extLst>
              <a:ext uri="{FF2B5EF4-FFF2-40B4-BE49-F238E27FC236}">
                <a16:creationId xmlns:a16="http://schemas.microsoft.com/office/drawing/2014/main" id="{17783BED-E5BE-485F-BAC8-5F2FE9F89664}"/>
              </a:ext>
            </a:extLst>
          </p:cNvPr>
          <p:cNvSpPr txBox="1"/>
          <p:nvPr/>
        </p:nvSpPr>
        <p:spPr>
          <a:xfrm>
            <a:off x="4424568" y="3537744"/>
            <a:ext cx="4959626" cy="2585323"/>
          </a:xfrm>
          <a:prstGeom prst="rect">
            <a:avLst/>
          </a:prstGeom>
          <a:noFill/>
        </p:spPr>
        <p:txBody>
          <a:bodyPr wrap="square" rtlCol="0">
            <a:spAutoFit/>
          </a:bodyPr>
          <a:lstStyle/>
          <a:p>
            <a:r>
              <a:rPr lang="en-US" dirty="0"/>
              <a:t>class </a:t>
            </a:r>
            <a:r>
              <a:rPr lang="en-US" dirty="0" err="1"/>
              <a:t>FinalMethodSubClass</a:t>
            </a:r>
            <a:r>
              <a:rPr lang="en-US" dirty="0"/>
              <a:t> extends </a:t>
            </a:r>
            <a:r>
              <a:rPr lang="en-US" dirty="0" err="1"/>
              <a:t>FinalMethodClass</a:t>
            </a:r>
            <a:r>
              <a:rPr lang="en-US" dirty="0"/>
              <a:t> {</a:t>
            </a:r>
          </a:p>
          <a:p>
            <a:r>
              <a:rPr lang="en-US" dirty="0"/>
              <a:t>	</a:t>
            </a:r>
            <a:r>
              <a:rPr lang="en-US" sz="1600" dirty="0"/>
              <a:t>// m1() and m2() methods can be </a:t>
            </a:r>
            <a:r>
              <a:rPr lang="en-US" sz="1600" dirty="0" err="1"/>
              <a:t>overriden</a:t>
            </a:r>
            <a:endParaRPr lang="en-US" dirty="0"/>
          </a:p>
          <a:p>
            <a:r>
              <a:rPr lang="en-US" dirty="0"/>
              <a:t>	void method1() {}</a:t>
            </a:r>
          </a:p>
          <a:p>
            <a:r>
              <a:rPr lang="en-US" dirty="0"/>
              <a:t>	void method2() {}</a:t>
            </a:r>
          </a:p>
          <a:p>
            <a:endParaRPr lang="en-US" dirty="0"/>
          </a:p>
          <a:p>
            <a:r>
              <a:rPr lang="en-US" dirty="0"/>
              <a:t>	</a:t>
            </a:r>
            <a:r>
              <a:rPr lang="en-US" sz="1400" dirty="0">
                <a:solidFill>
                  <a:srgbClr val="FF0000"/>
                </a:solidFill>
              </a:rPr>
              <a:t>// final method cannot be overridden; error comes</a:t>
            </a:r>
            <a:endParaRPr lang="en-US" dirty="0">
              <a:solidFill>
                <a:srgbClr val="FF0000"/>
              </a:solidFill>
            </a:endParaRPr>
          </a:p>
          <a:p>
            <a:r>
              <a:rPr lang="en-US" dirty="0">
                <a:solidFill>
                  <a:srgbClr val="FF0000"/>
                </a:solidFill>
              </a:rPr>
              <a:t>	</a:t>
            </a:r>
            <a:r>
              <a:rPr lang="en-US" dirty="0">
                <a:solidFill>
                  <a:srgbClr val="003F66"/>
                </a:solidFill>
              </a:rPr>
              <a:t>final void method3() {}</a:t>
            </a:r>
          </a:p>
          <a:p>
            <a:r>
              <a:rPr lang="en-US" dirty="0"/>
              <a:t>}</a:t>
            </a:r>
            <a:endParaRPr lang="en-IN" dirty="0"/>
          </a:p>
        </p:txBody>
      </p:sp>
      <p:grpSp>
        <p:nvGrpSpPr>
          <p:cNvPr id="11" name="Group 10">
            <a:extLst>
              <a:ext uri="{FF2B5EF4-FFF2-40B4-BE49-F238E27FC236}">
                <a16:creationId xmlns:a16="http://schemas.microsoft.com/office/drawing/2014/main" id="{9B6A14F0-AC22-4D2A-84DD-383C4DA57FF5}"/>
              </a:ext>
            </a:extLst>
          </p:cNvPr>
          <p:cNvGrpSpPr/>
          <p:nvPr/>
        </p:nvGrpSpPr>
        <p:grpSpPr>
          <a:xfrm>
            <a:off x="6273243" y="5466526"/>
            <a:ext cx="260080" cy="324676"/>
            <a:chOff x="6273243" y="5466526"/>
            <a:chExt cx="260080" cy="324676"/>
          </a:xfrm>
        </p:grpSpPr>
        <p:cxnSp>
          <p:nvCxnSpPr>
            <p:cNvPr id="9" name="Straight Connector 8">
              <a:extLst>
                <a:ext uri="{FF2B5EF4-FFF2-40B4-BE49-F238E27FC236}">
                  <a16:creationId xmlns:a16="http://schemas.microsoft.com/office/drawing/2014/main" id="{9D9A6BBB-604E-4B46-96CF-83A2757E15D7}"/>
                </a:ext>
              </a:extLst>
            </p:cNvPr>
            <p:cNvCxnSpPr/>
            <p:nvPr/>
          </p:nvCxnSpPr>
          <p:spPr>
            <a:xfrm>
              <a:off x="6273248" y="5512906"/>
              <a:ext cx="260075" cy="278296"/>
            </a:xfrm>
            <a:prstGeom prst="line">
              <a:avLst/>
            </a:prstGeom>
            <a:ln w="28575">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24" name="Straight Connector 23">
              <a:extLst>
                <a:ext uri="{FF2B5EF4-FFF2-40B4-BE49-F238E27FC236}">
                  <a16:creationId xmlns:a16="http://schemas.microsoft.com/office/drawing/2014/main" id="{F323E68D-0BE5-42BD-B7AF-52187934957A}"/>
                </a:ext>
              </a:extLst>
            </p:cNvPr>
            <p:cNvCxnSpPr>
              <a:cxnSpLocks/>
            </p:cNvCxnSpPr>
            <p:nvPr/>
          </p:nvCxnSpPr>
          <p:spPr>
            <a:xfrm flipH="1">
              <a:off x="6273243" y="5466526"/>
              <a:ext cx="152405" cy="324676"/>
            </a:xfrm>
            <a:prstGeom prst="line">
              <a:avLst/>
            </a:prstGeom>
            <a:ln w="28575">
              <a:solidFill>
                <a:srgbClr val="FF0000"/>
              </a:solidFill>
            </a:ln>
          </p:spPr>
          <p:style>
            <a:lnRef idx="1">
              <a:schemeClr val="accent2"/>
            </a:lnRef>
            <a:fillRef idx="0">
              <a:schemeClr val="accent2"/>
            </a:fillRef>
            <a:effectRef idx="0">
              <a:schemeClr val="accent2"/>
            </a:effectRef>
            <a:fontRef idx="minor">
              <a:schemeClr val="tx1"/>
            </a:fontRef>
          </p:style>
        </p:cxnSp>
      </p:grpSp>
      <p:sp>
        <p:nvSpPr>
          <p:cNvPr id="8" name="Footer Placeholder 7">
            <a:extLst>
              <a:ext uri="{FF2B5EF4-FFF2-40B4-BE49-F238E27FC236}">
                <a16:creationId xmlns:a16="http://schemas.microsoft.com/office/drawing/2014/main" id="{0F7B050B-533D-2ADD-AE89-92C33B137AB0}"/>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55782055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461665"/>
              </a:xfrm>
              <a:prstGeom prst="rect">
                <a:avLst/>
              </a:prstGeom>
            </p:spPr>
            <p:txBody>
              <a:bodyPr wrap="square">
                <a:spAutoFit/>
              </a:bodyPr>
              <a:lstStyle/>
              <a:p>
                <a:pPr algn="ctr"/>
                <a:r>
                  <a:rPr lang="en-US" sz="2400" b="1" dirty="0">
                    <a:solidFill>
                      <a:schemeClr val="bg1"/>
                    </a:solidFill>
                    <a:latin typeface="Bookman Old Style" panose="02050604050505020204" pitchFamily="18" charset="0"/>
                  </a:rPr>
                  <a:t>Method Syntax</a:t>
                </a:r>
                <a:endParaRPr lang="en-US" sz="105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27" name="TextBox 26">
            <a:extLst>
              <a:ext uri="{FF2B5EF4-FFF2-40B4-BE49-F238E27FC236}">
                <a16:creationId xmlns:a16="http://schemas.microsoft.com/office/drawing/2014/main" id="{B391ADAD-C3D9-4175-B2AC-F9254A693EC0}"/>
              </a:ext>
            </a:extLst>
          </p:cNvPr>
          <p:cNvSpPr txBox="1"/>
          <p:nvPr/>
        </p:nvSpPr>
        <p:spPr>
          <a:xfrm>
            <a:off x="571500" y="798447"/>
            <a:ext cx="8628821" cy="3477875"/>
          </a:xfrm>
          <a:prstGeom prst="rect">
            <a:avLst/>
          </a:prstGeom>
          <a:noFill/>
        </p:spPr>
        <p:txBody>
          <a:bodyPr wrap="square">
            <a:spAutoFit/>
          </a:bodyPr>
          <a:lstStyle/>
          <a:p>
            <a:pPr algn="just"/>
            <a:r>
              <a:rPr lang="en-US" sz="2800" u="sng" dirty="0">
                <a:solidFill>
                  <a:srgbClr val="FF0000"/>
                </a:solidFill>
              </a:rPr>
              <a:t>Example on final method:</a:t>
            </a:r>
          </a:p>
          <a:p>
            <a:pPr marL="285750" indent="-285750" algn="just">
              <a:buFont typeface="Arial" panose="020B0604020202020204" pitchFamily="34" charset="0"/>
              <a:buChar char="•"/>
            </a:pPr>
            <a:r>
              <a:rPr lang="en-IN" sz="2400" dirty="0"/>
              <a:t>If all methods of class want to be declared as final, instead of declaring all methods as final, declare class itself as final.</a:t>
            </a:r>
          </a:p>
          <a:p>
            <a:pPr marL="285750" indent="-285750" algn="just">
              <a:buFont typeface="Arial" panose="020B0604020202020204" pitchFamily="34" charset="0"/>
              <a:buChar char="•"/>
            </a:pPr>
            <a:endParaRPr lang="en-IN" sz="2400" dirty="0"/>
          </a:p>
          <a:p>
            <a:pPr marL="285750" indent="-285750" algn="just">
              <a:buFont typeface="Arial" panose="020B0604020202020204" pitchFamily="34" charset="0"/>
              <a:buChar char="•"/>
            </a:pPr>
            <a:r>
              <a:rPr lang="en-IN" sz="2400" dirty="0"/>
              <a:t>final class cannot be derived/subclassed. When there is no inheritance there is no concept of overriding method. </a:t>
            </a:r>
          </a:p>
          <a:p>
            <a:pPr marL="285750" indent="-285750" algn="just">
              <a:buFont typeface="Arial" panose="020B0604020202020204" pitchFamily="34" charset="0"/>
              <a:buChar char="•"/>
            </a:pPr>
            <a:endParaRPr lang="en-IN" sz="2400" dirty="0"/>
          </a:p>
          <a:p>
            <a:pPr marL="285750" indent="-285750" algn="just">
              <a:buFont typeface="Arial" panose="020B0604020202020204" pitchFamily="34" charset="0"/>
              <a:buChar char="•"/>
            </a:pPr>
            <a:r>
              <a:rPr lang="en-IN" sz="2400" dirty="0"/>
              <a:t>Hence indirectly all methods are remain unmodifiable/overridden.</a:t>
            </a:r>
          </a:p>
        </p:txBody>
      </p:sp>
      <p:sp>
        <p:nvSpPr>
          <p:cNvPr id="7" name="Footer Placeholder 6">
            <a:extLst>
              <a:ext uri="{FF2B5EF4-FFF2-40B4-BE49-F238E27FC236}">
                <a16:creationId xmlns:a16="http://schemas.microsoft.com/office/drawing/2014/main" id="{1BFBDE65-F1F1-7299-EDA4-D4CA98C5E8AC}"/>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87411838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461665"/>
              </a:xfrm>
              <a:prstGeom prst="rect">
                <a:avLst/>
              </a:prstGeom>
            </p:spPr>
            <p:txBody>
              <a:bodyPr wrap="square">
                <a:spAutoFit/>
              </a:bodyPr>
              <a:lstStyle/>
              <a:p>
                <a:pPr algn="ctr"/>
                <a:r>
                  <a:rPr lang="en-US" sz="2400" b="1" dirty="0">
                    <a:solidFill>
                      <a:schemeClr val="bg1"/>
                    </a:solidFill>
                    <a:latin typeface="Bookman Old Style" panose="02050604050505020204" pitchFamily="18" charset="0"/>
                  </a:rPr>
                  <a:t>Method Syntax</a:t>
                </a:r>
                <a:endParaRPr lang="en-US" sz="105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27" name="TextBox 26">
            <a:extLst>
              <a:ext uri="{FF2B5EF4-FFF2-40B4-BE49-F238E27FC236}">
                <a16:creationId xmlns:a16="http://schemas.microsoft.com/office/drawing/2014/main" id="{B391ADAD-C3D9-4175-B2AC-F9254A693EC0}"/>
              </a:ext>
            </a:extLst>
          </p:cNvPr>
          <p:cNvSpPr txBox="1"/>
          <p:nvPr/>
        </p:nvSpPr>
        <p:spPr>
          <a:xfrm>
            <a:off x="571500" y="798447"/>
            <a:ext cx="8628821" cy="523220"/>
          </a:xfrm>
          <a:prstGeom prst="rect">
            <a:avLst/>
          </a:prstGeom>
          <a:noFill/>
        </p:spPr>
        <p:txBody>
          <a:bodyPr wrap="square">
            <a:spAutoFit/>
          </a:bodyPr>
          <a:lstStyle/>
          <a:p>
            <a:pPr algn="just"/>
            <a:r>
              <a:rPr lang="en-US" sz="2800" u="sng" dirty="0">
                <a:solidFill>
                  <a:srgbClr val="FF0000"/>
                </a:solidFill>
              </a:rPr>
              <a:t>Example on final class:</a:t>
            </a:r>
          </a:p>
        </p:txBody>
      </p:sp>
      <p:sp>
        <p:nvSpPr>
          <p:cNvPr id="19" name="TextBox 18">
            <a:extLst>
              <a:ext uri="{FF2B5EF4-FFF2-40B4-BE49-F238E27FC236}">
                <a16:creationId xmlns:a16="http://schemas.microsoft.com/office/drawing/2014/main" id="{DB4E0EBE-5428-470A-95D0-4CB26324F4F3}"/>
              </a:ext>
            </a:extLst>
          </p:cNvPr>
          <p:cNvSpPr txBox="1"/>
          <p:nvPr/>
        </p:nvSpPr>
        <p:spPr>
          <a:xfrm>
            <a:off x="672548" y="1471424"/>
            <a:ext cx="3329609" cy="1477328"/>
          </a:xfrm>
          <a:prstGeom prst="rect">
            <a:avLst/>
          </a:prstGeom>
          <a:noFill/>
        </p:spPr>
        <p:txBody>
          <a:bodyPr wrap="square">
            <a:spAutoFit/>
          </a:bodyPr>
          <a:lstStyle/>
          <a:p>
            <a:pPr algn="just"/>
            <a:r>
              <a:rPr lang="en-IN" sz="1800" dirty="0"/>
              <a:t>class </a:t>
            </a:r>
            <a:r>
              <a:rPr lang="en-IN" sz="1800" dirty="0" err="1"/>
              <a:t>FinalMethodsClass</a:t>
            </a:r>
            <a:r>
              <a:rPr lang="en-IN" sz="1800" dirty="0"/>
              <a:t> {</a:t>
            </a:r>
          </a:p>
          <a:p>
            <a:pPr algn="just"/>
            <a:r>
              <a:rPr lang="en-IN" sz="1800" dirty="0"/>
              <a:t>	final void method1() {}</a:t>
            </a:r>
          </a:p>
          <a:p>
            <a:pPr algn="just"/>
            <a:r>
              <a:rPr lang="en-IN" sz="1800" dirty="0"/>
              <a:t>	final void method2() {}</a:t>
            </a:r>
          </a:p>
          <a:p>
            <a:pPr algn="just"/>
            <a:r>
              <a:rPr lang="en-IN" sz="1800" dirty="0"/>
              <a:t>	final void method3() {}</a:t>
            </a:r>
          </a:p>
          <a:p>
            <a:pPr algn="just"/>
            <a:r>
              <a:rPr lang="en-IN" sz="1800" dirty="0"/>
              <a:t>}</a:t>
            </a:r>
          </a:p>
        </p:txBody>
      </p:sp>
      <p:sp>
        <p:nvSpPr>
          <p:cNvPr id="8" name="TextBox 7">
            <a:extLst>
              <a:ext uri="{FF2B5EF4-FFF2-40B4-BE49-F238E27FC236}">
                <a16:creationId xmlns:a16="http://schemas.microsoft.com/office/drawing/2014/main" id="{1F993643-DDCD-4189-AEE3-4BB9A985E865}"/>
              </a:ext>
            </a:extLst>
          </p:cNvPr>
          <p:cNvSpPr txBox="1"/>
          <p:nvPr/>
        </p:nvSpPr>
        <p:spPr>
          <a:xfrm>
            <a:off x="4664765" y="2146852"/>
            <a:ext cx="882999" cy="369332"/>
          </a:xfrm>
          <a:prstGeom prst="rect">
            <a:avLst/>
          </a:prstGeom>
          <a:noFill/>
        </p:spPr>
        <p:txBody>
          <a:bodyPr wrap="none" rtlCol="0">
            <a:spAutoFit/>
          </a:bodyPr>
          <a:lstStyle/>
          <a:p>
            <a:r>
              <a:rPr lang="en-US" b="1" dirty="0"/>
              <a:t>instead</a:t>
            </a:r>
            <a:endParaRPr lang="en-IN" b="1" dirty="0"/>
          </a:p>
        </p:txBody>
      </p:sp>
      <p:sp>
        <p:nvSpPr>
          <p:cNvPr id="24" name="TextBox 23">
            <a:extLst>
              <a:ext uri="{FF2B5EF4-FFF2-40B4-BE49-F238E27FC236}">
                <a16:creationId xmlns:a16="http://schemas.microsoft.com/office/drawing/2014/main" id="{610E0DCF-AE27-4D30-81BD-E8961E5A133E}"/>
              </a:ext>
            </a:extLst>
          </p:cNvPr>
          <p:cNvSpPr txBox="1"/>
          <p:nvPr/>
        </p:nvSpPr>
        <p:spPr>
          <a:xfrm>
            <a:off x="5968707" y="1636669"/>
            <a:ext cx="3329609" cy="1477328"/>
          </a:xfrm>
          <a:prstGeom prst="rect">
            <a:avLst/>
          </a:prstGeom>
          <a:noFill/>
        </p:spPr>
        <p:txBody>
          <a:bodyPr wrap="square">
            <a:spAutoFit/>
          </a:bodyPr>
          <a:lstStyle/>
          <a:p>
            <a:pPr algn="just"/>
            <a:r>
              <a:rPr lang="en-IN" sz="1800" dirty="0"/>
              <a:t>final class </a:t>
            </a:r>
            <a:r>
              <a:rPr lang="en-IN" sz="1800" dirty="0" err="1"/>
              <a:t>FinalClass</a:t>
            </a:r>
            <a:r>
              <a:rPr lang="en-IN" sz="1800" dirty="0"/>
              <a:t> {</a:t>
            </a:r>
          </a:p>
          <a:p>
            <a:pPr algn="just"/>
            <a:r>
              <a:rPr lang="en-IN" sz="1800" dirty="0"/>
              <a:t>	void method1() {}</a:t>
            </a:r>
          </a:p>
          <a:p>
            <a:pPr algn="just"/>
            <a:r>
              <a:rPr lang="en-IN" sz="1800" dirty="0"/>
              <a:t>	void method2() {}</a:t>
            </a:r>
          </a:p>
          <a:p>
            <a:pPr algn="just"/>
            <a:r>
              <a:rPr lang="en-IN" sz="1800" dirty="0"/>
              <a:t>	void method3() {}</a:t>
            </a:r>
          </a:p>
          <a:p>
            <a:pPr algn="just"/>
            <a:r>
              <a:rPr lang="en-IN" sz="1800" dirty="0"/>
              <a:t>}</a:t>
            </a:r>
          </a:p>
        </p:txBody>
      </p:sp>
      <p:sp>
        <p:nvSpPr>
          <p:cNvPr id="25" name="TextBox 24">
            <a:extLst>
              <a:ext uri="{FF2B5EF4-FFF2-40B4-BE49-F238E27FC236}">
                <a16:creationId xmlns:a16="http://schemas.microsoft.com/office/drawing/2014/main" id="{7A52E2A6-6ED8-4457-84D9-1F2ACFCA7BF1}"/>
              </a:ext>
            </a:extLst>
          </p:cNvPr>
          <p:cNvSpPr txBox="1"/>
          <p:nvPr/>
        </p:nvSpPr>
        <p:spPr>
          <a:xfrm>
            <a:off x="4885910" y="3388310"/>
            <a:ext cx="3329609" cy="1200329"/>
          </a:xfrm>
          <a:prstGeom prst="rect">
            <a:avLst/>
          </a:prstGeom>
          <a:noFill/>
        </p:spPr>
        <p:txBody>
          <a:bodyPr wrap="square">
            <a:spAutoFit/>
          </a:bodyPr>
          <a:lstStyle/>
          <a:p>
            <a:pPr algn="just"/>
            <a:r>
              <a:rPr lang="en-IN" sz="1800" dirty="0"/>
              <a:t>final class </a:t>
            </a:r>
            <a:r>
              <a:rPr lang="en-IN" sz="1800" dirty="0" err="1"/>
              <a:t>FinalClassSubClass</a:t>
            </a:r>
            <a:r>
              <a:rPr lang="en-IN" sz="1800" dirty="0"/>
              <a:t> extends </a:t>
            </a:r>
            <a:r>
              <a:rPr lang="en-IN" sz="1800" dirty="0" err="1"/>
              <a:t>FinalClass</a:t>
            </a:r>
            <a:r>
              <a:rPr lang="en-IN" sz="1800" dirty="0"/>
              <a:t> {</a:t>
            </a:r>
          </a:p>
          <a:p>
            <a:pPr algn="just"/>
            <a:r>
              <a:rPr lang="en-IN" dirty="0"/>
              <a:t>	</a:t>
            </a:r>
            <a:endParaRPr lang="en-IN" sz="1800" dirty="0"/>
          </a:p>
          <a:p>
            <a:pPr algn="just"/>
            <a:r>
              <a:rPr lang="en-IN" sz="1800" dirty="0"/>
              <a:t>}</a:t>
            </a:r>
          </a:p>
        </p:txBody>
      </p:sp>
      <p:grpSp>
        <p:nvGrpSpPr>
          <p:cNvPr id="46" name="Group 45">
            <a:extLst>
              <a:ext uri="{FF2B5EF4-FFF2-40B4-BE49-F238E27FC236}">
                <a16:creationId xmlns:a16="http://schemas.microsoft.com/office/drawing/2014/main" id="{CB004334-C681-4B79-ACA7-0E12792F7396}"/>
              </a:ext>
            </a:extLst>
          </p:cNvPr>
          <p:cNvGrpSpPr/>
          <p:nvPr/>
        </p:nvGrpSpPr>
        <p:grpSpPr>
          <a:xfrm>
            <a:off x="6115400" y="3731789"/>
            <a:ext cx="397565" cy="478094"/>
            <a:chOff x="6115400" y="3731789"/>
            <a:chExt cx="397565" cy="478094"/>
          </a:xfrm>
        </p:grpSpPr>
        <p:cxnSp>
          <p:nvCxnSpPr>
            <p:cNvPr id="10" name="Straight Connector 9">
              <a:extLst>
                <a:ext uri="{FF2B5EF4-FFF2-40B4-BE49-F238E27FC236}">
                  <a16:creationId xmlns:a16="http://schemas.microsoft.com/office/drawing/2014/main" id="{1E42D351-C6AA-4172-8A54-E091C3346789}"/>
                </a:ext>
              </a:extLst>
            </p:cNvPr>
            <p:cNvCxnSpPr>
              <a:cxnSpLocks/>
            </p:cNvCxnSpPr>
            <p:nvPr/>
          </p:nvCxnSpPr>
          <p:spPr>
            <a:xfrm>
              <a:off x="6115400" y="3731789"/>
              <a:ext cx="397565" cy="47809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AA345CE9-90C9-429F-A3EB-09D3BE597B50}"/>
                </a:ext>
              </a:extLst>
            </p:cNvPr>
            <p:cNvCxnSpPr>
              <a:cxnSpLocks/>
            </p:cNvCxnSpPr>
            <p:nvPr/>
          </p:nvCxnSpPr>
          <p:spPr>
            <a:xfrm flipH="1">
              <a:off x="6115400" y="3731789"/>
              <a:ext cx="397565" cy="40865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8" name="TextBox 27">
            <a:extLst>
              <a:ext uri="{FF2B5EF4-FFF2-40B4-BE49-F238E27FC236}">
                <a16:creationId xmlns:a16="http://schemas.microsoft.com/office/drawing/2014/main" id="{F99FAD06-B23C-427D-8C9B-1C6B80599AA4}"/>
              </a:ext>
            </a:extLst>
          </p:cNvPr>
          <p:cNvSpPr txBox="1"/>
          <p:nvPr/>
        </p:nvSpPr>
        <p:spPr>
          <a:xfrm>
            <a:off x="679176" y="3253841"/>
            <a:ext cx="3329609" cy="1754326"/>
          </a:xfrm>
          <a:prstGeom prst="rect">
            <a:avLst/>
          </a:prstGeom>
          <a:noFill/>
        </p:spPr>
        <p:txBody>
          <a:bodyPr wrap="square">
            <a:spAutoFit/>
          </a:bodyPr>
          <a:lstStyle/>
          <a:p>
            <a:pPr algn="just"/>
            <a:r>
              <a:rPr lang="en-IN" sz="1800" dirty="0"/>
              <a:t>class </a:t>
            </a:r>
            <a:r>
              <a:rPr lang="en-IN" sz="1800" dirty="0" err="1"/>
              <a:t>FinalMethodsClassSubClass</a:t>
            </a:r>
            <a:r>
              <a:rPr lang="en-IN" sz="1800" dirty="0"/>
              <a:t> extends </a:t>
            </a:r>
            <a:r>
              <a:rPr lang="en-IN" sz="1800" dirty="0" err="1"/>
              <a:t>FinalMethodClass</a:t>
            </a:r>
            <a:r>
              <a:rPr lang="en-IN" sz="1800" dirty="0"/>
              <a:t> {</a:t>
            </a:r>
          </a:p>
          <a:p>
            <a:pPr algn="just"/>
            <a:r>
              <a:rPr lang="en-IN" sz="1800" dirty="0"/>
              <a:t>	void method1() {}</a:t>
            </a:r>
          </a:p>
          <a:p>
            <a:pPr algn="just"/>
            <a:r>
              <a:rPr lang="en-IN" sz="1800" dirty="0"/>
              <a:t>	void method2() {}</a:t>
            </a:r>
          </a:p>
          <a:p>
            <a:pPr algn="just"/>
            <a:r>
              <a:rPr lang="en-IN" sz="1800" dirty="0"/>
              <a:t>	void method3() {}</a:t>
            </a:r>
          </a:p>
          <a:p>
            <a:pPr algn="just"/>
            <a:r>
              <a:rPr lang="en-IN" sz="1800" dirty="0"/>
              <a:t>}</a:t>
            </a:r>
          </a:p>
        </p:txBody>
      </p:sp>
      <p:grpSp>
        <p:nvGrpSpPr>
          <p:cNvPr id="37" name="Group 36">
            <a:extLst>
              <a:ext uri="{FF2B5EF4-FFF2-40B4-BE49-F238E27FC236}">
                <a16:creationId xmlns:a16="http://schemas.microsoft.com/office/drawing/2014/main" id="{D8BB2C6F-BF5D-4814-9158-8F1BD317D627}"/>
              </a:ext>
            </a:extLst>
          </p:cNvPr>
          <p:cNvGrpSpPr/>
          <p:nvPr/>
        </p:nvGrpSpPr>
        <p:grpSpPr>
          <a:xfrm>
            <a:off x="1905001" y="3918076"/>
            <a:ext cx="556370" cy="691591"/>
            <a:chOff x="1905001" y="3918076"/>
            <a:chExt cx="556370" cy="691591"/>
          </a:xfrm>
        </p:grpSpPr>
        <p:cxnSp>
          <p:nvCxnSpPr>
            <p:cNvPr id="29" name="Straight Connector 28">
              <a:extLst>
                <a:ext uri="{FF2B5EF4-FFF2-40B4-BE49-F238E27FC236}">
                  <a16:creationId xmlns:a16="http://schemas.microsoft.com/office/drawing/2014/main" id="{519B0763-9B0C-431B-8513-0AA925A25705}"/>
                </a:ext>
              </a:extLst>
            </p:cNvPr>
            <p:cNvCxnSpPr>
              <a:cxnSpLocks/>
            </p:cNvCxnSpPr>
            <p:nvPr/>
          </p:nvCxnSpPr>
          <p:spPr>
            <a:xfrm>
              <a:off x="1905001" y="3918076"/>
              <a:ext cx="556370" cy="69159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85F12A3-9991-4A49-A9FA-2C6A31552A9A}"/>
                </a:ext>
              </a:extLst>
            </p:cNvPr>
            <p:cNvCxnSpPr>
              <a:cxnSpLocks/>
            </p:cNvCxnSpPr>
            <p:nvPr/>
          </p:nvCxnSpPr>
          <p:spPr>
            <a:xfrm flipH="1">
              <a:off x="1922280" y="4004710"/>
              <a:ext cx="410901" cy="58392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47" name="TextBox 46">
            <a:extLst>
              <a:ext uri="{FF2B5EF4-FFF2-40B4-BE49-F238E27FC236}">
                <a16:creationId xmlns:a16="http://schemas.microsoft.com/office/drawing/2014/main" id="{EF120EFB-B8AC-4D64-A800-9596195E314F}"/>
              </a:ext>
            </a:extLst>
          </p:cNvPr>
          <p:cNvSpPr txBox="1"/>
          <p:nvPr/>
        </p:nvSpPr>
        <p:spPr>
          <a:xfrm>
            <a:off x="4002158" y="5155096"/>
            <a:ext cx="4181056" cy="646331"/>
          </a:xfrm>
          <a:prstGeom prst="rect">
            <a:avLst/>
          </a:prstGeom>
          <a:noFill/>
        </p:spPr>
        <p:txBody>
          <a:bodyPr wrap="square" rtlCol="0">
            <a:spAutoFit/>
          </a:bodyPr>
          <a:lstStyle/>
          <a:p>
            <a:pPr algn="just"/>
            <a:r>
              <a:rPr lang="en-US" dirty="0"/>
              <a:t>When there is no inheritance there is no method overriding.</a:t>
            </a:r>
            <a:endParaRPr lang="en-IN" dirty="0"/>
          </a:p>
        </p:txBody>
      </p:sp>
      <p:sp>
        <p:nvSpPr>
          <p:cNvPr id="7" name="Footer Placeholder 6">
            <a:extLst>
              <a:ext uri="{FF2B5EF4-FFF2-40B4-BE49-F238E27FC236}">
                <a16:creationId xmlns:a16="http://schemas.microsoft.com/office/drawing/2014/main" id="{99A76D80-0428-9C02-299A-85C4942CD1AB}"/>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16957241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461665"/>
              </a:xfrm>
              <a:prstGeom prst="rect">
                <a:avLst/>
              </a:prstGeom>
            </p:spPr>
            <p:txBody>
              <a:bodyPr wrap="square">
                <a:spAutoFit/>
              </a:bodyPr>
              <a:lstStyle/>
              <a:p>
                <a:pPr algn="ctr"/>
                <a:r>
                  <a:rPr lang="en-US" sz="2400" b="1" dirty="0">
                    <a:solidFill>
                      <a:schemeClr val="bg1"/>
                    </a:solidFill>
                    <a:latin typeface="Bookman Old Style" panose="02050604050505020204" pitchFamily="18" charset="0"/>
                  </a:rPr>
                  <a:t>Method Syntax</a:t>
                </a:r>
                <a:endParaRPr lang="en-US" sz="105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27" name="TextBox 26">
            <a:extLst>
              <a:ext uri="{FF2B5EF4-FFF2-40B4-BE49-F238E27FC236}">
                <a16:creationId xmlns:a16="http://schemas.microsoft.com/office/drawing/2014/main" id="{B391ADAD-C3D9-4175-B2AC-F9254A693EC0}"/>
              </a:ext>
            </a:extLst>
          </p:cNvPr>
          <p:cNvSpPr txBox="1"/>
          <p:nvPr/>
        </p:nvSpPr>
        <p:spPr>
          <a:xfrm>
            <a:off x="571500" y="798447"/>
            <a:ext cx="8628821" cy="523220"/>
          </a:xfrm>
          <a:prstGeom prst="rect">
            <a:avLst/>
          </a:prstGeom>
          <a:noFill/>
        </p:spPr>
        <p:txBody>
          <a:bodyPr wrap="square">
            <a:spAutoFit/>
          </a:bodyPr>
          <a:lstStyle/>
          <a:p>
            <a:pPr algn="just"/>
            <a:r>
              <a:rPr lang="en-US" sz="2800" u="sng" dirty="0">
                <a:solidFill>
                  <a:srgbClr val="FF0000"/>
                </a:solidFill>
              </a:rPr>
              <a:t>About final method:</a:t>
            </a:r>
          </a:p>
        </p:txBody>
      </p:sp>
      <p:sp>
        <p:nvSpPr>
          <p:cNvPr id="47" name="TextBox 46">
            <a:extLst>
              <a:ext uri="{FF2B5EF4-FFF2-40B4-BE49-F238E27FC236}">
                <a16:creationId xmlns:a16="http://schemas.microsoft.com/office/drawing/2014/main" id="{EF120EFB-B8AC-4D64-A800-9596195E314F}"/>
              </a:ext>
            </a:extLst>
          </p:cNvPr>
          <p:cNvSpPr txBox="1"/>
          <p:nvPr/>
        </p:nvSpPr>
        <p:spPr>
          <a:xfrm>
            <a:off x="571500" y="1408656"/>
            <a:ext cx="8628820" cy="4893647"/>
          </a:xfrm>
          <a:prstGeom prst="rect">
            <a:avLst/>
          </a:prstGeom>
          <a:noFill/>
        </p:spPr>
        <p:txBody>
          <a:bodyPr wrap="square" rtlCol="0">
            <a:spAutoFit/>
          </a:bodyPr>
          <a:lstStyle/>
          <a:p>
            <a:pPr marL="285750" indent="-285750" algn="just">
              <a:buFont typeface="Wingdings" panose="05000000000000000000" pitchFamily="2" charset="2"/>
              <a:buChar char="ü"/>
            </a:pPr>
            <a:r>
              <a:rPr lang="en-US" sz="2400" dirty="0"/>
              <a:t>Same like declaring final variable as static variable. </a:t>
            </a:r>
          </a:p>
          <a:p>
            <a:pPr marL="285750" indent="-285750" algn="just">
              <a:buFont typeface="Wingdings" panose="05000000000000000000" pitchFamily="2" charset="2"/>
              <a:buChar char="ü"/>
            </a:pPr>
            <a:r>
              <a:rPr lang="en-US" sz="2400" dirty="0"/>
              <a:t>It is also recommended to declare final method as static method. </a:t>
            </a:r>
          </a:p>
          <a:p>
            <a:pPr marL="285750" indent="-285750" algn="just">
              <a:buFont typeface="Wingdings" panose="05000000000000000000" pitchFamily="2" charset="2"/>
              <a:buChar char="ü"/>
            </a:pPr>
            <a:r>
              <a:rPr lang="en-US" sz="2400" dirty="0"/>
              <a:t>If we don’t declare final method as static method, in every instance a separate memory is allocated for final methods which is wastage of memory.</a:t>
            </a:r>
          </a:p>
          <a:p>
            <a:pPr marL="285750" indent="-285750" algn="just">
              <a:buFont typeface="Wingdings" panose="05000000000000000000" pitchFamily="2" charset="2"/>
              <a:buChar char="ü"/>
            </a:pPr>
            <a:r>
              <a:rPr lang="en-US" sz="2400" dirty="0"/>
              <a:t>static methods memory is allocated in class memory, the memory of a class in which method exist.</a:t>
            </a:r>
          </a:p>
          <a:p>
            <a:pPr marL="285750" indent="-285750" algn="just">
              <a:buFont typeface="Wingdings" panose="05000000000000000000" pitchFamily="2" charset="2"/>
              <a:buChar char="ü"/>
            </a:pPr>
            <a:r>
              <a:rPr lang="en-US" sz="2400" dirty="0"/>
              <a:t>If method is declare as static the memory is allocated in class memory of the same class. Suppose of static alone method is overridden in sub class, to the overridden method the memory is allocated in sub class’s class memory.</a:t>
            </a:r>
          </a:p>
          <a:p>
            <a:pPr marL="285750" indent="-285750" algn="just">
              <a:buFont typeface="Wingdings" panose="05000000000000000000" pitchFamily="2" charset="2"/>
              <a:buChar char="ü"/>
            </a:pPr>
            <a:r>
              <a:rPr lang="en-US" sz="2400" dirty="0"/>
              <a:t>For super class static method, in super class’s class memory the memory is allocated for super class static method.</a:t>
            </a:r>
            <a:endParaRPr lang="en-IN" sz="2400" dirty="0"/>
          </a:p>
        </p:txBody>
      </p:sp>
      <p:sp>
        <p:nvSpPr>
          <p:cNvPr id="7" name="Footer Placeholder 6">
            <a:extLst>
              <a:ext uri="{FF2B5EF4-FFF2-40B4-BE49-F238E27FC236}">
                <a16:creationId xmlns:a16="http://schemas.microsoft.com/office/drawing/2014/main" id="{C06CCC79-750E-8E0B-0097-74BE776CC6FD}"/>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53512495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461665"/>
              </a:xfrm>
              <a:prstGeom prst="rect">
                <a:avLst/>
              </a:prstGeom>
            </p:spPr>
            <p:txBody>
              <a:bodyPr wrap="square">
                <a:spAutoFit/>
              </a:bodyPr>
              <a:lstStyle/>
              <a:p>
                <a:pPr algn="ctr"/>
                <a:r>
                  <a:rPr lang="en-US" sz="2400" b="1" dirty="0">
                    <a:solidFill>
                      <a:schemeClr val="bg1"/>
                    </a:solidFill>
                    <a:latin typeface="Bookman Old Style" panose="02050604050505020204" pitchFamily="18" charset="0"/>
                  </a:rPr>
                  <a:t>static block</a:t>
                </a:r>
                <a:endParaRPr lang="en-US" sz="105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27" name="TextBox 26">
            <a:extLst>
              <a:ext uri="{FF2B5EF4-FFF2-40B4-BE49-F238E27FC236}">
                <a16:creationId xmlns:a16="http://schemas.microsoft.com/office/drawing/2014/main" id="{B391ADAD-C3D9-4175-B2AC-F9254A693EC0}"/>
              </a:ext>
            </a:extLst>
          </p:cNvPr>
          <p:cNvSpPr txBox="1"/>
          <p:nvPr/>
        </p:nvSpPr>
        <p:spPr>
          <a:xfrm>
            <a:off x="571500" y="798447"/>
            <a:ext cx="8628821" cy="523220"/>
          </a:xfrm>
          <a:prstGeom prst="rect">
            <a:avLst/>
          </a:prstGeom>
          <a:noFill/>
        </p:spPr>
        <p:txBody>
          <a:bodyPr wrap="square">
            <a:spAutoFit/>
          </a:bodyPr>
          <a:lstStyle/>
          <a:p>
            <a:pPr algn="just"/>
            <a:r>
              <a:rPr lang="en-US" sz="2800" u="sng" dirty="0">
                <a:solidFill>
                  <a:srgbClr val="FF0000"/>
                </a:solidFill>
              </a:rPr>
              <a:t>static block</a:t>
            </a:r>
          </a:p>
        </p:txBody>
      </p:sp>
      <p:sp>
        <p:nvSpPr>
          <p:cNvPr id="47" name="TextBox 46">
            <a:extLst>
              <a:ext uri="{FF2B5EF4-FFF2-40B4-BE49-F238E27FC236}">
                <a16:creationId xmlns:a16="http://schemas.microsoft.com/office/drawing/2014/main" id="{EF120EFB-B8AC-4D64-A800-9596195E314F}"/>
              </a:ext>
            </a:extLst>
          </p:cNvPr>
          <p:cNvSpPr txBox="1"/>
          <p:nvPr/>
        </p:nvSpPr>
        <p:spPr>
          <a:xfrm>
            <a:off x="571500" y="1408656"/>
            <a:ext cx="8628820" cy="1938992"/>
          </a:xfrm>
          <a:prstGeom prst="rect">
            <a:avLst/>
          </a:prstGeom>
          <a:noFill/>
        </p:spPr>
        <p:txBody>
          <a:bodyPr wrap="square" rtlCol="0">
            <a:spAutoFit/>
          </a:bodyPr>
          <a:lstStyle/>
          <a:p>
            <a:pPr marL="285750" indent="-285750" algn="just">
              <a:buFont typeface="Wingdings" panose="05000000000000000000" pitchFamily="2" charset="2"/>
              <a:buChar char="ü"/>
            </a:pPr>
            <a:r>
              <a:rPr lang="en-US" sz="2400" dirty="0"/>
              <a:t>static blocks will be executed at the time of class loading.</a:t>
            </a:r>
          </a:p>
          <a:p>
            <a:pPr marL="285750" indent="-285750" algn="just">
              <a:buFont typeface="Wingdings" panose="05000000000000000000" pitchFamily="2" charset="2"/>
              <a:buChar char="ü"/>
            </a:pPr>
            <a:endParaRPr lang="en-US" sz="2400" dirty="0"/>
          </a:p>
          <a:p>
            <a:pPr marL="285750" indent="-285750" algn="just">
              <a:buFont typeface="Wingdings" panose="05000000000000000000" pitchFamily="2" charset="2"/>
              <a:buChar char="ü"/>
            </a:pPr>
            <a:r>
              <a:rPr lang="en-US" sz="2400" dirty="0"/>
              <a:t>non-static blocks are also called as constructor blocks which will execute before constructor execution. constructor is used while creating object of the class.</a:t>
            </a:r>
            <a:endParaRPr lang="en-IN" sz="2400" dirty="0"/>
          </a:p>
        </p:txBody>
      </p:sp>
      <p:sp>
        <p:nvSpPr>
          <p:cNvPr id="7" name="Footer Placeholder 6">
            <a:extLst>
              <a:ext uri="{FF2B5EF4-FFF2-40B4-BE49-F238E27FC236}">
                <a16:creationId xmlns:a16="http://schemas.microsoft.com/office/drawing/2014/main" id="{5DDF0DD8-59FE-0CCA-AF52-B72CD68D6CB7}"/>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86568503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461665"/>
              </a:xfrm>
              <a:prstGeom prst="rect">
                <a:avLst/>
              </a:prstGeom>
            </p:spPr>
            <p:txBody>
              <a:bodyPr wrap="square">
                <a:spAutoFit/>
              </a:bodyPr>
              <a:lstStyle/>
              <a:p>
                <a:pPr algn="ctr"/>
                <a:r>
                  <a:rPr lang="en-US" sz="2400" b="1" dirty="0">
                    <a:solidFill>
                      <a:schemeClr val="bg1"/>
                    </a:solidFill>
                    <a:latin typeface="Bookman Old Style" panose="02050604050505020204" pitchFamily="18" charset="0"/>
                  </a:rPr>
                  <a:t>static block</a:t>
                </a:r>
                <a:endParaRPr lang="en-US" sz="105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27" name="TextBox 26">
            <a:extLst>
              <a:ext uri="{FF2B5EF4-FFF2-40B4-BE49-F238E27FC236}">
                <a16:creationId xmlns:a16="http://schemas.microsoft.com/office/drawing/2014/main" id="{B391ADAD-C3D9-4175-B2AC-F9254A693EC0}"/>
              </a:ext>
            </a:extLst>
          </p:cNvPr>
          <p:cNvSpPr txBox="1"/>
          <p:nvPr/>
        </p:nvSpPr>
        <p:spPr>
          <a:xfrm>
            <a:off x="571500" y="798447"/>
            <a:ext cx="8628821" cy="523220"/>
          </a:xfrm>
          <a:prstGeom prst="rect">
            <a:avLst/>
          </a:prstGeom>
          <a:noFill/>
        </p:spPr>
        <p:txBody>
          <a:bodyPr wrap="square">
            <a:spAutoFit/>
          </a:bodyPr>
          <a:lstStyle/>
          <a:p>
            <a:pPr algn="just"/>
            <a:r>
              <a:rPr lang="en-US" sz="2800" u="sng" dirty="0">
                <a:solidFill>
                  <a:srgbClr val="FF0000"/>
                </a:solidFill>
              </a:rPr>
              <a:t>static block</a:t>
            </a:r>
          </a:p>
        </p:txBody>
      </p:sp>
      <p:sp>
        <p:nvSpPr>
          <p:cNvPr id="19" name="TextBox 18">
            <a:extLst>
              <a:ext uri="{FF2B5EF4-FFF2-40B4-BE49-F238E27FC236}">
                <a16:creationId xmlns:a16="http://schemas.microsoft.com/office/drawing/2014/main" id="{3C0698EE-8368-4F80-8282-3B46BF1E0EFD}"/>
              </a:ext>
            </a:extLst>
          </p:cNvPr>
          <p:cNvSpPr txBox="1"/>
          <p:nvPr/>
        </p:nvSpPr>
        <p:spPr>
          <a:xfrm>
            <a:off x="571500" y="1375809"/>
            <a:ext cx="4676361" cy="3693319"/>
          </a:xfrm>
          <a:prstGeom prst="rect">
            <a:avLst/>
          </a:prstGeom>
          <a:noFill/>
        </p:spPr>
        <p:txBody>
          <a:bodyPr wrap="square">
            <a:spAutoFit/>
          </a:bodyPr>
          <a:lstStyle/>
          <a:p>
            <a:r>
              <a:rPr lang="en-IN" dirty="0"/>
              <a:t>class E {</a:t>
            </a:r>
          </a:p>
          <a:p>
            <a:endParaRPr lang="en-IN" dirty="0"/>
          </a:p>
          <a:p>
            <a:r>
              <a:rPr lang="en-IN" dirty="0"/>
              <a:t>  static {</a:t>
            </a:r>
          </a:p>
          <a:p>
            <a:r>
              <a:rPr lang="en-IN" dirty="0"/>
              <a:t>    System.out.println("first static block of E");</a:t>
            </a:r>
          </a:p>
          <a:p>
            <a:r>
              <a:rPr lang="en-IN" dirty="0"/>
              <a:t>  }</a:t>
            </a:r>
          </a:p>
          <a:p>
            <a:r>
              <a:rPr lang="en-IN" dirty="0"/>
              <a:t>  </a:t>
            </a:r>
          </a:p>
          <a:p>
            <a:r>
              <a:rPr lang="en-IN" dirty="0"/>
              <a:t>  E() {</a:t>
            </a:r>
          </a:p>
          <a:p>
            <a:r>
              <a:rPr lang="en-IN" dirty="0"/>
              <a:t>  }</a:t>
            </a:r>
          </a:p>
          <a:p>
            <a:r>
              <a:rPr lang="en-IN" dirty="0"/>
              <a:t>  </a:t>
            </a:r>
          </a:p>
          <a:p>
            <a:r>
              <a:rPr lang="en-IN" dirty="0"/>
              <a:t>  static {</a:t>
            </a:r>
          </a:p>
          <a:p>
            <a:r>
              <a:rPr lang="en-IN" dirty="0"/>
              <a:t>    System.out.println("second static block of E");</a:t>
            </a:r>
          </a:p>
          <a:p>
            <a:r>
              <a:rPr lang="en-IN" dirty="0"/>
              <a:t>  }</a:t>
            </a:r>
          </a:p>
          <a:p>
            <a:r>
              <a:rPr lang="en-IN" dirty="0"/>
              <a:t>}</a:t>
            </a:r>
          </a:p>
        </p:txBody>
      </p:sp>
      <p:sp>
        <p:nvSpPr>
          <p:cNvPr id="24" name="TextBox 23">
            <a:extLst>
              <a:ext uri="{FF2B5EF4-FFF2-40B4-BE49-F238E27FC236}">
                <a16:creationId xmlns:a16="http://schemas.microsoft.com/office/drawing/2014/main" id="{AF73378F-3503-4309-BE1A-074AAE516965}"/>
              </a:ext>
            </a:extLst>
          </p:cNvPr>
          <p:cNvSpPr txBox="1"/>
          <p:nvPr/>
        </p:nvSpPr>
        <p:spPr>
          <a:xfrm>
            <a:off x="6581843" y="1434042"/>
            <a:ext cx="3912701" cy="1754326"/>
          </a:xfrm>
          <a:prstGeom prst="rect">
            <a:avLst/>
          </a:prstGeom>
          <a:noFill/>
        </p:spPr>
        <p:txBody>
          <a:bodyPr wrap="square">
            <a:spAutoFit/>
          </a:bodyPr>
          <a:lstStyle/>
          <a:p>
            <a:r>
              <a:rPr lang="en-IN" dirty="0"/>
              <a:t>class F {</a:t>
            </a:r>
          </a:p>
          <a:p>
            <a:r>
              <a:rPr lang="en-IN" dirty="0"/>
              <a:t>  E </a:t>
            </a:r>
            <a:r>
              <a:rPr lang="en-IN" dirty="0" err="1"/>
              <a:t>e</a:t>
            </a:r>
            <a:r>
              <a:rPr lang="en-IN" dirty="0"/>
              <a:t>;</a:t>
            </a:r>
          </a:p>
          <a:p>
            <a:r>
              <a:rPr lang="en-IN" dirty="0"/>
              <a:t>  public static void main(String rags[]) {</a:t>
            </a:r>
          </a:p>
          <a:p>
            <a:r>
              <a:rPr lang="en-IN" dirty="0"/>
              <a:t>   E e=new E();</a:t>
            </a:r>
          </a:p>
          <a:p>
            <a:r>
              <a:rPr lang="en-IN" dirty="0"/>
              <a:t>  }</a:t>
            </a:r>
          </a:p>
          <a:p>
            <a:r>
              <a:rPr lang="en-IN" dirty="0"/>
              <a:t>}</a:t>
            </a:r>
          </a:p>
        </p:txBody>
      </p:sp>
      <p:sp>
        <p:nvSpPr>
          <p:cNvPr id="7" name="Footer Placeholder 6">
            <a:extLst>
              <a:ext uri="{FF2B5EF4-FFF2-40B4-BE49-F238E27FC236}">
                <a16:creationId xmlns:a16="http://schemas.microsoft.com/office/drawing/2014/main" id="{CD9759E6-E085-1042-8160-57021070AA60}"/>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417727281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461665"/>
              </a:xfrm>
              <a:prstGeom prst="rect">
                <a:avLst/>
              </a:prstGeom>
            </p:spPr>
            <p:txBody>
              <a:bodyPr wrap="square">
                <a:spAutoFit/>
              </a:bodyPr>
              <a:lstStyle/>
              <a:p>
                <a:pPr algn="ctr"/>
                <a:r>
                  <a:rPr lang="en-US" sz="2400" b="1" dirty="0">
                    <a:solidFill>
                      <a:schemeClr val="bg1"/>
                    </a:solidFill>
                    <a:latin typeface="Bookman Old Style" panose="02050604050505020204" pitchFamily="18" charset="0"/>
                  </a:rPr>
                  <a:t>static block</a:t>
                </a:r>
                <a:endParaRPr lang="en-US" sz="105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27" name="TextBox 26">
            <a:extLst>
              <a:ext uri="{FF2B5EF4-FFF2-40B4-BE49-F238E27FC236}">
                <a16:creationId xmlns:a16="http://schemas.microsoft.com/office/drawing/2014/main" id="{B391ADAD-C3D9-4175-B2AC-F9254A693EC0}"/>
              </a:ext>
            </a:extLst>
          </p:cNvPr>
          <p:cNvSpPr txBox="1"/>
          <p:nvPr/>
        </p:nvSpPr>
        <p:spPr>
          <a:xfrm>
            <a:off x="571500" y="798447"/>
            <a:ext cx="8628821" cy="523220"/>
          </a:xfrm>
          <a:prstGeom prst="rect">
            <a:avLst/>
          </a:prstGeom>
          <a:noFill/>
        </p:spPr>
        <p:txBody>
          <a:bodyPr wrap="square">
            <a:spAutoFit/>
          </a:bodyPr>
          <a:lstStyle/>
          <a:p>
            <a:pPr algn="just"/>
            <a:r>
              <a:rPr lang="en-US" sz="2800" u="sng" dirty="0">
                <a:solidFill>
                  <a:srgbClr val="FF0000"/>
                </a:solidFill>
              </a:rPr>
              <a:t>static block Example:</a:t>
            </a:r>
          </a:p>
        </p:txBody>
      </p:sp>
      <p:sp>
        <p:nvSpPr>
          <p:cNvPr id="25" name="TextBox 24">
            <a:extLst>
              <a:ext uri="{FF2B5EF4-FFF2-40B4-BE49-F238E27FC236}">
                <a16:creationId xmlns:a16="http://schemas.microsoft.com/office/drawing/2014/main" id="{B4C859D3-56E3-446C-A92A-A6B39FCA9ED3}"/>
              </a:ext>
            </a:extLst>
          </p:cNvPr>
          <p:cNvSpPr txBox="1"/>
          <p:nvPr/>
        </p:nvSpPr>
        <p:spPr>
          <a:xfrm>
            <a:off x="301488" y="1321667"/>
            <a:ext cx="5537489" cy="4431983"/>
          </a:xfrm>
          <a:prstGeom prst="rect">
            <a:avLst/>
          </a:prstGeom>
          <a:noFill/>
        </p:spPr>
        <p:txBody>
          <a:bodyPr wrap="square">
            <a:spAutoFit/>
          </a:bodyPr>
          <a:lstStyle/>
          <a:p>
            <a:r>
              <a:rPr lang="en-IN" sz="1600" dirty="0"/>
              <a:t>// StaticExample.java</a:t>
            </a:r>
          </a:p>
          <a:p>
            <a:r>
              <a:rPr lang="en-IN" sz="1600" dirty="0"/>
              <a:t>public class </a:t>
            </a:r>
            <a:r>
              <a:rPr lang="en-IN" sz="1600" dirty="0" err="1"/>
              <a:t>StaticExample</a:t>
            </a:r>
            <a:r>
              <a:rPr lang="en-IN" sz="1600" dirty="0"/>
              <a:t> {</a:t>
            </a:r>
          </a:p>
          <a:p>
            <a:endParaRPr lang="en-IN" sz="1600" dirty="0"/>
          </a:p>
          <a:p>
            <a:r>
              <a:rPr lang="en-IN" sz="1600" dirty="0"/>
              <a:t>  static {</a:t>
            </a:r>
          </a:p>
          <a:p>
            <a:r>
              <a:rPr lang="en-IN" sz="1600" dirty="0"/>
              <a:t>    System.out.println("This is first static block");</a:t>
            </a:r>
          </a:p>
          <a:p>
            <a:r>
              <a:rPr lang="en-IN" sz="1600" dirty="0"/>
              <a:t>  }</a:t>
            </a:r>
          </a:p>
          <a:p>
            <a:r>
              <a:rPr lang="en-IN" sz="1600" dirty="0"/>
              <a:t>  </a:t>
            </a:r>
          </a:p>
          <a:p>
            <a:r>
              <a:rPr lang="en-IN" sz="1600" dirty="0"/>
              <a:t>  public </a:t>
            </a:r>
            <a:r>
              <a:rPr lang="en-IN" sz="1600" dirty="0" err="1"/>
              <a:t>StaticExample</a:t>
            </a:r>
            <a:r>
              <a:rPr lang="en-IN" sz="1600" dirty="0"/>
              <a:t>() {</a:t>
            </a:r>
          </a:p>
          <a:p>
            <a:r>
              <a:rPr lang="en-IN" sz="1600" dirty="0"/>
              <a:t>    System.out.println("This is </a:t>
            </a:r>
            <a:r>
              <a:rPr lang="en-IN" sz="1600" dirty="0" err="1"/>
              <a:t>StaticExample</a:t>
            </a:r>
            <a:r>
              <a:rPr lang="en-IN" sz="1600" dirty="0"/>
              <a:t> class constructor");</a:t>
            </a:r>
          </a:p>
          <a:p>
            <a:r>
              <a:rPr lang="en-IN" sz="1600" dirty="0"/>
              <a:t>  }</a:t>
            </a:r>
          </a:p>
          <a:p>
            <a:r>
              <a:rPr lang="en-IN" sz="1600" dirty="0"/>
              <a:t>  </a:t>
            </a:r>
          </a:p>
          <a:p>
            <a:r>
              <a:rPr lang="en-IN" sz="1600" dirty="0"/>
              <a:t>  public static String </a:t>
            </a:r>
            <a:r>
              <a:rPr lang="en-IN" sz="1600" dirty="0" err="1"/>
              <a:t>staticString</a:t>
            </a:r>
            <a:r>
              <a:rPr lang="en-IN" sz="1600" dirty="0"/>
              <a:t>="Static variable";</a:t>
            </a:r>
          </a:p>
          <a:p>
            <a:r>
              <a:rPr lang="en-IN" sz="1600" dirty="0"/>
              <a:t>  </a:t>
            </a:r>
          </a:p>
          <a:p>
            <a:r>
              <a:rPr lang="en-IN" sz="1600" dirty="0"/>
              <a:t>  static {</a:t>
            </a:r>
          </a:p>
          <a:p>
            <a:r>
              <a:rPr lang="en-IN" sz="1600" dirty="0"/>
              <a:t>    System.out.println("This is second static block "+</a:t>
            </a:r>
            <a:r>
              <a:rPr lang="en-IN" sz="1600" dirty="0" err="1"/>
              <a:t>staticString</a:t>
            </a:r>
            <a:r>
              <a:rPr lang="en-IN" sz="1600" dirty="0"/>
              <a:t>);</a:t>
            </a:r>
          </a:p>
          <a:p>
            <a:r>
              <a:rPr lang="en-IN" sz="1600" dirty="0"/>
              <a:t>  }</a:t>
            </a:r>
          </a:p>
          <a:p>
            <a:r>
              <a:rPr lang="en-IN" sz="1600" dirty="0"/>
              <a:t> </a:t>
            </a:r>
          </a:p>
        </p:txBody>
      </p:sp>
      <p:sp>
        <p:nvSpPr>
          <p:cNvPr id="26" name="TextBox 25">
            <a:extLst>
              <a:ext uri="{FF2B5EF4-FFF2-40B4-BE49-F238E27FC236}">
                <a16:creationId xmlns:a16="http://schemas.microsoft.com/office/drawing/2014/main" id="{1C3A1B73-5570-4CF9-A2C4-BA88D2E18BB6}"/>
              </a:ext>
            </a:extLst>
          </p:cNvPr>
          <p:cNvSpPr txBox="1"/>
          <p:nvPr/>
        </p:nvSpPr>
        <p:spPr>
          <a:xfrm>
            <a:off x="5756675" y="683442"/>
            <a:ext cx="4527015" cy="4185761"/>
          </a:xfrm>
          <a:prstGeom prst="rect">
            <a:avLst/>
          </a:prstGeom>
          <a:noFill/>
        </p:spPr>
        <p:txBody>
          <a:bodyPr wrap="square">
            <a:spAutoFit/>
          </a:bodyPr>
          <a:lstStyle/>
          <a:p>
            <a:endParaRPr lang="en-IN" sz="1400" dirty="0"/>
          </a:p>
          <a:p>
            <a:r>
              <a:rPr lang="en-IN" sz="1400" dirty="0"/>
              <a:t>  public static void main(String rags[])  {</a:t>
            </a:r>
          </a:p>
          <a:p>
            <a:r>
              <a:rPr lang="en-IN" sz="1400" dirty="0"/>
              <a:t>     </a:t>
            </a:r>
            <a:r>
              <a:rPr lang="en-IN" sz="1400" dirty="0" err="1"/>
              <a:t>StaticExample</a:t>
            </a:r>
            <a:r>
              <a:rPr lang="en-IN" sz="1400" dirty="0"/>
              <a:t> se=new  </a:t>
            </a:r>
            <a:r>
              <a:rPr lang="en-IN" sz="1400" dirty="0" err="1"/>
              <a:t>StaticExample</a:t>
            </a:r>
            <a:r>
              <a:rPr lang="en-IN" sz="1400" dirty="0"/>
              <a:t>();</a:t>
            </a:r>
          </a:p>
          <a:p>
            <a:r>
              <a:rPr lang="en-IN" sz="1400" dirty="0"/>
              <a:t>     StaticExample.staticMethod2();</a:t>
            </a:r>
          </a:p>
          <a:p>
            <a:r>
              <a:rPr lang="en-IN" sz="1400" dirty="0"/>
              <a:t>  }</a:t>
            </a:r>
          </a:p>
          <a:p>
            <a:r>
              <a:rPr lang="en-IN" sz="1400" dirty="0"/>
              <a:t>  </a:t>
            </a:r>
          </a:p>
          <a:p>
            <a:r>
              <a:rPr lang="en-IN" sz="1400" dirty="0"/>
              <a:t>  static {		</a:t>
            </a:r>
          </a:p>
          <a:p>
            <a:r>
              <a:rPr lang="en-IN" sz="1400" dirty="0"/>
              <a:t>     staticMethod1();	</a:t>
            </a:r>
          </a:p>
          <a:p>
            <a:r>
              <a:rPr lang="en-IN" sz="1400" dirty="0"/>
              <a:t>     System.out.println("This is third static block");	</a:t>
            </a:r>
          </a:p>
          <a:p>
            <a:r>
              <a:rPr lang="en-IN" sz="1400" dirty="0"/>
              <a:t>  }</a:t>
            </a:r>
          </a:p>
          <a:p>
            <a:r>
              <a:rPr lang="en-IN" sz="1400" dirty="0"/>
              <a:t>  </a:t>
            </a:r>
          </a:p>
          <a:p>
            <a:r>
              <a:rPr lang="en-IN" sz="1400" dirty="0"/>
              <a:t>  public static void staticMethod1() {  </a:t>
            </a:r>
          </a:p>
          <a:p>
            <a:r>
              <a:rPr lang="en-IN" sz="1400" dirty="0"/>
              <a:t>    System.out.println("This is staticMethod1()");	</a:t>
            </a:r>
          </a:p>
          <a:p>
            <a:r>
              <a:rPr lang="en-IN" sz="1400" dirty="0"/>
              <a:t>  }</a:t>
            </a:r>
          </a:p>
          <a:p>
            <a:r>
              <a:rPr lang="en-IN" sz="1400" dirty="0"/>
              <a:t>  </a:t>
            </a:r>
          </a:p>
          <a:p>
            <a:r>
              <a:rPr lang="en-IN" sz="1400" dirty="0"/>
              <a:t>  public static void staticMethod2() {  </a:t>
            </a:r>
          </a:p>
          <a:p>
            <a:r>
              <a:rPr lang="en-IN" sz="1400" dirty="0"/>
              <a:t>    System.out.println("This is staticMethod2()”);	</a:t>
            </a:r>
          </a:p>
          <a:p>
            <a:r>
              <a:rPr lang="en-IN" sz="1400" dirty="0"/>
              <a:t>  }</a:t>
            </a:r>
          </a:p>
          <a:p>
            <a:r>
              <a:rPr lang="en-IN" sz="1400" dirty="0"/>
              <a:t>}</a:t>
            </a:r>
          </a:p>
        </p:txBody>
      </p:sp>
      <p:sp>
        <p:nvSpPr>
          <p:cNvPr id="7" name="Footer Placeholder 6">
            <a:extLst>
              <a:ext uri="{FF2B5EF4-FFF2-40B4-BE49-F238E27FC236}">
                <a16:creationId xmlns:a16="http://schemas.microsoft.com/office/drawing/2014/main" id="{C4E25BF9-D6AC-561E-C916-D2EB2F2A4E8A}"/>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13041593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461665"/>
              </a:xfrm>
              <a:prstGeom prst="rect">
                <a:avLst/>
              </a:prstGeom>
            </p:spPr>
            <p:txBody>
              <a:bodyPr wrap="square">
                <a:spAutoFit/>
              </a:bodyPr>
              <a:lstStyle/>
              <a:p>
                <a:pPr algn="ctr"/>
                <a:r>
                  <a:rPr lang="en-US" sz="2400" b="1" dirty="0">
                    <a:solidFill>
                      <a:schemeClr val="bg1"/>
                    </a:solidFill>
                    <a:latin typeface="Bookman Old Style" panose="02050604050505020204" pitchFamily="18" charset="0"/>
                  </a:rPr>
                  <a:t>static block</a:t>
                </a:r>
                <a:endParaRPr lang="en-US" sz="105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27" name="TextBox 26">
            <a:extLst>
              <a:ext uri="{FF2B5EF4-FFF2-40B4-BE49-F238E27FC236}">
                <a16:creationId xmlns:a16="http://schemas.microsoft.com/office/drawing/2014/main" id="{B391ADAD-C3D9-4175-B2AC-F9254A693EC0}"/>
              </a:ext>
            </a:extLst>
          </p:cNvPr>
          <p:cNvSpPr txBox="1"/>
          <p:nvPr/>
        </p:nvSpPr>
        <p:spPr>
          <a:xfrm>
            <a:off x="571500" y="798447"/>
            <a:ext cx="8628821" cy="523220"/>
          </a:xfrm>
          <a:prstGeom prst="rect">
            <a:avLst/>
          </a:prstGeom>
          <a:noFill/>
        </p:spPr>
        <p:txBody>
          <a:bodyPr wrap="square">
            <a:spAutoFit/>
          </a:bodyPr>
          <a:lstStyle/>
          <a:p>
            <a:pPr algn="just"/>
            <a:r>
              <a:rPr lang="en-US" sz="2800" u="sng" dirty="0">
                <a:solidFill>
                  <a:srgbClr val="FF0000"/>
                </a:solidFill>
              </a:rPr>
              <a:t>static block Example:</a:t>
            </a:r>
          </a:p>
        </p:txBody>
      </p:sp>
      <p:sp>
        <p:nvSpPr>
          <p:cNvPr id="19" name="TextBox 18">
            <a:extLst>
              <a:ext uri="{FF2B5EF4-FFF2-40B4-BE49-F238E27FC236}">
                <a16:creationId xmlns:a16="http://schemas.microsoft.com/office/drawing/2014/main" id="{28B61E58-39EC-45F7-8A4A-F9C5D4B3474A}"/>
              </a:ext>
            </a:extLst>
          </p:cNvPr>
          <p:cNvSpPr txBox="1"/>
          <p:nvPr/>
        </p:nvSpPr>
        <p:spPr>
          <a:xfrm>
            <a:off x="571500" y="1399633"/>
            <a:ext cx="9182100" cy="1938992"/>
          </a:xfrm>
          <a:prstGeom prst="rect">
            <a:avLst/>
          </a:prstGeom>
          <a:noFill/>
        </p:spPr>
        <p:txBody>
          <a:bodyPr wrap="square">
            <a:spAutoFit/>
          </a:bodyPr>
          <a:lstStyle/>
          <a:p>
            <a:r>
              <a:rPr lang="en-IN" sz="2400" dirty="0"/>
              <a:t>Note: </a:t>
            </a:r>
          </a:p>
          <a:p>
            <a:pPr marL="342900" indent="-342900" algn="just">
              <a:buFont typeface="Arial" panose="020B0604020202020204" pitchFamily="34" charset="0"/>
              <a:buChar char="•"/>
            </a:pPr>
            <a:r>
              <a:rPr lang="en-IN" sz="2400" dirty="0"/>
              <a:t>static blocks are mainly used to load native libraries into java program. Native libraries files contains functions implemented in C++/VC++. We can connect them through native methods declared in Java class.</a:t>
            </a:r>
          </a:p>
        </p:txBody>
      </p:sp>
      <p:sp>
        <p:nvSpPr>
          <p:cNvPr id="7" name="Footer Placeholder 6">
            <a:extLst>
              <a:ext uri="{FF2B5EF4-FFF2-40B4-BE49-F238E27FC236}">
                <a16:creationId xmlns:a16="http://schemas.microsoft.com/office/drawing/2014/main" id="{0A39C4F6-8653-C74B-5E7D-A5046915AB66}"/>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04266643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2" y="210113"/>
                <a:ext cx="5873505" cy="461665"/>
              </a:xfrm>
              <a:prstGeom prst="rect">
                <a:avLst/>
              </a:prstGeom>
            </p:spPr>
            <p:txBody>
              <a:bodyPr wrap="square">
                <a:spAutoFit/>
              </a:bodyPr>
              <a:lstStyle/>
              <a:p>
                <a:pPr algn="ctr"/>
                <a:r>
                  <a:rPr lang="en-US" sz="2400" b="1" dirty="0">
                    <a:solidFill>
                      <a:schemeClr val="bg1"/>
                    </a:solidFill>
                    <a:latin typeface="Bookman Old Style" panose="02050604050505020204" pitchFamily="18" charset="0"/>
                  </a:rPr>
                  <a:t>non-static block</a:t>
                </a:r>
                <a:endParaRPr lang="en-US" sz="1050" b="1" dirty="0">
                  <a:solidFill>
                    <a:schemeClr val="bg1"/>
                  </a:solidFill>
                  <a:latin typeface="Bookman Old Style" panose="02050604050505020204" pitchFamily="18" charset="0"/>
                </a:endParaRPr>
              </a:p>
            </p:txBody>
          </p:sp>
        </p:gr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27" name="TextBox 26">
            <a:extLst>
              <a:ext uri="{FF2B5EF4-FFF2-40B4-BE49-F238E27FC236}">
                <a16:creationId xmlns:a16="http://schemas.microsoft.com/office/drawing/2014/main" id="{B391ADAD-C3D9-4175-B2AC-F9254A693EC0}"/>
              </a:ext>
            </a:extLst>
          </p:cNvPr>
          <p:cNvSpPr txBox="1"/>
          <p:nvPr/>
        </p:nvSpPr>
        <p:spPr>
          <a:xfrm>
            <a:off x="571500" y="798447"/>
            <a:ext cx="8628821" cy="523220"/>
          </a:xfrm>
          <a:prstGeom prst="rect">
            <a:avLst/>
          </a:prstGeom>
          <a:noFill/>
        </p:spPr>
        <p:txBody>
          <a:bodyPr wrap="square">
            <a:spAutoFit/>
          </a:bodyPr>
          <a:lstStyle/>
          <a:p>
            <a:pPr algn="just"/>
            <a:r>
              <a:rPr lang="en-US" sz="2800" u="sng" dirty="0">
                <a:solidFill>
                  <a:srgbClr val="FF0000"/>
                </a:solidFill>
              </a:rPr>
              <a:t>non-static block:</a:t>
            </a:r>
          </a:p>
        </p:txBody>
      </p:sp>
      <p:sp>
        <p:nvSpPr>
          <p:cNvPr id="19" name="TextBox 18">
            <a:extLst>
              <a:ext uri="{FF2B5EF4-FFF2-40B4-BE49-F238E27FC236}">
                <a16:creationId xmlns:a16="http://schemas.microsoft.com/office/drawing/2014/main" id="{28B61E58-39EC-45F7-8A4A-F9C5D4B3474A}"/>
              </a:ext>
            </a:extLst>
          </p:cNvPr>
          <p:cNvSpPr txBox="1"/>
          <p:nvPr/>
        </p:nvSpPr>
        <p:spPr>
          <a:xfrm>
            <a:off x="571500" y="1350996"/>
            <a:ext cx="3748709" cy="830997"/>
          </a:xfrm>
          <a:prstGeom prst="rect">
            <a:avLst/>
          </a:prstGeom>
          <a:noFill/>
        </p:spPr>
        <p:txBody>
          <a:bodyPr wrap="square">
            <a:spAutoFit/>
          </a:bodyPr>
          <a:lstStyle/>
          <a:p>
            <a:r>
              <a:rPr lang="en-US" sz="2400" dirty="0"/>
              <a:t>Non-static blocks are also called as Constructor blocks. </a:t>
            </a:r>
            <a:endParaRPr lang="en-IN" sz="2400" dirty="0"/>
          </a:p>
        </p:txBody>
      </p:sp>
      <p:sp>
        <p:nvSpPr>
          <p:cNvPr id="24" name="TextBox 23">
            <a:extLst>
              <a:ext uri="{FF2B5EF4-FFF2-40B4-BE49-F238E27FC236}">
                <a16:creationId xmlns:a16="http://schemas.microsoft.com/office/drawing/2014/main" id="{CEE0D5C0-A6E1-4E05-BA05-439C6B851DAB}"/>
              </a:ext>
            </a:extLst>
          </p:cNvPr>
          <p:cNvSpPr txBox="1"/>
          <p:nvPr/>
        </p:nvSpPr>
        <p:spPr>
          <a:xfrm>
            <a:off x="5340791" y="895022"/>
            <a:ext cx="6168886" cy="3231654"/>
          </a:xfrm>
          <a:prstGeom prst="rect">
            <a:avLst/>
          </a:prstGeom>
          <a:noFill/>
        </p:spPr>
        <p:txBody>
          <a:bodyPr wrap="square">
            <a:spAutoFit/>
          </a:bodyPr>
          <a:lstStyle/>
          <a:p>
            <a:r>
              <a:rPr lang="en-IN" sz="1200" dirty="0"/>
              <a:t>// ConstructorBlockExample.java</a:t>
            </a:r>
          </a:p>
          <a:p>
            <a:r>
              <a:rPr lang="en-IN" sz="1200" dirty="0"/>
              <a:t>public class </a:t>
            </a:r>
            <a:r>
              <a:rPr lang="en-IN" sz="1200" dirty="0" err="1"/>
              <a:t>ConstructorBlockExample</a:t>
            </a:r>
            <a:r>
              <a:rPr lang="en-IN" sz="1200" dirty="0"/>
              <a:t> {</a:t>
            </a:r>
          </a:p>
          <a:p>
            <a:endParaRPr lang="en-IN" sz="1200" dirty="0"/>
          </a:p>
          <a:p>
            <a:r>
              <a:rPr lang="en-IN" sz="1200" dirty="0"/>
              <a:t>   // non-static blocks / constructor blocks are open and closed with flower braces without static keyword.</a:t>
            </a:r>
          </a:p>
          <a:p>
            <a:endParaRPr lang="en-IN" sz="1200" dirty="0"/>
          </a:p>
          <a:p>
            <a:r>
              <a:rPr lang="en-IN" sz="1200" dirty="0"/>
              <a:t>   {</a:t>
            </a:r>
          </a:p>
          <a:p>
            <a:r>
              <a:rPr lang="en-IN" sz="1200" dirty="0"/>
              <a:t>	 System.out.println("This is first constructor block");</a:t>
            </a:r>
          </a:p>
          <a:p>
            <a:r>
              <a:rPr lang="en-IN" sz="1200" dirty="0"/>
              <a:t>   }</a:t>
            </a:r>
          </a:p>
          <a:p>
            <a:endParaRPr lang="en-IN" sz="1200" dirty="0"/>
          </a:p>
          <a:p>
            <a:r>
              <a:rPr lang="en-IN" sz="1200" dirty="0"/>
              <a:t>   public </a:t>
            </a:r>
            <a:r>
              <a:rPr lang="en-IN" sz="1200" dirty="0" err="1"/>
              <a:t>ConstructorBlockExample</a:t>
            </a:r>
            <a:r>
              <a:rPr lang="en-IN" sz="1200" dirty="0"/>
              <a:t>() {</a:t>
            </a:r>
          </a:p>
          <a:p>
            <a:r>
              <a:rPr lang="en-IN" sz="1200" dirty="0"/>
              <a:t>	 System.out.println("public no parameter constructor called");</a:t>
            </a:r>
          </a:p>
          <a:p>
            <a:r>
              <a:rPr lang="en-IN" sz="1200" dirty="0"/>
              <a:t>   }</a:t>
            </a:r>
          </a:p>
          <a:p>
            <a:r>
              <a:rPr lang="en-IN" sz="1200" dirty="0"/>
              <a:t>   </a:t>
            </a:r>
          </a:p>
          <a:p>
            <a:r>
              <a:rPr lang="en-IN" sz="1200" dirty="0"/>
              <a:t>   public </a:t>
            </a:r>
            <a:r>
              <a:rPr lang="en-IN" sz="1200" dirty="0" err="1"/>
              <a:t>ConstructorBlockExample</a:t>
            </a:r>
            <a:r>
              <a:rPr lang="en-IN" sz="1200" dirty="0"/>
              <a:t>(String param1) {</a:t>
            </a:r>
          </a:p>
          <a:p>
            <a:r>
              <a:rPr lang="en-IN" sz="1200" dirty="0"/>
              <a:t>	 System.out.println("public single String parameter constructor called");</a:t>
            </a:r>
          </a:p>
          <a:p>
            <a:r>
              <a:rPr lang="en-IN" sz="1200" dirty="0"/>
              <a:t>   }</a:t>
            </a:r>
          </a:p>
        </p:txBody>
      </p:sp>
      <p:sp>
        <p:nvSpPr>
          <p:cNvPr id="25" name="TextBox 24">
            <a:extLst>
              <a:ext uri="{FF2B5EF4-FFF2-40B4-BE49-F238E27FC236}">
                <a16:creationId xmlns:a16="http://schemas.microsoft.com/office/drawing/2014/main" id="{3A8E527D-1894-468B-9A87-ADD691DD3F7E}"/>
              </a:ext>
            </a:extLst>
          </p:cNvPr>
          <p:cNvSpPr txBox="1"/>
          <p:nvPr/>
        </p:nvSpPr>
        <p:spPr>
          <a:xfrm>
            <a:off x="127703" y="3621190"/>
            <a:ext cx="5968297" cy="2862322"/>
          </a:xfrm>
          <a:prstGeom prst="rect">
            <a:avLst/>
          </a:prstGeom>
          <a:noFill/>
        </p:spPr>
        <p:txBody>
          <a:bodyPr wrap="square">
            <a:spAutoFit/>
          </a:bodyPr>
          <a:lstStyle/>
          <a:p>
            <a:r>
              <a:rPr lang="en-IN" sz="1200" dirty="0"/>
              <a:t> public </a:t>
            </a:r>
            <a:r>
              <a:rPr lang="en-IN" sz="1200" dirty="0" err="1"/>
              <a:t>ConstructorBlockExample</a:t>
            </a:r>
            <a:r>
              <a:rPr lang="en-IN" sz="1200" dirty="0"/>
              <a:t>(String param1, String param2) {</a:t>
            </a:r>
          </a:p>
          <a:p>
            <a:r>
              <a:rPr lang="en-IN" sz="1200" dirty="0"/>
              <a:t>	 System.out.println("public two String parameter constructor called");</a:t>
            </a:r>
          </a:p>
          <a:p>
            <a:r>
              <a:rPr lang="en-IN" sz="1200" dirty="0"/>
              <a:t>   }</a:t>
            </a:r>
          </a:p>
          <a:p>
            <a:r>
              <a:rPr lang="en-IN" sz="1200" dirty="0"/>
              <a:t>   </a:t>
            </a:r>
          </a:p>
          <a:p>
            <a:r>
              <a:rPr lang="en-IN" sz="1200" dirty="0"/>
              <a:t>   {</a:t>
            </a:r>
          </a:p>
          <a:p>
            <a:r>
              <a:rPr lang="en-IN" sz="1200" dirty="0"/>
              <a:t>	 System.out.println("This is second constructor block");</a:t>
            </a:r>
          </a:p>
          <a:p>
            <a:r>
              <a:rPr lang="en-IN" sz="1200" dirty="0"/>
              <a:t>   }</a:t>
            </a:r>
          </a:p>
          <a:p>
            <a:r>
              <a:rPr lang="en-IN" sz="1200" dirty="0"/>
              <a:t>   </a:t>
            </a:r>
          </a:p>
          <a:p>
            <a:r>
              <a:rPr lang="en-IN" sz="1200" dirty="0"/>
              <a:t>   public static void main(String rags[]) {</a:t>
            </a:r>
          </a:p>
          <a:p>
            <a:r>
              <a:rPr lang="en-IN" sz="1200" dirty="0"/>
              <a:t>      </a:t>
            </a:r>
            <a:r>
              <a:rPr lang="en-IN" sz="1200" dirty="0" err="1"/>
              <a:t>ConstructorBlockExample</a:t>
            </a:r>
            <a:r>
              <a:rPr lang="en-IN" sz="1200" dirty="0"/>
              <a:t> </a:t>
            </a:r>
            <a:r>
              <a:rPr lang="en-IN" sz="1200" dirty="0" err="1"/>
              <a:t>cbe</a:t>
            </a:r>
            <a:r>
              <a:rPr lang="en-IN" sz="1200" dirty="0"/>
              <a:t>=new </a:t>
            </a:r>
            <a:r>
              <a:rPr lang="en-IN" sz="1200" dirty="0" err="1"/>
              <a:t>ConstructorBlockExample</a:t>
            </a:r>
            <a:r>
              <a:rPr lang="en-IN" sz="1200" dirty="0"/>
              <a:t>();</a:t>
            </a:r>
          </a:p>
          <a:p>
            <a:r>
              <a:rPr lang="en-IN" sz="1200" dirty="0"/>
              <a:t>      </a:t>
            </a:r>
            <a:r>
              <a:rPr lang="en-IN" sz="1200" dirty="0" err="1"/>
              <a:t>ConstructorBlockExample</a:t>
            </a:r>
            <a:r>
              <a:rPr lang="en-IN" sz="1200" dirty="0"/>
              <a:t> </a:t>
            </a:r>
            <a:r>
              <a:rPr lang="en-IN" sz="1200" dirty="0" err="1"/>
              <a:t>cbe</a:t>
            </a:r>
            <a:r>
              <a:rPr lang="en-IN" sz="1200" dirty="0"/>
              <a:t>=new </a:t>
            </a:r>
            <a:r>
              <a:rPr lang="en-IN" sz="1200" dirty="0" err="1"/>
              <a:t>ConstructorBlockExample</a:t>
            </a:r>
            <a:r>
              <a:rPr lang="en-IN" sz="1200" dirty="0"/>
              <a:t>("Argument1");</a:t>
            </a:r>
          </a:p>
          <a:p>
            <a:r>
              <a:rPr lang="en-IN" sz="1200" dirty="0"/>
              <a:t>      </a:t>
            </a:r>
            <a:r>
              <a:rPr lang="en-IN" sz="1200" dirty="0" err="1"/>
              <a:t>ConstructorBlockExample</a:t>
            </a:r>
            <a:r>
              <a:rPr lang="en-IN" sz="1200" dirty="0"/>
              <a:t> </a:t>
            </a:r>
            <a:r>
              <a:rPr lang="en-IN" sz="1200" dirty="0" err="1"/>
              <a:t>cbe</a:t>
            </a:r>
            <a:r>
              <a:rPr lang="en-IN" sz="1200" dirty="0"/>
              <a:t>=new </a:t>
            </a:r>
            <a:r>
              <a:rPr lang="en-IN" sz="1200" dirty="0" err="1"/>
              <a:t>ConstructorBlockExample</a:t>
            </a:r>
            <a:r>
              <a:rPr lang="en-IN" sz="1200" dirty="0"/>
              <a:t>("Argument1", "Argument2");</a:t>
            </a:r>
          </a:p>
          <a:p>
            <a:r>
              <a:rPr lang="en-IN" sz="1200" dirty="0"/>
              <a:t>   }   </a:t>
            </a:r>
          </a:p>
          <a:p>
            <a:r>
              <a:rPr lang="en-IN" sz="1200" dirty="0"/>
              <a:t>}</a:t>
            </a:r>
          </a:p>
        </p:txBody>
      </p:sp>
      <p:sp>
        <p:nvSpPr>
          <p:cNvPr id="26" name="TextBox 25">
            <a:extLst>
              <a:ext uri="{FF2B5EF4-FFF2-40B4-BE49-F238E27FC236}">
                <a16:creationId xmlns:a16="http://schemas.microsoft.com/office/drawing/2014/main" id="{19369211-5A15-42EF-AB3A-E750567A7242}"/>
              </a:ext>
            </a:extLst>
          </p:cNvPr>
          <p:cNvSpPr txBox="1"/>
          <p:nvPr/>
        </p:nvSpPr>
        <p:spPr>
          <a:xfrm>
            <a:off x="5229974" y="4228842"/>
            <a:ext cx="4057038" cy="1754326"/>
          </a:xfrm>
          <a:prstGeom prst="rect">
            <a:avLst/>
          </a:prstGeom>
          <a:noFill/>
        </p:spPr>
        <p:txBody>
          <a:bodyPr wrap="square">
            <a:spAutoFit/>
          </a:bodyPr>
          <a:lstStyle/>
          <a:p>
            <a:pPr algn="just"/>
            <a:r>
              <a:rPr lang="en-IN" b="1" dirty="0" err="1"/>
              <a:t>javac</a:t>
            </a:r>
            <a:r>
              <a:rPr lang="en-IN" b="1" dirty="0"/>
              <a:t> ConstructorBlockExample.java</a:t>
            </a:r>
          </a:p>
          <a:p>
            <a:pPr algn="just"/>
            <a:endParaRPr lang="en-IN" dirty="0"/>
          </a:p>
          <a:p>
            <a:pPr algn="just"/>
            <a:r>
              <a:rPr lang="en-IN" dirty="0"/>
              <a:t>During class compilation, compiler will copy all non-static block statements into every constructor before constructor written statements.</a:t>
            </a:r>
          </a:p>
        </p:txBody>
      </p:sp>
      <p:sp>
        <p:nvSpPr>
          <p:cNvPr id="7" name="Footer Placeholder 6">
            <a:extLst>
              <a:ext uri="{FF2B5EF4-FFF2-40B4-BE49-F238E27FC236}">
                <a16:creationId xmlns:a16="http://schemas.microsoft.com/office/drawing/2014/main" id="{FC09E5AF-5D38-2B26-048E-6B3665D2078B}"/>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1797440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1865</TotalTime>
  <Words>8341</Words>
  <Application>Microsoft Office PowerPoint</Application>
  <PresentationFormat>Widescreen</PresentationFormat>
  <Paragraphs>1327</Paragraphs>
  <Slides>80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80</vt:i4>
      </vt:variant>
    </vt:vector>
  </HeadingPairs>
  <TitlesOfParts>
    <vt:vector size="87" baseType="lpstr">
      <vt:lpstr>Arial</vt:lpstr>
      <vt:lpstr>Bookman Old Style</vt:lpstr>
      <vt:lpstr>Calibri</vt:lpstr>
      <vt:lpstr>Calibri Light</vt:lpstr>
      <vt:lpstr>Open Sans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ICT_4</dc:creator>
  <cp:lastModifiedBy>nivas .</cp:lastModifiedBy>
  <cp:revision>127</cp:revision>
  <dcterms:created xsi:type="dcterms:W3CDTF">2021-09-13T09:22:41Z</dcterms:created>
  <dcterms:modified xsi:type="dcterms:W3CDTF">2023-09-21T05:53:21Z</dcterms:modified>
</cp:coreProperties>
</file>