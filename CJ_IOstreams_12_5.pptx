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9" r:id="rId3"/>
    <p:sldId id="258" r:id="rId4"/>
    <p:sldId id="257"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2BFF"/>
    <a:srgbClr val="0000FF"/>
    <a:srgbClr val="3399FF"/>
    <a:srgbClr val="003F66"/>
    <a:srgbClr val="990033"/>
    <a:srgbClr val="FF9933"/>
    <a:srgbClr val="FF5050"/>
    <a:srgbClr val="F105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7" d="100"/>
          <a:sy n="67"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B639C8-FC3A-40D9-B1DE-AF6982990EDD}" type="datetimeFigureOut">
              <a:rPr lang="en-IN" smtClean="0"/>
              <a:t>24-08-2023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5915E-4F97-48F9-A8EB-14B0F078742F}" type="slidenum">
              <a:rPr lang="en-IN" smtClean="0"/>
              <a:t>‹#›</a:t>
            </a:fld>
            <a:endParaRPr lang="en-IN"/>
          </a:p>
        </p:txBody>
      </p:sp>
    </p:spTree>
    <p:extLst>
      <p:ext uri="{BB962C8B-B14F-4D97-AF65-F5344CB8AC3E}">
        <p14:creationId xmlns:p14="http://schemas.microsoft.com/office/powerpoint/2010/main" val="2474303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5E772E-FB9A-427D-A4FB-DDA4C7000266}"/>
              </a:ext>
            </a:extLst>
          </p:cNvPr>
          <p:cNvSpPr>
            <a:spLocks noGrp="1"/>
          </p:cNvSpPr>
          <p:nvPr>
            <p:ph type="dt" sz="half" idx="10"/>
          </p:nvPr>
        </p:nvSpPr>
        <p:spPr/>
        <p:txBody>
          <a:bodyPr/>
          <a:lstStyle/>
          <a:p>
            <a:fld id="{D64BEC23-1F4C-42B6-A6D8-2D0C199832C7}" type="datetime1">
              <a:rPr lang="en-US" smtClean="0"/>
              <a:t>8/24/2023</a:t>
            </a:fld>
            <a:endParaRPr lang="en-US"/>
          </a:p>
        </p:txBody>
      </p:sp>
      <p:sp>
        <p:nvSpPr>
          <p:cNvPr id="5" name="Footer Placeholder 4">
            <a:extLst>
              <a:ext uri="{FF2B5EF4-FFF2-40B4-BE49-F238E27FC236}">
                <a16:creationId xmlns:a16="http://schemas.microsoft.com/office/drawing/2014/main"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DB2CBC-33D2-4A33-B187-2CD7DA66C582}"/>
              </a:ext>
            </a:extLst>
          </p:cNvPr>
          <p:cNvSpPr>
            <a:spLocks noGrp="1"/>
          </p:cNvSpPr>
          <p:nvPr>
            <p:ph type="dt" sz="half" idx="10"/>
          </p:nvPr>
        </p:nvSpPr>
        <p:spPr/>
        <p:txBody>
          <a:bodyPr/>
          <a:lstStyle/>
          <a:p>
            <a:fld id="{E3A49940-9417-464D-A1F3-9788724AD13F}" type="datetime1">
              <a:rPr lang="en-US" smtClean="0"/>
              <a:t>8/24/2023</a:t>
            </a:fld>
            <a:endParaRPr lang="en-US"/>
          </a:p>
        </p:txBody>
      </p:sp>
      <p:sp>
        <p:nvSpPr>
          <p:cNvPr id="5" name="Footer Placeholder 4">
            <a:extLst>
              <a:ext uri="{FF2B5EF4-FFF2-40B4-BE49-F238E27FC236}">
                <a16:creationId xmlns:a16="http://schemas.microsoft.com/office/drawing/2014/main"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566F5-22D5-459C-990D-7013F4D89A32}"/>
              </a:ext>
            </a:extLst>
          </p:cNvPr>
          <p:cNvSpPr>
            <a:spLocks noGrp="1"/>
          </p:cNvSpPr>
          <p:nvPr>
            <p:ph type="dt" sz="half" idx="10"/>
          </p:nvPr>
        </p:nvSpPr>
        <p:spPr/>
        <p:txBody>
          <a:bodyPr/>
          <a:lstStyle/>
          <a:p>
            <a:fld id="{92F804EA-D547-461B-9907-3DFF271E48CA}" type="datetime1">
              <a:rPr lang="en-US" smtClean="0"/>
              <a:t>8/24/2023</a:t>
            </a:fld>
            <a:endParaRPr lang="en-US"/>
          </a:p>
        </p:txBody>
      </p:sp>
      <p:sp>
        <p:nvSpPr>
          <p:cNvPr id="5" name="Footer Placeholder 4">
            <a:extLst>
              <a:ext uri="{FF2B5EF4-FFF2-40B4-BE49-F238E27FC236}">
                <a16:creationId xmlns:a16="http://schemas.microsoft.com/office/drawing/2014/main"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9E3F09-087B-4D93-9258-8AF6657B21C4}"/>
              </a:ext>
            </a:extLst>
          </p:cNvPr>
          <p:cNvSpPr>
            <a:spLocks noGrp="1"/>
          </p:cNvSpPr>
          <p:nvPr>
            <p:ph type="dt" sz="half" idx="10"/>
          </p:nvPr>
        </p:nvSpPr>
        <p:spPr/>
        <p:txBody>
          <a:bodyPr/>
          <a:lstStyle/>
          <a:p>
            <a:fld id="{373BA36B-7E81-4E35-AF94-E083C4F9ACFF}" type="datetime1">
              <a:rPr lang="en-US" smtClean="0"/>
              <a:t>8/24/2023</a:t>
            </a:fld>
            <a:endParaRPr lang="en-US"/>
          </a:p>
        </p:txBody>
      </p:sp>
      <p:sp>
        <p:nvSpPr>
          <p:cNvPr id="6" name="Footer Placeholder 5">
            <a:extLst>
              <a:ext uri="{FF2B5EF4-FFF2-40B4-BE49-F238E27FC236}">
                <a16:creationId xmlns:a16="http://schemas.microsoft.com/office/drawing/2014/main"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66EBA-30E0-4DF0-96BE-62BE6AB519DD}"/>
              </a:ext>
            </a:extLst>
          </p:cNvPr>
          <p:cNvSpPr>
            <a:spLocks noGrp="1"/>
          </p:cNvSpPr>
          <p:nvPr>
            <p:ph type="dt" sz="half" idx="10"/>
          </p:nvPr>
        </p:nvSpPr>
        <p:spPr/>
        <p:txBody>
          <a:bodyPr/>
          <a:lstStyle/>
          <a:p>
            <a:fld id="{270341CF-7D70-4870-AD86-A56C885BA3C5}" type="datetime1">
              <a:rPr lang="en-US" smtClean="0"/>
              <a:t>8/24/2023</a:t>
            </a:fld>
            <a:endParaRPr lang="en-US"/>
          </a:p>
        </p:txBody>
      </p:sp>
      <p:sp>
        <p:nvSpPr>
          <p:cNvPr id="8" name="Footer Placeholder 7">
            <a:extLst>
              <a:ext uri="{FF2B5EF4-FFF2-40B4-BE49-F238E27FC236}">
                <a16:creationId xmlns:a16="http://schemas.microsoft.com/office/drawing/2014/main"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297C29-F3EE-4250-9919-93948D0BEEB6}"/>
              </a:ext>
            </a:extLst>
          </p:cNvPr>
          <p:cNvSpPr>
            <a:spLocks noGrp="1"/>
          </p:cNvSpPr>
          <p:nvPr>
            <p:ph type="dt" sz="half" idx="10"/>
          </p:nvPr>
        </p:nvSpPr>
        <p:spPr/>
        <p:txBody>
          <a:bodyPr/>
          <a:lstStyle/>
          <a:p>
            <a:fld id="{B960C6E7-DA17-45D9-9111-11D227B1B1AF}" type="datetime1">
              <a:rPr lang="en-US" smtClean="0"/>
              <a:t>8/24/2023</a:t>
            </a:fld>
            <a:endParaRPr lang="en-US"/>
          </a:p>
        </p:txBody>
      </p:sp>
      <p:sp>
        <p:nvSpPr>
          <p:cNvPr id="4" name="Footer Placeholder 3">
            <a:extLst>
              <a:ext uri="{FF2B5EF4-FFF2-40B4-BE49-F238E27FC236}">
                <a16:creationId xmlns:a16="http://schemas.microsoft.com/office/drawing/2014/main"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AAAFAD-BAB5-47A0-9962-AC707DCEEC4C}"/>
              </a:ext>
            </a:extLst>
          </p:cNvPr>
          <p:cNvSpPr>
            <a:spLocks noGrp="1"/>
          </p:cNvSpPr>
          <p:nvPr>
            <p:ph type="dt" sz="half" idx="10"/>
          </p:nvPr>
        </p:nvSpPr>
        <p:spPr/>
        <p:txBody>
          <a:bodyPr/>
          <a:lstStyle/>
          <a:p>
            <a:fld id="{67A949FD-D087-4419-BD4E-FA164CB0A290}" type="datetime1">
              <a:rPr lang="en-US" smtClean="0"/>
              <a:t>8/24/2023</a:t>
            </a:fld>
            <a:endParaRPr lang="en-US"/>
          </a:p>
        </p:txBody>
      </p:sp>
      <p:sp>
        <p:nvSpPr>
          <p:cNvPr id="3" name="Footer Placeholder 2">
            <a:extLst>
              <a:ext uri="{FF2B5EF4-FFF2-40B4-BE49-F238E27FC236}">
                <a16:creationId xmlns:a16="http://schemas.microsoft.com/office/drawing/2014/main"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C9E36-A297-4BF1-AC4B-B05E7A56454F}"/>
              </a:ext>
            </a:extLst>
          </p:cNvPr>
          <p:cNvSpPr>
            <a:spLocks noGrp="1"/>
          </p:cNvSpPr>
          <p:nvPr>
            <p:ph type="dt" sz="half" idx="10"/>
          </p:nvPr>
        </p:nvSpPr>
        <p:spPr/>
        <p:txBody>
          <a:bodyPr/>
          <a:lstStyle/>
          <a:p>
            <a:fld id="{C4FB9D05-07C6-4E7A-A60E-643F482B37B7}" type="datetime1">
              <a:rPr lang="en-US" smtClean="0"/>
              <a:t>8/24/2023</a:t>
            </a:fld>
            <a:endParaRPr lang="en-US"/>
          </a:p>
        </p:txBody>
      </p:sp>
      <p:sp>
        <p:nvSpPr>
          <p:cNvPr id="6" name="Footer Placeholder 5">
            <a:extLst>
              <a:ext uri="{FF2B5EF4-FFF2-40B4-BE49-F238E27FC236}">
                <a16:creationId xmlns:a16="http://schemas.microsoft.com/office/drawing/2014/main"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D0C40-7C93-47EE-B801-F4B254FD1134}"/>
              </a:ext>
            </a:extLst>
          </p:cNvPr>
          <p:cNvSpPr>
            <a:spLocks noGrp="1"/>
          </p:cNvSpPr>
          <p:nvPr>
            <p:ph type="dt" sz="half" idx="10"/>
          </p:nvPr>
        </p:nvSpPr>
        <p:spPr/>
        <p:txBody>
          <a:bodyPr/>
          <a:lstStyle/>
          <a:p>
            <a:fld id="{AFD032F2-3386-40FF-AC67-3AB02D57690B}" type="datetime1">
              <a:rPr lang="en-US" smtClean="0"/>
              <a:t>8/24/2023</a:t>
            </a:fld>
            <a:endParaRPr lang="en-US"/>
          </a:p>
        </p:txBody>
      </p:sp>
      <p:sp>
        <p:nvSpPr>
          <p:cNvPr id="6" name="Footer Placeholder 5">
            <a:extLst>
              <a:ext uri="{FF2B5EF4-FFF2-40B4-BE49-F238E27FC236}">
                <a16:creationId xmlns:a16="http://schemas.microsoft.com/office/drawing/2014/main"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D4618-E7CC-4722-B3AA-20767EE3B7EC}"/>
              </a:ext>
            </a:extLst>
          </p:cNvPr>
          <p:cNvSpPr>
            <a:spLocks noGrp="1"/>
          </p:cNvSpPr>
          <p:nvPr>
            <p:ph type="dt" sz="half" idx="10"/>
          </p:nvPr>
        </p:nvSpPr>
        <p:spPr/>
        <p:txBody>
          <a:bodyPr/>
          <a:lstStyle/>
          <a:p>
            <a:fld id="{606345AE-709E-4DBA-8BA8-DDBB944A9D8B}" type="datetime1">
              <a:rPr lang="en-US" smtClean="0"/>
              <a:t>8/24/2023</a:t>
            </a:fld>
            <a:endParaRPr lang="en-US"/>
          </a:p>
        </p:txBody>
      </p:sp>
      <p:sp>
        <p:nvSpPr>
          <p:cNvPr id="5" name="Footer Placeholder 4">
            <a:extLst>
              <a:ext uri="{FF2B5EF4-FFF2-40B4-BE49-F238E27FC236}">
                <a16:creationId xmlns:a16="http://schemas.microsoft.com/office/drawing/2014/main"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42DD7-D7F2-4D2D-B342-780C9519A101}"/>
              </a:ext>
            </a:extLst>
          </p:cNvPr>
          <p:cNvSpPr>
            <a:spLocks noGrp="1"/>
          </p:cNvSpPr>
          <p:nvPr>
            <p:ph type="dt" sz="half" idx="10"/>
          </p:nvPr>
        </p:nvSpPr>
        <p:spPr/>
        <p:txBody>
          <a:bodyPr/>
          <a:lstStyle/>
          <a:p>
            <a:fld id="{CE3B96AE-AF7E-4209-B157-218126BF995A}" type="datetime1">
              <a:rPr lang="en-US" smtClean="0"/>
              <a:t>8/24/2023</a:t>
            </a:fld>
            <a:endParaRPr lang="en-US"/>
          </a:p>
        </p:txBody>
      </p:sp>
      <p:sp>
        <p:nvSpPr>
          <p:cNvPr id="5" name="Footer Placeholder 4">
            <a:extLst>
              <a:ext uri="{FF2B5EF4-FFF2-40B4-BE49-F238E27FC236}">
                <a16:creationId xmlns:a16="http://schemas.microsoft.com/office/drawing/2014/main"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0EB35E-3461-4643-BA9F-77D963F1F632}" type="datetime1">
              <a:rPr lang="en-US" smtClean="0"/>
              <a:t>8/24/2023</a:t>
            </a:fld>
            <a:endParaRPr lang="en-US"/>
          </a:p>
        </p:txBody>
      </p:sp>
      <p:sp>
        <p:nvSpPr>
          <p:cNvPr id="5" name="Footer Placeholder 4">
            <a:extLst>
              <a:ext uri="{FF2B5EF4-FFF2-40B4-BE49-F238E27FC236}">
                <a16:creationId xmlns:a16="http://schemas.microsoft.com/office/drawing/2014/main"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1530290" y="2069989"/>
            <a:ext cx="7281160" cy="1569660"/>
          </a:xfrm>
          <a:prstGeom prst="rect">
            <a:avLst/>
          </a:prstGeom>
          <a:noFill/>
        </p:spPr>
        <p:txBody>
          <a:bodyPr wrap="none" rtlCol="0">
            <a:spAutoFit/>
          </a:bodyPr>
          <a:lstStyle/>
          <a:p>
            <a:pPr algn="ctr"/>
            <a:r>
              <a:rPr lang="en-US" sz="6000" b="1" dirty="0">
                <a:solidFill>
                  <a:srgbClr val="0000FF"/>
                </a:solidFill>
                <a:latin typeface="Arial" panose="020B0604020202020204" pitchFamily="34" charset="0"/>
                <a:cs typeface="Arial" panose="020B0604020202020204" pitchFamily="34" charset="0"/>
              </a:rPr>
              <a:t>I/O Streams in Java</a:t>
            </a:r>
          </a:p>
          <a:p>
            <a:pPr algn="ctr"/>
            <a:r>
              <a:rPr lang="en-US" sz="3600" b="1" dirty="0">
                <a:solidFill>
                  <a:srgbClr val="0000FF"/>
                </a:solidFill>
                <a:latin typeface="Arial" panose="020B0604020202020204" pitchFamily="34" charset="0"/>
                <a:cs typeface="Arial" panose="020B0604020202020204" pitchFamily="34" charset="0"/>
              </a:rPr>
              <a:t>java.io package</a:t>
            </a:r>
            <a:endParaRPr lang="en-US" sz="6000" b="1" dirty="0">
              <a:solidFill>
                <a:srgbClr val="0000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A5BEAD8-20C1-4935-1CCC-1B6AFC4C18D0}"/>
              </a:ext>
            </a:extLst>
          </p:cNvPr>
          <p:cNvSpPr txBox="1"/>
          <p:nvPr/>
        </p:nvSpPr>
        <p:spPr>
          <a:xfrm>
            <a:off x="3795866" y="3656892"/>
            <a:ext cx="2877711" cy="1015663"/>
          </a:xfrm>
          <a:prstGeom prst="rect">
            <a:avLst/>
          </a:prstGeom>
          <a:noFill/>
        </p:spPr>
        <p:txBody>
          <a:bodyPr wrap="none" rtlCol="0">
            <a:spAutoFit/>
          </a:bodyPr>
          <a:lstStyle/>
          <a:p>
            <a:pPr algn="ctr"/>
            <a:r>
              <a:rPr lang="en-US" sz="6000" b="1" dirty="0">
                <a:solidFill>
                  <a:srgbClr val="0000FF"/>
                </a:solidFill>
                <a:latin typeface="Arial" panose="020B0604020202020204" pitchFamily="34" charset="0"/>
                <a:cs typeface="Arial" panose="020B0604020202020204" pitchFamily="34" charset="0"/>
              </a:rPr>
              <a:t>Part - V</a:t>
            </a:r>
          </a:p>
        </p:txBody>
      </p:sp>
      <p:sp>
        <p:nvSpPr>
          <p:cNvPr id="9" name="Footer Placeholder 8">
            <a:extLst>
              <a:ext uri="{FF2B5EF4-FFF2-40B4-BE49-F238E27FC236}">
                <a16:creationId xmlns:a16="http://schemas.microsoft.com/office/drawing/2014/main" id="{368847BF-5E97-AA84-FA31-8AA0A66AD053}"/>
              </a:ext>
            </a:extLst>
          </p:cNvPr>
          <p:cNvSpPr>
            <a:spLocks noGrp="1"/>
          </p:cNvSpPr>
          <p:nvPr>
            <p:ph type="ftr" sz="quarter" idx="11"/>
          </p:nvPr>
        </p:nvSpPr>
        <p:spPr/>
        <p:txBody>
          <a:bodyPr/>
          <a:lstStyle/>
          <a:p>
            <a:r>
              <a:rPr lang="en-US" sz="16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5343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id="{8926E692-C2BA-4CA4-96A9-4894146636A4}"/>
              </a:ext>
            </a:extLst>
          </p:cNvPr>
          <p:cNvSpPr txBox="1"/>
          <p:nvPr/>
        </p:nvSpPr>
        <p:spPr>
          <a:xfrm>
            <a:off x="1510259" y="2069989"/>
            <a:ext cx="7321235" cy="1015663"/>
          </a:xfrm>
          <a:prstGeom prst="rect">
            <a:avLst/>
          </a:prstGeom>
          <a:noFill/>
        </p:spPr>
        <p:txBody>
          <a:bodyPr wrap="none" rtlCol="0">
            <a:spAutoFit/>
          </a:bodyPr>
          <a:lstStyle/>
          <a:p>
            <a:pPr algn="ctr"/>
            <a:r>
              <a:rPr lang="en-US" sz="6000" b="1" dirty="0">
                <a:solidFill>
                  <a:srgbClr val="0000FF"/>
                </a:solidFill>
                <a:latin typeface="Arial" panose="020B0604020202020204" pitchFamily="34" charset="0"/>
                <a:cs typeface="Arial" panose="020B0604020202020204" pitchFamily="34" charset="0"/>
              </a:rPr>
              <a:t>Object Serialization</a:t>
            </a:r>
          </a:p>
        </p:txBody>
      </p:sp>
      <p:sp>
        <p:nvSpPr>
          <p:cNvPr id="7" name="TextBox 6">
            <a:extLst>
              <a:ext uri="{FF2B5EF4-FFF2-40B4-BE49-F238E27FC236}">
                <a16:creationId xmlns:a16="http://schemas.microsoft.com/office/drawing/2014/main" id="{8A5BEAD8-20C1-4935-1CCC-1B6AFC4C18D0}"/>
              </a:ext>
            </a:extLst>
          </p:cNvPr>
          <p:cNvSpPr txBox="1"/>
          <p:nvPr/>
        </p:nvSpPr>
        <p:spPr>
          <a:xfrm>
            <a:off x="2545874" y="2957535"/>
            <a:ext cx="5808000" cy="461665"/>
          </a:xfrm>
          <a:prstGeom prst="rect">
            <a:avLst/>
          </a:prstGeom>
          <a:noFill/>
        </p:spPr>
        <p:txBody>
          <a:bodyPr wrap="none" rtlCol="0">
            <a:spAutoFit/>
          </a:bodyPr>
          <a:lstStyle/>
          <a:p>
            <a:pPr algn="ctr"/>
            <a:r>
              <a:rPr lang="en-US" sz="2400" b="1" dirty="0">
                <a:solidFill>
                  <a:srgbClr val="0000FF"/>
                </a:solidFill>
                <a:latin typeface="Arial" panose="020B0604020202020204" pitchFamily="34" charset="0"/>
                <a:cs typeface="Arial" panose="020B0604020202020204" pitchFamily="34" charset="0"/>
              </a:rPr>
              <a:t>Converting object into stream of bytes</a:t>
            </a:r>
          </a:p>
        </p:txBody>
      </p:sp>
      <p:sp>
        <p:nvSpPr>
          <p:cNvPr id="9" name="Footer Placeholder 8">
            <a:extLst>
              <a:ext uri="{FF2B5EF4-FFF2-40B4-BE49-F238E27FC236}">
                <a16:creationId xmlns:a16="http://schemas.microsoft.com/office/drawing/2014/main" id="{9FE38E65-9817-3031-16A7-A83F33A9098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4309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8A5BEAD8-20C1-4935-1CCC-1B6AFC4C18D0}"/>
              </a:ext>
            </a:extLst>
          </p:cNvPr>
          <p:cNvSpPr txBox="1"/>
          <p:nvPr/>
        </p:nvSpPr>
        <p:spPr>
          <a:xfrm>
            <a:off x="263795" y="1091133"/>
            <a:ext cx="6043210" cy="5509200"/>
          </a:xfrm>
          <a:prstGeom prst="rect">
            <a:avLst/>
          </a:prstGeom>
          <a:noFill/>
        </p:spPr>
        <p:txBody>
          <a:bodyPr wrap="square" rtlCol="0">
            <a:spAutoFit/>
          </a:bodyPr>
          <a:lstStyle/>
          <a:p>
            <a:pPr algn="just"/>
            <a:r>
              <a:rPr lang="en-US" sz="1600" b="1" dirty="0">
                <a:solidFill>
                  <a:srgbClr val="0000FF"/>
                </a:solidFill>
                <a:latin typeface="Arial" panose="020B0604020202020204" pitchFamily="34" charset="0"/>
                <a:cs typeface="Arial" panose="020B0604020202020204" pitchFamily="34" charset="0"/>
              </a:rPr>
              <a:t>class Patient {</a:t>
            </a:r>
          </a:p>
          <a:p>
            <a:pPr algn="just"/>
            <a:r>
              <a:rPr lang="en-US" sz="1600" b="1" dirty="0">
                <a:solidFill>
                  <a:srgbClr val="0000FF"/>
                </a:solidFill>
                <a:latin typeface="Arial" panose="020B0604020202020204" pitchFamily="34" charset="0"/>
                <a:cs typeface="Arial" panose="020B0604020202020204" pitchFamily="34" charset="0"/>
              </a:rPr>
              <a:t>	String </a:t>
            </a:r>
            <a:r>
              <a:rPr lang="en-US" sz="1600" b="1" dirty="0" err="1">
                <a:solidFill>
                  <a:srgbClr val="0000FF"/>
                </a:solidFill>
                <a:latin typeface="Arial" panose="020B0604020202020204" pitchFamily="34" charset="0"/>
                <a:cs typeface="Arial" panose="020B0604020202020204" pitchFamily="34" charset="0"/>
              </a:rPr>
              <a:t>healthComplaint</a:t>
            </a:r>
            <a:r>
              <a:rPr lang="en-US" sz="1600" b="1" dirty="0">
                <a:solidFill>
                  <a:srgbClr val="0000FF"/>
                </a:solidFill>
                <a:latin typeface="Arial" panose="020B0604020202020204" pitchFamily="34" charset="0"/>
                <a:cs typeface="Arial" panose="020B0604020202020204" pitchFamily="34" charset="0"/>
              </a:rPr>
              <a:t>;</a:t>
            </a:r>
          </a:p>
          <a:p>
            <a:pPr algn="just"/>
            <a:r>
              <a:rPr lang="en-US" sz="1600" b="1" dirty="0">
                <a:solidFill>
                  <a:srgbClr val="0000FF"/>
                </a:solidFill>
                <a:latin typeface="Arial" panose="020B0604020202020204" pitchFamily="34" charset="0"/>
                <a:cs typeface="Arial" panose="020B0604020202020204" pitchFamily="34" charset="0"/>
              </a:rPr>
              <a:t>	List&lt;ClinicalTest&gt; </a:t>
            </a:r>
            <a:r>
              <a:rPr lang="en-US" sz="1600" b="1" dirty="0" err="1">
                <a:solidFill>
                  <a:srgbClr val="0000FF"/>
                </a:solidFill>
                <a:latin typeface="Arial" panose="020B0604020202020204" pitchFamily="34" charset="0"/>
                <a:cs typeface="Arial" panose="020B0604020202020204" pitchFamily="34" charset="0"/>
              </a:rPr>
              <a:t>ct</a:t>
            </a:r>
            <a:r>
              <a:rPr lang="en-US" sz="1600" b="1" dirty="0">
                <a:solidFill>
                  <a:srgbClr val="0000FF"/>
                </a:solidFill>
                <a:latin typeface="Arial" panose="020B0604020202020204" pitchFamily="34" charset="0"/>
                <a:cs typeface="Arial" panose="020B0604020202020204" pitchFamily="34" charset="0"/>
              </a:rPr>
              <a:t>;</a:t>
            </a:r>
          </a:p>
          <a:p>
            <a:pPr algn="just"/>
            <a:r>
              <a:rPr lang="en-US" sz="1600" b="1" dirty="0">
                <a:solidFill>
                  <a:srgbClr val="0000FF"/>
                </a:solidFill>
                <a:latin typeface="Arial" panose="020B0604020202020204" pitchFamily="34" charset="0"/>
                <a:cs typeface="Arial" panose="020B0604020202020204" pitchFamily="34" charset="0"/>
              </a:rPr>
              <a:t>	List&lt;Appointment&gt; da;</a:t>
            </a:r>
          </a:p>
          <a:p>
            <a:pPr algn="just"/>
            <a:r>
              <a:rPr lang="en-US" sz="1600" b="1" dirty="0">
                <a:solidFill>
                  <a:srgbClr val="0000FF"/>
                </a:solidFill>
                <a:latin typeface="Arial" panose="020B0604020202020204" pitchFamily="34" charset="0"/>
                <a:cs typeface="Arial" panose="020B0604020202020204" pitchFamily="34" charset="0"/>
              </a:rPr>
              <a:t>}</a:t>
            </a:r>
          </a:p>
          <a:p>
            <a:pPr algn="just"/>
            <a:r>
              <a:rPr lang="en-US" sz="1600" b="1" dirty="0">
                <a:solidFill>
                  <a:srgbClr val="0000FF"/>
                </a:solidFill>
                <a:latin typeface="Arial" panose="020B0604020202020204" pitchFamily="34" charset="0"/>
                <a:cs typeface="Arial" panose="020B0604020202020204" pitchFamily="34" charset="0"/>
              </a:rPr>
              <a:t>						</a:t>
            </a:r>
          </a:p>
          <a:p>
            <a:pPr algn="just"/>
            <a:r>
              <a:rPr lang="en-US" sz="1600" b="1" dirty="0">
                <a:solidFill>
                  <a:srgbClr val="0000FF"/>
                </a:solidFill>
                <a:latin typeface="Arial" panose="020B0604020202020204" pitchFamily="34" charset="0"/>
                <a:cs typeface="Arial" panose="020B0604020202020204" pitchFamily="34" charset="0"/>
              </a:rPr>
              <a:t>class Appointment {</a:t>
            </a:r>
          </a:p>
          <a:p>
            <a:pPr algn="just"/>
            <a:r>
              <a:rPr lang="en-US" sz="1600" b="1" dirty="0">
                <a:solidFill>
                  <a:srgbClr val="0000FF"/>
                </a:solidFill>
                <a:latin typeface="Arial" panose="020B0604020202020204" pitchFamily="34" charset="0"/>
                <a:cs typeface="Arial" panose="020B0604020202020204" pitchFamily="34" charset="0"/>
              </a:rPr>
              <a:t> 	Patient </a:t>
            </a:r>
            <a:r>
              <a:rPr lang="en-US" sz="1600" b="1" dirty="0" err="1">
                <a:solidFill>
                  <a:srgbClr val="0000FF"/>
                </a:solidFill>
                <a:latin typeface="Arial" panose="020B0604020202020204" pitchFamily="34" charset="0"/>
                <a:cs typeface="Arial" panose="020B0604020202020204" pitchFamily="34" charset="0"/>
              </a:rPr>
              <a:t>patient</a:t>
            </a:r>
            <a:endParaRPr lang="en-US" sz="1600" b="1" dirty="0">
              <a:solidFill>
                <a:srgbClr val="0000FF"/>
              </a:solidFill>
              <a:latin typeface="Arial" panose="020B0604020202020204" pitchFamily="34" charset="0"/>
              <a:cs typeface="Arial" panose="020B0604020202020204" pitchFamily="34" charset="0"/>
            </a:endParaRPr>
          </a:p>
          <a:p>
            <a:pPr algn="just"/>
            <a:r>
              <a:rPr lang="en-US" sz="1600" b="1" dirty="0">
                <a:solidFill>
                  <a:srgbClr val="0000FF"/>
                </a:solidFill>
                <a:latin typeface="Arial" panose="020B0604020202020204" pitchFamily="34" charset="0"/>
                <a:cs typeface="Arial" panose="020B0604020202020204" pitchFamily="34" charset="0"/>
              </a:rPr>
              <a:t>	List&lt;Prescription&gt; </a:t>
            </a:r>
            <a:r>
              <a:rPr lang="en-US" sz="1600" b="1" dirty="0" err="1">
                <a:solidFill>
                  <a:srgbClr val="0000FF"/>
                </a:solidFill>
                <a:latin typeface="Arial" panose="020B0604020202020204" pitchFamily="34" charset="0"/>
                <a:cs typeface="Arial" panose="020B0604020202020204" pitchFamily="34" charset="0"/>
              </a:rPr>
              <a:t>presc</a:t>
            </a:r>
            <a:r>
              <a:rPr lang="en-US" sz="1600" b="1" dirty="0">
                <a:solidFill>
                  <a:srgbClr val="0000FF"/>
                </a:solidFill>
                <a:latin typeface="Arial" panose="020B0604020202020204" pitchFamily="34" charset="0"/>
                <a:cs typeface="Arial" panose="020B0604020202020204" pitchFamily="34" charset="0"/>
              </a:rPr>
              <a:t>;</a:t>
            </a:r>
          </a:p>
          <a:p>
            <a:pPr algn="just"/>
            <a:r>
              <a:rPr lang="en-US" sz="1600" b="1" dirty="0">
                <a:solidFill>
                  <a:srgbClr val="0000FF"/>
                </a:solidFill>
                <a:latin typeface="Arial" panose="020B0604020202020204" pitchFamily="34" charset="0"/>
                <a:cs typeface="Arial" panose="020B0604020202020204" pitchFamily="34" charset="0"/>
              </a:rPr>
              <a:t>	List&lt;HealthSign&gt; </a:t>
            </a:r>
            <a:r>
              <a:rPr lang="en-US" sz="1600" b="1" dirty="0" err="1">
                <a:solidFill>
                  <a:srgbClr val="0000FF"/>
                </a:solidFill>
                <a:latin typeface="Arial" panose="020B0604020202020204" pitchFamily="34" charset="0"/>
                <a:cs typeface="Arial" panose="020B0604020202020204" pitchFamily="34" charset="0"/>
              </a:rPr>
              <a:t>hs</a:t>
            </a:r>
            <a:r>
              <a:rPr lang="en-US" sz="1600" b="1" dirty="0">
                <a:solidFill>
                  <a:srgbClr val="0000FF"/>
                </a:solidFill>
                <a:latin typeface="Arial" panose="020B0604020202020204" pitchFamily="34" charset="0"/>
                <a:cs typeface="Arial" panose="020B0604020202020204" pitchFamily="34" charset="0"/>
              </a:rPr>
              <a:t>;</a:t>
            </a:r>
          </a:p>
          <a:p>
            <a:pPr algn="just"/>
            <a:r>
              <a:rPr lang="en-US" sz="1600" b="1" dirty="0">
                <a:solidFill>
                  <a:srgbClr val="0000FF"/>
                </a:solidFill>
                <a:latin typeface="Arial" panose="020B0604020202020204" pitchFamily="34" charset="0"/>
                <a:cs typeface="Arial" panose="020B0604020202020204" pitchFamily="34" charset="0"/>
              </a:rPr>
              <a:t>}</a:t>
            </a:r>
          </a:p>
          <a:p>
            <a:pPr algn="just"/>
            <a:endParaRPr lang="en-US" sz="1600" b="1" dirty="0">
              <a:solidFill>
                <a:srgbClr val="0000FF"/>
              </a:solidFill>
              <a:latin typeface="Arial" panose="020B0604020202020204" pitchFamily="34" charset="0"/>
              <a:cs typeface="Arial" panose="020B0604020202020204" pitchFamily="34" charset="0"/>
            </a:endParaRPr>
          </a:p>
          <a:p>
            <a:pPr algn="just"/>
            <a:r>
              <a:rPr lang="en-US" sz="1600" b="1" dirty="0">
                <a:solidFill>
                  <a:srgbClr val="0000FF"/>
                </a:solidFill>
                <a:latin typeface="Arial" panose="020B0604020202020204" pitchFamily="34" charset="0"/>
                <a:cs typeface="Arial" panose="020B0604020202020204" pitchFamily="34" charset="0"/>
              </a:rPr>
              <a:t>class HealthSign {</a:t>
            </a:r>
          </a:p>
          <a:p>
            <a:pPr algn="just"/>
            <a:r>
              <a:rPr lang="en-US" sz="1600" b="1" dirty="0">
                <a:solidFill>
                  <a:srgbClr val="0000FF"/>
                </a:solidFill>
                <a:latin typeface="Arial" panose="020B0604020202020204" pitchFamily="34" charset="0"/>
                <a:cs typeface="Arial" panose="020B0604020202020204" pitchFamily="34" charset="0"/>
              </a:rPr>
              <a:t>	String sign;</a:t>
            </a:r>
          </a:p>
          <a:p>
            <a:pPr algn="just"/>
            <a:r>
              <a:rPr lang="en-US" sz="1600" b="1" dirty="0">
                <a:solidFill>
                  <a:srgbClr val="0000FF"/>
                </a:solidFill>
                <a:latin typeface="Arial" panose="020B0604020202020204" pitchFamily="34" charset="0"/>
                <a:cs typeface="Arial" panose="020B0604020202020204" pitchFamily="34" charset="0"/>
              </a:rPr>
              <a:t>	String value;</a:t>
            </a:r>
          </a:p>
          <a:p>
            <a:pPr algn="just"/>
            <a:r>
              <a:rPr lang="en-US" sz="1600" b="1" dirty="0">
                <a:solidFill>
                  <a:srgbClr val="0000FF"/>
                </a:solidFill>
                <a:latin typeface="Arial" panose="020B0604020202020204" pitchFamily="34" charset="0"/>
                <a:cs typeface="Arial" panose="020B0604020202020204" pitchFamily="34" charset="0"/>
              </a:rPr>
              <a:t>}</a:t>
            </a:r>
          </a:p>
          <a:p>
            <a:pPr algn="just"/>
            <a:endParaRPr lang="en-US" sz="1600" b="1" dirty="0">
              <a:solidFill>
                <a:srgbClr val="0000FF"/>
              </a:solidFill>
              <a:latin typeface="Arial" panose="020B0604020202020204" pitchFamily="34" charset="0"/>
              <a:cs typeface="Arial" panose="020B0604020202020204" pitchFamily="34" charset="0"/>
            </a:endParaRPr>
          </a:p>
          <a:p>
            <a:pPr algn="just"/>
            <a:r>
              <a:rPr lang="en-US" sz="1600" b="1" dirty="0">
                <a:solidFill>
                  <a:srgbClr val="0000FF"/>
                </a:solidFill>
                <a:latin typeface="Arial" panose="020B0604020202020204" pitchFamily="34" charset="0"/>
                <a:cs typeface="Arial" panose="020B0604020202020204" pitchFamily="34" charset="0"/>
              </a:rPr>
              <a:t>class Prescription {</a:t>
            </a:r>
          </a:p>
          <a:p>
            <a:pPr algn="just"/>
            <a:r>
              <a:rPr lang="en-US" sz="1600" b="1" dirty="0">
                <a:solidFill>
                  <a:srgbClr val="0000FF"/>
                </a:solidFill>
                <a:latin typeface="Arial" panose="020B0604020202020204" pitchFamily="34" charset="0"/>
                <a:cs typeface="Arial" panose="020B0604020202020204" pitchFamily="34" charset="0"/>
              </a:rPr>
              <a:t>	String medicine;</a:t>
            </a:r>
          </a:p>
          <a:p>
            <a:pPr algn="just"/>
            <a:r>
              <a:rPr lang="en-US" sz="1600" b="1" dirty="0">
                <a:solidFill>
                  <a:srgbClr val="0000FF"/>
                </a:solidFill>
                <a:latin typeface="Arial" panose="020B0604020202020204" pitchFamily="34" charset="0"/>
                <a:cs typeface="Arial" panose="020B0604020202020204" pitchFamily="34" charset="0"/>
              </a:rPr>
              <a:t>	String dose;</a:t>
            </a:r>
          </a:p>
          <a:p>
            <a:pPr algn="just"/>
            <a:r>
              <a:rPr lang="en-US" sz="1600" b="1" dirty="0">
                <a:solidFill>
                  <a:srgbClr val="0000FF"/>
                </a:solidFill>
                <a:latin typeface="Arial" panose="020B0604020202020204" pitchFamily="34" charset="0"/>
                <a:cs typeface="Arial" panose="020B0604020202020204" pitchFamily="34" charset="0"/>
              </a:rPr>
              <a:t>	int howManyDays;</a:t>
            </a:r>
          </a:p>
          <a:p>
            <a:pPr algn="just"/>
            <a:r>
              <a:rPr lang="en-US" sz="1600" b="1" dirty="0">
                <a:solidFill>
                  <a:srgbClr val="0000FF"/>
                </a:solidFill>
                <a:latin typeface="Arial" panose="020B0604020202020204" pitchFamily="34" charset="0"/>
                <a:cs typeface="Arial" panose="020B0604020202020204" pitchFamily="34" charset="0"/>
              </a:rPr>
              <a:t>}</a:t>
            </a:r>
          </a:p>
        </p:txBody>
      </p:sp>
      <p:sp>
        <p:nvSpPr>
          <p:cNvPr id="9" name="Rectangle: Rounded Corners 8">
            <a:extLst>
              <a:ext uri="{FF2B5EF4-FFF2-40B4-BE49-F238E27FC236}">
                <a16:creationId xmlns:a16="http://schemas.microsoft.com/office/drawing/2014/main" id="{AA673F50-3EDB-FF2A-1813-5BB50403776A}"/>
              </a:ext>
            </a:extLst>
          </p:cNvPr>
          <p:cNvSpPr/>
          <p:nvPr/>
        </p:nvSpPr>
        <p:spPr>
          <a:xfrm>
            <a:off x="4007874" y="2947724"/>
            <a:ext cx="2043953" cy="1939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F8C6F2EE-8589-53C7-0C33-EE2535E9C7DF}"/>
              </a:ext>
            </a:extLst>
          </p:cNvPr>
          <p:cNvSpPr/>
          <p:nvPr/>
        </p:nvSpPr>
        <p:spPr>
          <a:xfrm>
            <a:off x="5143384" y="3824075"/>
            <a:ext cx="874059" cy="55132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137A45A1-0476-FEC8-278F-885763A4F13E}"/>
              </a:ext>
            </a:extLst>
          </p:cNvPr>
          <p:cNvSpPr/>
          <p:nvPr/>
        </p:nvSpPr>
        <p:spPr>
          <a:xfrm>
            <a:off x="4195288" y="3090508"/>
            <a:ext cx="533400" cy="55132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E4B95633-6087-2EBB-166B-8276093EF789}"/>
              </a:ext>
            </a:extLst>
          </p:cNvPr>
          <p:cNvSpPr/>
          <p:nvPr/>
        </p:nvSpPr>
        <p:spPr>
          <a:xfrm>
            <a:off x="8246347" y="1750571"/>
            <a:ext cx="2043953" cy="1939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9CF835BE-5B95-BD1A-9E59-F256E8C4D72C}"/>
              </a:ext>
            </a:extLst>
          </p:cNvPr>
          <p:cNvSpPr/>
          <p:nvPr/>
        </p:nvSpPr>
        <p:spPr>
          <a:xfrm>
            <a:off x="9381857" y="2626922"/>
            <a:ext cx="874059" cy="551329"/>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9" name="Isosceles Triangle 18">
            <a:extLst>
              <a:ext uri="{FF2B5EF4-FFF2-40B4-BE49-F238E27FC236}">
                <a16:creationId xmlns:a16="http://schemas.microsoft.com/office/drawing/2014/main" id="{DB79C873-A221-6D21-CDB5-8673FB5CCEE3}"/>
              </a:ext>
            </a:extLst>
          </p:cNvPr>
          <p:cNvSpPr/>
          <p:nvPr/>
        </p:nvSpPr>
        <p:spPr>
          <a:xfrm>
            <a:off x="6048552" y="1244008"/>
            <a:ext cx="1285374" cy="10869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Top Corners Rounded 23">
            <a:extLst>
              <a:ext uri="{FF2B5EF4-FFF2-40B4-BE49-F238E27FC236}">
                <a16:creationId xmlns:a16="http://schemas.microsoft.com/office/drawing/2014/main" id="{2963A5E7-3289-58B5-0C7E-1EFC8E6360DA}"/>
              </a:ext>
            </a:extLst>
          </p:cNvPr>
          <p:cNvSpPr/>
          <p:nvPr/>
        </p:nvSpPr>
        <p:spPr>
          <a:xfrm>
            <a:off x="4045003" y="4646108"/>
            <a:ext cx="1851210" cy="562159"/>
          </a:xfrm>
          <a:prstGeom prst="round2Same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n-IN" b="1" dirty="0">
                <a:solidFill>
                  <a:schemeClr val="bg1"/>
                </a:solidFill>
              </a:rPr>
              <a:t>Server</a:t>
            </a:r>
            <a:endParaRPr lang="en-IN" sz="1050" b="1" dirty="0">
              <a:solidFill>
                <a:schemeClr val="bg1"/>
              </a:solidFill>
            </a:endParaRPr>
          </a:p>
        </p:txBody>
      </p:sp>
      <p:sp>
        <p:nvSpPr>
          <p:cNvPr id="25" name="Rectangle: Top Corners Rounded 24">
            <a:extLst>
              <a:ext uri="{FF2B5EF4-FFF2-40B4-BE49-F238E27FC236}">
                <a16:creationId xmlns:a16="http://schemas.microsoft.com/office/drawing/2014/main" id="{5D55DC70-6D74-3763-F105-3A2320217896}"/>
              </a:ext>
            </a:extLst>
          </p:cNvPr>
          <p:cNvSpPr/>
          <p:nvPr/>
        </p:nvSpPr>
        <p:spPr>
          <a:xfrm>
            <a:off x="7401545" y="3353110"/>
            <a:ext cx="1712135" cy="1303098"/>
          </a:xfrm>
          <a:prstGeom prst="round2Same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4000" b="1" dirty="0">
                <a:solidFill>
                  <a:schemeClr val="bg1"/>
                </a:solidFill>
              </a:rPr>
              <a:t>Client</a:t>
            </a:r>
            <a:endParaRPr lang="en-IN" b="1" dirty="0">
              <a:solidFill>
                <a:schemeClr val="bg1"/>
              </a:solidFill>
            </a:endParaRPr>
          </a:p>
        </p:txBody>
      </p:sp>
      <p:sp>
        <p:nvSpPr>
          <p:cNvPr id="26" name="TextBox 25">
            <a:extLst>
              <a:ext uri="{FF2B5EF4-FFF2-40B4-BE49-F238E27FC236}">
                <a16:creationId xmlns:a16="http://schemas.microsoft.com/office/drawing/2014/main" id="{792827A3-A38F-67DE-EE40-F2D0F5BEFBDB}"/>
              </a:ext>
            </a:extLst>
          </p:cNvPr>
          <p:cNvSpPr txBox="1"/>
          <p:nvPr/>
        </p:nvSpPr>
        <p:spPr>
          <a:xfrm>
            <a:off x="6224925" y="1842437"/>
            <a:ext cx="952377" cy="369332"/>
          </a:xfrm>
          <a:prstGeom prst="rect">
            <a:avLst/>
          </a:prstGeom>
          <a:noFill/>
        </p:spPr>
        <p:txBody>
          <a:bodyPr wrap="none" rtlCol="0">
            <a:spAutoFit/>
          </a:bodyPr>
          <a:lstStyle/>
          <a:p>
            <a:r>
              <a:rPr lang="en-IN" b="1" dirty="0">
                <a:solidFill>
                  <a:schemeClr val="bg1"/>
                </a:solidFill>
              </a:rPr>
              <a:t>Registry</a:t>
            </a:r>
          </a:p>
        </p:txBody>
      </p:sp>
      <p:cxnSp>
        <p:nvCxnSpPr>
          <p:cNvPr id="28" name="Connector: Curved 27">
            <a:extLst>
              <a:ext uri="{FF2B5EF4-FFF2-40B4-BE49-F238E27FC236}">
                <a16:creationId xmlns:a16="http://schemas.microsoft.com/office/drawing/2014/main" id="{6A82381A-C465-59A6-6F14-CC3817B9BDFF}"/>
              </a:ext>
            </a:extLst>
          </p:cNvPr>
          <p:cNvCxnSpPr>
            <a:cxnSpLocks/>
            <a:endCxn id="19" idx="1"/>
          </p:cNvCxnSpPr>
          <p:nvPr/>
        </p:nvCxnSpPr>
        <p:spPr>
          <a:xfrm rot="5400000" flipH="1" flipV="1">
            <a:off x="4063857" y="2874497"/>
            <a:ext cx="3393044" cy="1219034"/>
          </a:xfrm>
          <a:prstGeom prst="curvedConnector2">
            <a:avLst/>
          </a:prstGeom>
          <a:ln w="76200">
            <a:tailEnd type="triangle"/>
          </a:ln>
        </p:spPr>
        <p:style>
          <a:lnRef idx="1">
            <a:schemeClr val="accent2"/>
          </a:lnRef>
          <a:fillRef idx="0">
            <a:schemeClr val="accent2"/>
          </a:fillRef>
          <a:effectRef idx="0">
            <a:schemeClr val="accent2"/>
          </a:effectRef>
          <a:fontRef idx="minor">
            <a:schemeClr val="tx1"/>
          </a:fontRef>
        </p:style>
      </p:cxnSp>
      <p:cxnSp>
        <p:nvCxnSpPr>
          <p:cNvPr id="31" name="Connector: Curved 30">
            <a:extLst>
              <a:ext uri="{FF2B5EF4-FFF2-40B4-BE49-F238E27FC236}">
                <a16:creationId xmlns:a16="http://schemas.microsoft.com/office/drawing/2014/main" id="{1CD68EC2-A416-E5A2-9945-F65B33545A25}"/>
              </a:ext>
            </a:extLst>
          </p:cNvPr>
          <p:cNvCxnSpPr>
            <a:cxnSpLocks/>
          </p:cNvCxnSpPr>
          <p:nvPr/>
        </p:nvCxnSpPr>
        <p:spPr>
          <a:xfrm rot="16200000" flipH="1">
            <a:off x="6699440" y="2495132"/>
            <a:ext cx="1691985" cy="913845"/>
          </a:xfrm>
          <a:prstGeom prst="curvedConnector3">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33" name="Oval 32">
            <a:extLst>
              <a:ext uri="{FF2B5EF4-FFF2-40B4-BE49-F238E27FC236}">
                <a16:creationId xmlns:a16="http://schemas.microsoft.com/office/drawing/2014/main" id="{B8D9C651-BDFF-0802-9C6D-0F77F361A6BB}"/>
              </a:ext>
            </a:extLst>
          </p:cNvPr>
          <p:cNvSpPr/>
          <p:nvPr/>
        </p:nvSpPr>
        <p:spPr>
          <a:xfrm>
            <a:off x="5963192" y="3161805"/>
            <a:ext cx="511242" cy="364557"/>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60D2C27E-CA44-E047-A252-D3FFEB51284F}"/>
              </a:ext>
            </a:extLst>
          </p:cNvPr>
          <p:cNvSpPr/>
          <p:nvPr/>
        </p:nvSpPr>
        <p:spPr>
          <a:xfrm>
            <a:off x="8002355" y="2433918"/>
            <a:ext cx="365644" cy="290232"/>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cxnSp>
        <p:nvCxnSpPr>
          <p:cNvPr id="36" name="Connector: Curved 35">
            <a:extLst>
              <a:ext uri="{FF2B5EF4-FFF2-40B4-BE49-F238E27FC236}">
                <a16:creationId xmlns:a16="http://schemas.microsoft.com/office/drawing/2014/main" id="{DF8B5A36-E819-7F38-E1D6-B1F4905D865A}"/>
              </a:ext>
            </a:extLst>
          </p:cNvPr>
          <p:cNvCxnSpPr>
            <a:endCxn id="34" idx="1"/>
          </p:cNvCxnSpPr>
          <p:nvPr/>
        </p:nvCxnSpPr>
        <p:spPr>
          <a:xfrm flipV="1">
            <a:off x="6333565" y="2579034"/>
            <a:ext cx="1668790" cy="774076"/>
          </a:xfrm>
          <a:prstGeom prst="curvedConnector3">
            <a:avLst/>
          </a:prstGeom>
          <a:ln w="76200">
            <a:headEnd type="triangle"/>
            <a:tailEnd type="triangle"/>
          </a:ln>
        </p:spPr>
        <p:style>
          <a:lnRef idx="3">
            <a:schemeClr val="dk1"/>
          </a:lnRef>
          <a:fillRef idx="0">
            <a:schemeClr val="dk1"/>
          </a:fillRef>
          <a:effectRef idx="2">
            <a:schemeClr val="dk1"/>
          </a:effectRef>
          <a:fontRef idx="minor">
            <a:schemeClr val="tx1"/>
          </a:fontRef>
        </p:style>
      </p:cxnSp>
      <p:sp>
        <p:nvSpPr>
          <p:cNvPr id="37" name="Rectangle: Rounded Corners 36">
            <a:extLst>
              <a:ext uri="{FF2B5EF4-FFF2-40B4-BE49-F238E27FC236}">
                <a16:creationId xmlns:a16="http://schemas.microsoft.com/office/drawing/2014/main" id="{6AD0B524-717D-1C87-E71A-06538D7DD100}"/>
              </a:ext>
            </a:extLst>
          </p:cNvPr>
          <p:cNvSpPr/>
          <p:nvPr/>
        </p:nvSpPr>
        <p:spPr>
          <a:xfrm>
            <a:off x="4525918" y="3327179"/>
            <a:ext cx="533400" cy="55132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C3DFD011-5C46-802A-777F-E4AC3BE39138}"/>
              </a:ext>
            </a:extLst>
          </p:cNvPr>
          <p:cNvSpPr/>
          <p:nvPr/>
        </p:nvSpPr>
        <p:spPr>
          <a:xfrm>
            <a:off x="4064784" y="3665653"/>
            <a:ext cx="533400" cy="55132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9" name="Rectangle: Rounded Corners 38">
            <a:extLst>
              <a:ext uri="{FF2B5EF4-FFF2-40B4-BE49-F238E27FC236}">
                <a16:creationId xmlns:a16="http://schemas.microsoft.com/office/drawing/2014/main" id="{E978D561-7357-E3E5-CE21-EF5DA6CFBC4A}"/>
              </a:ext>
            </a:extLst>
          </p:cNvPr>
          <p:cNvSpPr/>
          <p:nvPr/>
        </p:nvSpPr>
        <p:spPr>
          <a:xfrm>
            <a:off x="4391722" y="3818053"/>
            <a:ext cx="533400" cy="551329"/>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16802A91-EE02-CED8-45F1-68D03A36CE3A}"/>
              </a:ext>
            </a:extLst>
          </p:cNvPr>
          <p:cNvSpPr/>
          <p:nvPr/>
        </p:nvSpPr>
        <p:spPr>
          <a:xfrm>
            <a:off x="8731425" y="1306533"/>
            <a:ext cx="533400" cy="55132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1" name="Rectangle: Rounded Corners 40">
            <a:extLst>
              <a:ext uri="{FF2B5EF4-FFF2-40B4-BE49-F238E27FC236}">
                <a16:creationId xmlns:a16="http://schemas.microsoft.com/office/drawing/2014/main" id="{F9F5FB69-B469-0D1A-E57C-C6172E4F9D8E}"/>
              </a:ext>
            </a:extLst>
          </p:cNvPr>
          <p:cNvSpPr/>
          <p:nvPr/>
        </p:nvSpPr>
        <p:spPr>
          <a:xfrm>
            <a:off x="9062055" y="1543204"/>
            <a:ext cx="533400" cy="551329"/>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9BBDCD47-6A43-4A89-3DB8-116B4E810B66}"/>
              </a:ext>
            </a:extLst>
          </p:cNvPr>
          <p:cNvSpPr/>
          <p:nvPr/>
        </p:nvSpPr>
        <p:spPr>
          <a:xfrm>
            <a:off x="8600921" y="1881678"/>
            <a:ext cx="533400" cy="55132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03D4BFDD-7377-E975-B31D-7027FFD629B9}"/>
              </a:ext>
            </a:extLst>
          </p:cNvPr>
          <p:cNvSpPr/>
          <p:nvPr/>
        </p:nvSpPr>
        <p:spPr>
          <a:xfrm>
            <a:off x="8927859" y="2034078"/>
            <a:ext cx="533400" cy="551329"/>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cxnSp>
        <p:nvCxnSpPr>
          <p:cNvPr id="45" name="Straight Arrow Connector 44">
            <a:extLst>
              <a:ext uri="{FF2B5EF4-FFF2-40B4-BE49-F238E27FC236}">
                <a16:creationId xmlns:a16="http://schemas.microsoft.com/office/drawing/2014/main" id="{22F51B83-351D-FACE-B46B-45C4F5B86972}"/>
              </a:ext>
            </a:extLst>
          </p:cNvPr>
          <p:cNvCxnSpPr>
            <a:cxnSpLocks/>
          </p:cNvCxnSpPr>
          <p:nvPr/>
        </p:nvCxnSpPr>
        <p:spPr>
          <a:xfrm>
            <a:off x="5513030" y="4193553"/>
            <a:ext cx="220664" cy="865888"/>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47" name="Straight Arrow Connector 46">
            <a:extLst>
              <a:ext uri="{FF2B5EF4-FFF2-40B4-BE49-F238E27FC236}">
                <a16:creationId xmlns:a16="http://schemas.microsoft.com/office/drawing/2014/main" id="{83C13DE9-731A-323B-F2FB-0BD1896ED868}"/>
              </a:ext>
            </a:extLst>
          </p:cNvPr>
          <p:cNvCxnSpPr>
            <a:cxnSpLocks/>
          </p:cNvCxnSpPr>
          <p:nvPr/>
        </p:nvCxnSpPr>
        <p:spPr>
          <a:xfrm flipV="1">
            <a:off x="8616431" y="2902586"/>
            <a:ext cx="975227" cy="827563"/>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sp>
        <p:nvSpPr>
          <p:cNvPr id="8" name="Pentagon 7">
            <a:extLst>
              <a:ext uri="{FF2B5EF4-FFF2-40B4-BE49-F238E27FC236}">
                <a16:creationId xmlns:a16="http://schemas.microsoft.com/office/drawing/2014/main" id="{5DF91C4C-FA0F-D5E6-BFE1-82CD97AD0366}"/>
              </a:ext>
            </a:extLst>
          </p:cNvPr>
          <p:cNvSpPr/>
          <p:nvPr/>
        </p:nvSpPr>
        <p:spPr>
          <a:xfrm>
            <a:off x="3574248" y="715599"/>
            <a:ext cx="2388505" cy="1278996"/>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RMI/ CORBA/ EJB/ WebServices</a:t>
            </a:r>
          </a:p>
        </p:txBody>
      </p:sp>
      <p:sp>
        <p:nvSpPr>
          <p:cNvPr id="14" name="TextBox 13">
            <a:extLst>
              <a:ext uri="{FF2B5EF4-FFF2-40B4-BE49-F238E27FC236}">
                <a16:creationId xmlns:a16="http://schemas.microsoft.com/office/drawing/2014/main" id="{D8465151-F53D-F47F-11C3-B91D0C9CFC43}"/>
              </a:ext>
            </a:extLst>
          </p:cNvPr>
          <p:cNvSpPr txBox="1"/>
          <p:nvPr/>
        </p:nvSpPr>
        <p:spPr>
          <a:xfrm>
            <a:off x="5509611" y="5234478"/>
            <a:ext cx="3818353" cy="1384995"/>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r>
              <a:rPr lang="en-IN" sz="1400" b="1" dirty="0"/>
              <a:t>class </a:t>
            </a:r>
            <a:r>
              <a:rPr lang="en-IN" sz="1400" b="1" dirty="0" err="1"/>
              <a:t>AppointmentManager</a:t>
            </a:r>
            <a:r>
              <a:rPr lang="en-IN" sz="1400" b="1" dirty="0"/>
              <a:t>{</a:t>
            </a:r>
          </a:p>
          <a:p>
            <a:r>
              <a:rPr lang="en-IN" sz="1400" b="1" dirty="0"/>
              <a:t>   p int </a:t>
            </a:r>
            <a:r>
              <a:rPr lang="en-IN" sz="1400" b="1" dirty="0" err="1"/>
              <a:t>bookAppointment</a:t>
            </a:r>
            <a:r>
              <a:rPr lang="en-IN" sz="1400" b="1" dirty="0"/>
              <a:t>(Patient p) {</a:t>
            </a:r>
          </a:p>
          <a:p>
            <a:r>
              <a:rPr lang="en-IN" sz="1400" b="1" dirty="0"/>
              <a:t>   }</a:t>
            </a:r>
          </a:p>
          <a:p>
            <a:r>
              <a:rPr lang="en-IN" sz="1400" b="1" dirty="0"/>
              <a:t>   p Patient </a:t>
            </a:r>
            <a:r>
              <a:rPr lang="en-IN" sz="1400" b="1" dirty="0" err="1"/>
              <a:t>viewAppointment</a:t>
            </a:r>
            <a:r>
              <a:rPr lang="en-IN" sz="1400" b="1" dirty="0"/>
              <a:t>(int </a:t>
            </a:r>
            <a:r>
              <a:rPr lang="en-IN" sz="1400" b="1" dirty="0" err="1"/>
              <a:t>appId</a:t>
            </a:r>
            <a:r>
              <a:rPr lang="en-IN" sz="1400" b="1" dirty="0"/>
              <a:t>) {} </a:t>
            </a:r>
          </a:p>
          <a:p>
            <a:r>
              <a:rPr lang="en-IN" sz="1400" b="1" dirty="0"/>
              <a:t>   p List&lt;Patient&gt; </a:t>
            </a:r>
            <a:r>
              <a:rPr lang="en-IN" sz="1400" b="1" dirty="0" err="1"/>
              <a:t>viewAllAppointments</a:t>
            </a:r>
            <a:r>
              <a:rPr lang="en-IN" sz="1400" b="1" dirty="0"/>
              <a:t>(int </a:t>
            </a:r>
            <a:r>
              <a:rPr lang="en-IN" sz="1400" b="1" dirty="0" err="1"/>
              <a:t>pid</a:t>
            </a:r>
            <a:r>
              <a:rPr lang="en-IN" sz="1400" b="1" dirty="0"/>
              <a:t>) {}</a:t>
            </a:r>
          </a:p>
          <a:p>
            <a:r>
              <a:rPr lang="en-IN" sz="1400" b="1" dirty="0"/>
              <a:t>}</a:t>
            </a:r>
          </a:p>
        </p:txBody>
      </p:sp>
      <p:sp>
        <p:nvSpPr>
          <p:cNvPr id="27" name="TextBox 26">
            <a:extLst>
              <a:ext uri="{FF2B5EF4-FFF2-40B4-BE49-F238E27FC236}">
                <a16:creationId xmlns:a16="http://schemas.microsoft.com/office/drawing/2014/main" id="{837FDD67-0911-B3B0-6A45-2B286A1E7143}"/>
              </a:ext>
            </a:extLst>
          </p:cNvPr>
          <p:cNvSpPr txBox="1"/>
          <p:nvPr/>
        </p:nvSpPr>
        <p:spPr>
          <a:xfrm>
            <a:off x="9842098" y="2730842"/>
            <a:ext cx="2137316" cy="1200329"/>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r>
              <a:rPr lang="en-IN" sz="1200" b="1" dirty="0"/>
              <a:t>class </a:t>
            </a:r>
            <a:r>
              <a:rPr lang="en-IN" sz="1200" b="1" dirty="0" err="1"/>
              <a:t>AppointmentClient</a:t>
            </a:r>
            <a:r>
              <a:rPr lang="en-IN" sz="1200" b="1" dirty="0"/>
              <a:t> {</a:t>
            </a:r>
          </a:p>
          <a:p>
            <a:r>
              <a:rPr lang="en-IN" sz="1200" b="1" dirty="0"/>
              <a:t>   p s v main(String rags[]) {</a:t>
            </a:r>
          </a:p>
          <a:p>
            <a:r>
              <a:rPr lang="en-IN" sz="1200" b="1" dirty="0"/>
              <a:t>     AM am=(AM)lookup(“am”);</a:t>
            </a:r>
          </a:p>
          <a:p>
            <a:r>
              <a:rPr lang="en-IN" sz="1200" b="1" dirty="0"/>
              <a:t>     </a:t>
            </a:r>
            <a:r>
              <a:rPr lang="en-IN" sz="1200" b="1" dirty="0" err="1"/>
              <a:t>am.bookAppointment</a:t>
            </a:r>
            <a:r>
              <a:rPr lang="en-IN" sz="1200" b="1" dirty="0"/>
              <a:t>(pat);</a:t>
            </a:r>
          </a:p>
          <a:p>
            <a:r>
              <a:rPr lang="en-IN" sz="1200" b="1" dirty="0"/>
              <a:t>   }</a:t>
            </a:r>
          </a:p>
          <a:p>
            <a:r>
              <a:rPr lang="en-IN" sz="1200" b="1" dirty="0"/>
              <a:t>}</a:t>
            </a:r>
          </a:p>
        </p:txBody>
      </p:sp>
      <p:sp>
        <p:nvSpPr>
          <p:cNvPr id="29" name="TextBox 28">
            <a:extLst>
              <a:ext uri="{FF2B5EF4-FFF2-40B4-BE49-F238E27FC236}">
                <a16:creationId xmlns:a16="http://schemas.microsoft.com/office/drawing/2014/main" id="{0C7C46A6-261D-D943-4086-10CF3768F1C5}"/>
              </a:ext>
            </a:extLst>
          </p:cNvPr>
          <p:cNvSpPr txBox="1"/>
          <p:nvPr/>
        </p:nvSpPr>
        <p:spPr>
          <a:xfrm>
            <a:off x="3187545" y="5451353"/>
            <a:ext cx="1890069" cy="1200329"/>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r>
              <a:rPr lang="en-IN" sz="1200" b="1" dirty="0"/>
              <a:t>class </a:t>
            </a:r>
            <a:r>
              <a:rPr lang="en-IN" sz="1200" b="1" dirty="0" err="1"/>
              <a:t>AppointmentServer</a:t>
            </a:r>
            <a:r>
              <a:rPr lang="en-IN" sz="1200" b="1" dirty="0"/>
              <a:t> {</a:t>
            </a:r>
          </a:p>
          <a:p>
            <a:r>
              <a:rPr lang="en-IN" sz="1200" b="1" dirty="0"/>
              <a:t>   p s v main(String rags[]) {</a:t>
            </a:r>
          </a:p>
          <a:p>
            <a:r>
              <a:rPr lang="en-IN" sz="1200" b="1" dirty="0"/>
              <a:t>     AM am=new AM();</a:t>
            </a:r>
          </a:p>
          <a:p>
            <a:r>
              <a:rPr lang="en-IN" sz="1200" b="1" dirty="0"/>
              <a:t>     bind(“AM”, am);</a:t>
            </a:r>
          </a:p>
          <a:p>
            <a:r>
              <a:rPr lang="en-IN" sz="1200" b="1" dirty="0"/>
              <a:t>   }</a:t>
            </a:r>
          </a:p>
          <a:p>
            <a:r>
              <a:rPr lang="en-IN" sz="1200" b="1" dirty="0"/>
              <a:t>}</a:t>
            </a:r>
          </a:p>
        </p:txBody>
      </p:sp>
      <p:sp>
        <p:nvSpPr>
          <p:cNvPr id="30" name="Footer Placeholder 29">
            <a:extLst>
              <a:ext uri="{FF2B5EF4-FFF2-40B4-BE49-F238E27FC236}">
                <a16:creationId xmlns:a16="http://schemas.microsoft.com/office/drawing/2014/main" id="{2CD47B5A-9EF5-7391-28AF-840A4AC4626B}"/>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103878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705204" y="1249087"/>
            <a:ext cx="8234780" cy="3108543"/>
          </a:xfrm>
          <a:prstGeom prst="rect">
            <a:avLst/>
          </a:prstGeom>
          <a:noFill/>
        </p:spPr>
        <p:txBody>
          <a:bodyPr wrap="square">
            <a:spAutoFit/>
          </a:bodyPr>
          <a:lstStyle/>
          <a:p>
            <a:pPr algn="just"/>
            <a:r>
              <a:rPr lang="en-IN" sz="2800" dirty="0"/>
              <a:t>Converting object's state into stream of bytes is called as Object Serialization. Converting object state (means class instance variable values), their variable name and their types into stream of bytes is called object serialization. In Java API many classes are derived from Serializable interface including developer written Java Beans.</a:t>
            </a:r>
          </a:p>
        </p:txBody>
      </p:sp>
      <p:sp>
        <p:nvSpPr>
          <p:cNvPr id="7" name="Footer Placeholder 6">
            <a:extLst>
              <a:ext uri="{FF2B5EF4-FFF2-40B4-BE49-F238E27FC236}">
                <a16:creationId xmlns:a16="http://schemas.microsoft.com/office/drawing/2014/main" id="{55EF170C-C378-1CDC-05C2-06DA7FE271BA}"/>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914568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705204" y="1249087"/>
            <a:ext cx="8234780" cy="5324535"/>
          </a:xfrm>
          <a:prstGeom prst="rect">
            <a:avLst/>
          </a:prstGeom>
          <a:noFill/>
        </p:spPr>
        <p:txBody>
          <a:bodyPr wrap="square">
            <a:spAutoFit/>
          </a:bodyPr>
          <a:lstStyle/>
          <a:p>
            <a:pPr algn="just"/>
            <a:r>
              <a:rPr lang="en-US" sz="2000" b="1" dirty="0"/>
              <a:t>Some of the serializable sub classes are:</a:t>
            </a:r>
          </a:p>
          <a:p>
            <a:pPr algn="just"/>
            <a:r>
              <a:rPr lang="en-US" sz="2000" b="1" dirty="0"/>
              <a:t>	+ All wrapper classes including String, </a:t>
            </a:r>
            <a:r>
              <a:rPr lang="en-US" sz="2000" b="1" dirty="0" err="1"/>
              <a:t>StringBuffer</a:t>
            </a:r>
            <a:r>
              <a:rPr lang="en-US" sz="2000" b="1" dirty="0"/>
              <a:t> and StringBuilder</a:t>
            </a:r>
          </a:p>
          <a:p>
            <a:pPr algn="just"/>
            <a:r>
              <a:rPr lang="en-US" sz="2000" b="1" dirty="0"/>
              <a:t>	+ All Number sub classes</a:t>
            </a:r>
          </a:p>
          <a:p>
            <a:pPr algn="just"/>
            <a:r>
              <a:rPr lang="en-US" sz="2000" b="1" dirty="0"/>
              <a:t>	+ All Throwable/Exception sub classes</a:t>
            </a:r>
          </a:p>
          <a:p>
            <a:pPr algn="just"/>
            <a:r>
              <a:rPr lang="en-US" sz="2000" b="1" dirty="0"/>
              <a:t>	+ All Collection sub classes</a:t>
            </a:r>
          </a:p>
          <a:p>
            <a:pPr algn="just"/>
            <a:r>
              <a:rPr lang="en-US" sz="2000" b="1" dirty="0"/>
              <a:t>	+ All AWT &amp; Swings sub classes</a:t>
            </a:r>
          </a:p>
          <a:p>
            <a:pPr algn="just"/>
            <a:r>
              <a:rPr lang="en-US" sz="2000" b="1" dirty="0"/>
              <a:t>	+ All Servlets classes</a:t>
            </a:r>
          </a:p>
          <a:p>
            <a:pPr algn="just"/>
            <a:r>
              <a:rPr lang="en-US" sz="2000" b="1" dirty="0"/>
              <a:t>	+ All Remote object methods return values and parameters</a:t>
            </a:r>
          </a:p>
          <a:p>
            <a:pPr algn="just"/>
            <a:r>
              <a:rPr lang="en-US" sz="2000" b="1" dirty="0"/>
              <a:t>	+ Connection pool and Connections obtained from Connection pool</a:t>
            </a:r>
          </a:p>
          <a:p>
            <a:pPr algn="just"/>
            <a:endParaRPr lang="en-US" sz="2000" b="1" dirty="0"/>
          </a:p>
          <a:p>
            <a:pPr algn="just"/>
            <a:r>
              <a:rPr lang="en-US" sz="2000" b="1" dirty="0"/>
              <a:t>Non-serializable classes are:</a:t>
            </a:r>
          </a:p>
          <a:p>
            <a:pPr algn="just"/>
            <a:r>
              <a:rPr lang="en-US" sz="2000" b="1" dirty="0"/>
              <a:t>	+ Threads</a:t>
            </a:r>
          </a:p>
          <a:p>
            <a:pPr algn="just"/>
            <a:r>
              <a:rPr lang="en-US" sz="2000" b="1" dirty="0"/>
              <a:t>	+ </a:t>
            </a:r>
            <a:r>
              <a:rPr lang="en-US" sz="2000" b="1" dirty="0" err="1"/>
              <a:t>IOStreams</a:t>
            </a:r>
            <a:endParaRPr lang="en-US" sz="2000" b="1" dirty="0"/>
          </a:p>
          <a:p>
            <a:pPr algn="just"/>
            <a:r>
              <a:rPr lang="en-US" sz="2000" b="1" dirty="0"/>
              <a:t>	+ Networking</a:t>
            </a:r>
          </a:p>
          <a:p>
            <a:pPr algn="just"/>
            <a:r>
              <a:rPr lang="en-US" sz="2000" b="1" dirty="0"/>
              <a:t>	+ System, Object, Runtime</a:t>
            </a:r>
          </a:p>
          <a:p>
            <a:pPr algn="just"/>
            <a:r>
              <a:rPr lang="en-US" sz="2000" b="1" dirty="0"/>
              <a:t>	+ JDBC interfaces/classes</a:t>
            </a:r>
            <a:endParaRPr lang="en-IN" sz="2000" b="1" dirty="0"/>
          </a:p>
        </p:txBody>
      </p:sp>
      <p:sp>
        <p:nvSpPr>
          <p:cNvPr id="7" name="Footer Placeholder 6">
            <a:extLst>
              <a:ext uri="{FF2B5EF4-FFF2-40B4-BE49-F238E27FC236}">
                <a16:creationId xmlns:a16="http://schemas.microsoft.com/office/drawing/2014/main" id="{FD28DD7C-EFC7-67D2-54FF-63CBBAA46559}"/>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463578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256090" y="714115"/>
            <a:ext cx="8234780" cy="3477875"/>
          </a:xfrm>
          <a:prstGeom prst="rect">
            <a:avLst/>
          </a:prstGeom>
          <a:noFill/>
        </p:spPr>
        <p:txBody>
          <a:bodyPr wrap="square">
            <a:spAutoFit/>
          </a:bodyPr>
          <a:lstStyle/>
          <a:p>
            <a:pPr algn="just"/>
            <a:r>
              <a:rPr lang="en-US" sz="2000" b="1" dirty="0"/>
              <a:t>Java wouldn't achieve n/w based applications if Serialization concept doesn't exist in Java. N/W based applications are web, distributed, business, inter-operable &amp; integration.</a:t>
            </a:r>
          </a:p>
          <a:p>
            <a:pPr algn="just"/>
            <a:endParaRPr lang="en-US" sz="2000" b="1" dirty="0"/>
          </a:p>
          <a:p>
            <a:pPr algn="just"/>
            <a:r>
              <a:rPr lang="en-US" sz="2000" b="1" dirty="0"/>
              <a:t>The purpose of Object serialization is for instance if we create 100 Employee class objects with different state once in our program and if those object serialized and stored in a file, without recreating the same objects again and again we can restore them from serializable file and can be used. </a:t>
            </a:r>
          </a:p>
          <a:p>
            <a:pPr algn="just"/>
            <a:endParaRPr lang="en-US" sz="2000" b="1" dirty="0"/>
          </a:p>
          <a:p>
            <a:pPr algn="just"/>
            <a:r>
              <a:rPr lang="en-US" sz="2000" b="1" dirty="0"/>
              <a:t>The same Employee objects if want to be send to some other system in the n/w we can serialize and send their state through via sockets.</a:t>
            </a:r>
            <a:endParaRPr lang="en-IN" sz="2000" b="1" dirty="0"/>
          </a:p>
        </p:txBody>
      </p:sp>
      <p:sp>
        <p:nvSpPr>
          <p:cNvPr id="7" name="Rectangle 6">
            <a:extLst>
              <a:ext uri="{FF2B5EF4-FFF2-40B4-BE49-F238E27FC236}">
                <a16:creationId xmlns:a16="http://schemas.microsoft.com/office/drawing/2014/main" id="{74936BF3-BAB3-41D2-831E-3AE26DF4CCD8}"/>
              </a:ext>
            </a:extLst>
          </p:cNvPr>
          <p:cNvSpPr/>
          <p:nvPr/>
        </p:nvSpPr>
        <p:spPr>
          <a:xfrm>
            <a:off x="338895" y="4344390"/>
            <a:ext cx="1156447" cy="412377"/>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class Emp</a:t>
            </a:r>
          </a:p>
        </p:txBody>
      </p:sp>
      <p:sp>
        <p:nvSpPr>
          <p:cNvPr id="8" name="Oval 7">
            <a:extLst>
              <a:ext uri="{FF2B5EF4-FFF2-40B4-BE49-F238E27FC236}">
                <a16:creationId xmlns:a16="http://schemas.microsoft.com/office/drawing/2014/main" id="{757B65D0-003D-7224-FFF5-DF3594CDDF7E}"/>
              </a:ext>
            </a:extLst>
          </p:cNvPr>
          <p:cNvSpPr/>
          <p:nvPr/>
        </p:nvSpPr>
        <p:spPr>
          <a:xfrm>
            <a:off x="1141117" y="4578723"/>
            <a:ext cx="874059" cy="564777"/>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10708458-6771-6E7C-41FB-535C16E91FC5}"/>
              </a:ext>
            </a:extLst>
          </p:cNvPr>
          <p:cNvSpPr/>
          <p:nvPr/>
        </p:nvSpPr>
        <p:spPr>
          <a:xfrm>
            <a:off x="1293517" y="4731123"/>
            <a:ext cx="874059" cy="564777"/>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C388D0A-92A3-B5F7-B023-694412D0E9C1}"/>
              </a:ext>
            </a:extLst>
          </p:cNvPr>
          <p:cNvSpPr/>
          <p:nvPr/>
        </p:nvSpPr>
        <p:spPr>
          <a:xfrm>
            <a:off x="1445917" y="4883523"/>
            <a:ext cx="874059" cy="564777"/>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7F65B4CF-8329-9977-908E-B07DD80EE056}"/>
              </a:ext>
            </a:extLst>
          </p:cNvPr>
          <p:cNvSpPr/>
          <p:nvPr/>
        </p:nvSpPr>
        <p:spPr>
          <a:xfrm>
            <a:off x="1598317" y="5035923"/>
            <a:ext cx="874059" cy="564777"/>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F0281CD0-2328-6226-73A3-7F0B98EC219D}"/>
              </a:ext>
            </a:extLst>
          </p:cNvPr>
          <p:cNvSpPr/>
          <p:nvPr/>
        </p:nvSpPr>
        <p:spPr>
          <a:xfrm>
            <a:off x="1750717" y="5188323"/>
            <a:ext cx="874059" cy="564777"/>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ECBEA542-20E4-0DF1-766A-97BC75F2BF58}"/>
              </a:ext>
            </a:extLst>
          </p:cNvPr>
          <p:cNvSpPr/>
          <p:nvPr/>
        </p:nvSpPr>
        <p:spPr>
          <a:xfrm>
            <a:off x="1903117" y="5340723"/>
            <a:ext cx="874059" cy="564777"/>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24439904-D976-BE28-BE3B-6ED1AC7F5E61}"/>
              </a:ext>
            </a:extLst>
          </p:cNvPr>
          <p:cNvSpPr/>
          <p:nvPr/>
        </p:nvSpPr>
        <p:spPr>
          <a:xfrm>
            <a:off x="2055517" y="5493123"/>
            <a:ext cx="874059" cy="564777"/>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58E512DE-053C-E52B-73AE-D1DDB9FB8859}"/>
              </a:ext>
            </a:extLst>
          </p:cNvPr>
          <p:cNvSpPr/>
          <p:nvPr/>
        </p:nvSpPr>
        <p:spPr>
          <a:xfrm>
            <a:off x="285750" y="5502795"/>
            <a:ext cx="1489668" cy="411009"/>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dirty="0"/>
              <a:t>class Client1</a:t>
            </a:r>
          </a:p>
        </p:txBody>
      </p:sp>
      <p:sp>
        <p:nvSpPr>
          <p:cNvPr id="25" name="Arrow: Curved Down 24">
            <a:extLst>
              <a:ext uri="{FF2B5EF4-FFF2-40B4-BE49-F238E27FC236}">
                <a16:creationId xmlns:a16="http://schemas.microsoft.com/office/drawing/2014/main" id="{5EA8F61E-503E-FF67-1F3A-5F13954A563B}"/>
              </a:ext>
            </a:extLst>
          </p:cNvPr>
          <p:cNvSpPr/>
          <p:nvPr/>
        </p:nvSpPr>
        <p:spPr>
          <a:xfrm>
            <a:off x="1445917" y="4551285"/>
            <a:ext cx="2649586" cy="104941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Flowchart: Multidocument 25">
            <a:extLst>
              <a:ext uri="{FF2B5EF4-FFF2-40B4-BE49-F238E27FC236}">
                <a16:creationId xmlns:a16="http://schemas.microsoft.com/office/drawing/2014/main" id="{D50B2FBC-B284-3F5D-342B-EA124A5723ED}"/>
              </a:ext>
            </a:extLst>
          </p:cNvPr>
          <p:cNvSpPr/>
          <p:nvPr/>
        </p:nvSpPr>
        <p:spPr>
          <a:xfrm>
            <a:off x="3776553" y="5530595"/>
            <a:ext cx="1290043" cy="914037"/>
          </a:xfrm>
          <a:prstGeom prst="flowChartMultidocumen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dirty="0"/>
              <a:t>.ser file</a:t>
            </a:r>
          </a:p>
        </p:txBody>
      </p:sp>
      <p:sp>
        <p:nvSpPr>
          <p:cNvPr id="27" name="Rectangle: Rounded Corners 26">
            <a:extLst>
              <a:ext uri="{FF2B5EF4-FFF2-40B4-BE49-F238E27FC236}">
                <a16:creationId xmlns:a16="http://schemas.microsoft.com/office/drawing/2014/main" id="{A1981218-3D0F-5CFE-EFA3-E962F7C116D7}"/>
              </a:ext>
            </a:extLst>
          </p:cNvPr>
          <p:cNvSpPr/>
          <p:nvPr/>
        </p:nvSpPr>
        <p:spPr>
          <a:xfrm>
            <a:off x="6166604" y="5520725"/>
            <a:ext cx="1489668" cy="411009"/>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IN" dirty="0"/>
              <a:t>class Client2</a:t>
            </a:r>
          </a:p>
        </p:txBody>
      </p:sp>
      <p:sp>
        <p:nvSpPr>
          <p:cNvPr id="28" name="Arrow: Curved Down 27">
            <a:extLst>
              <a:ext uri="{FF2B5EF4-FFF2-40B4-BE49-F238E27FC236}">
                <a16:creationId xmlns:a16="http://schemas.microsoft.com/office/drawing/2014/main" id="{CA9BC897-DC50-3E97-EF7A-4D498D82CA11}"/>
              </a:ext>
            </a:extLst>
          </p:cNvPr>
          <p:cNvSpPr/>
          <p:nvPr/>
        </p:nvSpPr>
        <p:spPr>
          <a:xfrm>
            <a:off x="4400303" y="4686663"/>
            <a:ext cx="2649586" cy="91403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Rectangle: Rounded Corners 28">
            <a:extLst>
              <a:ext uri="{FF2B5EF4-FFF2-40B4-BE49-F238E27FC236}">
                <a16:creationId xmlns:a16="http://schemas.microsoft.com/office/drawing/2014/main" id="{83B2D6F4-180A-6D42-11A7-56B48366CB41}"/>
              </a:ext>
            </a:extLst>
          </p:cNvPr>
          <p:cNvSpPr/>
          <p:nvPr/>
        </p:nvSpPr>
        <p:spPr>
          <a:xfrm>
            <a:off x="8619029" y="2782720"/>
            <a:ext cx="1298589" cy="64869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963AE472-EF1F-6E8E-8DAA-F4D003A58DA6}"/>
              </a:ext>
            </a:extLst>
          </p:cNvPr>
          <p:cNvSpPr/>
          <p:nvPr/>
        </p:nvSpPr>
        <p:spPr>
          <a:xfrm>
            <a:off x="10562129" y="2789591"/>
            <a:ext cx="1298589" cy="64869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31" name="Pentagon 30">
            <a:extLst>
              <a:ext uri="{FF2B5EF4-FFF2-40B4-BE49-F238E27FC236}">
                <a16:creationId xmlns:a16="http://schemas.microsoft.com/office/drawing/2014/main" id="{824B5497-EC74-4085-C886-9D713BC44668}"/>
              </a:ext>
            </a:extLst>
          </p:cNvPr>
          <p:cNvSpPr/>
          <p:nvPr/>
        </p:nvSpPr>
        <p:spPr>
          <a:xfrm>
            <a:off x="9776012" y="1330116"/>
            <a:ext cx="966770" cy="712141"/>
          </a:xfrm>
          <a:prstGeom prst="pentagon">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CD88E037-36AA-C749-3337-3B4596A22749}"/>
              </a:ext>
            </a:extLst>
          </p:cNvPr>
          <p:cNvSpPr/>
          <p:nvPr/>
        </p:nvSpPr>
        <p:spPr>
          <a:xfrm>
            <a:off x="9457408" y="2590527"/>
            <a:ext cx="736344" cy="430298"/>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6A37F6D8-3EA0-7A37-F783-72FA5D6EFA51}"/>
              </a:ext>
            </a:extLst>
          </p:cNvPr>
          <p:cNvSpPr/>
          <p:nvPr/>
        </p:nvSpPr>
        <p:spPr>
          <a:xfrm>
            <a:off x="10327456" y="2590527"/>
            <a:ext cx="736344" cy="430298"/>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34" name="Arrow: Up 33">
            <a:extLst>
              <a:ext uri="{FF2B5EF4-FFF2-40B4-BE49-F238E27FC236}">
                <a16:creationId xmlns:a16="http://schemas.microsoft.com/office/drawing/2014/main" id="{D1DF1AFC-13D5-2B8D-9DA1-AE4EA7BD7014}"/>
              </a:ext>
            </a:extLst>
          </p:cNvPr>
          <p:cNvSpPr/>
          <p:nvPr/>
        </p:nvSpPr>
        <p:spPr>
          <a:xfrm rot="1421299">
            <a:off x="9697883" y="2112228"/>
            <a:ext cx="571499" cy="43029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Up 34">
            <a:extLst>
              <a:ext uri="{FF2B5EF4-FFF2-40B4-BE49-F238E27FC236}">
                <a16:creationId xmlns:a16="http://schemas.microsoft.com/office/drawing/2014/main" id="{422EF4A7-0C6E-F3F7-DC3D-C834C0A86BCA}"/>
              </a:ext>
            </a:extLst>
          </p:cNvPr>
          <p:cNvSpPr/>
          <p:nvPr/>
        </p:nvSpPr>
        <p:spPr>
          <a:xfrm rot="19786611">
            <a:off x="10343313" y="2103013"/>
            <a:ext cx="576543" cy="42193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7" name="Straight Arrow Connector 36">
            <a:extLst>
              <a:ext uri="{FF2B5EF4-FFF2-40B4-BE49-F238E27FC236}">
                <a16:creationId xmlns:a16="http://schemas.microsoft.com/office/drawing/2014/main" id="{A71DBC61-E465-BBBF-A6DB-C50240187570}"/>
              </a:ext>
            </a:extLst>
          </p:cNvPr>
          <p:cNvCxnSpPr>
            <a:cxnSpLocks/>
          </p:cNvCxnSpPr>
          <p:nvPr/>
        </p:nvCxnSpPr>
        <p:spPr>
          <a:xfrm>
            <a:off x="1676023" y="3239309"/>
            <a:ext cx="2519459" cy="144735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CF45BC3-F591-463C-7F77-61CCA9607B28}"/>
              </a:ext>
            </a:extLst>
          </p:cNvPr>
          <p:cNvCxnSpPr>
            <a:cxnSpLocks/>
          </p:cNvCxnSpPr>
          <p:nvPr/>
        </p:nvCxnSpPr>
        <p:spPr>
          <a:xfrm flipV="1">
            <a:off x="6719864" y="3188368"/>
            <a:ext cx="1745549" cy="40176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6" name="Footer Placeholder 35">
            <a:extLst>
              <a:ext uri="{FF2B5EF4-FFF2-40B4-BE49-F238E27FC236}">
                <a16:creationId xmlns:a16="http://schemas.microsoft.com/office/drawing/2014/main" id="{C997FF40-AE57-A708-9202-7A9D522807D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726387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282388" y="1249087"/>
            <a:ext cx="8657596" cy="3785652"/>
          </a:xfrm>
          <a:prstGeom prst="rect">
            <a:avLst/>
          </a:prstGeom>
          <a:noFill/>
        </p:spPr>
        <p:txBody>
          <a:bodyPr wrap="square">
            <a:spAutoFit/>
          </a:bodyPr>
          <a:lstStyle/>
          <a:p>
            <a:pPr algn="just"/>
            <a:r>
              <a:rPr lang="en-US" sz="2000" b="1" dirty="0"/>
              <a:t>To implement Serializable classes the class must implement from </a:t>
            </a:r>
            <a:r>
              <a:rPr lang="en-US" sz="2000" b="1" dirty="0" err="1"/>
              <a:t>java.io.Serializable</a:t>
            </a:r>
            <a:r>
              <a:rPr lang="en-US" sz="2000" b="1" dirty="0"/>
              <a:t> interface. This interface is not having any methods. But this interface will act like marker/recognizer to see the ability of class whether can be serializable or not.</a:t>
            </a:r>
          </a:p>
          <a:p>
            <a:pPr algn="just"/>
            <a:endParaRPr lang="en-US" sz="2000" b="1" dirty="0"/>
          </a:p>
          <a:p>
            <a:pPr algn="just"/>
            <a:r>
              <a:rPr lang="en-US" sz="2000" b="1" dirty="0"/>
              <a:t>All Primitive variables declared in a class are eligible for serialization except transient and static variables. Any other class objects created in our class are if implemented from Serializable interface are only serialized during our object serialization. Non-serializable class objects if exist in our during object serialization they are not serialized, during our object deserialization those non-serializable class objects are reinitialized to null, their state cannot be persistent back.</a:t>
            </a:r>
            <a:endParaRPr lang="en-IN" sz="2000" b="1" dirty="0"/>
          </a:p>
        </p:txBody>
      </p:sp>
      <p:sp>
        <p:nvSpPr>
          <p:cNvPr id="7" name="Footer Placeholder 6">
            <a:extLst>
              <a:ext uri="{FF2B5EF4-FFF2-40B4-BE49-F238E27FC236}">
                <a16:creationId xmlns:a16="http://schemas.microsoft.com/office/drawing/2014/main" id="{42634692-CBF5-8663-D07C-2DD0F549C5A3}"/>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696344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705204" y="709629"/>
            <a:ext cx="8234780" cy="5632311"/>
          </a:xfrm>
          <a:prstGeom prst="rect">
            <a:avLst/>
          </a:prstGeom>
          <a:noFill/>
        </p:spPr>
        <p:txBody>
          <a:bodyPr wrap="square">
            <a:spAutoFit/>
          </a:bodyPr>
          <a:lstStyle/>
          <a:p>
            <a:pPr algn="just"/>
            <a:r>
              <a:rPr lang="en-US" sz="2000" b="1" dirty="0"/>
              <a:t>// Dept.java</a:t>
            </a:r>
          </a:p>
          <a:p>
            <a:pPr algn="just"/>
            <a:r>
              <a:rPr lang="en-US" sz="2000" b="1" dirty="0"/>
              <a:t>public class Dept implements </a:t>
            </a:r>
            <a:r>
              <a:rPr lang="en-US" sz="2000" b="1" dirty="0" err="1"/>
              <a:t>java.io.Serializable</a:t>
            </a:r>
            <a:r>
              <a:rPr lang="en-US" sz="2000" b="1" dirty="0"/>
              <a:t> {</a:t>
            </a:r>
          </a:p>
          <a:p>
            <a:pPr algn="just"/>
            <a:r>
              <a:rPr lang="en-US" sz="2000" b="1" dirty="0"/>
              <a:t>  int </a:t>
            </a:r>
            <a:r>
              <a:rPr lang="en-US" sz="2000" b="1" dirty="0" err="1"/>
              <a:t>deptno</a:t>
            </a:r>
            <a:r>
              <a:rPr lang="en-US" sz="2000" b="1" dirty="0"/>
              <a:t>;</a:t>
            </a:r>
          </a:p>
          <a:p>
            <a:pPr algn="just"/>
            <a:r>
              <a:rPr lang="en-US" sz="2000" b="1" dirty="0"/>
              <a:t>  String </a:t>
            </a:r>
            <a:r>
              <a:rPr lang="en-US" sz="2000" b="1" dirty="0" err="1"/>
              <a:t>deptname</a:t>
            </a:r>
            <a:r>
              <a:rPr lang="en-US" sz="2000" b="1" dirty="0"/>
              <a:t>;</a:t>
            </a:r>
          </a:p>
          <a:p>
            <a:pPr algn="just"/>
            <a:r>
              <a:rPr lang="en-US" sz="2000" b="1" dirty="0"/>
              <a:t>  String loc;</a:t>
            </a:r>
          </a:p>
          <a:p>
            <a:pPr algn="just"/>
            <a:r>
              <a:rPr lang="en-US" sz="2000" b="1" dirty="0"/>
              <a:t>  </a:t>
            </a:r>
            <a:r>
              <a:rPr lang="en-US" sz="2000" b="1" dirty="0" err="1"/>
              <a:t>java.util.List</a:t>
            </a:r>
            <a:r>
              <a:rPr lang="en-US" sz="2000" b="1" dirty="0"/>
              <a:t>&lt;Emp&gt; </a:t>
            </a:r>
            <a:r>
              <a:rPr lang="en-US" sz="2000" b="1" dirty="0" err="1"/>
              <a:t>empList</a:t>
            </a:r>
            <a:r>
              <a:rPr lang="en-US" sz="2000" b="1" dirty="0"/>
              <a:t>;</a:t>
            </a:r>
          </a:p>
          <a:p>
            <a:pPr algn="just"/>
            <a:r>
              <a:rPr lang="en-US" sz="2000" b="1" dirty="0"/>
              <a:t>  </a:t>
            </a:r>
          </a:p>
          <a:p>
            <a:pPr algn="just"/>
            <a:r>
              <a:rPr lang="en-US" sz="2000" b="1" dirty="0"/>
              <a:t>  public Dept() {}</a:t>
            </a:r>
          </a:p>
          <a:p>
            <a:pPr algn="just"/>
            <a:r>
              <a:rPr lang="en-US" sz="2000" b="1" dirty="0"/>
              <a:t>  public Dept(int </a:t>
            </a:r>
            <a:r>
              <a:rPr lang="en-US" sz="2000" b="1" dirty="0" err="1"/>
              <a:t>deptno</a:t>
            </a:r>
            <a:r>
              <a:rPr lang="en-US" sz="2000" b="1" dirty="0"/>
              <a:t>, String </a:t>
            </a:r>
            <a:r>
              <a:rPr lang="en-US" sz="2000" b="1" dirty="0" err="1"/>
              <a:t>deptname</a:t>
            </a:r>
            <a:r>
              <a:rPr lang="en-US" sz="2000" b="1" dirty="0"/>
              <a:t>, String loc, </a:t>
            </a:r>
            <a:r>
              <a:rPr lang="en-US" sz="2000" b="1" dirty="0" err="1"/>
              <a:t>java.util.List</a:t>
            </a:r>
            <a:r>
              <a:rPr lang="en-US" sz="2000" b="1" dirty="0"/>
              <a:t> </a:t>
            </a:r>
            <a:r>
              <a:rPr lang="en-US" sz="2000" b="1" dirty="0" err="1"/>
              <a:t>empList</a:t>
            </a:r>
            <a:r>
              <a:rPr lang="en-US" sz="2000" b="1" dirty="0"/>
              <a:t>) {</a:t>
            </a:r>
          </a:p>
          <a:p>
            <a:pPr algn="just"/>
            <a:r>
              <a:rPr lang="en-US" sz="2000" b="1" dirty="0"/>
              <a:t>    </a:t>
            </a:r>
            <a:r>
              <a:rPr lang="en-US" sz="2000" b="1" dirty="0" err="1"/>
              <a:t>this.deptno</a:t>
            </a:r>
            <a:r>
              <a:rPr lang="en-US" sz="2000" b="1" dirty="0"/>
              <a:t>=</a:t>
            </a:r>
            <a:r>
              <a:rPr lang="en-US" sz="2000" b="1" dirty="0" err="1"/>
              <a:t>deptno</a:t>
            </a:r>
            <a:r>
              <a:rPr lang="en-US" sz="2000" b="1" dirty="0"/>
              <a:t>;</a:t>
            </a:r>
          </a:p>
          <a:p>
            <a:pPr algn="just"/>
            <a:r>
              <a:rPr lang="en-US" sz="2000" b="1" dirty="0"/>
              <a:t>    </a:t>
            </a:r>
            <a:r>
              <a:rPr lang="en-US" sz="2000" b="1" dirty="0" err="1"/>
              <a:t>this.deptname</a:t>
            </a:r>
            <a:r>
              <a:rPr lang="en-US" sz="2000" b="1" dirty="0"/>
              <a:t>=</a:t>
            </a:r>
            <a:r>
              <a:rPr lang="en-US" sz="2000" b="1" dirty="0" err="1"/>
              <a:t>deptname</a:t>
            </a:r>
            <a:r>
              <a:rPr lang="en-US" sz="2000" b="1" dirty="0"/>
              <a:t>;</a:t>
            </a:r>
          </a:p>
          <a:p>
            <a:pPr algn="just"/>
            <a:r>
              <a:rPr lang="en-US" sz="2000" b="1" dirty="0"/>
              <a:t>    </a:t>
            </a:r>
            <a:r>
              <a:rPr lang="en-US" sz="2000" b="1" dirty="0" err="1"/>
              <a:t>this.loc</a:t>
            </a:r>
            <a:r>
              <a:rPr lang="en-US" sz="2000" b="1" dirty="0"/>
              <a:t>=loc;</a:t>
            </a:r>
          </a:p>
          <a:p>
            <a:pPr algn="just"/>
            <a:r>
              <a:rPr lang="en-US" sz="2000" b="1" dirty="0"/>
              <a:t>    </a:t>
            </a:r>
            <a:r>
              <a:rPr lang="en-US" sz="2000" b="1" dirty="0" err="1"/>
              <a:t>this.empList</a:t>
            </a:r>
            <a:r>
              <a:rPr lang="en-US" sz="2000" b="1" dirty="0"/>
              <a:t>=</a:t>
            </a:r>
            <a:r>
              <a:rPr lang="en-US" sz="2000" b="1" dirty="0" err="1"/>
              <a:t>empList</a:t>
            </a:r>
            <a:r>
              <a:rPr lang="en-US" sz="2000" b="1" dirty="0"/>
              <a:t>;</a:t>
            </a:r>
          </a:p>
          <a:p>
            <a:pPr algn="just"/>
            <a:r>
              <a:rPr lang="en-US" sz="2000" b="1" dirty="0"/>
              <a:t>  }</a:t>
            </a:r>
          </a:p>
          <a:p>
            <a:pPr algn="just"/>
            <a:r>
              <a:rPr lang="en-US" sz="2000" b="1" dirty="0"/>
              <a:t>  public String </a:t>
            </a:r>
            <a:r>
              <a:rPr lang="en-US" sz="2000" b="1" dirty="0" err="1"/>
              <a:t>toString</a:t>
            </a:r>
            <a:r>
              <a:rPr lang="en-US" sz="2000" b="1" dirty="0"/>
              <a:t>() {</a:t>
            </a:r>
          </a:p>
          <a:p>
            <a:pPr algn="just"/>
            <a:r>
              <a:rPr lang="en-US" sz="2000" b="1" dirty="0"/>
              <a:t>	return </a:t>
            </a:r>
            <a:r>
              <a:rPr lang="en-US" sz="2000" b="1" dirty="0" err="1"/>
              <a:t>deptno</a:t>
            </a:r>
            <a:r>
              <a:rPr lang="en-US" sz="2000" b="1" dirty="0"/>
              <a:t>+" "+</a:t>
            </a:r>
            <a:r>
              <a:rPr lang="en-US" sz="2000" b="1" dirty="0" err="1"/>
              <a:t>deptname</a:t>
            </a:r>
            <a:r>
              <a:rPr lang="en-US" sz="2000" b="1" dirty="0"/>
              <a:t>+" "+loc;</a:t>
            </a:r>
          </a:p>
          <a:p>
            <a:pPr algn="just"/>
            <a:r>
              <a:rPr lang="en-US" sz="2000" b="1" dirty="0"/>
              <a:t>  }</a:t>
            </a:r>
          </a:p>
          <a:p>
            <a:pPr algn="just"/>
            <a:r>
              <a:rPr lang="en-US" sz="2000" b="1" dirty="0"/>
              <a:t>}</a:t>
            </a:r>
            <a:endParaRPr lang="en-IN" sz="2000" b="1" dirty="0"/>
          </a:p>
        </p:txBody>
      </p:sp>
      <p:sp>
        <p:nvSpPr>
          <p:cNvPr id="7" name="Footer Placeholder 6">
            <a:extLst>
              <a:ext uri="{FF2B5EF4-FFF2-40B4-BE49-F238E27FC236}">
                <a16:creationId xmlns:a16="http://schemas.microsoft.com/office/drawing/2014/main" id="{786A9801-F205-7C0A-0AE0-A3CF6D3CFD4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3680449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705204" y="709629"/>
            <a:ext cx="8234780" cy="5755422"/>
          </a:xfrm>
          <a:prstGeom prst="rect">
            <a:avLst/>
          </a:prstGeom>
          <a:noFill/>
        </p:spPr>
        <p:txBody>
          <a:bodyPr wrap="square">
            <a:spAutoFit/>
          </a:bodyPr>
          <a:lstStyle/>
          <a:p>
            <a:pPr algn="just"/>
            <a:r>
              <a:rPr lang="en-US" sz="1600" b="1" dirty="0"/>
              <a:t>// Emp.java</a:t>
            </a:r>
          </a:p>
          <a:p>
            <a:pPr algn="just"/>
            <a:r>
              <a:rPr lang="en-US" sz="1600" b="1" dirty="0"/>
              <a:t>public class Emp implements </a:t>
            </a:r>
            <a:r>
              <a:rPr lang="en-US" sz="1600" b="1" dirty="0" err="1"/>
              <a:t>java.io.Serializable</a:t>
            </a:r>
            <a:r>
              <a:rPr lang="en-US" sz="1600" b="1" dirty="0"/>
              <a:t> {</a:t>
            </a:r>
          </a:p>
          <a:p>
            <a:pPr algn="just"/>
            <a:r>
              <a:rPr lang="en-US" sz="1600" b="1" dirty="0"/>
              <a:t>  int </a:t>
            </a:r>
            <a:r>
              <a:rPr lang="en-US" sz="1600" b="1" dirty="0" err="1"/>
              <a:t>eno</a:t>
            </a:r>
            <a:r>
              <a:rPr lang="en-US" sz="1600" b="1" dirty="0"/>
              <a:t>;</a:t>
            </a:r>
          </a:p>
          <a:p>
            <a:pPr algn="just"/>
            <a:r>
              <a:rPr lang="en-US" sz="1600" b="1" dirty="0"/>
              <a:t>  String </a:t>
            </a:r>
            <a:r>
              <a:rPr lang="en-US" sz="1600" b="1" dirty="0" err="1"/>
              <a:t>ename</a:t>
            </a:r>
            <a:r>
              <a:rPr lang="en-US" sz="1600" b="1" dirty="0"/>
              <a:t>;</a:t>
            </a:r>
          </a:p>
          <a:p>
            <a:pPr algn="just"/>
            <a:r>
              <a:rPr lang="en-US" sz="1600" b="1" dirty="0"/>
              <a:t>  double </a:t>
            </a:r>
            <a:r>
              <a:rPr lang="en-US" sz="1600" b="1" dirty="0" err="1"/>
              <a:t>sal</a:t>
            </a:r>
            <a:r>
              <a:rPr lang="en-US" sz="1600" b="1" dirty="0"/>
              <a:t>;</a:t>
            </a:r>
          </a:p>
          <a:p>
            <a:pPr algn="just"/>
            <a:r>
              <a:rPr lang="en-US" sz="1600" b="1" dirty="0"/>
              <a:t>  String </a:t>
            </a:r>
            <a:r>
              <a:rPr lang="en-US" sz="1600" b="1" dirty="0" err="1"/>
              <a:t>desig</a:t>
            </a:r>
            <a:r>
              <a:rPr lang="en-US" sz="1600" b="1" dirty="0"/>
              <a:t>;</a:t>
            </a:r>
          </a:p>
          <a:p>
            <a:pPr algn="just"/>
            <a:r>
              <a:rPr lang="en-US" sz="1600" b="1" dirty="0"/>
              <a:t>  transient String </a:t>
            </a:r>
            <a:r>
              <a:rPr lang="en-US" sz="1600" b="1" dirty="0" err="1"/>
              <a:t>bankAccNo</a:t>
            </a:r>
            <a:r>
              <a:rPr lang="en-US" sz="1600" b="1" dirty="0"/>
              <a:t>; // transient is oppose to persistent/serialization</a:t>
            </a:r>
          </a:p>
          <a:p>
            <a:pPr algn="just"/>
            <a:r>
              <a:rPr lang="en-US" sz="1600" b="1" dirty="0"/>
              <a:t>  // transient variables cannot be serialized</a:t>
            </a:r>
          </a:p>
          <a:p>
            <a:pPr algn="just"/>
            <a:r>
              <a:rPr lang="en-US" sz="1600" b="1" dirty="0"/>
              <a:t>  Dept </a:t>
            </a:r>
            <a:r>
              <a:rPr lang="en-US" sz="1600" b="1" dirty="0" err="1"/>
              <a:t>dept</a:t>
            </a:r>
            <a:r>
              <a:rPr lang="en-US" sz="1600" b="1" dirty="0"/>
              <a:t>;</a:t>
            </a:r>
          </a:p>
          <a:p>
            <a:pPr algn="just"/>
            <a:r>
              <a:rPr lang="en-US" sz="1600" b="1" dirty="0"/>
              <a:t>								</a:t>
            </a:r>
          </a:p>
          <a:p>
            <a:pPr algn="just"/>
            <a:r>
              <a:rPr lang="en-US" sz="1600" b="1" dirty="0"/>
              <a:t>  public Emp() {}</a:t>
            </a:r>
          </a:p>
          <a:p>
            <a:pPr algn="just"/>
            <a:r>
              <a:rPr lang="en-US" sz="1600" b="1" dirty="0"/>
              <a:t>  public Emp(int </a:t>
            </a:r>
            <a:r>
              <a:rPr lang="en-US" sz="1600" b="1" dirty="0" err="1"/>
              <a:t>eno</a:t>
            </a:r>
            <a:r>
              <a:rPr lang="en-US" sz="1600" b="1" dirty="0"/>
              <a:t>, String </a:t>
            </a:r>
            <a:r>
              <a:rPr lang="en-US" sz="1600" b="1" dirty="0" err="1"/>
              <a:t>ename</a:t>
            </a:r>
            <a:r>
              <a:rPr lang="en-US" sz="1600" b="1" dirty="0"/>
              <a:t>, double </a:t>
            </a:r>
            <a:r>
              <a:rPr lang="en-US" sz="1600" b="1" dirty="0" err="1"/>
              <a:t>sal</a:t>
            </a:r>
            <a:r>
              <a:rPr lang="en-US" sz="1600" b="1" dirty="0"/>
              <a:t>, String </a:t>
            </a:r>
            <a:r>
              <a:rPr lang="en-US" sz="1600" b="1" dirty="0" err="1"/>
              <a:t>desig</a:t>
            </a:r>
            <a:r>
              <a:rPr lang="en-US" sz="1600" b="1" dirty="0"/>
              <a:t>, String </a:t>
            </a:r>
            <a:r>
              <a:rPr lang="en-US" sz="1600" b="1" dirty="0" err="1"/>
              <a:t>bankAccNo</a:t>
            </a:r>
            <a:r>
              <a:rPr lang="en-US" sz="1600" b="1" dirty="0"/>
              <a:t>, Dept dept) {</a:t>
            </a:r>
          </a:p>
          <a:p>
            <a:pPr algn="just"/>
            <a:r>
              <a:rPr lang="en-US" sz="1600" b="1" dirty="0"/>
              <a:t>    </a:t>
            </a:r>
            <a:r>
              <a:rPr lang="en-US" sz="1600" b="1" dirty="0" err="1"/>
              <a:t>this.eno</a:t>
            </a:r>
            <a:r>
              <a:rPr lang="en-US" sz="1600" b="1" dirty="0"/>
              <a:t>=</a:t>
            </a:r>
            <a:r>
              <a:rPr lang="en-US" sz="1600" b="1" dirty="0" err="1"/>
              <a:t>eno</a:t>
            </a:r>
            <a:r>
              <a:rPr lang="en-US" sz="1600" b="1" dirty="0"/>
              <a:t>;</a:t>
            </a:r>
          </a:p>
          <a:p>
            <a:pPr algn="just"/>
            <a:r>
              <a:rPr lang="en-US" sz="1600" b="1" dirty="0"/>
              <a:t>    </a:t>
            </a:r>
            <a:r>
              <a:rPr lang="en-US" sz="1600" b="1" dirty="0" err="1"/>
              <a:t>this.ename</a:t>
            </a:r>
            <a:r>
              <a:rPr lang="en-US" sz="1600" b="1" dirty="0"/>
              <a:t>=</a:t>
            </a:r>
            <a:r>
              <a:rPr lang="en-US" sz="1600" b="1" dirty="0" err="1"/>
              <a:t>ename</a:t>
            </a:r>
            <a:r>
              <a:rPr lang="en-US" sz="1600" b="1" dirty="0"/>
              <a:t>;</a:t>
            </a:r>
          </a:p>
          <a:p>
            <a:pPr algn="just"/>
            <a:r>
              <a:rPr lang="en-US" sz="1600" b="1" dirty="0"/>
              <a:t>    </a:t>
            </a:r>
            <a:r>
              <a:rPr lang="en-US" sz="1600" b="1" dirty="0" err="1"/>
              <a:t>this.sal</a:t>
            </a:r>
            <a:r>
              <a:rPr lang="en-US" sz="1600" b="1" dirty="0"/>
              <a:t>=</a:t>
            </a:r>
            <a:r>
              <a:rPr lang="en-US" sz="1600" b="1" dirty="0" err="1"/>
              <a:t>sal</a:t>
            </a:r>
            <a:r>
              <a:rPr lang="en-US" sz="1600" b="1" dirty="0"/>
              <a:t>;</a:t>
            </a:r>
          </a:p>
          <a:p>
            <a:pPr algn="just"/>
            <a:r>
              <a:rPr lang="en-US" sz="1600" b="1" dirty="0"/>
              <a:t>    </a:t>
            </a:r>
            <a:r>
              <a:rPr lang="en-US" sz="1600" b="1" dirty="0" err="1"/>
              <a:t>this.desig</a:t>
            </a:r>
            <a:r>
              <a:rPr lang="en-US" sz="1600" b="1" dirty="0"/>
              <a:t>=</a:t>
            </a:r>
            <a:r>
              <a:rPr lang="en-US" sz="1600" b="1" dirty="0" err="1"/>
              <a:t>desig</a:t>
            </a:r>
            <a:r>
              <a:rPr lang="en-US" sz="1600" b="1" dirty="0"/>
              <a:t>;</a:t>
            </a:r>
          </a:p>
          <a:p>
            <a:pPr algn="just"/>
            <a:r>
              <a:rPr lang="en-US" sz="1600" b="1" dirty="0"/>
              <a:t>    </a:t>
            </a:r>
            <a:r>
              <a:rPr lang="en-US" sz="1600" b="1" dirty="0" err="1"/>
              <a:t>this.bankAccNo</a:t>
            </a:r>
            <a:r>
              <a:rPr lang="en-US" sz="1600" b="1" dirty="0"/>
              <a:t>=</a:t>
            </a:r>
            <a:r>
              <a:rPr lang="en-US" sz="1600" b="1" dirty="0" err="1"/>
              <a:t>bankAccNo</a:t>
            </a:r>
            <a:r>
              <a:rPr lang="en-US" sz="1600" b="1" dirty="0"/>
              <a:t>;</a:t>
            </a:r>
          </a:p>
          <a:p>
            <a:pPr algn="just"/>
            <a:r>
              <a:rPr lang="en-US" sz="1600" b="1" dirty="0"/>
              <a:t>    </a:t>
            </a:r>
            <a:r>
              <a:rPr lang="en-US" sz="1600" b="1" dirty="0" err="1"/>
              <a:t>this.dept</a:t>
            </a:r>
            <a:r>
              <a:rPr lang="en-US" sz="1600" b="1" dirty="0"/>
              <a:t>=dept;</a:t>
            </a:r>
          </a:p>
          <a:p>
            <a:pPr algn="just"/>
            <a:r>
              <a:rPr lang="en-US" sz="1600" b="1" dirty="0"/>
              <a:t>  }</a:t>
            </a:r>
          </a:p>
          <a:p>
            <a:pPr algn="just"/>
            <a:r>
              <a:rPr lang="en-US" sz="1600" b="1" dirty="0"/>
              <a:t>  public String </a:t>
            </a:r>
            <a:r>
              <a:rPr lang="en-US" sz="1600" b="1" dirty="0" err="1"/>
              <a:t>toString</a:t>
            </a:r>
            <a:r>
              <a:rPr lang="en-US" sz="1600" b="1" dirty="0"/>
              <a:t>() {</a:t>
            </a:r>
          </a:p>
          <a:p>
            <a:pPr algn="just"/>
            <a:r>
              <a:rPr lang="en-US" sz="1600" b="1" dirty="0"/>
              <a:t>	return </a:t>
            </a:r>
            <a:r>
              <a:rPr lang="en-US" sz="1600" b="1" dirty="0" err="1"/>
              <a:t>eno</a:t>
            </a:r>
            <a:r>
              <a:rPr lang="en-US" sz="1600" b="1" dirty="0"/>
              <a:t>+" "+</a:t>
            </a:r>
            <a:r>
              <a:rPr lang="en-US" sz="1600" b="1" dirty="0" err="1"/>
              <a:t>ename</a:t>
            </a:r>
            <a:r>
              <a:rPr lang="en-US" sz="1600" b="1" dirty="0"/>
              <a:t>+" "+</a:t>
            </a:r>
            <a:r>
              <a:rPr lang="en-US" sz="1600" b="1" dirty="0" err="1"/>
              <a:t>sal</a:t>
            </a:r>
            <a:r>
              <a:rPr lang="en-US" sz="1600" b="1" dirty="0"/>
              <a:t>+" "+</a:t>
            </a:r>
            <a:r>
              <a:rPr lang="en-US" sz="1600" b="1" dirty="0" err="1"/>
              <a:t>desig</a:t>
            </a:r>
            <a:r>
              <a:rPr lang="en-US" sz="1600" b="1" dirty="0"/>
              <a:t>;</a:t>
            </a:r>
          </a:p>
          <a:p>
            <a:pPr algn="just"/>
            <a:r>
              <a:rPr lang="en-US" sz="1600" b="1" dirty="0"/>
              <a:t>  }</a:t>
            </a:r>
          </a:p>
          <a:p>
            <a:pPr algn="just"/>
            <a:r>
              <a:rPr lang="en-US" sz="1600" b="1" dirty="0"/>
              <a:t>}</a:t>
            </a:r>
            <a:endParaRPr lang="en-IN" sz="1600" b="1" dirty="0"/>
          </a:p>
        </p:txBody>
      </p:sp>
      <p:sp>
        <p:nvSpPr>
          <p:cNvPr id="7" name="Footer Placeholder 6">
            <a:extLst>
              <a:ext uri="{FF2B5EF4-FFF2-40B4-BE49-F238E27FC236}">
                <a16:creationId xmlns:a16="http://schemas.microsoft.com/office/drawing/2014/main" id="{822343A0-4309-BEFB-8551-8D48BA202E4D}"/>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387778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705204" y="709629"/>
            <a:ext cx="8234780" cy="5262979"/>
          </a:xfrm>
          <a:prstGeom prst="rect">
            <a:avLst/>
          </a:prstGeom>
          <a:noFill/>
        </p:spPr>
        <p:txBody>
          <a:bodyPr wrap="square">
            <a:spAutoFit/>
          </a:bodyPr>
          <a:lstStyle/>
          <a:p>
            <a:pPr algn="just"/>
            <a:r>
              <a:rPr lang="en-US" sz="1600" b="1" dirty="0"/>
              <a:t>// DeptSerDemo.java</a:t>
            </a:r>
          </a:p>
          <a:p>
            <a:pPr algn="just"/>
            <a:r>
              <a:rPr lang="en-US" sz="1600" b="1" dirty="0"/>
              <a:t>import java.io.*;</a:t>
            </a:r>
          </a:p>
          <a:p>
            <a:pPr algn="just"/>
            <a:r>
              <a:rPr lang="en-US" sz="1600" b="1" dirty="0"/>
              <a:t>import </a:t>
            </a:r>
            <a:r>
              <a:rPr lang="en-US" sz="1600" b="1" dirty="0" err="1"/>
              <a:t>java.util</a:t>
            </a:r>
            <a:r>
              <a:rPr lang="en-US" sz="1600" b="1" dirty="0"/>
              <a:t>.*;</a:t>
            </a:r>
          </a:p>
          <a:p>
            <a:pPr algn="just"/>
            <a:r>
              <a:rPr lang="en-US" sz="1600" b="1" dirty="0"/>
              <a:t>public class </a:t>
            </a:r>
            <a:r>
              <a:rPr lang="en-US" sz="1600" b="1" dirty="0" err="1"/>
              <a:t>DeptSerDemo</a:t>
            </a:r>
            <a:r>
              <a:rPr lang="en-US" sz="1600" b="1" dirty="0"/>
              <a:t> {</a:t>
            </a:r>
          </a:p>
          <a:p>
            <a:pPr algn="just"/>
            <a:r>
              <a:rPr lang="en-US" sz="1600" b="1" dirty="0"/>
              <a:t>  public static void main(String rags[]) throws Exception {</a:t>
            </a:r>
          </a:p>
          <a:p>
            <a:pPr algn="just"/>
            <a:r>
              <a:rPr lang="en-US" sz="1600" b="1" dirty="0"/>
              <a:t>	</a:t>
            </a:r>
          </a:p>
          <a:p>
            <a:pPr algn="just"/>
            <a:r>
              <a:rPr lang="en-US" sz="1600" b="1" dirty="0"/>
              <a:t>    Emp e1=new Emp(1,"ABC", 35000.00,"Some </a:t>
            </a:r>
            <a:r>
              <a:rPr lang="en-US" sz="1600" b="1" dirty="0" err="1"/>
              <a:t>Desig</a:t>
            </a:r>
            <a:r>
              <a:rPr lang="en-US" sz="1600" b="1" dirty="0"/>
              <a:t>");</a:t>
            </a:r>
          </a:p>
          <a:p>
            <a:pPr algn="just"/>
            <a:r>
              <a:rPr lang="en-US" sz="1600" b="1" dirty="0"/>
              <a:t>    Emp e2=new Emp(2,"XYZ", 45000.00,"Any </a:t>
            </a:r>
            <a:r>
              <a:rPr lang="en-US" sz="1600" b="1" dirty="0" err="1"/>
              <a:t>Desig</a:t>
            </a:r>
            <a:r>
              <a:rPr lang="en-US" sz="1600" b="1" dirty="0"/>
              <a:t>");</a:t>
            </a:r>
          </a:p>
          <a:p>
            <a:pPr algn="just"/>
            <a:r>
              <a:rPr lang="en-US" sz="1600" b="1" dirty="0"/>
              <a:t>    Emp e3=new Emp(3,"LMN", 55000.00,"No </a:t>
            </a:r>
            <a:r>
              <a:rPr lang="en-US" sz="1600" b="1" dirty="0" err="1"/>
              <a:t>Desig</a:t>
            </a:r>
            <a:r>
              <a:rPr lang="en-US" sz="1600" b="1" dirty="0"/>
              <a:t>");</a:t>
            </a:r>
          </a:p>
          <a:p>
            <a:pPr algn="just"/>
            <a:r>
              <a:rPr lang="en-US" sz="1600" b="1" dirty="0"/>
              <a:t>    Emp e4=new Emp(4,"PQR", 65000.00,"All </a:t>
            </a:r>
            <a:r>
              <a:rPr lang="en-US" sz="1600" b="1" dirty="0" err="1"/>
              <a:t>Desig</a:t>
            </a:r>
            <a:r>
              <a:rPr lang="en-US" sz="1600" b="1" dirty="0"/>
              <a:t>");</a:t>
            </a:r>
          </a:p>
          <a:p>
            <a:pPr algn="just"/>
            <a:endParaRPr lang="en-US" sz="1600" b="1" dirty="0"/>
          </a:p>
          <a:p>
            <a:pPr algn="just"/>
            <a:r>
              <a:rPr lang="en-US" sz="1600" b="1" dirty="0"/>
              <a:t>    List list=new </a:t>
            </a:r>
            <a:r>
              <a:rPr lang="en-US" sz="1600" b="1" dirty="0" err="1"/>
              <a:t>ArrayList</a:t>
            </a:r>
            <a:r>
              <a:rPr lang="en-US" sz="1600" b="1" dirty="0"/>
              <a:t>();</a:t>
            </a:r>
          </a:p>
          <a:p>
            <a:pPr algn="just"/>
            <a:r>
              <a:rPr lang="en-US" sz="1600" b="1" dirty="0"/>
              <a:t>    </a:t>
            </a:r>
            <a:r>
              <a:rPr lang="en-US" sz="1600" b="1" dirty="0" err="1"/>
              <a:t>list.add</a:t>
            </a:r>
            <a:r>
              <a:rPr lang="en-US" sz="1600" b="1" dirty="0"/>
              <a:t>(e1); </a:t>
            </a:r>
            <a:r>
              <a:rPr lang="en-US" sz="1600" b="1" dirty="0" err="1"/>
              <a:t>list.add</a:t>
            </a:r>
            <a:r>
              <a:rPr lang="en-US" sz="1600" b="1" dirty="0"/>
              <a:t>(e2); </a:t>
            </a:r>
            <a:r>
              <a:rPr lang="en-US" sz="1600" b="1" dirty="0" err="1"/>
              <a:t>list.add</a:t>
            </a:r>
            <a:r>
              <a:rPr lang="en-US" sz="1600" b="1" dirty="0"/>
              <a:t>(e3); </a:t>
            </a:r>
            <a:r>
              <a:rPr lang="en-US" sz="1600" b="1" dirty="0" err="1"/>
              <a:t>list.add</a:t>
            </a:r>
            <a:r>
              <a:rPr lang="en-US" sz="1600" b="1" dirty="0"/>
              <a:t>(e4);</a:t>
            </a:r>
          </a:p>
          <a:p>
            <a:pPr algn="just"/>
            <a:r>
              <a:rPr lang="en-US" sz="1600" b="1" dirty="0"/>
              <a:t>	</a:t>
            </a:r>
          </a:p>
          <a:p>
            <a:pPr algn="just"/>
            <a:r>
              <a:rPr lang="en-US" sz="1600" b="1" dirty="0"/>
              <a:t>	/*</a:t>
            </a:r>
          </a:p>
          <a:p>
            <a:pPr algn="just"/>
            <a:r>
              <a:rPr lang="en-US" sz="1600" b="1" dirty="0"/>
              <a:t>	Emp e[]=new Emp[4];</a:t>
            </a:r>
          </a:p>
          <a:p>
            <a:pPr algn="just"/>
            <a:r>
              <a:rPr lang="en-US" sz="1600" b="1" dirty="0"/>
              <a:t>	e[0]=new Emp(1,"ABC", 35000.00,"Some </a:t>
            </a:r>
            <a:r>
              <a:rPr lang="en-US" sz="1600" b="1" dirty="0" err="1"/>
              <a:t>Desig</a:t>
            </a:r>
            <a:r>
              <a:rPr lang="en-US" sz="1600" b="1" dirty="0"/>
              <a:t>");</a:t>
            </a:r>
          </a:p>
          <a:p>
            <a:pPr algn="just"/>
            <a:r>
              <a:rPr lang="en-US" sz="1600" b="1" dirty="0"/>
              <a:t>	e[1]=new Emp(2,"xyz", 35000.00,"Some </a:t>
            </a:r>
            <a:r>
              <a:rPr lang="en-US" sz="1600" b="1" dirty="0" err="1"/>
              <a:t>Desig</a:t>
            </a:r>
            <a:r>
              <a:rPr lang="en-US" sz="1600" b="1" dirty="0"/>
              <a:t>");</a:t>
            </a:r>
          </a:p>
          <a:p>
            <a:pPr algn="just"/>
            <a:r>
              <a:rPr lang="en-US" sz="1600" b="1" dirty="0"/>
              <a:t>	e[2]=new Emp(3,"LMN", 35000.00,"Some </a:t>
            </a:r>
            <a:r>
              <a:rPr lang="en-US" sz="1600" b="1" dirty="0" err="1"/>
              <a:t>Desig</a:t>
            </a:r>
            <a:r>
              <a:rPr lang="en-US" sz="1600" b="1" dirty="0"/>
              <a:t>");</a:t>
            </a:r>
          </a:p>
          <a:p>
            <a:pPr algn="just"/>
            <a:r>
              <a:rPr lang="en-US" sz="1600" b="1" dirty="0"/>
              <a:t>	e[3]=new Emp(4,"PQR", 35000.00,"Some </a:t>
            </a:r>
            <a:r>
              <a:rPr lang="en-US" sz="1600" b="1" dirty="0" err="1"/>
              <a:t>Desig</a:t>
            </a:r>
            <a:r>
              <a:rPr lang="en-US" sz="1600" b="1" dirty="0"/>
              <a:t>");</a:t>
            </a:r>
          </a:p>
          <a:p>
            <a:pPr algn="just"/>
            <a:r>
              <a:rPr lang="en-US" sz="1600" b="1" dirty="0"/>
              <a:t>	*/</a:t>
            </a:r>
            <a:endParaRPr lang="en-IN" sz="1600" b="1" dirty="0"/>
          </a:p>
        </p:txBody>
      </p:sp>
      <p:sp>
        <p:nvSpPr>
          <p:cNvPr id="7" name="Footer Placeholder 6">
            <a:extLst>
              <a:ext uri="{FF2B5EF4-FFF2-40B4-BE49-F238E27FC236}">
                <a16:creationId xmlns:a16="http://schemas.microsoft.com/office/drawing/2014/main" id="{0B166DE0-A25D-8AAF-96D8-3B77398868F7}"/>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2196695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705204" y="709629"/>
            <a:ext cx="8234780" cy="4524315"/>
          </a:xfrm>
          <a:prstGeom prst="rect">
            <a:avLst/>
          </a:prstGeom>
          <a:noFill/>
        </p:spPr>
        <p:txBody>
          <a:bodyPr wrap="square">
            <a:spAutoFit/>
          </a:bodyPr>
          <a:lstStyle/>
          <a:p>
            <a:pPr algn="just"/>
            <a:r>
              <a:rPr lang="en-US" sz="1600" b="1" dirty="0"/>
              <a:t> Dept d1=new Dept(1,"Some </a:t>
            </a:r>
            <a:r>
              <a:rPr lang="en-US" sz="1600" b="1" dirty="0" err="1"/>
              <a:t>Dept","Some</a:t>
            </a:r>
            <a:r>
              <a:rPr lang="en-US" sz="1600" b="1" dirty="0"/>
              <a:t> </a:t>
            </a:r>
            <a:r>
              <a:rPr lang="en-US" sz="1600" b="1" dirty="0" err="1"/>
              <a:t>Location",list</a:t>
            </a:r>
            <a:r>
              <a:rPr lang="en-US" sz="1600" b="1" dirty="0"/>
              <a:t>);</a:t>
            </a:r>
          </a:p>
          <a:p>
            <a:pPr algn="just"/>
            <a:endParaRPr lang="en-US" sz="1600" b="1" dirty="0"/>
          </a:p>
          <a:p>
            <a:pPr algn="just"/>
            <a:r>
              <a:rPr lang="en-US" sz="1600" b="1" dirty="0"/>
              <a:t>    </a:t>
            </a:r>
            <a:r>
              <a:rPr lang="en-US" sz="1600" b="1" dirty="0" err="1"/>
              <a:t>FileOutputStream</a:t>
            </a:r>
            <a:r>
              <a:rPr lang="en-US" sz="1600" b="1" dirty="0"/>
              <a:t> </a:t>
            </a:r>
            <a:r>
              <a:rPr lang="en-US" sz="1600" b="1" dirty="0" err="1"/>
              <a:t>fos</a:t>
            </a:r>
            <a:r>
              <a:rPr lang="en-US" sz="1600" b="1" dirty="0"/>
              <a:t>=new </a:t>
            </a:r>
            <a:r>
              <a:rPr lang="en-US" sz="1600" b="1" dirty="0" err="1"/>
              <a:t>FileOutputStream</a:t>
            </a:r>
            <a:r>
              <a:rPr lang="en-US" sz="1600" b="1" dirty="0"/>
              <a:t>("</a:t>
            </a:r>
            <a:r>
              <a:rPr lang="en-US" sz="1600" b="1" dirty="0" err="1"/>
              <a:t>dept.ser</a:t>
            </a:r>
            <a:r>
              <a:rPr lang="en-US" sz="1600" b="1" dirty="0"/>
              <a:t>");</a:t>
            </a:r>
          </a:p>
          <a:p>
            <a:pPr algn="just"/>
            <a:r>
              <a:rPr lang="en-US" sz="1600" b="1" dirty="0"/>
              <a:t>    </a:t>
            </a:r>
            <a:r>
              <a:rPr lang="en-US" sz="1600" b="1" dirty="0" err="1"/>
              <a:t>ObjectOutputStream</a:t>
            </a:r>
            <a:r>
              <a:rPr lang="en-US" sz="1600" b="1" dirty="0"/>
              <a:t> </a:t>
            </a:r>
            <a:r>
              <a:rPr lang="en-US" sz="1600" b="1" dirty="0" err="1"/>
              <a:t>oos</a:t>
            </a:r>
            <a:r>
              <a:rPr lang="en-US" sz="1600" b="1" dirty="0"/>
              <a:t>=new </a:t>
            </a:r>
            <a:r>
              <a:rPr lang="en-US" sz="1600" b="1" dirty="0" err="1"/>
              <a:t>ObjectOutputStream</a:t>
            </a:r>
            <a:r>
              <a:rPr lang="en-US" sz="1600" b="1" dirty="0"/>
              <a:t>(</a:t>
            </a:r>
            <a:r>
              <a:rPr lang="en-US" sz="1600" b="1" dirty="0" err="1"/>
              <a:t>fos</a:t>
            </a:r>
            <a:r>
              <a:rPr lang="en-US" sz="1600" b="1" dirty="0"/>
              <a:t>);</a:t>
            </a:r>
          </a:p>
          <a:p>
            <a:pPr algn="just"/>
            <a:r>
              <a:rPr lang="en-US" sz="1600" b="1" dirty="0"/>
              <a:t>	</a:t>
            </a:r>
          </a:p>
          <a:p>
            <a:pPr algn="just"/>
            <a:r>
              <a:rPr lang="en-US" sz="1600" b="1" dirty="0"/>
              <a:t>	/*</a:t>
            </a:r>
          </a:p>
          <a:p>
            <a:pPr algn="just"/>
            <a:r>
              <a:rPr lang="en-US" sz="1600" b="1" dirty="0"/>
              <a:t>	</a:t>
            </a:r>
            <a:r>
              <a:rPr lang="en-US" sz="1600" b="1" dirty="0" err="1"/>
              <a:t>fos</a:t>
            </a:r>
            <a:r>
              <a:rPr lang="en-US" sz="1600" b="1" dirty="0"/>
              <a:t> - write(</a:t>
            </a:r>
            <a:r>
              <a:rPr lang="en-US" sz="1600" b="1" dirty="0" err="1"/>
              <a:t>ch</a:t>
            </a:r>
            <a:r>
              <a:rPr lang="en-US" sz="1600" b="1" dirty="0"/>
              <a:t>)</a:t>
            </a:r>
          </a:p>
          <a:p>
            <a:pPr algn="just"/>
            <a:r>
              <a:rPr lang="en-US" sz="1600" b="1" dirty="0"/>
              <a:t>	dos - </a:t>
            </a:r>
            <a:r>
              <a:rPr lang="en-US" sz="1600" b="1" dirty="0" err="1"/>
              <a:t>writeBytes</a:t>
            </a:r>
            <a:r>
              <a:rPr lang="en-US" sz="1600" b="1" dirty="0"/>
              <a:t>(line)</a:t>
            </a:r>
          </a:p>
          <a:p>
            <a:pPr algn="just"/>
            <a:r>
              <a:rPr lang="en-US" sz="1600" b="1" dirty="0"/>
              <a:t>	</a:t>
            </a:r>
            <a:r>
              <a:rPr lang="en-US" sz="1600" b="1" dirty="0" err="1"/>
              <a:t>bos</a:t>
            </a:r>
            <a:r>
              <a:rPr lang="en-US" sz="1600" b="1" dirty="0"/>
              <a:t> - write(b[])</a:t>
            </a:r>
          </a:p>
          <a:p>
            <a:pPr algn="just"/>
            <a:r>
              <a:rPr lang="en-US" sz="1600" b="1" dirty="0"/>
              <a:t>	</a:t>
            </a:r>
            <a:r>
              <a:rPr lang="en-US" sz="1600" b="1" dirty="0" err="1"/>
              <a:t>oos</a:t>
            </a:r>
            <a:r>
              <a:rPr lang="en-US" sz="1600" b="1" dirty="0"/>
              <a:t> - </a:t>
            </a:r>
            <a:r>
              <a:rPr lang="en-US" sz="1600" b="1" dirty="0" err="1"/>
              <a:t>writeObject</a:t>
            </a:r>
            <a:r>
              <a:rPr lang="en-US" sz="1600" b="1" dirty="0"/>
              <a:t>(object)</a:t>
            </a:r>
          </a:p>
          <a:p>
            <a:pPr algn="just"/>
            <a:r>
              <a:rPr lang="en-US" sz="1600" b="1" dirty="0"/>
              <a:t>	*/</a:t>
            </a:r>
          </a:p>
          <a:p>
            <a:pPr algn="just"/>
            <a:r>
              <a:rPr lang="en-US" sz="1600" b="1" dirty="0"/>
              <a:t>	</a:t>
            </a:r>
          </a:p>
          <a:p>
            <a:pPr algn="just"/>
            <a:r>
              <a:rPr lang="en-US" sz="1600" b="1" dirty="0"/>
              <a:t>    </a:t>
            </a:r>
            <a:r>
              <a:rPr lang="en-US" sz="1600" b="1" dirty="0" err="1"/>
              <a:t>oos.writeObject</a:t>
            </a:r>
            <a:r>
              <a:rPr lang="en-US" sz="1600" b="1" dirty="0"/>
              <a:t>(d1);</a:t>
            </a:r>
          </a:p>
          <a:p>
            <a:pPr algn="just"/>
            <a:r>
              <a:rPr lang="en-US" sz="1600" b="1" dirty="0"/>
              <a:t>	/* </a:t>
            </a:r>
          </a:p>
          <a:p>
            <a:pPr algn="just"/>
            <a:r>
              <a:rPr lang="en-US" sz="1600" b="1" dirty="0"/>
              <a:t>	in java the actual object serialization is performed by </a:t>
            </a:r>
            <a:r>
              <a:rPr lang="en-US" sz="1600" b="1" dirty="0" err="1"/>
              <a:t>oos.writeObject</a:t>
            </a:r>
            <a:r>
              <a:rPr lang="en-US" sz="1600" b="1" dirty="0"/>
              <a:t>() method but not JVM. If object corresponding class is not implemented from Serializable interface, then passing such object </a:t>
            </a:r>
            <a:r>
              <a:rPr lang="en-US" sz="1600" b="1" dirty="0" err="1"/>
              <a:t>writeObject</a:t>
            </a:r>
            <a:r>
              <a:rPr lang="en-US" sz="1600" b="1" dirty="0"/>
              <a:t>() method raises </a:t>
            </a:r>
            <a:r>
              <a:rPr lang="en-US" sz="1600" b="1" dirty="0" err="1"/>
              <a:t>NotSerializableException</a:t>
            </a:r>
            <a:r>
              <a:rPr lang="en-US" sz="1600" b="1" dirty="0"/>
              <a:t>.</a:t>
            </a:r>
          </a:p>
          <a:p>
            <a:pPr algn="just"/>
            <a:r>
              <a:rPr lang="en-US" sz="1600" b="1" dirty="0"/>
              <a:t>	/* </a:t>
            </a:r>
            <a:endParaRPr lang="en-IN" sz="1600" b="1" dirty="0"/>
          </a:p>
        </p:txBody>
      </p:sp>
      <p:sp>
        <p:nvSpPr>
          <p:cNvPr id="7" name="Footer Placeholder 6">
            <a:extLst>
              <a:ext uri="{FF2B5EF4-FFF2-40B4-BE49-F238E27FC236}">
                <a16:creationId xmlns:a16="http://schemas.microsoft.com/office/drawing/2014/main" id="{BF8E23B6-71EA-BB29-2E1D-46E2DC608735}"/>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4006191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705204" y="1072698"/>
            <a:ext cx="8234780" cy="3785652"/>
          </a:xfrm>
          <a:prstGeom prst="rect">
            <a:avLst/>
          </a:prstGeom>
          <a:noFill/>
        </p:spPr>
        <p:txBody>
          <a:bodyPr wrap="square">
            <a:spAutoFit/>
          </a:bodyPr>
          <a:lstStyle/>
          <a:p>
            <a:pPr algn="just"/>
            <a:r>
              <a:rPr lang="en-US" sz="1600" b="1" dirty="0"/>
              <a:t>	   if(d1 </a:t>
            </a:r>
            <a:r>
              <a:rPr lang="en-US" sz="1600" b="1" dirty="0" err="1"/>
              <a:t>instanceof</a:t>
            </a:r>
            <a:r>
              <a:rPr lang="en-US" sz="1600" b="1" dirty="0"/>
              <a:t> Serializable) {</a:t>
            </a:r>
          </a:p>
          <a:p>
            <a:pPr algn="just"/>
            <a:r>
              <a:rPr lang="en-US" sz="1600" b="1" dirty="0"/>
              <a:t>		if(e1 </a:t>
            </a:r>
            <a:r>
              <a:rPr lang="en-US" sz="1600" b="1" dirty="0" err="1"/>
              <a:t>instanceof</a:t>
            </a:r>
            <a:r>
              <a:rPr lang="en-US" sz="1600" b="1" dirty="0"/>
              <a:t> Serializable) {</a:t>
            </a:r>
          </a:p>
          <a:p>
            <a:pPr algn="just"/>
            <a:r>
              <a:rPr lang="en-US" sz="1600" b="1" dirty="0"/>
              <a:t>		</a:t>
            </a:r>
          </a:p>
          <a:p>
            <a:pPr algn="just"/>
            <a:r>
              <a:rPr lang="en-US" sz="1600" b="1" dirty="0"/>
              <a:t>		} else {</a:t>
            </a:r>
          </a:p>
          <a:p>
            <a:pPr algn="just"/>
            <a:r>
              <a:rPr lang="en-US" sz="1600" b="1" dirty="0"/>
              <a:t>			throw new </a:t>
            </a:r>
            <a:r>
              <a:rPr lang="en-US" sz="1600" b="1" dirty="0" err="1"/>
              <a:t>NotSerializableException</a:t>
            </a:r>
            <a:r>
              <a:rPr lang="en-US" sz="1600" b="1" dirty="0"/>
              <a:t>();</a:t>
            </a:r>
          </a:p>
          <a:p>
            <a:pPr algn="just"/>
            <a:r>
              <a:rPr lang="en-US" sz="1600" b="1" dirty="0"/>
              <a:t>		}</a:t>
            </a:r>
          </a:p>
          <a:p>
            <a:pPr algn="just"/>
            <a:r>
              <a:rPr lang="en-US" sz="1600" b="1" dirty="0"/>
              <a:t>	   } else {</a:t>
            </a:r>
          </a:p>
          <a:p>
            <a:pPr algn="just"/>
            <a:r>
              <a:rPr lang="en-US" sz="1600" b="1" dirty="0"/>
              <a:t>		throw new </a:t>
            </a:r>
            <a:r>
              <a:rPr lang="en-US" sz="1600" b="1" dirty="0" err="1"/>
              <a:t>NotSerializableException</a:t>
            </a:r>
            <a:r>
              <a:rPr lang="en-US" sz="1600" b="1" dirty="0"/>
              <a:t>();</a:t>
            </a:r>
          </a:p>
          <a:p>
            <a:pPr algn="just"/>
            <a:r>
              <a:rPr lang="en-US" sz="1600" b="1" dirty="0"/>
              <a:t>	   }</a:t>
            </a:r>
          </a:p>
          <a:p>
            <a:pPr algn="just"/>
            <a:r>
              <a:rPr lang="en-US" sz="1600" b="1" dirty="0"/>
              <a:t>	*/</a:t>
            </a:r>
          </a:p>
          <a:p>
            <a:pPr algn="just"/>
            <a:r>
              <a:rPr lang="en-US" sz="1600" b="1" dirty="0"/>
              <a:t>	</a:t>
            </a:r>
          </a:p>
          <a:p>
            <a:pPr algn="just"/>
            <a:r>
              <a:rPr lang="en-US" sz="1600" b="1" dirty="0"/>
              <a:t>    </a:t>
            </a:r>
            <a:r>
              <a:rPr lang="en-US" sz="1600" b="1" dirty="0" err="1"/>
              <a:t>oos.close</a:t>
            </a:r>
            <a:r>
              <a:rPr lang="en-US" sz="1600" b="1" dirty="0"/>
              <a:t>();</a:t>
            </a:r>
          </a:p>
          <a:p>
            <a:pPr algn="just"/>
            <a:r>
              <a:rPr lang="en-US" sz="1600" b="1" dirty="0"/>
              <a:t>	</a:t>
            </a:r>
            <a:r>
              <a:rPr lang="en-US" sz="1600" b="1" dirty="0" err="1"/>
              <a:t>fos.close</a:t>
            </a:r>
            <a:r>
              <a:rPr lang="en-US" sz="1600" b="1" dirty="0"/>
              <a:t>();</a:t>
            </a:r>
          </a:p>
          <a:p>
            <a:pPr algn="just"/>
            <a:r>
              <a:rPr lang="en-US" sz="1600" b="1" dirty="0"/>
              <a:t>  }</a:t>
            </a:r>
          </a:p>
          <a:p>
            <a:pPr algn="just"/>
            <a:r>
              <a:rPr lang="en-US" sz="1600" b="1" dirty="0"/>
              <a:t>}</a:t>
            </a:r>
          </a:p>
        </p:txBody>
      </p:sp>
      <p:sp>
        <p:nvSpPr>
          <p:cNvPr id="7" name="Footer Placeholder 6">
            <a:extLst>
              <a:ext uri="{FF2B5EF4-FFF2-40B4-BE49-F238E27FC236}">
                <a16:creationId xmlns:a16="http://schemas.microsoft.com/office/drawing/2014/main" id="{33F65BAF-AE3B-1231-95F5-5118B4C90B30}"/>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916173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705204" y="709629"/>
            <a:ext cx="8234780" cy="5909310"/>
          </a:xfrm>
          <a:prstGeom prst="rect">
            <a:avLst/>
          </a:prstGeom>
          <a:noFill/>
        </p:spPr>
        <p:txBody>
          <a:bodyPr wrap="square">
            <a:spAutoFit/>
          </a:bodyPr>
          <a:lstStyle/>
          <a:p>
            <a:pPr algn="just"/>
            <a:r>
              <a:rPr lang="en-US" sz="1400" b="1" dirty="0"/>
              <a:t>Note: If a class contains non-serializable class objects </a:t>
            </a:r>
            <a:r>
              <a:rPr lang="en-US" sz="1400" b="1" dirty="0" err="1"/>
              <a:t>NotSerializabeException</a:t>
            </a:r>
            <a:r>
              <a:rPr lang="en-US" sz="1400" b="1" dirty="0"/>
              <a:t> </a:t>
            </a:r>
            <a:r>
              <a:rPr lang="en-US" sz="1400" b="1" dirty="0" err="1"/>
              <a:t>araises</a:t>
            </a:r>
            <a:r>
              <a:rPr lang="en-US" sz="1400" b="1" dirty="0"/>
              <a:t> at runtime.</a:t>
            </a:r>
          </a:p>
          <a:p>
            <a:pPr algn="just"/>
            <a:endParaRPr lang="en-US" sz="1400" b="1" dirty="0"/>
          </a:p>
          <a:p>
            <a:pPr algn="just"/>
            <a:r>
              <a:rPr lang="en-US" sz="1400" b="1" dirty="0"/>
              <a:t>// DeptDeserDemo.java</a:t>
            </a:r>
          </a:p>
          <a:p>
            <a:pPr algn="just"/>
            <a:r>
              <a:rPr lang="en-US" sz="1400" b="1" dirty="0"/>
              <a:t>import java.io.*;</a:t>
            </a:r>
          </a:p>
          <a:p>
            <a:pPr algn="just"/>
            <a:r>
              <a:rPr lang="en-US" sz="1400" b="1" dirty="0"/>
              <a:t>import </a:t>
            </a:r>
            <a:r>
              <a:rPr lang="en-US" sz="1400" b="1" dirty="0" err="1"/>
              <a:t>java.util</a:t>
            </a:r>
            <a:r>
              <a:rPr lang="en-US" sz="1400" b="1" dirty="0"/>
              <a:t>.*;</a:t>
            </a:r>
          </a:p>
          <a:p>
            <a:pPr algn="just"/>
            <a:r>
              <a:rPr lang="en-US" sz="1400" b="1" dirty="0"/>
              <a:t>public class </a:t>
            </a:r>
            <a:r>
              <a:rPr lang="en-US" sz="1400" b="1" dirty="0" err="1"/>
              <a:t>DeptDeserDemo</a:t>
            </a:r>
            <a:r>
              <a:rPr lang="en-US" sz="1400" b="1" dirty="0"/>
              <a:t> {</a:t>
            </a:r>
          </a:p>
          <a:p>
            <a:pPr algn="just"/>
            <a:r>
              <a:rPr lang="en-US" sz="1400" b="1" dirty="0"/>
              <a:t>  public static void main(String rags[]) throws Exception {</a:t>
            </a:r>
          </a:p>
          <a:p>
            <a:pPr algn="just"/>
            <a:r>
              <a:rPr lang="en-US" sz="1400" b="1" dirty="0"/>
              <a:t>  </a:t>
            </a:r>
          </a:p>
          <a:p>
            <a:pPr algn="just"/>
            <a:r>
              <a:rPr lang="en-US" sz="1400" b="1" dirty="0"/>
              <a:t>    </a:t>
            </a:r>
            <a:r>
              <a:rPr lang="en-US" sz="1400" b="1" dirty="0" err="1"/>
              <a:t>FileInputStream</a:t>
            </a:r>
            <a:r>
              <a:rPr lang="en-US" sz="1400" b="1" dirty="0"/>
              <a:t> </a:t>
            </a:r>
            <a:r>
              <a:rPr lang="en-US" sz="1400" b="1" dirty="0" err="1"/>
              <a:t>fis</a:t>
            </a:r>
            <a:r>
              <a:rPr lang="en-US" sz="1400" b="1" dirty="0"/>
              <a:t>=new </a:t>
            </a:r>
            <a:r>
              <a:rPr lang="en-US" sz="1400" b="1" dirty="0" err="1"/>
              <a:t>FileInputStream</a:t>
            </a:r>
            <a:r>
              <a:rPr lang="en-US" sz="1400" b="1" dirty="0"/>
              <a:t>("</a:t>
            </a:r>
            <a:r>
              <a:rPr lang="en-US" sz="1400" b="1" dirty="0" err="1"/>
              <a:t>dept.ser</a:t>
            </a:r>
            <a:r>
              <a:rPr lang="en-US" sz="1400" b="1" dirty="0"/>
              <a:t>");</a:t>
            </a:r>
          </a:p>
          <a:p>
            <a:pPr algn="just"/>
            <a:r>
              <a:rPr lang="en-US" sz="1400" b="1" dirty="0"/>
              <a:t>    </a:t>
            </a:r>
            <a:r>
              <a:rPr lang="en-US" sz="1400" b="1" dirty="0" err="1"/>
              <a:t>ObjectInputStream</a:t>
            </a:r>
            <a:r>
              <a:rPr lang="en-US" sz="1400" b="1" dirty="0"/>
              <a:t> </a:t>
            </a:r>
            <a:r>
              <a:rPr lang="en-US" sz="1400" b="1" dirty="0" err="1"/>
              <a:t>ois</a:t>
            </a:r>
            <a:r>
              <a:rPr lang="en-US" sz="1400" b="1" dirty="0"/>
              <a:t>=new </a:t>
            </a:r>
            <a:r>
              <a:rPr lang="en-US" sz="1400" b="1" dirty="0" err="1"/>
              <a:t>ObjectInputStream</a:t>
            </a:r>
            <a:r>
              <a:rPr lang="en-US" sz="1400" b="1" dirty="0"/>
              <a:t>(</a:t>
            </a:r>
            <a:r>
              <a:rPr lang="en-US" sz="1400" b="1" dirty="0" err="1"/>
              <a:t>fis</a:t>
            </a:r>
            <a:r>
              <a:rPr lang="en-US" sz="1400" b="1" dirty="0"/>
              <a:t>);</a:t>
            </a:r>
          </a:p>
          <a:p>
            <a:pPr algn="just"/>
            <a:r>
              <a:rPr lang="en-US" sz="1400" b="1" dirty="0"/>
              <a:t>	</a:t>
            </a:r>
          </a:p>
          <a:p>
            <a:pPr algn="just"/>
            <a:r>
              <a:rPr lang="en-US" sz="1400" b="1" dirty="0"/>
              <a:t>    Object o=</a:t>
            </a:r>
            <a:r>
              <a:rPr lang="en-US" sz="1400" b="1" dirty="0" err="1"/>
              <a:t>ois.readObject</a:t>
            </a:r>
            <a:r>
              <a:rPr lang="en-US" sz="1400" b="1" dirty="0"/>
              <a:t>(); // for </a:t>
            </a:r>
            <a:r>
              <a:rPr lang="en-US" sz="1400" b="1" dirty="0" err="1"/>
              <a:t>deserialzation</a:t>
            </a:r>
            <a:endParaRPr lang="en-US" sz="1400" b="1" dirty="0"/>
          </a:p>
          <a:p>
            <a:pPr algn="just"/>
            <a:r>
              <a:rPr lang="en-US" sz="1400" b="1" dirty="0"/>
              <a:t>	</a:t>
            </a:r>
          </a:p>
          <a:p>
            <a:pPr algn="just"/>
            <a:r>
              <a:rPr lang="en-US" sz="1400" b="1" dirty="0"/>
              <a:t>    Dept d1=(Dept)o;</a:t>
            </a:r>
          </a:p>
          <a:p>
            <a:pPr algn="just"/>
            <a:r>
              <a:rPr lang="en-US" sz="1400" b="1" dirty="0"/>
              <a:t>    </a:t>
            </a:r>
            <a:r>
              <a:rPr lang="en-US" sz="1400" b="1" dirty="0" err="1"/>
              <a:t>System.out.println</a:t>
            </a:r>
            <a:r>
              <a:rPr lang="en-US" sz="1400" b="1" dirty="0"/>
              <a:t>(d1);</a:t>
            </a:r>
          </a:p>
          <a:p>
            <a:pPr algn="just"/>
            <a:r>
              <a:rPr lang="en-US" sz="1400" b="1" dirty="0"/>
              <a:t>	</a:t>
            </a:r>
          </a:p>
          <a:p>
            <a:pPr algn="just"/>
            <a:r>
              <a:rPr lang="en-US" sz="1400" b="1" dirty="0"/>
              <a:t>    List list=d1.empList;</a:t>
            </a:r>
          </a:p>
          <a:p>
            <a:pPr algn="just"/>
            <a:r>
              <a:rPr lang="en-US" sz="1400" b="1" dirty="0"/>
              <a:t>    Iterator </a:t>
            </a:r>
            <a:r>
              <a:rPr lang="en-US" sz="1400" b="1" dirty="0" err="1"/>
              <a:t>i</a:t>
            </a:r>
            <a:r>
              <a:rPr lang="en-US" sz="1400" b="1" dirty="0"/>
              <a:t>=</a:t>
            </a:r>
            <a:r>
              <a:rPr lang="en-US" sz="1400" b="1" dirty="0" err="1"/>
              <a:t>list.iterator</a:t>
            </a:r>
            <a:r>
              <a:rPr lang="en-US" sz="1400" b="1" dirty="0"/>
              <a:t>();</a:t>
            </a:r>
          </a:p>
          <a:p>
            <a:pPr algn="just"/>
            <a:r>
              <a:rPr lang="en-US" sz="1400" b="1" dirty="0"/>
              <a:t>	</a:t>
            </a:r>
          </a:p>
          <a:p>
            <a:pPr algn="just"/>
            <a:r>
              <a:rPr lang="en-US" sz="1400" b="1" dirty="0"/>
              <a:t>    while(</a:t>
            </a:r>
            <a:r>
              <a:rPr lang="en-US" sz="1400" b="1" dirty="0" err="1"/>
              <a:t>i.hasNext</a:t>
            </a:r>
            <a:r>
              <a:rPr lang="en-US" sz="1400" b="1" dirty="0"/>
              <a:t>()) {</a:t>
            </a:r>
          </a:p>
          <a:p>
            <a:pPr algn="just"/>
            <a:r>
              <a:rPr lang="en-US" sz="1400" b="1" dirty="0"/>
              <a:t>      Object o1=</a:t>
            </a:r>
            <a:r>
              <a:rPr lang="en-US" sz="1400" b="1" dirty="0" err="1"/>
              <a:t>i.next</a:t>
            </a:r>
            <a:r>
              <a:rPr lang="en-US" sz="1400" b="1" dirty="0"/>
              <a:t>();</a:t>
            </a:r>
          </a:p>
          <a:p>
            <a:pPr algn="just"/>
            <a:r>
              <a:rPr lang="en-US" sz="1400" b="1" dirty="0"/>
              <a:t>      Emp e1=(Emp)o1;</a:t>
            </a:r>
          </a:p>
          <a:p>
            <a:pPr algn="just"/>
            <a:r>
              <a:rPr lang="en-US" sz="1400" b="1" dirty="0"/>
              <a:t>      </a:t>
            </a:r>
            <a:r>
              <a:rPr lang="en-US" sz="1400" b="1" dirty="0" err="1"/>
              <a:t>System.out.println</a:t>
            </a:r>
            <a:r>
              <a:rPr lang="en-US" sz="1400" b="1" dirty="0"/>
              <a:t>(e1);</a:t>
            </a:r>
          </a:p>
          <a:p>
            <a:pPr algn="just"/>
            <a:r>
              <a:rPr lang="en-US" sz="1400" b="1" dirty="0"/>
              <a:t>    }</a:t>
            </a:r>
          </a:p>
          <a:p>
            <a:pPr algn="just"/>
            <a:r>
              <a:rPr lang="en-US" sz="1400" b="1" dirty="0"/>
              <a:t>	</a:t>
            </a:r>
          </a:p>
          <a:p>
            <a:pPr algn="just"/>
            <a:r>
              <a:rPr lang="en-US" sz="1400" b="1" dirty="0"/>
              <a:t>  }</a:t>
            </a:r>
          </a:p>
          <a:p>
            <a:pPr algn="just"/>
            <a:r>
              <a:rPr lang="en-US" sz="1400" b="1" dirty="0"/>
              <a:t>}</a:t>
            </a:r>
          </a:p>
        </p:txBody>
      </p:sp>
      <p:sp>
        <p:nvSpPr>
          <p:cNvPr id="7" name="Footer Placeholder 6">
            <a:extLst>
              <a:ext uri="{FF2B5EF4-FFF2-40B4-BE49-F238E27FC236}">
                <a16:creationId xmlns:a16="http://schemas.microsoft.com/office/drawing/2014/main" id="{58AEFD84-06BE-EABD-AC66-7812FB58E471}"/>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739813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115984"/>
                <a:ext cx="6236368" cy="523220"/>
              </a:xfrm>
              <a:prstGeom prst="rect">
                <a:avLst/>
              </a:prstGeom>
              <a:noFill/>
            </p:spPr>
            <p:txBody>
              <a:bodyPr wrap="square">
                <a:spAutoFit/>
              </a:bodyPr>
              <a:lstStyle/>
              <a:p>
                <a:pPr algn="ctr"/>
                <a:r>
                  <a:rPr lang="en-US" sz="2800" b="1" dirty="0">
                    <a:solidFill>
                      <a:schemeClr val="bg1"/>
                    </a:solidFill>
                    <a:latin typeface="Bookman Old Style" panose="02050604050505020204" pitchFamily="18" charset="0"/>
                  </a:rPr>
                  <a:t>I/O Streams</a:t>
                </a:r>
                <a:endParaRPr lang="en-US" b="1" dirty="0">
                  <a:solidFill>
                    <a:schemeClr val="bg1"/>
                  </a:solidFill>
                  <a:latin typeface="Bookman Old Style" panose="02050604050505020204" pitchFamily="18" charset="0"/>
                </a:endParaRP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0" name="TextBox 9">
            <a:extLst>
              <a:ext uri="{FF2B5EF4-FFF2-40B4-BE49-F238E27FC236}">
                <a16:creationId xmlns:a16="http://schemas.microsoft.com/office/drawing/2014/main" id="{F8B0BFFE-50C0-8020-CFBE-4F823F09808D}"/>
              </a:ext>
            </a:extLst>
          </p:cNvPr>
          <p:cNvSpPr txBox="1"/>
          <p:nvPr/>
        </p:nvSpPr>
        <p:spPr>
          <a:xfrm>
            <a:off x="309282" y="1416847"/>
            <a:ext cx="9105424" cy="923330"/>
          </a:xfrm>
          <a:prstGeom prst="rect">
            <a:avLst/>
          </a:prstGeom>
          <a:noFill/>
        </p:spPr>
        <p:txBody>
          <a:bodyPr wrap="square">
            <a:spAutoFit/>
          </a:bodyPr>
          <a:lstStyle/>
          <a:p>
            <a:pPr algn="just"/>
            <a:r>
              <a:rPr lang="en-US" b="1" dirty="0"/>
              <a:t>For Customized object serialization the class must implement from Externalizable interface. Externalizable interface is also a sub class of Serializable interface, but in this interface two abstract methods are provided named </a:t>
            </a:r>
            <a:r>
              <a:rPr lang="en-US" b="1" dirty="0" err="1"/>
              <a:t>readExternal</a:t>
            </a:r>
            <a:r>
              <a:rPr lang="en-US" b="1" dirty="0"/>
              <a:t>() and </a:t>
            </a:r>
            <a:r>
              <a:rPr lang="en-US" b="1" dirty="0" err="1"/>
              <a:t>writeExternal</a:t>
            </a:r>
            <a:r>
              <a:rPr lang="en-US" b="1" dirty="0"/>
              <a:t>().</a:t>
            </a:r>
          </a:p>
        </p:txBody>
      </p:sp>
      <p:sp>
        <p:nvSpPr>
          <p:cNvPr id="8" name="TextBox 7">
            <a:extLst>
              <a:ext uri="{FF2B5EF4-FFF2-40B4-BE49-F238E27FC236}">
                <a16:creationId xmlns:a16="http://schemas.microsoft.com/office/drawing/2014/main" id="{A36C5535-BC2F-3267-65C1-5BAA7E213262}"/>
              </a:ext>
            </a:extLst>
          </p:cNvPr>
          <p:cNvSpPr txBox="1"/>
          <p:nvPr/>
        </p:nvSpPr>
        <p:spPr>
          <a:xfrm>
            <a:off x="309282" y="2647953"/>
            <a:ext cx="8458199" cy="1754326"/>
          </a:xfrm>
          <a:prstGeom prst="rect">
            <a:avLst/>
          </a:prstGeom>
          <a:noFill/>
        </p:spPr>
        <p:txBody>
          <a:bodyPr wrap="square">
            <a:spAutoFit/>
          </a:bodyPr>
          <a:lstStyle/>
          <a:p>
            <a:pPr algn="just"/>
            <a:r>
              <a:rPr lang="en-US" b="1" dirty="0"/>
              <a:t>Note: </a:t>
            </a:r>
          </a:p>
          <a:p>
            <a:pPr algn="just"/>
            <a:r>
              <a:rPr lang="en-US" b="1" dirty="0"/>
              <a:t>	- With RandomAccessFile we can read-write data to and from only text files.</a:t>
            </a:r>
          </a:p>
          <a:p>
            <a:pPr algn="just"/>
            <a:r>
              <a:rPr lang="en-US" b="1" dirty="0"/>
              <a:t>	- To perform CRUD operations on</a:t>
            </a:r>
          </a:p>
          <a:p>
            <a:pPr algn="just"/>
            <a:r>
              <a:rPr lang="en-US" b="1" dirty="0"/>
              <a:t>		- Excel - Apache POI API is used</a:t>
            </a:r>
          </a:p>
          <a:p>
            <a:pPr algn="just"/>
            <a:r>
              <a:rPr lang="en-US" b="1" dirty="0"/>
              <a:t>		- PDF - Apache FOP API</a:t>
            </a:r>
          </a:p>
          <a:p>
            <a:pPr algn="just"/>
            <a:r>
              <a:rPr lang="en-US" b="1" dirty="0"/>
              <a:t>		- XML - Java XML Parser API</a:t>
            </a:r>
          </a:p>
        </p:txBody>
      </p:sp>
      <p:sp>
        <p:nvSpPr>
          <p:cNvPr id="7" name="Footer Placeholder 6">
            <a:extLst>
              <a:ext uri="{FF2B5EF4-FFF2-40B4-BE49-F238E27FC236}">
                <a16:creationId xmlns:a16="http://schemas.microsoft.com/office/drawing/2014/main" id="{74698850-9EE3-2DE7-1FA2-5034AABAF9DF}"/>
              </a:ext>
            </a:extLst>
          </p:cNvPr>
          <p:cNvSpPr>
            <a:spLocks noGrp="1"/>
          </p:cNvSpPr>
          <p:nvPr>
            <p:ph type="ftr" sz="quarter" idx="11"/>
          </p:nvPr>
        </p:nvSpPr>
        <p:spPr/>
        <p:txBody>
          <a:bodyPr/>
          <a:lstStyle/>
          <a:p>
            <a:r>
              <a:rPr lang="en-US"/>
              <a:t>Suryanarayana</a:t>
            </a:r>
          </a:p>
        </p:txBody>
      </p:sp>
    </p:spTree>
    <p:extLst>
      <p:ext uri="{BB962C8B-B14F-4D97-AF65-F5344CB8AC3E}">
        <p14:creationId xmlns:p14="http://schemas.microsoft.com/office/powerpoint/2010/main" val="1046026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1705</Words>
  <Application>Microsoft Office PowerPoint</Application>
  <PresentationFormat>Widescreen</PresentationFormat>
  <Paragraphs>247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Bookman Old Style</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nivas .</cp:lastModifiedBy>
  <cp:revision>72</cp:revision>
  <dcterms:created xsi:type="dcterms:W3CDTF">2021-09-13T09:22:41Z</dcterms:created>
  <dcterms:modified xsi:type="dcterms:W3CDTF">2023-08-24T05:58:29Z</dcterms:modified>
</cp:coreProperties>
</file>