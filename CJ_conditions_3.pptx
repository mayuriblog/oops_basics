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71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0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1B80FA-CCE6-462A-BF20-08B062D6A592}">
          <p14:sldIdLst>
            <p14:sldId id="258"/>
            <p14:sldId id="271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70"/>
          </p14:sldIdLst>
        </p14:section>
        <p14:section name="Untitled Section" id="{B14A9DB3-8D56-494E-B3FA-E32C59E2E717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66"/>
    <a:srgbClr val="990033"/>
    <a:srgbClr val="0000FF"/>
    <a:srgbClr val="3399FF"/>
    <a:srgbClr val="FF9933"/>
    <a:srgbClr val="FF5050"/>
    <a:srgbClr val="F105D3"/>
    <a:srgbClr val="902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E7889-7833-431E-BE42-C67A9989D4E0}" type="datetimeFigureOut">
              <a:rPr lang="en-IN" smtClean="0"/>
              <a:t>21-09-2024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791BC-7298-46D4-A082-389914326B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81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2AB72-E347-4FA8-AF5F-94F88F44807F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60066-9286-4283-9396-E08170DB9586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8DF8-EF56-4A19-A692-1C856348C1D8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7693-83B7-4B8B-B9A3-78B042E417B4}" type="datetime1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18076-05C5-48DC-A30F-BE1D1DC3CF19}" type="datetime1">
              <a:rPr lang="en-US" smtClean="0"/>
              <a:t>9/21/2024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6692E-12B5-497F-83AC-6E89B72F6312}" type="datetime1">
              <a:rPr lang="en-US" smtClean="0"/>
              <a:t>9/21/2024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14C7-06C0-4337-BEE1-4EC83E1FEA71}" type="datetime1">
              <a:rPr lang="en-US" smtClean="0"/>
              <a:t>9/21/2024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5047D-FED1-4B6F-A916-3A969588BE7F}" type="datetime1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3A9B5-45A3-4F0C-AFE5-354214AC54B0}" type="datetime1">
              <a:rPr lang="en-US" smtClean="0"/>
              <a:t>9/21/2024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852D6-73D8-4E28-9C7D-D714E59F042B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8C971-2B11-4A34-89C7-A88A92020860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4B0B0-D940-4984-96B0-D0DAE6DED247}" type="datetime1">
              <a:rPr lang="en-US" smtClean="0"/>
              <a:t>9/21/2024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Suryanarayana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2111188" y="1815834"/>
            <a:ext cx="645634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Conditions </a:t>
            </a:r>
          </a:p>
          <a:p>
            <a:pPr algn="ctr"/>
            <a:r>
              <a:rPr lang="en-US" sz="6000" b="1" dirty="0"/>
              <a:t>(</a:t>
            </a:r>
            <a:r>
              <a:rPr lang="en-IN" sz="6000" b="1" dirty="0"/>
              <a:t>if, switch, ternary)</a:t>
            </a:r>
            <a:endParaRPr lang="en-US" sz="6000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E6F712F-EAD4-81FD-1556-3D0491D11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Suryanarayana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16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83099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Conditions (</a:t>
            </a:r>
            <a:r>
              <a:rPr lang="en-IN" sz="2400" b="1" dirty="0"/>
              <a:t>if, switch, ternary)</a:t>
            </a:r>
            <a:endParaRPr lang="en-US" sz="2400" b="1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algn="ctr"/>
            <a:endParaRPr lang="en-US" sz="2400" b="1" dirty="0">
              <a:ln>
                <a:solidFill>
                  <a:srgbClr val="002060"/>
                </a:solidFill>
              </a:ln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6816F5F-9652-4926-B0A3-4399ADF0FAD5}"/>
              </a:ext>
            </a:extLst>
          </p:cNvPr>
          <p:cNvSpPr txBox="1"/>
          <p:nvPr/>
        </p:nvSpPr>
        <p:spPr>
          <a:xfrm>
            <a:off x="314741" y="83745"/>
            <a:ext cx="3463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typical class looks like this: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736CF08-D061-4BBF-B6A7-F136348EF872}"/>
              </a:ext>
            </a:extLst>
          </p:cNvPr>
          <p:cNvSpPr txBox="1"/>
          <p:nvPr/>
        </p:nvSpPr>
        <p:spPr>
          <a:xfrm>
            <a:off x="371059" y="721863"/>
            <a:ext cx="879055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class Student	{</a:t>
            </a:r>
          </a:p>
          <a:p>
            <a:r>
              <a:rPr lang="en-IN" sz="2400" b="1" dirty="0"/>
              <a:t>	int age;</a:t>
            </a:r>
          </a:p>
          <a:p>
            <a:r>
              <a:rPr lang="en-IN" sz="2400" b="1" dirty="0"/>
              <a:t>	String name;</a:t>
            </a:r>
          </a:p>
          <a:p>
            <a:r>
              <a:rPr lang="en-IN" sz="2400" b="1" dirty="0"/>
              <a:t>	</a:t>
            </a:r>
          </a:p>
          <a:p>
            <a:r>
              <a:rPr lang="en-IN" sz="2400" b="1" dirty="0"/>
              <a:t>	Student(int age, String name) {</a:t>
            </a:r>
          </a:p>
          <a:p>
            <a:r>
              <a:rPr lang="en-IN" sz="2400" b="1" dirty="0"/>
              <a:t>		</a:t>
            </a:r>
            <a:r>
              <a:rPr lang="en-IN" sz="2400" b="1" dirty="0" err="1"/>
              <a:t>this.age</a:t>
            </a:r>
            <a:r>
              <a:rPr lang="en-IN" sz="2400" b="1" dirty="0"/>
              <a:t>=age;</a:t>
            </a:r>
          </a:p>
          <a:p>
            <a:r>
              <a:rPr lang="en-IN" sz="2400" b="1" dirty="0"/>
              <a:t>		this.name=name;</a:t>
            </a:r>
          </a:p>
          <a:p>
            <a:r>
              <a:rPr lang="en-IN" sz="2400" b="1" dirty="0"/>
              <a:t>	}</a:t>
            </a:r>
          </a:p>
          <a:p>
            <a:r>
              <a:rPr lang="en-IN" sz="2400" b="1" dirty="0"/>
              <a:t>	</a:t>
            </a:r>
          </a:p>
          <a:p>
            <a:r>
              <a:rPr lang="en-IN" sz="2400" b="1" dirty="0"/>
              <a:t>	String </a:t>
            </a:r>
            <a:r>
              <a:rPr lang="en-IN" sz="2400" b="1" dirty="0" err="1"/>
              <a:t>displayStudent</a:t>
            </a:r>
            <a:r>
              <a:rPr lang="en-IN" sz="2400" b="1" dirty="0"/>
              <a:t>() {</a:t>
            </a:r>
          </a:p>
          <a:p>
            <a:r>
              <a:rPr lang="en-IN" sz="2400" b="1" dirty="0"/>
              <a:t>		// logic </a:t>
            </a:r>
          </a:p>
          <a:p>
            <a:r>
              <a:rPr lang="en-IN" sz="2400" b="1" dirty="0"/>
              <a:t>		return name+" "+age;</a:t>
            </a:r>
          </a:p>
          <a:p>
            <a:r>
              <a:rPr lang="en-IN" sz="2400" b="1" dirty="0"/>
              <a:t>	}</a:t>
            </a:r>
          </a:p>
          <a:p>
            <a:r>
              <a:rPr lang="en-IN" sz="2400" b="1" dirty="0"/>
              <a:t>}</a:t>
            </a:r>
          </a:p>
          <a:p>
            <a:endParaRPr lang="en-IN" sz="2400" b="1" dirty="0"/>
          </a:p>
          <a:p>
            <a:r>
              <a:rPr lang="en-IN" sz="2400" b="1" dirty="0"/>
              <a:t>4 major constructs of OOP are: class, var, constructor &amp; method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77A58B0-9576-4563-9350-344521D79214}"/>
              </a:ext>
            </a:extLst>
          </p:cNvPr>
          <p:cNvSpPr txBox="1"/>
          <p:nvPr/>
        </p:nvSpPr>
        <p:spPr>
          <a:xfrm>
            <a:off x="5084335" y="893000"/>
            <a:ext cx="61225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4 Programming constructs are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Class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Variable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Constructor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Method</a:t>
            </a:r>
          </a:p>
          <a:p>
            <a:endParaRPr lang="en-IN" dirty="0"/>
          </a:p>
          <a:p>
            <a:r>
              <a:rPr lang="en-IN" dirty="0"/>
              <a:t>Out of all 4 OOP constructs, the logic is written in methods.</a:t>
            </a:r>
          </a:p>
          <a:p>
            <a:endParaRPr lang="en-IN" dirty="0"/>
          </a:p>
          <a:p>
            <a:r>
              <a:rPr lang="en-IN" dirty="0"/>
              <a:t>In the logic we will employ/use </a:t>
            </a:r>
            <a:r>
              <a:rPr lang="en-IN" b="1" i="1" dirty="0"/>
              <a:t>conditions and loops</a:t>
            </a:r>
            <a:r>
              <a:rPr lang="en-IN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28FDE5D-02DF-C7C0-4155-9CDB41EA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73937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83099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Conditions (</a:t>
            </a:r>
            <a:r>
              <a:rPr lang="en-IN" sz="2400" b="1" dirty="0"/>
              <a:t>if, switch, ternary)</a:t>
            </a:r>
            <a:endParaRPr lang="en-US" sz="2400" b="1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algn="ctr"/>
            <a:endParaRPr lang="en-US" sz="2400" b="1" dirty="0">
              <a:ln>
                <a:solidFill>
                  <a:srgbClr val="002060"/>
                </a:solidFill>
              </a:ln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9C95361-1D17-47BB-AC9E-0FD8EE1155C3}"/>
              </a:ext>
            </a:extLst>
          </p:cNvPr>
          <p:cNvSpPr txBox="1"/>
          <p:nvPr/>
        </p:nvSpPr>
        <p:spPr>
          <a:xfrm>
            <a:off x="410813" y="802482"/>
            <a:ext cx="8744171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/>
              <a:t>The statements written inside our methods are generally executed from top to bottom, in the order that they appear.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/>
              <a:t>Control flow statements, however, break up the flow of execution by employing </a:t>
            </a:r>
            <a:r>
              <a:rPr lang="en-IN" sz="2600" b="1" i="1" dirty="0"/>
              <a:t>decision making, looping, and branching</a:t>
            </a:r>
            <a:r>
              <a:rPr lang="en-IN" sz="2600" dirty="0"/>
              <a:t>, enabling your method to conditionally execute particular blocks of code.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600" dirty="0"/>
              <a:t>This section describes the 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600" dirty="0"/>
              <a:t>decision-making statements (if, if-else, if-else if-else, nested-if, switch-case-default, ternary operator)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600" dirty="0"/>
              <a:t>the looping statements (for, enhanced-for, while, do-while) and 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600" dirty="0"/>
              <a:t>the branching statements (break, continue, return) supported by the Java programming language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A870076-6B99-5460-1FF7-F8D71BC3F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663700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83099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Conditions (</a:t>
            </a:r>
            <a:r>
              <a:rPr lang="en-IN" sz="2400" b="1" dirty="0"/>
              <a:t>if, switch, ternary)</a:t>
            </a:r>
            <a:endParaRPr lang="en-US" sz="2400" b="1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algn="ctr"/>
            <a:endParaRPr lang="en-US" sz="2400" b="1" dirty="0">
              <a:ln>
                <a:solidFill>
                  <a:srgbClr val="002060"/>
                </a:solidFill>
              </a:ln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EEE79FC0-A076-4300-A5F8-F2B1ED2CF260}"/>
              </a:ext>
            </a:extLst>
          </p:cNvPr>
          <p:cNvSpPr txBox="1"/>
          <p:nvPr/>
        </p:nvSpPr>
        <p:spPr>
          <a:xfrm>
            <a:off x="583096" y="824163"/>
            <a:ext cx="842838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Selection statements allow your program to choose different paths of execution based upon the outcome of an expression or the state of a variable.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Iteration statements enable program execution to repeat one or more statements (that is, iteration statements form loops).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Jump statements allow your program to execute in a nonlinear fashion. All of Java’s control statements are examined here.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4F5A842B-F3A5-46F1-B40D-033B0B55825E}"/>
              </a:ext>
            </a:extLst>
          </p:cNvPr>
          <p:cNvSpPr txBox="1"/>
          <p:nvPr/>
        </p:nvSpPr>
        <p:spPr>
          <a:xfrm>
            <a:off x="1577941" y="4395410"/>
            <a:ext cx="75528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Select (if, if-else, if-else </a:t>
            </a:r>
            <a:r>
              <a:rPr lang="en-IN" sz="2400" dirty="0" err="1"/>
              <a:t>if-else</a:t>
            </a:r>
            <a:r>
              <a:rPr lang="en-IN" sz="2400" dirty="0"/>
              <a:t>, nested-if, switch, Ternary)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Iterations/Loops (for, for-each, while, do-while)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Transfer (break, continue, return)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D71FA71-0681-3D53-96D4-E936D4EB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358574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Simple if Condition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B94A6C6-FF8B-4223-825B-7B4900B5F53B}"/>
              </a:ext>
            </a:extLst>
          </p:cNvPr>
          <p:cNvSpPr txBox="1"/>
          <p:nvPr/>
        </p:nvSpPr>
        <p:spPr>
          <a:xfrm>
            <a:off x="675860" y="701715"/>
            <a:ext cx="612250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 smtClean="0"/>
              <a:t>// </a:t>
            </a:r>
            <a:r>
              <a:rPr lang="en-IN" sz="2000" b="1" dirty="0"/>
              <a:t>SimpleIfCondition.java</a:t>
            </a:r>
          </a:p>
          <a:p>
            <a:r>
              <a:rPr lang="en-IN" sz="2000" b="1" dirty="0"/>
              <a:t>import </a:t>
            </a:r>
            <a:r>
              <a:rPr lang="en-IN" sz="2000" b="1" dirty="0" err="1"/>
              <a:t>java.util</a:t>
            </a:r>
            <a:r>
              <a:rPr lang="en-IN" sz="2000" b="1" dirty="0"/>
              <a:t>.*;</a:t>
            </a:r>
          </a:p>
          <a:p>
            <a:r>
              <a:rPr lang="en-IN" sz="2000" b="1" dirty="0"/>
              <a:t>public class </a:t>
            </a:r>
            <a:r>
              <a:rPr lang="en-IN" sz="2000" b="1" dirty="0" err="1"/>
              <a:t>SimpleIfCondition</a:t>
            </a:r>
            <a:r>
              <a:rPr lang="en-IN" sz="2000" b="1" dirty="0"/>
              <a:t> </a:t>
            </a:r>
            <a:r>
              <a:rPr lang="en-IN" sz="2000" b="1" dirty="0" smtClean="0"/>
              <a:t>{</a:t>
            </a:r>
            <a:endParaRPr lang="en-IN" sz="2000" b="1" dirty="0"/>
          </a:p>
          <a:p>
            <a:r>
              <a:rPr lang="en-IN" sz="2000" b="1" dirty="0"/>
              <a:t>  public static void main(String rags[]) </a:t>
            </a:r>
            <a:r>
              <a:rPr lang="en-IN" sz="2000" b="1" dirty="0" smtClean="0"/>
              <a:t>{</a:t>
            </a:r>
            <a:endParaRPr lang="en-IN" sz="2000" b="1" dirty="0"/>
          </a:p>
          <a:p>
            <a:r>
              <a:rPr lang="en-IN" sz="2000" b="1" dirty="0"/>
              <a:t>    	// int </a:t>
            </a:r>
            <a:r>
              <a:rPr lang="en-IN" sz="2000" b="1" dirty="0" err="1"/>
              <a:t>i</a:t>
            </a:r>
            <a:r>
              <a:rPr lang="en-IN" sz="2000" b="1" dirty="0"/>
              <a:t> = 10;</a:t>
            </a:r>
          </a:p>
          <a:p>
            <a:r>
              <a:rPr lang="en-IN" sz="2000" b="1" dirty="0"/>
              <a:t>	// int </a:t>
            </a:r>
            <a:r>
              <a:rPr lang="en-IN" sz="2000" b="1" dirty="0" err="1"/>
              <a:t>i</a:t>
            </a:r>
            <a:r>
              <a:rPr lang="en-IN" sz="2000" b="1" dirty="0"/>
              <a:t> = </a:t>
            </a:r>
            <a:r>
              <a:rPr lang="en-IN" sz="2000" b="1" dirty="0" err="1"/>
              <a:t>Integer.parseInt</a:t>
            </a:r>
            <a:r>
              <a:rPr lang="en-IN" sz="2000" b="1" dirty="0"/>
              <a:t>(rags[0</a:t>
            </a:r>
            <a:r>
              <a:rPr lang="en-IN" sz="2000" b="1" dirty="0" smtClean="0"/>
              <a:t>]);</a:t>
            </a:r>
          </a:p>
          <a:p>
            <a:r>
              <a:rPr lang="en-IN" sz="2000" b="1" dirty="0" smtClean="0"/>
              <a:t>	rags[0] rags[1] rags[2]</a:t>
            </a:r>
            <a:endParaRPr lang="en-IN" sz="2000" b="1" dirty="0"/>
          </a:p>
          <a:p>
            <a:r>
              <a:rPr lang="en-IN" sz="2000" b="1" dirty="0"/>
              <a:t>	</a:t>
            </a:r>
          </a:p>
          <a:p>
            <a:r>
              <a:rPr lang="en-IN" sz="2000" b="1" dirty="0"/>
              <a:t>	Scanner </a:t>
            </a:r>
            <a:r>
              <a:rPr lang="en-IN" sz="2000" b="1" dirty="0" err="1"/>
              <a:t>sc</a:t>
            </a:r>
            <a:r>
              <a:rPr lang="en-IN" sz="2000" b="1" dirty="0"/>
              <a:t>=new Scanner(System.in);</a:t>
            </a:r>
          </a:p>
          <a:p>
            <a:r>
              <a:rPr lang="en-IN" sz="2000" b="1" dirty="0"/>
              <a:t>	</a:t>
            </a:r>
            <a:r>
              <a:rPr lang="en-IN" sz="2000" b="1" dirty="0" err="1"/>
              <a:t>System.out.println</a:t>
            </a:r>
            <a:r>
              <a:rPr lang="en-IN" sz="2000" b="1" dirty="0"/>
              <a:t>("Please enter integer value");</a:t>
            </a:r>
          </a:p>
          <a:p>
            <a:r>
              <a:rPr lang="en-IN" sz="2000" b="1" dirty="0"/>
              <a:t>	int </a:t>
            </a:r>
            <a:r>
              <a:rPr lang="en-IN" sz="2000" b="1" dirty="0" err="1"/>
              <a:t>i</a:t>
            </a:r>
            <a:r>
              <a:rPr lang="en-IN" sz="2000" b="1" dirty="0"/>
              <a:t> = </a:t>
            </a:r>
            <a:r>
              <a:rPr lang="en-IN" sz="2000" b="1" dirty="0" err="1"/>
              <a:t>sc.nextInt</a:t>
            </a:r>
            <a:r>
              <a:rPr lang="en-IN" sz="2000" b="1" dirty="0"/>
              <a:t>();</a:t>
            </a:r>
          </a:p>
          <a:p>
            <a:endParaRPr lang="en-IN" sz="2000" b="1" dirty="0"/>
          </a:p>
          <a:p>
            <a:r>
              <a:rPr lang="en-IN" sz="2000" b="1" dirty="0"/>
              <a:t>    	if(i%2 == 0)  {</a:t>
            </a:r>
          </a:p>
          <a:p>
            <a:r>
              <a:rPr lang="en-IN" sz="2000" b="1" dirty="0"/>
              <a:t>	   // Yes 10 is a even value</a:t>
            </a:r>
          </a:p>
          <a:p>
            <a:r>
              <a:rPr lang="en-IN" sz="2000" b="1" dirty="0"/>
              <a:t>	   </a:t>
            </a:r>
            <a:r>
              <a:rPr lang="en-IN" sz="2000" b="1" dirty="0" err="1"/>
              <a:t>System.out.println</a:t>
            </a:r>
            <a:r>
              <a:rPr lang="en-IN" sz="2000" b="1" dirty="0"/>
              <a:t>("Yes "+ </a:t>
            </a:r>
            <a:r>
              <a:rPr lang="en-IN" sz="2000" b="1" dirty="0" err="1"/>
              <a:t>i</a:t>
            </a:r>
            <a:r>
              <a:rPr lang="en-IN" sz="2000" b="1" dirty="0"/>
              <a:t> +" is a even value");</a:t>
            </a:r>
          </a:p>
          <a:p>
            <a:r>
              <a:rPr lang="en-IN" sz="2000" b="1" dirty="0"/>
              <a:t>    	</a:t>
            </a:r>
            <a:r>
              <a:rPr lang="en-IN" sz="2000" b="1" dirty="0" smtClean="0"/>
              <a:t>}</a:t>
            </a:r>
            <a:endParaRPr lang="en-IN" sz="2000" b="1" dirty="0"/>
          </a:p>
          <a:p>
            <a:r>
              <a:rPr lang="en-IN" sz="2000" b="1" dirty="0"/>
              <a:t>  }</a:t>
            </a:r>
          </a:p>
          <a:p>
            <a:r>
              <a:rPr lang="en-IN" sz="2000" b="1" dirty="0"/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DCE1E8C-AC17-12EE-1C6F-4E2DB247C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0" y="1257300"/>
            <a:ext cx="55579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javac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SimpleIfCondition.java</a:t>
            </a:r>
          </a:p>
          <a:p>
            <a:pPr algn="l"/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java </a:t>
            </a:r>
            <a:r>
              <a:rPr lang="en-US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SimpleIfCondition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10 20 30</a:t>
            </a:r>
          </a:p>
        </p:txBody>
      </p:sp>
    </p:spTree>
    <p:extLst>
      <p:ext uri="{BB962C8B-B14F-4D97-AF65-F5344CB8AC3E}">
        <p14:creationId xmlns:p14="http://schemas.microsoft.com/office/powerpoint/2010/main" val="87155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Simple if else Condition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AF282644-934E-4A46-8CD0-B0F298B25526}"/>
              </a:ext>
            </a:extLst>
          </p:cNvPr>
          <p:cNvSpPr txBox="1"/>
          <p:nvPr/>
        </p:nvSpPr>
        <p:spPr>
          <a:xfrm>
            <a:off x="482820" y="587777"/>
            <a:ext cx="63751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 smtClean="0"/>
              <a:t>// </a:t>
            </a:r>
            <a:r>
              <a:rPr lang="en-IN" sz="2000" b="1" dirty="0"/>
              <a:t>SimpleIfElseCondition.java</a:t>
            </a:r>
          </a:p>
          <a:p>
            <a:r>
              <a:rPr lang="en-IN" sz="2000" b="1" dirty="0"/>
              <a:t>import </a:t>
            </a:r>
            <a:r>
              <a:rPr lang="en-IN" sz="2000" b="1" dirty="0" err="1"/>
              <a:t>java.util</a:t>
            </a:r>
            <a:r>
              <a:rPr lang="en-IN" sz="2000" b="1" dirty="0"/>
              <a:t>.*;</a:t>
            </a:r>
          </a:p>
          <a:p>
            <a:r>
              <a:rPr lang="en-IN" sz="2000" b="1" dirty="0"/>
              <a:t>public class </a:t>
            </a:r>
            <a:r>
              <a:rPr lang="en-IN" sz="2000" b="1" dirty="0" err="1"/>
              <a:t>SimpleIfElseCondition</a:t>
            </a:r>
            <a:r>
              <a:rPr lang="en-IN" sz="2000" b="1" dirty="0"/>
              <a:t> {</a:t>
            </a:r>
          </a:p>
          <a:p>
            <a:r>
              <a:rPr lang="en-IN" sz="2000" b="1" dirty="0"/>
              <a:t>  public static void main(String rags[]) {</a:t>
            </a:r>
          </a:p>
          <a:p>
            <a:r>
              <a:rPr lang="en-IN" sz="2000" b="1" dirty="0"/>
              <a:t>	Scanner </a:t>
            </a:r>
            <a:r>
              <a:rPr lang="en-IN" sz="2000" b="1" dirty="0" err="1"/>
              <a:t>sc</a:t>
            </a:r>
            <a:r>
              <a:rPr lang="en-IN" sz="2000" b="1" dirty="0"/>
              <a:t>=new Scanner(System.in);</a:t>
            </a:r>
          </a:p>
          <a:p>
            <a:r>
              <a:rPr lang="en-IN" sz="2000" b="1" dirty="0"/>
              <a:t>	</a:t>
            </a:r>
            <a:r>
              <a:rPr lang="en-IN" sz="2000" b="1" dirty="0" err="1"/>
              <a:t>System.out.println</a:t>
            </a:r>
            <a:r>
              <a:rPr lang="en-IN" sz="2000" b="1" dirty="0"/>
              <a:t>("Please enter integer value");</a:t>
            </a:r>
          </a:p>
          <a:p>
            <a:r>
              <a:rPr lang="en-IN" sz="2000" b="1" dirty="0"/>
              <a:t>	int </a:t>
            </a:r>
            <a:r>
              <a:rPr lang="en-IN" sz="2000" b="1" dirty="0" err="1"/>
              <a:t>i</a:t>
            </a:r>
            <a:r>
              <a:rPr lang="en-IN" sz="2000" b="1" dirty="0"/>
              <a:t> = </a:t>
            </a:r>
            <a:r>
              <a:rPr lang="en-IN" sz="2000" b="1" dirty="0" err="1"/>
              <a:t>sc.nextInt</a:t>
            </a:r>
            <a:r>
              <a:rPr lang="en-IN" sz="2000" b="1" dirty="0"/>
              <a:t>();</a:t>
            </a:r>
          </a:p>
          <a:p>
            <a:r>
              <a:rPr lang="en-IN" sz="2000" b="1" dirty="0"/>
              <a:t>	</a:t>
            </a:r>
          </a:p>
          <a:p>
            <a:r>
              <a:rPr lang="en-IN" sz="2000" b="1" dirty="0"/>
              <a:t>	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60BC5B0-1913-70F8-81E9-490B846B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6881" y="2850649"/>
            <a:ext cx="659136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if(i%2 == 0)  {</a:t>
            </a:r>
          </a:p>
          <a:p>
            <a:r>
              <a:rPr lang="en-IN" sz="2000" b="1" dirty="0"/>
              <a:t>	  </a:t>
            </a:r>
            <a:r>
              <a:rPr lang="en-IN" sz="2000" b="1" dirty="0" err="1"/>
              <a:t>System.out.println</a:t>
            </a:r>
            <a:r>
              <a:rPr lang="en-IN" sz="2000" b="1" dirty="0"/>
              <a:t>("Yes "+</a:t>
            </a:r>
            <a:r>
              <a:rPr lang="en-IN" sz="2000" b="1" dirty="0" err="1"/>
              <a:t>i</a:t>
            </a:r>
            <a:r>
              <a:rPr lang="en-IN" sz="2000" b="1" dirty="0"/>
              <a:t>+" is an even value");</a:t>
            </a:r>
          </a:p>
          <a:p>
            <a:r>
              <a:rPr lang="en-IN" sz="2000" b="1" dirty="0"/>
              <a:t>	} else {</a:t>
            </a:r>
          </a:p>
          <a:p>
            <a:r>
              <a:rPr lang="en-IN" sz="2000" b="1" dirty="0"/>
              <a:t>	  </a:t>
            </a:r>
            <a:r>
              <a:rPr lang="en-IN" sz="2000" b="1" dirty="0" err="1"/>
              <a:t>System.out.println</a:t>
            </a:r>
            <a:r>
              <a:rPr lang="en-IN" sz="2000" b="1" dirty="0"/>
              <a:t>("Yes "+</a:t>
            </a:r>
            <a:r>
              <a:rPr lang="en-IN" sz="2000" b="1" dirty="0" err="1"/>
              <a:t>i</a:t>
            </a:r>
            <a:r>
              <a:rPr lang="en-IN" sz="2000" b="1" dirty="0"/>
              <a:t>+" is an odd value");</a:t>
            </a:r>
          </a:p>
          <a:p>
            <a:r>
              <a:rPr lang="en-IN" sz="2000" b="1" dirty="0"/>
              <a:t>	}</a:t>
            </a:r>
          </a:p>
          <a:p>
            <a:r>
              <a:rPr lang="en-IN" sz="2000" b="1" dirty="0"/>
              <a:t>	</a:t>
            </a:r>
          </a:p>
          <a:p>
            <a:r>
              <a:rPr lang="en-IN" sz="2000" b="1" dirty="0"/>
              <a:t>  }</a:t>
            </a:r>
          </a:p>
          <a:p>
            <a:r>
              <a:rPr lang="en-IN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224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Simple if else if else Condition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1E57D340-D619-4330-B447-05DC7C7D6E56}"/>
              </a:ext>
            </a:extLst>
          </p:cNvPr>
          <p:cNvSpPr txBox="1"/>
          <p:nvPr/>
        </p:nvSpPr>
        <p:spPr>
          <a:xfrm>
            <a:off x="556843" y="755208"/>
            <a:ext cx="1075035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smtClean="0"/>
              <a:t>// </a:t>
            </a:r>
            <a:r>
              <a:rPr lang="en-IN" sz="2400" dirty="0"/>
              <a:t>SimpleIfElseIfElseCondition.java</a:t>
            </a:r>
          </a:p>
          <a:p>
            <a:r>
              <a:rPr lang="en-IN" sz="2400" dirty="0"/>
              <a:t>class </a:t>
            </a:r>
            <a:r>
              <a:rPr lang="en-IN" sz="2400" dirty="0" err="1"/>
              <a:t>SimpleIfElseIfElseCondition</a:t>
            </a:r>
            <a:r>
              <a:rPr lang="en-IN" sz="2400" dirty="0"/>
              <a:t> </a:t>
            </a:r>
            <a:r>
              <a:rPr lang="en-IN" sz="2400" dirty="0" smtClean="0"/>
              <a:t>{</a:t>
            </a:r>
            <a:endParaRPr lang="en-IN" sz="2400" dirty="0"/>
          </a:p>
          <a:p>
            <a:r>
              <a:rPr lang="en-IN" sz="2400" dirty="0"/>
              <a:t>	public static void main(String rags[]) </a:t>
            </a:r>
            <a:r>
              <a:rPr lang="en-IN" sz="2400" dirty="0" smtClean="0"/>
              <a:t>{</a:t>
            </a:r>
            <a:endParaRPr lang="en-IN" sz="2400" dirty="0"/>
          </a:p>
          <a:p>
            <a:r>
              <a:rPr lang="en-IN" sz="2400" dirty="0"/>
              <a:t>		int </a:t>
            </a:r>
            <a:r>
              <a:rPr lang="en-IN" sz="2400" dirty="0" err="1"/>
              <a:t>marksPercentage</a:t>
            </a:r>
            <a:r>
              <a:rPr lang="en-IN" sz="2400" dirty="0"/>
              <a:t>=90;</a:t>
            </a:r>
          </a:p>
          <a:p>
            <a:r>
              <a:rPr lang="en-IN" sz="2400" dirty="0"/>
              <a:t>		</a:t>
            </a:r>
          </a:p>
          <a:p>
            <a:r>
              <a:rPr lang="en-IN" sz="2400" dirty="0"/>
              <a:t>		if(</a:t>
            </a:r>
            <a:r>
              <a:rPr lang="en-IN" sz="2400" dirty="0" err="1"/>
              <a:t>marksPercentage</a:t>
            </a:r>
            <a:r>
              <a:rPr lang="en-IN" sz="2400" dirty="0"/>
              <a:t>&lt;=90 &amp;&amp; </a:t>
            </a:r>
            <a:r>
              <a:rPr lang="en-IN" sz="2400" dirty="0" err="1"/>
              <a:t>marksPercentage</a:t>
            </a:r>
            <a:r>
              <a:rPr lang="en-IN" sz="2400" dirty="0"/>
              <a:t>&gt;80) {</a:t>
            </a:r>
          </a:p>
          <a:p>
            <a:r>
              <a:rPr lang="en-IN" sz="2400" dirty="0"/>
              <a:t>			</a:t>
            </a:r>
            <a:r>
              <a:rPr lang="en-IN" sz="2400" dirty="0" err="1"/>
              <a:t>System.out.println</a:t>
            </a:r>
            <a:r>
              <a:rPr lang="en-IN" sz="2400" dirty="0"/>
              <a:t>("First Class");</a:t>
            </a:r>
          </a:p>
          <a:p>
            <a:r>
              <a:rPr lang="en-IN" sz="2400" dirty="0"/>
              <a:t>		} else if(</a:t>
            </a:r>
            <a:r>
              <a:rPr lang="en-IN" sz="2400" dirty="0" err="1"/>
              <a:t>marksPercentage</a:t>
            </a:r>
            <a:r>
              <a:rPr lang="en-IN" sz="2400" dirty="0"/>
              <a:t>&lt;=80 &amp;&amp; </a:t>
            </a:r>
            <a:r>
              <a:rPr lang="en-IN" sz="2400" dirty="0" err="1"/>
              <a:t>marksPercentage</a:t>
            </a:r>
            <a:r>
              <a:rPr lang="en-IN" sz="2400" dirty="0"/>
              <a:t>&gt;70) {</a:t>
            </a:r>
          </a:p>
          <a:p>
            <a:r>
              <a:rPr lang="en-IN" sz="2400" dirty="0"/>
              <a:t>			</a:t>
            </a:r>
            <a:r>
              <a:rPr lang="en-IN" sz="2400" dirty="0" err="1"/>
              <a:t>System.out.println</a:t>
            </a:r>
            <a:r>
              <a:rPr lang="en-IN" sz="2400" dirty="0"/>
              <a:t>("Second Class");</a:t>
            </a:r>
          </a:p>
          <a:p>
            <a:r>
              <a:rPr lang="en-IN" sz="2400" dirty="0"/>
              <a:t>		} else {</a:t>
            </a:r>
          </a:p>
          <a:p>
            <a:r>
              <a:rPr lang="en-IN" sz="2400" dirty="0"/>
              <a:t>			</a:t>
            </a:r>
            <a:r>
              <a:rPr lang="en-IN" sz="2400" dirty="0" err="1"/>
              <a:t>System.out.println</a:t>
            </a:r>
            <a:r>
              <a:rPr lang="en-IN" sz="2400" dirty="0"/>
              <a:t>("Pass");</a:t>
            </a:r>
          </a:p>
          <a:p>
            <a:r>
              <a:rPr lang="en-IN" sz="2400" dirty="0"/>
              <a:t>		}</a:t>
            </a:r>
          </a:p>
          <a:p>
            <a:r>
              <a:rPr lang="en-IN" sz="2400" dirty="0"/>
              <a:t>		</a:t>
            </a:r>
          </a:p>
          <a:p>
            <a:r>
              <a:rPr lang="en-IN" sz="2400" dirty="0"/>
              <a:t>	}</a:t>
            </a:r>
          </a:p>
          <a:p>
            <a:r>
              <a:rPr lang="en-IN" sz="2400" dirty="0"/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AE8A2D1-EE31-AAC9-5EDE-0E5CD737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600091" y="826313"/>
            <a:ext cx="45837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err="1"/>
              <a:t>javac</a:t>
            </a:r>
            <a:r>
              <a:rPr lang="en-IN" sz="2000" b="1" dirty="0"/>
              <a:t> </a:t>
            </a:r>
            <a:r>
              <a:rPr lang="en-IN" sz="2000" b="1" dirty="0" smtClean="0"/>
              <a:t>SimpleIfElseIfElseCondition.java</a:t>
            </a:r>
            <a:endParaRPr lang="en-IN" sz="2000" b="1" dirty="0"/>
          </a:p>
          <a:p>
            <a:r>
              <a:rPr lang="en-IN" sz="2000" b="1" dirty="0"/>
              <a:t>java </a:t>
            </a:r>
            <a:r>
              <a:rPr lang="en-IN" sz="2000" b="1" dirty="0" err="1" smtClean="0"/>
              <a:t>SimpleIfElsIfElseCondition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4146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Nested if Condition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C184FFA-0559-43C7-B843-1A3707D12654}"/>
              </a:ext>
            </a:extLst>
          </p:cNvPr>
          <p:cNvSpPr txBox="1"/>
          <p:nvPr/>
        </p:nvSpPr>
        <p:spPr>
          <a:xfrm>
            <a:off x="477076" y="876524"/>
            <a:ext cx="853440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smtClean="0"/>
              <a:t>// </a:t>
            </a:r>
            <a:r>
              <a:rPr lang="en-IN" sz="2000" dirty="0"/>
              <a:t>NestedIfElseCondition.java</a:t>
            </a:r>
          </a:p>
          <a:p>
            <a:r>
              <a:rPr lang="en-IN" sz="2000" dirty="0"/>
              <a:t>public class </a:t>
            </a:r>
            <a:r>
              <a:rPr lang="en-IN" sz="2000" dirty="0" err="1"/>
              <a:t>NestedIfElseCondition</a:t>
            </a:r>
            <a:r>
              <a:rPr lang="en-IN" sz="2000" dirty="0"/>
              <a:t> </a:t>
            </a:r>
            <a:r>
              <a:rPr lang="en-IN" sz="2000" dirty="0" smtClean="0"/>
              <a:t>{</a:t>
            </a:r>
            <a:endParaRPr lang="en-IN" sz="2000" dirty="0"/>
          </a:p>
          <a:p>
            <a:r>
              <a:rPr lang="en-IN" sz="2000" dirty="0"/>
              <a:t>  public static void main(String rags[]) </a:t>
            </a:r>
            <a:r>
              <a:rPr lang="en-IN" sz="2000" dirty="0" smtClean="0"/>
              <a:t>{</a:t>
            </a:r>
            <a:endParaRPr lang="en-IN" sz="2000" dirty="0"/>
          </a:p>
          <a:p>
            <a:r>
              <a:rPr lang="en-IN" sz="2000" dirty="0"/>
              <a:t>    int </a:t>
            </a:r>
            <a:r>
              <a:rPr lang="en-IN" sz="2000" dirty="0" err="1"/>
              <a:t>i</a:t>
            </a:r>
            <a:r>
              <a:rPr lang="en-IN" sz="2000" dirty="0"/>
              <a:t>=</a:t>
            </a:r>
            <a:r>
              <a:rPr lang="en-IN" sz="2000" dirty="0" err="1"/>
              <a:t>Integer.parseInt</a:t>
            </a:r>
            <a:r>
              <a:rPr lang="en-IN" sz="2000" dirty="0"/>
              <a:t>(rags[0]);</a:t>
            </a:r>
          </a:p>
          <a:p>
            <a:r>
              <a:rPr lang="en-IN" sz="2000" dirty="0"/>
              <a:t>	</a:t>
            </a:r>
          </a:p>
          <a:p>
            <a:r>
              <a:rPr lang="en-IN" sz="2000" dirty="0"/>
              <a:t>    if(i%2 == 0)  {</a:t>
            </a:r>
          </a:p>
          <a:p>
            <a:r>
              <a:rPr lang="en-IN" sz="2000" dirty="0"/>
              <a:t>         </a:t>
            </a:r>
            <a:r>
              <a:rPr lang="en-IN" sz="2000" dirty="0" err="1"/>
              <a:t>System.out.println</a:t>
            </a:r>
            <a:r>
              <a:rPr lang="en-IN" sz="2000" dirty="0"/>
              <a:t>("Yes '</a:t>
            </a:r>
            <a:r>
              <a:rPr lang="en-IN" sz="2000" dirty="0" err="1"/>
              <a:t>i</a:t>
            </a:r>
            <a:r>
              <a:rPr lang="en-IN" sz="2000" dirty="0"/>
              <a:t>' is an even value");</a:t>
            </a:r>
          </a:p>
          <a:p>
            <a:r>
              <a:rPr lang="en-IN" sz="2000" dirty="0"/>
              <a:t>	  </a:t>
            </a:r>
          </a:p>
          <a:p>
            <a:r>
              <a:rPr lang="en-IN" sz="2000" dirty="0"/>
              <a:t>         if(</a:t>
            </a:r>
            <a:r>
              <a:rPr lang="en-IN" sz="2000" dirty="0" err="1"/>
              <a:t>i</a:t>
            </a:r>
            <a:r>
              <a:rPr lang="en-IN" sz="2000" dirty="0"/>
              <a:t> &lt; 50) {</a:t>
            </a:r>
          </a:p>
          <a:p>
            <a:r>
              <a:rPr lang="en-IN" sz="2000" dirty="0"/>
              <a:t>            </a:t>
            </a:r>
            <a:r>
              <a:rPr lang="en-IN" sz="2000" dirty="0" err="1"/>
              <a:t>System.out.println</a:t>
            </a:r>
            <a:r>
              <a:rPr lang="en-IN" sz="2000" dirty="0"/>
              <a:t>("Your </a:t>
            </a:r>
            <a:r>
              <a:rPr lang="en-IN" sz="2000" dirty="0" err="1"/>
              <a:t>i</a:t>
            </a:r>
            <a:r>
              <a:rPr lang="en-IN" sz="2000" dirty="0"/>
              <a:t> value is an even value that is below 50");</a:t>
            </a:r>
          </a:p>
          <a:p>
            <a:r>
              <a:rPr lang="en-IN" sz="2000" dirty="0"/>
              <a:t>         }</a:t>
            </a:r>
          </a:p>
          <a:p>
            <a:r>
              <a:rPr lang="en-IN" sz="2000" dirty="0"/>
              <a:t>	  </a:t>
            </a:r>
          </a:p>
          <a:p>
            <a:r>
              <a:rPr lang="en-IN" sz="2000" dirty="0"/>
              <a:t>    } else {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("'</a:t>
            </a:r>
            <a:r>
              <a:rPr lang="en-IN" sz="2000" dirty="0" err="1"/>
              <a:t>i</a:t>
            </a:r>
            <a:r>
              <a:rPr lang="en-IN" sz="2000" dirty="0"/>
              <a:t>' value is an odd value"); </a:t>
            </a:r>
          </a:p>
          <a:p>
            <a:r>
              <a:rPr lang="en-IN" sz="2000" dirty="0"/>
              <a:t>    }	</a:t>
            </a:r>
          </a:p>
          <a:p>
            <a:r>
              <a:rPr lang="en-IN" sz="2000" dirty="0"/>
              <a:t>  }</a:t>
            </a:r>
          </a:p>
          <a:p>
            <a:r>
              <a:rPr lang="en-IN" sz="2000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3A40589-F6C9-40E5-AA40-91ADC8F56F61}"/>
              </a:ext>
            </a:extLst>
          </p:cNvPr>
          <p:cNvSpPr txBox="1"/>
          <p:nvPr/>
        </p:nvSpPr>
        <p:spPr>
          <a:xfrm>
            <a:off x="6893169" y="1222217"/>
            <a:ext cx="39343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 err="1"/>
              <a:t>javac</a:t>
            </a:r>
            <a:r>
              <a:rPr lang="en-IN" sz="2000" b="1" dirty="0"/>
              <a:t> NestedIfElseCondition.java</a:t>
            </a:r>
          </a:p>
          <a:p>
            <a:r>
              <a:rPr lang="en-IN" sz="2000" b="1" dirty="0"/>
              <a:t>java </a:t>
            </a:r>
            <a:r>
              <a:rPr lang="en-IN" sz="2000" b="1" dirty="0" err="1"/>
              <a:t>NestedIfElseCondition</a:t>
            </a:r>
            <a:r>
              <a:rPr lang="en-IN" sz="2000" b="1" dirty="0"/>
              <a:t> 10</a:t>
            </a:r>
          </a:p>
          <a:p>
            <a:r>
              <a:rPr lang="en-IN" sz="2000" b="1" dirty="0"/>
              <a:t>		              49</a:t>
            </a:r>
          </a:p>
          <a:p>
            <a:r>
              <a:rPr lang="en-IN" sz="2000" b="1" dirty="0"/>
              <a:t>		              51</a:t>
            </a:r>
          </a:p>
          <a:p>
            <a:r>
              <a:rPr lang="en-IN" sz="2000" b="1" dirty="0"/>
              <a:t>		              60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2E665AF-FC58-3220-FC8A-B8EBE8AD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19029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If condition on diff data types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3A875AE-4256-4261-A837-776F02D3D416}"/>
              </a:ext>
            </a:extLst>
          </p:cNvPr>
          <p:cNvSpPr txBox="1"/>
          <p:nvPr/>
        </p:nvSpPr>
        <p:spPr>
          <a:xfrm>
            <a:off x="543337" y="707852"/>
            <a:ext cx="891498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u="sng" dirty="0" err="1"/>
              <a:t>IfConditionOnDiffDataTypes</a:t>
            </a:r>
            <a:endParaRPr lang="en-IN" sz="2000" u="sng" dirty="0"/>
          </a:p>
          <a:p>
            <a:r>
              <a:rPr lang="en-IN" sz="2000" dirty="0"/>
              <a:t>// IfConditionOnDiffDataTypes.java</a:t>
            </a:r>
          </a:p>
          <a:p>
            <a:r>
              <a:rPr lang="en-IN" sz="2000" dirty="0"/>
              <a:t>public class </a:t>
            </a:r>
            <a:r>
              <a:rPr lang="en-IN" sz="2000" dirty="0" err="1"/>
              <a:t>IfConditionOnDiffDataTypes</a:t>
            </a:r>
            <a:r>
              <a:rPr lang="en-IN" sz="2000" dirty="0"/>
              <a:t> {</a:t>
            </a:r>
          </a:p>
          <a:p>
            <a:endParaRPr lang="en-IN" sz="2000" dirty="0"/>
          </a:p>
          <a:p>
            <a:r>
              <a:rPr lang="en-IN" sz="2000" dirty="0"/>
              <a:t>  public static void main(String rags[]) {</a:t>
            </a:r>
          </a:p>
          <a:p>
            <a:r>
              <a:rPr lang="en-IN" sz="2000" dirty="0"/>
              <a:t>  </a:t>
            </a:r>
          </a:p>
          <a:p>
            <a:r>
              <a:rPr lang="en-IN" sz="2000" dirty="0"/>
              <a:t>		double pi=22/7;</a:t>
            </a:r>
          </a:p>
          <a:p>
            <a:r>
              <a:rPr lang="en-IN" sz="2000" dirty="0"/>
              <a:t>		if(pi == 3.1428571428571428571428571428571) {</a:t>
            </a:r>
          </a:p>
          <a:p>
            <a:r>
              <a:rPr lang="en-IN" sz="2000" dirty="0"/>
              <a:t>		   </a:t>
            </a:r>
            <a:r>
              <a:rPr lang="en-IN" sz="2000" dirty="0" err="1"/>
              <a:t>System.out.println</a:t>
            </a:r>
            <a:r>
              <a:rPr lang="en-IN" sz="2000" dirty="0"/>
              <a:t>("pi is a pi value "+pi);</a:t>
            </a:r>
          </a:p>
          <a:p>
            <a:r>
              <a:rPr lang="en-IN" sz="2000" dirty="0"/>
              <a:t>		}</a:t>
            </a:r>
          </a:p>
          <a:p>
            <a:endParaRPr lang="en-IN" sz="2000" dirty="0"/>
          </a:p>
          <a:p>
            <a:r>
              <a:rPr lang="en-IN" sz="2000" dirty="0"/>
              <a:t>		char </a:t>
            </a:r>
            <a:r>
              <a:rPr lang="en-IN" sz="2000" dirty="0" err="1"/>
              <a:t>ch</a:t>
            </a:r>
            <a:r>
              <a:rPr lang="en-IN" sz="2000" dirty="0"/>
              <a:t>=65; // </a:t>
            </a:r>
            <a:r>
              <a:rPr lang="en-IN" sz="2000" dirty="0" err="1"/>
              <a:t>ch</a:t>
            </a:r>
            <a:r>
              <a:rPr lang="en-IN" sz="2000" dirty="0"/>
              <a:t>=65 means ‘A’</a:t>
            </a:r>
          </a:p>
          <a:p>
            <a:r>
              <a:rPr lang="en-IN" sz="2000" dirty="0"/>
              <a:t>		</a:t>
            </a:r>
            <a:r>
              <a:rPr lang="en-IN" sz="2000" dirty="0" err="1"/>
              <a:t>ch</a:t>
            </a:r>
            <a:r>
              <a:rPr lang="en-IN" sz="2000" dirty="0"/>
              <a:t>='A'; // to char var we can assign char or its ASCII value</a:t>
            </a:r>
          </a:p>
          <a:p>
            <a:r>
              <a:rPr lang="en-IN" sz="2000" dirty="0"/>
              <a:t>		if(</a:t>
            </a:r>
            <a:r>
              <a:rPr lang="en-IN" sz="2000" dirty="0" err="1"/>
              <a:t>ch</a:t>
            </a:r>
            <a:r>
              <a:rPr lang="en-IN" sz="2000" dirty="0"/>
              <a:t>==65) {</a:t>
            </a:r>
          </a:p>
          <a:p>
            <a:r>
              <a:rPr lang="en-IN" sz="2000" dirty="0"/>
              <a:t>		  </a:t>
            </a:r>
            <a:r>
              <a:rPr lang="en-IN" sz="2000" dirty="0" err="1"/>
              <a:t>System.out.println</a:t>
            </a:r>
            <a:r>
              <a:rPr lang="en-IN" sz="2000" dirty="0"/>
              <a:t>("A ASCII value is 65");</a:t>
            </a:r>
          </a:p>
          <a:p>
            <a:r>
              <a:rPr lang="en-IN" sz="2000" dirty="0"/>
              <a:t>		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A2B5942-0BFD-E622-AC5A-29E742F15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27140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If condition on diff data types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ACB988EB-C01F-45FA-AC4E-1714C98A7389}"/>
              </a:ext>
            </a:extLst>
          </p:cNvPr>
          <p:cNvSpPr txBox="1"/>
          <p:nvPr/>
        </p:nvSpPr>
        <p:spPr>
          <a:xfrm>
            <a:off x="410819" y="679071"/>
            <a:ext cx="1031909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		String str=“Surya";</a:t>
            </a:r>
          </a:p>
          <a:p>
            <a:pPr algn="just"/>
            <a:r>
              <a:rPr lang="en-IN" sz="2000" dirty="0"/>
              <a:t>		if(</a:t>
            </a:r>
            <a:r>
              <a:rPr lang="en-IN" sz="2000" dirty="0" err="1"/>
              <a:t>str.equals</a:t>
            </a:r>
            <a:r>
              <a:rPr lang="en-IN" sz="2000" dirty="0"/>
              <a:t>(“</a:t>
            </a:r>
            <a:r>
              <a:rPr lang="en-IN" sz="2000" dirty="0" err="1"/>
              <a:t>surya</a:t>
            </a:r>
            <a:r>
              <a:rPr lang="en-IN" sz="2000" dirty="0"/>
              <a:t>")) {</a:t>
            </a:r>
          </a:p>
          <a:p>
            <a:pPr algn="just"/>
            <a:r>
              <a:rPr lang="en-IN" sz="2000" dirty="0"/>
              <a:t>		  </a:t>
            </a:r>
            <a:r>
              <a:rPr lang="en-IN" sz="2000" dirty="0" err="1"/>
              <a:t>System.out.println</a:t>
            </a:r>
            <a:r>
              <a:rPr lang="en-IN" sz="2000" dirty="0"/>
              <a:t>("str is a lower case </a:t>
            </a:r>
            <a:r>
              <a:rPr lang="en-IN" sz="2000" dirty="0" err="1"/>
              <a:t>surya</a:t>
            </a:r>
            <a:r>
              <a:rPr lang="en-IN" sz="2000" dirty="0"/>
              <a:t>");</a:t>
            </a:r>
          </a:p>
          <a:p>
            <a:pPr algn="just"/>
            <a:r>
              <a:rPr lang="en-IN" sz="2000" dirty="0"/>
              <a:t>		} else {</a:t>
            </a:r>
          </a:p>
          <a:p>
            <a:pPr algn="just"/>
            <a:r>
              <a:rPr lang="en-IN" sz="2000" dirty="0"/>
              <a:t>		  </a:t>
            </a:r>
            <a:r>
              <a:rPr lang="en-IN" sz="2000" dirty="0" err="1"/>
              <a:t>System.out.println</a:t>
            </a:r>
            <a:r>
              <a:rPr lang="en-IN" sz="2000" dirty="0"/>
              <a:t>("str is not a lower case </a:t>
            </a:r>
            <a:r>
              <a:rPr lang="en-IN" sz="2000" dirty="0" err="1"/>
              <a:t>surya</a:t>
            </a:r>
            <a:r>
              <a:rPr lang="en-IN" sz="2000" dirty="0"/>
              <a:t>"); </a:t>
            </a:r>
          </a:p>
          <a:p>
            <a:pPr algn="just"/>
            <a:r>
              <a:rPr lang="en-IN" sz="2000" dirty="0"/>
              <a:t>		}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		str=“Surya";</a:t>
            </a:r>
          </a:p>
          <a:p>
            <a:pPr algn="just"/>
            <a:r>
              <a:rPr lang="en-IN" sz="2000" dirty="0"/>
              <a:t>		if(</a:t>
            </a:r>
            <a:r>
              <a:rPr lang="en-IN" sz="2000" dirty="0" err="1"/>
              <a:t>str.equalsIgnoreCase</a:t>
            </a:r>
            <a:r>
              <a:rPr lang="en-IN" sz="2000" dirty="0"/>
              <a:t>(“</a:t>
            </a:r>
            <a:r>
              <a:rPr lang="en-IN" sz="2000" dirty="0" err="1"/>
              <a:t>surya</a:t>
            </a:r>
            <a:r>
              <a:rPr lang="en-IN" sz="2000" dirty="0"/>
              <a:t>")) {</a:t>
            </a:r>
          </a:p>
          <a:p>
            <a:pPr algn="just"/>
            <a:r>
              <a:rPr lang="en-IN" sz="2000" dirty="0"/>
              <a:t>		  </a:t>
            </a:r>
            <a:r>
              <a:rPr lang="en-IN" sz="2000" dirty="0" err="1"/>
              <a:t>System.out.println</a:t>
            </a:r>
            <a:r>
              <a:rPr lang="en-IN" sz="2000" dirty="0"/>
              <a:t>(“</a:t>
            </a:r>
            <a:r>
              <a:rPr lang="en-IN" sz="2000" dirty="0" err="1"/>
              <a:t>equalsIgnoreCase</a:t>
            </a:r>
            <a:r>
              <a:rPr lang="en-IN" sz="2000" dirty="0"/>
              <a:t>() compares value irrespective of its case");</a:t>
            </a:r>
          </a:p>
          <a:p>
            <a:pPr algn="just"/>
            <a:r>
              <a:rPr lang="en-IN" sz="2000" dirty="0"/>
              <a:t>		}</a:t>
            </a:r>
          </a:p>
          <a:p>
            <a:pPr algn="just"/>
            <a:r>
              <a:rPr lang="en-IN" sz="2000" dirty="0"/>
              <a:t>		</a:t>
            </a:r>
          </a:p>
          <a:p>
            <a:pPr algn="just"/>
            <a:r>
              <a:rPr lang="en-IN" sz="2000" dirty="0"/>
              <a:t>	}	</a:t>
            </a:r>
          </a:p>
          <a:p>
            <a:pPr algn="just"/>
            <a:r>
              <a:rPr lang="en-IN" sz="2000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F23C05A-0F2D-4CC3-8BCE-5EEF6BF736DF}"/>
              </a:ext>
            </a:extLst>
          </p:cNvPr>
          <p:cNvSpPr txBox="1"/>
          <p:nvPr/>
        </p:nvSpPr>
        <p:spPr>
          <a:xfrm>
            <a:off x="1657350" y="4367311"/>
            <a:ext cx="71023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b="1" dirty="0"/>
              <a:t>Note: == operator must be applied on primitive datatypes only but not on secondary data types (arrays and classes)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b="1" dirty="0"/>
              <a:t>String is a pre-defined class and Emp is a user defined class.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b="1" dirty="0"/>
              <a:t>== operator on secondary data types compares their address but not their state.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b="1" dirty="0"/>
              <a:t>Instead equals() method must be used on objects. equals() is a common method in all java classes.		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25C007FC-E577-2E0F-A061-CA82AD6A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193188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If condition on String class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ACB988EB-C01F-45FA-AC4E-1714C98A7389}"/>
              </a:ext>
            </a:extLst>
          </p:cNvPr>
          <p:cNvSpPr txBox="1"/>
          <p:nvPr/>
        </p:nvSpPr>
        <p:spPr>
          <a:xfrm>
            <a:off x="410820" y="767119"/>
            <a:ext cx="874416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/>
              <a:t>// IfConditionOnString.java</a:t>
            </a:r>
          </a:p>
          <a:p>
            <a:r>
              <a:rPr lang="en-IN" sz="1500" b="1" dirty="0"/>
              <a:t>class </a:t>
            </a:r>
            <a:r>
              <a:rPr lang="en-IN" sz="1500" b="1" dirty="0" err="1"/>
              <a:t>IfConditionOnString</a:t>
            </a:r>
            <a:r>
              <a:rPr lang="en-IN" sz="1500" b="1" dirty="0"/>
              <a:t> {</a:t>
            </a:r>
          </a:p>
          <a:p>
            <a:r>
              <a:rPr lang="en-IN" sz="1500" b="1" dirty="0"/>
              <a:t>	public static void main(String rags[]) {</a:t>
            </a:r>
          </a:p>
          <a:p>
            <a:r>
              <a:rPr lang="en-IN" sz="1500" b="1" dirty="0"/>
              <a:t>		String str=“Surya";</a:t>
            </a:r>
          </a:p>
          <a:p>
            <a:r>
              <a:rPr lang="en-IN" sz="1500" b="1" dirty="0"/>
              <a:t>		String str1=“Surya”;</a:t>
            </a:r>
          </a:p>
          <a:p>
            <a:r>
              <a:rPr lang="en-IN" sz="1500" b="1" dirty="0"/>
              <a:t>		String str2=new String(“Surya”);</a:t>
            </a:r>
          </a:p>
          <a:p>
            <a:r>
              <a:rPr lang="en-IN" sz="1500" b="1" dirty="0"/>
              <a:t>		if(str==str1) {</a:t>
            </a:r>
          </a:p>
          <a:p>
            <a:r>
              <a:rPr lang="en-IN" sz="1500" b="1" dirty="0"/>
              <a:t>		  System.out.println("str and str1 address are same");</a:t>
            </a:r>
          </a:p>
          <a:p>
            <a:r>
              <a:rPr lang="en-IN" sz="1500" b="1" dirty="0"/>
              <a:t>		} else {</a:t>
            </a:r>
          </a:p>
          <a:p>
            <a:r>
              <a:rPr lang="en-IN" sz="1500" b="1" dirty="0"/>
              <a:t>		  System.out.println("str is str1 address are not same"); </a:t>
            </a:r>
          </a:p>
          <a:p>
            <a:r>
              <a:rPr lang="en-IN" sz="1500" b="1" dirty="0"/>
              <a:t>		}</a:t>
            </a:r>
          </a:p>
          <a:p>
            <a:r>
              <a:rPr lang="en-IN" sz="1500" b="1" dirty="0"/>
              <a:t>		if(str==str2) {</a:t>
            </a:r>
          </a:p>
          <a:p>
            <a:r>
              <a:rPr lang="en-IN" sz="1500" b="1" dirty="0"/>
              <a:t>		  System.out.println("str and str2 address are same");</a:t>
            </a:r>
          </a:p>
          <a:p>
            <a:r>
              <a:rPr lang="en-IN" sz="1500" b="1" dirty="0"/>
              <a:t>		} else {</a:t>
            </a:r>
          </a:p>
          <a:p>
            <a:r>
              <a:rPr lang="en-IN" sz="1500" b="1" dirty="0"/>
              <a:t>		  System.out.println("str is str2 address are not same"); </a:t>
            </a:r>
          </a:p>
          <a:p>
            <a:r>
              <a:rPr lang="en-IN" sz="1500" b="1" dirty="0"/>
              <a:t>		}</a:t>
            </a:r>
          </a:p>
          <a:p>
            <a:r>
              <a:rPr lang="en-IN" sz="1500" b="1" dirty="0"/>
              <a:t>		if(</a:t>
            </a:r>
            <a:r>
              <a:rPr lang="en-IN" sz="1500" b="1" dirty="0" err="1"/>
              <a:t>str.equals</a:t>
            </a:r>
            <a:r>
              <a:rPr lang="en-IN" sz="1500" b="1" dirty="0"/>
              <a:t>(str2)) {</a:t>
            </a:r>
          </a:p>
          <a:p>
            <a:r>
              <a:rPr lang="en-IN" sz="1500" b="1" dirty="0"/>
              <a:t>		  System.out.println("str and str2 state is same");</a:t>
            </a:r>
          </a:p>
          <a:p>
            <a:r>
              <a:rPr lang="en-IN" sz="1500" b="1" dirty="0"/>
              <a:t>		} else {</a:t>
            </a:r>
          </a:p>
          <a:p>
            <a:r>
              <a:rPr lang="en-IN" sz="1500" b="1" dirty="0"/>
              <a:t>		  System.out.println("str is str2 state are not same"); </a:t>
            </a:r>
          </a:p>
          <a:p>
            <a:r>
              <a:rPr lang="en-IN" sz="1500" b="1" dirty="0"/>
              <a:t>		}		</a:t>
            </a:r>
          </a:p>
          <a:p>
            <a:r>
              <a:rPr lang="en-IN" sz="1500" b="1" dirty="0"/>
              <a:t>		</a:t>
            </a:r>
          </a:p>
          <a:p>
            <a:r>
              <a:rPr lang="en-IN" sz="1500" b="1" dirty="0"/>
              <a:t>	}	</a:t>
            </a:r>
          </a:p>
          <a:p>
            <a:r>
              <a:rPr lang="en-IN" sz="1500" b="1" dirty="0"/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3EAA81D-FD97-2F9A-F207-D371004F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89969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Switch Statement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BB823F3-0E60-40EB-ABEA-E522171D9A0D}"/>
              </a:ext>
            </a:extLst>
          </p:cNvPr>
          <p:cNvSpPr txBox="1"/>
          <p:nvPr/>
        </p:nvSpPr>
        <p:spPr>
          <a:xfrm>
            <a:off x="311024" y="632550"/>
            <a:ext cx="912312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/* Switch case can be written only on integers and characters but not on double and Strings</a:t>
            </a:r>
            <a:r>
              <a:rPr lang="en-IN" b="1" dirty="0" smtClean="0"/>
              <a:t>.*/</a:t>
            </a:r>
            <a:endParaRPr lang="en-IN" b="1" dirty="0"/>
          </a:p>
          <a:p>
            <a:r>
              <a:rPr lang="en-IN" b="1" dirty="0"/>
              <a:t>// SwitchDemo.java</a:t>
            </a:r>
          </a:p>
          <a:p>
            <a:r>
              <a:rPr lang="en-IN" b="1" dirty="0"/>
              <a:t>public class </a:t>
            </a:r>
            <a:r>
              <a:rPr lang="en-IN" b="1" dirty="0" err="1"/>
              <a:t>SwitchDemo</a:t>
            </a:r>
            <a:r>
              <a:rPr lang="en-IN" b="1" dirty="0"/>
              <a:t> {</a:t>
            </a:r>
          </a:p>
          <a:p>
            <a:r>
              <a:rPr lang="en-IN" b="1" dirty="0"/>
              <a:t>  public static void main(String rags[]) { </a:t>
            </a:r>
          </a:p>
          <a:p>
            <a:r>
              <a:rPr lang="en-IN" b="1" dirty="0"/>
              <a:t>  </a:t>
            </a:r>
          </a:p>
          <a:p>
            <a:r>
              <a:rPr lang="en-IN" b="1" dirty="0"/>
              <a:t>    </a:t>
            </a:r>
            <a:r>
              <a:rPr lang="en-IN" b="1" dirty="0" err="1"/>
              <a:t>java.util.Date</a:t>
            </a:r>
            <a:r>
              <a:rPr lang="en-IN" b="1" dirty="0"/>
              <a:t> d=new </a:t>
            </a:r>
            <a:r>
              <a:rPr lang="en-IN" b="1" dirty="0" err="1"/>
              <a:t>java.util.Date</a:t>
            </a:r>
            <a:r>
              <a:rPr lang="en-IN" b="1" dirty="0"/>
              <a:t>();</a:t>
            </a:r>
          </a:p>
          <a:p>
            <a:r>
              <a:rPr lang="en-IN" b="1" dirty="0"/>
              <a:t>	</a:t>
            </a:r>
          </a:p>
          <a:p>
            <a:r>
              <a:rPr lang="en-IN" b="1" dirty="0"/>
              <a:t>    // Date contains </a:t>
            </a:r>
            <a:r>
              <a:rPr lang="en-IN" b="1" dirty="0" smtClean="0"/>
              <a:t>0-30</a:t>
            </a:r>
            <a:r>
              <a:rPr lang="en-IN" b="1" dirty="0"/>
              <a:t>, 0-11, 2019-1900</a:t>
            </a:r>
          </a:p>
          <a:p>
            <a:r>
              <a:rPr lang="en-IN" b="1" dirty="0"/>
              <a:t>    int month=</a:t>
            </a:r>
            <a:r>
              <a:rPr lang="en-IN" b="1" dirty="0" err="1"/>
              <a:t>d.getMonth</a:t>
            </a:r>
            <a:r>
              <a:rPr lang="en-IN" b="1" dirty="0"/>
              <a:t>()+1;</a:t>
            </a:r>
          </a:p>
          <a:p>
            <a:r>
              <a:rPr lang="en-IN" b="1" dirty="0"/>
              <a:t>	</a:t>
            </a:r>
          </a:p>
          <a:p>
            <a:r>
              <a:rPr lang="en-IN" b="1" dirty="0"/>
              <a:t>	switch(month) {</a:t>
            </a:r>
          </a:p>
          <a:p>
            <a:r>
              <a:rPr lang="en-IN" b="1" dirty="0"/>
              <a:t>	</a:t>
            </a:r>
            <a:r>
              <a:rPr lang="en-IN" b="1" dirty="0" smtClean="0"/>
              <a:t>  </a:t>
            </a:r>
            <a:r>
              <a:rPr lang="en-IN" b="1" dirty="0"/>
              <a:t>case 1: </a:t>
            </a:r>
          </a:p>
          <a:p>
            <a:r>
              <a:rPr lang="en-IN" b="1" dirty="0"/>
              <a:t>		</a:t>
            </a:r>
            <a:r>
              <a:rPr lang="en-IN" b="1" dirty="0" err="1"/>
              <a:t>System.out.println</a:t>
            </a:r>
            <a:r>
              <a:rPr lang="en-IN" b="1" dirty="0"/>
              <a:t>("Current month is January");</a:t>
            </a:r>
          </a:p>
          <a:p>
            <a:r>
              <a:rPr lang="en-IN" b="1" dirty="0"/>
              <a:t>		break;</a:t>
            </a:r>
          </a:p>
          <a:p>
            <a:r>
              <a:rPr lang="en-IN" b="1" dirty="0"/>
              <a:t>	</a:t>
            </a:r>
            <a:r>
              <a:rPr lang="en-IN" b="1" dirty="0" smtClean="0"/>
              <a:t>  </a:t>
            </a:r>
            <a:r>
              <a:rPr lang="en-IN" b="1" dirty="0"/>
              <a:t>case 2:</a:t>
            </a:r>
          </a:p>
          <a:p>
            <a:r>
              <a:rPr lang="en-IN" b="1" dirty="0"/>
              <a:t>		</a:t>
            </a:r>
            <a:r>
              <a:rPr lang="en-IN" b="1" dirty="0" err="1"/>
              <a:t>System.out.println</a:t>
            </a:r>
            <a:r>
              <a:rPr lang="en-IN" b="1" dirty="0"/>
              <a:t>("Current month is February"); </a:t>
            </a:r>
          </a:p>
          <a:p>
            <a:r>
              <a:rPr lang="en-IN" b="1" dirty="0"/>
              <a:t>		break;</a:t>
            </a:r>
          </a:p>
          <a:p>
            <a:r>
              <a:rPr lang="en-IN" b="1" dirty="0"/>
              <a:t>	</a:t>
            </a:r>
            <a:r>
              <a:rPr lang="en-IN" b="1" dirty="0" smtClean="0"/>
              <a:t>  </a:t>
            </a:r>
            <a:r>
              <a:rPr lang="en-IN" b="1" dirty="0"/>
              <a:t>case 3: </a:t>
            </a:r>
          </a:p>
          <a:p>
            <a:r>
              <a:rPr lang="en-IN" b="1" dirty="0"/>
              <a:t>		</a:t>
            </a:r>
            <a:r>
              <a:rPr lang="en-IN" b="1" dirty="0" err="1"/>
              <a:t>System.out.println</a:t>
            </a:r>
            <a:r>
              <a:rPr lang="en-IN" b="1" dirty="0"/>
              <a:t>("Current month is March");</a:t>
            </a:r>
          </a:p>
          <a:p>
            <a:r>
              <a:rPr lang="en-IN" b="1" dirty="0"/>
              <a:t>		break;</a:t>
            </a:r>
          </a:p>
          <a:p>
            <a:r>
              <a:rPr lang="en-IN" b="1" dirty="0"/>
              <a:t>				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486B821-A49F-33E8-5D80-587E6711C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40313" y="905419"/>
            <a:ext cx="604235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  case 4: </a:t>
            </a:r>
          </a:p>
          <a:p>
            <a:r>
              <a:rPr lang="en-IN" b="1" dirty="0"/>
              <a:t>	</a:t>
            </a:r>
            <a:r>
              <a:rPr lang="en-IN" b="1" dirty="0" err="1" smtClean="0"/>
              <a:t>System.out.println</a:t>
            </a:r>
            <a:r>
              <a:rPr lang="en-IN" b="1" dirty="0"/>
              <a:t>("Current month is April"); </a:t>
            </a:r>
          </a:p>
          <a:p>
            <a:r>
              <a:rPr lang="en-IN" b="1" dirty="0"/>
              <a:t>	</a:t>
            </a:r>
            <a:r>
              <a:rPr lang="en-IN" b="1" dirty="0" smtClean="0"/>
              <a:t>break;</a:t>
            </a:r>
          </a:p>
          <a:p>
            <a:r>
              <a:rPr lang="en-IN" b="1" dirty="0" smtClean="0"/>
              <a:t>case </a:t>
            </a:r>
            <a:r>
              <a:rPr lang="en-IN" b="1" dirty="0"/>
              <a:t>5:</a:t>
            </a:r>
          </a:p>
          <a:p>
            <a:r>
              <a:rPr lang="en-IN" b="1" dirty="0"/>
              <a:t>	</a:t>
            </a:r>
            <a:r>
              <a:rPr lang="en-IN" b="1" dirty="0" err="1" smtClean="0"/>
              <a:t>System.out.println</a:t>
            </a:r>
            <a:r>
              <a:rPr lang="en-IN" b="1" dirty="0"/>
              <a:t>("Current month is May"); </a:t>
            </a:r>
          </a:p>
          <a:p>
            <a:r>
              <a:rPr lang="en-IN" b="1" dirty="0"/>
              <a:t>	</a:t>
            </a:r>
            <a:r>
              <a:rPr lang="en-IN" b="1" dirty="0" smtClean="0"/>
              <a:t>break</a:t>
            </a:r>
            <a:r>
              <a:rPr lang="en-IN" b="1" dirty="0"/>
              <a:t>;</a:t>
            </a:r>
          </a:p>
          <a:p>
            <a:r>
              <a:rPr lang="en-IN" b="1" dirty="0" smtClean="0"/>
              <a:t>default</a:t>
            </a:r>
            <a:r>
              <a:rPr lang="en-IN" b="1" dirty="0"/>
              <a:t>:</a:t>
            </a:r>
          </a:p>
          <a:p>
            <a:r>
              <a:rPr lang="en-IN" b="1" dirty="0" smtClean="0"/>
              <a:t>	</a:t>
            </a:r>
            <a:r>
              <a:rPr lang="en-IN" b="1" dirty="0" err="1" smtClean="0"/>
              <a:t>System.out.println</a:t>
            </a:r>
            <a:r>
              <a:rPr lang="en-IN" b="1" dirty="0"/>
              <a:t>("Current month is above May");</a:t>
            </a:r>
          </a:p>
          <a:p>
            <a:r>
              <a:rPr lang="en-IN" b="1" dirty="0"/>
              <a:t>	</a:t>
            </a:r>
            <a:r>
              <a:rPr lang="en-IN" b="1" dirty="0" smtClean="0"/>
              <a:t>break</a:t>
            </a:r>
            <a:r>
              <a:rPr lang="en-IN" b="1" dirty="0"/>
              <a:t>;</a:t>
            </a:r>
          </a:p>
          <a:p>
            <a:r>
              <a:rPr lang="en-IN" b="1" dirty="0" smtClean="0"/>
              <a:t>} } }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2335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Switch Statement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B5B1B84D-E65C-402D-BF0C-2C66F4F9FB1E}"/>
              </a:ext>
            </a:extLst>
          </p:cNvPr>
          <p:cNvSpPr txBox="1"/>
          <p:nvPr/>
        </p:nvSpPr>
        <p:spPr>
          <a:xfrm>
            <a:off x="649356" y="721384"/>
            <a:ext cx="769951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char </a:t>
            </a:r>
            <a:r>
              <a:rPr lang="en-IN" sz="1400" b="1" dirty="0" err="1"/>
              <a:t>ch</a:t>
            </a:r>
            <a:r>
              <a:rPr lang="en-IN" sz="1400" b="1" dirty="0"/>
              <a:t>='C';</a:t>
            </a:r>
          </a:p>
          <a:p>
            <a:r>
              <a:rPr lang="en-IN" sz="1400" b="1" dirty="0"/>
              <a:t>	switch(</a:t>
            </a:r>
            <a:r>
              <a:rPr lang="en-IN" sz="1400" b="1" dirty="0" err="1"/>
              <a:t>ch</a:t>
            </a:r>
            <a:r>
              <a:rPr lang="en-IN" sz="1400" b="1" dirty="0"/>
              <a:t>) {</a:t>
            </a:r>
          </a:p>
          <a:p>
            <a:r>
              <a:rPr lang="en-IN" sz="1400" b="1" dirty="0"/>
              <a:t>		  case 'A': </a:t>
            </a:r>
          </a:p>
          <a:p>
            <a:r>
              <a:rPr lang="en-IN" sz="1400" b="1" dirty="0"/>
              <a:t>			</a:t>
            </a:r>
            <a:r>
              <a:rPr lang="en-IN" sz="1400" b="1" dirty="0" err="1"/>
              <a:t>System.out.println</a:t>
            </a:r>
            <a:r>
              <a:rPr lang="en-IN" sz="1400" b="1" dirty="0"/>
              <a:t>("Current month is January"); </a:t>
            </a:r>
          </a:p>
          <a:p>
            <a:r>
              <a:rPr lang="en-IN" sz="1400" b="1" dirty="0"/>
              <a:t>			break;</a:t>
            </a:r>
          </a:p>
          <a:p>
            <a:r>
              <a:rPr lang="en-IN" sz="1400" b="1" dirty="0"/>
              <a:t>		  case 'B': </a:t>
            </a:r>
          </a:p>
          <a:p>
            <a:r>
              <a:rPr lang="en-IN" sz="1400" b="1" dirty="0"/>
              <a:t>			</a:t>
            </a:r>
            <a:r>
              <a:rPr lang="en-IN" sz="1400" b="1" dirty="0" err="1"/>
              <a:t>System.out.println</a:t>
            </a:r>
            <a:r>
              <a:rPr lang="en-IN" sz="1400" b="1" dirty="0"/>
              <a:t>("Current month is February"); </a:t>
            </a:r>
          </a:p>
          <a:p>
            <a:r>
              <a:rPr lang="en-IN" sz="1400" b="1" dirty="0"/>
              <a:t>			break;</a:t>
            </a:r>
          </a:p>
          <a:p>
            <a:r>
              <a:rPr lang="en-IN" sz="1400" b="1" dirty="0"/>
              <a:t>		  case 'C': </a:t>
            </a:r>
          </a:p>
          <a:p>
            <a:r>
              <a:rPr lang="en-IN" sz="1400" b="1" dirty="0"/>
              <a:t>			</a:t>
            </a:r>
            <a:r>
              <a:rPr lang="en-IN" sz="1400" b="1" dirty="0" err="1"/>
              <a:t>System.out.println</a:t>
            </a:r>
            <a:r>
              <a:rPr lang="en-IN" sz="1400" b="1" dirty="0"/>
              <a:t>("Current month is March"); </a:t>
            </a:r>
          </a:p>
          <a:p>
            <a:r>
              <a:rPr lang="en-IN" sz="1400" b="1" dirty="0"/>
              <a:t>			break;</a:t>
            </a:r>
          </a:p>
          <a:p>
            <a:r>
              <a:rPr lang="en-IN" sz="1400" b="1" dirty="0"/>
              <a:t>		  case 'D': </a:t>
            </a:r>
          </a:p>
          <a:p>
            <a:r>
              <a:rPr lang="en-IN" sz="1400" b="1" dirty="0"/>
              <a:t>			</a:t>
            </a:r>
            <a:r>
              <a:rPr lang="en-IN" sz="1400" b="1" dirty="0" err="1"/>
              <a:t>System.out.println</a:t>
            </a:r>
            <a:r>
              <a:rPr lang="en-IN" sz="1400" b="1" dirty="0"/>
              <a:t>("Current month is April"); </a:t>
            </a:r>
          </a:p>
          <a:p>
            <a:r>
              <a:rPr lang="en-IN" sz="1400" b="1" dirty="0"/>
              <a:t>			break;</a:t>
            </a:r>
          </a:p>
          <a:p>
            <a:r>
              <a:rPr lang="en-IN" sz="1400" b="1" dirty="0"/>
              <a:t>		  case 'E': </a:t>
            </a:r>
          </a:p>
          <a:p>
            <a:r>
              <a:rPr lang="en-IN" sz="1400" b="1" dirty="0"/>
              <a:t>			</a:t>
            </a:r>
            <a:r>
              <a:rPr lang="en-IN" sz="1400" b="1" dirty="0" err="1"/>
              <a:t>System.out.println</a:t>
            </a:r>
            <a:r>
              <a:rPr lang="en-IN" sz="1400" b="1" dirty="0"/>
              <a:t>("Current month is May"); </a:t>
            </a:r>
          </a:p>
          <a:p>
            <a:r>
              <a:rPr lang="en-IN" sz="1400" b="1" dirty="0"/>
              <a:t>			break;</a:t>
            </a:r>
          </a:p>
          <a:p>
            <a:r>
              <a:rPr lang="en-IN" sz="1400" b="1" dirty="0"/>
              <a:t>		  default: </a:t>
            </a:r>
          </a:p>
          <a:p>
            <a:r>
              <a:rPr lang="en-IN" sz="1400" b="1" dirty="0"/>
              <a:t>			</a:t>
            </a:r>
            <a:r>
              <a:rPr lang="en-IN" sz="1400" b="1" dirty="0" err="1"/>
              <a:t>System.out.println</a:t>
            </a:r>
            <a:r>
              <a:rPr lang="en-IN" sz="1400" b="1" dirty="0"/>
              <a:t>("Current month above May"); </a:t>
            </a:r>
          </a:p>
          <a:p>
            <a:r>
              <a:rPr lang="en-IN" sz="1400" b="1" dirty="0"/>
              <a:t>			break;</a:t>
            </a:r>
          </a:p>
          <a:p>
            <a:r>
              <a:rPr lang="en-IN" sz="1400" b="1" dirty="0"/>
              <a:t>	}</a:t>
            </a:r>
          </a:p>
          <a:p>
            <a:r>
              <a:rPr lang="en-IN" sz="1400" b="1" dirty="0"/>
              <a:t>  }</a:t>
            </a:r>
          </a:p>
          <a:p>
            <a:r>
              <a:rPr lang="en-IN" sz="1400" b="1" dirty="0"/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EE2053D-6F7C-790F-C1B1-A13DF9FB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95405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F04D6D2-566D-4C51-8EA8-203F63757A32}"/>
              </a:ext>
            </a:extLst>
          </p:cNvPr>
          <p:cNvSpPr/>
          <p:nvPr/>
        </p:nvSpPr>
        <p:spPr>
          <a:xfrm>
            <a:off x="424072" y="18727"/>
            <a:ext cx="11343858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Ternary Statement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1099EF62-02B2-4132-A5FB-DF6F0A4B88D7}"/>
              </a:ext>
            </a:extLst>
          </p:cNvPr>
          <p:cNvGrpSpPr/>
          <p:nvPr/>
        </p:nvGrpSpPr>
        <p:grpSpPr>
          <a:xfrm>
            <a:off x="0" y="0"/>
            <a:ext cx="12192000" cy="6876727"/>
            <a:chOff x="0" y="0"/>
            <a:chExt cx="12192000" cy="687672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="" xmlns:a16="http://schemas.microsoft.com/office/drawing/2014/main" id="{1A389E54-CAB2-4D02-87CC-0E364919A23F}"/>
                </a:ext>
              </a:extLst>
            </p:cNvPr>
            <p:cNvSpPr/>
            <p:nvPr/>
          </p:nvSpPr>
          <p:spPr>
            <a:xfrm>
              <a:off x="0" y="480392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="" xmlns:a16="http://schemas.microsoft.com/office/drawing/2014/main" id="{5EF6FAF3-F8DC-464C-96F3-96CE200FFC06}"/>
                </a:ext>
              </a:extLst>
            </p:cNvPr>
            <p:cNvSpPr/>
            <p:nvPr/>
          </p:nvSpPr>
          <p:spPr>
            <a:xfrm>
              <a:off x="109333" y="18727"/>
              <a:ext cx="182924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D27D3A81-17A9-49B4-9D83-ABE62F99B5F5}"/>
                </a:ext>
              </a:extLst>
            </p:cNvPr>
            <p:cNvSpPr/>
            <p:nvPr/>
          </p:nvSpPr>
          <p:spPr>
            <a:xfrm>
              <a:off x="9264316" y="3801979"/>
              <a:ext cx="2715648" cy="296571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="" xmlns:a16="http://schemas.microsoft.com/office/drawing/2014/main" id="{BE8AF6E0-0662-494A-9C8F-D3B557536E59}"/>
                </a:ext>
              </a:extLst>
            </p:cNvPr>
            <p:cNvSpPr/>
            <p:nvPr/>
          </p:nvSpPr>
          <p:spPr>
            <a:xfrm>
              <a:off x="0" y="6584870"/>
              <a:ext cx="12192000" cy="188844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="" xmlns:a16="http://schemas.microsoft.com/office/drawing/2014/main" id="{F446F034-E706-4647-B17D-6CE86EE4C330}"/>
                </a:ext>
              </a:extLst>
            </p:cNvPr>
            <p:cNvSpPr/>
            <p:nvPr/>
          </p:nvSpPr>
          <p:spPr>
            <a:xfrm>
              <a:off x="11877260" y="0"/>
              <a:ext cx="205409" cy="6858000"/>
            </a:xfrm>
            <a:prstGeom prst="roundRect">
              <a:avLst/>
            </a:prstGeom>
            <a:gradFill>
              <a:gsLst>
                <a:gs pos="0">
                  <a:srgbClr val="0CB100"/>
                </a:gs>
                <a:gs pos="46821">
                  <a:srgbClr val="67CE02"/>
                </a:gs>
                <a:gs pos="99075">
                  <a:srgbClr val="C3EA03"/>
                </a:gs>
              </a:gsLst>
            </a:gradFill>
            <a:ln w="12700">
              <a:miter lim="400000"/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lIns="45719" rIns="45719" anchor="ctr"/>
            <a:lstStyle/>
            <a:p>
              <a:pPr algn="ctr"/>
              <a:endParaRPr lang="en-IN">
                <a:solidFill>
                  <a:srgbClr val="FFFFFF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B961A074-E68F-49BA-A38E-4E9581D34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07194" y="0"/>
              <a:ext cx="752990" cy="824163"/>
            </a:xfrm>
            <a:prstGeom prst="roundRect">
              <a:avLst>
                <a:gd name="adj" fmla="val 2010"/>
              </a:avLst>
            </a:prstGeom>
            <a:ln>
              <a:solidFill>
                <a:srgbClr val="00B05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14DBB64D-CECA-4F65-8A73-FA3A2374A04C}"/>
              </a:ext>
            </a:extLst>
          </p:cNvPr>
          <p:cNvSpPr txBox="1"/>
          <p:nvPr/>
        </p:nvSpPr>
        <p:spPr>
          <a:xfrm>
            <a:off x="516835" y="603802"/>
            <a:ext cx="107021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smtClean="0"/>
              <a:t>// Two </a:t>
            </a:r>
            <a:r>
              <a:rPr lang="en-IN" sz="2400" b="1" dirty="0"/>
              <a:t>Operators (? :) in between Three Operands</a:t>
            </a:r>
          </a:p>
          <a:p>
            <a:r>
              <a:rPr lang="en-IN" sz="2400" b="1" dirty="0"/>
              <a:t>// TernaryDemo.java</a:t>
            </a:r>
          </a:p>
          <a:p>
            <a:r>
              <a:rPr lang="en-IN" sz="2400" b="1" dirty="0"/>
              <a:t>public class </a:t>
            </a:r>
            <a:r>
              <a:rPr lang="en-IN" sz="2400" b="1" dirty="0" err="1"/>
              <a:t>TernaryDemo</a:t>
            </a:r>
            <a:r>
              <a:rPr lang="en-IN" sz="2400" b="1" dirty="0"/>
              <a:t> {</a:t>
            </a:r>
          </a:p>
          <a:p>
            <a:r>
              <a:rPr lang="en-IN" sz="2400" b="1" dirty="0"/>
              <a:t>	public static void main(String rags[]) </a:t>
            </a:r>
            <a:r>
              <a:rPr lang="en-IN" sz="2400" b="1" dirty="0" smtClean="0"/>
              <a:t>{</a:t>
            </a:r>
            <a:endParaRPr lang="en-IN" sz="2400" b="1" dirty="0"/>
          </a:p>
          <a:p>
            <a:r>
              <a:rPr lang="en-IN" sz="2400" b="1" dirty="0"/>
              <a:t>		int </a:t>
            </a:r>
            <a:r>
              <a:rPr lang="en-IN" sz="2400" b="1" dirty="0" err="1"/>
              <a:t>i</a:t>
            </a:r>
            <a:r>
              <a:rPr lang="en-IN" sz="2400" b="1" dirty="0"/>
              <a:t>=10</a:t>
            </a:r>
            <a:r>
              <a:rPr lang="en-IN" sz="2400" b="1" dirty="0" smtClean="0"/>
              <a:t>;</a:t>
            </a:r>
            <a:endParaRPr lang="en-IN" sz="2400" b="1" dirty="0"/>
          </a:p>
          <a:p>
            <a:r>
              <a:rPr lang="en-IN" sz="2400" b="1" dirty="0"/>
              <a:t>		if(i%2==0) {</a:t>
            </a:r>
          </a:p>
          <a:p>
            <a:r>
              <a:rPr lang="en-IN" sz="2400" b="1" dirty="0"/>
              <a:t>			</a:t>
            </a:r>
            <a:r>
              <a:rPr lang="en-IN" sz="2400" b="1" dirty="0" err="1"/>
              <a:t>System.out.println</a:t>
            </a:r>
            <a:r>
              <a:rPr lang="en-IN" sz="2400" b="1" dirty="0"/>
              <a:t>("</a:t>
            </a:r>
            <a:r>
              <a:rPr lang="en-IN" sz="2400" b="1" dirty="0" err="1"/>
              <a:t>i</a:t>
            </a:r>
            <a:r>
              <a:rPr lang="en-IN" sz="2400" b="1" dirty="0"/>
              <a:t> is even");</a:t>
            </a:r>
          </a:p>
          <a:p>
            <a:r>
              <a:rPr lang="en-IN" sz="2400" b="1" dirty="0"/>
              <a:t>		} else {</a:t>
            </a:r>
          </a:p>
          <a:p>
            <a:r>
              <a:rPr lang="en-IN" sz="2400" b="1" dirty="0"/>
              <a:t>			</a:t>
            </a:r>
            <a:r>
              <a:rPr lang="en-IN" sz="2400" b="1" dirty="0" err="1"/>
              <a:t>System.out.println</a:t>
            </a:r>
            <a:r>
              <a:rPr lang="en-IN" sz="2400" b="1" dirty="0"/>
              <a:t>("</a:t>
            </a:r>
            <a:r>
              <a:rPr lang="en-IN" sz="2400" b="1" dirty="0" err="1"/>
              <a:t>i</a:t>
            </a:r>
            <a:r>
              <a:rPr lang="en-IN" sz="2400" b="1" dirty="0"/>
              <a:t> is odd");</a:t>
            </a:r>
          </a:p>
          <a:p>
            <a:r>
              <a:rPr lang="en-IN" sz="2400" b="1" dirty="0"/>
              <a:t>		}</a:t>
            </a:r>
          </a:p>
          <a:p>
            <a:endParaRPr lang="en-IN" sz="2400" b="1" dirty="0"/>
          </a:p>
          <a:p>
            <a:r>
              <a:rPr lang="en-IN" sz="2400" b="1" dirty="0"/>
              <a:t>		String output = (i%2==0)?"</a:t>
            </a:r>
            <a:r>
              <a:rPr lang="en-IN" sz="2400" b="1" dirty="0" err="1"/>
              <a:t>i</a:t>
            </a:r>
            <a:r>
              <a:rPr lang="en-IN" sz="2400" b="1" dirty="0"/>
              <a:t> is even value":"</a:t>
            </a:r>
            <a:r>
              <a:rPr lang="en-IN" sz="2400" b="1" dirty="0" err="1"/>
              <a:t>i</a:t>
            </a:r>
            <a:r>
              <a:rPr lang="en-IN" sz="2400" b="1" dirty="0"/>
              <a:t> is odd value";</a:t>
            </a:r>
          </a:p>
          <a:p>
            <a:r>
              <a:rPr lang="en-IN" sz="2400" b="1" dirty="0"/>
              <a:t>		</a:t>
            </a:r>
            <a:r>
              <a:rPr lang="en-IN" sz="2400" b="1" dirty="0" err="1"/>
              <a:t>System.out.println</a:t>
            </a:r>
            <a:r>
              <a:rPr lang="en-IN" sz="2400" b="1" dirty="0"/>
              <a:t>(output);</a:t>
            </a:r>
          </a:p>
          <a:p>
            <a:r>
              <a:rPr lang="en-IN" sz="2400" b="1" dirty="0"/>
              <a:t>	}</a:t>
            </a:r>
          </a:p>
          <a:p>
            <a:r>
              <a:rPr lang="en-IN" sz="2400" b="1" dirty="0"/>
              <a:t>}	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76E4269-F813-C78D-427B-17D1A46DD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Suryanarayana</a:t>
            </a:r>
          </a:p>
        </p:txBody>
      </p:sp>
    </p:spTree>
    <p:extLst>
      <p:ext uri="{BB962C8B-B14F-4D97-AF65-F5344CB8AC3E}">
        <p14:creationId xmlns:p14="http://schemas.microsoft.com/office/powerpoint/2010/main" val="410912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rgbClr val="0000FF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688</Words>
  <Application>Microsoft Office PowerPoint</Application>
  <PresentationFormat>Custom</PresentationFormat>
  <Paragraphs>286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dell1</cp:lastModifiedBy>
  <cp:revision>48</cp:revision>
  <dcterms:created xsi:type="dcterms:W3CDTF">2021-09-13T09:22:41Z</dcterms:created>
  <dcterms:modified xsi:type="dcterms:W3CDTF">2024-09-21T17:59:57Z</dcterms:modified>
</cp:coreProperties>
</file>