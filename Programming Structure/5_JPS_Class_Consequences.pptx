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312" r:id="rId3"/>
    <p:sldId id="264" r:id="rId4"/>
    <p:sldId id="265" r:id="rId5"/>
    <p:sldId id="266" r:id="rId6"/>
    <p:sldId id="311"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6682-33E3-0CC4-3FAD-A19EA2CC8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3F5B32-4C1D-F505-A853-C29F8EE406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4EC37D-891D-2607-B09C-88CED92B56DD}"/>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863458B5-561E-03E0-4157-F1B3621F6D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2FCEB2-8117-F4A1-4859-BD54B0F0DD44}"/>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3870686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23018-7D4C-C6BF-002F-17CEA30E8D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C5A944-E27F-693C-F0D3-ECEE49C5D7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7A97BA-AF22-DA5E-F91B-3DFCFD3CE593}"/>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A2070B45-8BDA-5BC7-D7F8-E4FECC1887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9E7199-93F3-601C-220E-0866EB8EF8E4}"/>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2765970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212E-EE71-E002-ABD1-AB1D36D479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6D257A-8741-59E3-4DF2-FB4A595F6E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21CCB3-3251-B78F-6691-099B61AF2FF6}"/>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FE1BDB09-3F40-6281-4907-F83B149D57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494D67-91CC-E419-AE41-BFD6B8DB20DD}"/>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2913567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29E2-3428-52F2-6FFE-6CEC8A9DBC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3113AF-0B02-F1DA-8593-FDDEC34698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436DAE-7399-80D6-32DC-A138B1EF08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A71C8B-FD17-0E58-ED4C-1D5C5F430754}"/>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6" name="Footer Placeholder 5">
            <a:extLst>
              <a:ext uri="{FF2B5EF4-FFF2-40B4-BE49-F238E27FC236}">
                <a16:creationId xmlns:a16="http://schemas.microsoft.com/office/drawing/2014/main" id="{93C6581D-6458-3B23-879E-879FCA4C94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7D709C-10E7-E926-8DC7-78A87CEF21DF}"/>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1481340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6794-DB15-08E6-1FA2-7FF09582BB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971BAA-503E-BC79-ACB8-C57DE9EFF5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734153-B241-CA59-952A-C211D20249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391AB1-FE75-B770-F558-482882360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306408-4FFA-5C20-C084-BE3A87E7A0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CF7FA4-06D0-D3CD-C3A6-812623B794D4}"/>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8" name="Footer Placeholder 7">
            <a:extLst>
              <a:ext uri="{FF2B5EF4-FFF2-40B4-BE49-F238E27FC236}">
                <a16:creationId xmlns:a16="http://schemas.microsoft.com/office/drawing/2014/main" id="{5780471F-CBC8-7DD2-37E4-1BDCE4A19C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FEBAD66-B1B3-B8F8-F7A1-75346A0725FB}"/>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2492972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D72D2-56F2-9C2E-1858-7FCCE7944B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6CE2902-DEFF-1CD0-22C8-153A53AC4D28}"/>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4" name="Footer Placeholder 3">
            <a:extLst>
              <a:ext uri="{FF2B5EF4-FFF2-40B4-BE49-F238E27FC236}">
                <a16:creationId xmlns:a16="http://schemas.microsoft.com/office/drawing/2014/main" id="{0F100F5C-6F8E-303F-504F-146E0D5490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D3E52D-AE96-5397-F41D-1B3648022403}"/>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660932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FF843E-1A4A-322C-BAD5-DD565D0AACBD}"/>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3" name="Footer Placeholder 2">
            <a:extLst>
              <a:ext uri="{FF2B5EF4-FFF2-40B4-BE49-F238E27FC236}">
                <a16:creationId xmlns:a16="http://schemas.microsoft.com/office/drawing/2014/main" id="{5C24F856-3A85-C35E-525C-3CA9AF6BDE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14597D2-442A-A336-7417-A587BD217AE7}"/>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299144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EDCD-B1C9-2DBD-E77A-9C14F04B2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08B47A-5998-F7B4-0414-B7B5FF685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7EBF88-21AB-851E-CED0-06AD16046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E4BBB-8D77-5049-99A2-2CA6F8171705}"/>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6" name="Footer Placeholder 5">
            <a:extLst>
              <a:ext uri="{FF2B5EF4-FFF2-40B4-BE49-F238E27FC236}">
                <a16:creationId xmlns:a16="http://schemas.microsoft.com/office/drawing/2014/main" id="{74FFDF3A-7381-DF24-2FB9-695638AC27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452AD1-7F08-7F16-61EA-C304E29CC0DB}"/>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4173692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04E30-C3DC-30B6-C04C-68A4CA8629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FB8E0C-D4AC-E010-723F-9CADFC029F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D9FF52-E7B5-C9C6-D440-CCC4D7DC15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5A41B-2222-7A9D-E5C3-E6DED3E9572C}"/>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6" name="Footer Placeholder 5">
            <a:extLst>
              <a:ext uri="{FF2B5EF4-FFF2-40B4-BE49-F238E27FC236}">
                <a16:creationId xmlns:a16="http://schemas.microsoft.com/office/drawing/2014/main" id="{04C66A86-A124-926A-C93C-3B488E9F5B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133474-7D17-D99C-BDFB-C7D8BE3D07BF}"/>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3299583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AF123-1B59-C669-5836-CCA3B53D59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6047C6-418C-4ADD-F8F5-7F4ACD3A89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970D51-791D-711A-4707-24C401C88A39}"/>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6BEE9176-55A0-56B9-B26B-782928D2FB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3B0D-22EF-15B1-00B4-5DBEA6544B8E}"/>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3357327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41EF5E-DE9D-BAB6-1991-D7F209BA56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F39974-E9E4-4ACB-4E27-E2D623E71C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854E8A-750F-10FB-4277-77774ADC1C94}"/>
              </a:ext>
            </a:extLst>
          </p:cNvPr>
          <p:cNvSpPr>
            <a:spLocks noGrp="1"/>
          </p:cNvSpPr>
          <p:nvPr>
            <p:ph type="dt" sz="half" idx="10"/>
          </p:nvPr>
        </p:nvSpPr>
        <p:spPr/>
        <p:txBody>
          <a:body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EC714331-F11F-AB0B-706D-494E452E8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091BC6-2094-8AA9-3D86-09E4F86A9331}"/>
              </a:ext>
            </a:extLst>
          </p:cNvPr>
          <p:cNvSpPr>
            <a:spLocks noGrp="1"/>
          </p:cNvSpPr>
          <p:nvPr>
            <p:ph type="sldNum" sz="quarter" idx="12"/>
          </p:nvPr>
        </p:nvSpPr>
        <p:spPr/>
        <p:txBody>
          <a:bodyPr/>
          <a:lstStyle/>
          <a:p>
            <a:fld id="{C1C8DF51-85EC-444B-8291-4FCD4B67613F}" type="slidenum">
              <a:rPr lang="en-IN" smtClean="0"/>
              <a:t>‹#›</a:t>
            </a:fld>
            <a:endParaRPr lang="en-IN"/>
          </a:p>
        </p:txBody>
      </p:sp>
    </p:spTree>
    <p:extLst>
      <p:ext uri="{BB962C8B-B14F-4D97-AF65-F5344CB8AC3E}">
        <p14:creationId xmlns:p14="http://schemas.microsoft.com/office/powerpoint/2010/main" val="2610265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E692D3-597C-5F93-5081-10450D1DC0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E7010F-B8BF-D142-62FA-940A35AB5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88DAE-07C1-6CB5-3BB0-E8FB76C4B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FEC4E0-A505-45EF-8F82-971F39257A84}" type="datetimeFigureOut">
              <a:rPr lang="en-IN" smtClean="0"/>
              <a:t>20-09-2022</a:t>
            </a:fld>
            <a:endParaRPr lang="en-IN"/>
          </a:p>
        </p:txBody>
      </p:sp>
      <p:sp>
        <p:nvSpPr>
          <p:cNvPr id="5" name="Footer Placeholder 4">
            <a:extLst>
              <a:ext uri="{FF2B5EF4-FFF2-40B4-BE49-F238E27FC236}">
                <a16:creationId xmlns:a16="http://schemas.microsoft.com/office/drawing/2014/main" id="{3CAAE322-E1CC-7E98-D33F-3802B8FC7A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A3916B-541A-7B6D-D403-4B6B5A26D0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8DF51-85EC-444B-8291-4FCD4B67613F}" type="slidenum">
              <a:rPr lang="en-IN" smtClean="0"/>
              <a:t>‹#›</a:t>
            </a:fld>
            <a:endParaRPr lang="en-IN"/>
          </a:p>
        </p:txBody>
      </p:sp>
    </p:spTree>
    <p:extLst>
      <p:ext uri="{BB962C8B-B14F-4D97-AF65-F5344CB8AC3E}">
        <p14:creationId xmlns:p14="http://schemas.microsoft.com/office/powerpoint/2010/main" val="917869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3" name="TextBox 2">
            <a:extLst>
              <a:ext uri="{FF2B5EF4-FFF2-40B4-BE49-F238E27FC236}">
                <a16:creationId xmlns:a16="http://schemas.microsoft.com/office/drawing/2014/main" id="{67F84A6C-EA2E-5961-600B-18F2F9950E8B}"/>
              </a:ext>
            </a:extLst>
          </p:cNvPr>
          <p:cNvSpPr txBox="1"/>
          <p:nvPr/>
        </p:nvSpPr>
        <p:spPr>
          <a:xfrm>
            <a:off x="2591921" y="1666067"/>
            <a:ext cx="6098240" cy="2677656"/>
          </a:xfrm>
          <a:prstGeom prst="rect">
            <a:avLst/>
          </a:prstGeom>
          <a:noFill/>
        </p:spPr>
        <p:txBody>
          <a:bodyPr wrap="square">
            <a:spAutoFit/>
          </a:bodyPr>
          <a:lstStyle/>
          <a:p>
            <a:pPr algn="ctr"/>
            <a:r>
              <a:rPr lang="en-US" sz="3200" b="1" dirty="0">
                <a:solidFill>
                  <a:srgbClr val="FF0000"/>
                </a:solidFill>
                <a:latin typeface="Bookman Old Style" panose="02050604050505020204" pitchFamily="18" charset="0"/>
              </a:rPr>
              <a:t>Consequences of applying access modifiers on </a:t>
            </a:r>
          </a:p>
          <a:p>
            <a:pPr algn="ctr"/>
            <a:r>
              <a:rPr lang="en-US" sz="4000" b="1" dirty="0">
                <a:solidFill>
                  <a:srgbClr val="FF0000"/>
                </a:solidFill>
                <a:latin typeface="Bookman Old Style" panose="02050604050505020204" pitchFamily="18" charset="0"/>
              </a:rPr>
              <a:t>class</a:t>
            </a:r>
            <a:endParaRPr lang="en-US" sz="3200" b="1" dirty="0">
              <a:solidFill>
                <a:srgbClr val="FF0000"/>
              </a:solidFill>
              <a:latin typeface="Bookman Old Style" panose="02050604050505020204" pitchFamily="18" charset="0"/>
            </a:endParaRPr>
          </a:p>
          <a:p>
            <a:pPr algn="ctr"/>
            <a:r>
              <a:rPr lang="en-US" sz="3200" b="1" dirty="0">
                <a:solidFill>
                  <a:srgbClr val="FF0000"/>
                </a:solidFill>
                <a:latin typeface="Bookman Old Style" panose="02050604050505020204" pitchFamily="18" charset="0"/>
              </a:rPr>
              <a:t>-</a:t>
            </a:r>
          </a:p>
          <a:p>
            <a:pPr algn="ctr"/>
            <a:r>
              <a:rPr lang="en-US" sz="3200" b="1" dirty="0">
                <a:solidFill>
                  <a:srgbClr val="FF0000"/>
                </a:solidFill>
                <a:latin typeface="Bookman Old Style" panose="02050604050505020204" pitchFamily="18" charset="0"/>
              </a:rPr>
              <a:t>Part II</a:t>
            </a:r>
            <a:endParaRPr lang="en-US"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2080110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839924D7-FB68-4D19-BE04-017513C89C3A}"/>
              </a:ext>
            </a:extLst>
          </p:cNvPr>
          <p:cNvSpPr txBox="1"/>
          <p:nvPr/>
        </p:nvSpPr>
        <p:spPr>
          <a:xfrm>
            <a:off x="378794" y="695819"/>
            <a:ext cx="6261507" cy="1323439"/>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000" b="1" u="sng" dirty="0">
                <a:solidFill>
                  <a:srgbClr val="003F66"/>
                </a:solidFill>
                <a:latin typeface="Bookman Old Style" panose="02050604050505020204" pitchFamily="18" charset="0"/>
              </a:rPr>
              <a:t>abstract class example </a:t>
            </a:r>
            <a:r>
              <a:rPr lang="en-US" sz="1600" b="1" u="sng" dirty="0">
                <a:solidFill>
                  <a:srgbClr val="003F66"/>
                </a:solidFill>
                <a:latin typeface="Bookman Old Style" panose="02050604050505020204" pitchFamily="18" charset="0"/>
              </a:rPr>
              <a:t>(prevent instantiation)</a:t>
            </a:r>
            <a:r>
              <a:rPr lang="en-US" sz="2400" b="1" u="sng" dirty="0">
                <a:solidFill>
                  <a:srgbClr val="003F66"/>
                </a:solidFill>
                <a:latin typeface="Bookman Old Style" panose="02050604050505020204" pitchFamily="18" charset="0"/>
              </a:rPr>
              <a:t>:</a:t>
            </a:r>
            <a:endParaRPr lang="en-US" sz="1600" b="1" dirty="0">
              <a:solidFill>
                <a:srgbClr val="003F66"/>
              </a:solidFill>
              <a:latin typeface="Bookman Old Style" panose="02050604050505020204" pitchFamily="18" charset="0"/>
            </a:endParaRPr>
          </a:p>
        </p:txBody>
      </p:sp>
      <p:sp>
        <p:nvSpPr>
          <p:cNvPr id="27" name="TextBox 26">
            <a:extLst>
              <a:ext uri="{FF2B5EF4-FFF2-40B4-BE49-F238E27FC236}">
                <a16:creationId xmlns:a16="http://schemas.microsoft.com/office/drawing/2014/main" id="{F6F86721-F1EC-4211-81EA-A00F731BC5DF}"/>
              </a:ext>
            </a:extLst>
          </p:cNvPr>
          <p:cNvSpPr txBox="1"/>
          <p:nvPr/>
        </p:nvSpPr>
        <p:spPr>
          <a:xfrm>
            <a:off x="404029" y="2111003"/>
            <a:ext cx="7465671" cy="1754326"/>
          </a:xfrm>
          <a:prstGeom prst="rect">
            <a:avLst/>
          </a:prstGeom>
          <a:noFill/>
        </p:spPr>
        <p:txBody>
          <a:bodyPr wrap="square">
            <a:spAutoFit/>
          </a:bodyPr>
          <a:lstStyle/>
          <a:p>
            <a:pPr algn="just"/>
            <a:r>
              <a:rPr lang="en-US" sz="1800" dirty="0">
                <a:solidFill>
                  <a:srgbClr val="003F66"/>
                </a:solidFill>
                <a:latin typeface="Bookman Old Style" panose="02050604050505020204" pitchFamily="18" charset="0"/>
              </a:rPr>
              <a:t>public abstract class </a:t>
            </a:r>
            <a:r>
              <a:rPr lang="en-US" sz="1800" dirty="0" err="1">
                <a:solidFill>
                  <a:srgbClr val="003F66"/>
                </a:solidFill>
                <a:latin typeface="Bookman Old Style" panose="02050604050505020204" pitchFamily="18" charset="0"/>
              </a:rPr>
              <a:t>AbstractClass</a:t>
            </a:r>
            <a:r>
              <a:rPr lang="en-US" sz="1800" dirty="0">
                <a:solidFill>
                  <a:srgbClr val="003F66"/>
                </a:solidFill>
                <a:latin typeface="Bookman Old Style" panose="02050604050505020204" pitchFamily="18" charset="0"/>
              </a:rPr>
              <a:t> {</a:t>
            </a:r>
          </a:p>
          <a:p>
            <a:pPr algn="just"/>
            <a:r>
              <a:rPr lang="en-US" sz="1800" dirty="0">
                <a:solidFill>
                  <a:srgbClr val="003F66"/>
                </a:solidFill>
                <a:latin typeface="Bookman Old Style" panose="02050604050505020204" pitchFamily="18" charset="0"/>
              </a:rPr>
              <a:t>	abstract void m1(); // abstract methods</a:t>
            </a:r>
          </a:p>
          <a:p>
            <a:pPr algn="just"/>
            <a:r>
              <a:rPr lang="en-US" sz="1800" dirty="0">
                <a:solidFill>
                  <a:srgbClr val="003F66"/>
                </a:solidFill>
                <a:latin typeface="Bookman Old Style" panose="02050604050505020204" pitchFamily="18" charset="0"/>
              </a:rPr>
              <a:t>	abstract void m2(); // must be implemented in sub class</a:t>
            </a:r>
          </a:p>
          <a:p>
            <a:pPr algn="just"/>
            <a:r>
              <a:rPr lang="en-US" sz="1800" dirty="0">
                <a:solidFill>
                  <a:srgbClr val="003F66"/>
                </a:solidFill>
                <a:latin typeface="Bookman Old Style" panose="02050604050505020204" pitchFamily="18" charset="0"/>
              </a:rPr>
              <a:t>	void m3() {}</a:t>
            </a:r>
          </a:p>
          <a:p>
            <a:pPr algn="just"/>
            <a:r>
              <a:rPr lang="en-US" sz="1800" dirty="0">
                <a:solidFill>
                  <a:srgbClr val="003F66"/>
                </a:solidFill>
                <a:latin typeface="Bookman Old Style" panose="02050604050505020204" pitchFamily="18" charset="0"/>
              </a:rPr>
              <a:t>	void m4() {}</a:t>
            </a:r>
          </a:p>
          <a:p>
            <a:pPr algn="just"/>
            <a:r>
              <a:rPr lang="en-US" sz="1800" dirty="0">
                <a:solidFill>
                  <a:srgbClr val="003F66"/>
                </a:solidFill>
                <a:latin typeface="Bookman Old Style" panose="02050604050505020204" pitchFamily="18" charset="0"/>
              </a:rPr>
              <a:t>}</a:t>
            </a:r>
            <a:endParaRPr lang="en-IN" dirty="0"/>
          </a:p>
        </p:txBody>
      </p:sp>
      <p:sp>
        <p:nvSpPr>
          <p:cNvPr id="28" name="TextBox 27">
            <a:extLst>
              <a:ext uri="{FF2B5EF4-FFF2-40B4-BE49-F238E27FC236}">
                <a16:creationId xmlns:a16="http://schemas.microsoft.com/office/drawing/2014/main" id="{C66C4F40-09D7-4BA0-ABE0-DDA9B53CD42B}"/>
              </a:ext>
            </a:extLst>
          </p:cNvPr>
          <p:cNvSpPr txBox="1"/>
          <p:nvPr/>
        </p:nvSpPr>
        <p:spPr>
          <a:xfrm>
            <a:off x="378794" y="3834125"/>
            <a:ext cx="5689100" cy="1754326"/>
          </a:xfrm>
          <a:prstGeom prst="rect">
            <a:avLst/>
          </a:prstGeom>
          <a:noFill/>
        </p:spPr>
        <p:txBody>
          <a:bodyPr wrap="square">
            <a:spAutoFit/>
          </a:bodyPr>
          <a:lstStyle/>
          <a:p>
            <a:pPr algn="just"/>
            <a:r>
              <a:rPr lang="en-US" sz="1800" dirty="0">
                <a:solidFill>
                  <a:srgbClr val="003F66"/>
                </a:solidFill>
                <a:latin typeface="Bookman Old Style" panose="02050604050505020204" pitchFamily="18" charset="0"/>
              </a:rPr>
              <a:t>public class </a:t>
            </a:r>
            <a:r>
              <a:rPr lang="en-US" sz="1800" dirty="0" err="1">
                <a:solidFill>
                  <a:srgbClr val="003F66"/>
                </a:solidFill>
                <a:latin typeface="Bookman Old Style" panose="02050604050505020204" pitchFamily="18" charset="0"/>
              </a:rPr>
              <a:t>ACSubClass</a:t>
            </a:r>
            <a:r>
              <a:rPr lang="en-US" sz="1800" dirty="0">
                <a:solidFill>
                  <a:srgbClr val="003F66"/>
                </a:solidFill>
                <a:latin typeface="Bookman Old Style" panose="02050604050505020204" pitchFamily="18" charset="0"/>
              </a:rPr>
              <a:t> extends </a:t>
            </a:r>
            <a:r>
              <a:rPr lang="en-US" sz="1800" dirty="0" err="1">
                <a:solidFill>
                  <a:srgbClr val="003F66"/>
                </a:solidFill>
                <a:latin typeface="Bookman Old Style" panose="02050604050505020204" pitchFamily="18" charset="0"/>
              </a:rPr>
              <a:t>AbstractClass</a:t>
            </a:r>
            <a:r>
              <a:rPr lang="en-US" sz="1800" dirty="0">
                <a:solidFill>
                  <a:srgbClr val="003F66"/>
                </a:solidFill>
                <a:latin typeface="Bookman Old Style" panose="02050604050505020204" pitchFamily="18" charset="0"/>
              </a:rPr>
              <a:t> {</a:t>
            </a:r>
          </a:p>
          <a:p>
            <a:pPr algn="just"/>
            <a:r>
              <a:rPr lang="en-US" sz="1800" dirty="0">
                <a:solidFill>
                  <a:srgbClr val="003F66"/>
                </a:solidFill>
                <a:latin typeface="Bookman Old Style" panose="02050604050505020204" pitchFamily="18" charset="0"/>
              </a:rPr>
              <a:t>	void m1() {} // must to implement</a:t>
            </a:r>
          </a:p>
          <a:p>
            <a:pPr algn="just"/>
            <a:r>
              <a:rPr lang="en-US" sz="1800" dirty="0">
                <a:solidFill>
                  <a:srgbClr val="003F66"/>
                </a:solidFill>
                <a:latin typeface="Bookman Old Style" panose="02050604050505020204" pitchFamily="18" charset="0"/>
              </a:rPr>
              <a:t>	void m2() {} // must to implement</a:t>
            </a:r>
          </a:p>
          <a:p>
            <a:pPr algn="just"/>
            <a:r>
              <a:rPr lang="en-US" sz="1800" dirty="0">
                <a:solidFill>
                  <a:srgbClr val="003F66"/>
                </a:solidFill>
                <a:latin typeface="Bookman Old Style" panose="02050604050505020204" pitchFamily="18" charset="0"/>
              </a:rPr>
              <a:t>	void m3() {} // optionally we can override</a:t>
            </a:r>
          </a:p>
          <a:p>
            <a:pPr algn="just"/>
            <a:r>
              <a:rPr lang="en-US" dirty="0">
                <a:solidFill>
                  <a:srgbClr val="003F66"/>
                </a:solidFill>
                <a:latin typeface="Bookman Old Style" panose="02050604050505020204" pitchFamily="18" charset="0"/>
              </a:rPr>
              <a:t>	void m5() {} // can have own methods</a:t>
            </a:r>
            <a:endParaRPr lang="en-US" sz="1800" dirty="0">
              <a:solidFill>
                <a:srgbClr val="003F66"/>
              </a:solidFill>
              <a:latin typeface="Bookman Old Style" panose="02050604050505020204" pitchFamily="18" charset="0"/>
            </a:endParaRPr>
          </a:p>
          <a:p>
            <a:pPr algn="just"/>
            <a:r>
              <a:rPr lang="en-US" sz="1800" dirty="0">
                <a:solidFill>
                  <a:srgbClr val="003F66"/>
                </a:solidFill>
                <a:latin typeface="Bookman Old Style" panose="02050604050505020204" pitchFamily="18" charset="0"/>
              </a:rPr>
              <a:t>}</a:t>
            </a:r>
            <a:endParaRPr lang="en-IN" dirty="0"/>
          </a:p>
        </p:txBody>
      </p:sp>
      <p:sp>
        <p:nvSpPr>
          <p:cNvPr id="29" name="TextBox 28">
            <a:extLst>
              <a:ext uri="{FF2B5EF4-FFF2-40B4-BE49-F238E27FC236}">
                <a16:creationId xmlns:a16="http://schemas.microsoft.com/office/drawing/2014/main" id="{EB7134D1-FD83-472F-9673-F6BBA251F22F}"/>
              </a:ext>
            </a:extLst>
          </p:cNvPr>
          <p:cNvSpPr txBox="1"/>
          <p:nvPr/>
        </p:nvSpPr>
        <p:spPr>
          <a:xfrm>
            <a:off x="6838122" y="1037553"/>
            <a:ext cx="5009668" cy="2169825"/>
          </a:xfrm>
          <a:prstGeom prst="rect">
            <a:avLst/>
          </a:prstGeom>
          <a:noFill/>
        </p:spPr>
        <p:txBody>
          <a:bodyPr wrap="square">
            <a:spAutoFit/>
          </a:bodyPr>
          <a:lstStyle/>
          <a:p>
            <a:pPr algn="just"/>
            <a:r>
              <a:rPr lang="en-US" sz="1500" dirty="0">
                <a:solidFill>
                  <a:srgbClr val="003F66"/>
                </a:solidFill>
                <a:latin typeface="Bookman Old Style" panose="02050604050505020204" pitchFamily="18" charset="0"/>
              </a:rPr>
              <a:t>public class </a:t>
            </a:r>
            <a:r>
              <a:rPr lang="en-US" sz="1500" dirty="0" err="1">
                <a:solidFill>
                  <a:srgbClr val="003F66"/>
                </a:solidFill>
                <a:latin typeface="Bookman Old Style" panose="02050604050505020204" pitchFamily="18" charset="0"/>
              </a:rPr>
              <a:t>ACSCInstantiatedClass</a:t>
            </a:r>
            <a:r>
              <a:rPr lang="en-US" sz="1500" dirty="0">
                <a:solidFill>
                  <a:srgbClr val="003F66"/>
                </a:solidFill>
                <a:latin typeface="Bookman Old Style" panose="02050604050505020204" pitchFamily="18" charset="0"/>
              </a:rPr>
              <a:t>  {</a:t>
            </a:r>
          </a:p>
          <a:p>
            <a:pPr algn="just"/>
            <a:r>
              <a:rPr lang="en-US" sz="1500" dirty="0">
                <a:solidFill>
                  <a:srgbClr val="003F66"/>
                </a:solidFill>
                <a:latin typeface="Bookman Old Style" panose="02050604050505020204" pitchFamily="18" charset="0"/>
              </a:rPr>
              <a:t>	p s v main(String rags[]) {</a:t>
            </a:r>
          </a:p>
          <a:p>
            <a:pPr algn="just"/>
            <a:r>
              <a:rPr lang="en-US" sz="1500" dirty="0">
                <a:solidFill>
                  <a:srgbClr val="003F66"/>
                </a:solidFill>
                <a:latin typeface="Bookman Old Style" panose="02050604050505020204" pitchFamily="18" charset="0"/>
              </a:rPr>
              <a:t>	</a:t>
            </a:r>
            <a:r>
              <a:rPr lang="en-US" sz="1500" dirty="0" err="1">
                <a:solidFill>
                  <a:srgbClr val="003F66"/>
                </a:solidFill>
                <a:latin typeface="Bookman Old Style" panose="02050604050505020204" pitchFamily="18" charset="0"/>
              </a:rPr>
              <a:t>ACSubClass</a:t>
            </a:r>
            <a:r>
              <a:rPr lang="en-US" sz="1500" dirty="0">
                <a:solidFill>
                  <a:srgbClr val="003F66"/>
                </a:solidFill>
                <a:latin typeface="Bookman Old Style" panose="02050604050505020204" pitchFamily="18" charset="0"/>
              </a:rPr>
              <a:t> </a:t>
            </a:r>
            <a:r>
              <a:rPr lang="en-US" sz="1500" dirty="0" err="1">
                <a:solidFill>
                  <a:srgbClr val="003F66"/>
                </a:solidFill>
                <a:latin typeface="Bookman Old Style" panose="02050604050505020204" pitchFamily="18" charset="0"/>
              </a:rPr>
              <a:t>acsc</a:t>
            </a:r>
            <a:r>
              <a:rPr lang="en-US" sz="1500" dirty="0">
                <a:solidFill>
                  <a:srgbClr val="003F66"/>
                </a:solidFill>
                <a:latin typeface="Bookman Old Style" panose="02050604050505020204" pitchFamily="18" charset="0"/>
              </a:rPr>
              <a:t>=new </a:t>
            </a:r>
            <a:r>
              <a:rPr lang="en-US" sz="1500" dirty="0" err="1">
                <a:solidFill>
                  <a:srgbClr val="003F66"/>
                </a:solidFill>
                <a:latin typeface="Bookman Old Style" panose="02050604050505020204" pitchFamily="18" charset="0"/>
              </a:rPr>
              <a:t>ACSubClass</a:t>
            </a:r>
            <a:r>
              <a:rPr lang="en-US" sz="1500" dirty="0">
                <a:solidFill>
                  <a:srgbClr val="003F66"/>
                </a:solidFill>
                <a:latin typeface="Bookman Old Style" panose="02050604050505020204" pitchFamily="18" charset="0"/>
              </a:rPr>
              <a:t>();</a:t>
            </a:r>
          </a:p>
          <a:p>
            <a:pPr algn="just"/>
            <a:r>
              <a:rPr lang="en-US" sz="1500" dirty="0">
                <a:solidFill>
                  <a:srgbClr val="003F66"/>
                </a:solidFill>
                <a:latin typeface="Bookman Old Style" panose="02050604050505020204" pitchFamily="18" charset="0"/>
              </a:rPr>
              <a:t>	acsc.m1();</a:t>
            </a:r>
          </a:p>
          <a:p>
            <a:pPr algn="just"/>
            <a:r>
              <a:rPr lang="en-US" sz="1500" dirty="0">
                <a:solidFill>
                  <a:srgbClr val="003F66"/>
                </a:solidFill>
                <a:latin typeface="Bookman Old Style" panose="02050604050505020204" pitchFamily="18" charset="0"/>
              </a:rPr>
              <a:t>	acsc.m2();</a:t>
            </a:r>
          </a:p>
          <a:p>
            <a:pPr algn="just"/>
            <a:r>
              <a:rPr lang="en-US" sz="1500" dirty="0">
                <a:solidFill>
                  <a:srgbClr val="003F66"/>
                </a:solidFill>
                <a:latin typeface="Bookman Old Style" panose="02050604050505020204" pitchFamily="18" charset="0"/>
              </a:rPr>
              <a:t>	acsc.m3();</a:t>
            </a:r>
          </a:p>
          <a:p>
            <a:pPr algn="just"/>
            <a:r>
              <a:rPr lang="en-US" sz="1500" dirty="0">
                <a:solidFill>
                  <a:srgbClr val="003F66"/>
                </a:solidFill>
                <a:latin typeface="Bookman Old Style" panose="02050604050505020204" pitchFamily="18" charset="0"/>
              </a:rPr>
              <a:t>	acsc.m4();</a:t>
            </a:r>
          </a:p>
          <a:p>
            <a:pPr algn="just"/>
            <a:r>
              <a:rPr lang="en-US" sz="1500" dirty="0">
                <a:solidFill>
                  <a:srgbClr val="003F66"/>
                </a:solidFill>
                <a:latin typeface="Bookman Old Style" panose="02050604050505020204" pitchFamily="18" charset="0"/>
              </a:rPr>
              <a:t>	}</a:t>
            </a:r>
          </a:p>
          <a:p>
            <a:pPr algn="just"/>
            <a:r>
              <a:rPr lang="en-US" sz="1500" dirty="0">
                <a:solidFill>
                  <a:srgbClr val="003F66"/>
                </a:solidFill>
                <a:latin typeface="Bookman Old Style" panose="02050604050505020204" pitchFamily="18" charset="0"/>
              </a:rPr>
              <a:t>}</a:t>
            </a:r>
            <a:endParaRPr lang="en-IN" sz="1500" dirty="0"/>
          </a:p>
        </p:txBody>
      </p:sp>
      <p:sp>
        <p:nvSpPr>
          <p:cNvPr id="2" name="TextBox 1">
            <a:extLst>
              <a:ext uri="{FF2B5EF4-FFF2-40B4-BE49-F238E27FC236}">
                <a16:creationId xmlns:a16="http://schemas.microsoft.com/office/drawing/2014/main" id="{857BBB04-97BB-82E6-2B6F-5DBDD7FB5764}"/>
              </a:ext>
            </a:extLst>
          </p:cNvPr>
          <p:cNvSpPr txBox="1"/>
          <p:nvPr/>
        </p:nvSpPr>
        <p:spPr>
          <a:xfrm>
            <a:off x="3758166" y="5390147"/>
            <a:ext cx="5009667" cy="1231106"/>
          </a:xfrm>
          <a:prstGeom prst="rect">
            <a:avLst/>
          </a:prstGeom>
          <a:noFill/>
        </p:spPr>
        <p:txBody>
          <a:bodyPr wrap="square">
            <a:spAutoFit/>
          </a:bodyPr>
          <a:lstStyle/>
          <a:p>
            <a:r>
              <a:rPr lang="en-US" sz="1500" dirty="0">
                <a:solidFill>
                  <a:srgbClr val="003F66"/>
                </a:solidFill>
                <a:latin typeface="Bookman Old Style" panose="02050604050505020204" pitchFamily="18" charset="0"/>
              </a:rPr>
              <a:t>public class </a:t>
            </a:r>
            <a:r>
              <a:rPr lang="en-US" sz="1500" dirty="0" err="1">
                <a:solidFill>
                  <a:srgbClr val="003F66"/>
                </a:solidFill>
                <a:latin typeface="Bookman Old Style" panose="02050604050505020204" pitchFamily="18" charset="0"/>
              </a:rPr>
              <a:t>ACInstantiatedClass</a:t>
            </a:r>
            <a:r>
              <a:rPr lang="en-US" sz="1500" dirty="0">
                <a:solidFill>
                  <a:srgbClr val="003F66"/>
                </a:solidFill>
                <a:latin typeface="Bookman Old Style" panose="02050604050505020204" pitchFamily="18" charset="0"/>
              </a:rPr>
              <a:t>  {</a:t>
            </a:r>
          </a:p>
          <a:p>
            <a:r>
              <a:rPr lang="en-US" sz="1500" dirty="0">
                <a:solidFill>
                  <a:srgbClr val="003F66"/>
                </a:solidFill>
                <a:latin typeface="Bookman Old Style" panose="02050604050505020204" pitchFamily="18" charset="0"/>
              </a:rPr>
              <a:t>	p s v main(String rags[]) {</a:t>
            </a:r>
          </a:p>
          <a:p>
            <a:r>
              <a:rPr lang="en-US" sz="1400" dirty="0">
                <a:solidFill>
                  <a:srgbClr val="003F66"/>
                </a:solidFill>
                <a:latin typeface="Bookman Old Style" panose="02050604050505020204" pitchFamily="18" charset="0"/>
              </a:rPr>
              <a:t>	</a:t>
            </a:r>
            <a:r>
              <a:rPr lang="en-US" sz="1400" dirty="0" err="1">
                <a:solidFill>
                  <a:srgbClr val="003F66"/>
                </a:solidFill>
                <a:latin typeface="Bookman Old Style" panose="02050604050505020204" pitchFamily="18" charset="0"/>
              </a:rPr>
              <a:t>AbstractClass</a:t>
            </a:r>
            <a:r>
              <a:rPr lang="en-US" sz="1400" dirty="0">
                <a:solidFill>
                  <a:srgbClr val="003F66"/>
                </a:solidFill>
                <a:latin typeface="Bookman Old Style" panose="02050604050505020204" pitchFamily="18" charset="0"/>
              </a:rPr>
              <a:t> ac=new </a:t>
            </a:r>
            <a:r>
              <a:rPr lang="en-US" sz="1400" dirty="0" err="1">
                <a:solidFill>
                  <a:srgbClr val="003F66"/>
                </a:solidFill>
                <a:latin typeface="Bookman Old Style" panose="02050604050505020204" pitchFamily="18" charset="0"/>
              </a:rPr>
              <a:t>AbstractClass</a:t>
            </a:r>
            <a:r>
              <a:rPr lang="en-US" sz="1400" dirty="0">
                <a:solidFill>
                  <a:srgbClr val="003F66"/>
                </a:solidFill>
                <a:latin typeface="Bookman Old Style" panose="02050604050505020204" pitchFamily="18" charset="0"/>
              </a:rPr>
              <a:t>();</a:t>
            </a:r>
            <a:endParaRPr lang="en-US" sz="1500" dirty="0">
              <a:solidFill>
                <a:srgbClr val="003F66"/>
              </a:solidFill>
              <a:latin typeface="Bookman Old Style" panose="02050604050505020204" pitchFamily="18" charset="0"/>
            </a:endParaRPr>
          </a:p>
          <a:p>
            <a:r>
              <a:rPr lang="en-US" sz="1500" dirty="0">
                <a:solidFill>
                  <a:srgbClr val="003F66"/>
                </a:solidFill>
                <a:latin typeface="Bookman Old Style" panose="02050604050505020204" pitchFamily="18" charset="0"/>
              </a:rPr>
              <a:t>	}</a:t>
            </a:r>
          </a:p>
          <a:p>
            <a:r>
              <a:rPr lang="en-US" sz="1500" dirty="0">
                <a:solidFill>
                  <a:srgbClr val="003F66"/>
                </a:solidFill>
                <a:latin typeface="Bookman Old Style" panose="02050604050505020204" pitchFamily="18" charset="0"/>
              </a:rPr>
              <a:t>}</a:t>
            </a:r>
            <a:endParaRPr lang="en-IN" sz="1500" dirty="0"/>
          </a:p>
        </p:txBody>
      </p:sp>
      <p:pic>
        <p:nvPicPr>
          <p:cNvPr id="4" name="Graphic 3" descr="Close">
            <a:extLst>
              <a:ext uri="{FF2B5EF4-FFF2-40B4-BE49-F238E27FC236}">
                <a16:creationId xmlns:a16="http://schemas.microsoft.com/office/drawing/2014/main" id="{57548812-B262-A2B7-2C71-F22A2C70EB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0922" y="5820447"/>
            <a:ext cx="914400" cy="914400"/>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twoPt" dir="t"/>
          </a:scene3d>
          <a:sp3d prstMaterial="clear">
            <a:bevelT w="203200" h="50800" prst="softRound"/>
          </a:sp3d>
        </p:spPr>
      </p:pic>
      <p:pic>
        <p:nvPicPr>
          <p:cNvPr id="5" name="Graphic 4" descr="Checkmark">
            <a:extLst>
              <a:ext uri="{FF2B5EF4-FFF2-40B4-BE49-F238E27FC236}">
                <a16:creationId xmlns:a16="http://schemas.microsoft.com/office/drawing/2014/main" id="{CF876468-8FDC-D7EE-D47C-47C42622D1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7011" y="1462317"/>
            <a:ext cx="914400" cy="914400"/>
          </a:xfrm>
          <a:prstGeom prst="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Tree>
    <p:extLst>
      <p:ext uri="{BB962C8B-B14F-4D97-AF65-F5344CB8AC3E}">
        <p14:creationId xmlns:p14="http://schemas.microsoft.com/office/powerpoint/2010/main" val="122242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D0CC9878-A90B-4CC2-99E5-81F774F02177}"/>
              </a:ext>
            </a:extLst>
          </p:cNvPr>
          <p:cNvSpPr txBox="1"/>
          <p:nvPr/>
        </p:nvSpPr>
        <p:spPr>
          <a:xfrm>
            <a:off x="322730" y="1233699"/>
            <a:ext cx="9165538" cy="4924425"/>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 </a:t>
            </a:r>
            <a:r>
              <a:rPr lang="en-US" sz="2400" b="1" dirty="0">
                <a:solidFill>
                  <a:srgbClr val="003F66"/>
                </a:solidFill>
                <a:latin typeface="Bookman Old Style" panose="02050604050505020204" pitchFamily="18" charset="0"/>
              </a:rPr>
              <a:t>(prevent instantiation)</a:t>
            </a:r>
            <a:endParaRPr lang="en-US" sz="2800" b="1" dirty="0">
              <a:solidFill>
                <a:srgbClr val="003F66"/>
              </a:solidFill>
              <a:latin typeface="Bookman Old Style" panose="02050604050505020204" pitchFamily="18" charset="0"/>
            </a:endParaRP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Imp points about abstract class:</a:t>
            </a:r>
          </a:p>
          <a:p>
            <a:pPr algn="just"/>
            <a:r>
              <a:rPr lang="en-US" b="1" dirty="0">
                <a:solidFill>
                  <a:srgbClr val="003F66"/>
                </a:solidFill>
                <a:latin typeface="Bookman Old Style" panose="02050604050505020204" pitchFamily="18" charset="0"/>
              </a:rPr>
              <a:t>What happens if class is declared as abstract?</a:t>
            </a:r>
          </a:p>
          <a:p>
            <a:pPr algn="just"/>
            <a:r>
              <a:rPr lang="en-US" dirty="0">
                <a:solidFill>
                  <a:srgbClr val="003F66"/>
                </a:solidFill>
                <a:latin typeface="Bookman Old Style" panose="02050604050505020204" pitchFamily="18" charset="0"/>
              </a:rPr>
              <a:t>abstract class cannot be instantiated. It can be only inherited. Inherited sub class must implement all the super class abstract methods.</a:t>
            </a:r>
          </a:p>
          <a:p>
            <a:pPr algn="just"/>
            <a:endParaRPr lang="en-US" b="1" dirty="0">
              <a:solidFill>
                <a:srgbClr val="003F66"/>
              </a:solidFill>
              <a:latin typeface="Bookman Old Style" panose="02050604050505020204" pitchFamily="18" charset="0"/>
            </a:endParaRPr>
          </a:p>
          <a:p>
            <a:pPr algn="just"/>
            <a:r>
              <a:rPr lang="en-US" b="1" dirty="0">
                <a:solidFill>
                  <a:srgbClr val="003F66"/>
                </a:solidFill>
                <a:latin typeface="Bookman Old Style" panose="02050604050505020204" pitchFamily="18" charset="0"/>
              </a:rPr>
              <a:t>Is it mandatory that abstract class must contain abstract methods?</a:t>
            </a:r>
          </a:p>
          <a:p>
            <a:pPr algn="just"/>
            <a:r>
              <a:rPr lang="en-US" dirty="0">
                <a:solidFill>
                  <a:srgbClr val="003F66"/>
                </a:solidFill>
                <a:latin typeface="Bookman Old Style" panose="02050604050505020204" pitchFamily="18" charset="0"/>
              </a:rPr>
              <a:t>No need. Without abstract methods also sometimes class can be declared as abstract.</a:t>
            </a:r>
          </a:p>
          <a:p>
            <a:pPr algn="just"/>
            <a:endParaRPr lang="en-US" b="1" dirty="0">
              <a:solidFill>
                <a:srgbClr val="003F66"/>
              </a:solidFill>
              <a:latin typeface="Bookman Old Style" panose="02050604050505020204" pitchFamily="18" charset="0"/>
            </a:endParaRPr>
          </a:p>
          <a:p>
            <a:pPr algn="just"/>
            <a:r>
              <a:rPr lang="en-US" b="1" dirty="0">
                <a:solidFill>
                  <a:srgbClr val="003F66"/>
                </a:solidFill>
                <a:latin typeface="Bookman Old Style" panose="02050604050505020204" pitchFamily="18" charset="0"/>
              </a:rPr>
              <a:t>Then without abstract methods why a class need to be declared as abstract?</a:t>
            </a:r>
          </a:p>
          <a:p>
            <a:pPr algn="just"/>
            <a:r>
              <a:rPr lang="en-US" dirty="0">
                <a:solidFill>
                  <a:srgbClr val="003F66"/>
                </a:solidFill>
                <a:latin typeface="Bookman Old Style" panose="02050604050505020204" pitchFamily="18" charset="0"/>
              </a:rPr>
              <a:t>Most generic classes who provide common functionality are declared as abstract class. Such class don’t want to be instantiated directly. They allow their methods to be called via sub class objects.</a:t>
            </a:r>
          </a:p>
        </p:txBody>
      </p:sp>
    </p:spTree>
    <p:extLst>
      <p:ext uri="{BB962C8B-B14F-4D97-AF65-F5344CB8AC3E}">
        <p14:creationId xmlns:p14="http://schemas.microsoft.com/office/powerpoint/2010/main" val="989889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1F9942A0-09B7-426E-9EB9-F01B9BC43F9C}"/>
              </a:ext>
            </a:extLst>
          </p:cNvPr>
          <p:cNvSpPr txBox="1"/>
          <p:nvPr/>
        </p:nvSpPr>
        <p:spPr>
          <a:xfrm>
            <a:off x="675860" y="1233699"/>
            <a:ext cx="8611151" cy="2308324"/>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final:</a:t>
            </a:r>
            <a:r>
              <a:rPr lang="en-US" sz="2400" b="1" dirty="0">
                <a:solidFill>
                  <a:srgbClr val="003F66"/>
                </a:solidFill>
                <a:latin typeface="Bookman Old Style" panose="02050604050505020204" pitchFamily="18" charset="0"/>
              </a:rPr>
              <a:t> </a:t>
            </a:r>
            <a:endParaRPr lang="en-US" sz="1600" b="1"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final is opposite to abstract. </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final class cannot be inherited, it can be only instantiated. </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That means no sub classes exist for final class.</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Mostly constant variables are declared in final class or in interface.</a:t>
            </a:r>
          </a:p>
        </p:txBody>
      </p:sp>
      <p:sp>
        <p:nvSpPr>
          <p:cNvPr id="27" name="TextBox 26">
            <a:extLst>
              <a:ext uri="{FF2B5EF4-FFF2-40B4-BE49-F238E27FC236}">
                <a16:creationId xmlns:a16="http://schemas.microsoft.com/office/drawing/2014/main" id="{7754C085-0B3E-4921-8DA3-2F233D3FC3C2}"/>
              </a:ext>
            </a:extLst>
          </p:cNvPr>
          <p:cNvSpPr txBox="1"/>
          <p:nvPr/>
        </p:nvSpPr>
        <p:spPr>
          <a:xfrm>
            <a:off x="778562" y="4075908"/>
            <a:ext cx="2985055" cy="1477328"/>
          </a:xfrm>
          <a:prstGeom prst="rect">
            <a:avLst/>
          </a:prstGeom>
          <a:noFill/>
        </p:spPr>
        <p:txBody>
          <a:bodyPr wrap="square">
            <a:spAutoFit/>
          </a:bodyPr>
          <a:lstStyle/>
          <a:p>
            <a:r>
              <a:rPr lang="en-IN" dirty="0"/>
              <a:t>public final class </a:t>
            </a:r>
            <a:r>
              <a:rPr lang="en-IN" dirty="0" err="1"/>
              <a:t>FinalClass</a:t>
            </a:r>
            <a:r>
              <a:rPr lang="en-IN" dirty="0"/>
              <a:t> { </a:t>
            </a:r>
          </a:p>
          <a:p>
            <a:r>
              <a:rPr lang="en-IN" dirty="0"/>
              <a:t>	void m1() { }  </a:t>
            </a:r>
          </a:p>
          <a:p>
            <a:r>
              <a:rPr lang="en-IN" dirty="0"/>
              <a:t>	void m2() { }</a:t>
            </a:r>
          </a:p>
          <a:p>
            <a:r>
              <a:rPr lang="en-IN" dirty="0"/>
              <a:t>	void m3() { }</a:t>
            </a:r>
          </a:p>
          <a:p>
            <a:r>
              <a:rPr lang="en-IN" dirty="0"/>
              <a:t>}</a:t>
            </a:r>
          </a:p>
        </p:txBody>
      </p:sp>
      <p:sp>
        <p:nvSpPr>
          <p:cNvPr id="28" name="TextBox 27">
            <a:extLst>
              <a:ext uri="{FF2B5EF4-FFF2-40B4-BE49-F238E27FC236}">
                <a16:creationId xmlns:a16="http://schemas.microsoft.com/office/drawing/2014/main" id="{171A9E60-E0EB-40A8-9F96-6E191CF05E15}"/>
              </a:ext>
            </a:extLst>
          </p:cNvPr>
          <p:cNvSpPr txBox="1"/>
          <p:nvPr/>
        </p:nvSpPr>
        <p:spPr>
          <a:xfrm>
            <a:off x="7950536" y="1405615"/>
            <a:ext cx="4003895" cy="2308324"/>
          </a:xfrm>
          <a:prstGeom prst="rect">
            <a:avLst/>
          </a:prstGeom>
          <a:noFill/>
        </p:spPr>
        <p:txBody>
          <a:bodyPr wrap="square">
            <a:spAutoFit/>
          </a:bodyPr>
          <a:lstStyle/>
          <a:p>
            <a:r>
              <a:rPr lang="en-IN" dirty="0"/>
              <a:t>public class FCIC {</a:t>
            </a:r>
          </a:p>
          <a:p>
            <a:r>
              <a:rPr lang="en-IN" dirty="0"/>
              <a:t>	p s v main(String rags[]) {</a:t>
            </a:r>
          </a:p>
          <a:p>
            <a:r>
              <a:rPr lang="en-IN" dirty="0"/>
              <a:t>	</a:t>
            </a:r>
            <a:r>
              <a:rPr lang="en-IN" dirty="0" err="1"/>
              <a:t>FinalClass</a:t>
            </a:r>
            <a:r>
              <a:rPr lang="en-IN" dirty="0"/>
              <a:t> fc=new </a:t>
            </a:r>
            <a:r>
              <a:rPr lang="en-IN" dirty="0" err="1"/>
              <a:t>FinalClass</a:t>
            </a:r>
            <a:r>
              <a:rPr lang="en-IN" dirty="0"/>
              <a:t>();</a:t>
            </a:r>
          </a:p>
          <a:p>
            <a:r>
              <a:rPr lang="en-IN" dirty="0"/>
              <a:t>	fc.m1();</a:t>
            </a:r>
          </a:p>
          <a:p>
            <a:r>
              <a:rPr lang="en-IN" dirty="0"/>
              <a:t>	fc.m2();</a:t>
            </a:r>
          </a:p>
          <a:p>
            <a:r>
              <a:rPr lang="en-IN" dirty="0"/>
              <a:t>	fc.m3();</a:t>
            </a:r>
          </a:p>
          <a:p>
            <a:r>
              <a:rPr lang="en-IN" dirty="0"/>
              <a:t>	} </a:t>
            </a:r>
          </a:p>
          <a:p>
            <a:r>
              <a:rPr lang="en-IN" dirty="0"/>
              <a:t>}</a:t>
            </a:r>
          </a:p>
        </p:txBody>
      </p:sp>
      <p:sp>
        <p:nvSpPr>
          <p:cNvPr id="30" name="TextBox 29">
            <a:extLst>
              <a:ext uri="{FF2B5EF4-FFF2-40B4-BE49-F238E27FC236}">
                <a16:creationId xmlns:a16="http://schemas.microsoft.com/office/drawing/2014/main" id="{8F57C76E-9E61-43E3-A171-28D3610FA6D1}"/>
              </a:ext>
            </a:extLst>
          </p:cNvPr>
          <p:cNvSpPr txBox="1"/>
          <p:nvPr/>
        </p:nvSpPr>
        <p:spPr>
          <a:xfrm>
            <a:off x="3660916" y="4917424"/>
            <a:ext cx="3614527" cy="646331"/>
          </a:xfrm>
          <a:prstGeom prst="rect">
            <a:avLst/>
          </a:prstGeom>
          <a:noFill/>
        </p:spPr>
        <p:txBody>
          <a:bodyPr wrap="square">
            <a:spAutoFit/>
          </a:bodyPr>
          <a:lstStyle/>
          <a:p>
            <a:r>
              <a:rPr lang="en-IN" dirty="0"/>
              <a:t>public class FCSC extends </a:t>
            </a:r>
            <a:r>
              <a:rPr lang="en-IN" dirty="0" err="1"/>
              <a:t>FinalClass</a:t>
            </a:r>
            <a:r>
              <a:rPr lang="en-IN" dirty="0"/>
              <a:t> { </a:t>
            </a:r>
          </a:p>
          <a:p>
            <a:r>
              <a:rPr lang="en-IN" dirty="0"/>
              <a:t>}</a:t>
            </a:r>
          </a:p>
        </p:txBody>
      </p:sp>
      <p:cxnSp>
        <p:nvCxnSpPr>
          <p:cNvPr id="33" name="Straight Arrow Connector 32">
            <a:extLst>
              <a:ext uri="{FF2B5EF4-FFF2-40B4-BE49-F238E27FC236}">
                <a16:creationId xmlns:a16="http://schemas.microsoft.com/office/drawing/2014/main" id="{1B652F0B-DE0B-43AE-8F67-0BD0BFA8C79A}"/>
              </a:ext>
            </a:extLst>
          </p:cNvPr>
          <p:cNvCxnSpPr>
            <a:cxnSpLocks/>
          </p:cNvCxnSpPr>
          <p:nvPr/>
        </p:nvCxnSpPr>
        <p:spPr>
          <a:xfrm>
            <a:off x="3591339" y="3255858"/>
            <a:ext cx="1390096" cy="1597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09B9E97-6B99-4375-B405-C30D596B94E4}"/>
              </a:ext>
            </a:extLst>
          </p:cNvPr>
          <p:cNvCxnSpPr>
            <a:cxnSpLocks/>
          </p:cNvCxnSpPr>
          <p:nvPr/>
        </p:nvCxnSpPr>
        <p:spPr>
          <a:xfrm flipV="1">
            <a:off x="6150140" y="2259106"/>
            <a:ext cx="2630789" cy="6362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5" name="Graphic 4" descr="Close">
            <a:extLst>
              <a:ext uri="{FF2B5EF4-FFF2-40B4-BE49-F238E27FC236}">
                <a16:creationId xmlns:a16="http://schemas.microsoft.com/office/drawing/2014/main" id="{09DFF881-52F8-06AE-0A92-E770E6AA23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29705" y="4719141"/>
            <a:ext cx="914400" cy="914400"/>
          </a:xfrm>
          <a:prstGeom prst="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
        <p:nvSpPr>
          <p:cNvPr id="7" name="TextBox 6">
            <a:extLst>
              <a:ext uri="{FF2B5EF4-FFF2-40B4-BE49-F238E27FC236}">
                <a16:creationId xmlns:a16="http://schemas.microsoft.com/office/drawing/2014/main" id="{9A31CECC-FF23-60C7-5D8D-754C6AA98E7A}"/>
              </a:ext>
            </a:extLst>
          </p:cNvPr>
          <p:cNvSpPr txBox="1"/>
          <p:nvPr/>
        </p:nvSpPr>
        <p:spPr>
          <a:xfrm>
            <a:off x="1640002" y="1942898"/>
            <a:ext cx="2851316" cy="369332"/>
          </a:xfrm>
          <a:prstGeom prst="rect">
            <a:avLst/>
          </a:prstGeom>
          <a:noFill/>
        </p:spPr>
        <p:txBody>
          <a:bodyPr wrap="square">
            <a:spAutoFit/>
          </a:bodyPr>
          <a:lstStyle/>
          <a:p>
            <a:r>
              <a:rPr lang="en-US" sz="1800" b="1" dirty="0">
                <a:solidFill>
                  <a:srgbClr val="003F66"/>
                </a:solidFill>
                <a:latin typeface="Bookman Old Style" panose="02050604050505020204" pitchFamily="18" charset="0"/>
              </a:rPr>
              <a:t>(prevent inheritance)</a:t>
            </a:r>
            <a:endParaRPr lang="en-IN" dirty="0"/>
          </a:p>
        </p:txBody>
      </p:sp>
      <p:sp>
        <p:nvSpPr>
          <p:cNvPr id="8" name="TextBox 7">
            <a:extLst>
              <a:ext uri="{FF2B5EF4-FFF2-40B4-BE49-F238E27FC236}">
                <a16:creationId xmlns:a16="http://schemas.microsoft.com/office/drawing/2014/main" id="{DF04F57A-FE27-A5E0-33CB-C12AE9B76EAB}"/>
              </a:ext>
            </a:extLst>
          </p:cNvPr>
          <p:cNvSpPr txBox="1"/>
          <p:nvPr/>
        </p:nvSpPr>
        <p:spPr>
          <a:xfrm>
            <a:off x="4286386" y="2053551"/>
            <a:ext cx="4212155" cy="523220"/>
          </a:xfrm>
          <a:prstGeom prst="rect">
            <a:avLst/>
          </a:prstGeom>
          <a:noFill/>
        </p:spPr>
        <p:txBody>
          <a:bodyPr wrap="square">
            <a:spAutoFit/>
          </a:bodyPr>
          <a:lstStyle/>
          <a:p>
            <a:r>
              <a:rPr lang="en-US" sz="1400" b="1" dirty="0">
                <a:solidFill>
                  <a:srgbClr val="003F66"/>
                </a:solidFill>
                <a:latin typeface="Bookman Old Style" panose="02050604050505020204" pitchFamily="18" charset="0"/>
              </a:rPr>
              <a:t>(immutable class – class whose methods don not want to be overridden)</a:t>
            </a:r>
            <a:endParaRPr lang="en-IN" sz="1400" dirty="0"/>
          </a:p>
        </p:txBody>
      </p:sp>
      <p:sp>
        <p:nvSpPr>
          <p:cNvPr id="2" name="TextBox 1">
            <a:extLst>
              <a:ext uri="{FF2B5EF4-FFF2-40B4-BE49-F238E27FC236}">
                <a16:creationId xmlns:a16="http://schemas.microsoft.com/office/drawing/2014/main" id="{DF6A8C24-717E-A658-98D1-CF0139966B6B}"/>
              </a:ext>
            </a:extLst>
          </p:cNvPr>
          <p:cNvSpPr txBox="1"/>
          <p:nvPr/>
        </p:nvSpPr>
        <p:spPr>
          <a:xfrm>
            <a:off x="1644485" y="2202874"/>
            <a:ext cx="2851316" cy="369332"/>
          </a:xfrm>
          <a:prstGeom prst="rect">
            <a:avLst/>
          </a:prstGeom>
          <a:noFill/>
        </p:spPr>
        <p:txBody>
          <a:bodyPr wrap="square">
            <a:spAutoFit/>
          </a:bodyPr>
          <a:lstStyle/>
          <a:p>
            <a:r>
              <a:rPr lang="en-US" sz="1800" b="1" dirty="0">
                <a:solidFill>
                  <a:srgbClr val="003F66"/>
                </a:solidFill>
                <a:latin typeface="Bookman Old Style" panose="02050604050505020204" pitchFamily="18" charset="0"/>
              </a:rPr>
              <a:t>(immutable class)</a:t>
            </a:r>
            <a:endParaRPr lang="en-IN" dirty="0"/>
          </a:p>
        </p:txBody>
      </p:sp>
    </p:spTree>
    <p:extLst>
      <p:ext uri="{BB962C8B-B14F-4D97-AF65-F5344CB8AC3E}">
        <p14:creationId xmlns:p14="http://schemas.microsoft.com/office/powerpoint/2010/main" val="1985123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35" name="TextBox 34">
            <a:extLst>
              <a:ext uri="{FF2B5EF4-FFF2-40B4-BE49-F238E27FC236}">
                <a16:creationId xmlns:a16="http://schemas.microsoft.com/office/drawing/2014/main" id="{DA628801-FED5-4A91-AC72-BC09EDF1505E}"/>
              </a:ext>
            </a:extLst>
          </p:cNvPr>
          <p:cNvSpPr txBox="1"/>
          <p:nvPr/>
        </p:nvSpPr>
        <p:spPr>
          <a:xfrm>
            <a:off x="675861" y="1233699"/>
            <a:ext cx="5294634" cy="3293209"/>
          </a:xfrm>
          <a:prstGeom prst="rect">
            <a:avLst/>
          </a:prstGeom>
          <a:noFill/>
        </p:spPr>
        <p:txBody>
          <a:bodyPr wrap="square">
            <a:spAutoFit/>
          </a:bodyPr>
          <a:lstStyle/>
          <a:p>
            <a:pPr algn="just"/>
            <a:r>
              <a:rPr lang="en-US" sz="2800" b="1" u="sng" dirty="0">
                <a:solidFill>
                  <a:srgbClr val="003F66"/>
                </a:solidFill>
                <a:latin typeface="Bookman Old Style" panose="02050604050505020204" pitchFamily="18" charset="0"/>
              </a:rPr>
              <a:t>Some final classes in Java:</a:t>
            </a:r>
          </a:p>
          <a:p>
            <a:pPr algn="just"/>
            <a:r>
              <a:rPr lang="en-US" sz="2000" dirty="0">
                <a:solidFill>
                  <a:srgbClr val="003F66"/>
                </a:solidFill>
                <a:latin typeface="Bookman Old Style" panose="02050604050505020204" pitchFamily="18" charset="0"/>
              </a:rPr>
              <a:t>In Java all wrapper classes are final.</a:t>
            </a: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java.lang.String</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java.lang.StringBuffer</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java.lang.StringBuilder</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java.lang.Integer</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java.lang.Double</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java.lang.Long</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java.lang.Boolean</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java.lang.Character</a:t>
            </a:r>
            <a:endParaRPr lang="en-US" sz="2000" dirty="0">
              <a:solidFill>
                <a:srgbClr val="003F66"/>
              </a:solidFill>
              <a:latin typeface="Bookman Old Style" panose="02050604050505020204" pitchFamily="18" charset="0"/>
            </a:endParaRPr>
          </a:p>
        </p:txBody>
      </p:sp>
    </p:spTree>
    <p:extLst>
      <p:ext uri="{BB962C8B-B14F-4D97-AF65-F5344CB8AC3E}">
        <p14:creationId xmlns:p14="http://schemas.microsoft.com/office/powerpoint/2010/main" val="201806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35" name="TextBox 34">
            <a:extLst>
              <a:ext uri="{FF2B5EF4-FFF2-40B4-BE49-F238E27FC236}">
                <a16:creationId xmlns:a16="http://schemas.microsoft.com/office/drawing/2014/main" id="{DA628801-FED5-4A91-AC72-BC09EDF1505E}"/>
              </a:ext>
            </a:extLst>
          </p:cNvPr>
          <p:cNvSpPr txBox="1"/>
          <p:nvPr/>
        </p:nvSpPr>
        <p:spPr>
          <a:xfrm>
            <a:off x="675860" y="1233699"/>
            <a:ext cx="8812407" cy="3908762"/>
          </a:xfrm>
          <a:prstGeom prst="rect">
            <a:avLst/>
          </a:prstGeom>
          <a:noFill/>
        </p:spPr>
        <p:txBody>
          <a:bodyPr wrap="square">
            <a:spAutoFit/>
          </a:bodyPr>
          <a:lstStyle/>
          <a:p>
            <a:pPr algn="just"/>
            <a:r>
              <a:rPr lang="en-US" sz="2800" b="1" u="sng" dirty="0">
                <a:solidFill>
                  <a:srgbClr val="003F66"/>
                </a:solidFill>
                <a:latin typeface="Bookman Old Style" panose="02050604050505020204" pitchFamily="18" charset="0"/>
              </a:rPr>
              <a:t>final classes for some reasons:</a:t>
            </a:r>
          </a:p>
          <a:p>
            <a:pPr marL="342900"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Standardization: </a:t>
            </a:r>
            <a:r>
              <a:rPr lang="en-US" sz="2000" dirty="0">
                <a:solidFill>
                  <a:srgbClr val="003F66"/>
                </a:solidFill>
                <a:latin typeface="Bookman Old Style" panose="02050604050505020204" pitchFamily="18" charset="0"/>
              </a:rPr>
              <a:t>Some class implements standard methods which are not meant to be modified.</a:t>
            </a:r>
          </a:p>
          <a:p>
            <a:pPr marL="342900"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Security Reasons: </a:t>
            </a:r>
            <a:r>
              <a:rPr lang="en-US" sz="2000" dirty="0">
                <a:solidFill>
                  <a:srgbClr val="003F66"/>
                </a:solidFill>
                <a:latin typeface="Bookman Old Style" panose="02050604050505020204" pitchFamily="18" charset="0"/>
              </a:rPr>
              <a:t>Sometimes a class performs </a:t>
            </a:r>
          </a:p>
          <a:p>
            <a:pPr marL="342900" indent="-342900" algn="just">
              <a:buFont typeface="Wingdings" panose="05000000000000000000" pitchFamily="2" charset="2"/>
              <a:buChar char="Ø"/>
            </a:pPr>
            <a:r>
              <a:rPr lang="en-US" sz="2000" dirty="0">
                <a:solidFill>
                  <a:srgbClr val="003F66"/>
                </a:solidFill>
                <a:latin typeface="Bookman Old Style" panose="02050604050505020204" pitchFamily="18" charset="0"/>
              </a:rPr>
              <a:t>For example</a:t>
            </a:r>
          </a:p>
          <a:p>
            <a:pPr marL="800100" lvl="1" indent="-342900" algn="just">
              <a:buFont typeface="Wingdings" panose="05000000000000000000" pitchFamily="2" charset="2"/>
              <a:buChar char="ü"/>
            </a:pPr>
            <a:r>
              <a:rPr lang="en-US" sz="2000" dirty="0">
                <a:solidFill>
                  <a:srgbClr val="FF0000"/>
                </a:solidFill>
                <a:latin typeface="Bookman Old Style" panose="02050604050505020204" pitchFamily="18" charset="0"/>
              </a:rPr>
              <a:t>Authentication and authorization related operations</a:t>
            </a:r>
          </a:p>
          <a:p>
            <a:pPr marL="800100" lvl="1" indent="-342900" algn="just">
              <a:buFont typeface="Wingdings" panose="05000000000000000000" pitchFamily="2" charset="2"/>
              <a:buChar char="ü"/>
            </a:pPr>
            <a:r>
              <a:rPr lang="en-US" sz="2000" dirty="0">
                <a:solidFill>
                  <a:srgbClr val="FF0000"/>
                </a:solidFill>
                <a:latin typeface="Bookman Old Style" panose="02050604050505020204" pitchFamily="18" charset="0"/>
              </a:rPr>
              <a:t>Standard GST calculations irrespective of the state on different commodities.</a:t>
            </a:r>
          </a:p>
          <a:p>
            <a:pPr marL="800100" lvl="1" indent="-342900" algn="just">
              <a:buFont typeface="Wingdings" panose="05000000000000000000" pitchFamily="2" charset="2"/>
              <a:buChar char="ü"/>
            </a:pPr>
            <a:r>
              <a:rPr lang="en-US" sz="2000" dirty="0">
                <a:solidFill>
                  <a:srgbClr val="FF0000"/>
                </a:solidFill>
                <a:latin typeface="Bookman Old Style" panose="02050604050505020204" pitchFamily="18" charset="0"/>
              </a:rPr>
              <a:t>Companies implements standard salary calculation for different department employees or designation of employees.</a:t>
            </a:r>
          </a:p>
          <a:p>
            <a:pPr marL="800100" lvl="1" indent="-342900" algn="just">
              <a:buFont typeface="Wingdings" panose="05000000000000000000" pitchFamily="2" charset="2"/>
              <a:buChar char="ü"/>
            </a:pPr>
            <a:r>
              <a:rPr lang="en-US" sz="2000" dirty="0">
                <a:solidFill>
                  <a:srgbClr val="FF0000"/>
                </a:solidFill>
                <a:latin typeface="Bookman Old Style" panose="02050604050505020204" pitchFamily="18" charset="0"/>
              </a:rPr>
              <a:t>String and Math operations are standard that don’t want to be changed.</a:t>
            </a:r>
          </a:p>
        </p:txBody>
      </p:sp>
    </p:spTree>
    <p:extLst>
      <p:ext uri="{BB962C8B-B14F-4D97-AF65-F5344CB8AC3E}">
        <p14:creationId xmlns:p14="http://schemas.microsoft.com/office/powerpoint/2010/main" val="4220872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390A3F5A-F487-4949-98E8-96CA578C5358}"/>
              </a:ext>
            </a:extLst>
          </p:cNvPr>
          <p:cNvSpPr txBox="1"/>
          <p:nvPr/>
        </p:nvSpPr>
        <p:spPr>
          <a:xfrm>
            <a:off x="675861" y="1233699"/>
            <a:ext cx="4638262" cy="523220"/>
          </a:xfrm>
          <a:prstGeom prst="rect">
            <a:avLst/>
          </a:prstGeom>
          <a:noFill/>
        </p:spPr>
        <p:txBody>
          <a:bodyPr wrap="square">
            <a:spAutoFit/>
          </a:bodyPr>
          <a:lstStyle/>
          <a:p>
            <a:pPr algn="just"/>
            <a:r>
              <a:rPr lang="en-US" sz="2800" b="1" u="sng" dirty="0">
                <a:solidFill>
                  <a:srgbClr val="003F66"/>
                </a:solidFill>
                <a:latin typeface="Bookman Old Style" panose="02050604050505020204" pitchFamily="18" charset="0"/>
              </a:rPr>
              <a:t>non final class example:</a:t>
            </a:r>
          </a:p>
        </p:txBody>
      </p:sp>
      <p:sp>
        <p:nvSpPr>
          <p:cNvPr id="26" name="TextBox 25">
            <a:extLst>
              <a:ext uri="{FF2B5EF4-FFF2-40B4-BE49-F238E27FC236}">
                <a16:creationId xmlns:a16="http://schemas.microsoft.com/office/drawing/2014/main" id="{F728601A-60F1-4842-9B46-C4E95715CE71}"/>
              </a:ext>
            </a:extLst>
          </p:cNvPr>
          <p:cNvSpPr txBox="1"/>
          <p:nvPr/>
        </p:nvSpPr>
        <p:spPr>
          <a:xfrm>
            <a:off x="614918" y="2041964"/>
            <a:ext cx="2918791" cy="1754326"/>
          </a:xfrm>
          <a:prstGeom prst="rect">
            <a:avLst/>
          </a:prstGeom>
          <a:noFill/>
        </p:spPr>
        <p:txBody>
          <a:bodyPr wrap="square">
            <a:spAutoFit/>
          </a:bodyPr>
          <a:lstStyle/>
          <a:p>
            <a:r>
              <a:rPr lang="en-IN" dirty="0"/>
              <a:t>class </a:t>
            </a:r>
            <a:r>
              <a:rPr lang="en-IN" dirty="0" err="1"/>
              <a:t>NonFinalClass</a:t>
            </a:r>
            <a:r>
              <a:rPr lang="en-IN" dirty="0"/>
              <a:t> {</a:t>
            </a:r>
          </a:p>
          <a:p>
            <a:r>
              <a:rPr lang="en-IN" dirty="0"/>
              <a:t>	void m1() {}</a:t>
            </a:r>
          </a:p>
          <a:p>
            <a:r>
              <a:rPr lang="en-IN" dirty="0"/>
              <a:t>	void m2() {}</a:t>
            </a:r>
          </a:p>
          <a:p>
            <a:r>
              <a:rPr lang="en-IN" dirty="0"/>
              <a:t>	final void m3() {}</a:t>
            </a:r>
          </a:p>
          <a:p>
            <a:r>
              <a:rPr lang="en-IN" dirty="0"/>
              <a:t>	final void m4() {}</a:t>
            </a:r>
          </a:p>
          <a:p>
            <a:r>
              <a:rPr lang="en-IN" dirty="0"/>
              <a:t>}</a:t>
            </a:r>
          </a:p>
        </p:txBody>
      </p:sp>
      <p:sp>
        <p:nvSpPr>
          <p:cNvPr id="27" name="TextBox 26">
            <a:extLst>
              <a:ext uri="{FF2B5EF4-FFF2-40B4-BE49-F238E27FC236}">
                <a16:creationId xmlns:a16="http://schemas.microsoft.com/office/drawing/2014/main" id="{230F747B-26A3-4B62-A889-AAC911098A9F}"/>
              </a:ext>
            </a:extLst>
          </p:cNvPr>
          <p:cNvSpPr txBox="1"/>
          <p:nvPr/>
        </p:nvSpPr>
        <p:spPr>
          <a:xfrm>
            <a:off x="3199702" y="2803359"/>
            <a:ext cx="5775856" cy="2554545"/>
          </a:xfrm>
          <a:prstGeom prst="rect">
            <a:avLst/>
          </a:prstGeom>
          <a:noFill/>
        </p:spPr>
        <p:txBody>
          <a:bodyPr wrap="square">
            <a:spAutoFit/>
          </a:bodyPr>
          <a:lstStyle/>
          <a:p>
            <a:r>
              <a:rPr lang="en-IN" sz="1600" dirty="0"/>
              <a:t>class </a:t>
            </a:r>
            <a:r>
              <a:rPr lang="en-IN" sz="1600" dirty="0" err="1"/>
              <a:t>NonFinalClassSubClass</a:t>
            </a:r>
            <a:r>
              <a:rPr lang="en-IN" sz="1600" dirty="0"/>
              <a:t> extends </a:t>
            </a:r>
            <a:r>
              <a:rPr lang="en-IN" sz="1600" dirty="0" err="1"/>
              <a:t>NonFinalClass</a:t>
            </a:r>
            <a:r>
              <a:rPr lang="en-IN" sz="1600" dirty="0"/>
              <a:t> {</a:t>
            </a:r>
          </a:p>
          <a:p>
            <a:r>
              <a:rPr lang="en-IN" sz="1600" dirty="0"/>
              <a:t>  // m1() and m2() can be overridden</a:t>
            </a:r>
          </a:p>
          <a:p>
            <a:r>
              <a:rPr lang="en-IN" sz="1600" dirty="0"/>
              <a:t>  void m1() {}</a:t>
            </a:r>
          </a:p>
          <a:p>
            <a:r>
              <a:rPr lang="en-IN" sz="1600" dirty="0"/>
              <a:t>  void m2() {}</a:t>
            </a:r>
          </a:p>
          <a:p>
            <a:r>
              <a:rPr lang="en-IN" sz="1600" dirty="0"/>
              <a:t>		</a:t>
            </a:r>
          </a:p>
          <a:p>
            <a:r>
              <a:rPr lang="en-IN" sz="1600" dirty="0"/>
              <a:t>  // m3() and m4() cannot be overridden because of final methods</a:t>
            </a:r>
          </a:p>
          <a:p>
            <a:r>
              <a:rPr lang="en-IN" sz="1600" dirty="0"/>
              <a:t>  // if overrides so, we will get compilation error saying final</a:t>
            </a:r>
          </a:p>
          <a:p>
            <a:r>
              <a:rPr lang="en-IN" sz="1600" dirty="0"/>
              <a:t>  // methods cannot be overridden</a:t>
            </a:r>
          </a:p>
          <a:p>
            <a:r>
              <a:rPr lang="en-IN" sz="1600" dirty="0"/>
              <a:t>  void m3() {}</a:t>
            </a:r>
          </a:p>
          <a:p>
            <a:r>
              <a:rPr lang="en-IN" sz="1600" dirty="0"/>
              <a:t>}</a:t>
            </a:r>
          </a:p>
        </p:txBody>
      </p:sp>
      <p:sp>
        <p:nvSpPr>
          <p:cNvPr id="2" name="TextBox 1">
            <a:extLst>
              <a:ext uri="{FF2B5EF4-FFF2-40B4-BE49-F238E27FC236}">
                <a16:creationId xmlns:a16="http://schemas.microsoft.com/office/drawing/2014/main" id="{77E0BF39-8405-599B-652D-4C780EB04082}"/>
              </a:ext>
            </a:extLst>
          </p:cNvPr>
          <p:cNvSpPr txBox="1"/>
          <p:nvPr/>
        </p:nvSpPr>
        <p:spPr>
          <a:xfrm>
            <a:off x="2576379" y="1624222"/>
            <a:ext cx="3219303" cy="369332"/>
          </a:xfrm>
          <a:prstGeom prst="rect">
            <a:avLst/>
          </a:prstGeom>
          <a:noFill/>
        </p:spPr>
        <p:txBody>
          <a:bodyPr wrap="square">
            <a:spAutoFit/>
          </a:bodyPr>
          <a:lstStyle/>
          <a:p>
            <a:pPr algn="just"/>
            <a:r>
              <a:rPr lang="en-US" b="1" dirty="0">
                <a:solidFill>
                  <a:srgbClr val="003F66"/>
                </a:solidFill>
                <a:latin typeface="Bookman Old Style" panose="02050604050505020204" pitchFamily="18" charset="0"/>
              </a:rPr>
              <a:t>containing final methods</a:t>
            </a:r>
          </a:p>
        </p:txBody>
      </p:sp>
      <p:sp>
        <p:nvSpPr>
          <p:cNvPr id="3" name="TextBox 2">
            <a:extLst>
              <a:ext uri="{FF2B5EF4-FFF2-40B4-BE49-F238E27FC236}">
                <a16:creationId xmlns:a16="http://schemas.microsoft.com/office/drawing/2014/main" id="{D6050F74-2E01-4BB0-6BFB-DB5C6FE922ED}"/>
              </a:ext>
            </a:extLst>
          </p:cNvPr>
          <p:cNvSpPr txBox="1"/>
          <p:nvPr/>
        </p:nvSpPr>
        <p:spPr>
          <a:xfrm>
            <a:off x="3024613" y="1884198"/>
            <a:ext cx="3725811" cy="276999"/>
          </a:xfrm>
          <a:prstGeom prst="rect">
            <a:avLst/>
          </a:prstGeom>
          <a:noFill/>
        </p:spPr>
        <p:txBody>
          <a:bodyPr wrap="square">
            <a:spAutoFit/>
          </a:bodyPr>
          <a:lstStyle/>
          <a:p>
            <a:pPr algn="just"/>
            <a:r>
              <a:rPr lang="en-US" sz="1200" b="1" dirty="0">
                <a:solidFill>
                  <a:srgbClr val="003F66"/>
                </a:solidFill>
                <a:latin typeface="Bookman Old Style" panose="02050604050505020204" pitchFamily="18" charset="0"/>
              </a:rPr>
              <a:t>selected methods can be declared as final</a:t>
            </a:r>
          </a:p>
        </p:txBody>
      </p:sp>
    </p:spTree>
    <p:extLst>
      <p:ext uri="{BB962C8B-B14F-4D97-AF65-F5344CB8AC3E}">
        <p14:creationId xmlns:p14="http://schemas.microsoft.com/office/powerpoint/2010/main" val="1564912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Consequences of applying access modifiers on class</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8" name="TextBox 27">
            <a:extLst>
              <a:ext uri="{FF2B5EF4-FFF2-40B4-BE49-F238E27FC236}">
                <a16:creationId xmlns:a16="http://schemas.microsoft.com/office/drawing/2014/main" id="{7030FA7B-17F7-4C0B-B06F-00EE765B6FC3}"/>
              </a:ext>
            </a:extLst>
          </p:cNvPr>
          <p:cNvSpPr txBox="1"/>
          <p:nvPr/>
        </p:nvSpPr>
        <p:spPr>
          <a:xfrm>
            <a:off x="675861" y="1233699"/>
            <a:ext cx="4638262" cy="523220"/>
          </a:xfrm>
          <a:prstGeom prst="rect">
            <a:avLst/>
          </a:prstGeom>
          <a:noFill/>
        </p:spPr>
        <p:txBody>
          <a:bodyPr wrap="square">
            <a:spAutoFit/>
          </a:bodyPr>
          <a:lstStyle/>
          <a:p>
            <a:pPr algn="just"/>
            <a:r>
              <a:rPr lang="en-US" sz="2800" b="1" u="sng" dirty="0">
                <a:solidFill>
                  <a:srgbClr val="003F66"/>
                </a:solidFill>
                <a:latin typeface="Bookman Old Style" panose="02050604050505020204" pitchFamily="18" charset="0"/>
              </a:rPr>
              <a:t>non final class example:</a:t>
            </a:r>
          </a:p>
        </p:txBody>
      </p:sp>
      <p:sp>
        <p:nvSpPr>
          <p:cNvPr id="29" name="TextBox 28">
            <a:extLst>
              <a:ext uri="{FF2B5EF4-FFF2-40B4-BE49-F238E27FC236}">
                <a16:creationId xmlns:a16="http://schemas.microsoft.com/office/drawing/2014/main" id="{F43EA09C-DEF6-4576-8155-943357A2A69E}"/>
              </a:ext>
            </a:extLst>
          </p:cNvPr>
          <p:cNvSpPr txBox="1"/>
          <p:nvPr/>
        </p:nvSpPr>
        <p:spPr>
          <a:xfrm>
            <a:off x="721896" y="1756919"/>
            <a:ext cx="8555586" cy="4524315"/>
          </a:xfrm>
          <a:prstGeom prst="rect">
            <a:avLst/>
          </a:prstGeom>
          <a:noFill/>
        </p:spPr>
        <p:txBody>
          <a:bodyPr wrap="square">
            <a:spAutoFit/>
          </a:bodyPr>
          <a:lstStyle/>
          <a:p>
            <a:pPr algn="just"/>
            <a:r>
              <a:rPr lang="en-US" sz="2400" dirty="0"/>
              <a:t>If NonFinalClass want all its methods don't want to be overridden in sub class, then we are having two solutions:</a:t>
            </a:r>
          </a:p>
          <a:p>
            <a:pPr algn="just"/>
            <a:endParaRPr lang="en-US" sz="2400" dirty="0"/>
          </a:p>
          <a:p>
            <a:pPr marL="400050" indent="-400050" algn="just">
              <a:buAutoNum type="romanLcParenR"/>
            </a:pPr>
            <a:r>
              <a:rPr lang="en-US" sz="2400" dirty="0"/>
              <a:t>declare all 4 methods as final</a:t>
            </a:r>
          </a:p>
          <a:p>
            <a:pPr lvl="1" algn="just"/>
            <a:r>
              <a:rPr lang="en-US" sz="2400" dirty="0"/>
              <a:t>then NonFinalClass can be still inherited, but its methods cannot be overridden</a:t>
            </a:r>
          </a:p>
          <a:p>
            <a:pPr lvl="1" algn="just"/>
            <a:endParaRPr lang="en-US" sz="2400" dirty="0"/>
          </a:p>
          <a:p>
            <a:pPr algn="just"/>
            <a:r>
              <a:rPr lang="en-US" sz="2400" dirty="0"/>
              <a:t>ii) instead of declaring methods all methods as final, declare class itself as final then final class cannot be inherited. When there is no inheritance, there is no overriding.</a:t>
            </a:r>
          </a:p>
          <a:p>
            <a:pPr algn="just"/>
            <a:endParaRPr lang="en-US" sz="2400" dirty="0"/>
          </a:p>
          <a:p>
            <a:pPr algn="just"/>
            <a:r>
              <a:rPr lang="en-US" sz="2400" dirty="0"/>
              <a:t>This is how we should judge when to declare class as final.</a:t>
            </a:r>
            <a:endParaRPr lang="en-IN" sz="2400" dirty="0"/>
          </a:p>
        </p:txBody>
      </p:sp>
    </p:spTree>
    <p:extLst>
      <p:ext uri="{BB962C8B-B14F-4D97-AF65-F5344CB8AC3E}">
        <p14:creationId xmlns:p14="http://schemas.microsoft.com/office/powerpoint/2010/main" val="64552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890</Words>
  <Application>Microsoft Office PowerPoint</Application>
  <PresentationFormat>Widescreen</PresentationFormat>
  <Paragraphs>131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nivas .</dc:creator>
  <cp:lastModifiedBy>nivas .</cp:lastModifiedBy>
  <cp:revision>2</cp:revision>
  <dcterms:created xsi:type="dcterms:W3CDTF">2022-09-15T15:50:52Z</dcterms:created>
  <dcterms:modified xsi:type="dcterms:W3CDTF">2022-09-20T04:18:16Z</dcterms:modified>
</cp:coreProperties>
</file>