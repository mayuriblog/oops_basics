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  <p:sldId id="26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3F66"/>
    <a:srgbClr val="990033"/>
    <a:srgbClr val="0000FF"/>
    <a:srgbClr val="3399FF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F8FD7-6664-4EC7-B781-79F419E034E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Syntax of declaring C, V, Co, M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265F303-9EF0-4145-B30D-DB3AAE537BEB}"/>
              </a:ext>
            </a:extLst>
          </p:cNvPr>
          <p:cNvSpPr txBox="1"/>
          <p:nvPr/>
        </p:nvSpPr>
        <p:spPr>
          <a:xfrm>
            <a:off x="1244568" y="1884532"/>
            <a:ext cx="73052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Java Programming Structure </a:t>
            </a:r>
          </a:p>
          <a:p>
            <a:pPr algn="ctr"/>
            <a:r>
              <a:rPr lang="en-US" sz="4800" b="1">
                <a:solidFill>
                  <a:srgbClr val="FF0000"/>
                </a:solidFill>
              </a:rPr>
              <a:t>Part - II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8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Syntax of declaring C, V, Co, M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265F303-9EF0-4145-B30D-DB3AAE537BEB}"/>
              </a:ext>
            </a:extLst>
          </p:cNvPr>
          <p:cNvSpPr txBox="1"/>
          <p:nvPr/>
        </p:nvSpPr>
        <p:spPr>
          <a:xfrm>
            <a:off x="1244568" y="1884532"/>
            <a:ext cx="7305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902BFF"/>
                </a:solidFill>
              </a:rPr>
              <a:t>Syntaxes of declaring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902BFF"/>
                </a:solidFill>
              </a:rPr>
              <a:t>Class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902BFF"/>
                </a:solidFill>
              </a:rPr>
              <a:t>Variable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902BFF"/>
                </a:solidFill>
              </a:rPr>
              <a:t>Constructor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902BFF"/>
                </a:solidFill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254180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Access specifiers &amp; Modifiers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graphicFrame>
        <p:nvGraphicFramePr>
          <p:cNvPr id="25" name="Table 9">
            <a:extLst>
              <a:ext uri="{FF2B5EF4-FFF2-40B4-BE49-F238E27FC236}">
                <a16:creationId xmlns:a16="http://schemas.microsoft.com/office/drawing/2014/main" id="{A7A8F935-89FD-4590-A2B6-64B49C5D5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49384"/>
              </p:ext>
            </p:extLst>
          </p:nvPr>
        </p:nvGraphicFramePr>
        <p:xfrm>
          <a:off x="793139" y="905993"/>
          <a:ext cx="8403870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201935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4201935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Specifiers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 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private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V,Co,M</a:t>
                      </a:r>
                      <a:r>
                        <a:rPr lang="en-US" sz="1600" dirty="0"/>
                        <a:t> (variable, constructor,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default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C,V,Co,M</a:t>
                      </a:r>
                      <a:r>
                        <a:rPr lang="en-US" sz="1600" dirty="0"/>
                        <a:t> (class, variable, constructor,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protected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V,Co,M</a:t>
                      </a:r>
                      <a:r>
                        <a:rPr lang="en-US" sz="1600" dirty="0"/>
                        <a:t> (variable, constructor,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02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public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C,V,Co,M</a:t>
                      </a:r>
                      <a:r>
                        <a:rPr lang="en-US" sz="1600" dirty="0"/>
                        <a:t> (class, variable, constructor,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40723"/>
                  </a:ext>
                </a:extLst>
              </a:tr>
            </a:tbl>
          </a:graphicData>
        </a:graphic>
      </p:graphicFrame>
      <p:graphicFrame>
        <p:nvGraphicFramePr>
          <p:cNvPr id="27" name="Table 9">
            <a:extLst>
              <a:ext uri="{FF2B5EF4-FFF2-40B4-BE49-F238E27FC236}">
                <a16:creationId xmlns:a16="http://schemas.microsoft.com/office/drawing/2014/main" id="{A9454473-7760-437B-AA49-822E0432E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97905"/>
              </p:ext>
            </p:extLst>
          </p:nvPr>
        </p:nvGraphicFramePr>
        <p:xfrm>
          <a:off x="799767" y="2847443"/>
          <a:ext cx="8397242" cy="37084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25598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4471644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Modifiers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 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abstract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C,M (class,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final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C,V,M (class, variable,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static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V,M (variable,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02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4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transient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 (only on variable)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89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volatile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 (only on variable)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9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23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native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 (only on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8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synchronized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 (only on method)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69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64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Applicability of specifiers &amp; modifiers on </a:t>
              </a:r>
              <a:r>
                <a:rPr lang="en-US" sz="2000" b="1" dirty="0" err="1">
                  <a:solidFill>
                    <a:schemeClr val="bg1"/>
                  </a:solidFill>
                </a:rPr>
                <a:t>C,V,Co,M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graphicFrame>
        <p:nvGraphicFramePr>
          <p:cNvPr id="26" name="Table 9">
            <a:extLst>
              <a:ext uri="{FF2B5EF4-FFF2-40B4-BE49-F238E27FC236}">
                <a16:creationId xmlns:a16="http://schemas.microsoft.com/office/drawing/2014/main" id="{62C9F13E-A29D-4DBE-92C8-D5DDB2B9E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163646"/>
              </p:ext>
            </p:extLst>
          </p:nvPr>
        </p:nvGraphicFramePr>
        <p:xfrm>
          <a:off x="793139" y="945749"/>
          <a:ext cx="8403870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724774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1481504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  <a:gridCol w="2598796">
                  <a:extLst>
                    <a:ext uri="{9D8B030D-6E8A-4147-A177-3AD203B41FA5}">
                      <a16:colId xmlns:a16="http://schemas.microsoft.com/office/drawing/2014/main" val="4053596787"/>
                    </a:ext>
                  </a:extLst>
                </a:gridCol>
                <a:gridCol w="2598796">
                  <a:extLst>
                    <a:ext uri="{9D8B030D-6E8A-4147-A177-3AD203B41FA5}">
                      <a16:colId xmlns:a16="http://schemas.microsoft.com/office/drawing/2014/main" val="1533142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class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Example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access specifiers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default, public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 Hello { }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public class Hai { }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modifiers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abstract, final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abstract class A { }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class B { }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</a:tbl>
          </a:graphicData>
        </a:graphic>
      </p:graphicFrame>
      <p:graphicFrame>
        <p:nvGraphicFramePr>
          <p:cNvPr id="28" name="Table 9">
            <a:extLst>
              <a:ext uri="{FF2B5EF4-FFF2-40B4-BE49-F238E27FC236}">
                <a16:creationId xmlns:a16="http://schemas.microsoft.com/office/drawing/2014/main" id="{2A78A2D0-E27E-42E0-B95A-9C09327C3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917317"/>
              </p:ext>
            </p:extLst>
          </p:nvPr>
        </p:nvGraphicFramePr>
        <p:xfrm>
          <a:off x="799767" y="2423371"/>
          <a:ext cx="8397242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25598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4471644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variable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specifiers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private, default, protected, public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modifiers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final, static, transient, volatile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</a:tbl>
          </a:graphicData>
        </a:graphic>
      </p:graphicFrame>
      <p:graphicFrame>
        <p:nvGraphicFramePr>
          <p:cNvPr id="29" name="Table 9">
            <a:extLst>
              <a:ext uri="{FF2B5EF4-FFF2-40B4-BE49-F238E27FC236}">
                <a16:creationId xmlns:a16="http://schemas.microsoft.com/office/drawing/2014/main" id="{32DE81A3-092D-4EB7-8C40-89BD58D27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805037"/>
              </p:ext>
            </p:extLst>
          </p:nvPr>
        </p:nvGraphicFramePr>
        <p:xfrm>
          <a:off x="799767" y="3867847"/>
          <a:ext cx="8397242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904755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4492487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constructor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access specifiers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private, default, protected, public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modifiers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modifiers on constructors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</a:tbl>
          </a:graphicData>
        </a:graphic>
      </p:graphicFrame>
      <p:graphicFrame>
        <p:nvGraphicFramePr>
          <p:cNvPr id="30" name="Table 9">
            <a:extLst>
              <a:ext uri="{FF2B5EF4-FFF2-40B4-BE49-F238E27FC236}">
                <a16:creationId xmlns:a16="http://schemas.microsoft.com/office/drawing/2014/main" id="{6ECE656B-7530-4D33-B0D8-B23AF84B1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36338"/>
              </p:ext>
            </p:extLst>
          </p:nvPr>
        </p:nvGraphicFramePr>
        <p:xfrm>
          <a:off x="806395" y="5345472"/>
          <a:ext cx="8397242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25598">
                  <a:extLst>
                    <a:ext uri="{9D8B030D-6E8A-4147-A177-3AD203B41FA5}">
                      <a16:colId xmlns:a16="http://schemas.microsoft.com/office/drawing/2014/main" val="2093884678"/>
                    </a:ext>
                  </a:extLst>
                </a:gridCol>
                <a:gridCol w="4471644">
                  <a:extLst>
                    <a:ext uri="{9D8B030D-6E8A-4147-A177-3AD203B41FA5}">
                      <a16:colId xmlns:a16="http://schemas.microsoft.com/office/drawing/2014/main" val="199897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method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Applicability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specifiers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private, default, protected, public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access modifiers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abstract, final, static, native</a:t>
                      </a:r>
                      <a:r>
                        <a:rPr lang="en-US" sz="1600"/>
                        <a:t>, synchronized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334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72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Class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9FFBA77-61FE-4CA9-AB6F-616274DD1DB1}"/>
              </a:ext>
            </a:extLst>
          </p:cNvPr>
          <p:cNvSpPr txBox="1"/>
          <p:nvPr/>
        </p:nvSpPr>
        <p:spPr>
          <a:xfrm>
            <a:off x="2610678" y="2823273"/>
            <a:ext cx="50755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Class Syntax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6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Class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A395B0A-C020-4A2B-840D-937024FD5804}"/>
              </a:ext>
            </a:extLst>
          </p:cNvPr>
          <p:cNvSpPr txBox="1"/>
          <p:nvPr/>
        </p:nvSpPr>
        <p:spPr>
          <a:xfrm>
            <a:off x="516836" y="836130"/>
            <a:ext cx="861115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Syntax:</a:t>
            </a:r>
            <a:endParaRPr lang="en-US" sz="1600" b="1" u="sng" dirty="0">
              <a:solidFill>
                <a:srgbClr val="FF0000"/>
              </a:solidFill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&lt;access_specifier&gt;</a:t>
            </a:r>
            <a:r>
              <a:rPr lang="en-US" sz="2000" b="1" dirty="0">
                <a:solidFill>
                  <a:srgbClr val="003F66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&lt;access_modifier&gt;</a:t>
            </a:r>
            <a:r>
              <a:rPr lang="en-US" sz="2000" b="1" dirty="0">
                <a:solidFill>
                  <a:srgbClr val="003F66"/>
                </a:solidFill>
              </a:rPr>
              <a:t> class </a:t>
            </a:r>
            <a:r>
              <a:rPr lang="en-US" sz="2000" b="1" dirty="0" err="1">
                <a:solidFill>
                  <a:srgbClr val="003F66"/>
                </a:solidFill>
              </a:rPr>
              <a:t>ClassName</a:t>
            </a:r>
            <a:r>
              <a:rPr lang="en-US" sz="2000" b="1" dirty="0">
                <a:solidFill>
                  <a:srgbClr val="003F66"/>
                </a:solidFill>
              </a:rPr>
              <a:t> &lt;extends </a:t>
            </a:r>
            <a:r>
              <a:rPr lang="en-US" sz="2000" b="1" dirty="0" err="1">
                <a:solidFill>
                  <a:srgbClr val="003F66"/>
                </a:solidFill>
              </a:rPr>
              <a:t>SuperClass</a:t>
            </a:r>
            <a:r>
              <a:rPr lang="en-US" sz="2000" b="1" dirty="0">
                <a:solidFill>
                  <a:srgbClr val="003F66"/>
                </a:solidFill>
              </a:rPr>
              <a:t>&gt; &lt;implements SuperInterface1, SuperInterface2&gt; {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	// class body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}</a:t>
            </a:r>
          </a:p>
          <a:p>
            <a:pPr algn="just"/>
            <a:endParaRPr lang="en-US" sz="1600" b="1" dirty="0">
              <a:solidFill>
                <a:srgbClr val="003F66"/>
              </a:solidFill>
            </a:endParaRPr>
          </a:p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Examples: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class A { }</a:t>
            </a:r>
          </a:p>
          <a:p>
            <a:pPr algn="just"/>
            <a:endParaRPr lang="en-US" sz="2000" b="1" dirty="0">
              <a:solidFill>
                <a:srgbClr val="003F66"/>
              </a:solidFill>
            </a:endParaRP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abstract class A {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}</a:t>
            </a:r>
          </a:p>
          <a:p>
            <a:pPr algn="just"/>
            <a:endParaRPr lang="en-US" sz="2000" b="1" dirty="0">
              <a:solidFill>
                <a:srgbClr val="003F66"/>
              </a:solidFill>
            </a:endParaRP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public final class A extends ABC implements XYZ, MNO {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}</a:t>
            </a:r>
          </a:p>
          <a:p>
            <a:pPr algn="just"/>
            <a:endParaRPr lang="en-US" sz="2000" b="1" dirty="0">
              <a:solidFill>
                <a:srgbClr val="003F66"/>
              </a:solidFill>
            </a:endParaRP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class Hello extends Hai implements A, B, C { 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3A2165-D353-4BA6-8601-D2795C1C837E}"/>
              </a:ext>
            </a:extLst>
          </p:cNvPr>
          <p:cNvSpPr txBox="1"/>
          <p:nvPr/>
        </p:nvSpPr>
        <p:spPr>
          <a:xfrm>
            <a:off x="9435550" y="1444487"/>
            <a:ext cx="2464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class can extend from only one super class.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 class can implement from any number of super interfaces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Variable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A395B0A-C020-4A2B-840D-937024FD5804}"/>
              </a:ext>
            </a:extLst>
          </p:cNvPr>
          <p:cNvSpPr txBox="1"/>
          <p:nvPr/>
        </p:nvSpPr>
        <p:spPr>
          <a:xfrm>
            <a:off x="1855305" y="2373387"/>
            <a:ext cx="6556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Variable Syntax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79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Variable syntax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F2FD799-1FDC-41CB-B454-75DC87C8DA73}"/>
              </a:ext>
            </a:extLst>
          </p:cNvPr>
          <p:cNvSpPr txBox="1"/>
          <p:nvPr/>
        </p:nvSpPr>
        <p:spPr>
          <a:xfrm>
            <a:off x="584230" y="2377720"/>
            <a:ext cx="89581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Examples: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private int </a:t>
            </a:r>
            <a:r>
              <a:rPr lang="en-US" sz="2400" b="1" dirty="0" err="1">
                <a:solidFill>
                  <a:srgbClr val="003F66"/>
                </a:solidFill>
              </a:rPr>
              <a:t>i</a:t>
            </a:r>
            <a:r>
              <a:rPr lang="en-US" sz="2400" b="1" dirty="0">
                <a:solidFill>
                  <a:srgbClr val="003F66"/>
                </a:solidFill>
              </a:rPr>
              <a:t>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int j;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protected int k=10;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public final int l=10;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public static final int m=10;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transient int n=10;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volatile int o=10;</a:t>
            </a:r>
            <a:endParaRPr lang="en-IN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3CE34-D28B-4FDA-B69E-6D3ED92609E3}"/>
              </a:ext>
            </a:extLst>
          </p:cNvPr>
          <p:cNvSpPr txBox="1"/>
          <p:nvPr/>
        </p:nvSpPr>
        <p:spPr>
          <a:xfrm>
            <a:off x="503014" y="1371737"/>
            <a:ext cx="10549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Syntax:</a:t>
            </a:r>
          </a:p>
          <a:p>
            <a:pPr algn="just"/>
            <a:r>
              <a:rPr lang="en-US" sz="2000" b="1" dirty="0">
                <a:solidFill>
                  <a:srgbClr val="003F66"/>
                </a:solidFill>
              </a:rPr>
              <a:t>&lt;</a:t>
            </a:r>
            <a:r>
              <a:rPr lang="en-US" sz="2000" b="1" dirty="0">
                <a:solidFill>
                  <a:srgbClr val="FF0000"/>
                </a:solidFill>
              </a:rPr>
              <a:t>access_specifier</a:t>
            </a:r>
            <a:r>
              <a:rPr lang="en-US" sz="2000" b="1" dirty="0">
                <a:solidFill>
                  <a:srgbClr val="003F66"/>
                </a:solidFill>
              </a:rPr>
              <a:t>&gt; &lt;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access_modifier</a:t>
            </a:r>
            <a:r>
              <a:rPr lang="en-US" sz="2000" b="1" dirty="0">
                <a:solidFill>
                  <a:srgbClr val="003F66"/>
                </a:solidFill>
              </a:rPr>
              <a:t>&gt;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data_type</a:t>
            </a:r>
            <a:r>
              <a:rPr lang="en-US" sz="2000" b="1" dirty="0">
                <a:solidFill>
                  <a:srgbClr val="003F66"/>
                </a:solidFill>
              </a:rPr>
              <a:t> </a:t>
            </a:r>
            <a:r>
              <a:rPr lang="en-US" sz="2000" b="1" dirty="0" err="1">
                <a:solidFill>
                  <a:srgbClr val="003F66"/>
                </a:solidFill>
              </a:rPr>
              <a:t>var_name</a:t>
            </a:r>
            <a:r>
              <a:rPr lang="en-US" sz="2000" b="1" dirty="0">
                <a:solidFill>
                  <a:srgbClr val="003F66"/>
                </a:solidFill>
              </a:rPr>
              <a:t>/identifier &lt;=initializer/value/literal&gt;;</a:t>
            </a:r>
          </a:p>
        </p:txBody>
      </p:sp>
    </p:spTree>
    <p:extLst>
      <p:ext uri="{BB962C8B-B14F-4D97-AF65-F5344CB8AC3E}">
        <p14:creationId xmlns:p14="http://schemas.microsoft.com/office/powerpoint/2010/main" val="4271732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Constructor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F2FD799-1FDC-41CB-B454-75DC87C8DA73}"/>
              </a:ext>
            </a:extLst>
          </p:cNvPr>
          <p:cNvSpPr txBox="1"/>
          <p:nvPr/>
        </p:nvSpPr>
        <p:spPr>
          <a:xfrm>
            <a:off x="1389649" y="2112863"/>
            <a:ext cx="7872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200" b="1" dirty="0">
                <a:solidFill>
                  <a:srgbClr val="FF0000"/>
                </a:solidFill>
              </a:rPr>
              <a:t>Constructor syntax</a:t>
            </a:r>
            <a:endParaRPr lang="en-IN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4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Constructor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59D153F-89CC-4CA5-9169-07B655AAB194}"/>
              </a:ext>
            </a:extLst>
          </p:cNvPr>
          <p:cNvSpPr txBox="1"/>
          <p:nvPr/>
        </p:nvSpPr>
        <p:spPr>
          <a:xfrm>
            <a:off x="694824" y="1106096"/>
            <a:ext cx="6645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Constructor syntax</a:t>
            </a:r>
            <a:endParaRPr lang="en-IN" sz="800" dirty="0">
              <a:solidFill>
                <a:srgbClr val="F105D3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323D11-60DB-47B1-805C-7074B83745A0}"/>
              </a:ext>
            </a:extLst>
          </p:cNvPr>
          <p:cNvSpPr txBox="1"/>
          <p:nvPr/>
        </p:nvSpPr>
        <p:spPr>
          <a:xfrm>
            <a:off x="584230" y="1592838"/>
            <a:ext cx="94480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&lt;access_specifier&gt; </a:t>
            </a:r>
            <a:r>
              <a:rPr lang="en-IN" sz="2400" b="1" dirty="0" err="1">
                <a:solidFill>
                  <a:srgbClr val="0000FF"/>
                </a:solidFill>
              </a:rPr>
              <a:t>ClassNameAsConstructor</a:t>
            </a:r>
            <a:r>
              <a:rPr lang="en-IN" sz="2400" b="1" dirty="0"/>
              <a:t>(&lt;</a:t>
            </a:r>
            <a:r>
              <a:rPr lang="en-IN" sz="2400" b="1" dirty="0" err="1"/>
              <a:t>param_type</a:t>
            </a:r>
            <a:r>
              <a:rPr lang="en-IN" sz="2400" b="1" dirty="0"/>
              <a:t> </a:t>
            </a:r>
            <a:r>
              <a:rPr lang="en-IN" sz="2400" b="1" dirty="0" err="1"/>
              <a:t>param_name</a:t>
            </a:r>
            <a:r>
              <a:rPr lang="en-IN" sz="2400" b="1" dirty="0"/>
              <a:t>, </a:t>
            </a:r>
            <a:r>
              <a:rPr lang="en-IN" sz="2400" b="1" dirty="0" err="1"/>
              <a:t>param_type</a:t>
            </a:r>
            <a:r>
              <a:rPr lang="en-IN" sz="2400" b="1" dirty="0"/>
              <a:t> </a:t>
            </a:r>
            <a:r>
              <a:rPr lang="en-IN" sz="2400" b="1" dirty="0" err="1"/>
              <a:t>param_name</a:t>
            </a:r>
            <a:r>
              <a:rPr lang="en-IN" sz="2400" b="1" dirty="0"/>
              <a:t>, ....&gt;) {</a:t>
            </a:r>
          </a:p>
          <a:p>
            <a:r>
              <a:rPr lang="en-IN" sz="2400" b="1" dirty="0"/>
              <a:t>	// class instance variables initialization</a:t>
            </a:r>
          </a:p>
          <a:p>
            <a:r>
              <a:rPr lang="en-IN" sz="2400" b="1" dirty="0"/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B1732B-B657-41A3-A910-C7F6EBF779BB}"/>
              </a:ext>
            </a:extLst>
          </p:cNvPr>
          <p:cNvSpPr txBox="1"/>
          <p:nvPr/>
        </p:nvSpPr>
        <p:spPr>
          <a:xfrm>
            <a:off x="584230" y="3279350"/>
            <a:ext cx="804293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Examples: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private Emp() {}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Emp(int </a:t>
            </a:r>
            <a:r>
              <a:rPr lang="en-US" sz="2400" b="1" dirty="0" err="1">
                <a:solidFill>
                  <a:srgbClr val="003F66"/>
                </a:solidFill>
              </a:rPr>
              <a:t>eid</a:t>
            </a:r>
            <a:r>
              <a:rPr lang="en-US" sz="2400" b="1" dirty="0">
                <a:solidFill>
                  <a:srgbClr val="003F66"/>
                </a:solidFill>
              </a:rPr>
              <a:t>)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protected Emp(int </a:t>
            </a:r>
            <a:r>
              <a:rPr lang="en-US" sz="2400" b="1" dirty="0" err="1">
                <a:solidFill>
                  <a:srgbClr val="003F66"/>
                </a:solidFill>
              </a:rPr>
              <a:t>eid</a:t>
            </a:r>
            <a:r>
              <a:rPr lang="en-US" sz="2400" b="1" dirty="0">
                <a:solidFill>
                  <a:srgbClr val="003F66"/>
                </a:solidFill>
              </a:rPr>
              <a:t>, String </a:t>
            </a:r>
            <a:r>
              <a:rPr lang="en-US" sz="2400" b="1" dirty="0" err="1">
                <a:solidFill>
                  <a:srgbClr val="003F66"/>
                </a:solidFill>
              </a:rPr>
              <a:t>ename</a:t>
            </a:r>
            <a:r>
              <a:rPr lang="en-US" sz="2400" b="1" dirty="0">
                <a:solidFill>
                  <a:srgbClr val="003F66"/>
                </a:solidFill>
              </a:rPr>
              <a:t>) {}</a:t>
            </a:r>
          </a:p>
          <a:p>
            <a:pPr algn="just"/>
            <a:r>
              <a:rPr lang="en-US" sz="2400" b="1" dirty="0">
                <a:solidFill>
                  <a:srgbClr val="003F66"/>
                </a:solidFill>
              </a:rPr>
              <a:t>public Emp(int </a:t>
            </a:r>
            <a:r>
              <a:rPr lang="en-US" sz="2400" b="1" dirty="0" err="1">
                <a:solidFill>
                  <a:srgbClr val="003F66"/>
                </a:solidFill>
              </a:rPr>
              <a:t>eid</a:t>
            </a:r>
            <a:r>
              <a:rPr lang="en-US" sz="2400" b="1" dirty="0">
                <a:solidFill>
                  <a:srgbClr val="003F66"/>
                </a:solidFill>
              </a:rPr>
              <a:t>, String </a:t>
            </a:r>
            <a:r>
              <a:rPr lang="en-US" sz="2400" b="1" dirty="0" err="1">
                <a:solidFill>
                  <a:srgbClr val="003F66"/>
                </a:solidFill>
              </a:rPr>
              <a:t>ename</a:t>
            </a:r>
            <a:r>
              <a:rPr lang="en-US" sz="2400" b="1" dirty="0">
                <a:solidFill>
                  <a:srgbClr val="003F66"/>
                </a:solidFill>
              </a:rPr>
              <a:t>, double </a:t>
            </a:r>
            <a:r>
              <a:rPr lang="en-US" sz="2400" b="1" dirty="0" err="1">
                <a:solidFill>
                  <a:srgbClr val="003F66"/>
                </a:solidFill>
              </a:rPr>
              <a:t>sal</a:t>
            </a:r>
            <a:r>
              <a:rPr lang="en-US" sz="2400" b="1" dirty="0">
                <a:solidFill>
                  <a:srgbClr val="003F66"/>
                </a:solidFill>
              </a:rPr>
              <a:t>, String </a:t>
            </a:r>
            <a:r>
              <a:rPr lang="en-US" sz="2400" b="1" dirty="0" err="1">
                <a:solidFill>
                  <a:srgbClr val="003F66"/>
                </a:solidFill>
              </a:rPr>
              <a:t>desig</a:t>
            </a:r>
            <a:r>
              <a:rPr lang="en-US" sz="2400" b="1" dirty="0">
                <a:solidFill>
                  <a:srgbClr val="003F66"/>
                </a:solidFill>
              </a:rPr>
              <a:t>) {}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588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Method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47F7F6F-24CE-4AE3-B434-25A0598BB7A3}"/>
              </a:ext>
            </a:extLst>
          </p:cNvPr>
          <p:cNvSpPr txBox="1"/>
          <p:nvPr/>
        </p:nvSpPr>
        <p:spPr>
          <a:xfrm>
            <a:off x="1389649" y="2112863"/>
            <a:ext cx="6129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200" b="1" dirty="0">
                <a:solidFill>
                  <a:srgbClr val="FF0000"/>
                </a:solidFill>
              </a:rPr>
              <a:t>Method syntax</a:t>
            </a:r>
            <a:endParaRPr lang="en-IN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36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Method declaration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4A2CDD4-66BB-4AA0-8C33-2174B7D06331}"/>
              </a:ext>
            </a:extLst>
          </p:cNvPr>
          <p:cNvSpPr txBox="1"/>
          <p:nvPr/>
        </p:nvSpPr>
        <p:spPr>
          <a:xfrm>
            <a:off x="360362" y="920621"/>
            <a:ext cx="917867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Syntax: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&lt;access_specifier&gt;</a:t>
            </a:r>
            <a:r>
              <a:rPr lang="en-IN" sz="2000" b="1" dirty="0"/>
              <a:t> </a:t>
            </a:r>
            <a:r>
              <a:rPr lang="en-IN" sz="2000" b="1" dirty="0">
                <a:solidFill>
                  <a:srgbClr val="0000FF"/>
                </a:solidFill>
              </a:rPr>
              <a:t>&lt;access_modifier&gt;</a:t>
            </a:r>
            <a:r>
              <a:rPr lang="en-IN" sz="2000" b="1" dirty="0"/>
              <a:t> </a:t>
            </a:r>
            <a:r>
              <a:rPr lang="en-IN" sz="2000" b="1" dirty="0" err="1">
                <a:solidFill>
                  <a:srgbClr val="0070C0"/>
                </a:solidFill>
              </a:rPr>
              <a:t>return_type</a:t>
            </a:r>
            <a:r>
              <a:rPr lang="en-IN" sz="2000" b="1" dirty="0"/>
              <a:t> </a:t>
            </a:r>
            <a:r>
              <a:rPr lang="en-IN" sz="2000" b="1" dirty="0" err="1"/>
              <a:t>method_name</a:t>
            </a:r>
            <a:r>
              <a:rPr lang="en-IN" sz="2000" b="1" dirty="0"/>
              <a:t>(&lt;paramtype1 paramname1, paramtype2 paraname2&gt;) &lt;throws </a:t>
            </a:r>
            <a:r>
              <a:rPr lang="en-IN" sz="2000" b="1" dirty="0" err="1"/>
              <a:t>ExceptionsList</a:t>
            </a:r>
            <a:r>
              <a:rPr lang="en-IN" sz="2000" b="1" dirty="0"/>
              <a:t>&gt; {</a:t>
            </a:r>
          </a:p>
          <a:p>
            <a:r>
              <a:rPr lang="en-IN" sz="2000" b="1" dirty="0"/>
              <a:t>	// method body</a:t>
            </a:r>
          </a:p>
          <a:p>
            <a:r>
              <a:rPr lang="en-IN" sz="2000" b="1" dirty="0"/>
              <a:t>}</a:t>
            </a:r>
          </a:p>
          <a:p>
            <a:endParaRPr lang="en-IN" sz="2000" b="1" dirty="0"/>
          </a:p>
          <a:p>
            <a:r>
              <a:rPr lang="en-IN" sz="2800" b="1" u="sng" dirty="0">
                <a:solidFill>
                  <a:srgbClr val="FF0000"/>
                </a:solidFill>
              </a:rPr>
              <a:t>Examples:</a:t>
            </a:r>
          </a:p>
          <a:p>
            <a:r>
              <a:rPr lang="en-IN" sz="2000" b="1" dirty="0"/>
              <a:t>void add() {</a:t>
            </a:r>
          </a:p>
          <a:p>
            <a:r>
              <a:rPr lang="en-IN" sz="2000" b="1" dirty="0"/>
              <a:t>}</a:t>
            </a:r>
          </a:p>
          <a:p>
            <a:endParaRPr lang="en-IN" sz="2000" b="1" dirty="0"/>
          </a:p>
          <a:p>
            <a:r>
              <a:rPr lang="en-IN" sz="2000" b="1" dirty="0"/>
              <a:t>public abstract double divide(int </a:t>
            </a:r>
            <a:r>
              <a:rPr lang="en-IN" sz="2000" b="1" dirty="0" err="1"/>
              <a:t>i</a:t>
            </a:r>
            <a:r>
              <a:rPr lang="en-IN" sz="2000" b="1" dirty="0"/>
              <a:t>, int j) throws ArithmeticException;</a:t>
            </a:r>
          </a:p>
          <a:p>
            <a:endParaRPr lang="en-IN" sz="2000" b="1" dirty="0"/>
          </a:p>
          <a:p>
            <a:r>
              <a:rPr lang="en-IN" sz="2000" b="1" dirty="0"/>
              <a:t>public final int add(int a, int b) {</a:t>
            </a:r>
          </a:p>
          <a:p>
            <a:r>
              <a:rPr lang="en-IN" sz="2000" b="1" dirty="0"/>
              <a:t>	return a + b;</a:t>
            </a:r>
          </a:p>
          <a:p>
            <a:r>
              <a:rPr lang="en-IN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911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698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Surya Narayana</cp:lastModifiedBy>
  <cp:revision>36</cp:revision>
  <dcterms:created xsi:type="dcterms:W3CDTF">2021-09-13T09:22:41Z</dcterms:created>
  <dcterms:modified xsi:type="dcterms:W3CDTF">2022-02-28T09:04:51Z</dcterms:modified>
</cp:coreProperties>
</file>