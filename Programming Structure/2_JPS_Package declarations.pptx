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0" r:id="rId3"/>
    <p:sldId id="261" r:id="rId4"/>
    <p:sldId id="262" r:id="rId5"/>
    <p:sldId id="263" r:id="rId6"/>
    <p:sldId id="264" r:id="rId7"/>
    <p:sldId id="265" r:id="rId8"/>
    <p:sldId id="266" r:id="rId9"/>
    <p:sldId id="267" r:id="rId10"/>
    <p:sldId id="268" r:id="rId11"/>
    <p:sldId id="269" r:id="rId12"/>
    <p:sldId id="270"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F66"/>
    <a:srgbClr val="990033"/>
    <a:srgbClr val="0000FF"/>
    <a:srgbClr val="3399FF"/>
    <a:srgbClr val="FF9933"/>
    <a:srgbClr val="FF5050"/>
    <a:srgbClr val="F105D3"/>
    <a:srgbClr val="902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72" d="100"/>
          <a:sy n="72" d="100"/>
        </p:scale>
        <p:origin x="66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D53D4-ADD2-48AC-8994-14A51F0D2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537EA9-7966-48DB-8A37-F2A824B84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5E772E-FB9A-427D-A4FB-DDA4C7000266}"/>
              </a:ext>
            </a:extLst>
          </p:cNvPr>
          <p:cNvSpPr>
            <a:spLocks noGrp="1"/>
          </p:cNvSpPr>
          <p:nvPr>
            <p:ph type="dt" sz="half" idx="10"/>
          </p:nvPr>
        </p:nvSpPr>
        <p:spPr/>
        <p:txBody>
          <a:bodyPr/>
          <a:lstStyle/>
          <a:p>
            <a:fld id="{7D4F8FD7-6664-4EC7-B781-79F419E034EE}" type="datetimeFigureOut">
              <a:rPr lang="en-US" smtClean="0"/>
              <a:t>2/17/2022</a:t>
            </a:fld>
            <a:endParaRPr lang="en-US"/>
          </a:p>
        </p:txBody>
      </p:sp>
      <p:sp>
        <p:nvSpPr>
          <p:cNvPr id="5" name="Footer Placeholder 4">
            <a:extLst>
              <a:ext uri="{FF2B5EF4-FFF2-40B4-BE49-F238E27FC236}">
                <a16:creationId xmlns:a16="http://schemas.microsoft.com/office/drawing/2014/main" id="{F37A32E3-D1D5-46C6-AB63-9F796F5BEC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6DE672-2E16-4C2D-BE2B-5E484F17256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274145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C132-9C22-4029-B989-13CBB40B5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9E3EE7-F4CB-4065-A44E-0318879BBF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DB2CBC-33D2-4A33-B187-2CD7DA66C582}"/>
              </a:ext>
            </a:extLst>
          </p:cNvPr>
          <p:cNvSpPr>
            <a:spLocks noGrp="1"/>
          </p:cNvSpPr>
          <p:nvPr>
            <p:ph type="dt" sz="half" idx="10"/>
          </p:nvPr>
        </p:nvSpPr>
        <p:spPr/>
        <p:txBody>
          <a:bodyPr/>
          <a:lstStyle/>
          <a:p>
            <a:fld id="{7D4F8FD7-6664-4EC7-B781-79F419E034EE}" type="datetimeFigureOut">
              <a:rPr lang="en-US" smtClean="0"/>
              <a:t>2/17/2022</a:t>
            </a:fld>
            <a:endParaRPr lang="en-US"/>
          </a:p>
        </p:txBody>
      </p:sp>
      <p:sp>
        <p:nvSpPr>
          <p:cNvPr id="5" name="Footer Placeholder 4">
            <a:extLst>
              <a:ext uri="{FF2B5EF4-FFF2-40B4-BE49-F238E27FC236}">
                <a16:creationId xmlns:a16="http://schemas.microsoft.com/office/drawing/2014/main" id="{D98BBEDA-6CC0-4558-9D29-AB6DD426BB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AA790F-764D-42B5-A732-7C09D26BA16F}"/>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04894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0C65-FF2A-4010-8C73-BB6E501313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24171B-58EF-43B4-84A8-E189462C4D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6566F5-22D5-459C-990D-7013F4D89A32}"/>
              </a:ext>
            </a:extLst>
          </p:cNvPr>
          <p:cNvSpPr>
            <a:spLocks noGrp="1"/>
          </p:cNvSpPr>
          <p:nvPr>
            <p:ph type="dt" sz="half" idx="10"/>
          </p:nvPr>
        </p:nvSpPr>
        <p:spPr/>
        <p:txBody>
          <a:bodyPr/>
          <a:lstStyle/>
          <a:p>
            <a:fld id="{7D4F8FD7-6664-4EC7-B781-79F419E034EE}" type="datetimeFigureOut">
              <a:rPr lang="en-US" smtClean="0"/>
              <a:t>2/17/2022</a:t>
            </a:fld>
            <a:endParaRPr lang="en-US"/>
          </a:p>
        </p:txBody>
      </p:sp>
      <p:sp>
        <p:nvSpPr>
          <p:cNvPr id="5" name="Footer Placeholder 4">
            <a:extLst>
              <a:ext uri="{FF2B5EF4-FFF2-40B4-BE49-F238E27FC236}">
                <a16:creationId xmlns:a16="http://schemas.microsoft.com/office/drawing/2014/main" id="{D96CC63D-E273-4AAA-95C9-E401177BF9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BCFC71-6835-40D7-B028-B3CB4223C1F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67427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D4678-1CB9-4E61-9A69-472A205AB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D61F08-F7B7-408E-BEDD-156B3EB710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2C45BB-AABE-4D19-813B-EC4B59505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9E3F09-087B-4D93-9258-8AF6657B21C4}"/>
              </a:ext>
            </a:extLst>
          </p:cNvPr>
          <p:cNvSpPr>
            <a:spLocks noGrp="1"/>
          </p:cNvSpPr>
          <p:nvPr>
            <p:ph type="dt" sz="half" idx="10"/>
          </p:nvPr>
        </p:nvSpPr>
        <p:spPr/>
        <p:txBody>
          <a:bodyPr/>
          <a:lstStyle/>
          <a:p>
            <a:fld id="{7D4F8FD7-6664-4EC7-B781-79F419E034EE}" type="datetimeFigureOut">
              <a:rPr lang="en-US" smtClean="0"/>
              <a:t>2/17/2022</a:t>
            </a:fld>
            <a:endParaRPr lang="en-US"/>
          </a:p>
        </p:txBody>
      </p:sp>
      <p:sp>
        <p:nvSpPr>
          <p:cNvPr id="6" name="Footer Placeholder 5">
            <a:extLst>
              <a:ext uri="{FF2B5EF4-FFF2-40B4-BE49-F238E27FC236}">
                <a16:creationId xmlns:a16="http://schemas.microsoft.com/office/drawing/2014/main" id="{60944505-AD8E-4AAE-91A7-1E3E3739C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6EA56F-3ACC-4F18-9178-D44D8FC27BB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93709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E4EF0-CA05-417F-B465-4F0A092954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4F7286-079E-4D01-9619-DC462E593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19288F-0A0B-483F-BB13-3EDE5C3DA2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2A0B30-266B-488F-B6CB-4AD30D85DF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F90638-24C7-42C8-8931-B2B348493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666EBA-30E0-4DF0-96BE-62BE6AB519DD}"/>
              </a:ext>
            </a:extLst>
          </p:cNvPr>
          <p:cNvSpPr>
            <a:spLocks noGrp="1"/>
          </p:cNvSpPr>
          <p:nvPr>
            <p:ph type="dt" sz="half" idx="10"/>
          </p:nvPr>
        </p:nvSpPr>
        <p:spPr/>
        <p:txBody>
          <a:bodyPr/>
          <a:lstStyle/>
          <a:p>
            <a:fld id="{7D4F8FD7-6664-4EC7-B781-79F419E034EE}" type="datetimeFigureOut">
              <a:rPr lang="en-US" smtClean="0"/>
              <a:t>2/17/2022</a:t>
            </a:fld>
            <a:endParaRPr lang="en-US"/>
          </a:p>
        </p:txBody>
      </p:sp>
      <p:sp>
        <p:nvSpPr>
          <p:cNvPr id="8" name="Footer Placeholder 7">
            <a:extLst>
              <a:ext uri="{FF2B5EF4-FFF2-40B4-BE49-F238E27FC236}">
                <a16:creationId xmlns:a16="http://schemas.microsoft.com/office/drawing/2014/main" id="{93E8E635-E195-41C7-81C8-D334493619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780DF9-B1D9-49B8-81AF-4B716B67A25C}"/>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47652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DFEEF-8D2B-4F54-B662-31AEFD3DB8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297C29-F3EE-4250-9919-93948D0BEEB6}"/>
              </a:ext>
            </a:extLst>
          </p:cNvPr>
          <p:cNvSpPr>
            <a:spLocks noGrp="1"/>
          </p:cNvSpPr>
          <p:nvPr>
            <p:ph type="dt" sz="half" idx="10"/>
          </p:nvPr>
        </p:nvSpPr>
        <p:spPr/>
        <p:txBody>
          <a:bodyPr/>
          <a:lstStyle/>
          <a:p>
            <a:fld id="{7D4F8FD7-6664-4EC7-B781-79F419E034EE}" type="datetimeFigureOut">
              <a:rPr lang="en-US" smtClean="0"/>
              <a:t>2/17/2022</a:t>
            </a:fld>
            <a:endParaRPr lang="en-US"/>
          </a:p>
        </p:txBody>
      </p:sp>
      <p:sp>
        <p:nvSpPr>
          <p:cNvPr id="4" name="Footer Placeholder 3">
            <a:extLst>
              <a:ext uri="{FF2B5EF4-FFF2-40B4-BE49-F238E27FC236}">
                <a16:creationId xmlns:a16="http://schemas.microsoft.com/office/drawing/2014/main" id="{34AADB8D-7767-4295-999A-A9CDFEC2CE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0748590-559B-4E6B-AF48-236BD7F81832}"/>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15514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AAAFAD-BAB5-47A0-9962-AC707DCEEC4C}"/>
              </a:ext>
            </a:extLst>
          </p:cNvPr>
          <p:cNvSpPr>
            <a:spLocks noGrp="1"/>
          </p:cNvSpPr>
          <p:nvPr>
            <p:ph type="dt" sz="half" idx="10"/>
          </p:nvPr>
        </p:nvSpPr>
        <p:spPr/>
        <p:txBody>
          <a:bodyPr/>
          <a:lstStyle/>
          <a:p>
            <a:fld id="{7D4F8FD7-6664-4EC7-B781-79F419E034EE}" type="datetimeFigureOut">
              <a:rPr lang="en-US" smtClean="0"/>
              <a:t>2/17/2022</a:t>
            </a:fld>
            <a:endParaRPr lang="en-US"/>
          </a:p>
        </p:txBody>
      </p:sp>
      <p:sp>
        <p:nvSpPr>
          <p:cNvPr id="3" name="Footer Placeholder 2">
            <a:extLst>
              <a:ext uri="{FF2B5EF4-FFF2-40B4-BE49-F238E27FC236}">
                <a16:creationId xmlns:a16="http://schemas.microsoft.com/office/drawing/2014/main" id="{BE7E0FD4-2958-49A6-9B7B-5BCE813DA7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7CCC7F-90C7-40A3-A729-679A94EC8C3E}"/>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27961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927E8-8760-4B04-BDEF-1AC275A52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12E94A-ABB1-48E4-A3B6-4DA4142EC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F4EB3F-9F7E-4886-B5A3-9143917E7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C9E36-A297-4BF1-AC4B-B05E7A56454F}"/>
              </a:ext>
            </a:extLst>
          </p:cNvPr>
          <p:cNvSpPr>
            <a:spLocks noGrp="1"/>
          </p:cNvSpPr>
          <p:nvPr>
            <p:ph type="dt" sz="half" idx="10"/>
          </p:nvPr>
        </p:nvSpPr>
        <p:spPr/>
        <p:txBody>
          <a:bodyPr/>
          <a:lstStyle/>
          <a:p>
            <a:fld id="{7D4F8FD7-6664-4EC7-B781-79F419E034EE}" type="datetimeFigureOut">
              <a:rPr lang="en-US" smtClean="0"/>
              <a:t>2/17/2022</a:t>
            </a:fld>
            <a:endParaRPr lang="en-US"/>
          </a:p>
        </p:txBody>
      </p:sp>
      <p:sp>
        <p:nvSpPr>
          <p:cNvPr id="6" name="Footer Placeholder 5">
            <a:extLst>
              <a:ext uri="{FF2B5EF4-FFF2-40B4-BE49-F238E27FC236}">
                <a16:creationId xmlns:a16="http://schemas.microsoft.com/office/drawing/2014/main" id="{3C0882DF-10C8-41FD-B12B-C4E3CD8919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6D6DCD-5CAB-493D-B90D-5FB3795C302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62865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295E-4A9D-40B5-962D-C4201C17D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576C82-F6F1-4481-84C6-40A1DE0A0A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8E40E7-4BEF-4AE8-A81B-8308860BF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ED0C40-7C93-47EE-B801-F4B254FD1134}"/>
              </a:ext>
            </a:extLst>
          </p:cNvPr>
          <p:cNvSpPr>
            <a:spLocks noGrp="1"/>
          </p:cNvSpPr>
          <p:nvPr>
            <p:ph type="dt" sz="half" idx="10"/>
          </p:nvPr>
        </p:nvSpPr>
        <p:spPr/>
        <p:txBody>
          <a:bodyPr/>
          <a:lstStyle/>
          <a:p>
            <a:fld id="{7D4F8FD7-6664-4EC7-B781-79F419E034EE}" type="datetimeFigureOut">
              <a:rPr lang="en-US" smtClean="0"/>
              <a:t>2/17/2022</a:t>
            </a:fld>
            <a:endParaRPr lang="en-US"/>
          </a:p>
        </p:txBody>
      </p:sp>
      <p:sp>
        <p:nvSpPr>
          <p:cNvPr id="6" name="Footer Placeholder 5">
            <a:extLst>
              <a:ext uri="{FF2B5EF4-FFF2-40B4-BE49-F238E27FC236}">
                <a16:creationId xmlns:a16="http://schemas.microsoft.com/office/drawing/2014/main" id="{F08C15F7-71FB-46EE-9034-CEFA37850D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5B243A-27C1-407B-995C-C80EDDD3600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1060794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3B020-63B9-4BF9-B46E-630CCA8D14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50300-809F-4B1C-BF1F-2C1EF82E1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BD4618-E7CC-4722-B3AA-20767EE3B7EC}"/>
              </a:ext>
            </a:extLst>
          </p:cNvPr>
          <p:cNvSpPr>
            <a:spLocks noGrp="1"/>
          </p:cNvSpPr>
          <p:nvPr>
            <p:ph type="dt" sz="half" idx="10"/>
          </p:nvPr>
        </p:nvSpPr>
        <p:spPr/>
        <p:txBody>
          <a:bodyPr/>
          <a:lstStyle/>
          <a:p>
            <a:fld id="{7D4F8FD7-6664-4EC7-B781-79F419E034EE}" type="datetimeFigureOut">
              <a:rPr lang="en-US" smtClean="0"/>
              <a:t>2/17/2022</a:t>
            </a:fld>
            <a:endParaRPr lang="en-US"/>
          </a:p>
        </p:txBody>
      </p:sp>
      <p:sp>
        <p:nvSpPr>
          <p:cNvPr id="5" name="Footer Placeholder 4">
            <a:extLst>
              <a:ext uri="{FF2B5EF4-FFF2-40B4-BE49-F238E27FC236}">
                <a16:creationId xmlns:a16="http://schemas.microsoft.com/office/drawing/2014/main" id="{6EEC0B0F-962D-40AE-ABD3-0EA484E15F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40AE87-E966-4036-A783-F3B9616652A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27118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3D95C4-7F0B-4781-8E51-FCBD7CF6CD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36C176-4EC6-451D-9FCF-4E0B4E7988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842DD7-D7F2-4D2D-B342-780C9519A101}"/>
              </a:ext>
            </a:extLst>
          </p:cNvPr>
          <p:cNvSpPr>
            <a:spLocks noGrp="1"/>
          </p:cNvSpPr>
          <p:nvPr>
            <p:ph type="dt" sz="half" idx="10"/>
          </p:nvPr>
        </p:nvSpPr>
        <p:spPr/>
        <p:txBody>
          <a:bodyPr/>
          <a:lstStyle/>
          <a:p>
            <a:fld id="{7D4F8FD7-6664-4EC7-B781-79F419E034EE}" type="datetimeFigureOut">
              <a:rPr lang="en-US" smtClean="0"/>
              <a:t>2/17/2022</a:t>
            </a:fld>
            <a:endParaRPr lang="en-US"/>
          </a:p>
        </p:txBody>
      </p:sp>
      <p:sp>
        <p:nvSpPr>
          <p:cNvPr id="5" name="Footer Placeholder 4">
            <a:extLst>
              <a:ext uri="{FF2B5EF4-FFF2-40B4-BE49-F238E27FC236}">
                <a16:creationId xmlns:a16="http://schemas.microsoft.com/office/drawing/2014/main" id="{FB1DD1C9-3310-40BF-A04F-E566FCA50C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9A0831-D597-4CA4-AB0B-B9DDC151CB0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45315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B9F031-B0EE-4257-8C48-672A5B27A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CC5C53-8193-4B94-A5A2-9272C0FC20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7540B0-D806-4E03-A997-E808A0A9A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4F8FD7-6664-4EC7-B781-79F419E034EE}" type="datetimeFigureOut">
              <a:rPr lang="en-US" smtClean="0"/>
              <a:t>2/17/2022</a:t>
            </a:fld>
            <a:endParaRPr lang="en-US"/>
          </a:p>
        </p:txBody>
      </p:sp>
      <p:sp>
        <p:nvSpPr>
          <p:cNvPr id="5" name="Footer Placeholder 4">
            <a:extLst>
              <a:ext uri="{FF2B5EF4-FFF2-40B4-BE49-F238E27FC236}">
                <a16:creationId xmlns:a16="http://schemas.microsoft.com/office/drawing/2014/main" id="{44CBE7AA-0209-485D-98A0-22386CF87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362E21E-194A-44F2-8CEA-40483DA3B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A21A4-CB3A-4A18-A46B-5DD19456934C}" type="slidenum">
              <a:rPr lang="en-US" smtClean="0"/>
              <a:t>‹#›</a:t>
            </a:fld>
            <a:endParaRPr lang="en-US"/>
          </a:p>
        </p:txBody>
      </p:sp>
    </p:spTree>
    <p:extLst>
      <p:ext uri="{BB962C8B-B14F-4D97-AF65-F5344CB8AC3E}">
        <p14:creationId xmlns:p14="http://schemas.microsoft.com/office/powerpoint/2010/main" val="3934378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3200" b="1" dirty="0">
                  <a:solidFill>
                    <a:schemeClr val="bg1"/>
                  </a:solidFill>
                </a:rPr>
                <a:t>Use of package</a:t>
              </a: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6" name="TextBox 25">
            <a:extLst>
              <a:ext uri="{FF2B5EF4-FFF2-40B4-BE49-F238E27FC236}">
                <a16:creationId xmlns:a16="http://schemas.microsoft.com/office/drawing/2014/main" id="{3F54EEFF-9DA5-4CE4-97D2-C0BB441D551E}"/>
              </a:ext>
            </a:extLst>
          </p:cNvPr>
          <p:cNvSpPr txBox="1"/>
          <p:nvPr/>
        </p:nvSpPr>
        <p:spPr>
          <a:xfrm>
            <a:off x="1152939" y="1477819"/>
            <a:ext cx="7793233" cy="3139321"/>
          </a:xfrm>
          <a:prstGeom prst="rect">
            <a:avLst/>
          </a:prstGeom>
          <a:noFill/>
        </p:spPr>
        <p:txBody>
          <a:bodyPr wrap="square">
            <a:spAutoFit/>
          </a:bodyPr>
          <a:lstStyle/>
          <a:p>
            <a:pPr algn="ctr"/>
            <a:r>
              <a:rPr lang="en-IN" sz="6600" b="1" dirty="0">
                <a:solidFill>
                  <a:srgbClr val="FF0000"/>
                </a:solidFill>
              </a:rPr>
              <a:t>package declaration </a:t>
            </a:r>
          </a:p>
          <a:p>
            <a:pPr algn="ctr"/>
            <a:r>
              <a:rPr lang="en-IN" sz="6600" b="1" dirty="0">
                <a:solidFill>
                  <a:srgbClr val="FF0000"/>
                </a:solidFill>
              </a:rPr>
              <a:t>&amp; </a:t>
            </a:r>
          </a:p>
          <a:p>
            <a:pPr algn="ctr"/>
            <a:r>
              <a:rPr lang="en-IN" sz="6600" b="1" dirty="0">
                <a:solidFill>
                  <a:srgbClr val="FF0000"/>
                </a:solidFill>
              </a:rPr>
              <a:t>import statements</a:t>
            </a:r>
          </a:p>
        </p:txBody>
      </p:sp>
    </p:spTree>
    <p:extLst>
      <p:ext uri="{BB962C8B-B14F-4D97-AF65-F5344CB8AC3E}">
        <p14:creationId xmlns:p14="http://schemas.microsoft.com/office/powerpoint/2010/main" val="3835088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3200" b="1" dirty="0">
                  <a:solidFill>
                    <a:schemeClr val="bg1"/>
                  </a:solidFill>
                </a:rPr>
                <a:t>Use of package</a:t>
              </a: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5" name="TextBox 24">
            <a:extLst>
              <a:ext uri="{FF2B5EF4-FFF2-40B4-BE49-F238E27FC236}">
                <a16:creationId xmlns:a16="http://schemas.microsoft.com/office/drawing/2014/main" id="{A4422FB7-C571-4938-8E92-15F2424994E8}"/>
              </a:ext>
            </a:extLst>
          </p:cNvPr>
          <p:cNvSpPr txBox="1"/>
          <p:nvPr/>
        </p:nvSpPr>
        <p:spPr>
          <a:xfrm>
            <a:off x="951192" y="1335688"/>
            <a:ext cx="8083826" cy="4708981"/>
          </a:xfrm>
          <a:prstGeom prst="rect">
            <a:avLst/>
          </a:prstGeom>
          <a:noFill/>
        </p:spPr>
        <p:txBody>
          <a:bodyPr wrap="square">
            <a:spAutoFit/>
          </a:bodyPr>
          <a:lstStyle/>
          <a:p>
            <a:pPr algn="just"/>
            <a:r>
              <a:rPr lang="en-US" sz="2000" b="1" dirty="0">
                <a:solidFill>
                  <a:srgbClr val="FF0000"/>
                </a:solidFill>
                <a:latin typeface="Bookman Old Style" panose="02050604050505020204" pitchFamily="18" charset="0"/>
              </a:rPr>
              <a:t>package name is a logical name to physically existing directory.</a:t>
            </a:r>
          </a:p>
          <a:p>
            <a:pPr algn="just"/>
            <a:endParaRPr lang="en-US" sz="2000" b="1" dirty="0">
              <a:solidFill>
                <a:srgbClr val="FF0000"/>
              </a:solidFill>
              <a:latin typeface="Bookman Old Style" panose="02050604050505020204" pitchFamily="18" charset="0"/>
            </a:endParaRPr>
          </a:p>
          <a:p>
            <a:pPr algn="just"/>
            <a:r>
              <a:rPr lang="en-US" sz="2000" b="1" dirty="0">
                <a:solidFill>
                  <a:srgbClr val="0070C0"/>
                </a:solidFill>
                <a:latin typeface="Bookman Old Style" panose="02050604050505020204" pitchFamily="18" charset="0"/>
              </a:rPr>
              <a:t>If classes written in one directory want to be used in other directories, then every class in a directory must have package declaration and Class should be declared as public. Variables, constructors and methods can be declared with desired scope. Such classes can be imported anywhere in the system.</a:t>
            </a:r>
          </a:p>
          <a:p>
            <a:pPr algn="just"/>
            <a:endParaRPr lang="en-US" sz="2000" b="1" dirty="0">
              <a:solidFill>
                <a:srgbClr val="FF0000"/>
              </a:solidFill>
              <a:latin typeface="Bookman Old Style" panose="02050604050505020204" pitchFamily="18" charset="0"/>
            </a:endParaRPr>
          </a:p>
          <a:p>
            <a:pPr algn="just"/>
            <a:r>
              <a:rPr lang="en-US" sz="2000" b="1" dirty="0">
                <a:solidFill>
                  <a:srgbClr val="002060"/>
                </a:solidFill>
                <a:latin typeface="Bookman Old Style" panose="02050604050505020204" pitchFamily="18" charset="0"/>
              </a:rPr>
              <a:t>package declaration is meant/mandatory if any user defined java class that want to be reusable within and outside the directory (through out the system). Along with package declaration the class also must be declared as public.</a:t>
            </a:r>
          </a:p>
        </p:txBody>
      </p:sp>
    </p:spTree>
    <p:extLst>
      <p:ext uri="{BB962C8B-B14F-4D97-AF65-F5344CB8AC3E}">
        <p14:creationId xmlns:p14="http://schemas.microsoft.com/office/powerpoint/2010/main" val="4047678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3200" b="1" dirty="0">
                  <a:solidFill>
                    <a:schemeClr val="bg1"/>
                  </a:solidFill>
                </a:rPr>
                <a:t>Package example</a:t>
              </a: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5" name="TextBox 24">
            <a:extLst>
              <a:ext uri="{FF2B5EF4-FFF2-40B4-BE49-F238E27FC236}">
                <a16:creationId xmlns:a16="http://schemas.microsoft.com/office/drawing/2014/main" id="{A4422FB7-C571-4938-8E92-15F2424994E8}"/>
              </a:ext>
            </a:extLst>
          </p:cNvPr>
          <p:cNvSpPr txBox="1"/>
          <p:nvPr/>
        </p:nvSpPr>
        <p:spPr>
          <a:xfrm>
            <a:off x="773728" y="838770"/>
            <a:ext cx="8383523" cy="5693866"/>
          </a:xfrm>
          <a:prstGeom prst="rect">
            <a:avLst/>
          </a:prstGeom>
          <a:noFill/>
        </p:spPr>
        <p:txBody>
          <a:bodyPr wrap="square">
            <a:spAutoFit/>
          </a:bodyPr>
          <a:lstStyle/>
          <a:p>
            <a:pPr algn="just"/>
            <a:r>
              <a:rPr lang="en-US" sz="2400" b="1" dirty="0">
                <a:solidFill>
                  <a:srgbClr val="FF0000"/>
                </a:solidFill>
                <a:latin typeface="Bookman Old Style" panose="02050604050505020204" pitchFamily="18" charset="0"/>
              </a:rPr>
              <a:t>Example on package declaration:</a:t>
            </a:r>
          </a:p>
          <a:p>
            <a:pPr algn="just"/>
            <a:r>
              <a:rPr lang="en-US" sz="2000" b="1" dirty="0">
                <a:solidFill>
                  <a:srgbClr val="002060"/>
                </a:solidFill>
                <a:latin typeface="Bookman Old Style" panose="02050604050505020204" pitchFamily="18" charset="0"/>
              </a:rPr>
              <a:t>C:\iare\core\am3\javalang\structure</a:t>
            </a:r>
          </a:p>
          <a:p>
            <a:pPr algn="just"/>
            <a:r>
              <a:rPr lang="en-US" sz="2000" dirty="0">
                <a:solidFill>
                  <a:srgbClr val="002060"/>
                </a:solidFill>
                <a:latin typeface="Bookman Old Style" panose="02050604050505020204" pitchFamily="18" charset="0"/>
              </a:rPr>
              <a:t>// A.java</a:t>
            </a:r>
          </a:p>
          <a:p>
            <a:pPr algn="just"/>
            <a:r>
              <a:rPr lang="en-US" sz="2000" b="1" dirty="0">
                <a:solidFill>
                  <a:srgbClr val="FF0000"/>
                </a:solidFill>
                <a:latin typeface="Bookman Old Style" panose="02050604050505020204" pitchFamily="18" charset="0"/>
              </a:rPr>
              <a:t>package core.am3.javalang.structure;</a:t>
            </a:r>
          </a:p>
          <a:p>
            <a:pPr algn="just"/>
            <a:r>
              <a:rPr lang="en-US" sz="2000" dirty="0">
                <a:solidFill>
                  <a:srgbClr val="002060"/>
                </a:solidFill>
                <a:latin typeface="Bookman Old Style" panose="02050604050505020204" pitchFamily="18" charset="0"/>
              </a:rPr>
              <a:t>public class A {</a:t>
            </a:r>
          </a:p>
          <a:p>
            <a:pPr algn="just"/>
            <a:endParaRPr lang="en-US" sz="2000" dirty="0">
              <a:solidFill>
                <a:srgbClr val="002060"/>
              </a:solidFill>
              <a:latin typeface="Bookman Old Style" panose="02050604050505020204" pitchFamily="18" charset="0"/>
            </a:endParaRPr>
          </a:p>
          <a:p>
            <a:pPr algn="just"/>
            <a:r>
              <a:rPr lang="en-US" sz="2000" dirty="0">
                <a:solidFill>
                  <a:srgbClr val="002060"/>
                </a:solidFill>
                <a:latin typeface="Bookman Old Style" panose="02050604050505020204" pitchFamily="18" charset="0"/>
              </a:rPr>
              <a:t>	private int a; // private access specifier variable </a:t>
            </a:r>
          </a:p>
          <a:p>
            <a:pPr algn="just"/>
            <a:r>
              <a:rPr lang="en-US" sz="2000" dirty="0">
                <a:solidFill>
                  <a:srgbClr val="002060"/>
                </a:solidFill>
                <a:latin typeface="Bookman Old Style" panose="02050604050505020204" pitchFamily="18" charset="0"/>
              </a:rPr>
              <a:t>	int b;  // default access specifier variable</a:t>
            </a:r>
          </a:p>
          <a:p>
            <a:pPr algn="just"/>
            <a:r>
              <a:rPr lang="en-US" sz="2000" dirty="0">
                <a:solidFill>
                  <a:srgbClr val="002060"/>
                </a:solidFill>
                <a:latin typeface="Bookman Old Style" panose="02050604050505020204" pitchFamily="18" charset="0"/>
              </a:rPr>
              <a:t>	protected int c;  // protected access specifier variable</a:t>
            </a:r>
          </a:p>
          <a:p>
            <a:pPr algn="just"/>
            <a:r>
              <a:rPr lang="en-US" sz="2000" dirty="0">
                <a:solidFill>
                  <a:srgbClr val="002060"/>
                </a:solidFill>
                <a:latin typeface="Bookman Old Style" panose="02050604050505020204" pitchFamily="18" charset="0"/>
              </a:rPr>
              <a:t>	public int d;  // public access specifier variable</a:t>
            </a:r>
          </a:p>
          <a:p>
            <a:pPr algn="just"/>
            <a:r>
              <a:rPr lang="en-US" sz="2000" dirty="0">
                <a:solidFill>
                  <a:srgbClr val="002060"/>
                </a:solidFill>
                <a:latin typeface="Bookman Old Style" panose="02050604050505020204" pitchFamily="18" charset="0"/>
              </a:rPr>
              <a:t>	</a:t>
            </a:r>
          </a:p>
          <a:p>
            <a:pPr algn="just"/>
            <a:r>
              <a:rPr lang="en-US" sz="2000" dirty="0">
                <a:solidFill>
                  <a:srgbClr val="002060"/>
                </a:solidFill>
                <a:latin typeface="Bookman Old Style" panose="02050604050505020204" pitchFamily="18" charset="0"/>
              </a:rPr>
              <a:t>	public void print() {</a:t>
            </a:r>
          </a:p>
          <a:p>
            <a:pPr algn="just"/>
            <a:r>
              <a:rPr lang="en-US" sz="2000" dirty="0">
                <a:solidFill>
                  <a:srgbClr val="002060"/>
                </a:solidFill>
                <a:latin typeface="Bookman Old Style" panose="02050604050505020204" pitchFamily="18" charset="0"/>
              </a:rPr>
              <a:t>		System.out.println(a); // Y</a:t>
            </a:r>
          </a:p>
          <a:p>
            <a:pPr algn="just"/>
            <a:r>
              <a:rPr lang="en-US" sz="2000" dirty="0">
                <a:solidFill>
                  <a:srgbClr val="002060"/>
                </a:solidFill>
                <a:latin typeface="Bookman Old Style" panose="02050604050505020204" pitchFamily="18" charset="0"/>
              </a:rPr>
              <a:t>		System.out.println(b); // Y</a:t>
            </a:r>
          </a:p>
          <a:p>
            <a:pPr algn="just"/>
            <a:r>
              <a:rPr lang="en-US" sz="2000" dirty="0">
                <a:solidFill>
                  <a:srgbClr val="002060"/>
                </a:solidFill>
                <a:latin typeface="Bookman Old Style" panose="02050604050505020204" pitchFamily="18" charset="0"/>
              </a:rPr>
              <a:t>		System.out.println(c); // Y</a:t>
            </a:r>
          </a:p>
          <a:p>
            <a:pPr algn="just"/>
            <a:r>
              <a:rPr lang="en-US" sz="2000" dirty="0">
                <a:solidFill>
                  <a:srgbClr val="002060"/>
                </a:solidFill>
                <a:latin typeface="Bookman Old Style" panose="02050604050505020204" pitchFamily="18" charset="0"/>
              </a:rPr>
              <a:t>		System.out.println(d); // Y</a:t>
            </a:r>
          </a:p>
          <a:p>
            <a:pPr algn="just"/>
            <a:r>
              <a:rPr lang="en-US" sz="2000" dirty="0">
                <a:solidFill>
                  <a:srgbClr val="002060"/>
                </a:solidFill>
                <a:latin typeface="Bookman Old Style" panose="02050604050505020204" pitchFamily="18" charset="0"/>
              </a:rPr>
              <a:t>	}</a:t>
            </a:r>
          </a:p>
          <a:p>
            <a:pPr algn="just"/>
            <a:r>
              <a:rPr lang="en-US" sz="2000" dirty="0">
                <a:solidFill>
                  <a:srgbClr val="002060"/>
                </a:solidFill>
                <a:latin typeface="Bookman Old Style" panose="02050604050505020204" pitchFamily="18" charset="0"/>
              </a:rPr>
              <a:t>}</a:t>
            </a:r>
          </a:p>
        </p:txBody>
      </p:sp>
    </p:spTree>
    <p:extLst>
      <p:ext uri="{BB962C8B-B14F-4D97-AF65-F5344CB8AC3E}">
        <p14:creationId xmlns:p14="http://schemas.microsoft.com/office/powerpoint/2010/main" val="3090418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3200" b="1" dirty="0">
                  <a:solidFill>
                    <a:schemeClr val="bg1"/>
                  </a:solidFill>
                </a:rPr>
                <a:t>Package example</a:t>
              </a: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6" name="TextBox 25">
            <a:extLst>
              <a:ext uri="{FF2B5EF4-FFF2-40B4-BE49-F238E27FC236}">
                <a16:creationId xmlns:a16="http://schemas.microsoft.com/office/drawing/2014/main" id="{FF7F526B-FEE1-484E-B0CC-CF0C31C1A863}"/>
              </a:ext>
            </a:extLst>
          </p:cNvPr>
          <p:cNvSpPr txBox="1"/>
          <p:nvPr/>
        </p:nvSpPr>
        <p:spPr>
          <a:xfrm>
            <a:off x="625326" y="1022682"/>
            <a:ext cx="8862942" cy="4093428"/>
          </a:xfrm>
          <a:prstGeom prst="rect">
            <a:avLst/>
          </a:prstGeom>
          <a:noFill/>
        </p:spPr>
        <p:txBody>
          <a:bodyPr wrap="square">
            <a:spAutoFit/>
          </a:bodyPr>
          <a:lstStyle/>
          <a:p>
            <a:pPr algn="just"/>
            <a:r>
              <a:rPr lang="en-US" sz="2000" b="1" dirty="0">
                <a:solidFill>
                  <a:srgbClr val="FF0000"/>
                </a:solidFill>
                <a:latin typeface="Bookman Old Style" panose="02050604050505020204" pitchFamily="18" charset="0"/>
              </a:rPr>
              <a:t>After declaring package declaration and class as public, </a:t>
            </a:r>
            <a:r>
              <a:rPr lang="en-US" sz="2000" b="1" dirty="0">
                <a:solidFill>
                  <a:srgbClr val="990033"/>
                </a:solidFill>
                <a:latin typeface="Bookman Old Style" panose="02050604050505020204" pitchFamily="18" charset="0"/>
              </a:rPr>
              <a:t>the package parent directory must be updated in CLASSPATH</a:t>
            </a:r>
            <a:r>
              <a:rPr lang="en-US" sz="2000" b="1" dirty="0">
                <a:solidFill>
                  <a:srgbClr val="FF0000"/>
                </a:solidFill>
                <a:latin typeface="Bookman Old Style" panose="02050604050505020204" pitchFamily="18" charset="0"/>
              </a:rPr>
              <a:t>. Otherwise package and class cannot be imported in other directories.</a:t>
            </a:r>
          </a:p>
          <a:p>
            <a:pPr algn="just"/>
            <a:endParaRPr lang="en-US" sz="2000" b="1" dirty="0">
              <a:solidFill>
                <a:srgbClr val="FF0000"/>
              </a:solidFill>
              <a:latin typeface="Bookman Old Style" panose="02050604050505020204" pitchFamily="18" charset="0"/>
            </a:endParaRPr>
          </a:p>
          <a:p>
            <a:pPr algn="just"/>
            <a:r>
              <a:rPr lang="en-US" sz="2000" b="1" dirty="0">
                <a:solidFill>
                  <a:srgbClr val="FF0000"/>
                </a:solidFill>
                <a:latin typeface="Bookman Old Style" panose="02050604050505020204" pitchFamily="18" charset="0"/>
              </a:rPr>
              <a:t>The class exist in </a:t>
            </a:r>
            <a:r>
              <a:rPr lang="en-US" sz="2000" b="1" dirty="0">
                <a:solidFill>
                  <a:schemeClr val="accent2">
                    <a:lumMod val="75000"/>
                  </a:schemeClr>
                </a:solidFill>
                <a:latin typeface="Bookman Old Style" panose="02050604050505020204" pitchFamily="18" charset="0"/>
              </a:rPr>
              <a:t>C:\iare\</a:t>
            </a:r>
            <a:r>
              <a:rPr lang="en-US" sz="2000" b="1" dirty="0">
                <a:solidFill>
                  <a:srgbClr val="00B0F0"/>
                </a:solidFill>
                <a:latin typeface="Bookman Old Style" panose="02050604050505020204" pitchFamily="18" charset="0"/>
              </a:rPr>
              <a:t>core\am3\javalang\structure</a:t>
            </a:r>
          </a:p>
          <a:p>
            <a:pPr algn="just"/>
            <a:endParaRPr lang="en-US" sz="2000" dirty="0">
              <a:solidFill>
                <a:srgbClr val="FF0000"/>
              </a:solidFill>
              <a:latin typeface="Bookman Old Style" panose="02050604050505020204" pitchFamily="18" charset="0"/>
            </a:endParaRPr>
          </a:p>
          <a:p>
            <a:pPr algn="just"/>
            <a:r>
              <a:rPr lang="en-US" sz="2000" dirty="0">
                <a:solidFill>
                  <a:srgbClr val="FF0000"/>
                </a:solidFill>
                <a:latin typeface="Bookman Old Style" panose="02050604050505020204" pitchFamily="18" charset="0"/>
              </a:rPr>
              <a:t>Update CLASSPATH as below</a:t>
            </a:r>
          </a:p>
          <a:p>
            <a:pPr algn="just"/>
            <a:r>
              <a:rPr lang="en-US" sz="2000" b="1" dirty="0">
                <a:solidFill>
                  <a:srgbClr val="FF0000"/>
                </a:solidFill>
                <a:latin typeface="Bookman Old Style" panose="02050604050505020204" pitchFamily="18" charset="0"/>
              </a:rPr>
              <a:t>CLASSPATH=%CLASSPATH%;</a:t>
            </a:r>
            <a:r>
              <a:rPr lang="en-US" sz="2000" b="1" dirty="0">
                <a:solidFill>
                  <a:schemeClr val="accent2">
                    <a:lumMod val="75000"/>
                  </a:schemeClr>
                </a:solidFill>
                <a:latin typeface="Bookman Old Style" panose="02050604050505020204" pitchFamily="18" charset="0"/>
              </a:rPr>
              <a:t>C:\iare</a:t>
            </a:r>
          </a:p>
          <a:p>
            <a:pPr algn="just"/>
            <a:endParaRPr lang="en-US" sz="2000" dirty="0">
              <a:solidFill>
                <a:srgbClr val="FF0000"/>
              </a:solidFill>
              <a:latin typeface="Bookman Old Style" panose="02050604050505020204" pitchFamily="18" charset="0"/>
            </a:endParaRPr>
          </a:p>
          <a:p>
            <a:pPr algn="just"/>
            <a:r>
              <a:rPr lang="en-US" sz="2000" dirty="0">
                <a:solidFill>
                  <a:srgbClr val="FF0000"/>
                </a:solidFill>
                <a:latin typeface="Bookman Old Style" panose="02050604050505020204" pitchFamily="18" charset="0"/>
              </a:rPr>
              <a:t>package and class can be imported in other directories as:</a:t>
            </a:r>
          </a:p>
          <a:p>
            <a:pPr algn="just"/>
            <a:r>
              <a:rPr lang="en-US" sz="2000" b="1" dirty="0">
                <a:solidFill>
                  <a:srgbClr val="FF0000"/>
                </a:solidFill>
                <a:latin typeface="Bookman Old Style" panose="02050604050505020204" pitchFamily="18" charset="0"/>
              </a:rPr>
              <a:t>import </a:t>
            </a:r>
            <a:r>
              <a:rPr lang="en-US" sz="2000" b="1" dirty="0">
                <a:solidFill>
                  <a:srgbClr val="3399FF"/>
                </a:solidFill>
                <a:latin typeface="Bookman Old Style" panose="02050604050505020204" pitchFamily="18" charset="0"/>
              </a:rPr>
              <a:t>core.am3.javalang.structure.A</a:t>
            </a:r>
            <a:r>
              <a:rPr lang="en-US" sz="2000" b="1" dirty="0">
                <a:solidFill>
                  <a:srgbClr val="FF0000"/>
                </a:solidFill>
                <a:latin typeface="Bookman Old Style" panose="02050604050505020204" pitchFamily="18" charset="0"/>
              </a:rPr>
              <a:t>;</a:t>
            </a:r>
          </a:p>
          <a:p>
            <a:pPr algn="just"/>
            <a:endParaRPr lang="en-US" sz="2000" dirty="0">
              <a:solidFill>
                <a:srgbClr val="002060"/>
              </a:solidFill>
              <a:latin typeface="Bookman Old Style" panose="02050604050505020204" pitchFamily="18" charset="0"/>
            </a:endParaRPr>
          </a:p>
        </p:txBody>
      </p:sp>
    </p:spTree>
    <p:extLst>
      <p:ext uri="{BB962C8B-B14F-4D97-AF65-F5344CB8AC3E}">
        <p14:creationId xmlns:p14="http://schemas.microsoft.com/office/powerpoint/2010/main" val="1912436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3200" b="1" dirty="0">
                  <a:solidFill>
                    <a:schemeClr val="bg1"/>
                  </a:solidFill>
                </a:rPr>
                <a:t>Package example</a:t>
              </a: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5" name="TextBox 24">
            <a:extLst>
              <a:ext uri="{FF2B5EF4-FFF2-40B4-BE49-F238E27FC236}">
                <a16:creationId xmlns:a16="http://schemas.microsoft.com/office/drawing/2014/main" id="{94F246C9-5E26-42FE-A415-A57B3C3154BD}"/>
              </a:ext>
            </a:extLst>
          </p:cNvPr>
          <p:cNvSpPr txBox="1"/>
          <p:nvPr/>
        </p:nvSpPr>
        <p:spPr>
          <a:xfrm>
            <a:off x="1086678" y="1050842"/>
            <a:ext cx="8200334" cy="4616648"/>
          </a:xfrm>
          <a:prstGeom prst="rect">
            <a:avLst/>
          </a:prstGeom>
          <a:noFill/>
        </p:spPr>
        <p:txBody>
          <a:bodyPr wrap="square">
            <a:spAutoFit/>
          </a:bodyPr>
          <a:lstStyle/>
          <a:p>
            <a:pPr algn="just"/>
            <a:r>
              <a:rPr lang="en-US" sz="2000" b="1" dirty="0">
                <a:solidFill>
                  <a:srgbClr val="FF0000"/>
                </a:solidFill>
                <a:latin typeface="Bookman Old Style" panose="02050604050505020204" pitchFamily="18" charset="0"/>
              </a:rPr>
              <a:t>Write a sub class of class A within the same package</a:t>
            </a:r>
          </a:p>
          <a:p>
            <a:pPr algn="just"/>
            <a:r>
              <a:rPr lang="en-US" sz="2000" dirty="0">
                <a:solidFill>
                  <a:srgbClr val="FF0000"/>
                </a:solidFill>
                <a:latin typeface="Bookman Old Style" panose="02050604050505020204" pitchFamily="18" charset="0"/>
              </a:rPr>
              <a:t>C:\iare\core\am3\javalang\structure</a:t>
            </a:r>
          </a:p>
          <a:p>
            <a:pPr algn="just"/>
            <a:endParaRPr lang="en-US" sz="2000" b="1" dirty="0">
              <a:solidFill>
                <a:srgbClr val="FF0000"/>
              </a:solidFill>
              <a:latin typeface="Bookman Old Style" panose="02050604050505020204" pitchFamily="18" charset="0"/>
            </a:endParaRPr>
          </a:p>
          <a:p>
            <a:pPr algn="just"/>
            <a:r>
              <a:rPr lang="en-US" b="1" dirty="0">
                <a:solidFill>
                  <a:srgbClr val="FF0000"/>
                </a:solidFill>
                <a:latin typeface="Bookman Old Style" panose="02050604050505020204" pitchFamily="18" charset="0"/>
              </a:rPr>
              <a:t>// B.java</a:t>
            </a:r>
          </a:p>
          <a:p>
            <a:pPr algn="just"/>
            <a:r>
              <a:rPr lang="en-US" b="1" dirty="0">
                <a:solidFill>
                  <a:srgbClr val="FF0000"/>
                </a:solidFill>
                <a:latin typeface="Bookman Old Style" panose="02050604050505020204" pitchFamily="18" charset="0"/>
              </a:rPr>
              <a:t>package core.am3.javalang.structure;</a:t>
            </a:r>
          </a:p>
          <a:p>
            <a:pPr algn="just"/>
            <a:r>
              <a:rPr lang="en-US" dirty="0">
                <a:solidFill>
                  <a:srgbClr val="003F66"/>
                </a:solidFill>
                <a:latin typeface="Bookman Old Style" panose="02050604050505020204" pitchFamily="18" charset="0"/>
              </a:rPr>
              <a:t>public class </a:t>
            </a:r>
            <a:r>
              <a:rPr lang="en-US" b="1" dirty="0">
                <a:solidFill>
                  <a:srgbClr val="003F66"/>
                </a:solidFill>
                <a:latin typeface="Bookman Old Style" panose="02050604050505020204" pitchFamily="18" charset="0"/>
              </a:rPr>
              <a:t>B extends A </a:t>
            </a:r>
            <a:r>
              <a:rPr lang="en-US" dirty="0">
                <a:solidFill>
                  <a:srgbClr val="003F66"/>
                </a:solidFill>
                <a:latin typeface="Bookman Old Style" panose="02050604050505020204" pitchFamily="18" charset="0"/>
              </a:rPr>
              <a:t>{ // sub class of class A within the package</a:t>
            </a:r>
          </a:p>
          <a:p>
            <a:pPr algn="just"/>
            <a:r>
              <a:rPr lang="en-US" dirty="0">
                <a:solidFill>
                  <a:srgbClr val="003F66"/>
                </a:solidFill>
                <a:latin typeface="Bookman Old Style" panose="02050604050505020204" pitchFamily="18" charset="0"/>
              </a:rPr>
              <a:t>	public void print() {</a:t>
            </a:r>
          </a:p>
          <a:p>
            <a:pPr algn="just"/>
            <a:r>
              <a:rPr lang="en-US" dirty="0">
                <a:solidFill>
                  <a:srgbClr val="003F66"/>
                </a:solidFill>
                <a:latin typeface="Bookman Old Style" panose="02050604050505020204" pitchFamily="18" charset="0"/>
              </a:rPr>
              <a:t>		System.out.println(a); // N</a:t>
            </a:r>
          </a:p>
          <a:p>
            <a:pPr algn="just"/>
            <a:r>
              <a:rPr lang="en-US" dirty="0">
                <a:solidFill>
                  <a:srgbClr val="003F66"/>
                </a:solidFill>
                <a:latin typeface="Bookman Old Style" panose="02050604050505020204" pitchFamily="18" charset="0"/>
              </a:rPr>
              <a:t>		System.out.println(b); // Y</a:t>
            </a:r>
          </a:p>
          <a:p>
            <a:pPr algn="just"/>
            <a:r>
              <a:rPr lang="en-US" dirty="0">
                <a:solidFill>
                  <a:srgbClr val="003F66"/>
                </a:solidFill>
                <a:latin typeface="Bookman Old Style" panose="02050604050505020204" pitchFamily="18" charset="0"/>
              </a:rPr>
              <a:t>		System.out.println(c); // Y</a:t>
            </a:r>
          </a:p>
          <a:p>
            <a:pPr algn="just"/>
            <a:r>
              <a:rPr lang="en-US" dirty="0">
                <a:solidFill>
                  <a:srgbClr val="003F66"/>
                </a:solidFill>
                <a:latin typeface="Bookman Old Style" panose="02050604050505020204" pitchFamily="18" charset="0"/>
              </a:rPr>
              <a:t>		System.out.println(d); // Y</a:t>
            </a:r>
          </a:p>
          <a:p>
            <a:pPr algn="just"/>
            <a:r>
              <a:rPr lang="en-US" dirty="0">
                <a:solidFill>
                  <a:srgbClr val="003F66"/>
                </a:solidFill>
                <a:latin typeface="Bookman Old Style" panose="02050604050505020204" pitchFamily="18" charset="0"/>
              </a:rPr>
              <a:t>	}</a:t>
            </a:r>
          </a:p>
          <a:p>
            <a:pPr algn="just"/>
            <a:r>
              <a:rPr lang="en-US" dirty="0">
                <a:solidFill>
                  <a:srgbClr val="003F66"/>
                </a:solidFill>
                <a:latin typeface="Bookman Old Style" panose="02050604050505020204" pitchFamily="18" charset="0"/>
              </a:rPr>
              <a:t>}</a:t>
            </a:r>
          </a:p>
          <a:p>
            <a:pPr algn="just"/>
            <a:endParaRPr lang="en-US" dirty="0">
              <a:solidFill>
                <a:srgbClr val="003F66"/>
              </a:solidFill>
              <a:latin typeface="Bookman Old Style" panose="02050604050505020204" pitchFamily="18" charset="0"/>
            </a:endParaRPr>
          </a:p>
          <a:p>
            <a:pPr algn="just"/>
            <a:r>
              <a:rPr lang="en-US" dirty="0">
                <a:solidFill>
                  <a:srgbClr val="003F66"/>
                </a:solidFill>
                <a:latin typeface="Bookman Old Style" panose="02050604050505020204" pitchFamily="18" charset="0"/>
              </a:rPr>
              <a:t>In sub class within the package except private members all other members are accessible.</a:t>
            </a:r>
          </a:p>
        </p:txBody>
      </p:sp>
    </p:spTree>
    <p:extLst>
      <p:ext uri="{BB962C8B-B14F-4D97-AF65-F5344CB8AC3E}">
        <p14:creationId xmlns:p14="http://schemas.microsoft.com/office/powerpoint/2010/main" val="3953973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3200" b="1" dirty="0">
                  <a:solidFill>
                    <a:schemeClr val="bg1"/>
                  </a:solidFill>
                </a:rPr>
                <a:t>Package example</a:t>
              </a: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6" name="TextBox 25">
            <a:extLst>
              <a:ext uri="{FF2B5EF4-FFF2-40B4-BE49-F238E27FC236}">
                <a16:creationId xmlns:a16="http://schemas.microsoft.com/office/drawing/2014/main" id="{B526DE0D-72CA-4C40-9083-A7BC9D588EDD}"/>
              </a:ext>
            </a:extLst>
          </p:cNvPr>
          <p:cNvSpPr txBox="1"/>
          <p:nvPr/>
        </p:nvSpPr>
        <p:spPr>
          <a:xfrm>
            <a:off x="1086678" y="1050842"/>
            <a:ext cx="8200334" cy="4893647"/>
          </a:xfrm>
          <a:prstGeom prst="rect">
            <a:avLst/>
          </a:prstGeom>
          <a:noFill/>
        </p:spPr>
        <p:txBody>
          <a:bodyPr wrap="square">
            <a:spAutoFit/>
          </a:bodyPr>
          <a:lstStyle/>
          <a:p>
            <a:pPr algn="just"/>
            <a:r>
              <a:rPr lang="en-US" sz="2000" b="1" dirty="0">
                <a:solidFill>
                  <a:srgbClr val="FF0000"/>
                </a:solidFill>
                <a:latin typeface="Bookman Old Style" panose="02050604050505020204" pitchFamily="18" charset="0"/>
              </a:rPr>
              <a:t>Instantiated class of class A with the same package</a:t>
            </a:r>
          </a:p>
          <a:p>
            <a:pPr algn="just"/>
            <a:r>
              <a:rPr lang="en-US" sz="2000" dirty="0">
                <a:solidFill>
                  <a:srgbClr val="FF0000"/>
                </a:solidFill>
                <a:latin typeface="Bookman Old Style" panose="02050604050505020204" pitchFamily="18" charset="0"/>
              </a:rPr>
              <a:t>C:\iare\core\am3\javalang\structure</a:t>
            </a:r>
          </a:p>
          <a:p>
            <a:pPr algn="just"/>
            <a:endParaRPr lang="en-US" sz="2000" b="1" dirty="0">
              <a:solidFill>
                <a:srgbClr val="FF0000"/>
              </a:solidFill>
              <a:latin typeface="Bookman Old Style" panose="02050604050505020204" pitchFamily="18" charset="0"/>
            </a:endParaRPr>
          </a:p>
          <a:p>
            <a:pPr algn="just"/>
            <a:r>
              <a:rPr lang="en-US" b="1" dirty="0">
                <a:solidFill>
                  <a:srgbClr val="FF0000"/>
                </a:solidFill>
                <a:latin typeface="Bookman Old Style" panose="02050604050505020204" pitchFamily="18" charset="0"/>
              </a:rPr>
              <a:t>// C.java</a:t>
            </a:r>
          </a:p>
          <a:p>
            <a:pPr algn="just"/>
            <a:r>
              <a:rPr lang="en-US" b="1" dirty="0">
                <a:solidFill>
                  <a:srgbClr val="FF0000"/>
                </a:solidFill>
                <a:latin typeface="Bookman Old Style" panose="02050604050505020204" pitchFamily="18" charset="0"/>
              </a:rPr>
              <a:t>package core.am3.javalang.structure;</a:t>
            </a:r>
          </a:p>
          <a:p>
            <a:pPr algn="just"/>
            <a:r>
              <a:rPr lang="en-US" dirty="0">
                <a:solidFill>
                  <a:srgbClr val="003F66"/>
                </a:solidFill>
                <a:latin typeface="Bookman Old Style" panose="02050604050505020204" pitchFamily="18" charset="0"/>
              </a:rPr>
              <a:t>public class C {</a:t>
            </a:r>
          </a:p>
          <a:p>
            <a:pPr algn="just"/>
            <a:r>
              <a:rPr lang="en-US" dirty="0">
                <a:solidFill>
                  <a:srgbClr val="003F66"/>
                </a:solidFill>
                <a:latin typeface="Bookman Old Style" panose="02050604050505020204" pitchFamily="18" charset="0"/>
              </a:rPr>
              <a:t>	public void print() {</a:t>
            </a:r>
          </a:p>
          <a:p>
            <a:pPr algn="just"/>
            <a:r>
              <a:rPr lang="en-US" dirty="0">
                <a:solidFill>
                  <a:srgbClr val="003F66"/>
                </a:solidFill>
                <a:latin typeface="Bookman Old Style" panose="02050604050505020204" pitchFamily="18" charset="0"/>
              </a:rPr>
              <a:t>		A a=new A(); // A instantiated within the package</a:t>
            </a:r>
          </a:p>
          <a:p>
            <a:pPr algn="just"/>
            <a:r>
              <a:rPr lang="en-US" dirty="0">
                <a:solidFill>
                  <a:srgbClr val="003F66"/>
                </a:solidFill>
                <a:latin typeface="Bookman Old Style" panose="02050604050505020204" pitchFamily="18" charset="0"/>
              </a:rPr>
              <a:t>		System.out.println(</a:t>
            </a:r>
            <a:r>
              <a:rPr lang="en-US" dirty="0" err="1">
                <a:solidFill>
                  <a:srgbClr val="003F66"/>
                </a:solidFill>
                <a:latin typeface="Bookman Old Style" panose="02050604050505020204" pitchFamily="18" charset="0"/>
              </a:rPr>
              <a:t>a.a</a:t>
            </a:r>
            <a:r>
              <a:rPr lang="en-US" dirty="0">
                <a:solidFill>
                  <a:srgbClr val="003F66"/>
                </a:solidFill>
                <a:latin typeface="Bookman Old Style" panose="02050604050505020204" pitchFamily="18" charset="0"/>
              </a:rPr>
              <a:t>); // N</a:t>
            </a:r>
          </a:p>
          <a:p>
            <a:pPr algn="just"/>
            <a:r>
              <a:rPr lang="en-US" dirty="0">
                <a:solidFill>
                  <a:srgbClr val="003F66"/>
                </a:solidFill>
                <a:latin typeface="Bookman Old Style" panose="02050604050505020204" pitchFamily="18" charset="0"/>
              </a:rPr>
              <a:t>		System.out.println(</a:t>
            </a:r>
            <a:r>
              <a:rPr lang="en-US" dirty="0" err="1">
                <a:solidFill>
                  <a:srgbClr val="003F66"/>
                </a:solidFill>
                <a:latin typeface="Bookman Old Style" panose="02050604050505020204" pitchFamily="18" charset="0"/>
              </a:rPr>
              <a:t>a.b</a:t>
            </a:r>
            <a:r>
              <a:rPr lang="en-US" dirty="0">
                <a:solidFill>
                  <a:srgbClr val="003F66"/>
                </a:solidFill>
                <a:latin typeface="Bookman Old Style" panose="02050604050505020204" pitchFamily="18" charset="0"/>
              </a:rPr>
              <a:t>); // Y</a:t>
            </a:r>
          </a:p>
          <a:p>
            <a:pPr algn="just"/>
            <a:r>
              <a:rPr lang="en-US" dirty="0">
                <a:solidFill>
                  <a:srgbClr val="003F66"/>
                </a:solidFill>
                <a:latin typeface="Bookman Old Style" panose="02050604050505020204" pitchFamily="18" charset="0"/>
              </a:rPr>
              <a:t>		System.out.println(</a:t>
            </a:r>
            <a:r>
              <a:rPr lang="en-US" dirty="0" err="1">
                <a:solidFill>
                  <a:srgbClr val="003F66"/>
                </a:solidFill>
                <a:latin typeface="Bookman Old Style" panose="02050604050505020204" pitchFamily="18" charset="0"/>
              </a:rPr>
              <a:t>a.c</a:t>
            </a:r>
            <a:r>
              <a:rPr lang="en-US" dirty="0">
                <a:solidFill>
                  <a:srgbClr val="003F66"/>
                </a:solidFill>
                <a:latin typeface="Bookman Old Style" panose="02050604050505020204" pitchFamily="18" charset="0"/>
              </a:rPr>
              <a:t>); // Y</a:t>
            </a:r>
          </a:p>
          <a:p>
            <a:pPr algn="just"/>
            <a:r>
              <a:rPr lang="en-US" dirty="0">
                <a:solidFill>
                  <a:srgbClr val="003F66"/>
                </a:solidFill>
                <a:latin typeface="Bookman Old Style" panose="02050604050505020204" pitchFamily="18" charset="0"/>
              </a:rPr>
              <a:t>		System.out.println(</a:t>
            </a:r>
            <a:r>
              <a:rPr lang="en-US" dirty="0" err="1">
                <a:solidFill>
                  <a:srgbClr val="003F66"/>
                </a:solidFill>
                <a:latin typeface="Bookman Old Style" panose="02050604050505020204" pitchFamily="18" charset="0"/>
              </a:rPr>
              <a:t>a.d</a:t>
            </a:r>
            <a:r>
              <a:rPr lang="en-US" dirty="0">
                <a:solidFill>
                  <a:srgbClr val="003F66"/>
                </a:solidFill>
                <a:latin typeface="Bookman Old Style" panose="02050604050505020204" pitchFamily="18" charset="0"/>
              </a:rPr>
              <a:t>); // Y</a:t>
            </a:r>
          </a:p>
          <a:p>
            <a:pPr algn="just"/>
            <a:r>
              <a:rPr lang="en-US" dirty="0">
                <a:solidFill>
                  <a:srgbClr val="003F66"/>
                </a:solidFill>
                <a:latin typeface="Bookman Old Style" panose="02050604050505020204" pitchFamily="18" charset="0"/>
              </a:rPr>
              <a:t>	}</a:t>
            </a:r>
          </a:p>
          <a:p>
            <a:pPr algn="just"/>
            <a:r>
              <a:rPr lang="en-US" dirty="0">
                <a:solidFill>
                  <a:srgbClr val="003F66"/>
                </a:solidFill>
                <a:latin typeface="Bookman Old Style" panose="02050604050505020204" pitchFamily="18" charset="0"/>
              </a:rPr>
              <a:t>}</a:t>
            </a:r>
          </a:p>
          <a:p>
            <a:pPr algn="just"/>
            <a:endParaRPr lang="en-US" dirty="0">
              <a:solidFill>
                <a:srgbClr val="003F66"/>
              </a:solidFill>
              <a:latin typeface="Bookman Old Style" panose="02050604050505020204" pitchFamily="18" charset="0"/>
            </a:endParaRPr>
          </a:p>
          <a:p>
            <a:pPr algn="just"/>
            <a:r>
              <a:rPr lang="en-US" dirty="0">
                <a:solidFill>
                  <a:srgbClr val="003F66"/>
                </a:solidFill>
                <a:latin typeface="Bookman Old Style" panose="02050604050505020204" pitchFamily="18" charset="0"/>
              </a:rPr>
              <a:t>In instantiated class within the package also except private members all other members are accessible.</a:t>
            </a:r>
          </a:p>
        </p:txBody>
      </p:sp>
    </p:spTree>
    <p:extLst>
      <p:ext uri="{BB962C8B-B14F-4D97-AF65-F5344CB8AC3E}">
        <p14:creationId xmlns:p14="http://schemas.microsoft.com/office/powerpoint/2010/main" val="1412794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3200" b="1" dirty="0">
                  <a:solidFill>
                    <a:schemeClr val="bg1"/>
                  </a:solidFill>
                </a:rPr>
                <a:t>Package example</a:t>
              </a: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5" name="TextBox 24">
            <a:extLst>
              <a:ext uri="{FF2B5EF4-FFF2-40B4-BE49-F238E27FC236}">
                <a16:creationId xmlns:a16="http://schemas.microsoft.com/office/drawing/2014/main" id="{981FAC86-3D91-40C2-BD2C-6733E1EF0F95}"/>
              </a:ext>
            </a:extLst>
          </p:cNvPr>
          <p:cNvSpPr txBox="1"/>
          <p:nvPr/>
        </p:nvSpPr>
        <p:spPr>
          <a:xfrm>
            <a:off x="1086678" y="1050842"/>
            <a:ext cx="8200334" cy="5139869"/>
          </a:xfrm>
          <a:prstGeom prst="rect">
            <a:avLst/>
          </a:prstGeom>
          <a:noFill/>
        </p:spPr>
        <p:txBody>
          <a:bodyPr wrap="square">
            <a:spAutoFit/>
          </a:bodyPr>
          <a:lstStyle/>
          <a:p>
            <a:pPr algn="just"/>
            <a:r>
              <a:rPr lang="en-US" sz="2000" b="1" dirty="0">
                <a:solidFill>
                  <a:srgbClr val="FF0000"/>
                </a:solidFill>
                <a:latin typeface="Bookman Old Style" panose="02050604050505020204" pitchFamily="18" charset="0"/>
              </a:rPr>
              <a:t>Now write a sub class of class A outside the package</a:t>
            </a:r>
          </a:p>
          <a:p>
            <a:pPr algn="just"/>
            <a:r>
              <a:rPr lang="en-US" sz="2000" dirty="0">
                <a:solidFill>
                  <a:srgbClr val="003F66"/>
                </a:solidFill>
                <a:latin typeface="Bookman Old Style" panose="02050604050505020204" pitchFamily="18" charset="0"/>
              </a:rPr>
              <a:t>// C:\iare\core\am3\javalang\first\</a:t>
            </a:r>
          </a:p>
          <a:p>
            <a:pPr algn="just"/>
            <a:endParaRPr lang="en-US" dirty="0">
              <a:solidFill>
                <a:srgbClr val="003F66"/>
              </a:solidFill>
              <a:latin typeface="Bookman Old Style" panose="02050604050505020204" pitchFamily="18" charset="0"/>
            </a:endParaRPr>
          </a:p>
          <a:p>
            <a:pPr algn="just"/>
            <a:r>
              <a:rPr lang="en-US" dirty="0">
                <a:solidFill>
                  <a:srgbClr val="003F66"/>
                </a:solidFill>
                <a:latin typeface="Bookman Old Style" panose="02050604050505020204" pitchFamily="18" charset="0"/>
              </a:rPr>
              <a:t>// D.java</a:t>
            </a:r>
          </a:p>
          <a:p>
            <a:pPr algn="just"/>
            <a:r>
              <a:rPr lang="en-US" b="1" dirty="0">
                <a:solidFill>
                  <a:srgbClr val="003F66"/>
                </a:solidFill>
                <a:latin typeface="Bookman Old Style" panose="02050604050505020204" pitchFamily="18" charset="0"/>
              </a:rPr>
              <a:t>import core.am3.javalang.structure.A; // importing class A</a:t>
            </a:r>
          </a:p>
          <a:p>
            <a:pPr algn="just"/>
            <a:r>
              <a:rPr lang="en-US" dirty="0">
                <a:solidFill>
                  <a:srgbClr val="003F66"/>
                </a:solidFill>
                <a:latin typeface="Bookman Old Style" panose="02050604050505020204" pitchFamily="18" charset="0"/>
              </a:rPr>
              <a:t>public class </a:t>
            </a:r>
            <a:r>
              <a:rPr lang="en-US" b="1" dirty="0">
                <a:solidFill>
                  <a:srgbClr val="003F66"/>
                </a:solidFill>
                <a:latin typeface="Bookman Old Style" panose="02050604050505020204" pitchFamily="18" charset="0"/>
              </a:rPr>
              <a:t>D extends A </a:t>
            </a:r>
            <a:r>
              <a:rPr lang="en-US" dirty="0">
                <a:solidFill>
                  <a:srgbClr val="003F66"/>
                </a:solidFill>
                <a:latin typeface="Bookman Old Style" panose="02050604050505020204" pitchFamily="18" charset="0"/>
              </a:rPr>
              <a:t>{ // subclassing from class A</a:t>
            </a:r>
          </a:p>
          <a:p>
            <a:pPr algn="just"/>
            <a:endParaRPr lang="en-US" dirty="0">
              <a:solidFill>
                <a:srgbClr val="003F66"/>
              </a:solidFill>
              <a:latin typeface="Bookman Old Style" panose="02050604050505020204" pitchFamily="18" charset="0"/>
            </a:endParaRPr>
          </a:p>
          <a:p>
            <a:pPr algn="just"/>
            <a:r>
              <a:rPr lang="en-US" dirty="0">
                <a:solidFill>
                  <a:srgbClr val="003F66"/>
                </a:solidFill>
                <a:latin typeface="Bookman Old Style" panose="02050604050505020204" pitchFamily="18" charset="0"/>
              </a:rPr>
              <a:t>  public void print(){</a:t>
            </a:r>
          </a:p>
          <a:p>
            <a:pPr algn="just"/>
            <a:r>
              <a:rPr lang="en-US" dirty="0">
                <a:solidFill>
                  <a:srgbClr val="003F66"/>
                </a:solidFill>
                <a:latin typeface="Bookman Old Style" panose="02050604050505020204" pitchFamily="18" charset="0"/>
              </a:rPr>
              <a:t>    System.out.println(a);// </a:t>
            </a:r>
            <a:r>
              <a:rPr lang="en-US" dirty="0" err="1">
                <a:solidFill>
                  <a:srgbClr val="003F66"/>
                </a:solidFill>
                <a:latin typeface="Bookman Old Style" panose="02050604050505020204" pitchFamily="18" charset="0"/>
              </a:rPr>
              <a:t>na</a:t>
            </a:r>
            <a:endParaRPr lang="en-US" dirty="0">
              <a:solidFill>
                <a:srgbClr val="003F66"/>
              </a:solidFill>
              <a:latin typeface="Bookman Old Style" panose="02050604050505020204" pitchFamily="18" charset="0"/>
            </a:endParaRPr>
          </a:p>
          <a:p>
            <a:pPr algn="just"/>
            <a:r>
              <a:rPr lang="en-US" dirty="0">
                <a:solidFill>
                  <a:srgbClr val="003F66"/>
                </a:solidFill>
                <a:latin typeface="Bookman Old Style" panose="02050604050505020204" pitchFamily="18" charset="0"/>
              </a:rPr>
              <a:t>    System.out.println(b);// </a:t>
            </a:r>
            <a:r>
              <a:rPr lang="en-US" dirty="0" err="1">
                <a:solidFill>
                  <a:srgbClr val="003F66"/>
                </a:solidFill>
                <a:latin typeface="Bookman Old Style" panose="02050604050505020204" pitchFamily="18" charset="0"/>
              </a:rPr>
              <a:t>na</a:t>
            </a:r>
            <a:endParaRPr lang="en-US" dirty="0">
              <a:solidFill>
                <a:srgbClr val="003F66"/>
              </a:solidFill>
              <a:latin typeface="Bookman Old Style" panose="02050604050505020204" pitchFamily="18" charset="0"/>
            </a:endParaRPr>
          </a:p>
          <a:p>
            <a:pPr algn="just"/>
            <a:r>
              <a:rPr lang="en-US" dirty="0">
                <a:solidFill>
                  <a:srgbClr val="003F66"/>
                </a:solidFill>
                <a:latin typeface="Bookman Old Style" panose="02050604050505020204" pitchFamily="18" charset="0"/>
              </a:rPr>
              <a:t>    System.out.println(c);// a</a:t>
            </a:r>
          </a:p>
          <a:p>
            <a:pPr algn="just"/>
            <a:r>
              <a:rPr lang="en-US" dirty="0">
                <a:solidFill>
                  <a:srgbClr val="003F66"/>
                </a:solidFill>
                <a:latin typeface="Bookman Old Style" panose="02050604050505020204" pitchFamily="18" charset="0"/>
              </a:rPr>
              <a:t>    System.out.println(d);// a</a:t>
            </a:r>
          </a:p>
          <a:p>
            <a:pPr algn="just"/>
            <a:r>
              <a:rPr lang="en-US" dirty="0">
                <a:solidFill>
                  <a:srgbClr val="003F66"/>
                </a:solidFill>
                <a:latin typeface="Bookman Old Style" panose="02050604050505020204" pitchFamily="18" charset="0"/>
              </a:rPr>
              <a:t>  }</a:t>
            </a:r>
          </a:p>
          <a:p>
            <a:pPr algn="just"/>
            <a:r>
              <a:rPr lang="en-US" dirty="0">
                <a:solidFill>
                  <a:srgbClr val="003F66"/>
                </a:solidFill>
                <a:latin typeface="Bookman Old Style" panose="02050604050505020204" pitchFamily="18" charset="0"/>
              </a:rPr>
              <a:t>}</a:t>
            </a:r>
          </a:p>
          <a:p>
            <a:pPr algn="just"/>
            <a:endParaRPr lang="en-US" dirty="0">
              <a:solidFill>
                <a:srgbClr val="003F66"/>
              </a:solidFill>
              <a:latin typeface="Bookman Old Style" panose="02050604050505020204" pitchFamily="18" charset="0"/>
            </a:endParaRPr>
          </a:p>
          <a:p>
            <a:pPr algn="just"/>
            <a:r>
              <a:rPr lang="en-US" dirty="0">
                <a:solidFill>
                  <a:srgbClr val="003F66"/>
                </a:solidFill>
                <a:latin typeface="Bookman Old Style" panose="02050604050505020204" pitchFamily="18" charset="0"/>
              </a:rPr>
              <a:t>In subclass of outside package private and default members are not accessible. Only protected and public members are accessible. Default members cannot be accessible outside the package.</a:t>
            </a:r>
          </a:p>
        </p:txBody>
      </p:sp>
    </p:spTree>
    <p:extLst>
      <p:ext uri="{BB962C8B-B14F-4D97-AF65-F5344CB8AC3E}">
        <p14:creationId xmlns:p14="http://schemas.microsoft.com/office/powerpoint/2010/main" val="1156161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3200" b="1" dirty="0">
                  <a:solidFill>
                    <a:schemeClr val="bg1"/>
                  </a:solidFill>
                </a:rPr>
                <a:t>Package example</a:t>
              </a: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6" name="TextBox 25">
            <a:extLst>
              <a:ext uri="{FF2B5EF4-FFF2-40B4-BE49-F238E27FC236}">
                <a16:creationId xmlns:a16="http://schemas.microsoft.com/office/drawing/2014/main" id="{0B4E68A0-68C9-4A82-829B-17D734576495}"/>
              </a:ext>
            </a:extLst>
          </p:cNvPr>
          <p:cNvSpPr txBox="1"/>
          <p:nvPr/>
        </p:nvSpPr>
        <p:spPr>
          <a:xfrm>
            <a:off x="1086678" y="1050842"/>
            <a:ext cx="8200334" cy="4708981"/>
          </a:xfrm>
          <a:prstGeom prst="rect">
            <a:avLst/>
          </a:prstGeom>
          <a:noFill/>
        </p:spPr>
        <p:txBody>
          <a:bodyPr wrap="square">
            <a:spAutoFit/>
          </a:bodyPr>
          <a:lstStyle/>
          <a:p>
            <a:pPr algn="just"/>
            <a:r>
              <a:rPr lang="en-US" sz="2000" b="1" dirty="0">
                <a:solidFill>
                  <a:srgbClr val="FF0000"/>
                </a:solidFill>
                <a:latin typeface="Bookman Old Style" panose="02050604050505020204" pitchFamily="18" charset="0"/>
              </a:rPr>
              <a:t>E.java is a instantiated class of class A outside the package</a:t>
            </a:r>
          </a:p>
          <a:p>
            <a:pPr algn="just"/>
            <a:endParaRPr lang="en-US" sz="2000" b="1" dirty="0">
              <a:solidFill>
                <a:srgbClr val="FF0000"/>
              </a:solidFill>
              <a:latin typeface="Bookman Old Style" panose="02050604050505020204" pitchFamily="18" charset="0"/>
            </a:endParaRPr>
          </a:p>
          <a:p>
            <a:pPr algn="just"/>
            <a:r>
              <a:rPr lang="en-US" sz="2000" b="1" dirty="0">
                <a:solidFill>
                  <a:srgbClr val="003F66"/>
                </a:solidFill>
                <a:latin typeface="Bookman Old Style" panose="02050604050505020204" pitchFamily="18" charset="0"/>
              </a:rPr>
              <a:t>import core.am3.javalang.structure.A;</a:t>
            </a:r>
          </a:p>
          <a:p>
            <a:pPr algn="just"/>
            <a:r>
              <a:rPr lang="en-US" sz="2000" dirty="0">
                <a:solidFill>
                  <a:srgbClr val="003F66"/>
                </a:solidFill>
                <a:latin typeface="Bookman Old Style" panose="02050604050505020204" pitchFamily="18" charset="0"/>
              </a:rPr>
              <a:t>public class E {</a:t>
            </a:r>
          </a:p>
          <a:p>
            <a:pPr algn="just"/>
            <a:r>
              <a:rPr lang="en-US" sz="2000" dirty="0">
                <a:solidFill>
                  <a:srgbClr val="003F66"/>
                </a:solidFill>
                <a:latin typeface="Bookman Old Style" panose="02050604050505020204" pitchFamily="18" charset="0"/>
              </a:rPr>
              <a:t>  public void print(){</a:t>
            </a:r>
          </a:p>
          <a:p>
            <a:pPr algn="just"/>
            <a:r>
              <a:rPr lang="en-US" sz="2000" dirty="0">
                <a:solidFill>
                  <a:srgbClr val="003F66"/>
                </a:solidFill>
                <a:latin typeface="Bookman Old Style" panose="02050604050505020204" pitchFamily="18" charset="0"/>
              </a:rPr>
              <a:t>    </a:t>
            </a:r>
            <a:r>
              <a:rPr lang="en-US" sz="2000" b="1" dirty="0">
                <a:solidFill>
                  <a:srgbClr val="003F66"/>
                </a:solidFill>
                <a:latin typeface="Bookman Old Style" panose="02050604050505020204" pitchFamily="18" charset="0"/>
              </a:rPr>
              <a:t>A a=new A(); // A class instantiated</a:t>
            </a:r>
          </a:p>
          <a:p>
            <a:pPr algn="just"/>
            <a:r>
              <a:rPr lang="en-US" sz="2000" dirty="0">
                <a:solidFill>
                  <a:srgbClr val="003F66"/>
                </a:solidFill>
                <a:latin typeface="Bookman Old Style" panose="02050604050505020204" pitchFamily="18" charset="0"/>
              </a:rPr>
              <a:t>    System.out.println(</a:t>
            </a:r>
            <a:r>
              <a:rPr lang="en-US" sz="2000" dirty="0" err="1">
                <a:solidFill>
                  <a:srgbClr val="003F66"/>
                </a:solidFill>
                <a:latin typeface="Bookman Old Style" panose="02050604050505020204" pitchFamily="18" charset="0"/>
              </a:rPr>
              <a:t>a.a</a:t>
            </a:r>
            <a:r>
              <a:rPr lang="en-US" sz="2000" dirty="0">
                <a:solidFill>
                  <a:srgbClr val="003F66"/>
                </a:solidFill>
                <a:latin typeface="Bookman Old Style" panose="02050604050505020204" pitchFamily="18" charset="0"/>
              </a:rPr>
              <a:t>);// </a:t>
            </a:r>
            <a:r>
              <a:rPr lang="en-US" sz="2000" dirty="0" err="1">
                <a:solidFill>
                  <a:srgbClr val="003F66"/>
                </a:solidFill>
                <a:latin typeface="Bookman Old Style" panose="02050604050505020204" pitchFamily="18" charset="0"/>
              </a:rPr>
              <a:t>na</a:t>
            </a:r>
            <a:endParaRPr lang="en-US" sz="2000" dirty="0">
              <a:solidFill>
                <a:srgbClr val="003F66"/>
              </a:solidFill>
              <a:latin typeface="Bookman Old Style" panose="02050604050505020204" pitchFamily="18" charset="0"/>
            </a:endParaRPr>
          </a:p>
          <a:p>
            <a:pPr algn="just"/>
            <a:r>
              <a:rPr lang="en-US" sz="2000" dirty="0">
                <a:solidFill>
                  <a:srgbClr val="003F66"/>
                </a:solidFill>
                <a:latin typeface="Bookman Old Style" panose="02050604050505020204" pitchFamily="18" charset="0"/>
              </a:rPr>
              <a:t>    System.out.println(</a:t>
            </a:r>
            <a:r>
              <a:rPr lang="en-US" sz="2000" dirty="0" err="1">
                <a:solidFill>
                  <a:srgbClr val="003F66"/>
                </a:solidFill>
                <a:latin typeface="Bookman Old Style" panose="02050604050505020204" pitchFamily="18" charset="0"/>
              </a:rPr>
              <a:t>a.b</a:t>
            </a:r>
            <a:r>
              <a:rPr lang="en-US" sz="2000" dirty="0">
                <a:solidFill>
                  <a:srgbClr val="003F66"/>
                </a:solidFill>
                <a:latin typeface="Bookman Old Style" panose="02050604050505020204" pitchFamily="18" charset="0"/>
              </a:rPr>
              <a:t>);// </a:t>
            </a:r>
            <a:r>
              <a:rPr lang="en-US" sz="2000" dirty="0" err="1">
                <a:solidFill>
                  <a:srgbClr val="003F66"/>
                </a:solidFill>
                <a:latin typeface="Bookman Old Style" panose="02050604050505020204" pitchFamily="18" charset="0"/>
              </a:rPr>
              <a:t>na</a:t>
            </a:r>
            <a:endParaRPr lang="en-US" sz="2000" dirty="0">
              <a:solidFill>
                <a:srgbClr val="003F66"/>
              </a:solidFill>
              <a:latin typeface="Bookman Old Style" panose="02050604050505020204" pitchFamily="18" charset="0"/>
            </a:endParaRPr>
          </a:p>
          <a:p>
            <a:pPr algn="just"/>
            <a:r>
              <a:rPr lang="en-US" sz="2000" dirty="0">
                <a:solidFill>
                  <a:srgbClr val="003F66"/>
                </a:solidFill>
                <a:latin typeface="Bookman Old Style" panose="02050604050505020204" pitchFamily="18" charset="0"/>
              </a:rPr>
              <a:t>    System.out.println(</a:t>
            </a:r>
            <a:r>
              <a:rPr lang="en-US" sz="2000" dirty="0" err="1">
                <a:solidFill>
                  <a:srgbClr val="003F66"/>
                </a:solidFill>
                <a:latin typeface="Bookman Old Style" panose="02050604050505020204" pitchFamily="18" charset="0"/>
              </a:rPr>
              <a:t>a.c</a:t>
            </a:r>
            <a:r>
              <a:rPr lang="en-US" sz="2000" dirty="0">
                <a:solidFill>
                  <a:srgbClr val="003F66"/>
                </a:solidFill>
                <a:latin typeface="Bookman Old Style" panose="02050604050505020204" pitchFamily="18" charset="0"/>
              </a:rPr>
              <a:t>);// </a:t>
            </a:r>
            <a:r>
              <a:rPr lang="en-US" sz="2000" dirty="0" err="1">
                <a:solidFill>
                  <a:srgbClr val="003F66"/>
                </a:solidFill>
                <a:latin typeface="Bookman Old Style" panose="02050604050505020204" pitchFamily="18" charset="0"/>
              </a:rPr>
              <a:t>na</a:t>
            </a:r>
            <a:endParaRPr lang="en-US" sz="2000" dirty="0">
              <a:solidFill>
                <a:srgbClr val="003F66"/>
              </a:solidFill>
              <a:latin typeface="Bookman Old Style" panose="02050604050505020204" pitchFamily="18" charset="0"/>
            </a:endParaRPr>
          </a:p>
          <a:p>
            <a:pPr algn="just"/>
            <a:r>
              <a:rPr lang="en-US" sz="2000" dirty="0">
                <a:solidFill>
                  <a:srgbClr val="003F66"/>
                </a:solidFill>
                <a:latin typeface="Bookman Old Style" panose="02050604050505020204" pitchFamily="18" charset="0"/>
              </a:rPr>
              <a:t>    System.out.println(</a:t>
            </a:r>
            <a:r>
              <a:rPr lang="en-US" sz="2000" dirty="0" err="1">
                <a:solidFill>
                  <a:srgbClr val="003F66"/>
                </a:solidFill>
                <a:latin typeface="Bookman Old Style" panose="02050604050505020204" pitchFamily="18" charset="0"/>
              </a:rPr>
              <a:t>a.d</a:t>
            </a:r>
            <a:r>
              <a:rPr lang="en-US" sz="2000" dirty="0">
                <a:solidFill>
                  <a:srgbClr val="003F66"/>
                </a:solidFill>
                <a:latin typeface="Bookman Old Style" panose="02050604050505020204" pitchFamily="18" charset="0"/>
              </a:rPr>
              <a:t>);// a</a:t>
            </a:r>
          </a:p>
          <a:p>
            <a:pPr algn="just"/>
            <a:r>
              <a:rPr lang="en-US" sz="2000" dirty="0">
                <a:solidFill>
                  <a:srgbClr val="003F66"/>
                </a:solidFill>
                <a:latin typeface="Bookman Old Style" panose="02050604050505020204" pitchFamily="18" charset="0"/>
              </a:rPr>
              <a:t>  }   </a:t>
            </a:r>
          </a:p>
          <a:p>
            <a:pPr algn="just"/>
            <a:r>
              <a:rPr lang="en-US" sz="2000" dirty="0">
                <a:solidFill>
                  <a:srgbClr val="003F66"/>
                </a:solidFill>
                <a:latin typeface="Bookman Old Style" panose="02050604050505020204" pitchFamily="18" charset="0"/>
              </a:rPr>
              <a:t>}</a:t>
            </a:r>
          </a:p>
          <a:p>
            <a:pPr algn="just"/>
            <a:endParaRPr lang="en-US" sz="2000" dirty="0">
              <a:solidFill>
                <a:srgbClr val="003F66"/>
              </a:solidFill>
              <a:latin typeface="Bookman Old Style" panose="02050604050505020204" pitchFamily="18" charset="0"/>
            </a:endParaRPr>
          </a:p>
          <a:p>
            <a:pPr algn="just"/>
            <a:r>
              <a:rPr lang="en-US" sz="2000" dirty="0">
                <a:solidFill>
                  <a:srgbClr val="003F66"/>
                </a:solidFill>
                <a:latin typeface="Bookman Old Style" panose="02050604050505020204" pitchFamily="18" charset="0"/>
              </a:rPr>
              <a:t>In instantiated class of outside the package except public no other members are accessible.</a:t>
            </a:r>
            <a:endParaRPr lang="en-US" dirty="0">
              <a:solidFill>
                <a:srgbClr val="003F66"/>
              </a:solidFill>
              <a:latin typeface="Bookman Old Style" panose="02050604050505020204" pitchFamily="18" charset="0"/>
            </a:endParaRPr>
          </a:p>
        </p:txBody>
      </p:sp>
    </p:spTree>
    <p:extLst>
      <p:ext uri="{BB962C8B-B14F-4D97-AF65-F5344CB8AC3E}">
        <p14:creationId xmlns:p14="http://schemas.microsoft.com/office/powerpoint/2010/main" val="2899063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3200" b="1" dirty="0">
                  <a:solidFill>
                    <a:schemeClr val="bg1"/>
                  </a:solidFill>
                </a:rPr>
                <a:t>Package example</a:t>
              </a: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5" name="TextBox 24">
            <a:extLst>
              <a:ext uri="{FF2B5EF4-FFF2-40B4-BE49-F238E27FC236}">
                <a16:creationId xmlns:a16="http://schemas.microsoft.com/office/drawing/2014/main" id="{CA05E035-9AC1-43EC-9AE6-865DAEB84324}"/>
              </a:ext>
            </a:extLst>
          </p:cNvPr>
          <p:cNvSpPr txBox="1"/>
          <p:nvPr/>
        </p:nvSpPr>
        <p:spPr>
          <a:xfrm>
            <a:off x="1086678" y="1077346"/>
            <a:ext cx="8200334" cy="3108543"/>
          </a:xfrm>
          <a:prstGeom prst="rect">
            <a:avLst/>
          </a:prstGeom>
          <a:noFill/>
        </p:spPr>
        <p:txBody>
          <a:bodyPr wrap="square">
            <a:spAutoFit/>
          </a:bodyPr>
          <a:lstStyle/>
          <a:p>
            <a:pPr algn="just"/>
            <a:r>
              <a:rPr lang="en-US" sz="2800" b="1" dirty="0">
                <a:solidFill>
                  <a:srgbClr val="FF0000"/>
                </a:solidFill>
              </a:rPr>
              <a:t>In this session we understood package declaration, import statement and more importantly access scope of access specifiers:</a:t>
            </a:r>
          </a:p>
          <a:p>
            <a:pPr marL="800100" lvl="1" indent="-342900" algn="just">
              <a:buFont typeface="Wingdings" panose="05000000000000000000" pitchFamily="2" charset="2"/>
              <a:buChar char="Ø"/>
            </a:pPr>
            <a:r>
              <a:rPr lang="en-US" sz="2800" b="1" dirty="0">
                <a:solidFill>
                  <a:srgbClr val="FF0000"/>
                </a:solidFill>
              </a:rPr>
              <a:t>private</a:t>
            </a:r>
          </a:p>
          <a:p>
            <a:pPr marL="800100" lvl="1" indent="-342900" algn="just">
              <a:buFont typeface="Wingdings" panose="05000000000000000000" pitchFamily="2" charset="2"/>
              <a:buChar char="Ø"/>
            </a:pPr>
            <a:r>
              <a:rPr lang="en-US" sz="2800" b="1" dirty="0">
                <a:solidFill>
                  <a:srgbClr val="FF0000"/>
                </a:solidFill>
              </a:rPr>
              <a:t>default</a:t>
            </a:r>
          </a:p>
          <a:p>
            <a:pPr marL="800100" lvl="1" indent="-342900" algn="just">
              <a:buFont typeface="Wingdings" panose="05000000000000000000" pitchFamily="2" charset="2"/>
              <a:buChar char="Ø"/>
            </a:pPr>
            <a:r>
              <a:rPr lang="en-US" sz="2800" b="1" dirty="0">
                <a:solidFill>
                  <a:srgbClr val="FF0000"/>
                </a:solidFill>
              </a:rPr>
              <a:t>protected </a:t>
            </a:r>
          </a:p>
          <a:p>
            <a:pPr marL="800100" lvl="1" indent="-342900" algn="just">
              <a:buFont typeface="Wingdings" panose="05000000000000000000" pitchFamily="2" charset="2"/>
              <a:buChar char="Ø"/>
            </a:pPr>
            <a:r>
              <a:rPr lang="en-US" sz="2800" b="1" dirty="0">
                <a:solidFill>
                  <a:srgbClr val="FF0000"/>
                </a:solidFill>
              </a:rPr>
              <a:t>public</a:t>
            </a:r>
            <a:endParaRPr lang="en-US" sz="2400" dirty="0">
              <a:solidFill>
                <a:srgbClr val="003F66"/>
              </a:solidFill>
            </a:endParaRPr>
          </a:p>
        </p:txBody>
      </p:sp>
    </p:spTree>
    <p:extLst>
      <p:ext uri="{BB962C8B-B14F-4D97-AF65-F5344CB8AC3E}">
        <p14:creationId xmlns:p14="http://schemas.microsoft.com/office/powerpoint/2010/main" val="2320202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3200" b="1" dirty="0">
                  <a:solidFill>
                    <a:schemeClr val="bg1"/>
                  </a:solidFill>
                </a:rPr>
                <a:t>Access Specifiers</a:t>
              </a: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6" name="TextBox 25">
            <a:extLst>
              <a:ext uri="{FF2B5EF4-FFF2-40B4-BE49-F238E27FC236}">
                <a16:creationId xmlns:a16="http://schemas.microsoft.com/office/drawing/2014/main" id="{A2119ED1-CDA4-48D5-A68E-8F9F05805008}"/>
              </a:ext>
            </a:extLst>
          </p:cNvPr>
          <p:cNvSpPr txBox="1"/>
          <p:nvPr/>
        </p:nvSpPr>
        <p:spPr>
          <a:xfrm>
            <a:off x="1086678" y="1077346"/>
            <a:ext cx="8200334" cy="4524315"/>
          </a:xfrm>
          <a:prstGeom prst="rect">
            <a:avLst/>
          </a:prstGeom>
          <a:noFill/>
        </p:spPr>
        <p:txBody>
          <a:bodyPr wrap="square">
            <a:spAutoFit/>
          </a:bodyPr>
          <a:lstStyle/>
          <a:p>
            <a:pPr algn="just"/>
            <a:r>
              <a:rPr lang="en-US" sz="2400" b="1" u="sng" dirty="0">
                <a:solidFill>
                  <a:srgbClr val="FF0000"/>
                </a:solidFill>
              </a:rPr>
              <a:t>Access specifiers and their scopes:</a:t>
            </a:r>
          </a:p>
          <a:p>
            <a:pPr algn="just"/>
            <a:r>
              <a:rPr lang="en-US" sz="2400" b="1" dirty="0">
                <a:solidFill>
                  <a:srgbClr val="003F66"/>
                </a:solidFill>
              </a:rPr>
              <a:t>Variable declared as </a:t>
            </a:r>
            <a:r>
              <a:rPr lang="en-US" sz="2400" b="1" dirty="0">
                <a:solidFill>
                  <a:srgbClr val="FF0000"/>
                </a:solidFill>
              </a:rPr>
              <a:t>private</a:t>
            </a:r>
            <a:r>
              <a:rPr lang="en-US" sz="2400" b="1" dirty="0">
                <a:solidFill>
                  <a:srgbClr val="003F66"/>
                </a:solidFill>
              </a:rPr>
              <a:t> can be accessible </a:t>
            </a:r>
            <a:r>
              <a:rPr lang="en-US" sz="2400" b="1" dirty="0">
                <a:solidFill>
                  <a:srgbClr val="FF0000"/>
                </a:solidFill>
              </a:rPr>
              <a:t>only within the class.</a:t>
            </a:r>
          </a:p>
          <a:p>
            <a:pPr algn="just"/>
            <a:endParaRPr lang="en-US" sz="2400" b="1" dirty="0">
              <a:solidFill>
                <a:srgbClr val="003F66"/>
              </a:solidFill>
            </a:endParaRPr>
          </a:p>
          <a:p>
            <a:pPr algn="just"/>
            <a:r>
              <a:rPr lang="en-US" sz="2400" b="1" dirty="0">
                <a:solidFill>
                  <a:srgbClr val="FF0000"/>
                </a:solidFill>
              </a:rPr>
              <a:t>default </a:t>
            </a:r>
            <a:r>
              <a:rPr lang="en-US" sz="2400" b="1" dirty="0">
                <a:solidFill>
                  <a:srgbClr val="003F66"/>
                </a:solidFill>
              </a:rPr>
              <a:t>access specifier member can be accessible in </a:t>
            </a:r>
            <a:r>
              <a:rPr lang="en-US" sz="2400" b="1" dirty="0">
                <a:solidFill>
                  <a:srgbClr val="FF0000"/>
                </a:solidFill>
              </a:rPr>
              <a:t>both sub class and instantiated class within the package</a:t>
            </a:r>
            <a:r>
              <a:rPr lang="en-US" sz="2400" b="1" dirty="0">
                <a:solidFill>
                  <a:srgbClr val="003F66"/>
                </a:solidFill>
              </a:rPr>
              <a:t>.</a:t>
            </a:r>
          </a:p>
          <a:p>
            <a:pPr algn="just"/>
            <a:endParaRPr lang="en-US" sz="2400" b="1" dirty="0">
              <a:solidFill>
                <a:srgbClr val="003F66"/>
              </a:solidFill>
            </a:endParaRPr>
          </a:p>
          <a:p>
            <a:pPr algn="just"/>
            <a:r>
              <a:rPr lang="en-US" sz="2400" b="1" dirty="0">
                <a:solidFill>
                  <a:srgbClr val="FF0000"/>
                </a:solidFill>
              </a:rPr>
              <a:t>protected</a:t>
            </a:r>
            <a:r>
              <a:rPr lang="en-US" sz="2400" b="1" dirty="0">
                <a:solidFill>
                  <a:srgbClr val="003F66"/>
                </a:solidFill>
              </a:rPr>
              <a:t> member variable can be accessible </a:t>
            </a:r>
            <a:r>
              <a:rPr lang="en-US" sz="2400" b="1" dirty="0">
                <a:solidFill>
                  <a:srgbClr val="FF0000"/>
                </a:solidFill>
              </a:rPr>
              <a:t>anywhere within the package and only up-to sub class outside the package</a:t>
            </a:r>
            <a:r>
              <a:rPr lang="en-US" sz="2400" b="1" dirty="0">
                <a:solidFill>
                  <a:srgbClr val="003F66"/>
                </a:solidFill>
              </a:rPr>
              <a:t>.</a:t>
            </a:r>
          </a:p>
          <a:p>
            <a:pPr algn="just"/>
            <a:endParaRPr lang="en-US" sz="2400" b="1" dirty="0">
              <a:solidFill>
                <a:srgbClr val="003F66"/>
              </a:solidFill>
            </a:endParaRPr>
          </a:p>
          <a:p>
            <a:pPr algn="just"/>
            <a:r>
              <a:rPr lang="en-US" sz="2400" b="1" dirty="0">
                <a:solidFill>
                  <a:srgbClr val="FF0000"/>
                </a:solidFill>
              </a:rPr>
              <a:t>public</a:t>
            </a:r>
            <a:r>
              <a:rPr lang="en-US" sz="2400" b="1" dirty="0">
                <a:solidFill>
                  <a:srgbClr val="003F66"/>
                </a:solidFill>
              </a:rPr>
              <a:t> member variables can be accessible in </a:t>
            </a:r>
            <a:r>
              <a:rPr lang="en-US" sz="2400" b="1" dirty="0">
                <a:solidFill>
                  <a:srgbClr val="FF0000"/>
                </a:solidFill>
              </a:rPr>
              <a:t>both sub classes and instantiated within and outside the package</a:t>
            </a:r>
            <a:r>
              <a:rPr lang="en-US" sz="2400" b="1" dirty="0">
                <a:solidFill>
                  <a:srgbClr val="003F66"/>
                </a:solidFill>
              </a:rPr>
              <a:t>.</a:t>
            </a:r>
          </a:p>
        </p:txBody>
      </p:sp>
    </p:spTree>
    <p:extLst>
      <p:ext uri="{BB962C8B-B14F-4D97-AF65-F5344CB8AC3E}">
        <p14:creationId xmlns:p14="http://schemas.microsoft.com/office/powerpoint/2010/main" val="1508564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3200" b="1" dirty="0">
                  <a:solidFill>
                    <a:schemeClr val="bg1"/>
                  </a:solidFill>
                </a:rPr>
                <a:t>Access Specifiers</a:t>
              </a: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graphicFrame>
        <p:nvGraphicFramePr>
          <p:cNvPr id="25" name="Table 9">
            <a:extLst>
              <a:ext uri="{FF2B5EF4-FFF2-40B4-BE49-F238E27FC236}">
                <a16:creationId xmlns:a16="http://schemas.microsoft.com/office/drawing/2014/main" id="{A3D81990-7B29-41EF-92BF-2D2C02E9BBFD}"/>
              </a:ext>
            </a:extLst>
          </p:cNvPr>
          <p:cNvGraphicFramePr>
            <a:graphicFrameLocks noGrp="1"/>
          </p:cNvGraphicFramePr>
          <p:nvPr>
            <p:extLst>
              <p:ext uri="{D42A27DB-BD31-4B8C-83A1-F6EECF244321}">
                <p14:modId xmlns:p14="http://schemas.microsoft.com/office/powerpoint/2010/main" val="4171176266"/>
              </p:ext>
            </p:extLst>
          </p:nvPr>
        </p:nvGraphicFramePr>
        <p:xfrm>
          <a:off x="1136451" y="1243207"/>
          <a:ext cx="8351816" cy="3837196"/>
        </p:xfrm>
        <a:graphic>
          <a:graphicData uri="http://schemas.openxmlformats.org/drawingml/2006/table">
            <a:tbl>
              <a:tblPr firstRow="1" bandRow="1">
                <a:tableStyleId>{BC89EF96-8CEA-46FF-86C4-4CE0E7609802}</a:tableStyleId>
              </a:tblPr>
              <a:tblGrid>
                <a:gridCol w="1391970">
                  <a:extLst>
                    <a:ext uri="{9D8B030D-6E8A-4147-A177-3AD203B41FA5}">
                      <a16:colId xmlns:a16="http://schemas.microsoft.com/office/drawing/2014/main" val="2616817106"/>
                    </a:ext>
                  </a:extLst>
                </a:gridCol>
                <a:gridCol w="945631">
                  <a:extLst>
                    <a:ext uri="{9D8B030D-6E8A-4147-A177-3AD203B41FA5}">
                      <a16:colId xmlns:a16="http://schemas.microsoft.com/office/drawing/2014/main" val="40187537"/>
                    </a:ext>
                  </a:extLst>
                </a:gridCol>
                <a:gridCol w="1062132">
                  <a:extLst>
                    <a:ext uri="{9D8B030D-6E8A-4147-A177-3AD203B41FA5}">
                      <a16:colId xmlns:a16="http://schemas.microsoft.com/office/drawing/2014/main" val="3288481505"/>
                    </a:ext>
                  </a:extLst>
                </a:gridCol>
                <a:gridCol w="2056181">
                  <a:extLst>
                    <a:ext uri="{9D8B030D-6E8A-4147-A177-3AD203B41FA5}">
                      <a16:colId xmlns:a16="http://schemas.microsoft.com/office/drawing/2014/main" val="2961814536"/>
                    </a:ext>
                  </a:extLst>
                </a:gridCol>
                <a:gridCol w="925961">
                  <a:extLst>
                    <a:ext uri="{9D8B030D-6E8A-4147-A177-3AD203B41FA5}">
                      <a16:colId xmlns:a16="http://schemas.microsoft.com/office/drawing/2014/main" val="1051827910"/>
                    </a:ext>
                  </a:extLst>
                </a:gridCol>
                <a:gridCol w="1969941">
                  <a:extLst>
                    <a:ext uri="{9D8B030D-6E8A-4147-A177-3AD203B41FA5}">
                      <a16:colId xmlns:a16="http://schemas.microsoft.com/office/drawing/2014/main" val="3557496595"/>
                    </a:ext>
                  </a:extLst>
                </a:gridCol>
              </a:tblGrid>
              <a:tr h="963724">
                <a:tc>
                  <a:txBody>
                    <a:bodyPr/>
                    <a:lstStyle/>
                    <a:p>
                      <a:endParaRPr lang="en-IN"/>
                    </a:p>
                  </a:txBody>
                  <a:tcPr/>
                </a:tc>
                <a:tc>
                  <a:txBody>
                    <a:bodyPr/>
                    <a:lstStyle/>
                    <a:p>
                      <a:pPr algn="ctr"/>
                      <a:r>
                        <a:rPr lang="en-US" dirty="0"/>
                        <a:t>Within the class</a:t>
                      </a:r>
                      <a:endParaRPr lang="en-IN" dirty="0"/>
                    </a:p>
                  </a:txBody>
                  <a:tcPr/>
                </a:tc>
                <a:tc gridSpan="2">
                  <a:txBody>
                    <a:bodyPr/>
                    <a:lstStyle/>
                    <a:p>
                      <a:pPr algn="ctr"/>
                      <a:r>
                        <a:rPr lang="en-US" dirty="0"/>
                        <a:t>Within the package</a:t>
                      </a:r>
                      <a:endParaRPr lang="en-IN" dirty="0"/>
                    </a:p>
                  </a:txBody>
                  <a:tcPr/>
                </a:tc>
                <a:tc hMerge="1">
                  <a:txBody>
                    <a:bodyPr/>
                    <a:lstStyle/>
                    <a:p>
                      <a:endParaRPr lang="en-IN" dirty="0"/>
                    </a:p>
                  </a:txBody>
                  <a:tcPr/>
                </a:tc>
                <a:tc gridSpan="2">
                  <a:txBody>
                    <a:bodyPr/>
                    <a:lstStyle/>
                    <a:p>
                      <a:pPr algn="ctr"/>
                      <a:r>
                        <a:rPr lang="en-US" dirty="0"/>
                        <a:t>Outside the package</a:t>
                      </a:r>
                      <a:endParaRPr lang="en-IN" dirty="0"/>
                    </a:p>
                  </a:txBody>
                  <a:tcPr/>
                </a:tc>
                <a:tc hMerge="1">
                  <a:txBody>
                    <a:bodyPr/>
                    <a:lstStyle/>
                    <a:p>
                      <a:endParaRPr lang="en-IN" dirty="0"/>
                    </a:p>
                  </a:txBody>
                  <a:tcPr/>
                </a:tc>
                <a:extLst>
                  <a:ext uri="{0D108BD9-81ED-4DB2-BD59-A6C34878D82A}">
                    <a16:rowId xmlns:a16="http://schemas.microsoft.com/office/drawing/2014/main" val="985097493"/>
                  </a:ext>
                </a:extLst>
              </a:tr>
              <a:tr h="639444">
                <a:tc>
                  <a:txBody>
                    <a:bodyPr/>
                    <a:lstStyle/>
                    <a:p>
                      <a:endParaRPr lang="en-IN"/>
                    </a:p>
                  </a:txBody>
                  <a:tcPr/>
                </a:tc>
                <a:tc>
                  <a:txBody>
                    <a:bodyPr/>
                    <a:lstStyle/>
                    <a:p>
                      <a:endParaRPr lang="en-IN" dirty="0"/>
                    </a:p>
                  </a:txBody>
                  <a:tcPr/>
                </a:tc>
                <a:tc>
                  <a:txBody>
                    <a:bodyPr/>
                    <a:lstStyle/>
                    <a:p>
                      <a:r>
                        <a:rPr lang="en-US" b="1" dirty="0"/>
                        <a:t>Sub class</a:t>
                      </a:r>
                      <a:endParaRPr lang="en-IN" b="1" dirty="0"/>
                    </a:p>
                  </a:txBody>
                  <a:tcPr/>
                </a:tc>
                <a:tc>
                  <a:txBody>
                    <a:bodyPr/>
                    <a:lstStyle/>
                    <a:p>
                      <a:r>
                        <a:rPr lang="en-US" b="1" dirty="0"/>
                        <a:t>Instantiated class</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Sub class</a:t>
                      </a:r>
                      <a:endParaRPr lang="en-IN" b="1" dirty="0"/>
                    </a:p>
                  </a:txBody>
                  <a:tcPr/>
                </a:tc>
                <a:tc>
                  <a:txBody>
                    <a:bodyPr/>
                    <a:lstStyle/>
                    <a:p>
                      <a:r>
                        <a:rPr lang="en-US" b="1" dirty="0"/>
                        <a:t>Instantiated class</a:t>
                      </a:r>
                      <a:endParaRPr lang="en-IN" b="1" dirty="0"/>
                    </a:p>
                  </a:txBody>
                  <a:tcPr/>
                </a:tc>
                <a:extLst>
                  <a:ext uri="{0D108BD9-81ED-4DB2-BD59-A6C34878D82A}">
                    <a16:rowId xmlns:a16="http://schemas.microsoft.com/office/drawing/2014/main" val="4177512459"/>
                  </a:ext>
                </a:extLst>
              </a:tr>
              <a:tr h="558348">
                <a:tc>
                  <a:txBody>
                    <a:bodyPr/>
                    <a:lstStyle/>
                    <a:p>
                      <a:r>
                        <a:rPr lang="en-US" b="1" dirty="0"/>
                        <a:t>private</a:t>
                      </a:r>
                      <a:endParaRPr lang="en-IN" b="1" dirty="0"/>
                    </a:p>
                  </a:txBody>
                  <a:tcPr/>
                </a:tc>
                <a:tc>
                  <a:txBody>
                    <a:bodyPr/>
                    <a:lstStyle/>
                    <a:p>
                      <a:r>
                        <a:rPr lang="en-US" dirty="0"/>
                        <a:t>Yes</a:t>
                      </a:r>
                      <a:endParaRPr lang="en-IN" dirty="0"/>
                    </a:p>
                  </a:txBody>
                  <a:tcPr/>
                </a:tc>
                <a:tc>
                  <a:txBody>
                    <a:bodyPr/>
                    <a:lstStyle/>
                    <a:p>
                      <a:r>
                        <a:rPr lang="en-US" dirty="0"/>
                        <a:t>No</a:t>
                      </a:r>
                      <a:endParaRPr lang="en-IN" dirty="0"/>
                    </a:p>
                  </a:txBody>
                  <a:tcPr/>
                </a:tc>
                <a:tc>
                  <a:txBody>
                    <a:bodyPr/>
                    <a:lstStyle/>
                    <a:p>
                      <a:r>
                        <a:rPr lang="en-US" dirty="0"/>
                        <a:t>No</a:t>
                      </a:r>
                      <a:endParaRPr lang="en-IN" dirty="0"/>
                    </a:p>
                  </a:txBody>
                  <a:tcPr/>
                </a:tc>
                <a:tc>
                  <a:txBody>
                    <a:bodyPr/>
                    <a:lstStyle/>
                    <a:p>
                      <a:r>
                        <a:rPr lang="en-US" dirty="0"/>
                        <a:t>No</a:t>
                      </a:r>
                      <a:endParaRPr lang="en-IN" dirty="0"/>
                    </a:p>
                  </a:txBody>
                  <a:tcPr/>
                </a:tc>
                <a:tc>
                  <a:txBody>
                    <a:bodyPr/>
                    <a:lstStyle/>
                    <a:p>
                      <a:r>
                        <a:rPr lang="en-US" dirty="0"/>
                        <a:t>No</a:t>
                      </a:r>
                      <a:endParaRPr lang="en-IN" dirty="0"/>
                    </a:p>
                  </a:txBody>
                  <a:tcPr/>
                </a:tc>
                <a:extLst>
                  <a:ext uri="{0D108BD9-81ED-4DB2-BD59-A6C34878D82A}">
                    <a16:rowId xmlns:a16="http://schemas.microsoft.com/office/drawing/2014/main" val="265667597"/>
                  </a:ext>
                </a:extLst>
              </a:tr>
              <a:tr h="558348">
                <a:tc>
                  <a:txBody>
                    <a:bodyPr/>
                    <a:lstStyle/>
                    <a:p>
                      <a:r>
                        <a:rPr lang="en-US" b="1" dirty="0"/>
                        <a:t>default</a:t>
                      </a:r>
                      <a:endParaRPr lang="en-IN" b="1"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No</a:t>
                      </a:r>
                      <a:endParaRPr lang="en-IN" dirty="0"/>
                    </a:p>
                  </a:txBody>
                  <a:tcPr/>
                </a:tc>
                <a:tc>
                  <a:txBody>
                    <a:bodyPr/>
                    <a:lstStyle/>
                    <a:p>
                      <a:r>
                        <a:rPr lang="en-US" dirty="0"/>
                        <a:t>No</a:t>
                      </a:r>
                      <a:endParaRPr lang="en-IN" dirty="0"/>
                    </a:p>
                  </a:txBody>
                  <a:tcPr/>
                </a:tc>
                <a:extLst>
                  <a:ext uri="{0D108BD9-81ED-4DB2-BD59-A6C34878D82A}">
                    <a16:rowId xmlns:a16="http://schemas.microsoft.com/office/drawing/2014/main" val="3152274957"/>
                  </a:ext>
                </a:extLst>
              </a:tr>
              <a:tr h="5583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protected </a:t>
                      </a:r>
                      <a:endParaRPr lang="en-IN" b="1"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No</a:t>
                      </a:r>
                      <a:endParaRPr lang="en-IN" dirty="0"/>
                    </a:p>
                  </a:txBody>
                  <a:tcPr/>
                </a:tc>
                <a:extLst>
                  <a:ext uri="{0D108BD9-81ED-4DB2-BD59-A6C34878D82A}">
                    <a16:rowId xmlns:a16="http://schemas.microsoft.com/office/drawing/2014/main" val="2856265845"/>
                  </a:ext>
                </a:extLst>
              </a:tr>
              <a:tr h="558348">
                <a:tc>
                  <a:txBody>
                    <a:bodyPr/>
                    <a:lstStyle/>
                    <a:p>
                      <a:r>
                        <a:rPr lang="en-US" b="1" dirty="0"/>
                        <a:t>public</a:t>
                      </a:r>
                      <a:endParaRPr lang="en-IN" b="1"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Yes</a:t>
                      </a:r>
                      <a:endParaRPr lang="en-IN" dirty="0"/>
                    </a:p>
                  </a:txBody>
                  <a:tcPr/>
                </a:tc>
                <a:extLst>
                  <a:ext uri="{0D108BD9-81ED-4DB2-BD59-A6C34878D82A}">
                    <a16:rowId xmlns:a16="http://schemas.microsoft.com/office/drawing/2014/main" val="2069490307"/>
                  </a:ext>
                </a:extLst>
              </a:tr>
            </a:tbl>
          </a:graphicData>
        </a:graphic>
      </p:graphicFrame>
    </p:spTree>
    <p:extLst>
      <p:ext uri="{BB962C8B-B14F-4D97-AF65-F5344CB8AC3E}">
        <p14:creationId xmlns:p14="http://schemas.microsoft.com/office/powerpoint/2010/main" val="2236602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800" b="1" dirty="0">
                  <a:solidFill>
                    <a:schemeClr val="bg1"/>
                  </a:solidFill>
                </a:rPr>
                <a:t>Access specifiers &amp; Modifiers</a:t>
              </a: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graphicFrame>
        <p:nvGraphicFramePr>
          <p:cNvPr id="26" name="Table 9">
            <a:extLst>
              <a:ext uri="{FF2B5EF4-FFF2-40B4-BE49-F238E27FC236}">
                <a16:creationId xmlns:a16="http://schemas.microsoft.com/office/drawing/2014/main" id="{6F3CD76F-24FA-4F68-B2D4-3FA10C387718}"/>
              </a:ext>
            </a:extLst>
          </p:cNvPr>
          <p:cNvGraphicFramePr>
            <a:graphicFrameLocks noGrp="1"/>
          </p:cNvGraphicFramePr>
          <p:nvPr>
            <p:extLst>
              <p:ext uri="{D42A27DB-BD31-4B8C-83A1-F6EECF244321}">
                <p14:modId xmlns:p14="http://schemas.microsoft.com/office/powerpoint/2010/main" val="3492465041"/>
              </p:ext>
            </p:extLst>
          </p:nvPr>
        </p:nvGraphicFramePr>
        <p:xfrm>
          <a:off x="793139" y="945749"/>
          <a:ext cx="8403870" cy="1854200"/>
        </p:xfrm>
        <a:graphic>
          <a:graphicData uri="http://schemas.openxmlformats.org/drawingml/2006/table">
            <a:tbl>
              <a:tblPr firstRow="1" bandRow="1">
                <a:tableStyleId>{FABFCF23-3B69-468F-B69F-88F6DE6A72F2}</a:tableStyleId>
              </a:tblPr>
              <a:tblGrid>
                <a:gridCol w="4201935">
                  <a:extLst>
                    <a:ext uri="{9D8B030D-6E8A-4147-A177-3AD203B41FA5}">
                      <a16:colId xmlns:a16="http://schemas.microsoft.com/office/drawing/2014/main" val="2093884678"/>
                    </a:ext>
                  </a:extLst>
                </a:gridCol>
                <a:gridCol w="4201935">
                  <a:extLst>
                    <a:ext uri="{9D8B030D-6E8A-4147-A177-3AD203B41FA5}">
                      <a16:colId xmlns:a16="http://schemas.microsoft.com/office/drawing/2014/main" val="1998974303"/>
                    </a:ext>
                  </a:extLst>
                </a:gridCol>
              </a:tblGrid>
              <a:tr h="370840">
                <a:tc>
                  <a:txBody>
                    <a:bodyPr/>
                    <a:lstStyle/>
                    <a:p>
                      <a:r>
                        <a:rPr lang="en-US" sz="1600" dirty="0"/>
                        <a:t>Access Specifiers</a:t>
                      </a:r>
                      <a:endParaRPr lang="en-IN" sz="1600" dirty="0"/>
                    </a:p>
                  </a:txBody>
                  <a:tcPr/>
                </a:tc>
                <a:tc>
                  <a:txBody>
                    <a:bodyPr/>
                    <a:lstStyle/>
                    <a:p>
                      <a:r>
                        <a:rPr lang="en-US" sz="1600" dirty="0"/>
                        <a:t>Applicability on</a:t>
                      </a:r>
                      <a:endParaRPr lang="en-IN" sz="1600" dirty="0"/>
                    </a:p>
                  </a:txBody>
                  <a:tcPr/>
                </a:tc>
                <a:extLst>
                  <a:ext uri="{0D108BD9-81ED-4DB2-BD59-A6C34878D82A}">
                    <a16:rowId xmlns:a16="http://schemas.microsoft.com/office/drawing/2014/main" val="578339862"/>
                  </a:ext>
                </a:extLst>
              </a:tr>
              <a:tr h="370840">
                <a:tc>
                  <a:txBody>
                    <a:bodyPr/>
                    <a:lstStyle/>
                    <a:p>
                      <a:r>
                        <a:rPr lang="en-US" sz="1600" dirty="0"/>
                        <a:t>private</a:t>
                      </a:r>
                      <a:endParaRPr lang="en-IN" sz="1600" dirty="0"/>
                    </a:p>
                  </a:txBody>
                  <a:tcPr/>
                </a:tc>
                <a:tc>
                  <a:txBody>
                    <a:bodyPr/>
                    <a:lstStyle/>
                    <a:p>
                      <a:r>
                        <a:rPr lang="en-US" sz="1600" dirty="0" err="1"/>
                        <a:t>V,Co,M</a:t>
                      </a:r>
                      <a:r>
                        <a:rPr lang="en-US" sz="1600" dirty="0"/>
                        <a:t> (variable, constructor, method)</a:t>
                      </a:r>
                      <a:endParaRPr lang="en-IN" sz="1600" dirty="0"/>
                    </a:p>
                  </a:txBody>
                  <a:tcPr/>
                </a:tc>
                <a:extLst>
                  <a:ext uri="{0D108BD9-81ED-4DB2-BD59-A6C34878D82A}">
                    <a16:rowId xmlns:a16="http://schemas.microsoft.com/office/drawing/2014/main" val="63910494"/>
                  </a:ext>
                </a:extLst>
              </a:tr>
              <a:tr h="370840">
                <a:tc>
                  <a:txBody>
                    <a:bodyPr/>
                    <a:lstStyle/>
                    <a:p>
                      <a:r>
                        <a:rPr lang="en-US" sz="1600" dirty="0"/>
                        <a:t>default</a:t>
                      </a:r>
                      <a:endParaRPr lang="en-IN" sz="1600" dirty="0"/>
                    </a:p>
                  </a:txBody>
                  <a:tcPr/>
                </a:tc>
                <a:tc>
                  <a:txBody>
                    <a:bodyPr/>
                    <a:lstStyle/>
                    <a:p>
                      <a:r>
                        <a:rPr lang="en-US" sz="1600" dirty="0" err="1"/>
                        <a:t>C,V,Co,M</a:t>
                      </a:r>
                      <a:r>
                        <a:rPr lang="en-US" sz="1600" dirty="0"/>
                        <a:t> (class, variable, constructor, method)</a:t>
                      </a:r>
                      <a:endParaRPr lang="en-IN" sz="1600" dirty="0"/>
                    </a:p>
                  </a:txBody>
                  <a:tcPr/>
                </a:tc>
                <a:extLst>
                  <a:ext uri="{0D108BD9-81ED-4DB2-BD59-A6C34878D82A}">
                    <a16:rowId xmlns:a16="http://schemas.microsoft.com/office/drawing/2014/main" val="1628334734"/>
                  </a:ext>
                </a:extLst>
              </a:tr>
              <a:tr h="370840">
                <a:tc>
                  <a:txBody>
                    <a:bodyPr/>
                    <a:lstStyle/>
                    <a:p>
                      <a:r>
                        <a:rPr lang="en-US" sz="1600" dirty="0"/>
                        <a:t>protected</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err="1"/>
                        <a:t>C,V,Co,M</a:t>
                      </a:r>
                      <a:r>
                        <a:rPr lang="en-US" sz="1600" dirty="0"/>
                        <a:t> (class, variable, constructor, method)</a:t>
                      </a:r>
                      <a:endParaRPr lang="en-IN" sz="1600" dirty="0"/>
                    </a:p>
                  </a:txBody>
                  <a:tcPr/>
                </a:tc>
                <a:extLst>
                  <a:ext uri="{0D108BD9-81ED-4DB2-BD59-A6C34878D82A}">
                    <a16:rowId xmlns:a16="http://schemas.microsoft.com/office/drawing/2014/main" val="2925028994"/>
                  </a:ext>
                </a:extLst>
              </a:tr>
              <a:tr h="370840">
                <a:tc>
                  <a:txBody>
                    <a:bodyPr/>
                    <a:lstStyle/>
                    <a:p>
                      <a:r>
                        <a:rPr lang="en-US" sz="1600" dirty="0"/>
                        <a:t>public</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err="1"/>
                        <a:t>C,V,Co,M</a:t>
                      </a:r>
                      <a:r>
                        <a:rPr lang="en-US" sz="1600" dirty="0"/>
                        <a:t> (class, variable, constructor, method)</a:t>
                      </a:r>
                      <a:endParaRPr lang="en-IN" sz="1600" dirty="0"/>
                    </a:p>
                  </a:txBody>
                  <a:tcPr/>
                </a:tc>
                <a:extLst>
                  <a:ext uri="{0D108BD9-81ED-4DB2-BD59-A6C34878D82A}">
                    <a16:rowId xmlns:a16="http://schemas.microsoft.com/office/drawing/2014/main" val="3408540723"/>
                  </a:ext>
                </a:extLst>
              </a:tr>
            </a:tbl>
          </a:graphicData>
        </a:graphic>
      </p:graphicFrame>
      <p:graphicFrame>
        <p:nvGraphicFramePr>
          <p:cNvPr id="27" name="Table 9">
            <a:extLst>
              <a:ext uri="{FF2B5EF4-FFF2-40B4-BE49-F238E27FC236}">
                <a16:creationId xmlns:a16="http://schemas.microsoft.com/office/drawing/2014/main" id="{46B9E0EE-94D9-45D8-83F7-984FE7D27409}"/>
              </a:ext>
            </a:extLst>
          </p:cNvPr>
          <p:cNvGraphicFramePr>
            <a:graphicFrameLocks noGrp="1"/>
          </p:cNvGraphicFramePr>
          <p:nvPr>
            <p:extLst>
              <p:ext uri="{D42A27DB-BD31-4B8C-83A1-F6EECF244321}">
                <p14:modId xmlns:p14="http://schemas.microsoft.com/office/powerpoint/2010/main" val="1769274966"/>
              </p:ext>
            </p:extLst>
          </p:nvPr>
        </p:nvGraphicFramePr>
        <p:xfrm>
          <a:off x="799767" y="2887199"/>
          <a:ext cx="8397242" cy="3708400"/>
        </p:xfrm>
        <a:graphic>
          <a:graphicData uri="http://schemas.openxmlformats.org/drawingml/2006/table">
            <a:tbl>
              <a:tblPr firstRow="1" bandRow="1">
                <a:tableStyleId>{9DCAF9ED-07DC-4A11-8D7F-57B35C25682E}</a:tableStyleId>
              </a:tblPr>
              <a:tblGrid>
                <a:gridCol w="3925598">
                  <a:extLst>
                    <a:ext uri="{9D8B030D-6E8A-4147-A177-3AD203B41FA5}">
                      <a16:colId xmlns:a16="http://schemas.microsoft.com/office/drawing/2014/main" val="2093884678"/>
                    </a:ext>
                  </a:extLst>
                </a:gridCol>
                <a:gridCol w="4471644">
                  <a:extLst>
                    <a:ext uri="{9D8B030D-6E8A-4147-A177-3AD203B41FA5}">
                      <a16:colId xmlns:a16="http://schemas.microsoft.com/office/drawing/2014/main" val="1998974303"/>
                    </a:ext>
                  </a:extLst>
                </a:gridCol>
              </a:tblGrid>
              <a:tr h="370840">
                <a:tc>
                  <a:txBody>
                    <a:bodyPr/>
                    <a:lstStyle/>
                    <a:p>
                      <a:r>
                        <a:rPr lang="en-US" sz="1600" dirty="0"/>
                        <a:t>Access Modifiers</a:t>
                      </a:r>
                      <a:endParaRPr lang="en-IN" sz="1600" dirty="0"/>
                    </a:p>
                  </a:txBody>
                  <a:tcPr/>
                </a:tc>
                <a:tc>
                  <a:txBody>
                    <a:bodyPr/>
                    <a:lstStyle/>
                    <a:p>
                      <a:r>
                        <a:rPr lang="en-US" sz="1600" dirty="0"/>
                        <a:t>Applicability on</a:t>
                      </a:r>
                      <a:endParaRPr lang="en-IN" sz="1600" dirty="0"/>
                    </a:p>
                  </a:txBody>
                  <a:tcPr/>
                </a:tc>
                <a:extLst>
                  <a:ext uri="{0D108BD9-81ED-4DB2-BD59-A6C34878D82A}">
                    <a16:rowId xmlns:a16="http://schemas.microsoft.com/office/drawing/2014/main" val="578339862"/>
                  </a:ext>
                </a:extLst>
              </a:tr>
              <a:tr h="370840">
                <a:tc>
                  <a:txBody>
                    <a:bodyPr/>
                    <a:lstStyle/>
                    <a:p>
                      <a:r>
                        <a:rPr lang="en-US" sz="1600" dirty="0"/>
                        <a:t>abstract</a:t>
                      </a:r>
                      <a:endParaRPr lang="en-IN" sz="1600" dirty="0"/>
                    </a:p>
                  </a:txBody>
                  <a:tcPr/>
                </a:tc>
                <a:tc>
                  <a:txBody>
                    <a:bodyPr/>
                    <a:lstStyle/>
                    <a:p>
                      <a:r>
                        <a:rPr lang="en-US" sz="1600" dirty="0"/>
                        <a:t>C,M (class, method)</a:t>
                      </a:r>
                      <a:endParaRPr lang="en-IN" sz="1600" dirty="0"/>
                    </a:p>
                  </a:txBody>
                  <a:tcPr/>
                </a:tc>
                <a:extLst>
                  <a:ext uri="{0D108BD9-81ED-4DB2-BD59-A6C34878D82A}">
                    <a16:rowId xmlns:a16="http://schemas.microsoft.com/office/drawing/2014/main" val="63910494"/>
                  </a:ext>
                </a:extLst>
              </a:tr>
              <a:tr h="370840">
                <a:tc>
                  <a:txBody>
                    <a:bodyPr/>
                    <a:lstStyle/>
                    <a:p>
                      <a:r>
                        <a:rPr lang="en-US" sz="1600" dirty="0"/>
                        <a:t>final</a:t>
                      </a:r>
                      <a:endParaRPr lang="en-IN" sz="1600" dirty="0"/>
                    </a:p>
                  </a:txBody>
                  <a:tcPr/>
                </a:tc>
                <a:tc>
                  <a:txBody>
                    <a:bodyPr/>
                    <a:lstStyle/>
                    <a:p>
                      <a:r>
                        <a:rPr lang="en-US" sz="1600" dirty="0"/>
                        <a:t>C,V,M (class, variable, method)</a:t>
                      </a:r>
                      <a:endParaRPr lang="en-IN" sz="1600" dirty="0"/>
                    </a:p>
                  </a:txBody>
                  <a:tcPr/>
                </a:tc>
                <a:extLst>
                  <a:ext uri="{0D108BD9-81ED-4DB2-BD59-A6C34878D82A}">
                    <a16:rowId xmlns:a16="http://schemas.microsoft.com/office/drawing/2014/main" val="1628334734"/>
                  </a:ext>
                </a:extLst>
              </a:tr>
              <a:tr h="370840">
                <a:tc>
                  <a:txBody>
                    <a:bodyPr/>
                    <a:lstStyle/>
                    <a:p>
                      <a:r>
                        <a:rPr lang="en-US" sz="1600" dirty="0"/>
                        <a:t>static</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V,M (class, method)</a:t>
                      </a:r>
                      <a:endParaRPr lang="en-IN" sz="1600" dirty="0"/>
                    </a:p>
                  </a:txBody>
                  <a:tcPr/>
                </a:tc>
                <a:extLst>
                  <a:ext uri="{0D108BD9-81ED-4DB2-BD59-A6C34878D82A}">
                    <a16:rowId xmlns:a16="http://schemas.microsoft.com/office/drawing/2014/main" val="2925028994"/>
                  </a:ext>
                </a:extLst>
              </a:tr>
              <a:tr h="370840">
                <a:tc>
                  <a:txBody>
                    <a:bodyPr/>
                    <a:lstStyle/>
                    <a:p>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dirty="0"/>
                    </a:p>
                  </a:txBody>
                  <a:tcPr/>
                </a:tc>
                <a:extLst>
                  <a:ext uri="{0D108BD9-81ED-4DB2-BD59-A6C34878D82A}">
                    <a16:rowId xmlns:a16="http://schemas.microsoft.com/office/drawing/2014/main" val="3408540723"/>
                  </a:ext>
                </a:extLst>
              </a:tr>
              <a:tr h="370840">
                <a:tc>
                  <a:txBody>
                    <a:bodyPr/>
                    <a:lstStyle/>
                    <a:p>
                      <a:r>
                        <a:rPr lang="en-US" sz="1600" dirty="0"/>
                        <a:t>transient</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V (only on variable)</a:t>
                      </a:r>
                      <a:endParaRPr lang="en-IN" sz="1600" dirty="0"/>
                    </a:p>
                  </a:txBody>
                  <a:tcPr/>
                </a:tc>
                <a:extLst>
                  <a:ext uri="{0D108BD9-81ED-4DB2-BD59-A6C34878D82A}">
                    <a16:rowId xmlns:a16="http://schemas.microsoft.com/office/drawing/2014/main" val="3779890598"/>
                  </a:ext>
                </a:extLst>
              </a:tr>
              <a:tr h="370840">
                <a:tc>
                  <a:txBody>
                    <a:bodyPr/>
                    <a:lstStyle/>
                    <a:p>
                      <a:r>
                        <a:rPr lang="en-US" sz="1600" dirty="0"/>
                        <a:t>volatile</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V (only on variable)</a:t>
                      </a:r>
                      <a:endParaRPr lang="en-IN" sz="1600" dirty="0"/>
                    </a:p>
                  </a:txBody>
                  <a:tcPr/>
                </a:tc>
                <a:extLst>
                  <a:ext uri="{0D108BD9-81ED-4DB2-BD59-A6C34878D82A}">
                    <a16:rowId xmlns:a16="http://schemas.microsoft.com/office/drawing/2014/main" val="3367492571"/>
                  </a:ext>
                </a:extLst>
              </a:tr>
              <a:tr h="370840">
                <a:tc>
                  <a:txBody>
                    <a:bodyPr/>
                    <a:lstStyle/>
                    <a:p>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dirty="0"/>
                    </a:p>
                  </a:txBody>
                  <a:tcPr/>
                </a:tc>
                <a:extLst>
                  <a:ext uri="{0D108BD9-81ED-4DB2-BD59-A6C34878D82A}">
                    <a16:rowId xmlns:a16="http://schemas.microsoft.com/office/drawing/2014/main" val="825235773"/>
                  </a:ext>
                </a:extLst>
              </a:tr>
              <a:tr h="370840">
                <a:tc>
                  <a:txBody>
                    <a:bodyPr/>
                    <a:lstStyle/>
                    <a:p>
                      <a:r>
                        <a:rPr lang="en-US" sz="1600" dirty="0"/>
                        <a:t>native</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M (only on method)</a:t>
                      </a:r>
                      <a:endParaRPr lang="en-IN" sz="1600" dirty="0"/>
                    </a:p>
                  </a:txBody>
                  <a:tcPr/>
                </a:tc>
                <a:extLst>
                  <a:ext uri="{0D108BD9-81ED-4DB2-BD59-A6C34878D82A}">
                    <a16:rowId xmlns:a16="http://schemas.microsoft.com/office/drawing/2014/main" val="1322389247"/>
                  </a:ext>
                </a:extLst>
              </a:tr>
              <a:tr h="370840">
                <a:tc>
                  <a:txBody>
                    <a:bodyPr/>
                    <a:lstStyle/>
                    <a:p>
                      <a:r>
                        <a:rPr lang="en-US" sz="1600" dirty="0"/>
                        <a:t>synchronized</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M (only on method)</a:t>
                      </a:r>
                      <a:endParaRPr lang="en-IN" sz="1600" dirty="0"/>
                    </a:p>
                  </a:txBody>
                  <a:tcPr/>
                </a:tc>
                <a:extLst>
                  <a:ext uri="{0D108BD9-81ED-4DB2-BD59-A6C34878D82A}">
                    <a16:rowId xmlns:a16="http://schemas.microsoft.com/office/drawing/2014/main" val="2607699513"/>
                  </a:ext>
                </a:extLst>
              </a:tr>
            </a:tbl>
          </a:graphicData>
        </a:graphic>
      </p:graphicFrame>
    </p:spTree>
    <p:extLst>
      <p:ext uri="{BB962C8B-B14F-4D97-AF65-F5344CB8AC3E}">
        <p14:creationId xmlns:p14="http://schemas.microsoft.com/office/powerpoint/2010/main" val="3199941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rPr>
                <a:t>Applicability of specifiers &amp; modifiers on </a:t>
              </a:r>
              <a:r>
                <a:rPr lang="en-US" sz="2000" b="1" dirty="0" err="1">
                  <a:solidFill>
                    <a:schemeClr val="bg1"/>
                  </a:solidFill>
                </a:rPr>
                <a:t>C,V,Co,M</a:t>
              </a:r>
              <a:endParaRPr lang="en-US" sz="2000" b="1" dirty="0">
                <a:solidFill>
                  <a:schemeClr val="bg1"/>
                </a:solidFill>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graphicFrame>
        <p:nvGraphicFramePr>
          <p:cNvPr id="25" name="Table 9">
            <a:extLst>
              <a:ext uri="{FF2B5EF4-FFF2-40B4-BE49-F238E27FC236}">
                <a16:creationId xmlns:a16="http://schemas.microsoft.com/office/drawing/2014/main" id="{6B080352-567D-411E-B5B1-DEC4644BCE50}"/>
              </a:ext>
            </a:extLst>
          </p:cNvPr>
          <p:cNvGraphicFramePr>
            <a:graphicFrameLocks noGrp="1"/>
          </p:cNvGraphicFramePr>
          <p:nvPr>
            <p:extLst>
              <p:ext uri="{D42A27DB-BD31-4B8C-83A1-F6EECF244321}">
                <p14:modId xmlns:p14="http://schemas.microsoft.com/office/powerpoint/2010/main" val="1383002347"/>
              </p:ext>
            </p:extLst>
          </p:nvPr>
        </p:nvGraphicFramePr>
        <p:xfrm>
          <a:off x="793139" y="945749"/>
          <a:ext cx="8403870" cy="1112520"/>
        </p:xfrm>
        <a:graphic>
          <a:graphicData uri="http://schemas.openxmlformats.org/drawingml/2006/table">
            <a:tbl>
              <a:tblPr firstRow="1" bandRow="1">
                <a:tableStyleId>{BDBED569-4797-4DF1-A0F4-6AAB3CD982D8}</a:tableStyleId>
              </a:tblPr>
              <a:tblGrid>
                <a:gridCol w="1724774">
                  <a:extLst>
                    <a:ext uri="{9D8B030D-6E8A-4147-A177-3AD203B41FA5}">
                      <a16:colId xmlns:a16="http://schemas.microsoft.com/office/drawing/2014/main" val="2093884678"/>
                    </a:ext>
                  </a:extLst>
                </a:gridCol>
                <a:gridCol w="1481504">
                  <a:extLst>
                    <a:ext uri="{9D8B030D-6E8A-4147-A177-3AD203B41FA5}">
                      <a16:colId xmlns:a16="http://schemas.microsoft.com/office/drawing/2014/main" val="1998974303"/>
                    </a:ext>
                  </a:extLst>
                </a:gridCol>
                <a:gridCol w="2598796">
                  <a:extLst>
                    <a:ext uri="{9D8B030D-6E8A-4147-A177-3AD203B41FA5}">
                      <a16:colId xmlns:a16="http://schemas.microsoft.com/office/drawing/2014/main" val="4053596787"/>
                    </a:ext>
                  </a:extLst>
                </a:gridCol>
                <a:gridCol w="2598796">
                  <a:extLst>
                    <a:ext uri="{9D8B030D-6E8A-4147-A177-3AD203B41FA5}">
                      <a16:colId xmlns:a16="http://schemas.microsoft.com/office/drawing/2014/main" val="1533142342"/>
                    </a:ext>
                  </a:extLst>
                </a:gridCol>
              </a:tblGrid>
              <a:tr h="370840">
                <a:tc>
                  <a:txBody>
                    <a:bodyPr/>
                    <a:lstStyle/>
                    <a:p>
                      <a:r>
                        <a:rPr lang="en-US" sz="1600" dirty="0"/>
                        <a:t>class</a:t>
                      </a:r>
                      <a:endParaRPr lang="en-IN" sz="1600" dirty="0"/>
                    </a:p>
                  </a:txBody>
                  <a:tcPr/>
                </a:tc>
                <a:tc>
                  <a:txBody>
                    <a:bodyPr/>
                    <a:lstStyle/>
                    <a:p>
                      <a:r>
                        <a:rPr lang="en-US" sz="1600" dirty="0"/>
                        <a:t>Applicability</a:t>
                      </a:r>
                      <a:endParaRPr lang="en-IN" sz="1600" dirty="0"/>
                    </a:p>
                  </a:txBody>
                  <a:tcPr/>
                </a:tc>
                <a:tc>
                  <a:txBody>
                    <a:bodyPr/>
                    <a:lstStyle/>
                    <a:p>
                      <a:r>
                        <a:rPr lang="en-US" sz="1600" dirty="0"/>
                        <a:t>Example</a:t>
                      </a:r>
                      <a:endParaRPr lang="en-IN" sz="1600" dirty="0"/>
                    </a:p>
                  </a:txBody>
                  <a:tcPr/>
                </a:tc>
                <a:tc>
                  <a:txBody>
                    <a:bodyPr/>
                    <a:lstStyle/>
                    <a:p>
                      <a:endParaRPr lang="en-IN" sz="1600" dirty="0"/>
                    </a:p>
                  </a:txBody>
                  <a:tcPr/>
                </a:tc>
                <a:extLst>
                  <a:ext uri="{0D108BD9-81ED-4DB2-BD59-A6C34878D82A}">
                    <a16:rowId xmlns:a16="http://schemas.microsoft.com/office/drawing/2014/main" val="5783398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access specifiers</a:t>
                      </a:r>
                      <a:endParaRPr lang="en-IN" sz="1600" dirty="0"/>
                    </a:p>
                  </a:txBody>
                  <a:tcPr/>
                </a:tc>
                <a:tc>
                  <a:txBody>
                    <a:bodyPr/>
                    <a:lstStyle/>
                    <a:p>
                      <a:r>
                        <a:rPr lang="en-US" sz="1600" dirty="0"/>
                        <a:t>default, public</a:t>
                      </a:r>
                      <a:endParaRPr lang="en-IN" sz="1600" dirty="0"/>
                    </a:p>
                  </a:txBody>
                  <a:tcPr/>
                </a:tc>
                <a:tc>
                  <a:txBody>
                    <a:bodyPr/>
                    <a:lstStyle/>
                    <a:p>
                      <a:r>
                        <a:rPr lang="en-US" sz="1600" dirty="0"/>
                        <a:t>class Hello { }</a:t>
                      </a:r>
                      <a:endParaRPr lang="en-IN" sz="1600" dirty="0"/>
                    </a:p>
                  </a:txBody>
                  <a:tcPr/>
                </a:tc>
                <a:tc>
                  <a:txBody>
                    <a:bodyPr/>
                    <a:lstStyle/>
                    <a:p>
                      <a:r>
                        <a:rPr lang="en-US" sz="1600" dirty="0"/>
                        <a:t>public class Hai { }</a:t>
                      </a:r>
                      <a:endParaRPr lang="en-IN" sz="1600" dirty="0"/>
                    </a:p>
                  </a:txBody>
                  <a:tcPr/>
                </a:tc>
                <a:extLst>
                  <a:ext uri="{0D108BD9-81ED-4DB2-BD59-A6C34878D82A}">
                    <a16:rowId xmlns:a16="http://schemas.microsoft.com/office/drawing/2014/main" val="63910494"/>
                  </a:ext>
                </a:extLst>
              </a:tr>
              <a:tr h="370840">
                <a:tc>
                  <a:txBody>
                    <a:bodyPr/>
                    <a:lstStyle/>
                    <a:p>
                      <a:r>
                        <a:rPr lang="en-US" sz="1600" dirty="0"/>
                        <a:t>access modifiers</a:t>
                      </a:r>
                      <a:endParaRPr lang="en-IN" sz="1600" dirty="0"/>
                    </a:p>
                  </a:txBody>
                  <a:tcPr/>
                </a:tc>
                <a:tc>
                  <a:txBody>
                    <a:bodyPr/>
                    <a:lstStyle/>
                    <a:p>
                      <a:r>
                        <a:rPr lang="en-US" sz="1600" dirty="0"/>
                        <a:t>abstract, final</a:t>
                      </a:r>
                      <a:endParaRPr lang="en-IN" sz="1600" dirty="0"/>
                    </a:p>
                  </a:txBody>
                  <a:tcPr/>
                </a:tc>
                <a:tc>
                  <a:txBody>
                    <a:bodyPr/>
                    <a:lstStyle/>
                    <a:p>
                      <a:r>
                        <a:rPr lang="en-US" sz="1600" dirty="0"/>
                        <a:t>abstract class A { }</a:t>
                      </a:r>
                      <a:endParaRPr lang="en-IN" sz="1600" dirty="0"/>
                    </a:p>
                  </a:txBody>
                  <a:tcPr/>
                </a:tc>
                <a:tc>
                  <a:txBody>
                    <a:bodyPr/>
                    <a:lstStyle/>
                    <a:p>
                      <a:r>
                        <a:rPr lang="en-US" sz="1600" dirty="0"/>
                        <a:t>final class B { }</a:t>
                      </a:r>
                      <a:endParaRPr lang="en-IN" sz="1600" dirty="0"/>
                    </a:p>
                  </a:txBody>
                  <a:tcPr/>
                </a:tc>
                <a:extLst>
                  <a:ext uri="{0D108BD9-81ED-4DB2-BD59-A6C34878D82A}">
                    <a16:rowId xmlns:a16="http://schemas.microsoft.com/office/drawing/2014/main" val="1628334734"/>
                  </a:ext>
                </a:extLst>
              </a:tr>
            </a:tbl>
          </a:graphicData>
        </a:graphic>
      </p:graphicFrame>
      <p:graphicFrame>
        <p:nvGraphicFramePr>
          <p:cNvPr id="28" name="Table 9">
            <a:extLst>
              <a:ext uri="{FF2B5EF4-FFF2-40B4-BE49-F238E27FC236}">
                <a16:creationId xmlns:a16="http://schemas.microsoft.com/office/drawing/2014/main" id="{A0387146-06E8-4611-A9A9-5ED8D91ABF36}"/>
              </a:ext>
            </a:extLst>
          </p:cNvPr>
          <p:cNvGraphicFramePr>
            <a:graphicFrameLocks noGrp="1"/>
          </p:cNvGraphicFramePr>
          <p:nvPr>
            <p:extLst>
              <p:ext uri="{D42A27DB-BD31-4B8C-83A1-F6EECF244321}">
                <p14:modId xmlns:p14="http://schemas.microsoft.com/office/powerpoint/2010/main" val="2208415668"/>
              </p:ext>
            </p:extLst>
          </p:nvPr>
        </p:nvGraphicFramePr>
        <p:xfrm>
          <a:off x="799767" y="2251091"/>
          <a:ext cx="8397242" cy="1112520"/>
        </p:xfrm>
        <a:graphic>
          <a:graphicData uri="http://schemas.openxmlformats.org/drawingml/2006/table">
            <a:tbl>
              <a:tblPr firstRow="1" bandRow="1">
                <a:tableStyleId>{5DA37D80-6434-44D0-A028-1B22A696006F}</a:tableStyleId>
              </a:tblPr>
              <a:tblGrid>
                <a:gridCol w="3925598">
                  <a:extLst>
                    <a:ext uri="{9D8B030D-6E8A-4147-A177-3AD203B41FA5}">
                      <a16:colId xmlns:a16="http://schemas.microsoft.com/office/drawing/2014/main" val="2093884678"/>
                    </a:ext>
                  </a:extLst>
                </a:gridCol>
                <a:gridCol w="4471644">
                  <a:extLst>
                    <a:ext uri="{9D8B030D-6E8A-4147-A177-3AD203B41FA5}">
                      <a16:colId xmlns:a16="http://schemas.microsoft.com/office/drawing/2014/main" val="1998974303"/>
                    </a:ext>
                  </a:extLst>
                </a:gridCol>
              </a:tblGrid>
              <a:tr h="370840">
                <a:tc>
                  <a:txBody>
                    <a:bodyPr/>
                    <a:lstStyle/>
                    <a:p>
                      <a:r>
                        <a:rPr lang="en-US" sz="1600" dirty="0"/>
                        <a:t>variable</a:t>
                      </a:r>
                      <a:endParaRPr lang="en-IN" sz="1600" dirty="0"/>
                    </a:p>
                  </a:txBody>
                  <a:tcPr/>
                </a:tc>
                <a:tc>
                  <a:txBody>
                    <a:bodyPr/>
                    <a:lstStyle/>
                    <a:p>
                      <a:r>
                        <a:rPr lang="en-US" sz="1600" dirty="0"/>
                        <a:t>Applicability</a:t>
                      </a:r>
                      <a:endParaRPr lang="en-IN" sz="1600" dirty="0"/>
                    </a:p>
                  </a:txBody>
                  <a:tcPr/>
                </a:tc>
                <a:extLst>
                  <a:ext uri="{0D108BD9-81ED-4DB2-BD59-A6C34878D82A}">
                    <a16:rowId xmlns:a16="http://schemas.microsoft.com/office/drawing/2014/main" val="578339862"/>
                  </a:ext>
                </a:extLst>
              </a:tr>
              <a:tr h="370840">
                <a:tc>
                  <a:txBody>
                    <a:bodyPr/>
                    <a:lstStyle/>
                    <a:p>
                      <a:r>
                        <a:rPr lang="en-US" sz="1600" dirty="0"/>
                        <a:t>access specifiers</a:t>
                      </a:r>
                      <a:endParaRPr lang="en-IN" sz="1600" dirty="0"/>
                    </a:p>
                  </a:txBody>
                  <a:tcPr/>
                </a:tc>
                <a:tc>
                  <a:txBody>
                    <a:bodyPr/>
                    <a:lstStyle/>
                    <a:p>
                      <a:r>
                        <a:rPr lang="en-US" sz="1600" dirty="0"/>
                        <a:t>private, default, protected, public</a:t>
                      </a:r>
                      <a:endParaRPr lang="en-IN" sz="1600" dirty="0"/>
                    </a:p>
                  </a:txBody>
                  <a:tcPr/>
                </a:tc>
                <a:extLst>
                  <a:ext uri="{0D108BD9-81ED-4DB2-BD59-A6C34878D82A}">
                    <a16:rowId xmlns:a16="http://schemas.microsoft.com/office/drawing/2014/main" val="63910494"/>
                  </a:ext>
                </a:extLst>
              </a:tr>
              <a:tr h="370840">
                <a:tc>
                  <a:txBody>
                    <a:bodyPr/>
                    <a:lstStyle/>
                    <a:p>
                      <a:r>
                        <a:rPr lang="en-US" sz="1600" dirty="0"/>
                        <a:t>access modifiers</a:t>
                      </a:r>
                      <a:endParaRPr lang="en-IN" sz="1600" dirty="0"/>
                    </a:p>
                  </a:txBody>
                  <a:tcPr/>
                </a:tc>
                <a:tc>
                  <a:txBody>
                    <a:bodyPr/>
                    <a:lstStyle/>
                    <a:p>
                      <a:r>
                        <a:rPr lang="en-US" sz="1600" dirty="0"/>
                        <a:t>final, static, transient, volatile</a:t>
                      </a:r>
                      <a:endParaRPr lang="en-IN" sz="1600" dirty="0"/>
                    </a:p>
                  </a:txBody>
                  <a:tcPr/>
                </a:tc>
                <a:extLst>
                  <a:ext uri="{0D108BD9-81ED-4DB2-BD59-A6C34878D82A}">
                    <a16:rowId xmlns:a16="http://schemas.microsoft.com/office/drawing/2014/main" val="1628334734"/>
                  </a:ext>
                </a:extLst>
              </a:tr>
            </a:tbl>
          </a:graphicData>
        </a:graphic>
      </p:graphicFrame>
      <p:graphicFrame>
        <p:nvGraphicFramePr>
          <p:cNvPr id="29" name="Table 9">
            <a:extLst>
              <a:ext uri="{FF2B5EF4-FFF2-40B4-BE49-F238E27FC236}">
                <a16:creationId xmlns:a16="http://schemas.microsoft.com/office/drawing/2014/main" id="{9A3B8C34-4283-42D4-8EC1-574D8C4988CC}"/>
              </a:ext>
            </a:extLst>
          </p:cNvPr>
          <p:cNvGraphicFramePr>
            <a:graphicFrameLocks noGrp="1"/>
          </p:cNvGraphicFramePr>
          <p:nvPr>
            <p:extLst>
              <p:ext uri="{D42A27DB-BD31-4B8C-83A1-F6EECF244321}">
                <p14:modId xmlns:p14="http://schemas.microsoft.com/office/powerpoint/2010/main" val="2262319147"/>
              </p:ext>
            </p:extLst>
          </p:nvPr>
        </p:nvGraphicFramePr>
        <p:xfrm>
          <a:off x="799767" y="3563051"/>
          <a:ext cx="8397242" cy="1112520"/>
        </p:xfrm>
        <a:graphic>
          <a:graphicData uri="http://schemas.openxmlformats.org/drawingml/2006/table">
            <a:tbl>
              <a:tblPr firstRow="1" bandRow="1">
                <a:tableStyleId>{BDBED569-4797-4DF1-A0F4-6AAB3CD982D8}</a:tableStyleId>
              </a:tblPr>
              <a:tblGrid>
                <a:gridCol w="3904755">
                  <a:extLst>
                    <a:ext uri="{9D8B030D-6E8A-4147-A177-3AD203B41FA5}">
                      <a16:colId xmlns:a16="http://schemas.microsoft.com/office/drawing/2014/main" val="2093884678"/>
                    </a:ext>
                  </a:extLst>
                </a:gridCol>
                <a:gridCol w="4492487">
                  <a:extLst>
                    <a:ext uri="{9D8B030D-6E8A-4147-A177-3AD203B41FA5}">
                      <a16:colId xmlns:a16="http://schemas.microsoft.com/office/drawing/2014/main" val="1998974303"/>
                    </a:ext>
                  </a:extLst>
                </a:gridCol>
              </a:tblGrid>
              <a:tr h="370840">
                <a:tc>
                  <a:txBody>
                    <a:bodyPr/>
                    <a:lstStyle/>
                    <a:p>
                      <a:r>
                        <a:rPr lang="en-US" sz="1600" dirty="0"/>
                        <a:t>constructor</a:t>
                      </a:r>
                      <a:endParaRPr lang="en-IN" sz="1600" dirty="0"/>
                    </a:p>
                  </a:txBody>
                  <a:tcPr/>
                </a:tc>
                <a:tc>
                  <a:txBody>
                    <a:bodyPr/>
                    <a:lstStyle/>
                    <a:p>
                      <a:r>
                        <a:rPr lang="en-US" sz="1600" dirty="0"/>
                        <a:t>Applicability</a:t>
                      </a:r>
                      <a:endParaRPr lang="en-IN" sz="1600" dirty="0"/>
                    </a:p>
                  </a:txBody>
                  <a:tcPr/>
                </a:tc>
                <a:extLst>
                  <a:ext uri="{0D108BD9-81ED-4DB2-BD59-A6C34878D82A}">
                    <a16:rowId xmlns:a16="http://schemas.microsoft.com/office/drawing/2014/main" val="5783398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access specifiers</a:t>
                      </a:r>
                      <a:endParaRPr lang="en-IN" sz="1600" dirty="0"/>
                    </a:p>
                  </a:txBody>
                  <a:tcPr/>
                </a:tc>
                <a:tc>
                  <a:txBody>
                    <a:bodyPr/>
                    <a:lstStyle/>
                    <a:p>
                      <a:r>
                        <a:rPr lang="en-US" sz="1600" dirty="0"/>
                        <a:t>private, default, protected, public</a:t>
                      </a:r>
                      <a:endParaRPr lang="en-IN" sz="1600" dirty="0"/>
                    </a:p>
                  </a:txBody>
                  <a:tcPr/>
                </a:tc>
                <a:extLst>
                  <a:ext uri="{0D108BD9-81ED-4DB2-BD59-A6C34878D82A}">
                    <a16:rowId xmlns:a16="http://schemas.microsoft.com/office/drawing/2014/main" val="63910494"/>
                  </a:ext>
                </a:extLst>
              </a:tr>
              <a:tr h="370840">
                <a:tc>
                  <a:txBody>
                    <a:bodyPr/>
                    <a:lstStyle/>
                    <a:p>
                      <a:r>
                        <a:rPr lang="en-US" sz="1600" dirty="0"/>
                        <a:t>access modifiers</a:t>
                      </a:r>
                      <a:endParaRPr lang="en-IN" sz="1600" dirty="0"/>
                    </a:p>
                  </a:txBody>
                  <a:tcPr/>
                </a:tc>
                <a:tc>
                  <a:txBody>
                    <a:bodyPr/>
                    <a:lstStyle/>
                    <a:p>
                      <a:r>
                        <a:rPr lang="en-US" sz="1600" dirty="0"/>
                        <a:t>no modifiers on constructors</a:t>
                      </a:r>
                      <a:endParaRPr lang="en-IN" sz="1600" dirty="0"/>
                    </a:p>
                  </a:txBody>
                  <a:tcPr/>
                </a:tc>
                <a:extLst>
                  <a:ext uri="{0D108BD9-81ED-4DB2-BD59-A6C34878D82A}">
                    <a16:rowId xmlns:a16="http://schemas.microsoft.com/office/drawing/2014/main" val="1628334734"/>
                  </a:ext>
                </a:extLst>
              </a:tr>
            </a:tbl>
          </a:graphicData>
        </a:graphic>
      </p:graphicFrame>
      <p:graphicFrame>
        <p:nvGraphicFramePr>
          <p:cNvPr id="30" name="Table 9">
            <a:extLst>
              <a:ext uri="{FF2B5EF4-FFF2-40B4-BE49-F238E27FC236}">
                <a16:creationId xmlns:a16="http://schemas.microsoft.com/office/drawing/2014/main" id="{9C42FB97-576D-4E7B-AADA-8FEC2BE78944}"/>
              </a:ext>
            </a:extLst>
          </p:cNvPr>
          <p:cNvGraphicFramePr>
            <a:graphicFrameLocks noGrp="1"/>
          </p:cNvGraphicFramePr>
          <p:nvPr>
            <p:extLst>
              <p:ext uri="{D42A27DB-BD31-4B8C-83A1-F6EECF244321}">
                <p14:modId xmlns:p14="http://schemas.microsoft.com/office/powerpoint/2010/main" val="1223587831"/>
              </p:ext>
            </p:extLst>
          </p:nvPr>
        </p:nvGraphicFramePr>
        <p:xfrm>
          <a:off x="806395" y="4828637"/>
          <a:ext cx="8397242" cy="1112520"/>
        </p:xfrm>
        <a:graphic>
          <a:graphicData uri="http://schemas.openxmlformats.org/drawingml/2006/table">
            <a:tbl>
              <a:tblPr firstRow="1" bandRow="1">
                <a:tableStyleId>{5DA37D80-6434-44D0-A028-1B22A696006F}</a:tableStyleId>
              </a:tblPr>
              <a:tblGrid>
                <a:gridCol w="3925598">
                  <a:extLst>
                    <a:ext uri="{9D8B030D-6E8A-4147-A177-3AD203B41FA5}">
                      <a16:colId xmlns:a16="http://schemas.microsoft.com/office/drawing/2014/main" val="2093884678"/>
                    </a:ext>
                  </a:extLst>
                </a:gridCol>
                <a:gridCol w="4471644">
                  <a:extLst>
                    <a:ext uri="{9D8B030D-6E8A-4147-A177-3AD203B41FA5}">
                      <a16:colId xmlns:a16="http://schemas.microsoft.com/office/drawing/2014/main" val="1998974303"/>
                    </a:ext>
                  </a:extLst>
                </a:gridCol>
              </a:tblGrid>
              <a:tr h="370840">
                <a:tc>
                  <a:txBody>
                    <a:bodyPr/>
                    <a:lstStyle/>
                    <a:p>
                      <a:r>
                        <a:rPr lang="en-US" sz="1600" dirty="0"/>
                        <a:t>method</a:t>
                      </a:r>
                      <a:endParaRPr lang="en-IN" sz="1600" dirty="0"/>
                    </a:p>
                  </a:txBody>
                  <a:tcPr/>
                </a:tc>
                <a:tc>
                  <a:txBody>
                    <a:bodyPr/>
                    <a:lstStyle/>
                    <a:p>
                      <a:r>
                        <a:rPr lang="en-US" sz="1600" dirty="0"/>
                        <a:t>Applicability</a:t>
                      </a:r>
                      <a:endParaRPr lang="en-IN" sz="1600" dirty="0"/>
                    </a:p>
                  </a:txBody>
                  <a:tcPr/>
                </a:tc>
                <a:extLst>
                  <a:ext uri="{0D108BD9-81ED-4DB2-BD59-A6C34878D82A}">
                    <a16:rowId xmlns:a16="http://schemas.microsoft.com/office/drawing/2014/main" val="578339862"/>
                  </a:ext>
                </a:extLst>
              </a:tr>
              <a:tr h="370840">
                <a:tc>
                  <a:txBody>
                    <a:bodyPr/>
                    <a:lstStyle/>
                    <a:p>
                      <a:r>
                        <a:rPr lang="en-US" sz="1600" dirty="0"/>
                        <a:t>access specifiers</a:t>
                      </a:r>
                      <a:endParaRPr lang="en-IN" sz="1600" dirty="0"/>
                    </a:p>
                  </a:txBody>
                  <a:tcPr/>
                </a:tc>
                <a:tc>
                  <a:txBody>
                    <a:bodyPr/>
                    <a:lstStyle/>
                    <a:p>
                      <a:r>
                        <a:rPr lang="en-US" sz="1600" dirty="0"/>
                        <a:t>private, default, protected, public</a:t>
                      </a:r>
                      <a:endParaRPr lang="en-IN" sz="1600" dirty="0"/>
                    </a:p>
                  </a:txBody>
                  <a:tcPr/>
                </a:tc>
                <a:extLst>
                  <a:ext uri="{0D108BD9-81ED-4DB2-BD59-A6C34878D82A}">
                    <a16:rowId xmlns:a16="http://schemas.microsoft.com/office/drawing/2014/main" val="63910494"/>
                  </a:ext>
                </a:extLst>
              </a:tr>
              <a:tr h="370840">
                <a:tc>
                  <a:txBody>
                    <a:bodyPr/>
                    <a:lstStyle/>
                    <a:p>
                      <a:r>
                        <a:rPr lang="en-US" sz="1600" dirty="0"/>
                        <a:t>access modifiers</a:t>
                      </a:r>
                      <a:endParaRPr lang="en-IN" sz="1600" dirty="0"/>
                    </a:p>
                  </a:txBody>
                  <a:tcPr/>
                </a:tc>
                <a:tc>
                  <a:txBody>
                    <a:bodyPr/>
                    <a:lstStyle/>
                    <a:p>
                      <a:r>
                        <a:rPr lang="en-US" sz="1600" dirty="0"/>
                        <a:t>abstract, final, static, native, </a:t>
                      </a:r>
                      <a:r>
                        <a:rPr lang="en-US" sz="1600" dirty="0" err="1"/>
                        <a:t>sychronized</a:t>
                      </a:r>
                      <a:endParaRPr lang="en-IN" sz="1600" dirty="0"/>
                    </a:p>
                  </a:txBody>
                  <a:tcPr/>
                </a:tc>
                <a:extLst>
                  <a:ext uri="{0D108BD9-81ED-4DB2-BD59-A6C34878D82A}">
                    <a16:rowId xmlns:a16="http://schemas.microsoft.com/office/drawing/2014/main" val="1628334734"/>
                  </a:ext>
                </a:extLst>
              </a:tr>
            </a:tbl>
          </a:graphicData>
        </a:graphic>
      </p:graphicFrame>
    </p:spTree>
    <p:extLst>
      <p:ext uri="{BB962C8B-B14F-4D97-AF65-F5344CB8AC3E}">
        <p14:creationId xmlns:p14="http://schemas.microsoft.com/office/powerpoint/2010/main" val="3590550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TotalTime>
  <Words>1332</Words>
  <Application>Microsoft Office PowerPoint</Application>
  <PresentationFormat>Widescreen</PresentationFormat>
  <Paragraphs>221</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Bookman Old Style</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ICT_4</dc:creator>
  <cp:lastModifiedBy>Surya Narayana</cp:lastModifiedBy>
  <cp:revision>27</cp:revision>
  <dcterms:created xsi:type="dcterms:W3CDTF">2021-09-13T09:22:41Z</dcterms:created>
  <dcterms:modified xsi:type="dcterms:W3CDTF">2022-02-17T09:47:47Z</dcterms:modified>
</cp:coreProperties>
</file>