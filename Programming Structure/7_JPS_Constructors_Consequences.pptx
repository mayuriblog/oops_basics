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92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C983-A073-93A0-E3F1-4CBCB1E11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F09C6-A0B1-C98C-FB8F-9DA712E0B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ED9FF-DBDC-F842-02E6-40D627FD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C547-3F97-7530-E7BD-BCD83869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CF28-98C1-B1CA-EF6C-CA42F0F7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E796-CDB1-4D8C-7E29-726CEEC8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5F101-BB35-E549-6EFF-1442A11EB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59EA1-2D1A-B541-BBE3-59D3431F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F2030-F67D-78C4-286D-DC7111A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F37DE-EE86-B593-3303-63457A80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7550-01FB-FDCB-7E24-1B486A2D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62B4E-1B33-B375-8DBF-45DCE9A39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FDF3E-E090-27AF-6395-98863240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1E7C0-79EE-4942-C73A-6AAF2D98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B3BB2-6CF5-5538-F044-FFBD225C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3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34A0-CD33-5E0B-FA0C-514FA49F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12213-BF15-9465-2B50-0CD6BCDB5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426BC-D0BC-F473-9089-7AD557ECB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D3A05-2FD0-AD03-DF8C-9081932B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FB555-F525-DB5A-3D64-B5118A3E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9B3C7-7009-392F-53B2-144E2A38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23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9C61-CCB6-F324-36D4-70901B747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907D4-DC89-9106-67AB-99ABFCF1C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EC28F-21F8-CC0F-5902-49303A22F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ED2E8-D792-5A05-B029-6D368D5AA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0E6602-CB5B-4153-B7F9-B38E17202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8CEC7-4996-E047-85A0-3A10B064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FE86D-0FD0-754E-7A9C-E8526420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47ADC-24F9-4AD1-7C8E-C74ECB6D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07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129E-9002-FFAD-8108-20E283154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07E4A-94CC-3E16-46CC-DEEBE329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1AC1A-0220-1019-5833-B0030FD9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9F63B-B745-44DB-B847-843942F8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14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F8E64D-6335-F32E-0F98-5261E5A6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51AA7-06CD-FEAC-3F9E-3B9D3F47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032E9-0BF1-6A11-81AA-2EB5CEAF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69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BDFE-3171-7238-F49A-302CB43A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5CA3E-AE3A-242B-82A0-2C02C1620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76CA4-8187-39D7-372D-7FCA50B43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7E6EB-7D9A-7962-9130-D2F677BD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05C77-5EC2-5CC1-CF22-07D69CEF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248D8-6F4F-BFBF-1FE4-0E90CA4D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6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FBB6-8319-7CFA-35DE-6C4A1C31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308327-4012-A659-A9F8-ADF503E1B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78D12-F052-6C78-0330-8B99DC142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DA022-07FC-9DCA-D75C-A4F77A02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3CCC2-E955-9441-EF47-A7C8E192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309D0-B204-52BF-EAEB-10C2EC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2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2C09-8F5D-1878-4494-2BE23F0D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AC32B-06BE-04C5-43A9-DE7110FB3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B5640-3CC7-D208-8030-A4579C00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DB10F-4737-4DAB-DD3B-75CFDB05C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9634D-0E80-E814-B5AA-E0700687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379CD-0376-9366-FD87-E9042AB1C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7F58F-0653-98A8-7EE6-F4552BF66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1A322-2668-227D-C001-84FEEECF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874A1-411D-A62D-0743-A5E10D01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42736-7654-8A5C-8A77-1E9C787C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94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6C2AEB-BCC8-004A-6B99-EF2893A47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BE58A-4824-3D7B-C3C5-0B6E05874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F0A6-BB50-B791-483A-0FDF372E7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4166E-5BF6-46EB-83EC-D7B826AFECA9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2488F-DE85-7AF8-25AB-2A51883D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07927-858A-01B6-2F72-06AA37F30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E0EC2-291F-4FD4-BEC4-0010046CD3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505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3E52E96-54DF-8D0D-36B7-92342068F803}"/>
              </a:ext>
            </a:extLst>
          </p:cNvPr>
          <p:cNvSpPr txBox="1"/>
          <p:nvPr/>
        </p:nvSpPr>
        <p:spPr>
          <a:xfrm>
            <a:off x="1089212" y="1333362"/>
            <a:ext cx="90902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Consequences of applying</a:t>
            </a:r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</a:p>
          <a:p>
            <a:pPr algn="ctr"/>
            <a:r>
              <a:rPr lang="en-US" sz="2800" b="1" dirty="0">
                <a:solidFill>
                  <a:srgbClr val="F105D3"/>
                </a:solidFill>
                <a:latin typeface="Bookman Old Style" panose="02050604050505020204" pitchFamily="18" charset="0"/>
              </a:rPr>
              <a:t>access specifiers &amp; modifiers </a:t>
            </a:r>
            <a:r>
              <a:rPr lang="en-US" sz="3200" b="1" dirty="0">
                <a:solidFill>
                  <a:srgbClr val="F105D3"/>
                </a:solidFill>
                <a:latin typeface="Bookman Old Style" panose="02050604050505020204" pitchFamily="18" charset="0"/>
              </a:rPr>
              <a:t>on</a:t>
            </a:r>
          </a:p>
          <a:p>
            <a:pPr algn="ctr"/>
            <a:r>
              <a:rPr lang="en-US" sz="3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Constructors</a:t>
            </a:r>
            <a:endParaRPr lang="en-US" sz="1600" b="1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-</a:t>
            </a:r>
          </a:p>
          <a:p>
            <a:pPr algn="ctr"/>
            <a:r>
              <a:rPr lang="en-US" sz="32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Part IV</a:t>
            </a:r>
            <a:endParaRPr lang="en-US" sz="3600" b="1" dirty="0">
              <a:solidFill>
                <a:srgbClr val="7030A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37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64382F0-CF1F-419A-A9E6-B73099BF623F}"/>
              </a:ext>
            </a:extLst>
          </p:cNvPr>
          <p:cNvSpPr txBox="1"/>
          <p:nvPr/>
        </p:nvSpPr>
        <p:spPr>
          <a:xfrm>
            <a:off x="285750" y="1452988"/>
            <a:ext cx="9082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Constructor syntax</a:t>
            </a:r>
            <a:endParaRPr lang="en-IN" sz="800" u="sng" dirty="0">
              <a:solidFill>
                <a:srgbClr val="F105D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D988-6167-4927-B5E9-B6069D8BDDCC}"/>
              </a:ext>
            </a:extLst>
          </p:cNvPr>
          <p:cNvSpPr txBox="1"/>
          <p:nvPr/>
        </p:nvSpPr>
        <p:spPr>
          <a:xfrm>
            <a:off x="623578" y="2225662"/>
            <a:ext cx="84071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&lt;access_specifier&gt; </a:t>
            </a:r>
            <a:r>
              <a:rPr lang="en-IN" sz="2400" b="1" dirty="0" err="1">
                <a:solidFill>
                  <a:srgbClr val="0000FF"/>
                </a:solidFill>
              </a:rPr>
              <a:t>ClassNameAsConstructor</a:t>
            </a:r>
            <a:r>
              <a:rPr lang="en-IN" sz="2400" b="1" dirty="0"/>
              <a:t>(&lt;</a:t>
            </a:r>
            <a:r>
              <a:rPr lang="en-IN" sz="2400" b="1" dirty="0" err="1"/>
              <a:t>param_type</a:t>
            </a:r>
            <a:r>
              <a:rPr lang="en-IN" sz="2400" b="1" dirty="0"/>
              <a:t> </a:t>
            </a:r>
            <a:r>
              <a:rPr lang="en-IN" sz="2400" b="1" dirty="0" err="1"/>
              <a:t>param_name</a:t>
            </a:r>
            <a:r>
              <a:rPr lang="en-IN" sz="2400" b="1" dirty="0"/>
              <a:t>, </a:t>
            </a:r>
            <a:r>
              <a:rPr lang="en-IN" sz="2400" b="1" dirty="0" err="1"/>
              <a:t>param_type</a:t>
            </a:r>
            <a:r>
              <a:rPr lang="en-IN" sz="2400" b="1" dirty="0"/>
              <a:t> </a:t>
            </a:r>
            <a:r>
              <a:rPr lang="en-IN" sz="2400" b="1" dirty="0" err="1"/>
              <a:t>param_name</a:t>
            </a:r>
            <a:r>
              <a:rPr lang="en-IN" sz="2400" b="1" dirty="0"/>
              <a:t>, ....&gt;) {</a:t>
            </a:r>
          </a:p>
          <a:p>
            <a:r>
              <a:rPr lang="en-IN" sz="2400" b="1" dirty="0"/>
              <a:t>	// class instance variables initialization</a:t>
            </a:r>
          </a:p>
          <a:p>
            <a:r>
              <a:rPr lang="en-I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771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7266E98-8C9A-44FE-AA91-FF41BCDEE270}"/>
              </a:ext>
            </a:extLst>
          </p:cNvPr>
          <p:cNvSpPr txBox="1"/>
          <p:nvPr/>
        </p:nvSpPr>
        <p:spPr>
          <a:xfrm>
            <a:off x="511038" y="1161054"/>
            <a:ext cx="9082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About default Constructor</a:t>
            </a:r>
            <a:endParaRPr lang="en-IN" sz="800" dirty="0">
              <a:solidFill>
                <a:srgbClr val="F105D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B582ED-1366-4F60-B764-FEA0F341242D}"/>
              </a:ext>
            </a:extLst>
          </p:cNvPr>
          <p:cNvSpPr txBox="1"/>
          <p:nvPr/>
        </p:nvSpPr>
        <p:spPr>
          <a:xfrm>
            <a:off x="511038" y="1825844"/>
            <a:ext cx="885825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Before discussing consequences of applying access specifiers on constructor, we will discuss about default constructor.</a:t>
            </a:r>
          </a:p>
          <a:p>
            <a:pPr algn="just"/>
            <a:endParaRPr lang="en-IN" sz="2000" dirty="0"/>
          </a:p>
          <a:p>
            <a:pPr algn="just"/>
            <a:r>
              <a:rPr lang="en-IN" b="1" u="sng" dirty="0"/>
              <a:t>default constructor generation for default access specifier class:</a:t>
            </a:r>
          </a:p>
          <a:p>
            <a:pPr algn="just"/>
            <a:r>
              <a:rPr lang="en-IN" dirty="0"/>
              <a:t>class A {</a:t>
            </a:r>
          </a:p>
          <a:p>
            <a:pPr algn="just"/>
            <a:r>
              <a:rPr lang="en-IN" dirty="0"/>
              <a:t>	</a:t>
            </a:r>
            <a:r>
              <a:rPr lang="en-IN" b="1" dirty="0">
                <a:solidFill>
                  <a:srgbClr val="FF0000"/>
                </a:solidFill>
              </a:rPr>
              <a:t>// if we don’t write any constructor</a:t>
            </a:r>
          </a:p>
          <a:p>
            <a:pPr algn="just"/>
            <a:r>
              <a:rPr lang="en-IN" dirty="0"/>
              <a:t>}</a:t>
            </a:r>
          </a:p>
          <a:p>
            <a:pPr algn="just"/>
            <a:endParaRPr lang="en-IN" dirty="0"/>
          </a:p>
          <a:p>
            <a:pPr algn="just"/>
            <a:r>
              <a:rPr lang="en-IN" dirty="0" err="1"/>
              <a:t>javac</a:t>
            </a:r>
            <a:r>
              <a:rPr lang="en-IN" dirty="0"/>
              <a:t> A.java </a:t>
            </a:r>
            <a:r>
              <a:rPr lang="en-IN" b="1" dirty="0">
                <a:solidFill>
                  <a:srgbClr val="FF0000"/>
                </a:solidFill>
              </a:rPr>
              <a:t>during compilation, compiler generates one default constructor</a:t>
            </a:r>
          </a:p>
          <a:p>
            <a:pPr algn="just"/>
            <a:r>
              <a:rPr lang="en-IN" dirty="0"/>
              <a:t>	in  </a:t>
            </a:r>
            <a:r>
              <a:rPr lang="en-IN" dirty="0" err="1"/>
              <a:t>A.class</a:t>
            </a:r>
            <a:endParaRPr lang="en-IN" dirty="0"/>
          </a:p>
          <a:p>
            <a:pPr algn="just"/>
            <a:r>
              <a:rPr lang="en-IN" dirty="0"/>
              <a:t>		</a:t>
            </a:r>
          </a:p>
          <a:p>
            <a:pPr algn="just"/>
            <a:r>
              <a:rPr lang="en-IN" dirty="0"/>
              <a:t>class A {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	A() {} 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	// default constructor; 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	// access specifier same as class access specifier with no param constructor</a:t>
            </a:r>
          </a:p>
          <a:p>
            <a:pPr algn="just"/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884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2583A35-7A27-417A-871A-DF6DA5762A06}"/>
              </a:ext>
            </a:extLst>
          </p:cNvPr>
          <p:cNvSpPr txBox="1"/>
          <p:nvPr/>
        </p:nvSpPr>
        <p:spPr>
          <a:xfrm>
            <a:off x="285750" y="1116813"/>
            <a:ext cx="9082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About default Constructor</a:t>
            </a:r>
            <a:endParaRPr lang="en-IN" sz="800" dirty="0">
              <a:solidFill>
                <a:srgbClr val="F105D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7A8C5D-5A2F-406B-B2A2-4C7C334B7D77}"/>
              </a:ext>
            </a:extLst>
          </p:cNvPr>
          <p:cNvSpPr txBox="1"/>
          <p:nvPr/>
        </p:nvSpPr>
        <p:spPr>
          <a:xfrm>
            <a:off x="285749" y="1781603"/>
            <a:ext cx="9082837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u="sng" dirty="0"/>
              <a:t>default constructor generation for public access specifier class:</a:t>
            </a:r>
          </a:p>
          <a:p>
            <a:pPr algn="just"/>
            <a:r>
              <a:rPr lang="en-IN" sz="2000" dirty="0"/>
              <a:t>package </a:t>
            </a:r>
            <a:r>
              <a:rPr lang="en-IN" sz="2000" dirty="0" err="1"/>
              <a:t>mypack</a:t>
            </a:r>
            <a:r>
              <a:rPr lang="en-IN" sz="2000" dirty="0"/>
              <a:t>;</a:t>
            </a:r>
          </a:p>
          <a:p>
            <a:pPr algn="just"/>
            <a:r>
              <a:rPr lang="en-IN" sz="2000" dirty="0"/>
              <a:t>public class B {</a:t>
            </a:r>
          </a:p>
          <a:p>
            <a:pPr algn="just"/>
            <a:r>
              <a:rPr lang="en-IN" sz="2000" dirty="0"/>
              <a:t>	</a:t>
            </a:r>
            <a:r>
              <a:rPr lang="en-IN" b="1" dirty="0">
                <a:solidFill>
                  <a:srgbClr val="FF0000"/>
                </a:solidFill>
              </a:rPr>
              <a:t>if no constructor is written, compiler generates one default constructor with the same access specifier as class.</a:t>
            </a:r>
          </a:p>
          <a:p>
            <a:pPr algn="just"/>
            <a:r>
              <a:rPr lang="en-IN" sz="2000" dirty="0"/>
              <a:t>}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 err="1"/>
              <a:t>javac</a:t>
            </a:r>
            <a:r>
              <a:rPr lang="en-IN" sz="2000" dirty="0"/>
              <a:t> B.java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public class B {</a:t>
            </a:r>
          </a:p>
          <a:p>
            <a:pPr algn="just"/>
            <a:r>
              <a:rPr lang="en-IN" sz="2000" dirty="0"/>
              <a:t>	</a:t>
            </a:r>
            <a:r>
              <a:rPr lang="en-IN" b="1" dirty="0">
                <a:solidFill>
                  <a:srgbClr val="FF0000"/>
                </a:solidFill>
              </a:rPr>
              <a:t>public B() {} </a:t>
            </a:r>
          </a:p>
          <a:p>
            <a:pPr algn="just"/>
            <a:r>
              <a:rPr lang="en-IN" dirty="0"/>
              <a:t>	</a:t>
            </a:r>
            <a:r>
              <a:rPr lang="en-IN" b="1" dirty="0">
                <a:solidFill>
                  <a:srgbClr val="FF0000"/>
                </a:solidFill>
              </a:rPr>
              <a:t>// default constructor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	// constructor is generated as public because class access specifier is public</a:t>
            </a:r>
          </a:p>
          <a:p>
            <a:pPr algn="just"/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907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6FBB0C5-AC9A-4BB5-AEA0-A9B3F31743D6}"/>
              </a:ext>
            </a:extLst>
          </p:cNvPr>
          <p:cNvSpPr txBox="1"/>
          <p:nvPr/>
        </p:nvSpPr>
        <p:spPr>
          <a:xfrm>
            <a:off x="285750" y="1452988"/>
            <a:ext cx="9082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About default Constructor</a:t>
            </a:r>
            <a:endParaRPr lang="en-IN" sz="800" dirty="0">
              <a:solidFill>
                <a:srgbClr val="F105D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C9B64C-62E2-4434-8066-020016C0EFF5}"/>
              </a:ext>
            </a:extLst>
          </p:cNvPr>
          <p:cNvSpPr txBox="1"/>
          <p:nvPr/>
        </p:nvSpPr>
        <p:spPr>
          <a:xfrm>
            <a:off x="285750" y="2117778"/>
            <a:ext cx="88582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/>
              <a:t>Note: </a:t>
            </a:r>
          </a:p>
          <a:p>
            <a:pPr algn="just"/>
            <a:r>
              <a:rPr lang="en-US" sz="2000" b="1" dirty="0"/>
              <a:t>	</a:t>
            </a:r>
            <a:r>
              <a:rPr lang="en-US" sz="3200" b="1" dirty="0"/>
              <a:t>default constructors are generated by compilers only if no constructor is present in class.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1748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5E4FC12-8387-4C2D-AA74-C09783F34AD1}"/>
              </a:ext>
            </a:extLst>
          </p:cNvPr>
          <p:cNvSpPr txBox="1"/>
          <p:nvPr/>
        </p:nvSpPr>
        <p:spPr>
          <a:xfrm>
            <a:off x="285750" y="1134936"/>
            <a:ext cx="908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Consequence of access specifiers on Constructors</a:t>
            </a:r>
            <a:endParaRPr lang="en-IN" sz="700" u="sng" dirty="0">
              <a:solidFill>
                <a:srgbClr val="F105D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3D8CE6-DCE4-4AC4-B44B-07F07CA0C0B3}"/>
              </a:ext>
            </a:extLst>
          </p:cNvPr>
          <p:cNvSpPr txBox="1"/>
          <p:nvPr/>
        </p:nvSpPr>
        <p:spPr>
          <a:xfrm>
            <a:off x="285750" y="1586384"/>
            <a:ext cx="88582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u="sng" dirty="0"/>
              <a:t>access_specifiers:</a:t>
            </a:r>
          </a:p>
          <a:p>
            <a:pPr algn="just"/>
            <a:r>
              <a:rPr lang="en-US" dirty="0"/>
              <a:t>	</a:t>
            </a:r>
            <a:r>
              <a:rPr lang="en-US" b="1" u="sng" dirty="0"/>
              <a:t>private: </a:t>
            </a:r>
          </a:p>
          <a:p>
            <a:pPr algn="just"/>
            <a:r>
              <a:rPr lang="en-US" dirty="0"/>
              <a:t>	If constructor is declared as private such classes cannot be </a:t>
            </a:r>
            <a:r>
              <a:rPr lang="en-US" b="1" i="1" dirty="0"/>
              <a:t>inherited or instantiated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		</a:t>
            </a:r>
          </a:p>
          <a:p>
            <a:pPr algn="just"/>
            <a:r>
              <a:rPr lang="en-US" dirty="0"/>
              <a:t>	We can't subclass</a:t>
            </a:r>
          </a:p>
          <a:p>
            <a:pPr algn="just"/>
            <a:r>
              <a:rPr lang="en-US" dirty="0"/>
              <a:t>	We can't instantiate / create object</a:t>
            </a:r>
          </a:p>
          <a:p>
            <a:pPr algn="just"/>
            <a:r>
              <a:rPr lang="en-US" dirty="0"/>
              <a:t>		</a:t>
            </a:r>
          </a:p>
          <a:p>
            <a:pPr algn="just"/>
            <a:r>
              <a:rPr lang="en-US" dirty="0"/>
              <a:t>	A class cannot be instantiated:</a:t>
            </a:r>
          </a:p>
          <a:p>
            <a:pPr algn="just"/>
            <a:r>
              <a:rPr lang="en-US" dirty="0"/>
              <a:t>	</a:t>
            </a:r>
            <a:r>
              <a:rPr lang="en-US" b="1" dirty="0"/>
              <a:t>A a=new A(); // error saying class constructor is private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	class cannot be sub classed. calling super() from B class constructor says A class constructor is private</a:t>
            </a:r>
          </a:p>
          <a:p>
            <a:pPr algn="just"/>
            <a:r>
              <a:rPr lang="en-US" dirty="0"/>
              <a:t>	</a:t>
            </a:r>
            <a:r>
              <a:rPr lang="en-US" b="1" dirty="0"/>
              <a:t>class B extends A </a:t>
            </a:r>
            <a:r>
              <a:rPr lang="en-US" dirty="0"/>
              <a:t>{</a:t>
            </a:r>
          </a:p>
          <a:p>
            <a:pPr algn="just"/>
            <a:r>
              <a:rPr lang="en-US" dirty="0"/>
              <a:t>		B() {</a:t>
            </a:r>
          </a:p>
          <a:p>
            <a:pPr algn="just"/>
            <a:r>
              <a:rPr lang="en-US" dirty="0"/>
              <a:t>			</a:t>
            </a:r>
            <a:r>
              <a:rPr lang="en-US" b="1" dirty="0"/>
              <a:t>super();</a:t>
            </a:r>
            <a:r>
              <a:rPr lang="en-US" dirty="0"/>
              <a:t> // super class constructor is private</a:t>
            </a:r>
          </a:p>
          <a:p>
            <a:pPr algn="just"/>
            <a:r>
              <a:rPr lang="en-US" dirty="0"/>
              <a:t>		}</a:t>
            </a:r>
          </a:p>
          <a:p>
            <a:pPr algn="just"/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12050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F3802EE-C6D8-4B1D-8287-7DE1DF72F590}"/>
              </a:ext>
            </a:extLst>
          </p:cNvPr>
          <p:cNvSpPr txBox="1"/>
          <p:nvPr/>
        </p:nvSpPr>
        <p:spPr>
          <a:xfrm>
            <a:off x="285750" y="1452988"/>
            <a:ext cx="908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Consequence of access specifiers on Constructors</a:t>
            </a:r>
            <a:endParaRPr lang="en-IN" sz="700" u="sng" dirty="0">
              <a:solidFill>
                <a:srgbClr val="F105D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68BC93-4281-4B0C-BA35-1C9FCADAD9EC}"/>
              </a:ext>
            </a:extLst>
          </p:cNvPr>
          <p:cNvSpPr txBox="1"/>
          <p:nvPr/>
        </p:nvSpPr>
        <p:spPr>
          <a:xfrm>
            <a:off x="285750" y="1904436"/>
            <a:ext cx="900126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3F66"/>
                </a:solidFill>
              </a:rPr>
              <a:t>Then when class constructors are declared as private?</a:t>
            </a:r>
            <a:endParaRPr lang="en-US" sz="2400" b="1" dirty="0">
              <a:solidFill>
                <a:srgbClr val="003F66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b="1" dirty="0"/>
              <a:t>Class which don’t want to be instantiated or inherited by others such class constructors are declared as private.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b="1" dirty="0"/>
              <a:t>Such a class contains one static method like </a:t>
            </a:r>
            <a:r>
              <a:rPr lang="en-US" sz="2400" b="1" dirty="0" err="1"/>
              <a:t>getInstance</a:t>
            </a:r>
            <a:r>
              <a:rPr lang="en-US" sz="2400" b="1" dirty="0"/>
              <a:t>() that returns the single instance of same class for any number of client requests.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b="1" dirty="0"/>
              <a:t>Singleton classes are like this.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b="1" dirty="0"/>
              <a:t>Classes which want to instantiate themself such classes are called as Singleton classes.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b="1" dirty="0"/>
              <a:t>Singleton classes will have only one single object per JVM.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173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4E23E40-25DE-4E4A-B8AF-A717EC1B4D49}"/>
              </a:ext>
            </a:extLst>
          </p:cNvPr>
          <p:cNvSpPr txBox="1"/>
          <p:nvPr/>
        </p:nvSpPr>
        <p:spPr>
          <a:xfrm>
            <a:off x="285750" y="949405"/>
            <a:ext cx="908283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Singleton class example:</a:t>
            </a:r>
          </a:p>
          <a:p>
            <a:pPr algn="just"/>
            <a:endParaRPr lang="en-IN" sz="700" u="sng" dirty="0">
              <a:solidFill>
                <a:srgbClr val="F105D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69D6CA-7852-446B-90A4-F464CDE21ED9}"/>
              </a:ext>
            </a:extLst>
          </p:cNvPr>
          <p:cNvSpPr txBox="1"/>
          <p:nvPr/>
        </p:nvSpPr>
        <p:spPr>
          <a:xfrm>
            <a:off x="352010" y="1321341"/>
            <a:ext cx="591626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class A {</a:t>
            </a:r>
          </a:p>
          <a:p>
            <a:pPr algn="just"/>
            <a:r>
              <a:rPr lang="en-US" b="1" dirty="0"/>
              <a:t>	static A </a:t>
            </a:r>
            <a:r>
              <a:rPr lang="en-US" b="1" dirty="0" err="1"/>
              <a:t>a</a:t>
            </a:r>
            <a:r>
              <a:rPr lang="en-US" b="1" dirty="0"/>
              <a:t>;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	</a:t>
            </a:r>
            <a:r>
              <a:rPr lang="en-US" b="1" dirty="0">
                <a:solidFill>
                  <a:srgbClr val="FF0000"/>
                </a:solidFill>
              </a:rPr>
              <a:t>private A() {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	}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b="1" dirty="0"/>
              <a:t>		</a:t>
            </a:r>
          </a:p>
          <a:p>
            <a:pPr algn="just"/>
            <a:r>
              <a:rPr lang="en-US" b="1" dirty="0"/>
              <a:t>	// following factory methods returns A class object</a:t>
            </a:r>
          </a:p>
          <a:p>
            <a:pPr algn="just"/>
            <a:r>
              <a:rPr lang="en-US" b="1" dirty="0"/>
              <a:t>	static A getInstance() {</a:t>
            </a:r>
          </a:p>
          <a:p>
            <a:pPr algn="just"/>
            <a:r>
              <a:rPr lang="en-US" b="1" dirty="0"/>
              <a:t>		if(a==null) {</a:t>
            </a:r>
          </a:p>
          <a:p>
            <a:pPr algn="just"/>
            <a:r>
              <a:rPr lang="en-US" b="1" dirty="0"/>
              <a:t>			a=new A();</a:t>
            </a:r>
          </a:p>
          <a:p>
            <a:pPr algn="just"/>
            <a:r>
              <a:rPr lang="en-US" b="1" dirty="0"/>
              <a:t>		}</a:t>
            </a:r>
          </a:p>
          <a:p>
            <a:pPr algn="just"/>
            <a:r>
              <a:rPr lang="en-US" b="1" dirty="0"/>
              <a:t>		return a;		</a:t>
            </a:r>
          </a:p>
          <a:p>
            <a:pPr algn="just"/>
            <a:r>
              <a:rPr lang="en-US" b="1" dirty="0"/>
              <a:t>	}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	void </a:t>
            </a:r>
            <a:r>
              <a:rPr lang="en-US" b="1" dirty="0" err="1"/>
              <a:t>xyz</a:t>
            </a:r>
            <a:r>
              <a:rPr lang="en-US" b="1" dirty="0"/>
              <a:t>() {}</a:t>
            </a:r>
          </a:p>
          <a:p>
            <a:pPr algn="just"/>
            <a:r>
              <a:rPr lang="en-US" b="1" dirty="0"/>
              <a:t>	void </a:t>
            </a:r>
            <a:r>
              <a:rPr lang="en-US" b="1" dirty="0" err="1"/>
              <a:t>lmn</a:t>
            </a:r>
            <a:r>
              <a:rPr lang="en-US" b="1" dirty="0"/>
              <a:t>() {}</a:t>
            </a:r>
          </a:p>
          <a:p>
            <a:pPr algn="just"/>
            <a:r>
              <a:rPr lang="en-US" b="1" dirty="0"/>
              <a:t>	static void </a:t>
            </a:r>
            <a:r>
              <a:rPr lang="en-US" b="1" dirty="0" err="1"/>
              <a:t>pqr</a:t>
            </a:r>
            <a:r>
              <a:rPr lang="en-US" b="1" dirty="0"/>
              <a:t>() {}</a:t>
            </a:r>
          </a:p>
          <a:p>
            <a:pPr algn="just"/>
            <a:r>
              <a:rPr lang="en-US" b="1" dirty="0"/>
              <a:t>	static void </a:t>
            </a:r>
            <a:r>
              <a:rPr lang="en-US" b="1" dirty="0" err="1"/>
              <a:t>mno</a:t>
            </a:r>
            <a:r>
              <a:rPr lang="en-US" b="1" dirty="0"/>
              <a:t>() {}</a:t>
            </a:r>
          </a:p>
          <a:p>
            <a:pPr algn="just"/>
            <a:r>
              <a:rPr lang="en-US" b="1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67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007E3CB-EBA9-479D-8F0F-FC39388BB5A6}"/>
              </a:ext>
            </a:extLst>
          </p:cNvPr>
          <p:cNvSpPr txBox="1"/>
          <p:nvPr/>
        </p:nvSpPr>
        <p:spPr>
          <a:xfrm>
            <a:off x="405018" y="949405"/>
            <a:ext cx="908283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Singleton class example:</a:t>
            </a:r>
          </a:p>
          <a:p>
            <a:pPr algn="just"/>
            <a:endParaRPr lang="en-IN" sz="700" u="sng" dirty="0">
              <a:solidFill>
                <a:srgbClr val="F105D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9A8CA-910F-40B8-98FA-1202D93F942E}"/>
              </a:ext>
            </a:extLst>
          </p:cNvPr>
          <p:cNvSpPr txBox="1"/>
          <p:nvPr/>
        </p:nvSpPr>
        <p:spPr>
          <a:xfrm>
            <a:off x="405018" y="1372198"/>
            <a:ext cx="90828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 singleton class object can be obtained:</a:t>
            </a:r>
          </a:p>
          <a:p>
            <a:r>
              <a:rPr lang="en-IN" sz="2400" dirty="0"/>
              <a:t>	A a=</a:t>
            </a:r>
            <a:r>
              <a:rPr lang="en-IN" sz="2400" dirty="0" err="1"/>
              <a:t>A.getInstance</a:t>
            </a:r>
            <a:r>
              <a:rPr lang="en-IN" sz="2400" dirty="0"/>
              <a:t>();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a.xyz</a:t>
            </a:r>
            <a:r>
              <a:rPr lang="en-IN" sz="2400" dirty="0"/>
              <a:t>();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a.lmn</a:t>
            </a:r>
            <a:r>
              <a:rPr lang="en-IN" sz="2400" dirty="0"/>
              <a:t>();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A.pqr</a:t>
            </a:r>
            <a:r>
              <a:rPr lang="en-IN" sz="2400" dirty="0"/>
              <a:t>();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A.mno</a:t>
            </a:r>
            <a:r>
              <a:rPr lang="en-IN" sz="2400" dirty="0"/>
              <a:t>();</a:t>
            </a:r>
          </a:p>
          <a:p>
            <a:endParaRPr lang="en-IN" sz="2400" dirty="0"/>
          </a:p>
          <a:p>
            <a:pPr algn="just"/>
            <a:r>
              <a:rPr lang="en-IN" sz="2400" dirty="0"/>
              <a:t>Usually singleton class constructors are declared as private (class which contains only one instance per JVM).</a:t>
            </a:r>
          </a:p>
        </p:txBody>
      </p:sp>
    </p:spTree>
    <p:extLst>
      <p:ext uri="{BB962C8B-B14F-4D97-AF65-F5344CB8AC3E}">
        <p14:creationId xmlns:p14="http://schemas.microsoft.com/office/powerpoint/2010/main" val="1829662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AF74655-E7A7-44BB-97A4-6BBEC35A2D20}"/>
              </a:ext>
            </a:extLst>
          </p:cNvPr>
          <p:cNvSpPr txBox="1"/>
          <p:nvPr/>
        </p:nvSpPr>
        <p:spPr>
          <a:xfrm>
            <a:off x="365262" y="949405"/>
            <a:ext cx="908283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Singleton class example:</a:t>
            </a:r>
          </a:p>
          <a:p>
            <a:pPr algn="just"/>
            <a:endParaRPr lang="en-IN" sz="700" u="sng" dirty="0">
              <a:solidFill>
                <a:srgbClr val="F105D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7FF095-3218-4A56-B3CA-A01084AD4DC5}"/>
              </a:ext>
            </a:extLst>
          </p:cNvPr>
          <p:cNvSpPr txBox="1"/>
          <p:nvPr/>
        </p:nvSpPr>
        <p:spPr>
          <a:xfrm>
            <a:off x="365262" y="1305938"/>
            <a:ext cx="9082838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Without instantiating and sub classing how a class can be useful?</a:t>
            </a:r>
          </a:p>
          <a:p>
            <a:r>
              <a:rPr lang="en-IN" sz="2200" dirty="0"/>
              <a:t>	Hence in such classes, the class itself contains its own instance.</a:t>
            </a:r>
          </a:p>
          <a:p>
            <a:endParaRPr lang="en-IN" sz="2200" dirty="0"/>
          </a:p>
          <a:p>
            <a:r>
              <a:rPr lang="en-IN" sz="2200" dirty="0"/>
              <a:t>	The instance is created and returned from one static method of the same class called factory method. Such classes are called as Singleton classes.</a:t>
            </a:r>
          </a:p>
          <a:p>
            <a:endParaRPr lang="en-IN" sz="2200" dirty="0"/>
          </a:p>
          <a:p>
            <a:r>
              <a:rPr lang="en-IN" sz="2200" dirty="0"/>
              <a:t>Some of the Singleton classes in java are: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 err="1"/>
              <a:t>ResourceBundle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Runtime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Logger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Toolkit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 err="1"/>
              <a:t>DocumentBuilderFactory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 err="1"/>
              <a:t>DocumentBuilder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System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Math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89455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EAC534E-7106-4DA7-9063-BE4B25F1DF27}"/>
              </a:ext>
            </a:extLst>
          </p:cNvPr>
          <p:cNvSpPr txBox="1"/>
          <p:nvPr/>
        </p:nvSpPr>
        <p:spPr>
          <a:xfrm>
            <a:off x="285750" y="949405"/>
            <a:ext cx="908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default: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A248BD-6E0C-48F4-BF3D-54AC4CDFDF77}"/>
              </a:ext>
            </a:extLst>
          </p:cNvPr>
          <p:cNvSpPr txBox="1"/>
          <p:nvPr/>
        </p:nvSpPr>
        <p:spPr>
          <a:xfrm>
            <a:off x="285750" y="1345694"/>
            <a:ext cx="90828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dirty="0"/>
              <a:t>	class which contains default access specifier constructor </a:t>
            </a:r>
            <a:r>
              <a:rPr lang="en-US" sz="2200" b="1" dirty="0">
                <a:solidFill>
                  <a:srgbClr val="FF0000"/>
                </a:solidFill>
              </a:rPr>
              <a:t>can be sub classed </a:t>
            </a:r>
            <a:r>
              <a:rPr lang="en-US" sz="2200" b="1" dirty="0"/>
              <a:t>and i</a:t>
            </a:r>
            <a:r>
              <a:rPr lang="en-US" sz="2200" b="1" dirty="0">
                <a:solidFill>
                  <a:srgbClr val="FF0000"/>
                </a:solidFill>
              </a:rPr>
              <a:t>nstantiated only within the package</a:t>
            </a:r>
            <a:r>
              <a:rPr lang="en-US" sz="2200" b="1" dirty="0"/>
              <a:t>. It cannot be sub classes or instantiated classes outside the package.</a:t>
            </a:r>
          </a:p>
          <a:p>
            <a:pPr algn="just"/>
            <a:endParaRPr lang="en-US" sz="2200" b="1" dirty="0"/>
          </a:p>
          <a:p>
            <a:pPr algn="just"/>
            <a:r>
              <a:rPr lang="en-US" sz="2200" b="1" i="1" dirty="0"/>
              <a:t>	// though class is public</a:t>
            </a:r>
          </a:p>
          <a:p>
            <a:pPr algn="just"/>
            <a:r>
              <a:rPr lang="en-US" sz="2200" b="1" dirty="0"/>
              <a:t>	</a:t>
            </a:r>
            <a:r>
              <a:rPr lang="en-US" sz="2200" dirty="0"/>
              <a:t>public class A {</a:t>
            </a:r>
          </a:p>
          <a:p>
            <a:pPr algn="just"/>
            <a:r>
              <a:rPr lang="en-US" sz="2200" dirty="0"/>
              <a:t>		</a:t>
            </a:r>
            <a:r>
              <a:rPr lang="en-US" sz="2200" b="1" dirty="0">
                <a:solidFill>
                  <a:srgbClr val="FF0000"/>
                </a:solidFill>
              </a:rPr>
              <a:t>A() { </a:t>
            </a:r>
            <a:r>
              <a:rPr lang="en-US" sz="2200" b="1" dirty="0"/>
              <a:t>// explicitly written default access specifier constructor</a:t>
            </a:r>
          </a:p>
          <a:p>
            <a:pPr algn="just"/>
            <a:r>
              <a:rPr lang="en-US" sz="2200" dirty="0"/>
              <a:t>		}</a:t>
            </a:r>
          </a:p>
          <a:p>
            <a:pPr algn="just"/>
            <a:r>
              <a:rPr lang="en-US" sz="2200" dirty="0"/>
              <a:t>	}</a:t>
            </a:r>
          </a:p>
          <a:p>
            <a:pPr algn="just"/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class cannot be inherited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class cannot be instantiated outside the package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798488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F72E74D-745A-4D54-8C11-1401095A7ECF}"/>
              </a:ext>
            </a:extLst>
          </p:cNvPr>
          <p:cNvSpPr txBox="1"/>
          <p:nvPr/>
        </p:nvSpPr>
        <p:spPr>
          <a:xfrm>
            <a:off x="285750" y="949405"/>
            <a:ext cx="908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protected: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96C42-8DF5-4B85-9DEE-7A7F58EEE182}"/>
              </a:ext>
            </a:extLst>
          </p:cNvPr>
          <p:cNvSpPr txBox="1"/>
          <p:nvPr/>
        </p:nvSpPr>
        <p:spPr>
          <a:xfrm>
            <a:off x="298996" y="1405798"/>
            <a:ext cx="908283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/>
              <a:t>If class constructor is declared as protected then the </a:t>
            </a:r>
            <a:r>
              <a:rPr lang="en-IN" sz="2000" b="1" dirty="0">
                <a:solidFill>
                  <a:srgbClr val="FF0000"/>
                </a:solidFill>
              </a:rPr>
              <a:t>class can be sub classes and instantiated both within the package</a:t>
            </a:r>
            <a:r>
              <a:rPr lang="en-IN" sz="2000" b="1" dirty="0"/>
              <a:t>. But can be only sub classed outside the package, class cannot be instantiated outside the package.</a:t>
            </a:r>
          </a:p>
          <a:p>
            <a:pPr algn="just"/>
            <a:endParaRPr lang="en-IN" sz="2000" b="1" dirty="0"/>
          </a:p>
          <a:p>
            <a:pPr algn="just"/>
            <a:r>
              <a:rPr lang="en-IN" sz="2000" b="1" dirty="0"/>
              <a:t>		public class A {</a:t>
            </a:r>
          </a:p>
          <a:p>
            <a:pPr algn="just"/>
            <a:r>
              <a:rPr lang="en-IN" sz="2000" b="1" dirty="0"/>
              <a:t>			</a:t>
            </a:r>
            <a:r>
              <a:rPr lang="en-IN" sz="2000" b="1" dirty="0">
                <a:solidFill>
                  <a:srgbClr val="FF0000"/>
                </a:solidFill>
              </a:rPr>
              <a:t>protected</a:t>
            </a:r>
            <a:r>
              <a:rPr lang="en-IN" sz="2000" b="1" dirty="0"/>
              <a:t> A() {</a:t>
            </a:r>
          </a:p>
          <a:p>
            <a:pPr algn="just"/>
            <a:r>
              <a:rPr lang="en-IN" sz="2000" b="1" dirty="0"/>
              <a:t>			}</a:t>
            </a:r>
          </a:p>
          <a:p>
            <a:pPr algn="just"/>
            <a:r>
              <a:rPr lang="en-IN" sz="2000" b="1" dirty="0"/>
              <a:t>		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4D3886-B73E-48A2-A67B-59A8A9188F35}"/>
              </a:ext>
            </a:extLst>
          </p:cNvPr>
          <p:cNvSpPr txBox="1"/>
          <p:nvPr/>
        </p:nvSpPr>
        <p:spPr>
          <a:xfrm>
            <a:off x="327992" y="3949716"/>
            <a:ext cx="90405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</a:rPr>
              <a:t>public:</a:t>
            </a:r>
          </a:p>
          <a:p>
            <a:pPr algn="just"/>
            <a:r>
              <a:rPr lang="en-IN" b="1" dirty="0"/>
              <a:t>class constructor containing public access specifier can have both sub class and instantiated class within and outside the package.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Imp Note: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access modifiers:</a:t>
            </a:r>
          </a:p>
          <a:p>
            <a:pPr algn="just"/>
            <a:r>
              <a:rPr lang="en-IN" b="1" dirty="0">
                <a:solidFill>
                  <a:srgbClr val="FF0000"/>
                </a:solidFill>
              </a:rPr>
              <a:t>	Constructor don't accept any access modifiers.</a:t>
            </a:r>
          </a:p>
        </p:txBody>
      </p:sp>
    </p:spTree>
    <p:extLst>
      <p:ext uri="{BB962C8B-B14F-4D97-AF65-F5344CB8AC3E}">
        <p14:creationId xmlns:p14="http://schemas.microsoft.com/office/powerpoint/2010/main" val="2865082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8075581-7D83-4E8C-982C-D9681E38A074}"/>
              </a:ext>
            </a:extLst>
          </p:cNvPr>
          <p:cNvSpPr txBox="1"/>
          <p:nvPr/>
        </p:nvSpPr>
        <p:spPr>
          <a:xfrm>
            <a:off x="381002" y="875590"/>
            <a:ext cx="61688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on constructor:</a:t>
            </a:r>
          </a:p>
          <a:p>
            <a:r>
              <a:rPr lang="en-IN" dirty="0"/>
              <a:t>public class Emp {</a:t>
            </a:r>
          </a:p>
          <a:p>
            <a:pPr lvl="1"/>
            <a:r>
              <a:rPr lang="en-IN" dirty="0"/>
              <a:t>int </a:t>
            </a:r>
            <a:r>
              <a:rPr lang="en-IN" dirty="0" err="1"/>
              <a:t>eid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String </a:t>
            </a:r>
            <a:r>
              <a:rPr lang="en-IN" dirty="0" err="1"/>
              <a:t>ename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double </a:t>
            </a:r>
            <a:r>
              <a:rPr lang="en-IN" dirty="0" err="1"/>
              <a:t>sal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String </a:t>
            </a:r>
            <a:r>
              <a:rPr lang="en-IN" dirty="0" err="1"/>
              <a:t>desig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double </a:t>
            </a:r>
            <a:r>
              <a:rPr lang="en-IN" dirty="0" err="1"/>
              <a:t>grossSalary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double </a:t>
            </a:r>
            <a:r>
              <a:rPr lang="en-IN" dirty="0" err="1"/>
              <a:t>netSalary</a:t>
            </a:r>
            <a:r>
              <a:rPr lang="en-IN" dirty="0"/>
              <a:t>;</a:t>
            </a:r>
          </a:p>
          <a:p>
            <a:r>
              <a:rPr lang="en-IN" dirty="0"/>
              <a:t>	  </a:t>
            </a:r>
          </a:p>
          <a:p>
            <a:pPr lvl="1"/>
            <a:r>
              <a:rPr lang="en-IN" b="1" dirty="0"/>
              <a:t>// public no param constructor</a:t>
            </a:r>
          </a:p>
          <a:p>
            <a:pPr lvl="1"/>
            <a:r>
              <a:rPr lang="en-IN" dirty="0"/>
              <a:t>public Emp() {</a:t>
            </a:r>
          </a:p>
          <a:p>
            <a:pPr lvl="1"/>
            <a:r>
              <a:rPr lang="en-IN" dirty="0"/>
              <a:t>	super(); // implicit statement</a:t>
            </a:r>
          </a:p>
          <a:p>
            <a:pPr lvl="1"/>
            <a:r>
              <a:rPr lang="en-IN" dirty="0"/>
              <a:t>}</a:t>
            </a:r>
          </a:p>
          <a:p>
            <a:pPr lvl="1"/>
            <a:r>
              <a:rPr lang="en-IN" dirty="0"/>
              <a:t>	  </a:t>
            </a:r>
          </a:p>
          <a:p>
            <a:pPr lvl="1"/>
            <a:r>
              <a:rPr lang="en-IN" b="1" dirty="0"/>
              <a:t>// public single parameter constructor</a:t>
            </a:r>
          </a:p>
          <a:p>
            <a:pPr lvl="1"/>
            <a:r>
              <a:rPr lang="en-IN" dirty="0"/>
              <a:t>// with pk property as a parameter</a:t>
            </a:r>
          </a:p>
          <a:p>
            <a:pPr lvl="1"/>
            <a:r>
              <a:rPr lang="en-IN" dirty="0"/>
              <a:t>public Emp(int </a:t>
            </a:r>
            <a:r>
              <a:rPr lang="en-IN" dirty="0" err="1"/>
              <a:t>eid</a:t>
            </a:r>
            <a:r>
              <a:rPr lang="en-IN" dirty="0"/>
              <a:t>) {</a:t>
            </a:r>
          </a:p>
          <a:p>
            <a:pPr lvl="1"/>
            <a:r>
              <a:rPr lang="en-IN" dirty="0"/>
              <a:t>	super(); // implicit statement</a:t>
            </a:r>
          </a:p>
          <a:p>
            <a:pPr lvl="1"/>
            <a:r>
              <a:rPr lang="en-IN" dirty="0"/>
              <a:t>	</a:t>
            </a:r>
            <a:r>
              <a:rPr lang="en-IN" dirty="0" err="1"/>
              <a:t>this.eid</a:t>
            </a:r>
            <a:r>
              <a:rPr lang="en-IN" dirty="0"/>
              <a:t>=</a:t>
            </a:r>
            <a:r>
              <a:rPr lang="en-IN" dirty="0" err="1"/>
              <a:t>eid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686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4BE4E7B-43D3-4DCE-8E12-01B9B79B39C0}"/>
              </a:ext>
            </a:extLst>
          </p:cNvPr>
          <p:cNvSpPr txBox="1"/>
          <p:nvPr/>
        </p:nvSpPr>
        <p:spPr>
          <a:xfrm>
            <a:off x="381002" y="875590"/>
            <a:ext cx="61688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dirty="0"/>
              <a:t> </a:t>
            </a:r>
            <a:r>
              <a:rPr lang="en-IN" b="1" dirty="0"/>
              <a:t>// public two parameters constructor</a:t>
            </a:r>
          </a:p>
          <a:p>
            <a:pPr lvl="1"/>
            <a:r>
              <a:rPr lang="en-IN" dirty="0"/>
              <a:t>// with required/essential variables as a parameters	  public Emp(String </a:t>
            </a:r>
            <a:r>
              <a:rPr lang="en-IN" dirty="0" err="1"/>
              <a:t>ename</a:t>
            </a:r>
            <a:r>
              <a:rPr lang="en-IN" dirty="0"/>
              <a:t>, String </a:t>
            </a:r>
            <a:r>
              <a:rPr lang="en-IN" dirty="0" err="1"/>
              <a:t>desig</a:t>
            </a:r>
            <a:r>
              <a:rPr lang="en-IN" dirty="0"/>
              <a:t>) {</a:t>
            </a:r>
          </a:p>
          <a:p>
            <a:pPr lvl="1"/>
            <a:r>
              <a:rPr lang="en-IN" dirty="0"/>
              <a:t>	super(); // implicit statement</a:t>
            </a:r>
          </a:p>
          <a:p>
            <a:pPr lvl="1"/>
            <a:r>
              <a:rPr lang="en-IN" dirty="0"/>
              <a:t>	</a:t>
            </a:r>
            <a:r>
              <a:rPr lang="en-IN" dirty="0" err="1"/>
              <a:t>this.ename</a:t>
            </a:r>
            <a:r>
              <a:rPr lang="en-IN" dirty="0"/>
              <a:t>=</a:t>
            </a:r>
            <a:r>
              <a:rPr lang="en-IN" dirty="0" err="1"/>
              <a:t>ename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	</a:t>
            </a:r>
            <a:r>
              <a:rPr lang="en-IN" dirty="0" err="1"/>
              <a:t>this.desig</a:t>
            </a:r>
            <a:r>
              <a:rPr lang="en-IN" dirty="0"/>
              <a:t>=</a:t>
            </a:r>
            <a:r>
              <a:rPr lang="en-IN" dirty="0" err="1"/>
              <a:t>desig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}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// public all parameters constructor</a:t>
            </a:r>
          </a:p>
          <a:p>
            <a:pPr lvl="1"/>
            <a:r>
              <a:rPr lang="en-IN" dirty="0"/>
              <a:t>// with all class instance variables passed as parameters</a:t>
            </a:r>
          </a:p>
          <a:p>
            <a:pPr lvl="1"/>
            <a:r>
              <a:rPr lang="en-IN" dirty="0"/>
              <a:t>public Emp(int </a:t>
            </a:r>
            <a:r>
              <a:rPr lang="en-IN" dirty="0" err="1"/>
              <a:t>eid</a:t>
            </a:r>
            <a:r>
              <a:rPr lang="en-IN" dirty="0"/>
              <a:t>, String </a:t>
            </a:r>
            <a:r>
              <a:rPr lang="en-IN" dirty="0" err="1"/>
              <a:t>en</a:t>
            </a:r>
            <a:r>
              <a:rPr lang="en-IN" dirty="0"/>
              <a:t>, double </a:t>
            </a:r>
            <a:r>
              <a:rPr lang="en-IN" dirty="0" err="1"/>
              <a:t>sal</a:t>
            </a:r>
            <a:r>
              <a:rPr lang="en-IN" dirty="0"/>
              <a:t>, String </a:t>
            </a:r>
            <a:r>
              <a:rPr lang="en-IN" dirty="0" err="1"/>
              <a:t>desig</a:t>
            </a:r>
            <a:r>
              <a:rPr lang="en-IN" dirty="0"/>
              <a:t>) {</a:t>
            </a:r>
          </a:p>
          <a:p>
            <a:pPr lvl="1"/>
            <a:r>
              <a:rPr lang="en-IN" dirty="0"/>
              <a:t>	super(); // implicit statement</a:t>
            </a:r>
          </a:p>
          <a:p>
            <a:pPr lvl="1"/>
            <a:r>
              <a:rPr lang="en-IN" dirty="0"/>
              <a:t>	</a:t>
            </a:r>
            <a:r>
              <a:rPr lang="en-IN" dirty="0" err="1"/>
              <a:t>this.eid</a:t>
            </a:r>
            <a:r>
              <a:rPr lang="en-IN" dirty="0"/>
              <a:t>=</a:t>
            </a:r>
            <a:r>
              <a:rPr lang="en-IN" dirty="0" err="1"/>
              <a:t>eid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	</a:t>
            </a:r>
            <a:r>
              <a:rPr lang="en-IN" dirty="0" err="1"/>
              <a:t>ename</a:t>
            </a:r>
            <a:r>
              <a:rPr lang="en-IN" dirty="0"/>
              <a:t>=</a:t>
            </a:r>
            <a:r>
              <a:rPr lang="en-IN" dirty="0" err="1"/>
              <a:t>en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	</a:t>
            </a:r>
            <a:r>
              <a:rPr lang="en-IN" dirty="0" err="1"/>
              <a:t>this.sal</a:t>
            </a:r>
            <a:r>
              <a:rPr lang="en-IN" dirty="0"/>
              <a:t>=</a:t>
            </a:r>
            <a:r>
              <a:rPr lang="en-IN" dirty="0" err="1"/>
              <a:t>sal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	</a:t>
            </a:r>
            <a:r>
              <a:rPr lang="en-IN" dirty="0" err="1"/>
              <a:t>this.desig</a:t>
            </a:r>
            <a:r>
              <a:rPr lang="en-IN" dirty="0"/>
              <a:t>=</a:t>
            </a:r>
            <a:r>
              <a:rPr lang="en-IN" dirty="0" err="1"/>
              <a:t>desig</a:t>
            </a:r>
            <a:r>
              <a:rPr lang="en-IN" dirty="0"/>
              <a:t>;</a:t>
            </a:r>
          </a:p>
          <a:p>
            <a:pPr lvl="1"/>
            <a:r>
              <a:rPr lang="en-IN" dirty="0"/>
              <a:t>}</a:t>
            </a:r>
          </a:p>
          <a:p>
            <a:r>
              <a:rPr lang="en-IN" sz="1800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952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Constructor Syntax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056DE8B-FC2F-42DB-AFF3-407E2765FDC1}"/>
              </a:ext>
            </a:extLst>
          </p:cNvPr>
          <p:cNvSpPr txBox="1"/>
          <p:nvPr/>
        </p:nvSpPr>
        <p:spPr>
          <a:xfrm>
            <a:off x="571500" y="1607821"/>
            <a:ext cx="87155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class EmpClient {</a:t>
            </a:r>
          </a:p>
          <a:p>
            <a:r>
              <a:rPr lang="en-IN" sz="2400" b="1" dirty="0"/>
              <a:t>	public static void main(String rags[]) {</a:t>
            </a:r>
          </a:p>
          <a:p>
            <a:r>
              <a:rPr lang="en-IN" sz="2400" b="1" dirty="0"/>
              <a:t>		Emp e1=new Emp();</a:t>
            </a:r>
          </a:p>
          <a:p>
            <a:r>
              <a:rPr lang="en-IN" sz="2400" b="1" dirty="0"/>
              <a:t>		Emp e2=new Emp(1);</a:t>
            </a:r>
          </a:p>
          <a:p>
            <a:r>
              <a:rPr lang="en-IN" sz="2400" b="1" dirty="0"/>
              <a:t>		Emp e3=new Emp("ABC", "Soft </a:t>
            </a:r>
            <a:r>
              <a:rPr lang="en-IN" sz="2400" b="1" dirty="0" err="1"/>
              <a:t>Engg</a:t>
            </a:r>
            <a:r>
              <a:rPr lang="en-IN" sz="2400" b="1" dirty="0"/>
              <a:t>");</a:t>
            </a:r>
          </a:p>
          <a:p>
            <a:r>
              <a:rPr lang="en-IN" sz="2400" b="1" dirty="0"/>
              <a:t>		Emp e4=new Emp(1, "ABC", 50000.00, "Soft </a:t>
            </a:r>
            <a:r>
              <a:rPr lang="en-IN" sz="2400" b="1" dirty="0" err="1"/>
              <a:t>Engg</a:t>
            </a:r>
            <a:r>
              <a:rPr lang="en-IN" sz="2400" b="1" dirty="0"/>
              <a:t>");</a:t>
            </a:r>
          </a:p>
          <a:p>
            <a:r>
              <a:rPr lang="en-IN" sz="2400" b="1" dirty="0"/>
              <a:t>	}</a:t>
            </a:r>
          </a:p>
          <a:p>
            <a:r>
              <a:rPr lang="en-I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4668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1236</Words>
  <Application>Microsoft Office PowerPoint</Application>
  <PresentationFormat>Widescreen</PresentationFormat>
  <Paragraphs>209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nivas .</dc:creator>
  <cp:lastModifiedBy>nivas .</cp:lastModifiedBy>
  <cp:revision>2</cp:revision>
  <dcterms:created xsi:type="dcterms:W3CDTF">2022-09-19T15:45:59Z</dcterms:created>
  <dcterms:modified xsi:type="dcterms:W3CDTF">2022-09-20T04:34:12Z</dcterms:modified>
</cp:coreProperties>
</file>