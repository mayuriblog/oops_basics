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2" r:id="rId2"/>
    <p:sldId id="310" r:id="rId3"/>
    <p:sldId id="293" r:id="rId4"/>
    <p:sldId id="294" r:id="rId5"/>
    <p:sldId id="295" r:id="rId6"/>
    <p:sldId id="296" r:id="rId7"/>
    <p:sldId id="297" r:id="rId8"/>
    <p:sldId id="298" r:id="rId9"/>
    <p:sldId id="299" r:id="rId10"/>
    <p:sldId id="300" r:id="rId11"/>
    <p:sldId id="301" r:id="rId12"/>
    <p:sldId id="302" r:id="rId13"/>
    <p:sldId id="303" r:id="rId14"/>
    <p:sldId id="30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F66"/>
    <a:srgbClr val="990033"/>
    <a:srgbClr val="0000FF"/>
    <a:srgbClr val="3399FF"/>
    <a:srgbClr val="FF9933"/>
    <a:srgbClr val="FF5050"/>
    <a:srgbClr val="F105D3"/>
    <a:srgbClr val="902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4660"/>
  </p:normalViewPr>
  <p:slideViewPr>
    <p:cSldViewPr snapToGrid="0">
      <p:cViewPr varScale="1">
        <p:scale>
          <a:sx n="71" d="100"/>
          <a:sy n="71" d="100"/>
        </p:scale>
        <p:origin x="696"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D53D4-ADD2-48AC-8994-14A51F0D23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537EA9-7966-48DB-8A37-F2A824B840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5E772E-FB9A-427D-A4FB-DDA4C7000266}"/>
              </a:ext>
            </a:extLst>
          </p:cNvPr>
          <p:cNvSpPr>
            <a:spLocks noGrp="1"/>
          </p:cNvSpPr>
          <p:nvPr>
            <p:ph type="dt" sz="half" idx="10"/>
          </p:nvPr>
        </p:nvSpPr>
        <p:spPr/>
        <p:txBody>
          <a:bodyPr/>
          <a:lstStyle/>
          <a:p>
            <a:fld id="{7D4F8FD7-6664-4EC7-B781-79F419E034EE}" type="datetimeFigureOut">
              <a:rPr lang="en-US" smtClean="0"/>
              <a:t>9/20/2022</a:t>
            </a:fld>
            <a:endParaRPr lang="en-US"/>
          </a:p>
        </p:txBody>
      </p:sp>
      <p:sp>
        <p:nvSpPr>
          <p:cNvPr id="5" name="Footer Placeholder 4">
            <a:extLst>
              <a:ext uri="{FF2B5EF4-FFF2-40B4-BE49-F238E27FC236}">
                <a16:creationId xmlns:a16="http://schemas.microsoft.com/office/drawing/2014/main" id="{F37A32E3-D1D5-46C6-AB63-9F796F5BEC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6DE672-2E16-4C2D-BE2B-5E484F172565}"/>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274145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9C132-9C22-4029-B989-13CBB40B57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9E3EE7-F4CB-4065-A44E-0318879BBF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DB2CBC-33D2-4A33-B187-2CD7DA66C582}"/>
              </a:ext>
            </a:extLst>
          </p:cNvPr>
          <p:cNvSpPr>
            <a:spLocks noGrp="1"/>
          </p:cNvSpPr>
          <p:nvPr>
            <p:ph type="dt" sz="half" idx="10"/>
          </p:nvPr>
        </p:nvSpPr>
        <p:spPr/>
        <p:txBody>
          <a:bodyPr/>
          <a:lstStyle/>
          <a:p>
            <a:fld id="{7D4F8FD7-6664-4EC7-B781-79F419E034EE}" type="datetimeFigureOut">
              <a:rPr lang="en-US" smtClean="0"/>
              <a:t>9/20/2022</a:t>
            </a:fld>
            <a:endParaRPr lang="en-US"/>
          </a:p>
        </p:txBody>
      </p:sp>
      <p:sp>
        <p:nvSpPr>
          <p:cNvPr id="5" name="Footer Placeholder 4">
            <a:extLst>
              <a:ext uri="{FF2B5EF4-FFF2-40B4-BE49-F238E27FC236}">
                <a16:creationId xmlns:a16="http://schemas.microsoft.com/office/drawing/2014/main" id="{D98BBEDA-6CC0-4558-9D29-AB6DD426BB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AA790F-764D-42B5-A732-7C09D26BA16F}"/>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048941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30C65-FF2A-4010-8C73-BB6E501313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724171B-58EF-43B4-84A8-E189462C4D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6566F5-22D5-459C-990D-7013F4D89A32}"/>
              </a:ext>
            </a:extLst>
          </p:cNvPr>
          <p:cNvSpPr>
            <a:spLocks noGrp="1"/>
          </p:cNvSpPr>
          <p:nvPr>
            <p:ph type="dt" sz="half" idx="10"/>
          </p:nvPr>
        </p:nvSpPr>
        <p:spPr/>
        <p:txBody>
          <a:bodyPr/>
          <a:lstStyle/>
          <a:p>
            <a:fld id="{7D4F8FD7-6664-4EC7-B781-79F419E034EE}" type="datetimeFigureOut">
              <a:rPr lang="en-US" smtClean="0"/>
              <a:t>9/20/2022</a:t>
            </a:fld>
            <a:endParaRPr lang="en-US"/>
          </a:p>
        </p:txBody>
      </p:sp>
      <p:sp>
        <p:nvSpPr>
          <p:cNvPr id="5" name="Footer Placeholder 4">
            <a:extLst>
              <a:ext uri="{FF2B5EF4-FFF2-40B4-BE49-F238E27FC236}">
                <a16:creationId xmlns:a16="http://schemas.microsoft.com/office/drawing/2014/main" id="{D96CC63D-E273-4AAA-95C9-E401177BF9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BCFC71-6835-40D7-B028-B3CB4223C1F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674272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D4678-1CB9-4E61-9A69-472A205AB7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D61F08-F7B7-408E-BEDD-156B3EB710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02C45BB-AABE-4D19-813B-EC4B595055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9E3F09-087B-4D93-9258-8AF6657B21C4}"/>
              </a:ext>
            </a:extLst>
          </p:cNvPr>
          <p:cNvSpPr>
            <a:spLocks noGrp="1"/>
          </p:cNvSpPr>
          <p:nvPr>
            <p:ph type="dt" sz="half" idx="10"/>
          </p:nvPr>
        </p:nvSpPr>
        <p:spPr/>
        <p:txBody>
          <a:bodyPr/>
          <a:lstStyle/>
          <a:p>
            <a:fld id="{7D4F8FD7-6664-4EC7-B781-79F419E034EE}" type="datetimeFigureOut">
              <a:rPr lang="en-US" smtClean="0"/>
              <a:t>9/20/2022</a:t>
            </a:fld>
            <a:endParaRPr lang="en-US"/>
          </a:p>
        </p:txBody>
      </p:sp>
      <p:sp>
        <p:nvSpPr>
          <p:cNvPr id="6" name="Footer Placeholder 5">
            <a:extLst>
              <a:ext uri="{FF2B5EF4-FFF2-40B4-BE49-F238E27FC236}">
                <a16:creationId xmlns:a16="http://schemas.microsoft.com/office/drawing/2014/main" id="{60944505-AD8E-4AAE-91A7-1E3E3739C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6EA56F-3ACC-4F18-9178-D44D8FC27BB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937096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E4EF0-CA05-417F-B465-4F0A092954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4F7286-079E-4D01-9619-DC462E5936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19288F-0A0B-483F-BB13-3EDE5C3DA2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72A0B30-266B-488F-B6CB-4AD30D85DF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F90638-24C7-42C8-8931-B2B3484939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666EBA-30E0-4DF0-96BE-62BE6AB519DD}"/>
              </a:ext>
            </a:extLst>
          </p:cNvPr>
          <p:cNvSpPr>
            <a:spLocks noGrp="1"/>
          </p:cNvSpPr>
          <p:nvPr>
            <p:ph type="dt" sz="half" idx="10"/>
          </p:nvPr>
        </p:nvSpPr>
        <p:spPr/>
        <p:txBody>
          <a:bodyPr/>
          <a:lstStyle/>
          <a:p>
            <a:fld id="{7D4F8FD7-6664-4EC7-B781-79F419E034EE}" type="datetimeFigureOut">
              <a:rPr lang="en-US" smtClean="0"/>
              <a:t>9/20/2022</a:t>
            </a:fld>
            <a:endParaRPr lang="en-US"/>
          </a:p>
        </p:txBody>
      </p:sp>
      <p:sp>
        <p:nvSpPr>
          <p:cNvPr id="8" name="Footer Placeholder 7">
            <a:extLst>
              <a:ext uri="{FF2B5EF4-FFF2-40B4-BE49-F238E27FC236}">
                <a16:creationId xmlns:a16="http://schemas.microsoft.com/office/drawing/2014/main" id="{93E8E635-E195-41C7-81C8-D3344936196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780DF9-B1D9-49B8-81AF-4B716B67A25C}"/>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476524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DFEEF-8D2B-4F54-B662-31AEFD3DB8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1297C29-F3EE-4250-9919-93948D0BEEB6}"/>
              </a:ext>
            </a:extLst>
          </p:cNvPr>
          <p:cNvSpPr>
            <a:spLocks noGrp="1"/>
          </p:cNvSpPr>
          <p:nvPr>
            <p:ph type="dt" sz="half" idx="10"/>
          </p:nvPr>
        </p:nvSpPr>
        <p:spPr/>
        <p:txBody>
          <a:bodyPr/>
          <a:lstStyle/>
          <a:p>
            <a:fld id="{7D4F8FD7-6664-4EC7-B781-79F419E034EE}" type="datetimeFigureOut">
              <a:rPr lang="en-US" smtClean="0"/>
              <a:t>9/20/2022</a:t>
            </a:fld>
            <a:endParaRPr lang="en-US"/>
          </a:p>
        </p:txBody>
      </p:sp>
      <p:sp>
        <p:nvSpPr>
          <p:cNvPr id="4" name="Footer Placeholder 3">
            <a:extLst>
              <a:ext uri="{FF2B5EF4-FFF2-40B4-BE49-F238E27FC236}">
                <a16:creationId xmlns:a16="http://schemas.microsoft.com/office/drawing/2014/main" id="{34AADB8D-7767-4295-999A-A9CDFEC2CE0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0748590-559B-4E6B-AF48-236BD7F81832}"/>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155143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AAAFAD-BAB5-47A0-9962-AC707DCEEC4C}"/>
              </a:ext>
            </a:extLst>
          </p:cNvPr>
          <p:cNvSpPr>
            <a:spLocks noGrp="1"/>
          </p:cNvSpPr>
          <p:nvPr>
            <p:ph type="dt" sz="half" idx="10"/>
          </p:nvPr>
        </p:nvSpPr>
        <p:spPr/>
        <p:txBody>
          <a:bodyPr/>
          <a:lstStyle/>
          <a:p>
            <a:fld id="{7D4F8FD7-6664-4EC7-B781-79F419E034EE}" type="datetimeFigureOut">
              <a:rPr lang="en-US" smtClean="0"/>
              <a:t>9/20/2022</a:t>
            </a:fld>
            <a:endParaRPr lang="en-US"/>
          </a:p>
        </p:txBody>
      </p:sp>
      <p:sp>
        <p:nvSpPr>
          <p:cNvPr id="3" name="Footer Placeholder 2">
            <a:extLst>
              <a:ext uri="{FF2B5EF4-FFF2-40B4-BE49-F238E27FC236}">
                <a16:creationId xmlns:a16="http://schemas.microsoft.com/office/drawing/2014/main" id="{BE7E0FD4-2958-49A6-9B7B-5BCE813DA7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7CCC7F-90C7-40A3-A729-679A94EC8C3E}"/>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527961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927E8-8760-4B04-BDEF-1AC275A529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12E94A-ABB1-48E4-A3B6-4DA4142EC1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F4EB3F-9F7E-4886-B5A3-9143917E74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C9E36-A297-4BF1-AC4B-B05E7A56454F}"/>
              </a:ext>
            </a:extLst>
          </p:cNvPr>
          <p:cNvSpPr>
            <a:spLocks noGrp="1"/>
          </p:cNvSpPr>
          <p:nvPr>
            <p:ph type="dt" sz="half" idx="10"/>
          </p:nvPr>
        </p:nvSpPr>
        <p:spPr/>
        <p:txBody>
          <a:bodyPr/>
          <a:lstStyle/>
          <a:p>
            <a:fld id="{7D4F8FD7-6664-4EC7-B781-79F419E034EE}" type="datetimeFigureOut">
              <a:rPr lang="en-US" smtClean="0"/>
              <a:t>9/20/2022</a:t>
            </a:fld>
            <a:endParaRPr lang="en-US"/>
          </a:p>
        </p:txBody>
      </p:sp>
      <p:sp>
        <p:nvSpPr>
          <p:cNvPr id="6" name="Footer Placeholder 5">
            <a:extLst>
              <a:ext uri="{FF2B5EF4-FFF2-40B4-BE49-F238E27FC236}">
                <a16:creationId xmlns:a16="http://schemas.microsoft.com/office/drawing/2014/main" id="{3C0882DF-10C8-41FD-B12B-C4E3CD8919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6D6DCD-5CAB-493D-B90D-5FB3795C302B}"/>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628650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D295E-4A9D-40B5-962D-C4201C17D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8576C82-F6F1-4481-84C6-40A1DE0A0A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8E40E7-4BEF-4AE8-A81B-8308860BF9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ED0C40-7C93-47EE-B801-F4B254FD1134}"/>
              </a:ext>
            </a:extLst>
          </p:cNvPr>
          <p:cNvSpPr>
            <a:spLocks noGrp="1"/>
          </p:cNvSpPr>
          <p:nvPr>
            <p:ph type="dt" sz="half" idx="10"/>
          </p:nvPr>
        </p:nvSpPr>
        <p:spPr/>
        <p:txBody>
          <a:bodyPr/>
          <a:lstStyle/>
          <a:p>
            <a:fld id="{7D4F8FD7-6664-4EC7-B781-79F419E034EE}" type="datetimeFigureOut">
              <a:rPr lang="en-US" smtClean="0"/>
              <a:t>9/20/2022</a:t>
            </a:fld>
            <a:endParaRPr lang="en-US"/>
          </a:p>
        </p:txBody>
      </p:sp>
      <p:sp>
        <p:nvSpPr>
          <p:cNvPr id="6" name="Footer Placeholder 5">
            <a:extLst>
              <a:ext uri="{FF2B5EF4-FFF2-40B4-BE49-F238E27FC236}">
                <a16:creationId xmlns:a16="http://schemas.microsoft.com/office/drawing/2014/main" id="{F08C15F7-71FB-46EE-9034-CEFA37850D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5B243A-27C1-407B-995C-C80EDDD36005}"/>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1060794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3B020-63B9-4BF9-B46E-630CCA8D14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A50300-809F-4B1C-BF1F-2C1EF82E1C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BD4618-E7CC-4722-B3AA-20767EE3B7EC}"/>
              </a:ext>
            </a:extLst>
          </p:cNvPr>
          <p:cNvSpPr>
            <a:spLocks noGrp="1"/>
          </p:cNvSpPr>
          <p:nvPr>
            <p:ph type="dt" sz="half" idx="10"/>
          </p:nvPr>
        </p:nvSpPr>
        <p:spPr/>
        <p:txBody>
          <a:bodyPr/>
          <a:lstStyle/>
          <a:p>
            <a:fld id="{7D4F8FD7-6664-4EC7-B781-79F419E034EE}" type="datetimeFigureOut">
              <a:rPr lang="en-US" smtClean="0"/>
              <a:t>9/20/2022</a:t>
            </a:fld>
            <a:endParaRPr lang="en-US"/>
          </a:p>
        </p:txBody>
      </p:sp>
      <p:sp>
        <p:nvSpPr>
          <p:cNvPr id="5" name="Footer Placeholder 4">
            <a:extLst>
              <a:ext uri="{FF2B5EF4-FFF2-40B4-BE49-F238E27FC236}">
                <a16:creationId xmlns:a16="http://schemas.microsoft.com/office/drawing/2014/main" id="{6EEC0B0F-962D-40AE-ABD3-0EA484E15F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40AE87-E966-4036-A783-F3B9616652AB}"/>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271180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3D95C4-7F0B-4781-8E51-FCBD7CF6CD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36C176-4EC6-451D-9FCF-4E0B4E7988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842DD7-D7F2-4D2D-B342-780C9519A101}"/>
              </a:ext>
            </a:extLst>
          </p:cNvPr>
          <p:cNvSpPr>
            <a:spLocks noGrp="1"/>
          </p:cNvSpPr>
          <p:nvPr>
            <p:ph type="dt" sz="half" idx="10"/>
          </p:nvPr>
        </p:nvSpPr>
        <p:spPr/>
        <p:txBody>
          <a:bodyPr/>
          <a:lstStyle/>
          <a:p>
            <a:fld id="{7D4F8FD7-6664-4EC7-B781-79F419E034EE}" type="datetimeFigureOut">
              <a:rPr lang="en-US" smtClean="0"/>
              <a:t>9/20/2022</a:t>
            </a:fld>
            <a:endParaRPr lang="en-US"/>
          </a:p>
        </p:txBody>
      </p:sp>
      <p:sp>
        <p:nvSpPr>
          <p:cNvPr id="5" name="Footer Placeholder 4">
            <a:extLst>
              <a:ext uri="{FF2B5EF4-FFF2-40B4-BE49-F238E27FC236}">
                <a16:creationId xmlns:a16="http://schemas.microsoft.com/office/drawing/2014/main" id="{FB1DD1C9-3310-40BF-A04F-E566FCA50C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9A0831-D597-4CA4-AB0B-B9DDC151CB0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545315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B9F031-B0EE-4257-8C48-672A5B27A7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CC5C53-8193-4B94-A5A2-9272C0FC20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7540B0-D806-4E03-A997-E808A0A9AF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4F8FD7-6664-4EC7-B781-79F419E034EE}" type="datetimeFigureOut">
              <a:rPr lang="en-US" smtClean="0"/>
              <a:t>9/20/2022</a:t>
            </a:fld>
            <a:endParaRPr lang="en-US"/>
          </a:p>
        </p:txBody>
      </p:sp>
      <p:sp>
        <p:nvSpPr>
          <p:cNvPr id="5" name="Footer Placeholder 4">
            <a:extLst>
              <a:ext uri="{FF2B5EF4-FFF2-40B4-BE49-F238E27FC236}">
                <a16:creationId xmlns:a16="http://schemas.microsoft.com/office/drawing/2014/main" id="{44CBE7AA-0209-485D-98A0-22386CF87E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362E21E-194A-44F2-8CEA-40483DA3B7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9A21A4-CB3A-4A18-A46B-5DD19456934C}" type="slidenum">
              <a:rPr lang="en-US" smtClean="0"/>
              <a:t>‹#›</a:t>
            </a:fld>
            <a:endParaRPr lang="en-US"/>
          </a:p>
        </p:txBody>
      </p:sp>
    </p:spTree>
    <p:extLst>
      <p:ext uri="{BB962C8B-B14F-4D97-AF65-F5344CB8AC3E}">
        <p14:creationId xmlns:p14="http://schemas.microsoft.com/office/powerpoint/2010/main" val="39343785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Method Syntax</a:t>
              </a:r>
              <a:endParaRPr lang="en-US" sz="10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 name="TextBox 2">
            <a:extLst>
              <a:ext uri="{FF2B5EF4-FFF2-40B4-BE49-F238E27FC236}">
                <a16:creationId xmlns:a16="http://schemas.microsoft.com/office/drawing/2014/main" id="{67F84A6C-EA2E-5961-600B-18F2F9950E8B}"/>
              </a:ext>
            </a:extLst>
          </p:cNvPr>
          <p:cNvSpPr txBox="1"/>
          <p:nvPr/>
        </p:nvSpPr>
        <p:spPr>
          <a:xfrm>
            <a:off x="2193556" y="1700209"/>
            <a:ext cx="6406399" cy="341632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600" b="1" dirty="0">
                <a:solidFill>
                  <a:srgbClr val="FF0000"/>
                </a:solidFill>
                <a:latin typeface="Bookman Old Style" panose="02050604050505020204" pitchFamily="18" charset="0"/>
              </a:rPr>
              <a:t>Consequences of applying</a:t>
            </a:r>
            <a:r>
              <a:rPr lang="en-US" sz="3200" b="1" dirty="0">
                <a:solidFill>
                  <a:srgbClr val="FF0000"/>
                </a:solidFill>
                <a:latin typeface="Bookman Old Style" panose="02050604050505020204" pitchFamily="18" charset="0"/>
              </a:rPr>
              <a:t> </a:t>
            </a:r>
            <a:r>
              <a:rPr lang="en-US" sz="2800" b="1" dirty="0">
                <a:solidFill>
                  <a:srgbClr val="F105D3"/>
                </a:solidFill>
                <a:latin typeface="Bookman Old Style" panose="02050604050505020204" pitchFamily="18" charset="0"/>
              </a:rPr>
              <a:t>access specifiers &amp; modifiers </a:t>
            </a:r>
            <a:r>
              <a:rPr lang="en-US" sz="3200" b="1" dirty="0">
                <a:solidFill>
                  <a:srgbClr val="F105D3"/>
                </a:solidFill>
                <a:latin typeface="Bookman Old Style" panose="02050604050505020204" pitchFamily="18" charset="0"/>
              </a:rPr>
              <a:t>on </a:t>
            </a:r>
          </a:p>
          <a:p>
            <a:pPr algn="ctr"/>
            <a:r>
              <a:rPr lang="en-US" sz="4800" b="1" dirty="0">
                <a:solidFill>
                  <a:srgbClr val="003F66"/>
                </a:solidFill>
                <a:latin typeface="Bookman Old Style" panose="02050604050505020204" pitchFamily="18" charset="0"/>
              </a:rPr>
              <a:t>Method,</a:t>
            </a:r>
            <a:endParaRPr lang="en-US" sz="3600" b="1" dirty="0">
              <a:solidFill>
                <a:srgbClr val="003F66"/>
              </a:solidFill>
              <a:latin typeface="Bookman Old Style" panose="02050604050505020204" pitchFamily="18" charset="0"/>
            </a:endParaRPr>
          </a:p>
          <a:p>
            <a:pPr algn="ctr"/>
            <a:r>
              <a:rPr lang="en-US" sz="3600" b="1" dirty="0">
                <a:solidFill>
                  <a:srgbClr val="003F66"/>
                </a:solidFill>
                <a:latin typeface="Bookman Old Style" panose="02050604050505020204" pitchFamily="18" charset="0"/>
              </a:rPr>
              <a:t>static &amp; non-static blocks</a:t>
            </a:r>
            <a:endParaRPr lang="en-US" sz="3200" b="1" dirty="0">
              <a:solidFill>
                <a:srgbClr val="003F66"/>
              </a:solidFill>
              <a:latin typeface="Bookman Old Style" panose="02050604050505020204" pitchFamily="18" charset="0"/>
            </a:endParaRPr>
          </a:p>
          <a:p>
            <a:pPr algn="ctr"/>
            <a:r>
              <a:rPr lang="en-US" sz="3200" b="1" dirty="0">
                <a:solidFill>
                  <a:srgbClr val="FF0000"/>
                </a:solidFill>
                <a:latin typeface="Bookman Old Style" panose="02050604050505020204" pitchFamily="18" charset="0"/>
              </a:rPr>
              <a:t>-</a:t>
            </a:r>
          </a:p>
          <a:p>
            <a:pPr algn="ctr"/>
            <a:r>
              <a:rPr lang="en-US" sz="3200" b="1" dirty="0">
                <a:solidFill>
                  <a:srgbClr val="7030A0"/>
                </a:solidFill>
                <a:latin typeface="Bookman Old Style" panose="02050604050505020204" pitchFamily="18" charset="0"/>
              </a:rPr>
              <a:t>Part IV</a:t>
            </a:r>
            <a:endParaRPr lang="en-US" b="1" dirty="0">
              <a:solidFill>
                <a:srgbClr val="7030A0"/>
              </a:solidFill>
              <a:latin typeface="Bookman Old Style" panose="02050604050505020204" pitchFamily="18" charset="0"/>
            </a:endParaRPr>
          </a:p>
        </p:txBody>
      </p:sp>
    </p:spTree>
    <p:extLst>
      <p:ext uri="{BB962C8B-B14F-4D97-AF65-F5344CB8AC3E}">
        <p14:creationId xmlns:p14="http://schemas.microsoft.com/office/powerpoint/2010/main" val="3956915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Method Syntax</a:t>
              </a:r>
              <a:endParaRPr lang="en-US" sz="10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5" name="TextBox 24">
            <a:extLst>
              <a:ext uri="{FF2B5EF4-FFF2-40B4-BE49-F238E27FC236}">
                <a16:creationId xmlns:a16="http://schemas.microsoft.com/office/drawing/2014/main" id="{C3123338-0BB1-4EC3-BD9E-A27C23581003}"/>
              </a:ext>
            </a:extLst>
          </p:cNvPr>
          <p:cNvSpPr txBox="1"/>
          <p:nvPr/>
        </p:nvSpPr>
        <p:spPr>
          <a:xfrm>
            <a:off x="571500" y="1607821"/>
            <a:ext cx="7830378" cy="1200329"/>
          </a:xfrm>
          <a:prstGeom prst="rect">
            <a:avLst/>
          </a:prstGeom>
          <a:noFill/>
        </p:spPr>
        <p:txBody>
          <a:bodyPr wrap="square">
            <a:spAutoFit/>
          </a:bodyPr>
          <a:lstStyle/>
          <a:p>
            <a:r>
              <a:rPr lang="en-IN" sz="7200" b="1" u="sng" dirty="0"/>
              <a:t>Method declaration</a:t>
            </a:r>
            <a:endParaRPr lang="en-IN" sz="2000" b="1" dirty="0"/>
          </a:p>
        </p:txBody>
      </p:sp>
    </p:spTree>
    <p:extLst>
      <p:ext uri="{BB962C8B-B14F-4D97-AF65-F5344CB8AC3E}">
        <p14:creationId xmlns:p14="http://schemas.microsoft.com/office/powerpoint/2010/main" val="3082520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Method Syntax</a:t>
              </a:r>
              <a:endParaRPr lang="en-US" sz="10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6" name="TextBox 25">
            <a:extLst>
              <a:ext uri="{FF2B5EF4-FFF2-40B4-BE49-F238E27FC236}">
                <a16:creationId xmlns:a16="http://schemas.microsoft.com/office/drawing/2014/main" id="{B84262D2-3634-4EA3-A68E-B0D660A6E1FE}"/>
              </a:ext>
            </a:extLst>
          </p:cNvPr>
          <p:cNvSpPr txBox="1"/>
          <p:nvPr/>
        </p:nvSpPr>
        <p:spPr>
          <a:xfrm>
            <a:off x="571500" y="1541561"/>
            <a:ext cx="8715512" cy="4708981"/>
          </a:xfrm>
          <a:prstGeom prst="rect">
            <a:avLst/>
          </a:prstGeom>
          <a:noFill/>
        </p:spPr>
        <p:txBody>
          <a:bodyPr wrap="square">
            <a:spAutoFit/>
          </a:bodyPr>
          <a:lstStyle/>
          <a:p>
            <a:r>
              <a:rPr lang="en-IN" sz="2000" b="1" u="sng" dirty="0"/>
              <a:t>Syntax:</a:t>
            </a:r>
          </a:p>
          <a:p>
            <a:r>
              <a:rPr lang="en-IN" sz="2000" b="1" dirty="0">
                <a:solidFill>
                  <a:srgbClr val="FF0000"/>
                </a:solidFill>
              </a:rPr>
              <a:t>&lt;access_specifier&gt;</a:t>
            </a:r>
            <a:r>
              <a:rPr lang="en-IN" sz="2000" b="1" dirty="0"/>
              <a:t> </a:t>
            </a:r>
            <a:r>
              <a:rPr lang="en-IN" sz="2000" b="1" dirty="0">
                <a:solidFill>
                  <a:srgbClr val="0000FF"/>
                </a:solidFill>
              </a:rPr>
              <a:t>&lt;</a:t>
            </a:r>
            <a:r>
              <a:rPr lang="en-IN" sz="2000" b="1" dirty="0" err="1">
                <a:solidFill>
                  <a:srgbClr val="0000FF"/>
                </a:solidFill>
              </a:rPr>
              <a:t>access_modifier</a:t>
            </a:r>
            <a:r>
              <a:rPr lang="en-IN" sz="2000" b="1" dirty="0">
                <a:solidFill>
                  <a:srgbClr val="0000FF"/>
                </a:solidFill>
              </a:rPr>
              <a:t>&gt;</a:t>
            </a:r>
            <a:r>
              <a:rPr lang="en-IN" sz="2000" b="1" dirty="0"/>
              <a:t> </a:t>
            </a:r>
            <a:r>
              <a:rPr lang="en-IN" sz="2000" b="1" dirty="0" err="1">
                <a:solidFill>
                  <a:srgbClr val="0070C0"/>
                </a:solidFill>
              </a:rPr>
              <a:t>return_type</a:t>
            </a:r>
            <a:r>
              <a:rPr lang="en-IN" sz="2000" b="1" dirty="0"/>
              <a:t> </a:t>
            </a:r>
            <a:r>
              <a:rPr lang="en-IN" sz="2000" b="1" dirty="0" err="1"/>
              <a:t>method_name</a:t>
            </a:r>
            <a:r>
              <a:rPr lang="en-IN" sz="2000" b="1" dirty="0"/>
              <a:t>(&lt;paramtype1 paramname1, paramtype2 paraname2&gt;) &lt;throws </a:t>
            </a:r>
            <a:r>
              <a:rPr lang="en-IN" sz="2000" b="1" dirty="0" err="1"/>
              <a:t>ExceptionsList</a:t>
            </a:r>
            <a:r>
              <a:rPr lang="en-IN" sz="2000" b="1" dirty="0"/>
              <a:t>&gt; {</a:t>
            </a:r>
          </a:p>
          <a:p>
            <a:endParaRPr lang="en-IN" sz="2000" b="1" dirty="0"/>
          </a:p>
          <a:p>
            <a:r>
              <a:rPr lang="en-IN" sz="2000" b="1" dirty="0"/>
              <a:t>}</a:t>
            </a:r>
          </a:p>
          <a:p>
            <a:endParaRPr lang="en-IN" sz="2000" b="1" dirty="0"/>
          </a:p>
          <a:p>
            <a:r>
              <a:rPr lang="en-IN" sz="2000" b="1" u="sng" dirty="0"/>
              <a:t>Examples:</a:t>
            </a:r>
          </a:p>
          <a:p>
            <a:r>
              <a:rPr lang="en-IN" sz="2000" b="1" dirty="0"/>
              <a:t>void add() {</a:t>
            </a:r>
          </a:p>
          <a:p>
            <a:r>
              <a:rPr lang="en-IN" sz="2000" b="1" dirty="0"/>
              <a:t>}</a:t>
            </a:r>
          </a:p>
          <a:p>
            <a:endParaRPr lang="en-IN" sz="2000" b="1" dirty="0"/>
          </a:p>
          <a:p>
            <a:r>
              <a:rPr lang="en-IN" sz="2000" b="1" dirty="0"/>
              <a:t>public abstract double divide(int </a:t>
            </a:r>
            <a:r>
              <a:rPr lang="en-IN" sz="2000" b="1" dirty="0" err="1"/>
              <a:t>i</a:t>
            </a:r>
            <a:r>
              <a:rPr lang="en-IN" sz="2000" b="1" dirty="0"/>
              <a:t>, int j) throws </a:t>
            </a:r>
            <a:r>
              <a:rPr lang="en-IN" sz="2000" b="1" dirty="0" err="1"/>
              <a:t>ArithmeticException</a:t>
            </a:r>
            <a:r>
              <a:rPr lang="en-IN" sz="2000" b="1" dirty="0"/>
              <a:t>;</a:t>
            </a:r>
          </a:p>
          <a:p>
            <a:endParaRPr lang="en-IN" sz="2000" b="1" dirty="0"/>
          </a:p>
          <a:p>
            <a:r>
              <a:rPr lang="en-IN" sz="2000" b="1" dirty="0"/>
              <a:t>public final int add(int a, int b) {</a:t>
            </a:r>
          </a:p>
          <a:p>
            <a:r>
              <a:rPr lang="en-IN" sz="2000" b="1" dirty="0"/>
              <a:t>	return a + b;</a:t>
            </a:r>
          </a:p>
          <a:p>
            <a:r>
              <a:rPr lang="en-IN" sz="2000" b="1" dirty="0"/>
              <a:t>}</a:t>
            </a:r>
          </a:p>
        </p:txBody>
      </p:sp>
    </p:spTree>
    <p:extLst>
      <p:ext uri="{BB962C8B-B14F-4D97-AF65-F5344CB8AC3E}">
        <p14:creationId xmlns:p14="http://schemas.microsoft.com/office/powerpoint/2010/main" val="2957005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Method Syntax</a:t>
              </a:r>
              <a:endParaRPr lang="en-US" sz="10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5" name="TextBox 24">
            <a:extLst>
              <a:ext uri="{FF2B5EF4-FFF2-40B4-BE49-F238E27FC236}">
                <a16:creationId xmlns:a16="http://schemas.microsoft.com/office/drawing/2014/main" id="{CE1DD256-07F6-4B91-9DA0-9F9DBE56473D}"/>
              </a:ext>
            </a:extLst>
          </p:cNvPr>
          <p:cNvSpPr txBox="1"/>
          <p:nvPr/>
        </p:nvSpPr>
        <p:spPr>
          <a:xfrm>
            <a:off x="571500" y="1607821"/>
            <a:ext cx="8715512" cy="4278094"/>
          </a:xfrm>
          <a:prstGeom prst="rect">
            <a:avLst/>
          </a:prstGeom>
          <a:noFill/>
        </p:spPr>
        <p:txBody>
          <a:bodyPr wrap="square">
            <a:spAutoFit/>
          </a:bodyPr>
          <a:lstStyle/>
          <a:p>
            <a:pPr algn="just"/>
            <a:r>
              <a:rPr lang="en-US" sz="3200" b="1" u="sng" dirty="0">
                <a:solidFill>
                  <a:srgbClr val="FF0000"/>
                </a:solidFill>
              </a:rPr>
              <a:t>access specifiers:</a:t>
            </a:r>
          </a:p>
          <a:p>
            <a:pPr algn="just"/>
            <a:r>
              <a:rPr lang="en-US" sz="2000" b="1" dirty="0">
                <a:solidFill>
                  <a:srgbClr val="FF0000"/>
                </a:solidFill>
              </a:rPr>
              <a:t>private:</a:t>
            </a:r>
            <a:r>
              <a:rPr lang="en-US" sz="2000" b="1" dirty="0"/>
              <a:t> private methods can be accessible only within the class</a:t>
            </a:r>
          </a:p>
          <a:p>
            <a:pPr algn="just"/>
            <a:endParaRPr lang="en-US" sz="2000" b="1" dirty="0"/>
          </a:p>
          <a:p>
            <a:pPr algn="just"/>
            <a:r>
              <a:rPr lang="en-US" sz="2000" b="1" dirty="0">
                <a:solidFill>
                  <a:srgbClr val="FF0000"/>
                </a:solidFill>
              </a:rPr>
              <a:t>default:</a:t>
            </a:r>
            <a:r>
              <a:rPr lang="en-US" sz="2000" b="1" dirty="0"/>
              <a:t> default methods can be accessible only within the package</a:t>
            </a:r>
          </a:p>
          <a:p>
            <a:pPr algn="just"/>
            <a:endParaRPr lang="en-US" sz="2000" b="1" dirty="0"/>
          </a:p>
          <a:p>
            <a:pPr algn="just"/>
            <a:r>
              <a:rPr lang="en-US" sz="2000" b="1" dirty="0">
                <a:solidFill>
                  <a:srgbClr val="FF0000"/>
                </a:solidFill>
              </a:rPr>
              <a:t>protected:</a:t>
            </a:r>
            <a:r>
              <a:rPr lang="en-US" sz="2000" b="1" dirty="0"/>
              <a:t> protected methods can be accessible up to sub class outside the package. Sub class outside the package when overriding super class method, same access specifier can be maintained or access scope can be increased, but scope should not be reduced. For example protected method can be overridden as protected/public but not default/private. If do so compilation error comes saying "Weaker Access Specifier Error".</a:t>
            </a:r>
          </a:p>
          <a:p>
            <a:pPr algn="just"/>
            <a:endParaRPr lang="en-US" sz="2000" b="1" dirty="0"/>
          </a:p>
          <a:p>
            <a:pPr algn="just"/>
            <a:r>
              <a:rPr lang="en-US" sz="2000" b="1" dirty="0">
                <a:solidFill>
                  <a:srgbClr val="FF0000"/>
                </a:solidFill>
              </a:rPr>
              <a:t>public:</a:t>
            </a:r>
            <a:r>
              <a:rPr lang="en-US" sz="2000" b="1" dirty="0"/>
              <a:t> public methods can be accessible anywhere.</a:t>
            </a:r>
            <a:endParaRPr lang="en-IN" sz="2000" b="1" dirty="0"/>
          </a:p>
        </p:txBody>
      </p:sp>
    </p:spTree>
    <p:extLst>
      <p:ext uri="{BB962C8B-B14F-4D97-AF65-F5344CB8AC3E}">
        <p14:creationId xmlns:p14="http://schemas.microsoft.com/office/powerpoint/2010/main" val="41858123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Method Syntax</a:t>
              </a:r>
              <a:endParaRPr lang="en-US" sz="10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grpSp>
        <p:nvGrpSpPr>
          <p:cNvPr id="26" name="Group 25">
            <a:extLst>
              <a:ext uri="{FF2B5EF4-FFF2-40B4-BE49-F238E27FC236}">
                <a16:creationId xmlns:a16="http://schemas.microsoft.com/office/drawing/2014/main" id="{B143351F-133B-4954-B7B4-3C773DDF6911}"/>
              </a:ext>
            </a:extLst>
          </p:cNvPr>
          <p:cNvGrpSpPr/>
          <p:nvPr/>
        </p:nvGrpSpPr>
        <p:grpSpPr>
          <a:xfrm>
            <a:off x="571500" y="1263265"/>
            <a:ext cx="10942980" cy="5245949"/>
            <a:chOff x="571500" y="1263265"/>
            <a:chExt cx="10942980" cy="5245949"/>
          </a:xfrm>
        </p:grpSpPr>
        <p:sp>
          <p:nvSpPr>
            <p:cNvPr id="27" name="TextBox 26">
              <a:extLst>
                <a:ext uri="{FF2B5EF4-FFF2-40B4-BE49-F238E27FC236}">
                  <a16:creationId xmlns:a16="http://schemas.microsoft.com/office/drawing/2014/main" id="{78FEBD3A-84DE-45EA-99A0-93EEFD6C90FD}"/>
                </a:ext>
              </a:extLst>
            </p:cNvPr>
            <p:cNvSpPr txBox="1"/>
            <p:nvPr/>
          </p:nvSpPr>
          <p:spPr>
            <a:xfrm>
              <a:off x="571500" y="1263265"/>
              <a:ext cx="8715512" cy="954107"/>
            </a:xfrm>
            <a:prstGeom prst="rect">
              <a:avLst/>
            </a:prstGeom>
            <a:noFill/>
          </p:spPr>
          <p:txBody>
            <a:bodyPr wrap="square">
              <a:spAutoFit/>
            </a:bodyPr>
            <a:lstStyle/>
            <a:p>
              <a:pPr algn="just"/>
              <a:r>
                <a:rPr lang="en-US" sz="2800" b="1" u="sng" dirty="0">
                  <a:solidFill>
                    <a:srgbClr val="FF0000"/>
                  </a:solidFill>
                </a:rPr>
                <a:t>Example on protected method access within the package </a:t>
              </a:r>
              <a:r>
                <a:rPr lang="en-US" sz="2400" b="1" u="sng" dirty="0">
                  <a:solidFill>
                    <a:srgbClr val="FF0000"/>
                  </a:solidFill>
                </a:rPr>
                <a:t>(in both sub class and instantiated class)</a:t>
              </a:r>
              <a:r>
                <a:rPr lang="en-US" sz="2800" b="1" u="sng" dirty="0">
                  <a:solidFill>
                    <a:srgbClr val="FF0000"/>
                  </a:solidFill>
                </a:rPr>
                <a:t>:</a:t>
              </a:r>
            </a:p>
          </p:txBody>
        </p:sp>
        <p:sp>
          <p:nvSpPr>
            <p:cNvPr id="28" name="TextBox 27">
              <a:extLst>
                <a:ext uri="{FF2B5EF4-FFF2-40B4-BE49-F238E27FC236}">
                  <a16:creationId xmlns:a16="http://schemas.microsoft.com/office/drawing/2014/main" id="{567BA975-A9C0-40B0-8231-DB2E5AC4675F}"/>
                </a:ext>
              </a:extLst>
            </p:cNvPr>
            <p:cNvSpPr txBox="1"/>
            <p:nvPr/>
          </p:nvSpPr>
          <p:spPr>
            <a:xfrm>
              <a:off x="571500" y="2348987"/>
              <a:ext cx="3197087" cy="1200329"/>
            </a:xfrm>
            <a:prstGeom prst="rect">
              <a:avLst/>
            </a:prstGeom>
            <a:noFill/>
          </p:spPr>
          <p:txBody>
            <a:bodyPr wrap="square">
              <a:spAutoFit/>
            </a:bodyPr>
            <a:lstStyle/>
            <a:p>
              <a:pPr algn="just"/>
              <a:r>
                <a:rPr lang="en-US" sz="1800" dirty="0">
                  <a:solidFill>
                    <a:srgbClr val="FF0000"/>
                  </a:solidFill>
                </a:rPr>
                <a:t>package a;</a:t>
              </a:r>
            </a:p>
            <a:p>
              <a:pPr algn="just"/>
              <a:r>
                <a:rPr lang="en-US" sz="1800" dirty="0">
                  <a:solidFill>
                    <a:srgbClr val="FF0000"/>
                  </a:solidFill>
                </a:rPr>
                <a:t>public class A {</a:t>
              </a:r>
            </a:p>
            <a:p>
              <a:pPr algn="just"/>
              <a:r>
                <a:rPr lang="en-US" sz="1800" dirty="0">
                  <a:solidFill>
                    <a:srgbClr val="FF0000"/>
                  </a:solidFill>
                </a:rPr>
                <a:t>	protected void a() {}</a:t>
              </a:r>
            </a:p>
            <a:p>
              <a:pPr algn="just"/>
              <a:r>
                <a:rPr lang="en-US" sz="1800" dirty="0">
                  <a:solidFill>
                    <a:srgbClr val="FF0000"/>
                  </a:solidFill>
                </a:rPr>
                <a:t>}</a:t>
              </a:r>
              <a:endParaRPr lang="en-IN" dirty="0"/>
            </a:p>
          </p:txBody>
        </p:sp>
        <p:sp>
          <p:nvSpPr>
            <p:cNvPr id="29" name="TextBox 28">
              <a:extLst>
                <a:ext uri="{FF2B5EF4-FFF2-40B4-BE49-F238E27FC236}">
                  <a16:creationId xmlns:a16="http://schemas.microsoft.com/office/drawing/2014/main" id="{6D5F7CF6-007D-4B2E-A345-89DC9B254293}"/>
                </a:ext>
              </a:extLst>
            </p:cNvPr>
            <p:cNvSpPr txBox="1"/>
            <p:nvPr/>
          </p:nvSpPr>
          <p:spPr>
            <a:xfrm>
              <a:off x="4598504" y="3145945"/>
              <a:ext cx="3445566" cy="1754326"/>
            </a:xfrm>
            <a:prstGeom prst="rect">
              <a:avLst/>
            </a:prstGeom>
            <a:noFill/>
          </p:spPr>
          <p:txBody>
            <a:bodyPr wrap="square">
              <a:spAutoFit/>
            </a:bodyPr>
            <a:lstStyle/>
            <a:p>
              <a:pPr algn="just"/>
              <a:r>
                <a:rPr lang="en-US" sz="1800" dirty="0">
                  <a:solidFill>
                    <a:srgbClr val="FF0000"/>
                  </a:solidFill>
                </a:rPr>
                <a:t>package a;</a:t>
              </a:r>
            </a:p>
            <a:p>
              <a:pPr algn="just"/>
              <a:r>
                <a:rPr lang="en-US" sz="1800" dirty="0">
                  <a:solidFill>
                    <a:srgbClr val="FF0000"/>
                  </a:solidFill>
                </a:rPr>
                <a:t>public class B extends A {</a:t>
              </a:r>
            </a:p>
            <a:p>
              <a:pPr algn="just"/>
              <a:r>
                <a:rPr lang="en-US" sz="1800" dirty="0">
                  <a:solidFill>
                    <a:srgbClr val="FF0000"/>
                  </a:solidFill>
                </a:rPr>
                <a:t>	protected void a() {}</a:t>
              </a:r>
            </a:p>
            <a:p>
              <a:pPr algn="just"/>
              <a:r>
                <a:rPr lang="en-US" dirty="0">
                  <a:solidFill>
                    <a:srgbClr val="FF0000"/>
                  </a:solidFill>
                </a:rPr>
                <a:t>		(or)</a:t>
              </a:r>
              <a:endParaRPr lang="en-US" sz="1800" dirty="0">
                <a:solidFill>
                  <a:srgbClr val="FF0000"/>
                </a:solidFill>
              </a:endParaRPr>
            </a:p>
            <a:p>
              <a:pPr algn="just"/>
              <a:r>
                <a:rPr lang="en-US" sz="1800" dirty="0">
                  <a:solidFill>
                    <a:srgbClr val="FF0000"/>
                  </a:solidFill>
                </a:rPr>
                <a:t>	public void a() {}</a:t>
              </a:r>
            </a:p>
            <a:p>
              <a:pPr algn="just"/>
              <a:r>
                <a:rPr lang="en-US" sz="1800" dirty="0">
                  <a:solidFill>
                    <a:srgbClr val="FF0000"/>
                  </a:solidFill>
                </a:rPr>
                <a:t>}</a:t>
              </a:r>
              <a:endParaRPr lang="en-IN" dirty="0"/>
            </a:p>
          </p:txBody>
        </p:sp>
        <p:sp>
          <p:nvSpPr>
            <p:cNvPr id="30" name="TextBox 29">
              <a:extLst>
                <a:ext uri="{FF2B5EF4-FFF2-40B4-BE49-F238E27FC236}">
                  <a16:creationId xmlns:a16="http://schemas.microsoft.com/office/drawing/2014/main" id="{35720B87-01BA-477D-95EB-DE3AB2F8BBEF}"/>
                </a:ext>
              </a:extLst>
            </p:cNvPr>
            <p:cNvSpPr txBox="1"/>
            <p:nvPr/>
          </p:nvSpPr>
          <p:spPr>
            <a:xfrm>
              <a:off x="571500" y="4477889"/>
              <a:ext cx="4027004" cy="2031325"/>
            </a:xfrm>
            <a:prstGeom prst="rect">
              <a:avLst/>
            </a:prstGeom>
            <a:noFill/>
          </p:spPr>
          <p:txBody>
            <a:bodyPr wrap="square">
              <a:spAutoFit/>
            </a:bodyPr>
            <a:lstStyle/>
            <a:p>
              <a:pPr algn="just"/>
              <a:r>
                <a:rPr lang="en-US" sz="1800" dirty="0">
                  <a:solidFill>
                    <a:srgbClr val="FF0000"/>
                  </a:solidFill>
                </a:rPr>
                <a:t>package a;</a:t>
              </a:r>
            </a:p>
            <a:p>
              <a:pPr algn="just"/>
              <a:r>
                <a:rPr lang="en-US" sz="1800" dirty="0">
                  <a:solidFill>
                    <a:srgbClr val="FF0000"/>
                  </a:solidFill>
                </a:rPr>
                <a:t>public class C {</a:t>
              </a:r>
            </a:p>
            <a:p>
              <a:pPr algn="just"/>
              <a:r>
                <a:rPr lang="en-US" sz="1800" dirty="0">
                  <a:solidFill>
                    <a:srgbClr val="FF0000"/>
                  </a:solidFill>
                </a:rPr>
                <a:t>	p s v main(String rags[]) {</a:t>
              </a:r>
            </a:p>
            <a:p>
              <a:pPr algn="just"/>
              <a:r>
                <a:rPr lang="en-US" dirty="0">
                  <a:solidFill>
                    <a:srgbClr val="FF0000"/>
                  </a:solidFill>
                </a:rPr>
                <a:t>		A a=new A();</a:t>
              </a:r>
            </a:p>
            <a:p>
              <a:pPr algn="just"/>
              <a:r>
                <a:rPr lang="en-US" dirty="0">
                  <a:solidFill>
                    <a:srgbClr val="FF0000"/>
                  </a:solidFill>
                </a:rPr>
                <a:t>		</a:t>
              </a:r>
              <a:r>
                <a:rPr lang="en-US" dirty="0" err="1">
                  <a:solidFill>
                    <a:srgbClr val="FF0000"/>
                  </a:solidFill>
                </a:rPr>
                <a:t>a.a</a:t>
              </a:r>
              <a:r>
                <a:rPr lang="en-US" dirty="0">
                  <a:solidFill>
                    <a:srgbClr val="FF0000"/>
                  </a:solidFill>
                </a:rPr>
                <a:t>();</a:t>
              </a:r>
            </a:p>
            <a:p>
              <a:pPr algn="just"/>
              <a:r>
                <a:rPr lang="en-US" sz="1800" dirty="0">
                  <a:solidFill>
                    <a:srgbClr val="FF0000"/>
                  </a:solidFill>
                </a:rPr>
                <a:t>	}</a:t>
              </a:r>
            </a:p>
            <a:p>
              <a:pPr algn="just"/>
              <a:r>
                <a:rPr lang="en-US" sz="1800" dirty="0">
                  <a:solidFill>
                    <a:srgbClr val="FF0000"/>
                  </a:solidFill>
                </a:rPr>
                <a:t>}</a:t>
              </a:r>
              <a:endParaRPr lang="en-IN" dirty="0"/>
            </a:p>
          </p:txBody>
        </p:sp>
        <p:sp>
          <p:nvSpPr>
            <p:cNvPr id="31" name="TextBox 30">
              <a:extLst>
                <a:ext uri="{FF2B5EF4-FFF2-40B4-BE49-F238E27FC236}">
                  <a16:creationId xmlns:a16="http://schemas.microsoft.com/office/drawing/2014/main" id="{ABCA3854-A220-4CF7-9A6D-D17EFD6A7D14}"/>
                </a:ext>
              </a:extLst>
            </p:cNvPr>
            <p:cNvSpPr txBox="1"/>
            <p:nvPr/>
          </p:nvSpPr>
          <p:spPr>
            <a:xfrm>
              <a:off x="6128183" y="2195616"/>
              <a:ext cx="2385391" cy="1200329"/>
            </a:xfrm>
            <a:prstGeom prst="rect">
              <a:avLst/>
            </a:prstGeom>
            <a:noFill/>
          </p:spPr>
          <p:txBody>
            <a:bodyPr wrap="square" rtlCol="0">
              <a:spAutoFit/>
            </a:bodyPr>
            <a:lstStyle/>
            <a:p>
              <a:pPr algn="just"/>
              <a:r>
                <a:rPr lang="en-US" dirty="0"/>
                <a:t>protected method can be overridden as protected or public in sub class</a:t>
              </a:r>
              <a:endParaRPr lang="en-IN" dirty="0"/>
            </a:p>
          </p:txBody>
        </p:sp>
        <p:sp>
          <p:nvSpPr>
            <p:cNvPr id="32" name="TextBox 31">
              <a:extLst>
                <a:ext uri="{FF2B5EF4-FFF2-40B4-BE49-F238E27FC236}">
                  <a16:creationId xmlns:a16="http://schemas.microsoft.com/office/drawing/2014/main" id="{870D92B7-CB82-49B6-9842-898654AD25C1}"/>
                </a:ext>
              </a:extLst>
            </p:cNvPr>
            <p:cNvSpPr txBox="1"/>
            <p:nvPr/>
          </p:nvSpPr>
          <p:spPr>
            <a:xfrm>
              <a:off x="6597687" y="4522560"/>
              <a:ext cx="2385391" cy="923330"/>
            </a:xfrm>
            <a:prstGeom prst="rect">
              <a:avLst/>
            </a:prstGeom>
            <a:noFill/>
          </p:spPr>
          <p:txBody>
            <a:bodyPr wrap="square" rtlCol="0">
              <a:spAutoFit/>
            </a:bodyPr>
            <a:lstStyle/>
            <a:p>
              <a:pPr algn="just"/>
              <a:r>
                <a:rPr lang="en-US" dirty="0"/>
                <a:t>overriding protected method in sub class within the package.</a:t>
              </a:r>
              <a:endParaRPr lang="en-IN" dirty="0"/>
            </a:p>
          </p:txBody>
        </p:sp>
        <p:sp>
          <p:nvSpPr>
            <p:cNvPr id="33" name="TextBox 32">
              <a:extLst>
                <a:ext uri="{FF2B5EF4-FFF2-40B4-BE49-F238E27FC236}">
                  <a16:creationId xmlns:a16="http://schemas.microsoft.com/office/drawing/2014/main" id="{73EF923A-4DAD-4CB1-9CDB-F5906C974E54}"/>
                </a:ext>
              </a:extLst>
            </p:cNvPr>
            <p:cNvSpPr txBox="1"/>
            <p:nvPr/>
          </p:nvSpPr>
          <p:spPr>
            <a:xfrm>
              <a:off x="3847860" y="5483345"/>
              <a:ext cx="2385391" cy="923330"/>
            </a:xfrm>
            <a:prstGeom prst="rect">
              <a:avLst/>
            </a:prstGeom>
            <a:noFill/>
          </p:spPr>
          <p:txBody>
            <a:bodyPr wrap="square" rtlCol="0">
              <a:spAutoFit/>
            </a:bodyPr>
            <a:lstStyle/>
            <a:p>
              <a:pPr algn="just"/>
              <a:r>
                <a:rPr lang="en-US" dirty="0"/>
                <a:t>calling protected method within the package.</a:t>
              </a:r>
              <a:endParaRPr lang="en-IN" dirty="0"/>
            </a:p>
          </p:txBody>
        </p:sp>
        <p:sp>
          <p:nvSpPr>
            <p:cNvPr id="34" name="TextBox 33">
              <a:extLst>
                <a:ext uri="{FF2B5EF4-FFF2-40B4-BE49-F238E27FC236}">
                  <a16:creationId xmlns:a16="http://schemas.microsoft.com/office/drawing/2014/main" id="{8F97A898-7577-4ACE-8864-65C14E26291B}"/>
                </a:ext>
              </a:extLst>
            </p:cNvPr>
            <p:cNvSpPr txBox="1"/>
            <p:nvPr/>
          </p:nvSpPr>
          <p:spPr>
            <a:xfrm>
              <a:off x="9129089" y="2150746"/>
              <a:ext cx="2385391" cy="1384995"/>
            </a:xfrm>
            <a:prstGeom prst="rect">
              <a:avLst/>
            </a:prstGeom>
            <a:noFill/>
          </p:spPr>
          <p:txBody>
            <a:bodyPr wrap="square" rtlCol="0">
              <a:spAutoFit/>
            </a:bodyPr>
            <a:lstStyle/>
            <a:p>
              <a:pPr algn="just"/>
              <a:r>
                <a:rPr lang="en-US" sz="1400" dirty="0">
                  <a:solidFill>
                    <a:srgbClr val="FF0000"/>
                  </a:solidFill>
                </a:rPr>
                <a:t>Imp Note: While overriding methods in sub class, method access specifier scope can be increased but not reduced. If do so “</a:t>
              </a:r>
              <a:r>
                <a:rPr lang="en-US" sz="1400" dirty="0" err="1">
                  <a:solidFill>
                    <a:srgbClr val="FF0000"/>
                  </a:solidFill>
                </a:rPr>
                <a:t>WeakAccessSpecifier</a:t>
              </a:r>
              <a:r>
                <a:rPr lang="en-US" sz="1400" dirty="0">
                  <a:solidFill>
                    <a:srgbClr val="FF0000"/>
                  </a:solidFill>
                </a:rPr>
                <a:t>” privilege error comes.</a:t>
              </a:r>
              <a:endParaRPr lang="en-IN" sz="1400" dirty="0">
                <a:solidFill>
                  <a:srgbClr val="FF0000"/>
                </a:solidFill>
              </a:endParaRPr>
            </a:p>
          </p:txBody>
        </p:sp>
      </p:grpSp>
    </p:spTree>
    <p:extLst>
      <p:ext uri="{BB962C8B-B14F-4D97-AF65-F5344CB8AC3E}">
        <p14:creationId xmlns:p14="http://schemas.microsoft.com/office/powerpoint/2010/main" val="4129380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Method Syntax</a:t>
              </a:r>
              <a:endParaRPr lang="en-US" sz="10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grpSp>
        <p:nvGrpSpPr>
          <p:cNvPr id="25" name="Group 24">
            <a:extLst>
              <a:ext uri="{FF2B5EF4-FFF2-40B4-BE49-F238E27FC236}">
                <a16:creationId xmlns:a16="http://schemas.microsoft.com/office/drawing/2014/main" id="{4F47FA07-1A28-4E91-854A-D5133740F865}"/>
              </a:ext>
            </a:extLst>
          </p:cNvPr>
          <p:cNvGrpSpPr/>
          <p:nvPr/>
        </p:nvGrpSpPr>
        <p:grpSpPr>
          <a:xfrm>
            <a:off x="544993" y="865702"/>
            <a:ext cx="8742019" cy="5572066"/>
            <a:chOff x="544993" y="1263265"/>
            <a:chExt cx="8742019" cy="5572066"/>
          </a:xfrm>
        </p:grpSpPr>
        <p:sp>
          <p:nvSpPr>
            <p:cNvPr id="35" name="TextBox 34">
              <a:extLst>
                <a:ext uri="{FF2B5EF4-FFF2-40B4-BE49-F238E27FC236}">
                  <a16:creationId xmlns:a16="http://schemas.microsoft.com/office/drawing/2014/main" id="{F37A6BB4-0FFB-428E-8132-3D2EF502E751}"/>
                </a:ext>
              </a:extLst>
            </p:cNvPr>
            <p:cNvSpPr txBox="1"/>
            <p:nvPr/>
          </p:nvSpPr>
          <p:spPr>
            <a:xfrm>
              <a:off x="571500" y="1263265"/>
              <a:ext cx="8715512" cy="954107"/>
            </a:xfrm>
            <a:prstGeom prst="rect">
              <a:avLst/>
            </a:prstGeom>
            <a:noFill/>
          </p:spPr>
          <p:txBody>
            <a:bodyPr wrap="square">
              <a:spAutoFit/>
            </a:bodyPr>
            <a:lstStyle/>
            <a:p>
              <a:pPr algn="just"/>
              <a:r>
                <a:rPr lang="en-US" sz="2800" b="1" u="sng" dirty="0">
                  <a:solidFill>
                    <a:srgbClr val="FF0000"/>
                  </a:solidFill>
                </a:rPr>
                <a:t>Example on protected method access outside the package </a:t>
              </a:r>
              <a:r>
                <a:rPr lang="en-US" sz="2400" b="1" u="sng" dirty="0">
                  <a:solidFill>
                    <a:srgbClr val="FF0000"/>
                  </a:solidFill>
                </a:rPr>
                <a:t>(in both sub class and instantiated class)</a:t>
              </a:r>
              <a:r>
                <a:rPr lang="en-US" sz="2800" b="1" u="sng" dirty="0">
                  <a:solidFill>
                    <a:srgbClr val="FF0000"/>
                  </a:solidFill>
                </a:rPr>
                <a:t>:</a:t>
              </a:r>
            </a:p>
          </p:txBody>
        </p:sp>
        <p:sp>
          <p:nvSpPr>
            <p:cNvPr id="36" name="TextBox 35">
              <a:extLst>
                <a:ext uri="{FF2B5EF4-FFF2-40B4-BE49-F238E27FC236}">
                  <a16:creationId xmlns:a16="http://schemas.microsoft.com/office/drawing/2014/main" id="{D7297FA4-0D0A-44DB-A2B9-3A87D42F99B3}"/>
                </a:ext>
              </a:extLst>
            </p:cNvPr>
            <p:cNvSpPr txBox="1"/>
            <p:nvPr/>
          </p:nvSpPr>
          <p:spPr>
            <a:xfrm>
              <a:off x="571500" y="2348987"/>
              <a:ext cx="3197087" cy="1200329"/>
            </a:xfrm>
            <a:prstGeom prst="rect">
              <a:avLst/>
            </a:prstGeom>
            <a:noFill/>
          </p:spPr>
          <p:txBody>
            <a:bodyPr wrap="square">
              <a:spAutoFit/>
            </a:bodyPr>
            <a:lstStyle/>
            <a:p>
              <a:pPr algn="just"/>
              <a:r>
                <a:rPr lang="en-US" sz="1800" dirty="0">
                  <a:solidFill>
                    <a:srgbClr val="FF0000"/>
                  </a:solidFill>
                </a:rPr>
                <a:t>package a;</a:t>
              </a:r>
            </a:p>
            <a:p>
              <a:pPr algn="just"/>
              <a:r>
                <a:rPr lang="en-US" sz="1800" dirty="0">
                  <a:solidFill>
                    <a:srgbClr val="FF0000"/>
                  </a:solidFill>
                </a:rPr>
                <a:t>public class A {</a:t>
              </a:r>
            </a:p>
            <a:p>
              <a:pPr algn="just"/>
              <a:r>
                <a:rPr lang="en-US" sz="1800" dirty="0">
                  <a:solidFill>
                    <a:srgbClr val="FF0000"/>
                  </a:solidFill>
                </a:rPr>
                <a:t>	protected void a() {}</a:t>
              </a:r>
            </a:p>
            <a:p>
              <a:pPr algn="just"/>
              <a:r>
                <a:rPr lang="en-US" sz="1800" dirty="0">
                  <a:solidFill>
                    <a:srgbClr val="FF0000"/>
                  </a:solidFill>
                </a:rPr>
                <a:t>}</a:t>
              </a:r>
              <a:endParaRPr lang="en-IN" dirty="0"/>
            </a:p>
          </p:txBody>
        </p:sp>
        <p:sp>
          <p:nvSpPr>
            <p:cNvPr id="37" name="TextBox 36">
              <a:extLst>
                <a:ext uri="{FF2B5EF4-FFF2-40B4-BE49-F238E27FC236}">
                  <a16:creationId xmlns:a16="http://schemas.microsoft.com/office/drawing/2014/main" id="{412D1D35-C398-4F2B-8BEE-5EF74813C6D0}"/>
                </a:ext>
              </a:extLst>
            </p:cNvPr>
            <p:cNvSpPr txBox="1"/>
            <p:nvPr/>
          </p:nvSpPr>
          <p:spPr>
            <a:xfrm>
              <a:off x="4598504" y="2385679"/>
              <a:ext cx="4688508" cy="2308324"/>
            </a:xfrm>
            <a:prstGeom prst="rect">
              <a:avLst/>
            </a:prstGeom>
            <a:noFill/>
          </p:spPr>
          <p:txBody>
            <a:bodyPr wrap="square">
              <a:spAutoFit/>
            </a:bodyPr>
            <a:lstStyle/>
            <a:p>
              <a:pPr algn="just"/>
              <a:r>
                <a:rPr lang="en-US" sz="1800" dirty="0">
                  <a:solidFill>
                    <a:srgbClr val="FF0000"/>
                  </a:solidFill>
                </a:rPr>
                <a:t>package b;</a:t>
              </a:r>
            </a:p>
            <a:p>
              <a:pPr algn="just"/>
              <a:r>
                <a:rPr lang="en-US" dirty="0">
                  <a:solidFill>
                    <a:srgbClr val="FF0000"/>
                  </a:solidFill>
                </a:rPr>
                <a:t>import </a:t>
              </a:r>
              <a:r>
                <a:rPr lang="en-US" dirty="0" err="1">
                  <a:solidFill>
                    <a:srgbClr val="FF0000"/>
                  </a:solidFill>
                </a:rPr>
                <a:t>a.A</a:t>
              </a:r>
              <a:r>
                <a:rPr lang="en-US" dirty="0">
                  <a:solidFill>
                    <a:srgbClr val="FF0000"/>
                  </a:solidFill>
                </a:rPr>
                <a:t>;</a:t>
              </a:r>
              <a:endParaRPr lang="en-US" sz="1800" dirty="0">
                <a:solidFill>
                  <a:srgbClr val="FF0000"/>
                </a:solidFill>
              </a:endParaRPr>
            </a:p>
            <a:p>
              <a:pPr algn="just"/>
              <a:r>
                <a:rPr lang="en-US" sz="1800" dirty="0">
                  <a:solidFill>
                    <a:srgbClr val="FF0000"/>
                  </a:solidFill>
                </a:rPr>
                <a:t>public class D extends A {</a:t>
              </a:r>
            </a:p>
            <a:p>
              <a:pPr algn="just"/>
              <a:r>
                <a:rPr lang="en-US" sz="1800" b="1" dirty="0">
                  <a:solidFill>
                    <a:srgbClr val="0000FF"/>
                  </a:solidFill>
                </a:rPr>
                <a:t>	// </a:t>
              </a:r>
              <a:r>
                <a:rPr lang="en-US" sz="1600" b="1" dirty="0">
                  <a:solidFill>
                    <a:srgbClr val="0000FF"/>
                  </a:solidFill>
                </a:rPr>
                <a:t>override as protected or public</a:t>
              </a:r>
              <a:endParaRPr lang="en-US" sz="1800" b="1" dirty="0">
                <a:solidFill>
                  <a:srgbClr val="0000FF"/>
                </a:solidFill>
              </a:endParaRPr>
            </a:p>
            <a:p>
              <a:pPr algn="just"/>
              <a:r>
                <a:rPr lang="en-US" sz="1800" dirty="0">
                  <a:solidFill>
                    <a:srgbClr val="FF0000"/>
                  </a:solidFill>
                </a:rPr>
                <a:t>	protected void a() {}</a:t>
              </a:r>
            </a:p>
            <a:p>
              <a:pPr algn="just"/>
              <a:r>
                <a:rPr lang="en-US" dirty="0">
                  <a:solidFill>
                    <a:srgbClr val="FF0000"/>
                  </a:solidFill>
                </a:rPr>
                <a:t>		(or)</a:t>
              </a:r>
              <a:endParaRPr lang="en-US" sz="1800" dirty="0">
                <a:solidFill>
                  <a:srgbClr val="FF0000"/>
                </a:solidFill>
              </a:endParaRPr>
            </a:p>
            <a:p>
              <a:pPr algn="just"/>
              <a:r>
                <a:rPr lang="en-US" sz="1800" dirty="0">
                  <a:solidFill>
                    <a:srgbClr val="FF0000"/>
                  </a:solidFill>
                </a:rPr>
                <a:t>	public void a() {}</a:t>
              </a:r>
            </a:p>
            <a:p>
              <a:pPr algn="just"/>
              <a:r>
                <a:rPr lang="en-US" sz="1800" dirty="0">
                  <a:solidFill>
                    <a:srgbClr val="FF0000"/>
                  </a:solidFill>
                </a:rPr>
                <a:t>}</a:t>
              </a:r>
              <a:endParaRPr lang="en-IN" dirty="0"/>
            </a:p>
          </p:txBody>
        </p:sp>
        <p:sp>
          <p:nvSpPr>
            <p:cNvPr id="38" name="TextBox 37">
              <a:extLst>
                <a:ext uri="{FF2B5EF4-FFF2-40B4-BE49-F238E27FC236}">
                  <a16:creationId xmlns:a16="http://schemas.microsoft.com/office/drawing/2014/main" id="{A3BFDDC5-C60D-40E2-A3F0-B6CDDAF5955B}"/>
                </a:ext>
              </a:extLst>
            </p:cNvPr>
            <p:cNvSpPr txBox="1"/>
            <p:nvPr/>
          </p:nvSpPr>
          <p:spPr>
            <a:xfrm>
              <a:off x="544993" y="3696010"/>
              <a:ext cx="4027004" cy="3139321"/>
            </a:xfrm>
            <a:prstGeom prst="rect">
              <a:avLst/>
            </a:prstGeom>
            <a:noFill/>
          </p:spPr>
          <p:txBody>
            <a:bodyPr wrap="square">
              <a:spAutoFit/>
            </a:bodyPr>
            <a:lstStyle/>
            <a:p>
              <a:pPr algn="just"/>
              <a:r>
                <a:rPr lang="en-US" sz="1800" dirty="0">
                  <a:solidFill>
                    <a:srgbClr val="FF0000"/>
                  </a:solidFill>
                </a:rPr>
                <a:t>package b;</a:t>
              </a:r>
            </a:p>
            <a:p>
              <a:pPr algn="just"/>
              <a:r>
                <a:rPr lang="en-US" dirty="0">
                  <a:solidFill>
                    <a:srgbClr val="FF0000"/>
                  </a:solidFill>
                </a:rPr>
                <a:t>import </a:t>
              </a:r>
              <a:r>
                <a:rPr lang="en-US" dirty="0" err="1">
                  <a:solidFill>
                    <a:srgbClr val="FF0000"/>
                  </a:solidFill>
                </a:rPr>
                <a:t>a.A</a:t>
              </a:r>
              <a:r>
                <a:rPr lang="en-US" dirty="0">
                  <a:solidFill>
                    <a:srgbClr val="FF0000"/>
                  </a:solidFill>
                </a:rPr>
                <a:t>;</a:t>
              </a:r>
              <a:endParaRPr lang="en-US" sz="1800" dirty="0">
                <a:solidFill>
                  <a:srgbClr val="FF0000"/>
                </a:solidFill>
              </a:endParaRPr>
            </a:p>
            <a:p>
              <a:pPr algn="just"/>
              <a:r>
                <a:rPr lang="en-US" sz="1800" dirty="0">
                  <a:solidFill>
                    <a:srgbClr val="FF0000"/>
                  </a:solidFill>
                </a:rPr>
                <a:t>public class E {</a:t>
              </a:r>
            </a:p>
            <a:p>
              <a:pPr algn="just"/>
              <a:r>
                <a:rPr lang="en-US" sz="1800" dirty="0">
                  <a:solidFill>
                    <a:srgbClr val="FF0000"/>
                  </a:solidFill>
                </a:rPr>
                <a:t>	p s v main(String rags[]) {</a:t>
              </a:r>
            </a:p>
            <a:p>
              <a:pPr algn="just"/>
              <a:r>
                <a:rPr lang="en-US" dirty="0">
                  <a:solidFill>
                    <a:srgbClr val="FF0000"/>
                  </a:solidFill>
                </a:rPr>
                <a:t>		A a=new A();</a:t>
              </a:r>
            </a:p>
            <a:p>
              <a:pPr algn="just"/>
              <a:r>
                <a:rPr lang="en-US" dirty="0">
                  <a:solidFill>
                    <a:srgbClr val="FF0000"/>
                  </a:solidFill>
                </a:rPr>
                <a:t>		</a:t>
              </a:r>
              <a:r>
                <a:rPr lang="en-US" dirty="0" err="1">
                  <a:solidFill>
                    <a:srgbClr val="FF0000"/>
                  </a:solidFill>
                </a:rPr>
                <a:t>a.a</a:t>
              </a:r>
              <a:r>
                <a:rPr lang="en-US" dirty="0">
                  <a:solidFill>
                    <a:srgbClr val="FF0000"/>
                  </a:solidFill>
                </a:rPr>
                <a:t>(); </a:t>
              </a:r>
            </a:p>
            <a:p>
              <a:pPr algn="just"/>
              <a:r>
                <a:rPr lang="en-US" sz="1600" b="1" dirty="0">
                  <a:solidFill>
                    <a:srgbClr val="0000FF"/>
                  </a:solidFill>
                </a:rPr>
                <a:t>// error protected method cannot be accessed in instantiated class outside the package</a:t>
              </a:r>
            </a:p>
            <a:p>
              <a:pPr algn="just"/>
              <a:r>
                <a:rPr lang="en-US" sz="1800" dirty="0">
                  <a:solidFill>
                    <a:srgbClr val="FF0000"/>
                  </a:solidFill>
                </a:rPr>
                <a:t>	}</a:t>
              </a:r>
            </a:p>
            <a:p>
              <a:pPr algn="just"/>
              <a:r>
                <a:rPr lang="en-US" sz="1800" dirty="0">
                  <a:solidFill>
                    <a:srgbClr val="FF0000"/>
                  </a:solidFill>
                </a:rPr>
                <a:t>}</a:t>
              </a:r>
              <a:endParaRPr lang="en-IN" dirty="0"/>
            </a:p>
          </p:txBody>
        </p:sp>
        <p:sp>
          <p:nvSpPr>
            <p:cNvPr id="39" name="TextBox 38">
              <a:extLst>
                <a:ext uri="{FF2B5EF4-FFF2-40B4-BE49-F238E27FC236}">
                  <a16:creationId xmlns:a16="http://schemas.microsoft.com/office/drawing/2014/main" id="{17D87BD1-0FF7-48A6-9054-F141EF3B6DAA}"/>
                </a:ext>
              </a:extLst>
            </p:cNvPr>
            <p:cNvSpPr txBox="1"/>
            <p:nvPr/>
          </p:nvSpPr>
          <p:spPr>
            <a:xfrm>
              <a:off x="5211969" y="4457031"/>
              <a:ext cx="4027004" cy="2031325"/>
            </a:xfrm>
            <a:prstGeom prst="rect">
              <a:avLst/>
            </a:prstGeom>
            <a:noFill/>
          </p:spPr>
          <p:txBody>
            <a:bodyPr wrap="square">
              <a:spAutoFit/>
            </a:bodyPr>
            <a:lstStyle/>
            <a:p>
              <a:pPr algn="just"/>
              <a:r>
                <a:rPr lang="en-US" sz="1800" dirty="0">
                  <a:solidFill>
                    <a:srgbClr val="FF0000"/>
                  </a:solidFill>
                </a:rPr>
                <a:t>package b;</a:t>
              </a:r>
            </a:p>
            <a:p>
              <a:pPr algn="just"/>
              <a:r>
                <a:rPr lang="en-US" sz="1800" dirty="0">
                  <a:solidFill>
                    <a:srgbClr val="FF0000"/>
                  </a:solidFill>
                </a:rPr>
                <a:t>public class F {</a:t>
              </a:r>
            </a:p>
            <a:p>
              <a:pPr algn="just"/>
              <a:r>
                <a:rPr lang="en-US" sz="1800" dirty="0">
                  <a:solidFill>
                    <a:srgbClr val="FF0000"/>
                  </a:solidFill>
                </a:rPr>
                <a:t>	p s v main(String rags[]) {</a:t>
              </a:r>
            </a:p>
            <a:p>
              <a:pPr algn="just"/>
              <a:r>
                <a:rPr lang="en-US" dirty="0">
                  <a:solidFill>
                    <a:srgbClr val="FF0000"/>
                  </a:solidFill>
                </a:rPr>
                <a:t>		D d=new D();</a:t>
              </a:r>
            </a:p>
            <a:p>
              <a:pPr algn="just"/>
              <a:r>
                <a:rPr lang="en-US" dirty="0">
                  <a:solidFill>
                    <a:srgbClr val="FF0000"/>
                  </a:solidFill>
                </a:rPr>
                <a:t>		</a:t>
              </a:r>
              <a:r>
                <a:rPr lang="en-US" dirty="0" err="1">
                  <a:solidFill>
                    <a:srgbClr val="FF0000"/>
                  </a:solidFill>
                </a:rPr>
                <a:t>d.b</a:t>
              </a:r>
              <a:r>
                <a:rPr lang="en-US" dirty="0">
                  <a:solidFill>
                    <a:srgbClr val="FF0000"/>
                  </a:solidFill>
                </a:rPr>
                <a:t>();</a:t>
              </a:r>
            </a:p>
            <a:p>
              <a:pPr algn="just"/>
              <a:r>
                <a:rPr lang="en-US" sz="1800" dirty="0">
                  <a:solidFill>
                    <a:srgbClr val="FF0000"/>
                  </a:solidFill>
                </a:rPr>
                <a:t>	}</a:t>
              </a:r>
            </a:p>
            <a:p>
              <a:pPr algn="just"/>
              <a:r>
                <a:rPr lang="en-US" sz="1800" dirty="0">
                  <a:solidFill>
                    <a:srgbClr val="FF0000"/>
                  </a:solidFill>
                </a:rPr>
                <a:t>}</a:t>
              </a:r>
              <a:endParaRPr lang="en-IN" dirty="0"/>
            </a:p>
          </p:txBody>
        </p:sp>
      </p:grpSp>
    </p:spTree>
    <p:extLst>
      <p:ext uri="{BB962C8B-B14F-4D97-AF65-F5344CB8AC3E}">
        <p14:creationId xmlns:p14="http://schemas.microsoft.com/office/powerpoint/2010/main" val="1871421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Method Syntax</a:t>
              </a:r>
              <a:endParaRPr lang="en-US" sz="10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6" name="TextBox 25">
            <a:extLst>
              <a:ext uri="{FF2B5EF4-FFF2-40B4-BE49-F238E27FC236}">
                <a16:creationId xmlns:a16="http://schemas.microsoft.com/office/drawing/2014/main" id="{DCA3C90C-3158-4274-BBBB-62304CC1953D}"/>
              </a:ext>
            </a:extLst>
          </p:cNvPr>
          <p:cNvSpPr txBox="1"/>
          <p:nvPr/>
        </p:nvSpPr>
        <p:spPr>
          <a:xfrm>
            <a:off x="571500" y="917715"/>
            <a:ext cx="8628821" cy="2462213"/>
          </a:xfrm>
          <a:prstGeom prst="rect">
            <a:avLst/>
          </a:prstGeom>
          <a:noFill/>
        </p:spPr>
        <p:txBody>
          <a:bodyPr wrap="square">
            <a:spAutoFit/>
          </a:bodyPr>
          <a:lstStyle/>
          <a:p>
            <a:r>
              <a:rPr lang="en-IN" sz="2800" b="1" dirty="0"/>
              <a:t>access modifiers:</a:t>
            </a:r>
          </a:p>
          <a:p>
            <a:pPr algn="just"/>
            <a:r>
              <a:rPr lang="en-IN" b="1" u="sng" dirty="0">
                <a:solidFill>
                  <a:srgbClr val="FF0000"/>
                </a:solidFill>
              </a:rPr>
              <a:t>abstract:</a:t>
            </a:r>
          </a:p>
          <a:p>
            <a:pPr marL="285750" indent="-285750">
              <a:buFont typeface="Wingdings" panose="05000000000000000000" pitchFamily="2" charset="2"/>
              <a:buChar char="v"/>
            </a:pPr>
            <a:r>
              <a:rPr lang="en-IN" dirty="0"/>
              <a:t>method which is declared but not implemented is declared as abstract</a:t>
            </a:r>
          </a:p>
          <a:p>
            <a:pPr marL="285750" indent="-285750">
              <a:buFont typeface="Wingdings" panose="05000000000000000000" pitchFamily="2" charset="2"/>
              <a:buChar char="v"/>
            </a:pPr>
            <a:r>
              <a:rPr lang="en-IN" dirty="0"/>
              <a:t>no method implementation/no flower braces exist for abstract method</a:t>
            </a:r>
          </a:p>
          <a:p>
            <a:pPr marL="285750" indent="-285750">
              <a:buFont typeface="Wingdings" panose="05000000000000000000" pitchFamily="2" charset="2"/>
              <a:buChar char="v"/>
            </a:pPr>
            <a:r>
              <a:rPr lang="en-IN" dirty="0"/>
              <a:t>class which contains abstract method must also be declared as abstract</a:t>
            </a:r>
          </a:p>
          <a:p>
            <a:pPr marL="285750" indent="-285750">
              <a:buFont typeface="Wingdings" panose="05000000000000000000" pitchFamily="2" charset="2"/>
              <a:buChar char="v"/>
            </a:pPr>
            <a:r>
              <a:rPr lang="en-IN" dirty="0"/>
              <a:t>But abstract class need not contain abstract methods</a:t>
            </a:r>
          </a:p>
          <a:p>
            <a:pPr marL="285750" indent="-285750">
              <a:buFont typeface="Wingdings" panose="05000000000000000000" pitchFamily="2" charset="2"/>
              <a:buChar char="v"/>
            </a:pPr>
            <a:r>
              <a:rPr lang="en-IN" dirty="0"/>
              <a:t>Abstract methods must be implemented in sub classes</a:t>
            </a:r>
          </a:p>
          <a:p>
            <a:pPr marL="285750" indent="-285750">
              <a:buFont typeface="Wingdings" panose="05000000000000000000" pitchFamily="2" charset="2"/>
              <a:buChar char="v"/>
            </a:pPr>
            <a:r>
              <a:rPr lang="en-IN" dirty="0"/>
              <a:t>Abstraction importance is to achieve runtime polymorphism</a:t>
            </a:r>
          </a:p>
        </p:txBody>
      </p:sp>
      <p:sp>
        <p:nvSpPr>
          <p:cNvPr id="27" name="TextBox 26">
            <a:extLst>
              <a:ext uri="{FF2B5EF4-FFF2-40B4-BE49-F238E27FC236}">
                <a16:creationId xmlns:a16="http://schemas.microsoft.com/office/drawing/2014/main" id="{799D6CF0-C42B-49BF-B13B-0107189F46CC}"/>
              </a:ext>
            </a:extLst>
          </p:cNvPr>
          <p:cNvSpPr txBox="1"/>
          <p:nvPr/>
        </p:nvSpPr>
        <p:spPr>
          <a:xfrm>
            <a:off x="1457739" y="3657486"/>
            <a:ext cx="7742582" cy="2616101"/>
          </a:xfrm>
          <a:prstGeom prst="rect">
            <a:avLst/>
          </a:prstGeom>
          <a:noFill/>
        </p:spPr>
        <p:txBody>
          <a:bodyPr wrap="square">
            <a:spAutoFit/>
          </a:bodyPr>
          <a:lstStyle/>
          <a:p>
            <a:pPr algn="just"/>
            <a:r>
              <a:rPr lang="en-US" sz="2000" b="1" u="sng" dirty="0">
                <a:solidFill>
                  <a:srgbClr val="FF0000"/>
                </a:solidFill>
              </a:rPr>
              <a:t>final:</a:t>
            </a:r>
          </a:p>
          <a:p>
            <a:pPr marL="285750" indent="-285750" algn="just">
              <a:buFont typeface="Wingdings" panose="05000000000000000000" pitchFamily="2" charset="2"/>
              <a:buChar char="v"/>
            </a:pPr>
            <a:r>
              <a:rPr lang="en-US" dirty="0"/>
              <a:t>Methods which don't want to be overridden in sub classes are declared as final.</a:t>
            </a:r>
          </a:p>
          <a:p>
            <a:pPr marL="285750" indent="-285750" algn="just">
              <a:buFont typeface="Wingdings" panose="05000000000000000000" pitchFamily="2" charset="2"/>
              <a:buChar char="v"/>
            </a:pPr>
            <a:r>
              <a:rPr lang="en-US" dirty="0"/>
              <a:t>If all the methods of a class want to be declared as final, instead of declaring all the methods as final, declare class itself as final. When there is no inheritance there is no overriding.</a:t>
            </a:r>
          </a:p>
          <a:p>
            <a:pPr marL="285750" indent="-285750" algn="just">
              <a:buFont typeface="Wingdings" panose="05000000000000000000" pitchFamily="2" charset="2"/>
              <a:buChar char="v"/>
            </a:pPr>
            <a:r>
              <a:rPr lang="en-US" dirty="0"/>
              <a:t>For better memory optimization it is recommended to declare final methods as static also.</a:t>
            </a:r>
          </a:p>
          <a:p>
            <a:pPr marL="285750" indent="-285750" algn="just">
              <a:buFont typeface="Wingdings" panose="05000000000000000000" pitchFamily="2" charset="2"/>
              <a:buChar char="v"/>
            </a:pPr>
            <a:r>
              <a:rPr lang="en-US" dirty="0"/>
              <a:t>But not all static methods are final.</a:t>
            </a:r>
          </a:p>
        </p:txBody>
      </p:sp>
    </p:spTree>
    <p:extLst>
      <p:ext uri="{BB962C8B-B14F-4D97-AF65-F5344CB8AC3E}">
        <p14:creationId xmlns:p14="http://schemas.microsoft.com/office/powerpoint/2010/main" val="1917241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Method Syntax</a:t>
              </a:r>
              <a:endParaRPr lang="en-US" sz="10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5" name="TextBox 24">
            <a:extLst>
              <a:ext uri="{FF2B5EF4-FFF2-40B4-BE49-F238E27FC236}">
                <a16:creationId xmlns:a16="http://schemas.microsoft.com/office/drawing/2014/main" id="{45E59EE5-D88F-4A19-9900-A13A76B17FB9}"/>
              </a:ext>
            </a:extLst>
          </p:cNvPr>
          <p:cNvSpPr txBox="1"/>
          <p:nvPr/>
        </p:nvSpPr>
        <p:spPr>
          <a:xfrm>
            <a:off x="571500" y="798447"/>
            <a:ext cx="8628821" cy="4462760"/>
          </a:xfrm>
          <a:prstGeom prst="rect">
            <a:avLst/>
          </a:prstGeom>
          <a:noFill/>
        </p:spPr>
        <p:txBody>
          <a:bodyPr wrap="square">
            <a:spAutoFit/>
          </a:bodyPr>
          <a:lstStyle/>
          <a:p>
            <a:pPr algn="just"/>
            <a:r>
              <a:rPr lang="en-US" sz="2800" b="1" u="sng" dirty="0">
                <a:solidFill>
                  <a:srgbClr val="FF0000"/>
                </a:solidFill>
              </a:rPr>
              <a:t>static:</a:t>
            </a:r>
          </a:p>
          <a:p>
            <a:pPr algn="just"/>
            <a:r>
              <a:rPr lang="en-US" sz="2400" dirty="0"/>
              <a:t>static methods will have only one copy of memory. non-static methods will have instance methods. static methods are called as class methods. non-static methods are called as class instance methods.</a:t>
            </a:r>
          </a:p>
          <a:p>
            <a:pPr algn="just"/>
            <a:endParaRPr lang="en-US" sz="1600" dirty="0"/>
          </a:p>
          <a:p>
            <a:pPr algn="just"/>
            <a:r>
              <a:rPr lang="en-IN" sz="2400" b="1" u="sng" dirty="0">
                <a:solidFill>
                  <a:srgbClr val="FF0000"/>
                </a:solidFill>
              </a:rPr>
              <a:t>native:</a:t>
            </a:r>
            <a:r>
              <a:rPr lang="en-IN" sz="2400" u="sng" dirty="0"/>
              <a:t> </a:t>
            </a:r>
            <a:r>
              <a:rPr lang="en-IN" sz="2400" dirty="0"/>
              <a:t>Methods declared in java and implemented in C or any native language is called as native method.</a:t>
            </a:r>
          </a:p>
          <a:p>
            <a:pPr algn="just"/>
            <a:r>
              <a:rPr lang="en-IN" sz="2400" dirty="0"/>
              <a:t> </a:t>
            </a:r>
          </a:p>
          <a:p>
            <a:pPr algn="just"/>
            <a:r>
              <a:rPr lang="en-IN" sz="2400" b="1" u="sng" dirty="0">
                <a:solidFill>
                  <a:srgbClr val="FF0000"/>
                </a:solidFill>
              </a:rPr>
              <a:t>synchronized:</a:t>
            </a:r>
            <a:r>
              <a:rPr lang="en-IN" sz="2400" u="sng" dirty="0">
                <a:solidFill>
                  <a:srgbClr val="FF0000"/>
                </a:solidFill>
              </a:rPr>
              <a:t> </a:t>
            </a:r>
            <a:r>
              <a:rPr lang="en-IN" sz="2400" dirty="0"/>
              <a:t>Threads; We can declare synchronized methods in threads. To control concurrent execution of threads method is declare as synchronized.</a:t>
            </a:r>
            <a:endParaRPr lang="en-IN" sz="1600" dirty="0"/>
          </a:p>
        </p:txBody>
      </p:sp>
    </p:spTree>
    <p:extLst>
      <p:ext uri="{BB962C8B-B14F-4D97-AF65-F5344CB8AC3E}">
        <p14:creationId xmlns:p14="http://schemas.microsoft.com/office/powerpoint/2010/main" val="478164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Method Syntax</a:t>
              </a:r>
              <a:endParaRPr lang="en-US" sz="10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6" name="TextBox 25">
            <a:extLst>
              <a:ext uri="{FF2B5EF4-FFF2-40B4-BE49-F238E27FC236}">
                <a16:creationId xmlns:a16="http://schemas.microsoft.com/office/drawing/2014/main" id="{60AD9CB8-1C75-48C5-BFE1-363746A1E08A}"/>
              </a:ext>
            </a:extLst>
          </p:cNvPr>
          <p:cNvSpPr txBox="1"/>
          <p:nvPr/>
        </p:nvSpPr>
        <p:spPr>
          <a:xfrm>
            <a:off x="571500" y="798447"/>
            <a:ext cx="8628821" cy="5232202"/>
          </a:xfrm>
          <a:prstGeom prst="rect">
            <a:avLst/>
          </a:prstGeom>
          <a:noFill/>
        </p:spPr>
        <p:txBody>
          <a:bodyPr wrap="square">
            <a:spAutoFit/>
          </a:bodyPr>
          <a:lstStyle/>
          <a:p>
            <a:pPr algn="just"/>
            <a:r>
              <a:rPr lang="en-US" sz="2800" u="sng" dirty="0">
                <a:solidFill>
                  <a:srgbClr val="FF0000"/>
                </a:solidFill>
              </a:rPr>
              <a:t>Example on abstract method:</a:t>
            </a:r>
          </a:p>
          <a:p>
            <a:pPr algn="just"/>
            <a:r>
              <a:rPr lang="en-IN" b="1" dirty="0"/>
              <a:t>// EmpPayroll.java</a:t>
            </a:r>
          </a:p>
          <a:p>
            <a:pPr algn="just"/>
            <a:r>
              <a:rPr lang="en-IN" dirty="0"/>
              <a:t>public abstract class </a:t>
            </a:r>
            <a:r>
              <a:rPr lang="en-IN" dirty="0" err="1"/>
              <a:t>EmpPayroll</a:t>
            </a:r>
            <a:r>
              <a:rPr lang="en-IN" dirty="0"/>
              <a:t> {</a:t>
            </a:r>
          </a:p>
          <a:p>
            <a:pPr algn="just"/>
            <a:r>
              <a:rPr lang="en-IN" dirty="0"/>
              <a:t>  public abstract void </a:t>
            </a:r>
            <a:r>
              <a:rPr lang="en-IN" dirty="0" err="1"/>
              <a:t>calSal</a:t>
            </a:r>
            <a:r>
              <a:rPr lang="en-IN" dirty="0"/>
              <a:t>();</a:t>
            </a:r>
          </a:p>
          <a:p>
            <a:pPr algn="just"/>
            <a:r>
              <a:rPr lang="en-IN" dirty="0"/>
              <a:t>}</a:t>
            </a:r>
          </a:p>
          <a:p>
            <a:pPr algn="just"/>
            <a:endParaRPr lang="en-IN" dirty="0"/>
          </a:p>
          <a:p>
            <a:pPr algn="just"/>
            <a:r>
              <a:rPr lang="en-IN" b="1" dirty="0"/>
              <a:t>// AdminEmpPayroll.java</a:t>
            </a:r>
          </a:p>
          <a:p>
            <a:pPr algn="just"/>
            <a:r>
              <a:rPr lang="en-IN" dirty="0"/>
              <a:t>public class </a:t>
            </a:r>
            <a:r>
              <a:rPr lang="en-IN" dirty="0" err="1"/>
              <a:t>AdminEmpPayroll</a:t>
            </a:r>
            <a:r>
              <a:rPr lang="en-IN" dirty="0"/>
              <a:t> extends </a:t>
            </a:r>
            <a:r>
              <a:rPr lang="en-IN" dirty="0" err="1"/>
              <a:t>EmpPayroll</a:t>
            </a:r>
            <a:r>
              <a:rPr lang="en-IN" dirty="0"/>
              <a:t> {</a:t>
            </a:r>
          </a:p>
          <a:p>
            <a:pPr algn="just"/>
            <a:r>
              <a:rPr lang="en-IN" dirty="0"/>
              <a:t>  public void </a:t>
            </a:r>
            <a:r>
              <a:rPr lang="en-IN" dirty="0" err="1"/>
              <a:t>calSal</a:t>
            </a:r>
            <a:r>
              <a:rPr lang="en-IN" dirty="0"/>
              <a:t>() {</a:t>
            </a:r>
          </a:p>
          <a:p>
            <a:pPr algn="just"/>
            <a:r>
              <a:rPr lang="en-IN" dirty="0"/>
              <a:t>    System.out.println("Admin Emp Payroll is : now*</a:t>
            </a:r>
            <a:r>
              <a:rPr lang="en-IN" dirty="0" err="1"/>
              <a:t>pds</a:t>
            </a:r>
            <a:r>
              <a:rPr lang="en-IN" dirty="0"/>
              <a:t>");</a:t>
            </a:r>
          </a:p>
          <a:p>
            <a:pPr algn="just"/>
            <a:r>
              <a:rPr lang="en-IN" dirty="0"/>
              <a:t>  }</a:t>
            </a:r>
          </a:p>
          <a:p>
            <a:pPr algn="just"/>
            <a:r>
              <a:rPr lang="en-IN" dirty="0"/>
              <a:t>}</a:t>
            </a:r>
            <a:endParaRPr lang="en-US" sz="2800" dirty="0"/>
          </a:p>
          <a:p>
            <a:pPr algn="just"/>
            <a:r>
              <a:rPr lang="en-IN" b="1" dirty="0"/>
              <a:t>// SalesEmpPayroll.java</a:t>
            </a:r>
          </a:p>
          <a:p>
            <a:pPr algn="just"/>
            <a:r>
              <a:rPr lang="en-IN" dirty="0"/>
              <a:t>public class </a:t>
            </a:r>
            <a:r>
              <a:rPr lang="en-IN" dirty="0" err="1"/>
              <a:t>SalesEmpPayroll</a:t>
            </a:r>
            <a:r>
              <a:rPr lang="en-IN" dirty="0"/>
              <a:t> extends </a:t>
            </a:r>
            <a:r>
              <a:rPr lang="en-IN" dirty="0" err="1"/>
              <a:t>EmpPayroll</a:t>
            </a:r>
            <a:r>
              <a:rPr lang="en-IN" dirty="0"/>
              <a:t> {</a:t>
            </a:r>
          </a:p>
          <a:p>
            <a:pPr algn="just"/>
            <a:r>
              <a:rPr lang="en-IN" dirty="0"/>
              <a:t>  public void </a:t>
            </a:r>
            <a:r>
              <a:rPr lang="en-IN" dirty="0" err="1"/>
              <a:t>calSal</a:t>
            </a:r>
            <a:r>
              <a:rPr lang="en-IN" dirty="0"/>
              <a:t>() {</a:t>
            </a:r>
          </a:p>
          <a:p>
            <a:pPr algn="just"/>
            <a:r>
              <a:rPr lang="en-IN" dirty="0"/>
              <a:t>    System.out.println("Sales Emp Payroll is : (now*</a:t>
            </a:r>
            <a:r>
              <a:rPr lang="en-IN" dirty="0" err="1"/>
              <a:t>pds</a:t>
            </a:r>
            <a:r>
              <a:rPr lang="en-IN" dirty="0"/>
              <a:t>)+(</a:t>
            </a:r>
            <a:r>
              <a:rPr lang="en-IN" dirty="0" err="1"/>
              <a:t>salesamt</a:t>
            </a:r>
            <a:r>
              <a:rPr lang="en-IN" dirty="0"/>
              <a:t>*perc)");</a:t>
            </a:r>
          </a:p>
          <a:p>
            <a:pPr algn="just"/>
            <a:r>
              <a:rPr lang="en-IN" dirty="0"/>
              <a:t>  }</a:t>
            </a:r>
          </a:p>
          <a:p>
            <a:pPr algn="just"/>
            <a:r>
              <a:rPr lang="en-IN" dirty="0"/>
              <a:t>}</a:t>
            </a:r>
          </a:p>
        </p:txBody>
      </p:sp>
    </p:spTree>
    <p:extLst>
      <p:ext uri="{BB962C8B-B14F-4D97-AF65-F5344CB8AC3E}">
        <p14:creationId xmlns:p14="http://schemas.microsoft.com/office/powerpoint/2010/main" val="4010280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Method Syntax</a:t>
              </a:r>
              <a:endParaRPr lang="en-US" sz="10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5" name="TextBox 24">
            <a:extLst>
              <a:ext uri="{FF2B5EF4-FFF2-40B4-BE49-F238E27FC236}">
                <a16:creationId xmlns:a16="http://schemas.microsoft.com/office/drawing/2014/main" id="{F4C2FEFF-EF0C-415E-8D80-B75EB59D0B6B}"/>
              </a:ext>
            </a:extLst>
          </p:cNvPr>
          <p:cNvSpPr txBox="1"/>
          <p:nvPr/>
        </p:nvSpPr>
        <p:spPr>
          <a:xfrm>
            <a:off x="332965" y="798447"/>
            <a:ext cx="7936396" cy="5078313"/>
          </a:xfrm>
          <a:prstGeom prst="rect">
            <a:avLst/>
          </a:prstGeom>
          <a:noFill/>
        </p:spPr>
        <p:txBody>
          <a:bodyPr wrap="square">
            <a:spAutoFit/>
          </a:bodyPr>
          <a:lstStyle/>
          <a:p>
            <a:pPr algn="just"/>
            <a:r>
              <a:rPr lang="en-IN" b="1" dirty="0"/>
              <a:t>// ProdEmpPayroll.java</a:t>
            </a:r>
          </a:p>
          <a:p>
            <a:pPr algn="just"/>
            <a:r>
              <a:rPr lang="en-IN" dirty="0"/>
              <a:t>public class </a:t>
            </a:r>
            <a:r>
              <a:rPr lang="en-IN" dirty="0" err="1"/>
              <a:t>ProdEmpPayroll</a:t>
            </a:r>
            <a:r>
              <a:rPr lang="en-IN" dirty="0"/>
              <a:t> extends </a:t>
            </a:r>
            <a:r>
              <a:rPr lang="en-IN" dirty="0" err="1"/>
              <a:t>EmpPayroll</a:t>
            </a:r>
            <a:r>
              <a:rPr lang="en-IN" dirty="0"/>
              <a:t> {</a:t>
            </a:r>
          </a:p>
          <a:p>
            <a:pPr algn="just"/>
            <a:r>
              <a:rPr lang="en-IN" dirty="0"/>
              <a:t>  public void </a:t>
            </a:r>
            <a:r>
              <a:rPr lang="en-IN" dirty="0" err="1"/>
              <a:t>calSal</a:t>
            </a:r>
            <a:r>
              <a:rPr lang="en-IN" dirty="0"/>
              <a:t>() {</a:t>
            </a:r>
          </a:p>
          <a:p>
            <a:pPr algn="just"/>
            <a:r>
              <a:rPr lang="en-IN" dirty="0"/>
              <a:t>    System.out.println("Prod Emp Payroll is : (now*</a:t>
            </a:r>
            <a:r>
              <a:rPr lang="en-IN" dirty="0" err="1"/>
              <a:t>pds</a:t>
            </a:r>
            <a:r>
              <a:rPr lang="en-IN" dirty="0"/>
              <a:t>)+(</a:t>
            </a:r>
            <a:r>
              <a:rPr lang="en-IN" dirty="0" err="1"/>
              <a:t>overtimehours</a:t>
            </a:r>
            <a:r>
              <a:rPr lang="en-IN" dirty="0"/>
              <a:t>*</a:t>
            </a:r>
            <a:r>
              <a:rPr lang="en-IN" dirty="0" err="1"/>
              <a:t>othamt</a:t>
            </a:r>
            <a:r>
              <a:rPr lang="en-IN" dirty="0"/>
              <a:t>)");</a:t>
            </a:r>
          </a:p>
          <a:p>
            <a:pPr algn="just"/>
            <a:r>
              <a:rPr lang="en-IN" dirty="0"/>
              <a:t>  }</a:t>
            </a:r>
          </a:p>
          <a:p>
            <a:pPr algn="just"/>
            <a:r>
              <a:rPr lang="en-IN" dirty="0"/>
              <a:t>}</a:t>
            </a:r>
          </a:p>
          <a:p>
            <a:pPr algn="just"/>
            <a:endParaRPr lang="en-IN" dirty="0"/>
          </a:p>
          <a:p>
            <a:pPr algn="just"/>
            <a:r>
              <a:rPr lang="en-IN" b="1" dirty="0"/>
              <a:t>// EPFactory.java</a:t>
            </a:r>
          </a:p>
          <a:p>
            <a:pPr algn="just"/>
            <a:r>
              <a:rPr lang="en-IN" dirty="0"/>
              <a:t>public class </a:t>
            </a:r>
            <a:r>
              <a:rPr lang="en-IN" dirty="0" err="1"/>
              <a:t>EPFactory</a:t>
            </a:r>
            <a:r>
              <a:rPr lang="en-IN" dirty="0"/>
              <a:t> {</a:t>
            </a:r>
          </a:p>
          <a:p>
            <a:pPr algn="just"/>
            <a:r>
              <a:rPr lang="en-IN" dirty="0"/>
              <a:t>  public static </a:t>
            </a:r>
            <a:r>
              <a:rPr lang="en-IN" dirty="0" err="1"/>
              <a:t>EmpPayroll</a:t>
            </a:r>
            <a:r>
              <a:rPr lang="en-IN" dirty="0"/>
              <a:t> </a:t>
            </a:r>
            <a:r>
              <a:rPr lang="en-IN" dirty="0" err="1"/>
              <a:t>getEmpPayroll</a:t>
            </a:r>
            <a:r>
              <a:rPr lang="en-IN" dirty="0"/>
              <a:t>(String type) {</a:t>
            </a:r>
          </a:p>
          <a:p>
            <a:pPr algn="just"/>
            <a:r>
              <a:rPr lang="en-IN" dirty="0"/>
              <a:t>    if(</a:t>
            </a:r>
            <a:r>
              <a:rPr lang="en-IN" dirty="0" err="1"/>
              <a:t>type.equalsIgnoreCase</a:t>
            </a:r>
            <a:r>
              <a:rPr lang="en-IN" dirty="0"/>
              <a:t>("admin"))</a:t>
            </a:r>
          </a:p>
          <a:p>
            <a:pPr algn="just"/>
            <a:r>
              <a:rPr lang="en-IN" dirty="0"/>
              <a:t>	  return new </a:t>
            </a:r>
            <a:r>
              <a:rPr lang="en-IN" dirty="0" err="1"/>
              <a:t>AdminEmpPayroll</a:t>
            </a:r>
            <a:r>
              <a:rPr lang="en-IN" dirty="0"/>
              <a:t>();</a:t>
            </a:r>
          </a:p>
          <a:p>
            <a:pPr algn="just"/>
            <a:r>
              <a:rPr lang="en-IN" dirty="0"/>
              <a:t>    else if(</a:t>
            </a:r>
            <a:r>
              <a:rPr lang="en-IN" dirty="0" err="1"/>
              <a:t>type.equalsIgnoreCase</a:t>
            </a:r>
            <a:r>
              <a:rPr lang="en-IN" dirty="0"/>
              <a:t>("sales"))</a:t>
            </a:r>
          </a:p>
          <a:p>
            <a:pPr algn="just"/>
            <a:r>
              <a:rPr lang="en-IN" dirty="0"/>
              <a:t>	  return new </a:t>
            </a:r>
            <a:r>
              <a:rPr lang="en-IN" dirty="0" err="1"/>
              <a:t>SalesEmpPayroll</a:t>
            </a:r>
            <a:r>
              <a:rPr lang="en-IN" dirty="0"/>
              <a:t>();</a:t>
            </a:r>
          </a:p>
          <a:p>
            <a:pPr algn="just"/>
            <a:r>
              <a:rPr lang="en-IN" dirty="0"/>
              <a:t>    else</a:t>
            </a:r>
          </a:p>
          <a:p>
            <a:pPr algn="just"/>
            <a:r>
              <a:rPr lang="en-IN" dirty="0"/>
              <a:t>	  return new </a:t>
            </a:r>
            <a:r>
              <a:rPr lang="en-IN" dirty="0" err="1"/>
              <a:t>ProdEmpPayroll</a:t>
            </a:r>
            <a:r>
              <a:rPr lang="en-IN" dirty="0"/>
              <a:t>();</a:t>
            </a:r>
          </a:p>
          <a:p>
            <a:pPr algn="just"/>
            <a:r>
              <a:rPr lang="en-IN" dirty="0"/>
              <a:t>  }</a:t>
            </a:r>
          </a:p>
          <a:p>
            <a:pPr algn="just"/>
            <a:r>
              <a:rPr lang="en-IN" dirty="0"/>
              <a:t>}</a:t>
            </a:r>
          </a:p>
        </p:txBody>
      </p:sp>
      <p:sp>
        <p:nvSpPr>
          <p:cNvPr id="27" name="TextBox 26">
            <a:extLst>
              <a:ext uri="{FF2B5EF4-FFF2-40B4-BE49-F238E27FC236}">
                <a16:creationId xmlns:a16="http://schemas.microsoft.com/office/drawing/2014/main" id="{E6038D8B-04DC-4AE2-A98B-E40C20279A8B}"/>
              </a:ext>
            </a:extLst>
          </p:cNvPr>
          <p:cNvSpPr txBox="1"/>
          <p:nvPr/>
        </p:nvSpPr>
        <p:spPr>
          <a:xfrm>
            <a:off x="6732105" y="1986590"/>
            <a:ext cx="5133939" cy="2031325"/>
          </a:xfrm>
          <a:prstGeom prst="rect">
            <a:avLst/>
          </a:prstGeom>
          <a:noFill/>
        </p:spPr>
        <p:txBody>
          <a:bodyPr wrap="square">
            <a:spAutoFit/>
          </a:bodyPr>
          <a:lstStyle/>
          <a:p>
            <a:pPr algn="just"/>
            <a:r>
              <a:rPr lang="en-IN" b="1" dirty="0"/>
              <a:t>// EPClient.java</a:t>
            </a:r>
          </a:p>
          <a:p>
            <a:pPr algn="just"/>
            <a:r>
              <a:rPr lang="en-IN" dirty="0"/>
              <a:t>public class </a:t>
            </a:r>
            <a:r>
              <a:rPr lang="en-IN" dirty="0" err="1"/>
              <a:t>EPClient</a:t>
            </a:r>
            <a:r>
              <a:rPr lang="en-IN" dirty="0"/>
              <a:t> {</a:t>
            </a:r>
          </a:p>
          <a:p>
            <a:pPr algn="just"/>
            <a:r>
              <a:rPr lang="en-IN" dirty="0"/>
              <a:t>  public static void main(String rags[]) {</a:t>
            </a:r>
          </a:p>
          <a:p>
            <a:pPr algn="just"/>
            <a:r>
              <a:rPr lang="en-IN" dirty="0"/>
              <a:t>     </a:t>
            </a:r>
            <a:r>
              <a:rPr lang="en-IN" dirty="0" err="1"/>
              <a:t>EmpPayroll</a:t>
            </a:r>
            <a:r>
              <a:rPr lang="en-IN" dirty="0"/>
              <a:t> ep=</a:t>
            </a:r>
            <a:r>
              <a:rPr lang="en-IN" dirty="0" err="1"/>
              <a:t>EPFactory.getEmpPayroll</a:t>
            </a:r>
            <a:r>
              <a:rPr lang="en-IN" dirty="0"/>
              <a:t>(rags[0]);</a:t>
            </a:r>
          </a:p>
          <a:p>
            <a:pPr algn="just"/>
            <a:r>
              <a:rPr lang="en-IN" dirty="0"/>
              <a:t>     </a:t>
            </a:r>
            <a:r>
              <a:rPr lang="en-IN" dirty="0" err="1"/>
              <a:t>ep.calSal</a:t>
            </a:r>
            <a:r>
              <a:rPr lang="en-IN" dirty="0"/>
              <a:t>();</a:t>
            </a:r>
          </a:p>
          <a:p>
            <a:pPr algn="just"/>
            <a:r>
              <a:rPr lang="en-IN" dirty="0"/>
              <a:t>  }</a:t>
            </a:r>
          </a:p>
          <a:p>
            <a:pPr algn="just"/>
            <a:r>
              <a:rPr lang="en-IN" dirty="0"/>
              <a:t>}</a:t>
            </a:r>
          </a:p>
        </p:txBody>
      </p:sp>
      <p:sp>
        <p:nvSpPr>
          <p:cNvPr id="28" name="TextBox 27">
            <a:extLst>
              <a:ext uri="{FF2B5EF4-FFF2-40B4-BE49-F238E27FC236}">
                <a16:creationId xmlns:a16="http://schemas.microsoft.com/office/drawing/2014/main" id="{E0A92809-E5A9-4199-8822-FDC34622506E}"/>
              </a:ext>
            </a:extLst>
          </p:cNvPr>
          <p:cNvSpPr txBox="1"/>
          <p:nvPr/>
        </p:nvSpPr>
        <p:spPr>
          <a:xfrm>
            <a:off x="4257375" y="4773130"/>
            <a:ext cx="5133939" cy="1754326"/>
          </a:xfrm>
          <a:prstGeom prst="rect">
            <a:avLst/>
          </a:prstGeom>
          <a:noFill/>
        </p:spPr>
        <p:txBody>
          <a:bodyPr wrap="square">
            <a:spAutoFit/>
          </a:bodyPr>
          <a:lstStyle/>
          <a:p>
            <a:pPr algn="just"/>
            <a:r>
              <a:rPr lang="en-IN" sz="1200" b="1" dirty="0"/>
              <a:t>Abstraction main benefit is to loosely couple client with the various types of of method implementations they want to invoke chosen @ runtime. </a:t>
            </a:r>
          </a:p>
          <a:p>
            <a:pPr algn="r"/>
            <a:r>
              <a:rPr lang="en-IN" sz="1200" b="1" dirty="0"/>
              <a:t>- Runtime binding / Runtime Polymorphism.</a:t>
            </a:r>
          </a:p>
          <a:p>
            <a:pPr algn="just"/>
            <a:endParaRPr lang="en-IN" sz="1200" b="1" dirty="0"/>
          </a:p>
          <a:p>
            <a:pPr algn="just"/>
            <a:r>
              <a:rPr lang="en-IN" sz="1200" b="1" dirty="0"/>
              <a:t>In the above client program the client holding </a:t>
            </a:r>
            <a:r>
              <a:rPr lang="en-IN" sz="1200" b="1" dirty="0" err="1"/>
              <a:t>EmpPayroll</a:t>
            </a:r>
            <a:r>
              <a:rPr lang="en-IN" sz="1200" b="1" dirty="0"/>
              <a:t> class ref can be assigned with any one of the object of sub class of </a:t>
            </a:r>
            <a:r>
              <a:rPr lang="en-IN" sz="1200" b="1" dirty="0" err="1"/>
              <a:t>EmpPayroll</a:t>
            </a:r>
            <a:r>
              <a:rPr lang="en-IN" sz="1200" b="1" dirty="0"/>
              <a:t> class at runtime. Based on the runtime argument passed into factory method </a:t>
            </a:r>
            <a:r>
              <a:rPr lang="en-IN" sz="1200" b="1" dirty="0" err="1"/>
              <a:t>getEmpPayroll</a:t>
            </a:r>
            <a:r>
              <a:rPr lang="en-IN" sz="1200" b="1" dirty="0"/>
              <a:t>() of </a:t>
            </a:r>
            <a:r>
              <a:rPr lang="en-IN" sz="1200" b="1" dirty="0" err="1"/>
              <a:t>EPFactory</a:t>
            </a:r>
            <a:r>
              <a:rPr lang="en-IN" sz="1200" b="1" dirty="0"/>
              <a:t> one of the </a:t>
            </a:r>
            <a:r>
              <a:rPr lang="en-IN" sz="1200" b="1" dirty="0" err="1"/>
              <a:t>EmpPayroll</a:t>
            </a:r>
            <a:r>
              <a:rPr lang="en-IN" sz="1200" b="1" dirty="0"/>
              <a:t> class object will be created and returned.</a:t>
            </a:r>
          </a:p>
        </p:txBody>
      </p:sp>
    </p:spTree>
    <p:extLst>
      <p:ext uri="{BB962C8B-B14F-4D97-AF65-F5344CB8AC3E}">
        <p14:creationId xmlns:p14="http://schemas.microsoft.com/office/powerpoint/2010/main" val="2792587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Method Syntax</a:t>
              </a:r>
              <a:endParaRPr lang="en-US" sz="10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6" name="TextBox 25">
            <a:extLst>
              <a:ext uri="{FF2B5EF4-FFF2-40B4-BE49-F238E27FC236}">
                <a16:creationId xmlns:a16="http://schemas.microsoft.com/office/drawing/2014/main" id="{2E7454C1-8132-4E84-BABF-967834363009}"/>
              </a:ext>
            </a:extLst>
          </p:cNvPr>
          <p:cNvSpPr txBox="1"/>
          <p:nvPr/>
        </p:nvSpPr>
        <p:spPr>
          <a:xfrm>
            <a:off x="571500" y="798447"/>
            <a:ext cx="8628821" cy="2739211"/>
          </a:xfrm>
          <a:prstGeom prst="rect">
            <a:avLst/>
          </a:prstGeom>
          <a:noFill/>
        </p:spPr>
        <p:txBody>
          <a:bodyPr wrap="square">
            <a:spAutoFit/>
          </a:bodyPr>
          <a:lstStyle/>
          <a:p>
            <a:pPr algn="just"/>
            <a:r>
              <a:rPr lang="en-US" sz="2800" u="sng" dirty="0">
                <a:solidFill>
                  <a:srgbClr val="FF0000"/>
                </a:solidFill>
              </a:rPr>
              <a:t>Example on final method:</a:t>
            </a:r>
          </a:p>
          <a:p>
            <a:pPr marL="285750" indent="-285750" algn="just">
              <a:buFont typeface="Arial" panose="020B0604020202020204" pitchFamily="34" charset="0"/>
              <a:buChar char="•"/>
            </a:pPr>
            <a:r>
              <a:rPr lang="en-IN" sz="2400" dirty="0"/>
              <a:t>final methods cannot be overridden in sub class</a:t>
            </a:r>
          </a:p>
          <a:p>
            <a:pPr marL="285750" indent="-285750" algn="just">
              <a:buFont typeface="Arial" panose="020B0604020202020204" pitchFamily="34" charset="0"/>
              <a:buChar char="•"/>
            </a:pPr>
            <a:r>
              <a:rPr lang="en-IN" sz="2400" dirty="0"/>
              <a:t>final methods can be only accessed in instantiated class</a:t>
            </a:r>
          </a:p>
          <a:p>
            <a:pPr marL="285750" indent="-285750" algn="just">
              <a:buFont typeface="Arial" panose="020B0604020202020204" pitchFamily="34" charset="0"/>
              <a:buChar char="•"/>
            </a:pPr>
            <a:endParaRPr lang="en-IN" sz="2400" dirty="0"/>
          </a:p>
          <a:p>
            <a:pPr marL="285750" indent="-285750" algn="just">
              <a:buFont typeface="Arial" panose="020B0604020202020204" pitchFamily="34" charset="0"/>
              <a:buChar char="•"/>
            </a:pPr>
            <a:r>
              <a:rPr lang="en-IN" sz="2400" dirty="0"/>
              <a:t>class which feels like its method implementation is final and don’t want to be changed in subclass such methods are declared as final in class.</a:t>
            </a:r>
          </a:p>
        </p:txBody>
      </p:sp>
      <p:sp>
        <p:nvSpPr>
          <p:cNvPr id="29" name="TextBox 28">
            <a:extLst>
              <a:ext uri="{FF2B5EF4-FFF2-40B4-BE49-F238E27FC236}">
                <a16:creationId xmlns:a16="http://schemas.microsoft.com/office/drawing/2014/main" id="{25E7B665-D053-4722-90F5-E7FCB95DB71D}"/>
              </a:ext>
            </a:extLst>
          </p:cNvPr>
          <p:cNvSpPr txBox="1"/>
          <p:nvPr/>
        </p:nvSpPr>
        <p:spPr>
          <a:xfrm>
            <a:off x="755374" y="4048625"/>
            <a:ext cx="3326296" cy="1477328"/>
          </a:xfrm>
          <a:prstGeom prst="rect">
            <a:avLst/>
          </a:prstGeom>
          <a:noFill/>
        </p:spPr>
        <p:txBody>
          <a:bodyPr wrap="square" rtlCol="0">
            <a:spAutoFit/>
          </a:bodyPr>
          <a:lstStyle/>
          <a:p>
            <a:r>
              <a:rPr lang="en-US" dirty="0"/>
              <a:t>class </a:t>
            </a:r>
            <a:r>
              <a:rPr lang="en-US" dirty="0" err="1"/>
              <a:t>FinalMethodClass</a:t>
            </a:r>
            <a:r>
              <a:rPr lang="en-US" dirty="0"/>
              <a:t> {</a:t>
            </a:r>
          </a:p>
          <a:p>
            <a:r>
              <a:rPr lang="en-US" dirty="0"/>
              <a:t>	void method1() {}</a:t>
            </a:r>
          </a:p>
          <a:p>
            <a:r>
              <a:rPr lang="en-US" dirty="0"/>
              <a:t>	void method2() {}</a:t>
            </a:r>
          </a:p>
          <a:p>
            <a:r>
              <a:rPr lang="en-US" dirty="0"/>
              <a:t>	final void method3() {}</a:t>
            </a:r>
          </a:p>
          <a:p>
            <a:r>
              <a:rPr lang="en-US" dirty="0"/>
              <a:t>}</a:t>
            </a:r>
            <a:endParaRPr lang="en-IN" dirty="0"/>
          </a:p>
        </p:txBody>
      </p:sp>
      <p:sp>
        <p:nvSpPr>
          <p:cNvPr id="30" name="TextBox 29">
            <a:extLst>
              <a:ext uri="{FF2B5EF4-FFF2-40B4-BE49-F238E27FC236}">
                <a16:creationId xmlns:a16="http://schemas.microsoft.com/office/drawing/2014/main" id="{610065C2-56B8-4E9C-B2D5-86D5C84CA8D6}"/>
              </a:ext>
            </a:extLst>
          </p:cNvPr>
          <p:cNvSpPr txBox="1"/>
          <p:nvPr/>
        </p:nvSpPr>
        <p:spPr>
          <a:xfrm>
            <a:off x="4424568" y="3537744"/>
            <a:ext cx="4959626" cy="2585323"/>
          </a:xfrm>
          <a:prstGeom prst="rect">
            <a:avLst/>
          </a:prstGeom>
          <a:noFill/>
        </p:spPr>
        <p:txBody>
          <a:bodyPr wrap="square" rtlCol="0">
            <a:spAutoFit/>
          </a:bodyPr>
          <a:lstStyle/>
          <a:p>
            <a:r>
              <a:rPr lang="en-US" dirty="0"/>
              <a:t>class </a:t>
            </a:r>
            <a:r>
              <a:rPr lang="en-US" dirty="0" err="1"/>
              <a:t>FinalMethodSubClass</a:t>
            </a:r>
            <a:r>
              <a:rPr lang="en-US" dirty="0"/>
              <a:t> extends </a:t>
            </a:r>
            <a:r>
              <a:rPr lang="en-US" dirty="0" err="1"/>
              <a:t>FinalMethodClass</a:t>
            </a:r>
            <a:r>
              <a:rPr lang="en-US" dirty="0"/>
              <a:t> {</a:t>
            </a:r>
          </a:p>
          <a:p>
            <a:r>
              <a:rPr lang="en-US" dirty="0"/>
              <a:t>	</a:t>
            </a:r>
            <a:r>
              <a:rPr lang="en-US" sz="1600" dirty="0"/>
              <a:t>// m1() and m2() methods can be </a:t>
            </a:r>
            <a:r>
              <a:rPr lang="en-US" sz="1600" dirty="0" err="1"/>
              <a:t>overriden</a:t>
            </a:r>
            <a:endParaRPr lang="en-US" dirty="0"/>
          </a:p>
          <a:p>
            <a:r>
              <a:rPr lang="en-US" dirty="0"/>
              <a:t>	void method1() {}</a:t>
            </a:r>
          </a:p>
          <a:p>
            <a:r>
              <a:rPr lang="en-US" dirty="0"/>
              <a:t>	void method2() {}</a:t>
            </a:r>
          </a:p>
          <a:p>
            <a:endParaRPr lang="en-US" dirty="0"/>
          </a:p>
          <a:p>
            <a:r>
              <a:rPr lang="en-US" dirty="0"/>
              <a:t>	</a:t>
            </a:r>
            <a:r>
              <a:rPr lang="en-US" sz="1400" dirty="0">
                <a:solidFill>
                  <a:srgbClr val="FF0000"/>
                </a:solidFill>
              </a:rPr>
              <a:t>// final method cannot be overridden; error comes</a:t>
            </a:r>
            <a:endParaRPr lang="en-US" dirty="0">
              <a:solidFill>
                <a:srgbClr val="FF0000"/>
              </a:solidFill>
            </a:endParaRPr>
          </a:p>
          <a:p>
            <a:r>
              <a:rPr lang="en-US" dirty="0">
                <a:solidFill>
                  <a:srgbClr val="FF0000"/>
                </a:solidFill>
              </a:rPr>
              <a:t>	</a:t>
            </a:r>
            <a:r>
              <a:rPr lang="en-US" dirty="0">
                <a:solidFill>
                  <a:srgbClr val="003F66"/>
                </a:solidFill>
              </a:rPr>
              <a:t>final void method3() {}</a:t>
            </a:r>
          </a:p>
          <a:p>
            <a:r>
              <a:rPr lang="en-US" dirty="0"/>
              <a:t>}</a:t>
            </a:r>
            <a:endParaRPr lang="en-IN" dirty="0"/>
          </a:p>
        </p:txBody>
      </p:sp>
      <p:grpSp>
        <p:nvGrpSpPr>
          <p:cNvPr id="31" name="Group 30">
            <a:extLst>
              <a:ext uri="{FF2B5EF4-FFF2-40B4-BE49-F238E27FC236}">
                <a16:creationId xmlns:a16="http://schemas.microsoft.com/office/drawing/2014/main" id="{C54FA835-B110-48D0-88E1-8E44249968C0}"/>
              </a:ext>
            </a:extLst>
          </p:cNvPr>
          <p:cNvGrpSpPr/>
          <p:nvPr/>
        </p:nvGrpSpPr>
        <p:grpSpPr>
          <a:xfrm>
            <a:off x="6273243" y="5466526"/>
            <a:ext cx="260080" cy="324676"/>
            <a:chOff x="6273243" y="5466526"/>
            <a:chExt cx="260080" cy="324676"/>
          </a:xfrm>
        </p:grpSpPr>
        <p:cxnSp>
          <p:nvCxnSpPr>
            <p:cNvPr id="32" name="Straight Connector 31">
              <a:extLst>
                <a:ext uri="{FF2B5EF4-FFF2-40B4-BE49-F238E27FC236}">
                  <a16:creationId xmlns:a16="http://schemas.microsoft.com/office/drawing/2014/main" id="{E253051F-5FAB-4176-ADE8-DC6D90154432}"/>
                </a:ext>
              </a:extLst>
            </p:cNvPr>
            <p:cNvCxnSpPr/>
            <p:nvPr/>
          </p:nvCxnSpPr>
          <p:spPr>
            <a:xfrm>
              <a:off x="6273248" y="5512906"/>
              <a:ext cx="260075" cy="278296"/>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33" name="Straight Connector 32">
              <a:extLst>
                <a:ext uri="{FF2B5EF4-FFF2-40B4-BE49-F238E27FC236}">
                  <a16:creationId xmlns:a16="http://schemas.microsoft.com/office/drawing/2014/main" id="{C1F7B2EE-B366-4AE5-BEC2-06739FEA70AC}"/>
                </a:ext>
              </a:extLst>
            </p:cNvPr>
            <p:cNvCxnSpPr>
              <a:cxnSpLocks/>
            </p:cNvCxnSpPr>
            <p:nvPr/>
          </p:nvCxnSpPr>
          <p:spPr>
            <a:xfrm flipH="1">
              <a:off x="6273243" y="5466526"/>
              <a:ext cx="152405" cy="324676"/>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27325311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Method Syntax</a:t>
              </a:r>
              <a:endParaRPr lang="en-US" sz="10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5" name="TextBox 24">
            <a:extLst>
              <a:ext uri="{FF2B5EF4-FFF2-40B4-BE49-F238E27FC236}">
                <a16:creationId xmlns:a16="http://schemas.microsoft.com/office/drawing/2014/main" id="{F761CD1D-C0A9-4E73-A39F-B4D7A9E89544}"/>
              </a:ext>
            </a:extLst>
          </p:cNvPr>
          <p:cNvSpPr txBox="1"/>
          <p:nvPr/>
        </p:nvSpPr>
        <p:spPr>
          <a:xfrm>
            <a:off x="584752" y="1076742"/>
            <a:ext cx="8954283" cy="3108543"/>
          </a:xfrm>
          <a:prstGeom prst="rect">
            <a:avLst/>
          </a:prstGeom>
          <a:noFill/>
        </p:spPr>
        <p:txBody>
          <a:bodyPr wrap="square">
            <a:spAutoFit/>
          </a:bodyPr>
          <a:lstStyle/>
          <a:p>
            <a:pPr algn="just"/>
            <a:r>
              <a:rPr lang="en-US" sz="2800" u="sng" dirty="0">
                <a:solidFill>
                  <a:srgbClr val="FF0000"/>
                </a:solidFill>
              </a:rPr>
              <a:t>Example on final method:</a:t>
            </a:r>
          </a:p>
          <a:p>
            <a:pPr marL="285750" indent="-285750" algn="just">
              <a:buFont typeface="Arial" panose="020B0604020202020204" pitchFamily="34" charset="0"/>
              <a:buChar char="•"/>
            </a:pPr>
            <a:r>
              <a:rPr lang="en-IN" sz="2400" dirty="0"/>
              <a:t>If all methods of class want to be declared as final, instead of declaring all methods as final, declare class itself as final.</a:t>
            </a:r>
          </a:p>
          <a:p>
            <a:pPr marL="285750" indent="-285750" algn="just">
              <a:buFont typeface="Arial" panose="020B0604020202020204" pitchFamily="34" charset="0"/>
              <a:buChar char="•"/>
            </a:pPr>
            <a:endParaRPr lang="en-IN" sz="2400" dirty="0"/>
          </a:p>
          <a:p>
            <a:pPr marL="285750" indent="-285750" algn="just">
              <a:buFont typeface="Arial" panose="020B0604020202020204" pitchFamily="34" charset="0"/>
              <a:buChar char="•"/>
            </a:pPr>
            <a:r>
              <a:rPr lang="en-IN" sz="2400" dirty="0"/>
              <a:t>final class cannot be derived/subclassed. When there is no inheritance there is no concept of overriding method. </a:t>
            </a:r>
          </a:p>
          <a:p>
            <a:pPr marL="285750" indent="-285750" algn="just">
              <a:buFont typeface="Arial" panose="020B0604020202020204" pitchFamily="34" charset="0"/>
              <a:buChar char="•"/>
            </a:pPr>
            <a:endParaRPr lang="en-IN" sz="2400" dirty="0"/>
          </a:p>
          <a:p>
            <a:pPr marL="285750" indent="-285750" algn="just">
              <a:buFont typeface="Arial" panose="020B0604020202020204" pitchFamily="34" charset="0"/>
              <a:buChar char="•"/>
            </a:pPr>
            <a:r>
              <a:rPr lang="en-IN" sz="2400" dirty="0"/>
              <a:t>Hence indirectly all methods are remain unmodifiable/overridden.</a:t>
            </a:r>
          </a:p>
        </p:txBody>
      </p:sp>
    </p:spTree>
    <p:extLst>
      <p:ext uri="{BB962C8B-B14F-4D97-AF65-F5344CB8AC3E}">
        <p14:creationId xmlns:p14="http://schemas.microsoft.com/office/powerpoint/2010/main" val="3035318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Method Syntax</a:t>
              </a:r>
              <a:endParaRPr lang="en-US" sz="10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6" name="TextBox 25">
            <a:extLst>
              <a:ext uri="{FF2B5EF4-FFF2-40B4-BE49-F238E27FC236}">
                <a16:creationId xmlns:a16="http://schemas.microsoft.com/office/drawing/2014/main" id="{757305A5-EAF8-4B5D-B28D-2D2A6F794B78}"/>
              </a:ext>
            </a:extLst>
          </p:cNvPr>
          <p:cNvSpPr txBox="1"/>
          <p:nvPr/>
        </p:nvSpPr>
        <p:spPr>
          <a:xfrm>
            <a:off x="571500" y="798447"/>
            <a:ext cx="8628821" cy="523220"/>
          </a:xfrm>
          <a:prstGeom prst="rect">
            <a:avLst/>
          </a:prstGeom>
          <a:noFill/>
        </p:spPr>
        <p:txBody>
          <a:bodyPr wrap="square">
            <a:spAutoFit/>
          </a:bodyPr>
          <a:lstStyle/>
          <a:p>
            <a:pPr algn="just"/>
            <a:r>
              <a:rPr lang="en-US" sz="2800" u="sng" dirty="0">
                <a:solidFill>
                  <a:srgbClr val="FF0000"/>
                </a:solidFill>
              </a:rPr>
              <a:t>Example on final class:</a:t>
            </a:r>
          </a:p>
        </p:txBody>
      </p:sp>
      <p:sp>
        <p:nvSpPr>
          <p:cNvPr id="27" name="TextBox 26">
            <a:extLst>
              <a:ext uri="{FF2B5EF4-FFF2-40B4-BE49-F238E27FC236}">
                <a16:creationId xmlns:a16="http://schemas.microsoft.com/office/drawing/2014/main" id="{1292A73C-1ED6-4C89-B63D-6F027FD7A789}"/>
              </a:ext>
            </a:extLst>
          </p:cNvPr>
          <p:cNvSpPr txBox="1"/>
          <p:nvPr/>
        </p:nvSpPr>
        <p:spPr>
          <a:xfrm>
            <a:off x="672548" y="1471424"/>
            <a:ext cx="3329609" cy="1477328"/>
          </a:xfrm>
          <a:prstGeom prst="rect">
            <a:avLst/>
          </a:prstGeom>
          <a:noFill/>
        </p:spPr>
        <p:txBody>
          <a:bodyPr wrap="square">
            <a:spAutoFit/>
          </a:bodyPr>
          <a:lstStyle/>
          <a:p>
            <a:pPr algn="just"/>
            <a:r>
              <a:rPr lang="en-IN" sz="1800" dirty="0"/>
              <a:t>class </a:t>
            </a:r>
            <a:r>
              <a:rPr lang="en-IN" sz="1800" dirty="0" err="1"/>
              <a:t>FinalMethodsClass</a:t>
            </a:r>
            <a:r>
              <a:rPr lang="en-IN" sz="1800" dirty="0"/>
              <a:t> {</a:t>
            </a:r>
          </a:p>
          <a:p>
            <a:pPr algn="just"/>
            <a:r>
              <a:rPr lang="en-IN" sz="1800" dirty="0"/>
              <a:t>	final void method1() {}</a:t>
            </a:r>
          </a:p>
          <a:p>
            <a:pPr algn="just"/>
            <a:r>
              <a:rPr lang="en-IN" sz="1800" dirty="0"/>
              <a:t>	final void method2() {}</a:t>
            </a:r>
          </a:p>
          <a:p>
            <a:pPr algn="just"/>
            <a:r>
              <a:rPr lang="en-IN" sz="1800" dirty="0"/>
              <a:t>	final void method3() {}</a:t>
            </a:r>
          </a:p>
          <a:p>
            <a:pPr algn="just"/>
            <a:r>
              <a:rPr lang="en-IN" sz="1800" dirty="0"/>
              <a:t>}</a:t>
            </a:r>
          </a:p>
        </p:txBody>
      </p:sp>
      <p:sp>
        <p:nvSpPr>
          <p:cNvPr id="28" name="TextBox 27">
            <a:extLst>
              <a:ext uri="{FF2B5EF4-FFF2-40B4-BE49-F238E27FC236}">
                <a16:creationId xmlns:a16="http://schemas.microsoft.com/office/drawing/2014/main" id="{9E808E8A-BB19-4353-9C8F-AA8347F0668A}"/>
              </a:ext>
            </a:extLst>
          </p:cNvPr>
          <p:cNvSpPr txBox="1"/>
          <p:nvPr/>
        </p:nvSpPr>
        <p:spPr>
          <a:xfrm>
            <a:off x="4664765" y="2146852"/>
            <a:ext cx="882999" cy="369332"/>
          </a:xfrm>
          <a:prstGeom prst="rect">
            <a:avLst/>
          </a:prstGeom>
          <a:noFill/>
        </p:spPr>
        <p:txBody>
          <a:bodyPr wrap="none" rtlCol="0">
            <a:spAutoFit/>
          </a:bodyPr>
          <a:lstStyle/>
          <a:p>
            <a:r>
              <a:rPr lang="en-US" b="1" dirty="0"/>
              <a:t>instead</a:t>
            </a:r>
            <a:endParaRPr lang="en-IN" b="1" dirty="0"/>
          </a:p>
        </p:txBody>
      </p:sp>
      <p:sp>
        <p:nvSpPr>
          <p:cNvPr id="29" name="TextBox 28">
            <a:extLst>
              <a:ext uri="{FF2B5EF4-FFF2-40B4-BE49-F238E27FC236}">
                <a16:creationId xmlns:a16="http://schemas.microsoft.com/office/drawing/2014/main" id="{90FE3D36-9B99-4B47-ACAE-8B3F236576E7}"/>
              </a:ext>
            </a:extLst>
          </p:cNvPr>
          <p:cNvSpPr txBox="1"/>
          <p:nvPr/>
        </p:nvSpPr>
        <p:spPr>
          <a:xfrm>
            <a:off x="5968707" y="1636669"/>
            <a:ext cx="3329609" cy="1477328"/>
          </a:xfrm>
          <a:prstGeom prst="rect">
            <a:avLst/>
          </a:prstGeom>
          <a:noFill/>
        </p:spPr>
        <p:txBody>
          <a:bodyPr wrap="square">
            <a:spAutoFit/>
          </a:bodyPr>
          <a:lstStyle/>
          <a:p>
            <a:pPr algn="just"/>
            <a:r>
              <a:rPr lang="en-IN" sz="1800" dirty="0"/>
              <a:t>final class </a:t>
            </a:r>
            <a:r>
              <a:rPr lang="en-IN" sz="1800" dirty="0" err="1"/>
              <a:t>FinalClass</a:t>
            </a:r>
            <a:r>
              <a:rPr lang="en-IN" sz="1800" dirty="0"/>
              <a:t> {</a:t>
            </a:r>
          </a:p>
          <a:p>
            <a:pPr algn="just"/>
            <a:r>
              <a:rPr lang="en-IN" sz="1800" dirty="0"/>
              <a:t>	void method1() {}</a:t>
            </a:r>
          </a:p>
          <a:p>
            <a:pPr algn="just"/>
            <a:r>
              <a:rPr lang="en-IN" sz="1800" dirty="0"/>
              <a:t>	void method2() {}</a:t>
            </a:r>
          </a:p>
          <a:p>
            <a:pPr algn="just"/>
            <a:r>
              <a:rPr lang="en-IN" sz="1800" dirty="0"/>
              <a:t>	void method3() {}</a:t>
            </a:r>
          </a:p>
          <a:p>
            <a:pPr algn="just"/>
            <a:r>
              <a:rPr lang="en-IN" sz="1800" dirty="0"/>
              <a:t>}</a:t>
            </a:r>
          </a:p>
        </p:txBody>
      </p:sp>
      <p:sp>
        <p:nvSpPr>
          <p:cNvPr id="30" name="TextBox 29">
            <a:extLst>
              <a:ext uri="{FF2B5EF4-FFF2-40B4-BE49-F238E27FC236}">
                <a16:creationId xmlns:a16="http://schemas.microsoft.com/office/drawing/2014/main" id="{CABAAEB9-774A-429A-BDFA-3B3065782968}"/>
              </a:ext>
            </a:extLst>
          </p:cNvPr>
          <p:cNvSpPr txBox="1"/>
          <p:nvPr/>
        </p:nvSpPr>
        <p:spPr>
          <a:xfrm>
            <a:off x="4885910" y="3388310"/>
            <a:ext cx="3329609" cy="1200329"/>
          </a:xfrm>
          <a:prstGeom prst="rect">
            <a:avLst/>
          </a:prstGeom>
          <a:noFill/>
        </p:spPr>
        <p:txBody>
          <a:bodyPr wrap="square">
            <a:spAutoFit/>
          </a:bodyPr>
          <a:lstStyle/>
          <a:p>
            <a:pPr algn="just"/>
            <a:r>
              <a:rPr lang="en-IN" sz="1800" dirty="0"/>
              <a:t>final class </a:t>
            </a:r>
            <a:r>
              <a:rPr lang="en-IN" sz="1800" dirty="0" err="1"/>
              <a:t>FinalClassSubClass</a:t>
            </a:r>
            <a:r>
              <a:rPr lang="en-IN" sz="1800" dirty="0"/>
              <a:t> extends </a:t>
            </a:r>
            <a:r>
              <a:rPr lang="en-IN" sz="1800" dirty="0" err="1"/>
              <a:t>FinalClass</a:t>
            </a:r>
            <a:r>
              <a:rPr lang="en-IN" sz="1800" dirty="0"/>
              <a:t> {</a:t>
            </a:r>
          </a:p>
          <a:p>
            <a:pPr algn="just"/>
            <a:r>
              <a:rPr lang="en-IN" dirty="0"/>
              <a:t>	</a:t>
            </a:r>
            <a:endParaRPr lang="en-IN" sz="1800" dirty="0"/>
          </a:p>
          <a:p>
            <a:pPr algn="just"/>
            <a:r>
              <a:rPr lang="en-IN" sz="1800" dirty="0"/>
              <a:t>}</a:t>
            </a:r>
          </a:p>
        </p:txBody>
      </p:sp>
      <p:grpSp>
        <p:nvGrpSpPr>
          <p:cNvPr id="31" name="Group 30">
            <a:extLst>
              <a:ext uri="{FF2B5EF4-FFF2-40B4-BE49-F238E27FC236}">
                <a16:creationId xmlns:a16="http://schemas.microsoft.com/office/drawing/2014/main" id="{D972B437-0396-4E4F-8E2E-6A9FE5365107}"/>
              </a:ext>
            </a:extLst>
          </p:cNvPr>
          <p:cNvGrpSpPr/>
          <p:nvPr/>
        </p:nvGrpSpPr>
        <p:grpSpPr>
          <a:xfrm>
            <a:off x="6115400" y="3731789"/>
            <a:ext cx="397565" cy="478094"/>
            <a:chOff x="6115400" y="3731789"/>
            <a:chExt cx="397565" cy="478094"/>
          </a:xfrm>
        </p:grpSpPr>
        <p:cxnSp>
          <p:nvCxnSpPr>
            <p:cNvPr id="32" name="Straight Connector 31">
              <a:extLst>
                <a:ext uri="{FF2B5EF4-FFF2-40B4-BE49-F238E27FC236}">
                  <a16:creationId xmlns:a16="http://schemas.microsoft.com/office/drawing/2014/main" id="{F770E0FB-F5CC-410D-A126-BCDAAF2CA5BB}"/>
                </a:ext>
              </a:extLst>
            </p:cNvPr>
            <p:cNvCxnSpPr>
              <a:cxnSpLocks/>
            </p:cNvCxnSpPr>
            <p:nvPr/>
          </p:nvCxnSpPr>
          <p:spPr>
            <a:xfrm>
              <a:off x="6115400" y="3731789"/>
              <a:ext cx="397565" cy="47809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CE91164F-AA9D-4731-A40B-4E30FAAA215F}"/>
                </a:ext>
              </a:extLst>
            </p:cNvPr>
            <p:cNvCxnSpPr>
              <a:cxnSpLocks/>
            </p:cNvCxnSpPr>
            <p:nvPr/>
          </p:nvCxnSpPr>
          <p:spPr>
            <a:xfrm flipH="1">
              <a:off x="6115400" y="3731789"/>
              <a:ext cx="397565" cy="40865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4" name="TextBox 33">
            <a:extLst>
              <a:ext uri="{FF2B5EF4-FFF2-40B4-BE49-F238E27FC236}">
                <a16:creationId xmlns:a16="http://schemas.microsoft.com/office/drawing/2014/main" id="{EB3BAF01-D854-4540-BB04-2F86AE3B18B6}"/>
              </a:ext>
            </a:extLst>
          </p:cNvPr>
          <p:cNvSpPr txBox="1"/>
          <p:nvPr/>
        </p:nvSpPr>
        <p:spPr>
          <a:xfrm>
            <a:off x="679176" y="3253841"/>
            <a:ext cx="3329609" cy="1754326"/>
          </a:xfrm>
          <a:prstGeom prst="rect">
            <a:avLst/>
          </a:prstGeom>
          <a:noFill/>
        </p:spPr>
        <p:txBody>
          <a:bodyPr wrap="square">
            <a:spAutoFit/>
          </a:bodyPr>
          <a:lstStyle/>
          <a:p>
            <a:pPr algn="just"/>
            <a:r>
              <a:rPr lang="en-IN" sz="1800" dirty="0"/>
              <a:t>class </a:t>
            </a:r>
            <a:r>
              <a:rPr lang="en-IN" sz="1800" dirty="0" err="1"/>
              <a:t>FinalMethodsClassSubClass</a:t>
            </a:r>
            <a:r>
              <a:rPr lang="en-IN" sz="1800" dirty="0"/>
              <a:t> extends </a:t>
            </a:r>
            <a:r>
              <a:rPr lang="en-IN" sz="1800" dirty="0" err="1"/>
              <a:t>FinalMethodClass</a:t>
            </a:r>
            <a:r>
              <a:rPr lang="en-IN" sz="1800" dirty="0"/>
              <a:t> {</a:t>
            </a:r>
          </a:p>
          <a:p>
            <a:pPr algn="just"/>
            <a:r>
              <a:rPr lang="en-IN" sz="1800" dirty="0"/>
              <a:t>	void method1() {}</a:t>
            </a:r>
          </a:p>
          <a:p>
            <a:pPr algn="just"/>
            <a:r>
              <a:rPr lang="en-IN" sz="1800" dirty="0"/>
              <a:t>	void method2() {}</a:t>
            </a:r>
          </a:p>
          <a:p>
            <a:pPr algn="just"/>
            <a:r>
              <a:rPr lang="en-IN" sz="1800" dirty="0"/>
              <a:t>	void method3() {}</a:t>
            </a:r>
          </a:p>
          <a:p>
            <a:pPr algn="just"/>
            <a:r>
              <a:rPr lang="en-IN" sz="1800" dirty="0"/>
              <a:t>}</a:t>
            </a:r>
          </a:p>
        </p:txBody>
      </p:sp>
      <p:grpSp>
        <p:nvGrpSpPr>
          <p:cNvPr id="35" name="Group 34">
            <a:extLst>
              <a:ext uri="{FF2B5EF4-FFF2-40B4-BE49-F238E27FC236}">
                <a16:creationId xmlns:a16="http://schemas.microsoft.com/office/drawing/2014/main" id="{AB09648E-292B-4E13-AC01-93FBE3E560F6}"/>
              </a:ext>
            </a:extLst>
          </p:cNvPr>
          <p:cNvGrpSpPr/>
          <p:nvPr/>
        </p:nvGrpSpPr>
        <p:grpSpPr>
          <a:xfrm>
            <a:off x="1905001" y="3918076"/>
            <a:ext cx="556370" cy="691591"/>
            <a:chOff x="1905001" y="3918076"/>
            <a:chExt cx="556370" cy="691591"/>
          </a:xfrm>
        </p:grpSpPr>
        <p:cxnSp>
          <p:nvCxnSpPr>
            <p:cNvPr id="36" name="Straight Connector 35">
              <a:extLst>
                <a:ext uri="{FF2B5EF4-FFF2-40B4-BE49-F238E27FC236}">
                  <a16:creationId xmlns:a16="http://schemas.microsoft.com/office/drawing/2014/main" id="{16EEECFE-6AD0-4AAB-A214-44EC48DFEE8F}"/>
                </a:ext>
              </a:extLst>
            </p:cNvPr>
            <p:cNvCxnSpPr>
              <a:cxnSpLocks/>
            </p:cNvCxnSpPr>
            <p:nvPr/>
          </p:nvCxnSpPr>
          <p:spPr>
            <a:xfrm>
              <a:off x="1905001" y="3918076"/>
              <a:ext cx="556370" cy="69159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D163B72-7232-4D40-8E33-1B5D263E092F}"/>
                </a:ext>
              </a:extLst>
            </p:cNvPr>
            <p:cNvCxnSpPr>
              <a:cxnSpLocks/>
            </p:cNvCxnSpPr>
            <p:nvPr/>
          </p:nvCxnSpPr>
          <p:spPr>
            <a:xfrm flipH="1">
              <a:off x="1922280" y="4004710"/>
              <a:ext cx="410901" cy="58392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8" name="TextBox 37">
            <a:extLst>
              <a:ext uri="{FF2B5EF4-FFF2-40B4-BE49-F238E27FC236}">
                <a16:creationId xmlns:a16="http://schemas.microsoft.com/office/drawing/2014/main" id="{388D9392-0FB1-48DF-9AEF-08EAB022E745}"/>
              </a:ext>
            </a:extLst>
          </p:cNvPr>
          <p:cNvSpPr txBox="1"/>
          <p:nvPr/>
        </p:nvSpPr>
        <p:spPr>
          <a:xfrm>
            <a:off x="4002158" y="5155096"/>
            <a:ext cx="4181056" cy="646331"/>
          </a:xfrm>
          <a:prstGeom prst="rect">
            <a:avLst/>
          </a:prstGeom>
          <a:noFill/>
        </p:spPr>
        <p:txBody>
          <a:bodyPr wrap="square" rtlCol="0">
            <a:spAutoFit/>
          </a:bodyPr>
          <a:lstStyle/>
          <a:p>
            <a:pPr algn="just"/>
            <a:r>
              <a:rPr lang="en-US" dirty="0"/>
              <a:t>When there is no inheritance there is no method overriding.</a:t>
            </a:r>
            <a:endParaRPr lang="en-IN" dirty="0"/>
          </a:p>
        </p:txBody>
      </p:sp>
    </p:spTree>
    <p:extLst>
      <p:ext uri="{BB962C8B-B14F-4D97-AF65-F5344CB8AC3E}">
        <p14:creationId xmlns:p14="http://schemas.microsoft.com/office/powerpoint/2010/main" val="12938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Method Syntax</a:t>
              </a:r>
              <a:endParaRPr lang="en-US" sz="10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39" name="TextBox 38">
            <a:extLst>
              <a:ext uri="{FF2B5EF4-FFF2-40B4-BE49-F238E27FC236}">
                <a16:creationId xmlns:a16="http://schemas.microsoft.com/office/drawing/2014/main" id="{6EC4D858-4245-4736-9F10-F2AEB31DD18F}"/>
              </a:ext>
            </a:extLst>
          </p:cNvPr>
          <p:cNvSpPr txBox="1"/>
          <p:nvPr/>
        </p:nvSpPr>
        <p:spPr>
          <a:xfrm>
            <a:off x="571500" y="798447"/>
            <a:ext cx="8628821" cy="523220"/>
          </a:xfrm>
          <a:prstGeom prst="rect">
            <a:avLst/>
          </a:prstGeom>
          <a:noFill/>
        </p:spPr>
        <p:txBody>
          <a:bodyPr wrap="square">
            <a:spAutoFit/>
          </a:bodyPr>
          <a:lstStyle/>
          <a:p>
            <a:pPr algn="just"/>
            <a:r>
              <a:rPr lang="en-US" sz="2800" u="sng" dirty="0">
                <a:solidFill>
                  <a:srgbClr val="FF0000"/>
                </a:solidFill>
              </a:rPr>
              <a:t>About final method:</a:t>
            </a:r>
          </a:p>
        </p:txBody>
      </p:sp>
      <p:sp>
        <p:nvSpPr>
          <p:cNvPr id="40" name="TextBox 39">
            <a:extLst>
              <a:ext uri="{FF2B5EF4-FFF2-40B4-BE49-F238E27FC236}">
                <a16:creationId xmlns:a16="http://schemas.microsoft.com/office/drawing/2014/main" id="{62DA2737-4F87-431B-BB8B-6198B5752E17}"/>
              </a:ext>
            </a:extLst>
          </p:cNvPr>
          <p:cNvSpPr txBox="1"/>
          <p:nvPr/>
        </p:nvSpPr>
        <p:spPr>
          <a:xfrm>
            <a:off x="571500" y="1408656"/>
            <a:ext cx="8628820" cy="4893647"/>
          </a:xfrm>
          <a:prstGeom prst="rect">
            <a:avLst/>
          </a:prstGeom>
          <a:noFill/>
        </p:spPr>
        <p:txBody>
          <a:bodyPr wrap="square" rtlCol="0">
            <a:spAutoFit/>
          </a:bodyPr>
          <a:lstStyle/>
          <a:p>
            <a:pPr marL="285750" indent="-285750" algn="just">
              <a:buFont typeface="Wingdings" panose="05000000000000000000" pitchFamily="2" charset="2"/>
              <a:buChar char="ü"/>
            </a:pPr>
            <a:r>
              <a:rPr lang="en-US" sz="2400" dirty="0"/>
              <a:t>Same like declaring final variable as static variable. </a:t>
            </a:r>
          </a:p>
          <a:p>
            <a:pPr marL="285750" indent="-285750" algn="just">
              <a:buFont typeface="Wingdings" panose="05000000000000000000" pitchFamily="2" charset="2"/>
              <a:buChar char="ü"/>
            </a:pPr>
            <a:r>
              <a:rPr lang="en-US" sz="2400" dirty="0"/>
              <a:t>It is also recommended to declare final method as static method. </a:t>
            </a:r>
          </a:p>
          <a:p>
            <a:pPr marL="285750" indent="-285750" algn="just">
              <a:buFont typeface="Wingdings" panose="05000000000000000000" pitchFamily="2" charset="2"/>
              <a:buChar char="ü"/>
            </a:pPr>
            <a:r>
              <a:rPr lang="en-US" sz="2400" dirty="0"/>
              <a:t>If we don’t declare final method as static method, in every instance a separate memory is allocated for final methods which is wastage of memory.</a:t>
            </a:r>
          </a:p>
          <a:p>
            <a:pPr marL="285750" indent="-285750" algn="just">
              <a:buFont typeface="Wingdings" panose="05000000000000000000" pitchFamily="2" charset="2"/>
              <a:buChar char="ü"/>
            </a:pPr>
            <a:r>
              <a:rPr lang="en-US" sz="2400" dirty="0"/>
              <a:t>static methods memory is allocated in class memory, the memory of a class in which method exist.</a:t>
            </a:r>
          </a:p>
          <a:p>
            <a:pPr marL="285750" indent="-285750" algn="just">
              <a:buFont typeface="Wingdings" panose="05000000000000000000" pitchFamily="2" charset="2"/>
              <a:buChar char="ü"/>
            </a:pPr>
            <a:r>
              <a:rPr lang="en-US" sz="2400" dirty="0"/>
              <a:t>If method is declare as static the memory is allocated in class memory of the same class. Suppose of static alone method is overridden in sub class, to the overridden method the memory is allocated in sub class’s class memory.</a:t>
            </a:r>
          </a:p>
          <a:p>
            <a:pPr marL="285750" indent="-285750" algn="just">
              <a:buFont typeface="Wingdings" panose="05000000000000000000" pitchFamily="2" charset="2"/>
              <a:buChar char="ü"/>
            </a:pPr>
            <a:r>
              <a:rPr lang="en-US" sz="2400" dirty="0"/>
              <a:t>For super class static method, in super class’s class memory the memory is allocated for super class static method.</a:t>
            </a:r>
            <a:endParaRPr lang="en-IN" sz="2400" dirty="0"/>
          </a:p>
        </p:txBody>
      </p:sp>
    </p:spTree>
    <p:extLst>
      <p:ext uri="{BB962C8B-B14F-4D97-AF65-F5344CB8AC3E}">
        <p14:creationId xmlns:p14="http://schemas.microsoft.com/office/powerpoint/2010/main" val="35161682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TotalTime>
  <Words>1598</Words>
  <Application>Microsoft Office PowerPoint</Application>
  <PresentationFormat>Widescreen</PresentationFormat>
  <Paragraphs>225</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Bookman Old Style</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ICT_4</dc:creator>
  <cp:lastModifiedBy>nivas .</cp:lastModifiedBy>
  <cp:revision>26</cp:revision>
  <dcterms:created xsi:type="dcterms:W3CDTF">2021-09-13T09:22:41Z</dcterms:created>
  <dcterms:modified xsi:type="dcterms:W3CDTF">2022-09-20T18:18:17Z</dcterms:modified>
</cp:coreProperties>
</file>