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310" r:id="rId3"/>
    <p:sldId id="260" r:id="rId4"/>
    <p:sldId id="261" r:id="rId5"/>
    <p:sldId id="262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02BFF"/>
    <a:srgbClr val="003F66"/>
    <a:srgbClr val="990033"/>
    <a:srgbClr val="0000FF"/>
    <a:srgbClr val="3399FF"/>
    <a:srgbClr val="FF9933"/>
    <a:srgbClr val="FF5050"/>
    <a:srgbClr val="F105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4660"/>
  </p:normalViewPr>
  <p:slideViewPr>
    <p:cSldViewPr snapToGrid="0">
      <p:cViewPr varScale="1">
        <p:scale>
          <a:sx n="71" d="100"/>
          <a:sy n="71" d="100"/>
        </p:scale>
        <p:origin x="69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D53D4-ADD2-48AC-8994-14A51F0D23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537EA9-7966-48DB-8A37-F2A824B840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5E772E-FB9A-427D-A4FB-DDA4C70002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F8FD7-6664-4EC7-B781-79F419E034EE}" type="datetimeFigureOut">
              <a:rPr lang="en-US" smtClean="0"/>
              <a:t>9/20/2022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7A32E3-D1D5-46C6-AB63-9F796F5BE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6DE672-2E16-4C2D-BE2B-5E484F172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A21A4-CB3A-4A18-A46B-5DD1945693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1456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9C132-9C22-4029-B989-13CBB40B5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9E3EE7-F4CB-4065-A44E-0318879BBF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DB2CBC-33D2-4A33-B187-2CD7DA66C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F8FD7-6664-4EC7-B781-79F419E034EE}" type="datetimeFigureOut">
              <a:rPr lang="en-US" smtClean="0"/>
              <a:t>9/20/2022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8BBEDA-6CC0-4558-9D29-AB6DD426B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AA790F-764D-42B5-A732-7C09D26BA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A21A4-CB3A-4A18-A46B-5DD1945693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9416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30C65-FF2A-4010-8C73-BB6E50131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24171B-58EF-43B4-84A8-E189462C4D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6566F5-22D5-459C-990D-7013F4D89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F8FD7-6664-4EC7-B781-79F419E034EE}" type="datetimeFigureOut">
              <a:rPr lang="en-US" smtClean="0"/>
              <a:t>9/20/2022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6CC63D-E273-4AAA-95C9-E401177BF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BCFC71-6835-40D7-B028-B3CB4223C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A21A4-CB3A-4A18-A46B-5DD1945693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2725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D4678-1CB9-4E61-9A69-472A205AB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D61F08-F7B7-408E-BEDD-156B3EB710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2C45BB-AABE-4D19-813B-EC4B595055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9E3F09-087B-4D93-9258-8AF6657B21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F8FD7-6664-4EC7-B781-79F419E034EE}" type="datetimeFigureOut">
              <a:rPr lang="en-US" smtClean="0"/>
              <a:t>9/20/2022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944505-AD8E-4AAE-91A7-1E3E3739C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6EA56F-3ACC-4F18-9178-D44D8FC27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A21A4-CB3A-4A18-A46B-5DD1945693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0965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E4EF0-CA05-417F-B465-4F0A09295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4F7286-079E-4D01-9619-DC462E5936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19288F-0A0B-483F-BB13-3EDE5C3DA2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72A0B30-266B-488F-B6CB-4AD30D85DF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F90638-24C7-42C8-8931-B2B3484939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666EBA-30E0-4DF0-96BE-62BE6AB519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F8FD7-6664-4EC7-B781-79F419E034EE}" type="datetimeFigureOut">
              <a:rPr lang="en-US" smtClean="0"/>
              <a:t>9/20/2022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3E8E635-E195-41C7-81C8-D334493619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780DF9-B1D9-49B8-81AF-4B716B67A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A21A4-CB3A-4A18-A46B-5DD1945693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5246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DFEEF-8D2B-4F54-B662-31AEFD3DB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297C29-F3EE-4250-9919-93948D0BE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F8FD7-6664-4EC7-B781-79F419E034EE}" type="datetimeFigureOut">
              <a:rPr lang="en-US" smtClean="0"/>
              <a:t>9/20/2022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AADB8D-7767-4295-999A-A9CDFEC2C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748590-559B-4E6B-AF48-236BD7F81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A21A4-CB3A-4A18-A46B-5DD1945693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143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AAAFAD-BAB5-47A0-9962-AC707DCEE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F8FD7-6664-4EC7-B781-79F419E034EE}" type="datetimeFigureOut">
              <a:rPr lang="en-US" smtClean="0"/>
              <a:t>9/20/2022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7E0FD4-2958-49A6-9B7B-5BCE813DA7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7CCC7F-90C7-40A3-A729-679A94EC8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A21A4-CB3A-4A18-A46B-5DD1945693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9612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927E8-8760-4B04-BDEF-1AC275A52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12E94A-ABB1-48E4-A3B6-4DA4142EC1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F4EB3F-9F7E-4886-B5A3-9143917E74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7C9E36-A297-4BF1-AC4B-B05E7A564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F8FD7-6664-4EC7-B781-79F419E034EE}" type="datetimeFigureOut">
              <a:rPr lang="en-US" smtClean="0"/>
              <a:t>9/20/2022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0882DF-10C8-41FD-B12B-C4E3CD891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6D6DCD-5CAB-493D-B90D-5FB3795C3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A21A4-CB3A-4A18-A46B-5DD1945693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6508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D295E-4A9D-40B5-962D-C4201C17D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576C82-F6F1-4481-84C6-40A1DE0A0A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8E40E7-4BEF-4AE8-A81B-8308860BF9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ED0C40-7C93-47EE-B801-F4B254FD11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F8FD7-6664-4EC7-B781-79F419E034EE}" type="datetimeFigureOut">
              <a:rPr lang="en-US" smtClean="0"/>
              <a:t>9/20/2022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8C15F7-71FB-46EE-9034-CEFA37850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5B243A-27C1-407B-995C-C80EDDD36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A21A4-CB3A-4A18-A46B-5DD1945693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7940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3B020-63B9-4BF9-B46E-630CCA8D1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A50300-809F-4B1C-BF1F-2C1EF82E1C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BD4618-E7CC-4722-B3AA-20767EE3B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F8FD7-6664-4EC7-B781-79F419E034EE}" type="datetimeFigureOut">
              <a:rPr lang="en-US" smtClean="0"/>
              <a:t>9/20/2022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EC0B0F-962D-40AE-ABD3-0EA484E15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40AE87-E966-4036-A783-F3B961665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A21A4-CB3A-4A18-A46B-5DD1945693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11809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03D95C4-7F0B-4781-8E51-FCBD7CF6CD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36C176-4EC6-451D-9FCF-4E0B4E7988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842DD7-D7F2-4D2D-B342-780C9519A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F8FD7-6664-4EC7-B781-79F419E034EE}" type="datetimeFigureOut">
              <a:rPr lang="en-US" smtClean="0"/>
              <a:t>9/20/2022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1DD1C9-3310-40BF-A04F-E566FCA50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9A0831-D597-4CA4-AB0B-B9DDC151C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A21A4-CB3A-4A18-A46B-5DD1945693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3154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B9F031-B0EE-4257-8C48-672A5B27A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CC5C53-8193-4B94-A5A2-9272C0FC20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7540B0-D806-4E03-A997-E808A0A9AF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4F8FD7-6664-4EC7-B781-79F419E034EE}" type="datetimeFigureOut">
              <a:rPr lang="en-US" smtClean="0"/>
              <a:t>9/20/2022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CBE7AA-0209-485D-98A0-22386CF87E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62E21E-194A-44F2-8CEA-40483DA3B7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9A21A4-CB3A-4A18-A46B-5DD1945693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3785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F04DBC6C-E9A2-43DD-8AE4-8D0DDE4523E5}"/>
              </a:ext>
            </a:extLst>
          </p:cNvPr>
          <p:cNvGrpSpPr/>
          <p:nvPr/>
        </p:nvGrpSpPr>
        <p:grpSpPr>
          <a:xfrm>
            <a:off x="0" y="-3010"/>
            <a:ext cx="12226085" cy="6861011"/>
            <a:chOff x="0" y="-3010"/>
            <a:chExt cx="12226085" cy="6861011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9DCF868-6E93-4982-AB2D-FFEEE7478913}"/>
                </a:ext>
              </a:extLst>
            </p:cNvPr>
            <p:cNvSpPr/>
            <p:nvPr/>
          </p:nvSpPr>
          <p:spPr>
            <a:xfrm>
              <a:off x="9542412" y="3922295"/>
              <a:ext cx="2649586" cy="293570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Don’t write or place any image in this area </a:t>
              </a:r>
            </a:p>
          </p:txBody>
        </p:sp>
        <p:sp>
          <p:nvSpPr>
            <p:cNvPr id="15" name="Arrow: Chevron 14">
              <a:extLst>
                <a:ext uri="{FF2B5EF4-FFF2-40B4-BE49-F238E27FC236}">
                  <a16:creationId xmlns:a16="http://schemas.microsoft.com/office/drawing/2014/main" id="{F5FB86E3-5182-4C43-8464-D4B43C073FD3}"/>
                </a:ext>
              </a:extLst>
            </p:cNvPr>
            <p:cNvSpPr/>
            <p:nvPr/>
          </p:nvSpPr>
          <p:spPr>
            <a:xfrm>
              <a:off x="2935705" y="0"/>
              <a:ext cx="6039853" cy="718885"/>
            </a:xfrm>
            <a:prstGeom prst="chevron">
              <a:avLst/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</a:rPr>
                <a:t>Consequences of access specifiers &amp; modifiers</a:t>
              </a:r>
            </a:p>
          </p:txBody>
        </p:sp>
        <p:sp>
          <p:nvSpPr>
            <p:cNvPr id="16" name="Half Frame 15">
              <a:extLst>
                <a:ext uri="{FF2B5EF4-FFF2-40B4-BE49-F238E27FC236}">
                  <a16:creationId xmlns:a16="http://schemas.microsoft.com/office/drawing/2014/main" id="{D42E4D77-9E3B-4372-9B15-2E2A4737FA1A}"/>
                </a:ext>
              </a:extLst>
            </p:cNvPr>
            <p:cNvSpPr/>
            <p:nvPr/>
          </p:nvSpPr>
          <p:spPr>
            <a:xfrm rot="16200000">
              <a:off x="27072" y="5441282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7" name="Half Frame 16">
              <a:extLst>
                <a:ext uri="{FF2B5EF4-FFF2-40B4-BE49-F238E27FC236}">
                  <a16:creationId xmlns:a16="http://schemas.microsoft.com/office/drawing/2014/main" id="{94B64B7C-6927-47F2-A370-51DB6CB7DB7C}"/>
                </a:ext>
              </a:extLst>
            </p:cNvPr>
            <p:cNvSpPr/>
            <p:nvPr/>
          </p:nvSpPr>
          <p:spPr>
            <a:xfrm>
              <a:off x="0" y="-3010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8" name="Half Frame 17">
              <a:extLst>
                <a:ext uri="{FF2B5EF4-FFF2-40B4-BE49-F238E27FC236}">
                  <a16:creationId xmlns:a16="http://schemas.microsoft.com/office/drawing/2014/main" id="{D0D65A0A-0D35-43C7-8FFB-8766B0E0CFF5}"/>
                </a:ext>
              </a:extLst>
            </p:cNvPr>
            <p:cNvSpPr/>
            <p:nvPr/>
          </p:nvSpPr>
          <p:spPr>
            <a:xfrm rot="5400000">
              <a:off x="10775281" y="-27070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9" name="Half Frame 18">
              <a:extLst>
                <a:ext uri="{FF2B5EF4-FFF2-40B4-BE49-F238E27FC236}">
                  <a16:creationId xmlns:a16="http://schemas.microsoft.com/office/drawing/2014/main" id="{5F0E1DE4-5900-4FD7-8376-F2806B3FD10B}"/>
                </a:ext>
              </a:extLst>
            </p:cNvPr>
            <p:cNvSpPr/>
            <p:nvPr/>
          </p:nvSpPr>
          <p:spPr>
            <a:xfrm rot="16200000">
              <a:off x="27073" y="5441282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0" name="Half Frame 19">
              <a:extLst>
                <a:ext uri="{FF2B5EF4-FFF2-40B4-BE49-F238E27FC236}">
                  <a16:creationId xmlns:a16="http://schemas.microsoft.com/office/drawing/2014/main" id="{AF515097-FF0D-4D2D-8ABE-40C71D119BD4}"/>
                </a:ext>
              </a:extLst>
            </p:cNvPr>
            <p:cNvSpPr/>
            <p:nvPr/>
          </p:nvSpPr>
          <p:spPr>
            <a:xfrm rot="10800000">
              <a:off x="10802349" y="5414210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BCDA0A01-2100-4CCD-9D0E-EDE971F85C5A}"/>
                </a:ext>
              </a:extLst>
            </p:cNvPr>
            <p:cNvSpPr/>
            <p:nvPr/>
          </p:nvSpPr>
          <p:spPr>
            <a:xfrm>
              <a:off x="12045611" y="2756732"/>
              <a:ext cx="180474" cy="1112921"/>
            </a:xfrm>
            <a:prstGeom prst="rect">
              <a:avLst/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724ED9EE-B382-4495-BB26-9ABF91230913}"/>
                </a:ext>
              </a:extLst>
            </p:cNvPr>
            <p:cNvSpPr/>
            <p:nvPr/>
          </p:nvSpPr>
          <p:spPr>
            <a:xfrm>
              <a:off x="0" y="2756733"/>
              <a:ext cx="180474" cy="1112921"/>
            </a:xfrm>
            <a:prstGeom prst="rect">
              <a:avLst/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576829B0-3EDD-4874-A380-B94C3CAC54D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241999" y="198519"/>
              <a:ext cx="752990" cy="824163"/>
            </a:xfrm>
            <a:prstGeom prst="roundRect">
              <a:avLst>
                <a:gd name="adj" fmla="val 2010"/>
              </a:avLst>
            </a:prstGeom>
            <a:gradFill>
              <a:gsLst>
                <a:gs pos="0">
                  <a:srgbClr val="00F2FE"/>
                </a:gs>
                <a:gs pos="41897">
                  <a:srgbClr val="28CFFE"/>
                </a:gs>
                <a:gs pos="97514">
                  <a:srgbClr val="4FACFE"/>
                </a:gs>
              </a:gsLst>
              <a:lin ang="8471591"/>
            </a:gradFill>
            <a:ln w="12700">
              <a:solidFill>
                <a:srgbClr val="F105D3"/>
              </a:solidFill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</p:spPr>
        </p:pic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B265F303-9EF0-4145-B30D-DB3AAE537BEB}"/>
              </a:ext>
            </a:extLst>
          </p:cNvPr>
          <p:cNvSpPr txBox="1"/>
          <p:nvPr/>
        </p:nvSpPr>
        <p:spPr>
          <a:xfrm>
            <a:off x="591673" y="1265970"/>
            <a:ext cx="8332176" cy="39087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 b="1" dirty="0">
                <a:solidFill>
                  <a:srgbClr val="902BFF"/>
                </a:solidFill>
              </a:rPr>
              <a:t>Consequences of applying </a:t>
            </a:r>
            <a:r>
              <a:rPr lang="en-US" sz="3200" b="1" dirty="0">
                <a:solidFill>
                  <a:srgbClr val="902BFF"/>
                </a:solidFill>
              </a:rPr>
              <a:t>access specifiers and access modifiers</a:t>
            </a:r>
            <a:r>
              <a:rPr lang="en-US" sz="4800" b="1" dirty="0">
                <a:solidFill>
                  <a:srgbClr val="902BFF"/>
                </a:solidFill>
              </a:rPr>
              <a:t> </a:t>
            </a:r>
          </a:p>
          <a:p>
            <a:pPr algn="ctr"/>
            <a:r>
              <a:rPr lang="en-US" sz="3200" b="1" dirty="0">
                <a:solidFill>
                  <a:srgbClr val="902BFF"/>
                </a:solidFill>
              </a:rPr>
              <a:t>on</a:t>
            </a:r>
            <a:r>
              <a:rPr lang="en-US" sz="4000" b="1" dirty="0">
                <a:solidFill>
                  <a:srgbClr val="902BFF"/>
                </a:solidFill>
              </a:rPr>
              <a:t> </a:t>
            </a:r>
          </a:p>
          <a:p>
            <a:pPr algn="ctr"/>
            <a:r>
              <a:rPr lang="en-US" sz="4000" b="1" dirty="0">
                <a:solidFill>
                  <a:srgbClr val="902BFF"/>
                </a:solidFill>
              </a:rPr>
              <a:t>Class, Variable, Constructor &amp; Method</a:t>
            </a:r>
          </a:p>
          <a:p>
            <a:pPr algn="ctr"/>
            <a:r>
              <a:rPr lang="en-US" sz="3600" b="1" dirty="0">
                <a:solidFill>
                  <a:srgbClr val="902BFF"/>
                </a:solidFill>
              </a:rPr>
              <a:t>-</a:t>
            </a:r>
          </a:p>
          <a:p>
            <a:pPr algn="ctr"/>
            <a:r>
              <a:rPr lang="en-US" sz="3600" b="1" dirty="0">
                <a:solidFill>
                  <a:srgbClr val="902BFF"/>
                </a:solidFill>
              </a:rPr>
              <a:t>Part I</a:t>
            </a:r>
            <a:endParaRPr lang="en-US" sz="5400" b="1" dirty="0">
              <a:solidFill>
                <a:srgbClr val="902B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50880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F04DBC6C-E9A2-43DD-8AE4-8D0DDE4523E5}"/>
              </a:ext>
            </a:extLst>
          </p:cNvPr>
          <p:cNvGrpSpPr/>
          <p:nvPr/>
        </p:nvGrpSpPr>
        <p:grpSpPr>
          <a:xfrm>
            <a:off x="0" y="-3010"/>
            <a:ext cx="12226085" cy="6861011"/>
            <a:chOff x="0" y="-3010"/>
            <a:chExt cx="12226085" cy="6861011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9DCF868-6E93-4982-AB2D-FFEEE7478913}"/>
                </a:ext>
              </a:extLst>
            </p:cNvPr>
            <p:cNvSpPr/>
            <p:nvPr/>
          </p:nvSpPr>
          <p:spPr>
            <a:xfrm>
              <a:off x="9542412" y="3922295"/>
              <a:ext cx="2649586" cy="293570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Don’t write or place any image in this area </a:t>
              </a:r>
            </a:p>
          </p:txBody>
        </p:sp>
        <p:sp>
          <p:nvSpPr>
            <p:cNvPr id="15" name="Arrow: Chevron 14">
              <a:extLst>
                <a:ext uri="{FF2B5EF4-FFF2-40B4-BE49-F238E27FC236}">
                  <a16:creationId xmlns:a16="http://schemas.microsoft.com/office/drawing/2014/main" id="{F5FB86E3-5182-4C43-8464-D4B43C073FD3}"/>
                </a:ext>
              </a:extLst>
            </p:cNvPr>
            <p:cNvSpPr/>
            <p:nvPr/>
          </p:nvSpPr>
          <p:spPr>
            <a:xfrm>
              <a:off x="2935705" y="0"/>
              <a:ext cx="6039853" cy="718885"/>
            </a:xfrm>
            <a:prstGeom prst="chevron">
              <a:avLst/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</a:rPr>
                <a:t>Consequences of access specifiers &amp; modifiers</a:t>
              </a:r>
            </a:p>
          </p:txBody>
        </p:sp>
        <p:sp>
          <p:nvSpPr>
            <p:cNvPr id="16" name="Half Frame 15">
              <a:extLst>
                <a:ext uri="{FF2B5EF4-FFF2-40B4-BE49-F238E27FC236}">
                  <a16:creationId xmlns:a16="http://schemas.microsoft.com/office/drawing/2014/main" id="{D42E4D77-9E3B-4372-9B15-2E2A4737FA1A}"/>
                </a:ext>
              </a:extLst>
            </p:cNvPr>
            <p:cNvSpPr/>
            <p:nvPr/>
          </p:nvSpPr>
          <p:spPr>
            <a:xfrm rot="16200000">
              <a:off x="27072" y="5441282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7" name="Half Frame 16">
              <a:extLst>
                <a:ext uri="{FF2B5EF4-FFF2-40B4-BE49-F238E27FC236}">
                  <a16:creationId xmlns:a16="http://schemas.microsoft.com/office/drawing/2014/main" id="{94B64B7C-6927-47F2-A370-51DB6CB7DB7C}"/>
                </a:ext>
              </a:extLst>
            </p:cNvPr>
            <p:cNvSpPr/>
            <p:nvPr/>
          </p:nvSpPr>
          <p:spPr>
            <a:xfrm>
              <a:off x="0" y="-3010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8" name="Half Frame 17">
              <a:extLst>
                <a:ext uri="{FF2B5EF4-FFF2-40B4-BE49-F238E27FC236}">
                  <a16:creationId xmlns:a16="http://schemas.microsoft.com/office/drawing/2014/main" id="{D0D65A0A-0D35-43C7-8FFB-8766B0E0CFF5}"/>
                </a:ext>
              </a:extLst>
            </p:cNvPr>
            <p:cNvSpPr/>
            <p:nvPr/>
          </p:nvSpPr>
          <p:spPr>
            <a:xfrm rot="5400000">
              <a:off x="10775281" y="-27070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9" name="Half Frame 18">
              <a:extLst>
                <a:ext uri="{FF2B5EF4-FFF2-40B4-BE49-F238E27FC236}">
                  <a16:creationId xmlns:a16="http://schemas.microsoft.com/office/drawing/2014/main" id="{5F0E1DE4-5900-4FD7-8376-F2806B3FD10B}"/>
                </a:ext>
              </a:extLst>
            </p:cNvPr>
            <p:cNvSpPr/>
            <p:nvPr/>
          </p:nvSpPr>
          <p:spPr>
            <a:xfrm rot="16200000">
              <a:off x="27073" y="5441282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0" name="Half Frame 19">
              <a:extLst>
                <a:ext uri="{FF2B5EF4-FFF2-40B4-BE49-F238E27FC236}">
                  <a16:creationId xmlns:a16="http://schemas.microsoft.com/office/drawing/2014/main" id="{AF515097-FF0D-4D2D-8ABE-40C71D119BD4}"/>
                </a:ext>
              </a:extLst>
            </p:cNvPr>
            <p:cNvSpPr/>
            <p:nvPr/>
          </p:nvSpPr>
          <p:spPr>
            <a:xfrm rot="10800000">
              <a:off x="10802349" y="5414210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BCDA0A01-2100-4CCD-9D0E-EDE971F85C5A}"/>
                </a:ext>
              </a:extLst>
            </p:cNvPr>
            <p:cNvSpPr/>
            <p:nvPr/>
          </p:nvSpPr>
          <p:spPr>
            <a:xfrm>
              <a:off x="12045611" y="2756732"/>
              <a:ext cx="180474" cy="1112921"/>
            </a:xfrm>
            <a:prstGeom prst="rect">
              <a:avLst/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724ED9EE-B382-4495-BB26-9ABF91230913}"/>
                </a:ext>
              </a:extLst>
            </p:cNvPr>
            <p:cNvSpPr/>
            <p:nvPr/>
          </p:nvSpPr>
          <p:spPr>
            <a:xfrm>
              <a:off x="0" y="2756733"/>
              <a:ext cx="180474" cy="1112921"/>
            </a:xfrm>
            <a:prstGeom prst="rect">
              <a:avLst/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576829B0-3EDD-4874-A380-B94C3CAC54D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241999" y="198519"/>
              <a:ext cx="752990" cy="824163"/>
            </a:xfrm>
            <a:prstGeom prst="roundRect">
              <a:avLst>
                <a:gd name="adj" fmla="val 2010"/>
              </a:avLst>
            </a:prstGeom>
            <a:gradFill>
              <a:gsLst>
                <a:gs pos="0">
                  <a:srgbClr val="00F2FE"/>
                </a:gs>
                <a:gs pos="41897">
                  <a:srgbClr val="28CFFE"/>
                </a:gs>
                <a:gs pos="97514">
                  <a:srgbClr val="4FACFE"/>
                </a:gs>
              </a:gsLst>
              <a:lin ang="8471591"/>
            </a:gradFill>
            <a:ln w="12700">
              <a:solidFill>
                <a:srgbClr val="F105D3"/>
              </a:solidFill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</p:spPr>
        </p:pic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B265F303-9EF0-4145-B30D-DB3AAE537BEB}"/>
              </a:ext>
            </a:extLst>
          </p:cNvPr>
          <p:cNvSpPr txBox="1"/>
          <p:nvPr/>
        </p:nvSpPr>
        <p:spPr>
          <a:xfrm>
            <a:off x="1352143" y="1967160"/>
            <a:ext cx="7846423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en-US" sz="3200" b="1" dirty="0">
                <a:solidFill>
                  <a:srgbClr val="00B050"/>
                </a:solidFill>
              </a:rPr>
              <a:t>Class</a:t>
            </a:r>
          </a:p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en-US" sz="3200" b="1" dirty="0">
                <a:solidFill>
                  <a:srgbClr val="00B050"/>
                </a:solidFill>
              </a:rPr>
              <a:t>Variable</a:t>
            </a:r>
          </a:p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en-US" sz="3200" b="1" dirty="0">
                <a:solidFill>
                  <a:srgbClr val="00B050"/>
                </a:solidFill>
              </a:rPr>
              <a:t>Constructor</a:t>
            </a:r>
          </a:p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en-US" sz="3200" b="1" dirty="0">
                <a:solidFill>
                  <a:srgbClr val="00B050"/>
                </a:solidFill>
              </a:rPr>
              <a:t>Method</a:t>
            </a:r>
          </a:p>
        </p:txBody>
      </p:sp>
      <p:sp>
        <p:nvSpPr>
          <p:cNvPr id="2" name="Rectangle: Top Corners Rounded 1">
            <a:extLst>
              <a:ext uri="{FF2B5EF4-FFF2-40B4-BE49-F238E27FC236}">
                <a16:creationId xmlns:a16="http://schemas.microsoft.com/office/drawing/2014/main" id="{D09F3B09-E43E-675E-0AC0-6BCD1A26EAD5}"/>
              </a:ext>
            </a:extLst>
          </p:cNvPr>
          <p:cNvSpPr/>
          <p:nvPr/>
        </p:nvSpPr>
        <p:spPr>
          <a:xfrm>
            <a:off x="1389649" y="1035424"/>
            <a:ext cx="8265339" cy="931736"/>
          </a:xfrm>
          <a:prstGeom prst="round2Same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2800" b="1" dirty="0">
                <a:solidFill>
                  <a:schemeClr val="bg1"/>
                </a:solidFill>
              </a:rPr>
              <a:t>Consequences of applying access specifiers and modifiers on:</a:t>
            </a:r>
            <a:endParaRPr lang="en-US" sz="1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61029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F04DBC6C-E9A2-43DD-8AE4-8D0DDE4523E5}"/>
              </a:ext>
            </a:extLst>
          </p:cNvPr>
          <p:cNvGrpSpPr/>
          <p:nvPr/>
        </p:nvGrpSpPr>
        <p:grpSpPr>
          <a:xfrm>
            <a:off x="0" y="-3010"/>
            <a:ext cx="12226085" cy="6861011"/>
            <a:chOff x="0" y="-3010"/>
            <a:chExt cx="12226085" cy="6861011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9DCF868-6E93-4982-AB2D-FFEEE7478913}"/>
                </a:ext>
              </a:extLst>
            </p:cNvPr>
            <p:cNvSpPr/>
            <p:nvPr/>
          </p:nvSpPr>
          <p:spPr>
            <a:xfrm>
              <a:off x="9542412" y="3922295"/>
              <a:ext cx="2649586" cy="293570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Don’t write or place any image in this area </a:t>
              </a:r>
            </a:p>
          </p:txBody>
        </p:sp>
        <p:sp>
          <p:nvSpPr>
            <p:cNvPr id="15" name="Arrow: Chevron 14">
              <a:extLst>
                <a:ext uri="{FF2B5EF4-FFF2-40B4-BE49-F238E27FC236}">
                  <a16:creationId xmlns:a16="http://schemas.microsoft.com/office/drawing/2014/main" id="{F5FB86E3-5182-4C43-8464-D4B43C073FD3}"/>
                </a:ext>
              </a:extLst>
            </p:cNvPr>
            <p:cNvSpPr/>
            <p:nvPr/>
          </p:nvSpPr>
          <p:spPr>
            <a:xfrm>
              <a:off x="2935705" y="0"/>
              <a:ext cx="6039853" cy="718885"/>
            </a:xfrm>
            <a:prstGeom prst="chevron">
              <a:avLst/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</a:rPr>
                <a:t>Class declaration</a:t>
              </a:r>
            </a:p>
          </p:txBody>
        </p:sp>
        <p:sp>
          <p:nvSpPr>
            <p:cNvPr id="16" name="Half Frame 15">
              <a:extLst>
                <a:ext uri="{FF2B5EF4-FFF2-40B4-BE49-F238E27FC236}">
                  <a16:creationId xmlns:a16="http://schemas.microsoft.com/office/drawing/2014/main" id="{D42E4D77-9E3B-4372-9B15-2E2A4737FA1A}"/>
                </a:ext>
              </a:extLst>
            </p:cNvPr>
            <p:cNvSpPr/>
            <p:nvPr/>
          </p:nvSpPr>
          <p:spPr>
            <a:xfrm rot="16200000">
              <a:off x="27072" y="5441282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7" name="Half Frame 16">
              <a:extLst>
                <a:ext uri="{FF2B5EF4-FFF2-40B4-BE49-F238E27FC236}">
                  <a16:creationId xmlns:a16="http://schemas.microsoft.com/office/drawing/2014/main" id="{94B64B7C-6927-47F2-A370-51DB6CB7DB7C}"/>
                </a:ext>
              </a:extLst>
            </p:cNvPr>
            <p:cNvSpPr/>
            <p:nvPr/>
          </p:nvSpPr>
          <p:spPr>
            <a:xfrm>
              <a:off x="0" y="-3010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8" name="Half Frame 17">
              <a:extLst>
                <a:ext uri="{FF2B5EF4-FFF2-40B4-BE49-F238E27FC236}">
                  <a16:creationId xmlns:a16="http://schemas.microsoft.com/office/drawing/2014/main" id="{D0D65A0A-0D35-43C7-8FFB-8766B0E0CFF5}"/>
                </a:ext>
              </a:extLst>
            </p:cNvPr>
            <p:cNvSpPr/>
            <p:nvPr/>
          </p:nvSpPr>
          <p:spPr>
            <a:xfrm rot="5400000">
              <a:off x="10775281" y="-27070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9" name="Half Frame 18">
              <a:extLst>
                <a:ext uri="{FF2B5EF4-FFF2-40B4-BE49-F238E27FC236}">
                  <a16:creationId xmlns:a16="http://schemas.microsoft.com/office/drawing/2014/main" id="{5F0E1DE4-5900-4FD7-8376-F2806B3FD10B}"/>
                </a:ext>
              </a:extLst>
            </p:cNvPr>
            <p:cNvSpPr/>
            <p:nvPr/>
          </p:nvSpPr>
          <p:spPr>
            <a:xfrm rot="16200000">
              <a:off x="27073" y="5441282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0" name="Half Frame 19">
              <a:extLst>
                <a:ext uri="{FF2B5EF4-FFF2-40B4-BE49-F238E27FC236}">
                  <a16:creationId xmlns:a16="http://schemas.microsoft.com/office/drawing/2014/main" id="{AF515097-FF0D-4D2D-8ABE-40C71D119BD4}"/>
                </a:ext>
              </a:extLst>
            </p:cNvPr>
            <p:cNvSpPr/>
            <p:nvPr/>
          </p:nvSpPr>
          <p:spPr>
            <a:xfrm rot="10800000">
              <a:off x="10802349" y="5414210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BCDA0A01-2100-4CCD-9D0E-EDE971F85C5A}"/>
                </a:ext>
              </a:extLst>
            </p:cNvPr>
            <p:cNvSpPr/>
            <p:nvPr/>
          </p:nvSpPr>
          <p:spPr>
            <a:xfrm>
              <a:off x="12045611" y="2756732"/>
              <a:ext cx="180474" cy="1112921"/>
            </a:xfrm>
            <a:prstGeom prst="rect">
              <a:avLst/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724ED9EE-B382-4495-BB26-9ABF91230913}"/>
                </a:ext>
              </a:extLst>
            </p:cNvPr>
            <p:cNvSpPr/>
            <p:nvPr/>
          </p:nvSpPr>
          <p:spPr>
            <a:xfrm>
              <a:off x="0" y="2756733"/>
              <a:ext cx="180474" cy="1112921"/>
            </a:xfrm>
            <a:prstGeom prst="rect">
              <a:avLst/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576829B0-3EDD-4874-A380-B94C3CAC54D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241999" y="198519"/>
              <a:ext cx="752990" cy="824163"/>
            </a:xfrm>
            <a:prstGeom prst="roundRect">
              <a:avLst>
                <a:gd name="adj" fmla="val 2010"/>
              </a:avLst>
            </a:prstGeom>
            <a:gradFill>
              <a:gsLst>
                <a:gs pos="0">
                  <a:srgbClr val="00F2FE"/>
                </a:gs>
                <a:gs pos="41897">
                  <a:srgbClr val="28CFFE"/>
                </a:gs>
                <a:gs pos="97514">
                  <a:srgbClr val="4FACFE"/>
                </a:gs>
              </a:gsLst>
              <a:lin ang="8471591"/>
            </a:gradFill>
            <a:ln w="12700">
              <a:solidFill>
                <a:srgbClr val="F105D3"/>
              </a:solidFill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</p:spPr>
        </p:pic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A9C1282B-8C03-488A-8D8E-5E4C660BA26D}"/>
              </a:ext>
            </a:extLst>
          </p:cNvPr>
          <p:cNvSpPr txBox="1"/>
          <p:nvPr/>
        </p:nvSpPr>
        <p:spPr>
          <a:xfrm>
            <a:off x="675860" y="1233699"/>
            <a:ext cx="8611151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600" b="1" dirty="0">
                <a:solidFill>
                  <a:srgbClr val="003F66"/>
                </a:solidFill>
                <a:latin typeface="Bookman Old Style" panose="02050604050505020204" pitchFamily="18" charset="0"/>
              </a:rPr>
              <a:t>------------------------------------</a:t>
            </a:r>
          </a:p>
          <a:p>
            <a:pPr algn="just"/>
            <a:r>
              <a:rPr lang="en-US" sz="1600" b="1" dirty="0">
                <a:solidFill>
                  <a:srgbClr val="003F66"/>
                </a:solidFill>
                <a:latin typeface="Bookman Old Style" panose="02050604050505020204" pitchFamily="18" charset="0"/>
              </a:rPr>
              <a:t>Class declaration syntax:</a:t>
            </a:r>
          </a:p>
          <a:p>
            <a:pPr algn="just"/>
            <a:r>
              <a:rPr lang="en-US" sz="1600" b="1" dirty="0">
                <a:solidFill>
                  <a:srgbClr val="003F66"/>
                </a:solidFill>
                <a:latin typeface="Bookman Old Style" panose="02050604050505020204" pitchFamily="18" charset="0"/>
              </a:rPr>
              <a:t>------------------------------------</a:t>
            </a:r>
          </a:p>
          <a:p>
            <a:pPr algn="just"/>
            <a:r>
              <a:rPr lang="en-US" sz="1600" b="1" dirty="0">
                <a:solidFill>
                  <a:srgbClr val="003F66"/>
                </a:solidFill>
                <a:latin typeface="Bookman Old Style" panose="02050604050505020204" pitchFamily="18" charset="0"/>
              </a:rPr>
              <a:t>Syntax:</a:t>
            </a:r>
          </a:p>
          <a:p>
            <a:pPr algn="just"/>
            <a:r>
              <a:rPr lang="en-US" sz="1600" b="1" dirty="0">
                <a:solidFill>
                  <a:srgbClr val="003F66"/>
                </a:solidFill>
                <a:latin typeface="Bookman Old Style" panose="02050604050505020204" pitchFamily="18" charset="0"/>
              </a:rPr>
              <a:t>-----------</a:t>
            </a:r>
          </a:p>
          <a:p>
            <a:pPr algn="just"/>
            <a:r>
              <a:rPr lang="en-US" sz="16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&lt;</a:t>
            </a:r>
            <a:r>
              <a:rPr lang="en-US" sz="1600" b="1" dirty="0" err="1">
                <a:solidFill>
                  <a:srgbClr val="FF0000"/>
                </a:solidFill>
                <a:latin typeface="Bookman Old Style" panose="02050604050505020204" pitchFamily="18" charset="0"/>
              </a:rPr>
              <a:t>access_specifier</a:t>
            </a:r>
            <a:r>
              <a:rPr lang="en-US" sz="16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&gt;</a:t>
            </a:r>
            <a:r>
              <a:rPr lang="en-US" sz="1600" b="1" dirty="0">
                <a:solidFill>
                  <a:srgbClr val="003F66"/>
                </a:solidFill>
                <a:latin typeface="Bookman Old Style" panose="02050604050505020204" pitchFamily="18" charset="0"/>
              </a:rPr>
              <a:t> </a:t>
            </a:r>
            <a:r>
              <a:rPr lang="en-US" sz="1600" b="1" dirty="0">
                <a:solidFill>
                  <a:srgbClr val="00B0F0"/>
                </a:solidFill>
                <a:latin typeface="Bookman Old Style" panose="02050604050505020204" pitchFamily="18" charset="0"/>
              </a:rPr>
              <a:t>&lt;</a:t>
            </a:r>
            <a:r>
              <a:rPr lang="en-US" sz="1600" b="1" dirty="0" err="1">
                <a:solidFill>
                  <a:srgbClr val="00B0F0"/>
                </a:solidFill>
                <a:latin typeface="Bookman Old Style" panose="02050604050505020204" pitchFamily="18" charset="0"/>
              </a:rPr>
              <a:t>access_modifier</a:t>
            </a:r>
            <a:r>
              <a:rPr lang="en-US" sz="1600" b="1" dirty="0">
                <a:solidFill>
                  <a:srgbClr val="00B0F0"/>
                </a:solidFill>
                <a:latin typeface="Bookman Old Style" panose="02050604050505020204" pitchFamily="18" charset="0"/>
              </a:rPr>
              <a:t>&gt;</a:t>
            </a:r>
            <a:r>
              <a:rPr lang="en-US" sz="1600" b="1" dirty="0">
                <a:solidFill>
                  <a:srgbClr val="003F66"/>
                </a:solidFill>
                <a:latin typeface="Bookman Old Style" panose="02050604050505020204" pitchFamily="18" charset="0"/>
              </a:rPr>
              <a:t> class </a:t>
            </a:r>
            <a:r>
              <a:rPr lang="en-US" sz="1600" b="1" dirty="0" err="1">
                <a:solidFill>
                  <a:srgbClr val="003F66"/>
                </a:solidFill>
                <a:latin typeface="Bookman Old Style" panose="02050604050505020204" pitchFamily="18" charset="0"/>
              </a:rPr>
              <a:t>ClassName</a:t>
            </a:r>
            <a:r>
              <a:rPr lang="en-US" sz="1600" b="1" dirty="0">
                <a:solidFill>
                  <a:srgbClr val="003F66"/>
                </a:solidFill>
                <a:latin typeface="Bookman Old Style" panose="02050604050505020204" pitchFamily="18" charset="0"/>
              </a:rPr>
              <a:t> &lt;extends </a:t>
            </a:r>
            <a:r>
              <a:rPr lang="en-US" sz="1600" b="1" dirty="0" err="1">
                <a:solidFill>
                  <a:srgbClr val="003F66"/>
                </a:solidFill>
                <a:latin typeface="Bookman Old Style" panose="02050604050505020204" pitchFamily="18" charset="0"/>
              </a:rPr>
              <a:t>SuperClass</a:t>
            </a:r>
            <a:r>
              <a:rPr lang="en-US" sz="1600" b="1" dirty="0">
                <a:solidFill>
                  <a:srgbClr val="003F66"/>
                </a:solidFill>
                <a:latin typeface="Bookman Old Style" panose="02050604050505020204" pitchFamily="18" charset="0"/>
              </a:rPr>
              <a:t>&gt; &lt;implements SuperInterface1, SuperInterface2&gt; {</a:t>
            </a:r>
          </a:p>
          <a:p>
            <a:pPr algn="just"/>
            <a:r>
              <a:rPr lang="en-US" sz="1600" b="1" dirty="0">
                <a:solidFill>
                  <a:srgbClr val="003F66"/>
                </a:solidFill>
                <a:latin typeface="Bookman Old Style" panose="02050604050505020204" pitchFamily="18" charset="0"/>
              </a:rPr>
              <a:t>}</a:t>
            </a:r>
          </a:p>
          <a:p>
            <a:pPr algn="just"/>
            <a:endParaRPr lang="en-US" sz="1600" b="1" dirty="0">
              <a:solidFill>
                <a:srgbClr val="003F66"/>
              </a:solidFill>
              <a:latin typeface="Bookman Old Style" panose="02050604050505020204" pitchFamily="18" charset="0"/>
            </a:endParaRPr>
          </a:p>
          <a:p>
            <a:pPr algn="just"/>
            <a:r>
              <a:rPr lang="en-US" sz="1600" b="1" dirty="0">
                <a:solidFill>
                  <a:srgbClr val="003F66"/>
                </a:solidFill>
                <a:latin typeface="Bookman Old Style" panose="02050604050505020204" pitchFamily="18" charset="0"/>
              </a:rPr>
              <a:t>Examples:</a:t>
            </a:r>
          </a:p>
          <a:p>
            <a:pPr algn="just"/>
            <a:r>
              <a:rPr lang="en-US" sz="1600" b="1" dirty="0">
                <a:solidFill>
                  <a:srgbClr val="003F66"/>
                </a:solidFill>
                <a:latin typeface="Bookman Old Style" panose="02050604050505020204" pitchFamily="18" charset="0"/>
              </a:rPr>
              <a:t>---------------</a:t>
            </a:r>
          </a:p>
          <a:p>
            <a:pPr algn="just"/>
            <a:r>
              <a:rPr lang="en-US" sz="1600" b="1" dirty="0">
                <a:solidFill>
                  <a:srgbClr val="003F66"/>
                </a:solidFill>
                <a:latin typeface="Bookman Old Style" panose="02050604050505020204" pitchFamily="18" charset="0"/>
              </a:rPr>
              <a:t>class A { }</a:t>
            </a:r>
          </a:p>
          <a:p>
            <a:pPr algn="just"/>
            <a:endParaRPr lang="en-US" sz="1600" b="1" dirty="0">
              <a:solidFill>
                <a:srgbClr val="003F66"/>
              </a:solidFill>
              <a:latin typeface="Bookman Old Style" panose="02050604050505020204" pitchFamily="18" charset="0"/>
            </a:endParaRPr>
          </a:p>
          <a:p>
            <a:pPr algn="just"/>
            <a:r>
              <a:rPr lang="en-US" sz="1600" b="1" dirty="0">
                <a:solidFill>
                  <a:srgbClr val="003F66"/>
                </a:solidFill>
                <a:latin typeface="Bookman Old Style" panose="02050604050505020204" pitchFamily="18" charset="0"/>
              </a:rPr>
              <a:t>abstract class A {</a:t>
            </a:r>
          </a:p>
          <a:p>
            <a:pPr algn="just"/>
            <a:r>
              <a:rPr lang="en-US" sz="1600" b="1" dirty="0">
                <a:solidFill>
                  <a:srgbClr val="003F66"/>
                </a:solidFill>
                <a:latin typeface="Bookman Old Style" panose="02050604050505020204" pitchFamily="18" charset="0"/>
              </a:rPr>
              <a:t>}</a:t>
            </a:r>
          </a:p>
          <a:p>
            <a:pPr algn="just"/>
            <a:endParaRPr lang="en-US" sz="1600" b="1" dirty="0">
              <a:solidFill>
                <a:srgbClr val="003F66"/>
              </a:solidFill>
              <a:latin typeface="Bookman Old Style" panose="02050604050505020204" pitchFamily="18" charset="0"/>
            </a:endParaRPr>
          </a:p>
          <a:p>
            <a:pPr algn="just"/>
            <a:r>
              <a:rPr lang="en-US" sz="1600" b="1" dirty="0">
                <a:solidFill>
                  <a:srgbClr val="003F66"/>
                </a:solidFill>
                <a:latin typeface="Bookman Old Style" panose="02050604050505020204" pitchFamily="18" charset="0"/>
              </a:rPr>
              <a:t>public final class A extends ABC implements XYZ, MNO {</a:t>
            </a:r>
          </a:p>
          <a:p>
            <a:pPr algn="just"/>
            <a:r>
              <a:rPr lang="en-US" sz="1600" b="1" dirty="0">
                <a:solidFill>
                  <a:srgbClr val="003F66"/>
                </a:solidFill>
                <a:latin typeface="Bookman Old Style" panose="02050604050505020204" pitchFamily="18" charset="0"/>
              </a:rPr>
              <a:t>}</a:t>
            </a:r>
          </a:p>
          <a:p>
            <a:pPr algn="just"/>
            <a:endParaRPr lang="en-US" sz="1600" b="1" dirty="0">
              <a:solidFill>
                <a:srgbClr val="003F66"/>
              </a:solidFill>
              <a:latin typeface="Bookman Old Style" panose="02050604050505020204" pitchFamily="18" charset="0"/>
            </a:endParaRPr>
          </a:p>
          <a:p>
            <a:pPr algn="just"/>
            <a:r>
              <a:rPr lang="en-US" sz="1600" b="1" dirty="0">
                <a:solidFill>
                  <a:srgbClr val="003F66"/>
                </a:solidFill>
                <a:latin typeface="Bookman Old Style" panose="02050604050505020204" pitchFamily="18" charset="0"/>
              </a:rPr>
              <a:t>class Hello extends Hai implements A, B, C { </a:t>
            </a:r>
          </a:p>
          <a:p>
            <a:pPr algn="just"/>
            <a:r>
              <a:rPr lang="en-US" sz="1600" b="1" dirty="0">
                <a:solidFill>
                  <a:srgbClr val="003F66"/>
                </a:solidFill>
                <a:latin typeface="Bookman Old Style" panose="02050604050505020204" pitchFamily="18" charset="0"/>
              </a:rPr>
              <a:t>}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8AAA3C7-AE31-40D8-97DF-FDD7DC832CFE}"/>
              </a:ext>
            </a:extLst>
          </p:cNvPr>
          <p:cNvSpPr txBox="1"/>
          <p:nvPr/>
        </p:nvSpPr>
        <p:spPr>
          <a:xfrm>
            <a:off x="9460104" y="1444487"/>
            <a:ext cx="246412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>
                <a:solidFill>
                  <a:srgbClr val="FF0000"/>
                </a:solidFill>
              </a:rPr>
              <a:t>A class can extend from only one super class.</a:t>
            </a:r>
          </a:p>
          <a:p>
            <a:pPr algn="just"/>
            <a:endParaRPr lang="en-US" b="1" dirty="0">
              <a:solidFill>
                <a:srgbClr val="FF0000"/>
              </a:solidFill>
            </a:endParaRPr>
          </a:p>
          <a:p>
            <a:pPr algn="just"/>
            <a:r>
              <a:rPr lang="en-US" b="1" dirty="0">
                <a:solidFill>
                  <a:srgbClr val="FF0000"/>
                </a:solidFill>
              </a:rPr>
              <a:t>A class can implement from any number of super interfaces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7A45114-9E26-1C21-535A-D64909B3EEE4}"/>
              </a:ext>
            </a:extLst>
          </p:cNvPr>
          <p:cNvSpPr txBox="1"/>
          <p:nvPr/>
        </p:nvSpPr>
        <p:spPr>
          <a:xfrm>
            <a:off x="6096000" y="2988025"/>
            <a:ext cx="246412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>
                <a:solidFill>
                  <a:srgbClr val="FF0000"/>
                </a:solidFill>
              </a:rPr>
              <a:t>A class can be public or default</a:t>
            </a:r>
          </a:p>
          <a:p>
            <a:pPr algn="just"/>
            <a:endParaRPr lang="en-US" b="1" dirty="0">
              <a:solidFill>
                <a:srgbClr val="FF0000"/>
              </a:solidFill>
            </a:endParaRPr>
          </a:p>
          <a:p>
            <a:pPr algn="just"/>
            <a:r>
              <a:rPr lang="en-US" b="1" dirty="0">
                <a:solidFill>
                  <a:srgbClr val="FF0000"/>
                </a:solidFill>
              </a:rPr>
              <a:t>A class can be abstract or final </a:t>
            </a:r>
            <a:endParaRPr lang="en-IN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52849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F04DBC6C-E9A2-43DD-8AE4-8D0DDE4523E5}"/>
              </a:ext>
            </a:extLst>
          </p:cNvPr>
          <p:cNvGrpSpPr/>
          <p:nvPr/>
        </p:nvGrpSpPr>
        <p:grpSpPr>
          <a:xfrm>
            <a:off x="0" y="-3010"/>
            <a:ext cx="12226085" cy="6861011"/>
            <a:chOff x="0" y="-3010"/>
            <a:chExt cx="12226085" cy="6861011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9DCF868-6E93-4982-AB2D-FFEEE7478913}"/>
                </a:ext>
              </a:extLst>
            </p:cNvPr>
            <p:cNvSpPr/>
            <p:nvPr/>
          </p:nvSpPr>
          <p:spPr>
            <a:xfrm>
              <a:off x="9542412" y="3922295"/>
              <a:ext cx="2649586" cy="293570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Don’t write or place any image in this area </a:t>
              </a:r>
            </a:p>
          </p:txBody>
        </p:sp>
        <p:sp>
          <p:nvSpPr>
            <p:cNvPr id="15" name="Arrow: Chevron 14">
              <a:extLst>
                <a:ext uri="{FF2B5EF4-FFF2-40B4-BE49-F238E27FC236}">
                  <a16:creationId xmlns:a16="http://schemas.microsoft.com/office/drawing/2014/main" id="{F5FB86E3-5182-4C43-8464-D4B43C073FD3}"/>
                </a:ext>
              </a:extLst>
            </p:cNvPr>
            <p:cNvSpPr/>
            <p:nvPr/>
          </p:nvSpPr>
          <p:spPr>
            <a:xfrm>
              <a:off x="2935705" y="0"/>
              <a:ext cx="6039853" cy="718885"/>
            </a:xfrm>
            <a:prstGeom prst="chevron">
              <a:avLst/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pPr algn="ctr"/>
              <a:r>
                <a:rPr lang="en-US" sz="2000" b="1" dirty="0">
                  <a:solidFill>
                    <a:schemeClr val="bg1"/>
                  </a:solidFill>
                  <a:latin typeface="Bookman Old Style" panose="02050604050505020204" pitchFamily="18" charset="0"/>
                </a:rPr>
                <a:t>Consequences of applying access specifiers on class</a:t>
              </a:r>
              <a:endParaRPr lang="en-US" sz="1200" b="1" dirty="0">
                <a:solidFill>
                  <a:schemeClr val="bg1"/>
                </a:solidFill>
                <a:latin typeface="Bookman Old Style" panose="02050604050505020204" pitchFamily="18" charset="0"/>
              </a:endParaRPr>
            </a:p>
          </p:txBody>
        </p:sp>
        <p:sp>
          <p:nvSpPr>
            <p:cNvPr id="16" name="Half Frame 15">
              <a:extLst>
                <a:ext uri="{FF2B5EF4-FFF2-40B4-BE49-F238E27FC236}">
                  <a16:creationId xmlns:a16="http://schemas.microsoft.com/office/drawing/2014/main" id="{D42E4D77-9E3B-4372-9B15-2E2A4737FA1A}"/>
                </a:ext>
              </a:extLst>
            </p:cNvPr>
            <p:cNvSpPr/>
            <p:nvPr/>
          </p:nvSpPr>
          <p:spPr>
            <a:xfrm rot="16200000">
              <a:off x="27072" y="5441282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7" name="Half Frame 16">
              <a:extLst>
                <a:ext uri="{FF2B5EF4-FFF2-40B4-BE49-F238E27FC236}">
                  <a16:creationId xmlns:a16="http://schemas.microsoft.com/office/drawing/2014/main" id="{94B64B7C-6927-47F2-A370-51DB6CB7DB7C}"/>
                </a:ext>
              </a:extLst>
            </p:cNvPr>
            <p:cNvSpPr/>
            <p:nvPr/>
          </p:nvSpPr>
          <p:spPr>
            <a:xfrm>
              <a:off x="0" y="-3010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8" name="Half Frame 17">
              <a:extLst>
                <a:ext uri="{FF2B5EF4-FFF2-40B4-BE49-F238E27FC236}">
                  <a16:creationId xmlns:a16="http://schemas.microsoft.com/office/drawing/2014/main" id="{D0D65A0A-0D35-43C7-8FFB-8766B0E0CFF5}"/>
                </a:ext>
              </a:extLst>
            </p:cNvPr>
            <p:cNvSpPr/>
            <p:nvPr/>
          </p:nvSpPr>
          <p:spPr>
            <a:xfrm rot="5400000">
              <a:off x="10775281" y="-27070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9" name="Half Frame 18">
              <a:extLst>
                <a:ext uri="{FF2B5EF4-FFF2-40B4-BE49-F238E27FC236}">
                  <a16:creationId xmlns:a16="http://schemas.microsoft.com/office/drawing/2014/main" id="{5F0E1DE4-5900-4FD7-8376-F2806B3FD10B}"/>
                </a:ext>
              </a:extLst>
            </p:cNvPr>
            <p:cNvSpPr/>
            <p:nvPr/>
          </p:nvSpPr>
          <p:spPr>
            <a:xfrm rot="16200000">
              <a:off x="27073" y="5441282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0" name="Half Frame 19">
              <a:extLst>
                <a:ext uri="{FF2B5EF4-FFF2-40B4-BE49-F238E27FC236}">
                  <a16:creationId xmlns:a16="http://schemas.microsoft.com/office/drawing/2014/main" id="{AF515097-FF0D-4D2D-8ABE-40C71D119BD4}"/>
                </a:ext>
              </a:extLst>
            </p:cNvPr>
            <p:cNvSpPr/>
            <p:nvPr/>
          </p:nvSpPr>
          <p:spPr>
            <a:xfrm rot="10800000">
              <a:off x="10802349" y="5414210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BCDA0A01-2100-4CCD-9D0E-EDE971F85C5A}"/>
                </a:ext>
              </a:extLst>
            </p:cNvPr>
            <p:cNvSpPr/>
            <p:nvPr/>
          </p:nvSpPr>
          <p:spPr>
            <a:xfrm>
              <a:off x="12045611" y="2756732"/>
              <a:ext cx="180474" cy="1112921"/>
            </a:xfrm>
            <a:prstGeom prst="rect">
              <a:avLst/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724ED9EE-B382-4495-BB26-9ABF91230913}"/>
                </a:ext>
              </a:extLst>
            </p:cNvPr>
            <p:cNvSpPr/>
            <p:nvPr/>
          </p:nvSpPr>
          <p:spPr>
            <a:xfrm>
              <a:off x="0" y="2756733"/>
              <a:ext cx="180474" cy="1112921"/>
            </a:xfrm>
            <a:prstGeom prst="rect">
              <a:avLst/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576829B0-3EDD-4874-A380-B94C3CAC54D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241999" y="198519"/>
              <a:ext cx="752990" cy="824163"/>
            </a:xfrm>
            <a:prstGeom prst="roundRect">
              <a:avLst>
                <a:gd name="adj" fmla="val 2010"/>
              </a:avLst>
            </a:prstGeom>
            <a:gradFill>
              <a:gsLst>
                <a:gs pos="0">
                  <a:srgbClr val="00F2FE"/>
                </a:gs>
                <a:gs pos="41897">
                  <a:srgbClr val="28CFFE"/>
                </a:gs>
                <a:gs pos="97514">
                  <a:srgbClr val="4FACFE"/>
                </a:gs>
              </a:gsLst>
              <a:lin ang="8471591"/>
            </a:gradFill>
            <a:ln w="12700">
              <a:solidFill>
                <a:srgbClr val="F105D3"/>
              </a:solidFill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</p:spPr>
        </p:pic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0F5977BC-B51B-40AC-9556-121D0FC5DF68}"/>
              </a:ext>
            </a:extLst>
          </p:cNvPr>
          <p:cNvSpPr txBox="1"/>
          <p:nvPr/>
        </p:nvSpPr>
        <p:spPr>
          <a:xfrm>
            <a:off x="299344" y="897524"/>
            <a:ext cx="9188924" cy="5139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800" b="1" dirty="0">
                <a:solidFill>
                  <a:srgbClr val="003F66"/>
                </a:solidFill>
                <a:latin typeface="Bookman Old Style" panose="02050604050505020204" pitchFamily="18" charset="0"/>
              </a:rPr>
              <a:t>access specifiers on class:</a:t>
            </a:r>
          </a:p>
          <a:p>
            <a:pPr algn="just"/>
            <a:r>
              <a:rPr lang="en-US" sz="2800" b="1" dirty="0">
                <a:solidFill>
                  <a:srgbClr val="003F66"/>
                </a:solidFill>
                <a:latin typeface="Bookman Old Style" panose="02050604050505020204" pitchFamily="18" charset="0"/>
              </a:rPr>
              <a:t>--------------------------------------</a:t>
            </a:r>
          </a:p>
          <a:p>
            <a:pPr algn="just"/>
            <a:r>
              <a:rPr lang="en-US" sz="1600" b="1" dirty="0">
                <a:solidFill>
                  <a:srgbClr val="003F66"/>
                </a:solidFill>
                <a:latin typeface="Bookman Old Style" panose="02050604050505020204" pitchFamily="18" charset="0"/>
              </a:rPr>
              <a:t>private (NA):</a:t>
            </a:r>
            <a:r>
              <a:rPr lang="en-US" sz="1600" dirty="0">
                <a:solidFill>
                  <a:srgbClr val="003F66"/>
                </a:solidFill>
                <a:latin typeface="Bookman Old Style" panose="02050604050505020204" pitchFamily="18" charset="0"/>
              </a:rPr>
              <a:t> class members such as v, co, m are declared as private and they cannot be accessible outside of the class. But there is no meaning in declaring class as private. </a:t>
            </a:r>
            <a:r>
              <a:rPr lang="en-US" sz="1600" dirty="0">
                <a:solidFill>
                  <a:srgbClr val="FF0000"/>
                </a:solidFill>
                <a:latin typeface="Bookman Old Style" panose="02050604050505020204" pitchFamily="18" charset="0"/>
              </a:rPr>
              <a:t>Class cannot be declared as private</a:t>
            </a:r>
            <a:r>
              <a:rPr lang="en-US" sz="1600" dirty="0">
                <a:solidFill>
                  <a:srgbClr val="003F66"/>
                </a:solidFill>
                <a:latin typeface="Bookman Old Style" panose="02050604050505020204" pitchFamily="18" charset="0"/>
              </a:rPr>
              <a:t>, instead their members can be declared as private.</a:t>
            </a:r>
          </a:p>
          <a:p>
            <a:pPr algn="just"/>
            <a:endParaRPr lang="en-US" sz="1600" dirty="0">
              <a:solidFill>
                <a:srgbClr val="003F66"/>
              </a:solidFill>
              <a:latin typeface="Bookman Old Style" panose="02050604050505020204" pitchFamily="18" charset="0"/>
            </a:endParaRPr>
          </a:p>
          <a:p>
            <a:pPr algn="just"/>
            <a:r>
              <a:rPr lang="en-US" sz="1600" b="1" dirty="0">
                <a:solidFill>
                  <a:srgbClr val="003F66"/>
                </a:solidFill>
                <a:latin typeface="Bookman Old Style" panose="02050604050505020204" pitchFamily="18" charset="0"/>
              </a:rPr>
              <a:t>default (A):</a:t>
            </a:r>
            <a:r>
              <a:rPr lang="en-US" sz="1600" dirty="0">
                <a:solidFill>
                  <a:srgbClr val="003F66"/>
                </a:solidFill>
                <a:latin typeface="Bookman Old Style" panose="02050604050505020204" pitchFamily="18" charset="0"/>
              </a:rPr>
              <a:t> default access specifier classes can be accessible only within the directory though package is declared.</a:t>
            </a:r>
          </a:p>
          <a:p>
            <a:pPr algn="just"/>
            <a:r>
              <a:rPr lang="en-US" sz="1600" dirty="0">
                <a:solidFill>
                  <a:srgbClr val="003F66"/>
                </a:solidFill>
                <a:latin typeface="Bookman Old Style" panose="02050604050505020204" pitchFamily="18" charset="0"/>
              </a:rPr>
              <a:t>	package pack1; </a:t>
            </a:r>
            <a:r>
              <a:rPr lang="en-US" sz="1600" dirty="0">
                <a:solidFill>
                  <a:srgbClr val="FF0000"/>
                </a:solidFill>
                <a:latin typeface="Bookman Old Style" panose="02050604050505020204" pitchFamily="18" charset="0"/>
              </a:rPr>
              <a:t>// Not a public class hence no use</a:t>
            </a:r>
            <a:endParaRPr lang="en-US" sz="1600" dirty="0">
              <a:solidFill>
                <a:srgbClr val="003F66"/>
              </a:solidFill>
              <a:latin typeface="Bookman Old Style" panose="02050604050505020204" pitchFamily="18" charset="0"/>
            </a:endParaRPr>
          </a:p>
          <a:p>
            <a:pPr algn="just"/>
            <a:r>
              <a:rPr lang="en-US" sz="1600" dirty="0">
                <a:solidFill>
                  <a:srgbClr val="003F66"/>
                </a:solidFill>
                <a:latin typeface="Bookman Old Style" panose="02050604050505020204" pitchFamily="18" charset="0"/>
              </a:rPr>
              <a:t>	class A { }</a:t>
            </a:r>
            <a:endParaRPr lang="en-US" sz="1600" dirty="0">
              <a:solidFill>
                <a:srgbClr val="FF0000"/>
              </a:solidFill>
              <a:latin typeface="Bookman Old Style" panose="02050604050505020204" pitchFamily="18" charset="0"/>
            </a:endParaRPr>
          </a:p>
          <a:p>
            <a:pPr algn="just"/>
            <a:r>
              <a:rPr lang="en-US" sz="1600" dirty="0">
                <a:solidFill>
                  <a:srgbClr val="003F66"/>
                </a:solidFill>
                <a:latin typeface="Bookman Old Style" panose="02050604050505020204" pitchFamily="18" charset="0"/>
              </a:rPr>
              <a:t>	</a:t>
            </a:r>
          </a:p>
          <a:p>
            <a:pPr algn="just"/>
            <a:r>
              <a:rPr lang="en-US" sz="1600" dirty="0">
                <a:solidFill>
                  <a:srgbClr val="003F66"/>
                </a:solidFill>
                <a:latin typeface="Bookman Old Style" panose="02050604050505020204" pitchFamily="18" charset="0"/>
              </a:rPr>
              <a:t>	public class B { } </a:t>
            </a:r>
            <a:r>
              <a:rPr lang="en-US" sz="1600" dirty="0">
                <a:solidFill>
                  <a:srgbClr val="FF0000"/>
                </a:solidFill>
                <a:latin typeface="Bookman Old Style" panose="02050604050505020204" pitchFamily="18" charset="0"/>
              </a:rPr>
              <a:t>// No package; hence no use</a:t>
            </a:r>
          </a:p>
          <a:p>
            <a:pPr algn="just"/>
            <a:endParaRPr lang="en-US" sz="1600" dirty="0">
              <a:solidFill>
                <a:srgbClr val="003F66"/>
              </a:solidFill>
              <a:latin typeface="Bookman Old Style" panose="02050604050505020204" pitchFamily="18" charset="0"/>
            </a:endParaRPr>
          </a:p>
          <a:p>
            <a:pPr algn="just"/>
            <a:r>
              <a:rPr lang="en-US" sz="1600" b="1" dirty="0">
                <a:solidFill>
                  <a:srgbClr val="003F66"/>
                </a:solidFill>
                <a:latin typeface="Bookman Old Style" panose="02050604050505020204" pitchFamily="18" charset="0"/>
              </a:rPr>
              <a:t>protected (NA):</a:t>
            </a:r>
            <a:r>
              <a:rPr lang="en-US" sz="1600" dirty="0">
                <a:solidFill>
                  <a:srgbClr val="003F66"/>
                </a:solidFill>
                <a:latin typeface="Bookman Old Style" panose="02050604050505020204" pitchFamily="18" charset="0"/>
              </a:rPr>
              <a:t> members can be accessible up-to sub classes outside the package. </a:t>
            </a:r>
            <a:r>
              <a:rPr lang="en-US" sz="1600" dirty="0">
                <a:solidFill>
                  <a:srgbClr val="FF0000"/>
                </a:solidFill>
                <a:latin typeface="Bookman Old Style" panose="02050604050505020204" pitchFamily="18" charset="0"/>
              </a:rPr>
              <a:t>But class cannot be declared as protected</a:t>
            </a:r>
            <a:r>
              <a:rPr lang="en-US" sz="1600" dirty="0">
                <a:solidFill>
                  <a:srgbClr val="003F66"/>
                </a:solidFill>
                <a:latin typeface="Bookman Old Style" panose="02050604050505020204" pitchFamily="18" charset="0"/>
              </a:rPr>
              <a:t>.</a:t>
            </a:r>
          </a:p>
          <a:p>
            <a:pPr algn="just"/>
            <a:endParaRPr lang="en-US" sz="1600" dirty="0">
              <a:solidFill>
                <a:srgbClr val="003F66"/>
              </a:solidFill>
              <a:latin typeface="Bookman Old Style" panose="02050604050505020204" pitchFamily="18" charset="0"/>
            </a:endParaRPr>
          </a:p>
          <a:p>
            <a:pPr algn="just"/>
            <a:r>
              <a:rPr lang="en-US" sz="1600" b="1" dirty="0">
                <a:solidFill>
                  <a:srgbClr val="003F66"/>
                </a:solidFill>
                <a:latin typeface="Bookman Old Style" panose="02050604050505020204" pitchFamily="18" charset="0"/>
              </a:rPr>
              <a:t>public (A):</a:t>
            </a:r>
            <a:r>
              <a:rPr lang="en-US" sz="1600" dirty="0">
                <a:solidFill>
                  <a:srgbClr val="003F66"/>
                </a:solidFill>
                <a:latin typeface="Bookman Old Style" panose="02050604050505020204" pitchFamily="18" charset="0"/>
              </a:rPr>
              <a:t> can be accessible anywhere in the system. If want to be accessible then package declaration and classpath up-to package parent directory updation is must.</a:t>
            </a:r>
          </a:p>
          <a:p>
            <a:pPr algn="just"/>
            <a:r>
              <a:rPr lang="en-US" sz="1600" dirty="0">
                <a:solidFill>
                  <a:srgbClr val="003F66"/>
                </a:solidFill>
                <a:latin typeface="Bookman Old Style" panose="02050604050505020204" pitchFamily="18" charset="0"/>
              </a:rPr>
              <a:t>public classes can be inherited or instantiated within and outside the directory/package.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562DAD2-9D20-43FC-A14C-DFF39EA2AD0B}"/>
              </a:ext>
            </a:extLst>
          </p:cNvPr>
          <p:cNvSpPr txBox="1"/>
          <p:nvPr/>
        </p:nvSpPr>
        <p:spPr>
          <a:xfrm>
            <a:off x="9647583" y="1842053"/>
            <a:ext cx="227937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accessible means inherited or instantiated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rgbClr val="FF0000"/>
                </a:solidFill>
              </a:rPr>
              <a:t>extends</a:t>
            </a:r>
          </a:p>
          <a:p>
            <a:r>
              <a:rPr lang="en-US" dirty="0">
                <a:solidFill>
                  <a:srgbClr val="FF0000"/>
                </a:solidFill>
              </a:rPr>
              <a:t>(or)</a:t>
            </a:r>
          </a:p>
          <a:p>
            <a:r>
              <a:rPr lang="en-US" dirty="0">
                <a:solidFill>
                  <a:srgbClr val="FF0000"/>
                </a:solidFill>
              </a:rPr>
              <a:t>object creation</a:t>
            </a:r>
            <a:endParaRPr lang="en-IN" dirty="0">
              <a:solidFill>
                <a:srgbClr val="FF0000"/>
              </a:solidFill>
            </a:endParaRP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1F97619-3F43-44D8-911D-F0E4A5A15FEC}"/>
              </a:ext>
            </a:extLst>
          </p:cNvPr>
          <p:cNvCxnSpPr>
            <a:cxnSpLocks/>
            <a:endCxn id="28" idx="1"/>
          </p:cNvCxnSpPr>
          <p:nvPr/>
        </p:nvCxnSpPr>
        <p:spPr>
          <a:xfrm flipV="1">
            <a:off x="7328452" y="2857716"/>
            <a:ext cx="2319131" cy="393814"/>
          </a:xfrm>
          <a:prstGeom prst="straightConnector1">
            <a:avLst/>
          </a:prstGeom>
          <a:ln w="76200">
            <a:tailEnd type="triangle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10068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F04DBC6C-E9A2-43DD-8AE4-8D0DDE4523E5}"/>
              </a:ext>
            </a:extLst>
          </p:cNvPr>
          <p:cNvGrpSpPr/>
          <p:nvPr/>
        </p:nvGrpSpPr>
        <p:grpSpPr>
          <a:xfrm>
            <a:off x="0" y="-3010"/>
            <a:ext cx="12226085" cy="6861011"/>
            <a:chOff x="0" y="-3010"/>
            <a:chExt cx="12226085" cy="6861011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9DCF868-6E93-4982-AB2D-FFEEE7478913}"/>
                </a:ext>
              </a:extLst>
            </p:cNvPr>
            <p:cNvSpPr/>
            <p:nvPr/>
          </p:nvSpPr>
          <p:spPr>
            <a:xfrm>
              <a:off x="9542412" y="3922295"/>
              <a:ext cx="2649586" cy="293570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Don’t write or place any image in this area </a:t>
              </a:r>
            </a:p>
          </p:txBody>
        </p:sp>
        <p:sp>
          <p:nvSpPr>
            <p:cNvPr id="15" name="Arrow: Chevron 14">
              <a:extLst>
                <a:ext uri="{FF2B5EF4-FFF2-40B4-BE49-F238E27FC236}">
                  <a16:creationId xmlns:a16="http://schemas.microsoft.com/office/drawing/2014/main" id="{F5FB86E3-5182-4C43-8464-D4B43C073FD3}"/>
                </a:ext>
              </a:extLst>
            </p:cNvPr>
            <p:cNvSpPr/>
            <p:nvPr/>
          </p:nvSpPr>
          <p:spPr>
            <a:xfrm>
              <a:off x="2935705" y="0"/>
              <a:ext cx="6039853" cy="718885"/>
            </a:xfrm>
            <a:prstGeom prst="chevron">
              <a:avLst/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pPr algn="ctr"/>
              <a:r>
                <a:rPr lang="en-US" sz="2000" b="1" dirty="0">
                  <a:solidFill>
                    <a:schemeClr val="bg1"/>
                  </a:solidFill>
                  <a:latin typeface="Bookman Old Style" panose="02050604050505020204" pitchFamily="18" charset="0"/>
                </a:rPr>
                <a:t>Consequences of applying access modifiers on class</a:t>
              </a:r>
              <a:endParaRPr lang="en-US" sz="1200" b="1" dirty="0">
                <a:solidFill>
                  <a:schemeClr val="bg1"/>
                </a:solidFill>
                <a:latin typeface="Bookman Old Style" panose="02050604050505020204" pitchFamily="18" charset="0"/>
              </a:endParaRPr>
            </a:p>
          </p:txBody>
        </p:sp>
        <p:sp>
          <p:nvSpPr>
            <p:cNvPr id="16" name="Half Frame 15">
              <a:extLst>
                <a:ext uri="{FF2B5EF4-FFF2-40B4-BE49-F238E27FC236}">
                  <a16:creationId xmlns:a16="http://schemas.microsoft.com/office/drawing/2014/main" id="{D42E4D77-9E3B-4372-9B15-2E2A4737FA1A}"/>
                </a:ext>
              </a:extLst>
            </p:cNvPr>
            <p:cNvSpPr/>
            <p:nvPr/>
          </p:nvSpPr>
          <p:spPr>
            <a:xfrm rot="16200000">
              <a:off x="27072" y="5441282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7" name="Half Frame 16">
              <a:extLst>
                <a:ext uri="{FF2B5EF4-FFF2-40B4-BE49-F238E27FC236}">
                  <a16:creationId xmlns:a16="http://schemas.microsoft.com/office/drawing/2014/main" id="{94B64B7C-6927-47F2-A370-51DB6CB7DB7C}"/>
                </a:ext>
              </a:extLst>
            </p:cNvPr>
            <p:cNvSpPr/>
            <p:nvPr/>
          </p:nvSpPr>
          <p:spPr>
            <a:xfrm>
              <a:off x="0" y="-3010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8" name="Half Frame 17">
              <a:extLst>
                <a:ext uri="{FF2B5EF4-FFF2-40B4-BE49-F238E27FC236}">
                  <a16:creationId xmlns:a16="http://schemas.microsoft.com/office/drawing/2014/main" id="{D0D65A0A-0D35-43C7-8FFB-8766B0E0CFF5}"/>
                </a:ext>
              </a:extLst>
            </p:cNvPr>
            <p:cNvSpPr/>
            <p:nvPr/>
          </p:nvSpPr>
          <p:spPr>
            <a:xfrm rot="5400000">
              <a:off x="10775281" y="-27070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9" name="Half Frame 18">
              <a:extLst>
                <a:ext uri="{FF2B5EF4-FFF2-40B4-BE49-F238E27FC236}">
                  <a16:creationId xmlns:a16="http://schemas.microsoft.com/office/drawing/2014/main" id="{5F0E1DE4-5900-4FD7-8376-F2806B3FD10B}"/>
                </a:ext>
              </a:extLst>
            </p:cNvPr>
            <p:cNvSpPr/>
            <p:nvPr/>
          </p:nvSpPr>
          <p:spPr>
            <a:xfrm rot="16200000">
              <a:off x="27073" y="5441282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0" name="Half Frame 19">
              <a:extLst>
                <a:ext uri="{FF2B5EF4-FFF2-40B4-BE49-F238E27FC236}">
                  <a16:creationId xmlns:a16="http://schemas.microsoft.com/office/drawing/2014/main" id="{AF515097-FF0D-4D2D-8ABE-40C71D119BD4}"/>
                </a:ext>
              </a:extLst>
            </p:cNvPr>
            <p:cNvSpPr/>
            <p:nvPr/>
          </p:nvSpPr>
          <p:spPr>
            <a:xfrm rot="10800000">
              <a:off x="10802349" y="5414210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BCDA0A01-2100-4CCD-9D0E-EDE971F85C5A}"/>
                </a:ext>
              </a:extLst>
            </p:cNvPr>
            <p:cNvSpPr/>
            <p:nvPr/>
          </p:nvSpPr>
          <p:spPr>
            <a:xfrm>
              <a:off x="12045611" y="2756732"/>
              <a:ext cx="180474" cy="1112921"/>
            </a:xfrm>
            <a:prstGeom prst="rect">
              <a:avLst/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724ED9EE-B382-4495-BB26-9ABF91230913}"/>
                </a:ext>
              </a:extLst>
            </p:cNvPr>
            <p:cNvSpPr/>
            <p:nvPr/>
          </p:nvSpPr>
          <p:spPr>
            <a:xfrm>
              <a:off x="0" y="2756733"/>
              <a:ext cx="180474" cy="1112921"/>
            </a:xfrm>
            <a:prstGeom prst="rect">
              <a:avLst/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576829B0-3EDD-4874-A380-B94C3CAC54D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241999" y="198519"/>
              <a:ext cx="752990" cy="824163"/>
            </a:xfrm>
            <a:prstGeom prst="roundRect">
              <a:avLst>
                <a:gd name="adj" fmla="val 2010"/>
              </a:avLst>
            </a:prstGeom>
            <a:gradFill>
              <a:gsLst>
                <a:gs pos="0">
                  <a:srgbClr val="00F2FE"/>
                </a:gs>
                <a:gs pos="41897">
                  <a:srgbClr val="28CFFE"/>
                </a:gs>
                <a:gs pos="97514">
                  <a:srgbClr val="4FACFE"/>
                </a:gs>
              </a:gsLst>
              <a:lin ang="8471591"/>
            </a:gradFill>
            <a:ln w="12700">
              <a:solidFill>
                <a:srgbClr val="F105D3"/>
              </a:solidFill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</p:spPr>
        </p:pic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03785EC2-9E6C-4556-B212-9D24BE5609BE}"/>
              </a:ext>
            </a:extLst>
          </p:cNvPr>
          <p:cNvSpPr txBox="1"/>
          <p:nvPr/>
        </p:nvSpPr>
        <p:spPr>
          <a:xfrm>
            <a:off x="675860" y="1233699"/>
            <a:ext cx="8611151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800" b="1" dirty="0">
                <a:solidFill>
                  <a:srgbClr val="003F66"/>
                </a:solidFill>
                <a:latin typeface="Bookman Old Style" panose="02050604050505020204" pitchFamily="18" charset="0"/>
              </a:rPr>
              <a:t>access modifiers on class:</a:t>
            </a:r>
          </a:p>
          <a:p>
            <a:pPr algn="just"/>
            <a:r>
              <a:rPr lang="en-US" sz="2800" b="1" dirty="0">
                <a:solidFill>
                  <a:srgbClr val="003F66"/>
                </a:solidFill>
                <a:latin typeface="Bookman Old Style" panose="02050604050505020204" pitchFamily="18" charset="0"/>
              </a:rPr>
              <a:t>-------------------------------------- </a:t>
            </a:r>
          </a:p>
          <a:p>
            <a:pPr algn="just"/>
            <a:r>
              <a:rPr lang="en-US" sz="2400" b="1" u="sng" dirty="0">
                <a:solidFill>
                  <a:srgbClr val="003F66"/>
                </a:solidFill>
                <a:latin typeface="Bookman Old Style" panose="02050604050505020204" pitchFamily="18" charset="0"/>
              </a:rPr>
              <a:t>abstract:</a:t>
            </a:r>
            <a:r>
              <a:rPr lang="en-US" sz="2400" b="1" dirty="0">
                <a:solidFill>
                  <a:srgbClr val="003F66"/>
                </a:solidFill>
                <a:latin typeface="Bookman Old Style" panose="02050604050505020204" pitchFamily="18" charset="0"/>
              </a:rPr>
              <a:t> </a:t>
            </a:r>
            <a:endParaRPr lang="en-US" sz="1600" b="1" dirty="0">
              <a:solidFill>
                <a:srgbClr val="003F66"/>
              </a:solidFill>
              <a:latin typeface="Bookman Old Style" panose="020506040505050202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1600" dirty="0">
                <a:solidFill>
                  <a:srgbClr val="003F66"/>
                </a:solidFill>
                <a:latin typeface="Bookman Old Style" panose="02050604050505020204" pitchFamily="18" charset="0"/>
              </a:rPr>
              <a:t>abstract means unimplemented or not implemented. If class contains abstract method(s) / unimplemented methods / only declared methods, then class must be declared as abstract. </a:t>
            </a:r>
          </a:p>
          <a:p>
            <a:pPr algn="just"/>
            <a:endParaRPr lang="en-US" sz="1600" dirty="0">
              <a:solidFill>
                <a:srgbClr val="003F66"/>
              </a:solidFill>
              <a:latin typeface="Bookman Old Style" panose="020506040505050202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1600" dirty="0">
                <a:solidFill>
                  <a:srgbClr val="003F66"/>
                </a:solidFill>
                <a:latin typeface="Bookman Old Style" panose="02050604050505020204" pitchFamily="18" charset="0"/>
              </a:rPr>
              <a:t>But it is not mandatory that abstract class must contain abstract methods. </a:t>
            </a:r>
          </a:p>
          <a:p>
            <a:pPr algn="just"/>
            <a:endParaRPr lang="en-US" sz="1600" dirty="0">
              <a:solidFill>
                <a:srgbClr val="003F66"/>
              </a:solidFill>
              <a:latin typeface="Bookman Old Style" panose="020506040505050202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1600" dirty="0">
                <a:solidFill>
                  <a:srgbClr val="003F66"/>
                </a:solidFill>
                <a:latin typeface="Bookman Old Style" panose="02050604050505020204" pitchFamily="18" charset="0"/>
              </a:rPr>
              <a:t>Classes which do not want to be instantiated are also declared as abstract. If class want to act as a super most class and don’t want to participate in direct method invocation, then such classes are declared as abstract.</a:t>
            </a:r>
          </a:p>
          <a:p>
            <a:pPr algn="just"/>
            <a:endParaRPr lang="en-US" sz="1600" dirty="0">
              <a:solidFill>
                <a:srgbClr val="003F66"/>
              </a:solidFill>
              <a:latin typeface="Bookman Old Style" panose="020506040505050202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1600" dirty="0">
                <a:solidFill>
                  <a:srgbClr val="003F66"/>
                </a:solidFill>
                <a:latin typeface="Bookman Old Style" panose="02050604050505020204" pitchFamily="18" charset="0"/>
              </a:rPr>
              <a:t>abstract class methods must be implemented in sub classes. Sub class can be instantiated and super class implemented methods can be accessed by client.</a:t>
            </a:r>
          </a:p>
          <a:p>
            <a:pPr algn="just"/>
            <a:endParaRPr lang="en-US" sz="1600" dirty="0">
              <a:solidFill>
                <a:srgbClr val="003F66"/>
              </a:solidFill>
              <a:latin typeface="Bookman Old Style" panose="020506040505050202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1600" dirty="0">
                <a:solidFill>
                  <a:srgbClr val="003F66"/>
                </a:solidFill>
                <a:latin typeface="Bookman Old Style" panose="02050604050505020204" pitchFamily="18" charset="0"/>
              </a:rPr>
              <a:t>abstract class cannot be instantiated, but can only be inherited.</a:t>
            </a:r>
            <a:endParaRPr lang="en-US" sz="1050" dirty="0">
              <a:solidFill>
                <a:srgbClr val="003F66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51236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427</TotalTime>
  <Words>530</Words>
  <Application>Microsoft Office PowerPoint</Application>
  <PresentationFormat>Widescreen</PresentationFormat>
  <Paragraphs>77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Bookman Old Style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ICT_4</dc:creator>
  <cp:lastModifiedBy>nivas .</cp:lastModifiedBy>
  <cp:revision>48</cp:revision>
  <dcterms:created xsi:type="dcterms:W3CDTF">2021-09-13T09:22:41Z</dcterms:created>
  <dcterms:modified xsi:type="dcterms:W3CDTF">2022-09-20T04:17:33Z</dcterms:modified>
</cp:coreProperties>
</file>