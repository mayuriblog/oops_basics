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92" r:id="rId3"/>
    <p:sldId id="270" r:id="rId4"/>
    <p:sldId id="271" r:id="rId5"/>
    <p:sldId id="272" r:id="rId6"/>
    <p:sldId id="273" r:id="rId7"/>
    <p:sldId id="274" r:id="rId8"/>
    <p:sldId id="275" r:id="rId9"/>
    <p:sldId id="276" r:id="rId10"/>
    <p:sldId id="27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66"/>
    <a:srgbClr val="F105D3"/>
    <a:srgbClr val="990033"/>
    <a:srgbClr val="0000FF"/>
    <a:srgbClr val="3399FF"/>
    <a:srgbClr val="FF9933"/>
    <a:srgbClr val="FF5050"/>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71" d="100"/>
          <a:sy n="71" d="100"/>
        </p:scale>
        <p:origin x="69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7D4F8FD7-6664-4EC7-B781-79F419E034EE}" type="datetimeFigureOut">
              <a:rPr lang="en-US" smtClean="0"/>
              <a:t>9/19/2022</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4F8FD7-6664-4EC7-B781-79F419E034EE}" type="datetimeFigureOut">
              <a:rPr lang="en-US" smtClean="0"/>
              <a:t>9/19/2022</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 name="TextBox 2">
            <a:extLst>
              <a:ext uri="{FF2B5EF4-FFF2-40B4-BE49-F238E27FC236}">
                <a16:creationId xmlns:a16="http://schemas.microsoft.com/office/drawing/2014/main" id="{67F84A6C-EA2E-5961-600B-18F2F9950E8B}"/>
              </a:ext>
            </a:extLst>
          </p:cNvPr>
          <p:cNvSpPr txBox="1"/>
          <p:nvPr/>
        </p:nvSpPr>
        <p:spPr>
          <a:xfrm>
            <a:off x="2266953" y="1618022"/>
            <a:ext cx="6406399" cy="267765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b="1" dirty="0">
                <a:solidFill>
                  <a:srgbClr val="FF0000"/>
                </a:solidFill>
                <a:latin typeface="Bookman Old Style" panose="02050604050505020204" pitchFamily="18" charset="0"/>
              </a:rPr>
              <a:t>Consequences of applying</a:t>
            </a:r>
            <a:r>
              <a:rPr lang="en-US" sz="3200" b="1" dirty="0">
                <a:solidFill>
                  <a:srgbClr val="FF0000"/>
                </a:solidFill>
                <a:latin typeface="Bookman Old Style" panose="02050604050505020204" pitchFamily="18" charset="0"/>
              </a:rPr>
              <a:t> </a:t>
            </a:r>
            <a:r>
              <a:rPr lang="en-US" sz="2800" b="1" dirty="0">
                <a:solidFill>
                  <a:srgbClr val="F105D3"/>
                </a:solidFill>
                <a:latin typeface="Bookman Old Style" panose="02050604050505020204" pitchFamily="18" charset="0"/>
              </a:rPr>
              <a:t>access specifiers &amp; modifiers </a:t>
            </a:r>
            <a:r>
              <a:rPr lang="en-US" sz="3200" b="1" dirty="0">
                <a:solidFill>
                  <a:srgbClr val="F105D3"/>
                </a:solidFill>
                <a:latin typeface="Bookman Old Style" panose="02050604050505020204" pitchFamily="18" charset="0"/>
              </a:rPr>
              <a:t>on </a:t>
            </a:r>
          </a:p>
          <a:p>
            <a:pPr algn="ctr"/>
            <a:r>
              <a:rPr lang="en-US" sz="3600" b="1" dirty="0">
                <a:solidFill>
                  <a:srgbClr val="003F66"/>
                </a:solidFill>
                <a:latin typeface="Bookman Old Style" panose="02050604050505020204" pitchFamily="18" charset="0"/>
              </a:rPr>
              <a:t>Variables</a:t>
            </a:r>
            <a:endParaRPr lang="en-US" sz="3200" b="1" dirty="0">
              <a:solidFill>
                <a:srgbClr val="003F66"/>
              </a:solidFill>
              <a:latin typeface="Bookman Old Style" panose="02050604050505020204" pitchFamily="18" charset="0"/>
            </a:endParaRPr>
          </a:p>
          <a:p>
            <a:pPr algn="ctr"/>
            <a:r>
              <a:rPr lang="en-US" sz="3200" b="1" dirty="0">
                <a:solidFill>
                  <a:srgbClr val="FF0000"/>
                </a:solidFill>
                <a:latin typeface="Bookman Old Style" panose="02050604050505020204" pitchFamily="18" charset="0"/>
              </a:rPr>
              <a:t>-</a:t>
            </a:r>
          </a:p>
          <a:p>
            <a:pPr algn="ctr"/>
            <a:r>
              <a:rPr lang="en-US" sz="3200" b="1" dirty="0">
                <a:solidFill>
                  <a:srgbClr val="7030A0"/>
                </a:solidFill>
                <a:latin typeface="Bookman Old Style" panose="02050604050505020204" pitchFamily="18" charset="0"/>
              </a:rPr>
              <a:t>Part III</a:t>
            </a:r>
            <a:endParaRPr lang="en-US" b="1" dirty="0">
              <a:solidFill>
                <a:srgbClr val="7030A0"/>
              </a:solidFill>
              <a:latin typeface="Bookman Old Style" panose="02050604050505020204" pitchFamily="18" charset="0"/>
            </a:endParaRPr>
          </a:p>
        </p:txBody>
      </p:sp>
    </p:spTree>
    <p:extLst>
      <p:ext uri="{BB962C8B-B14F-4D97-AF65-F5344CB8AC3E}">
        <p14:creationId xmlns:p14="http://schemas.microsoft.com/office/powerpoint/2010/main" val="538109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7" name="TextBox 26">
            <a:extLst>
              <a:ext uri="{FF2B5EF4-FFF2-40B4-BE49-F238E27FC236}">
                <a16:creationId xmlns:a16="http://schemas.microsoft.com/office/drawing/2014/main" id="{15010052-3B27-4D6F-89F3-747DABFC2B83}"/>
              </a:ext>
            </a:extLst>
          </p:cNvPr>
          <p:cNvSpPr txBox="1"/>
          <p:nvPr/>
        </p:nvSpPr>
        <p:spPr>
          <a:xfrm>
            <a:off x="614918" y="2041964"/>
            <a:ext cx="8555586" cy="1107996"/>
          </a:xfrm>
          <a:prstGeom prst="rect">
            <a:avLst/>
          </a:prstGeom>
          <a:noFill/>
        </p:spPr>
        <p:txBody>
          <a:bodyPr wrap="square">
            <a:spAutoFit/>
          </a:bodyPr>
          <a:lstStyle/>
          <a:p>
            <a:pPr algn="ctr"/>
            <a:r>
              <a:rPr lang="en-US" sz="6600" b="1" dirty="0">
                <a:solidFill>
                  <a:srgbClr val="FF0000"/>
                </a:solidFill>
                <a:latin typeface="Bookman Old Style" panose="02050604050505020204" pitchFamily="18" charset="0"/>
              </a:rPr>
              <a:t>Variable Syntax</a:t>
            </a:r>
          </a:p>
        </p:txBody>
      </p:sp>
    </p:spTree>
    <p:extLst>
      <p:ext uri="{BB962C8B-B14F-4D97-AF65-F5344CB8AC3E}">
        <p14:creationId xmlns:p14="http://schemas.microsoft.com/office/powerpoint/2010/main" val="3442874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96A75156-0FE5-4FDF-A0A6-EBCDAD16D228}"/>
              </a:ext>
            </a:extLst>
          </p:cNvPr>
          <p:cNvSpPr txBox="1"/>
          <p:nvPr/>
        </p:nvSpPr>
        <p:spPr>
          <a:xfrm>
            <a:off x="278296" y="737371"/>
            <a:ext cx="8922025" cy="3662541"/>
          </a:xfrm>
          <a:prstGeom prst="rect">
            <a:avLst/>
          </a:prstGeom>
          <a:noFill/>
        </p:spPr>
        <p:txBody>
          <a:bodyPr wrap="square">
            <a:spAutoFit/>
          </a:bodyPr>
          <a:lstStyle/>
          <a:p>
            <a:pPr algn="just"/>
            <a:r>
              <a:rPr lang="en-US" sz="1800" b="1" dirty="0">
                <a:solidFill>
                  <a:srgbClr val="003F66"/>
                </a:solidFill>
                <a:latin typeface="Bookman Old Style" panose="02050604050505020204" pitchFamily="18" charset="0"/>
              </a:rPr>
              <a:t>--------------------------------------------------------------</a:t>
            </a:r>
          </a:p>
          <a:p>
            <a:pPr algn="just"/>
            <a:r>
              <a:rPr lang="en-US" sz="2800" b="1" dirty="0">
                <a:solidFill>
                  <a:srgbClr val="003F66"/>
                </a:solidFill>
                <a:latin typeface="Bookman Old Style" panose="02050604050505020204" pitchFamily="18" charset="0"/>
              </a:rPr>
              <a:t>Variable declaration syntax:</a:t>
            </a:r>
          </a:p>
          <a:p>
            <a:pPr algn="just"/>
            <a:r>
              <a:rPr lang="en-US" sz="1800" b="1" dirty="0">
                <a:solidFill>
                  <a:srgbClr val="003F66"/>
                </a:solidFill>
                <a:latin typeface="Bookman Old Style" panose="02050604050505020204" pitchFamily="18" charset="0"/>
              </a:rPr>
              <a:t>---------------------------------------------------------------</a:t>
            </a:r>
          </a:p>
          <a:p>
            <a:pPr algn="just"/>
            <a:r>
              <a:rPr lang="en-US" sz="2400" b="1" dirty="0">
                <a:solidFill>
                  <a:srgbClr val="003F66"/>
                </a:solidFill>
                <a:latin typeface="Bookman Old Style" panose="02050604050505020204" pitchFamily="18" charset="0"/>
              </a:rPr>
              <a:t>int </a:t>
            </a:r>
            <a:r>
              <a:rPr lang="en-US" sz="2400" b="1" dirty="0" err="1">
                <a:solidFill>
                  <a:srgbClr val="003F66"/>
                </a:solidFill>
                <a:latin typeface="Bookman Old Style" panose="02050604050505020204" pitchFamily="18" charset="0"/>
              </a:rPr>
              <a:t>i</a:t>
            </a:r>
            <a:r>
              <a:rPr lang="en-US" sz="2400" b="1" dirty="0">
                <a:solidFill>
                  <a:srgbClr val="003F66"/>
                </a:solidFill>
                <a:latin typeface="Bookman Old Style" panose="02050604050505020204" pitchFamily="18" charset="0"/>
              </a:rPr>
              <a:t>;</a:t>
            </a:r>
          </a:p>
          <a:p>
            <a:pPr algn="just"/>
            <a:r>
              <a:rPr lang="en-US" sz="2400" b="1" dirty="0">
                <a:solidFill>
                  <a:srgbClr val="003F66"/>
                </a:solidFill>
                <a:latin typeface="Bookman Old Style" panose="02050604050505020204" pitchFamily="18" charset="0"/>
              </a:rPr>
              <a:t>public int </a:t>
            </a:r>
            <a:r>
              <a:rPr lang="en-US" sz="2400" b="1" dirty="0" err="1">
                <a:solidFill>
                  <a:srgbClr val="003F66"/>
                </a:solidFill>
                <a:latin typeface="Bookman Old Style" panose="02050604050505020204" pitchFamily="18" charset="0"/>
              </a:rPr>
              <a:t>i</a:t>
            </a:r>
            <a:r>
              <a:rPr lang="en-US" sz="2400" b="1" dirty="0">
                <a:solidFill>
                  <a:srgbClr val="003F66"/>
                </a:solidFill>
                <a:latin typeface="Bookman Old Style" panose="02050604050505020204" pitchFamily="18" charset="0"/>
              </a:rPr>
              <a:t>;</a:t>
            </a:r>
          </a:p>
          <a:p>
            <a:pPr algn="just"/>
            <a:r>
              <a:rPr lang="en-US" sz="2400" b="1" dirty="0">
                <a:solidFill>
                  <a:srgbClr val="003F66"/>
                </a:solidFill>
                <a:latin typeface="Bookman Old Style" panose="02050604050505020204" pitchFamily="18" charset="0"/>
              </a:rPr>
              <a:t>int </a:t>
            </a:r>
            <a:r>
              <a:rPr lang="en-US" sz="2400" b="1" dirty="0" err="1">
                <a:solidFill>
                  <a:srgbClr val="003F66"/>
                </a:solidFill>
                <a:latin typeface="Bookman Old Style" panose="02050604050505020204" pitchFamily="18" charset="0"/>
              </a:rPr>
              <a:t>i</a:t>
            </a:r>
            <a:r>
              <a:rPr lang="en-US" sz="2400" b="1" dirty="0">
                <a:solidFill>
                  <a:srgbClr val="003F66"/>
                </a:solidFill>
                <a:latin typeface="Bookman Old Style" panose="02050604050505020204" pitchFamily="18" charset="0"/>
              </a:rPr>
              <a:t>=10;</a:t>
            </a:r>
          </a:p>
          <a:p>
            <a:pPr algn="just"/>
            <a:r>
              <a:rPr lang="en-US" sz="2400" b="1" dirty="0">
                <a:solidFill>
                  <a:srgbClr val="003F66"/>
                </a:solidFill>
                <a:latin typeface="Bookman Old Style" panose="02050604050505020204" pitchFamily="18" charset="0"/>
              </a:rPr>
              <a:t>final int </a:t>
            </a:r>
            <a:r>
              <a:rPr lang="en-US" sz="2400" b="1" dirty="0" err="1">
                <a:solidFill>
                  <a:srgbClr val="003F66"/>
                </a:solidFill>
                <a:latin typeface="Bookman Old Style" panose="02050604050505020204" pitchFamily="18" charset="0"/>
              </a:rPr>
              <a:t>i</a:t>
            </a:r>
            <a:r>
              <a:rPr lang="en-US" sz="2400" b="1" dirty="0">
                <a:solidFill>
                  <a:srgbClr val="003F66"/>
                </a:solidFill>
                <a:latin typeface="Bookman Old Style" panose="02050604050505020204" pitchFamily="18" charset="0"/>
              </a:rPr>
              <a:t>=10;</a:t>
            </a:r>
          </a:p>
          <a:p>
            <a:pPr algn="just"/>
            <a:r>
              <a:rPr lang="en-US" sz="2400" b="1" dirty="0">
                <a:solidFill>
                  <a:srgbClr val="003F66"/>
                </a:solidFill>
                <a:latin typeface="Bookman Old Style" panose="02050604050505020204" pitchFamily="18" charset="0"/>
              </a:rPr>
              <a:t>public static final int </a:t>
            </a:r>
            <a:r>
              <a:rPr lang="en-US" sz="2400" b="1" dirty="0" err="1">
                <a:solidFill>
                  <a:srgbClr val="003F66"/>
                </a:solidFill>
                <a:latin typeface="Bookman Old Style" panose="02050604050505020204" pitchFamily="18" charset="0"/>
              </a:rPr>
              <a:t>i</a:t>
            </a:r>
            <a:r>
              <a:rPr lang="en-US" sz="2400" b="1" dirty="0">
                <a:solidFill>
                  <a:srgbClr val="003F66"/>
                </a:solidFill>
                <a:latin typeface="Bookman Old Style" panose="02050604050505020204" pitchFamily="18" charset="0"/>
              </a:rPr>
              <a:t>=10;</a:t>
            </a:r>
          </a:p>
          <a:p>
            <a:pPr algn="just"/>
            <a:r>
              <a:rPr lang="en-US" sz="2400" b="1" dirty="0">
                <a:solidFill>
                  <a:srgbClr val="003F66"/>
                </a:solidFill>
                <a:latin typeface="Bookman Old Style" panose="02050604050505020204" pitchFamily="18" charset="0"/>
              </a:rPr>
              <a:t>transient int </a:t>
            </a:r>
            <a:r>
              <a:rPr lang="en-US" sz="2400" b="1" dirty="0" err="1">
                <a:solidFill>
                  <a:srgbClr val="003F66"/>
                </a:solidFill>
                <a:latin typeface="Bookman Old Style" panose="02050604050505020204" pitchFamily="18" charset="0"/>
              </a:rPr>
              <a:t>i</a:t>
            </a:r>
            <a:r>
              <a:rPr lang="en-US" sz="2400" b="1" dirty="0">
                <a:solidFill>
                  <a:srgbClr val="003F66"/>
                </a:solidFill>
                <a:latin typeface="Bookman Old Style" panose="02050604050505020204" pitchFamily="18" charset="0"/>
              </a:rPr>
              <a:t>=10;</a:t>
            </a:r>
          </a:p>
          <a:p>
            <a:pPr algn="just"/>
            <a:r>
              <a:rPr lang="en-US" sz="2400" b="1" dirty="0">
                <a:solidFill>
                  <a:srgbClr val="003F66"/>
                </a:solidFill>
                <a:latin typeface="Bookman Old Style" panose="02050604050505020204" pitchFamily="18" charset="0"/>
              </a:rPr>
              <a:t>volatile int </a:t>
            </a:r>
            <a:r>
              <a:rPr lang="en-US" sz="2400" b="1" dirty="0" err="1">
                <a:solidFill>
                  <a:srgbClr val="003F66"/>
                </a:solidFill>
                <a:latin typeface="Bookman Old Style" panose="02050604050505020204" pitchFamily="18" charset="0"/>
              </a:rPr>
              <a:t>i</a:t>
            </a:r>
            <a:r>
              <a:rPr lang="en-US" sz="2400" b="1" dirty="0">
                <a:solidFill>
                  <a:srgbClr val="003F66"/>
                </a:solidFill>
                <a:latin typeface="Bookman Old Style" panose="02050604050505020204" pitchFamily="18" charset="0"/>
              </a:rPr>
              <a:t>=10;</a:t>
            </a:r>
            <a:endParaRPr lang="en-IN" sz="2400" dirty="0"/>
          </a:p>
        </p:txBody>
      </p:sp>
    </p:spTree>
    <p:extLst>
      <p:ext uri="{BB962C8B-B14F-4D97-AF65-F5344CB8AC3E}">
        <p14:creationId xmlns:p14="http://schemas.microsoft.com/office/powerpoint/2010/main" val="3899660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28312F34-557F-4C58-9687-D3FD3D58FB50}"/>
              </a:ext>
            </a:extLst>
          </p:cNvPr>
          <p:cNvSpPr txBox="1"/>
          <p:nvPr/>
        </p:nvSpPr>
        <p:spPr>
          <a:xfrm>
            <a:off x="352010" y="1452988"/>
            <a:ext cx="9082838" cy="3416320"/>
          </a:xfrm>
          <a:prstGeom prst="rect">
            <a:avLst/>
          </a:prstGeom>
          <a:noFill/>
        </p:spPr>
        <p:txBody>
          <a:bodyPr wrap="square">
            <a:spAutoFit/>
          </a:bodyPr>
          <a:lstStyle/>
          <a:p>
            <a:pPr algn="just"/>
            <a:r>
              <a:rPr lang="en-US" sz="1800" b="1" dirty="0">
                <a:solidFill>
                  <a:srgbClr val="003F66"/>
                </a:solidFill>
                <a:latin typeface="Bookman Old Style" panose="02050604050505020204" pitchFamily="18" charset="0"/>
              </a:rPr>
              <a:t>Syntax:</a:t>
            </a:r>
          </a:p>
          <a:p>
            <a:pPr algn="just"/>
            <a:r>
              <a:rPr lang="en-US" sz="1800" b="1" dirty="0">
                <a:solidFill>
                  <a:srgbClr val="003F66"/>
                </a:solidFill>
                <a:latin typeface="Bookman Old Style" panose="02050604050505020204" pitchFamily="18" charset="0"/>
              </a:rPr>
              <a:t>&lt;</a:t>
            </a:r>
            <a:r>
              <a:rPr lang="en-US" sz="1800" b="1" dirty="0">
                <a:solidFill>
                  <a:srgbClr val="FF0000"/>
                </a:solidFill>
                <a:latin typeface="Bookman Old Style" panose="02050604050505020204" pitchFamily="18" charset="0"/>
              </a:rPr>
              <a:t>access_specifier</a:t>
            </a:r>
            <a:r>
              <a:rPr lang="en-US" sz="1800" b="1" dirty="0">
                <a:solidFill>
                  <a:srgbClr val="003F66"/>
                </a:solidFill>
                <a:latin typeface="Bookman Old Style" panose="02050604050505020204" pitchFamily="18" charset="0"/>
              </a:rPr>
              <a:t>&gt; &lt;</a:t>
            </a:r>
            <a:r>
              <a:rPr lang="en-US" sz="1800" b="1" dirty="0">
                <a:solidFill>
                  <a:schemeClr val="accent2">
                    <a:lumMod val="75000"/>
                  </a:schemeClr>
                </a:solidFill>
                <a:latin typeface="Bookman Old Style" panose="02050604050505020204" pitchFamily="18" charset="0"/>
              </a:rPr>
              <a:t>access_modifier</a:t>
            </a:r>
            <a:r>
              <a:rPr lang="en-US" sz="1800" b="1" dirty="0">
                <a:solidFill>
                  <a:srgbClr val="003F66"/>
                </a:solidFill>
                <a:latin typeface="Bookman Old Style" panose="02050604050505020204" pitchFamily="18" charset="0"/>
              </a:rPr>
              <a:t>&gt; </a:t>
            </a:r>
            <a:r>
              <a:rPr lang="en-US" sz="1800" b="1" dirty="0">
                <a:solidFill>
                  <a:schemeClr val="accent6">
                    <a:lumMod val="75000"/>
                  </a:schemeClr>
                </a:solidFill>
                <a:latin typeface="Bookman Old Style" panose="02050604050505020204" pitchFamily="18" charset="0"/>
              </a:rPr>
              <a:t>data_type</a:t>
            </a:r>
            <a:r>
              <a:rPr lang="en-US" sz="1800" b="1" dirty="0">
                <a:solidFill>
                  <a:srgbClr val="003F66"/>
                </a:solidFill>
                <a:latin typeface="Bookman Old Style" panose="02050604050505020204" pitchFamily="18" charset="0"/>
              </a:rPr>
              <a:t> var_name/identifier &lt;=initializer/value/literal&gt;;</a:t>
            </a:r>
          </a:p>
          <a:p>
            <a:pPr algn="just"/>
            <a:endParaRPr lang="en-US" sz="1800" b="1" dirty="0">
              <a:solidFill>
                <a:srgbClr val="003F66"/>
              </a:solidFill>
              <a:latin typeface="Bookman Old Style" panose="02050604050505020204" pitchFamily="18" charset="0"/>
            </a:endParaRPr>
          </a:p>
          <a:p>
            <a:pPr algn="just"/>
            <a:r>
              <a:rPr lang="en-US" sz="3600" b="1" u="sng" dirty="0">
                <a:solidFill>
                  <a:srgbClr val="003F66"/>
                </a:solidFill>
                <a:latin typeface="Bookman Old Style" panose="02050604050505020204" pitchFamily="18" charset="0"/>
              </a:rPr>
              <a:t>access specifiers:</a:t>
            </a:r>
          </a:p>
          <a:p>
            <a:pPr algn="just"/>
            <a:r>
              <a:rPr lang="en-US" sz="1800" b="1" dirty="0">
                <a:solidFill>
                  <a:srgbClr val="003F66"/>
                </a:solidFill>
                <a:latin typeface="Bookman Old Style" panose="02050604050505020204" pitchFamily="18" charset="0"/>
              </a:rPr>
              <a:t>all access_specifiers are applicable on variables</a:t>
            </a:r>
          </a:p>
          <a:p>
            <a:pPr marL="285750" indent="-285750" algn="just">
              <a:buFont typeface="Wingdings" panose="05000000000000000000" pitchFamily="2" charset="2"/>
              <a:buChar char="v"/>
            </a:pPr>
            <a:r>
              <a:rPr lang="en-US" sz="1800" b="1" dirty="0">
                <a:solidFill>
                  <a:srgbClr val="003F66"/>
                </a:solidFill>
                <a:latin typeface="Bookman Old Style" panose="02050604050505020204" pitchFamily="18" charset="0"/>
              </a:rPr>
              <a:t>private: accessible only within the class</a:t>
            </a:r>
          </a:p>
          <a:p>
            <a:pPr marL="285750" indent="-285750" algn="just">
              <a:buFont typeface="Wingdings" panose="05000000000000000000" pitchFamily="2" charset="2"/>
              <a:buChar char="v"/>
            </a:pPr>
            <a:r>
              <a:rPr lang="en-US" sz="1800" b="1" dirty="0">
                <a:solidFill>
                  <a:srgbClr val="003F66"/>
                </a:solidFill>
                <a:latin typeface="Bookman Old Style" panose="02050604050505020204" pitchFamily="18" charset="0"/>
              </a:rPr>
              <a:t>default: accessible only within the package</a:t>
            </a:r>
          </a:p>
          <a:p>
            <a:pPr marL="285750" indent="-285750" algn="just">
              <a:buFont typeface="Wingdings" panose="05000000000000000000" pitchFamily="2" charset="2"/>
              <a:buChar char="v"/>
            </a:pPr>
            <a:r>
              <a:rPr lang="en-US" sz="1800" b="1" dirty="0">
                <a:solidFill>
                  <a:srgbClr val="003F66"/>
                </a:solidFill>
                <a:latin typeface="Bookman Old Style" panose="02050604050505020204" pitchFamily="18" charset="0"/>
              </a:rPr>
              <a:t>protected: accessible within the package and up to sub class outside the package</a:t>
            </a:r>
          </a:p>
          <a:p>
            <a:pPr marL="285750" indent="-285750" algn="just">
              <a:buFont typeface="Wingdings" panose="05000000000000000000" pitchFamily="2" charset="2"/>
              <a:buChar char="v"/>
            </a:pPr>
            <a:r>
              <a:rPr lang="en-US" sz="1800" b="1" dirty="0">
                <a:solidFill>
                  <a:srgbClr val="003F66"/>
                </a:solidFill>
                <a:latin typeface="Bookman Old Style" panose="02050604050505020204" pitchFamily="18" charset="0"/>
              </a:rPr>
              <a:t>public: accessible anywhere within and outside the package</a:t>
            </a:r>
            <a:endParaRPr lang="en-IN" sz="2400" dirty="0"/>
          </a:p>
        </p:txBody>
      </p:sp>
    </p:spTree>
    <p:extLst>
      <p:ext uri="{BB962C8B-B14F-4D97-AF65-F5344CB8AC3E}">
        <p14:creationId xmlns:p14="http://schemas.microsoft.com/office/powerpoint/2010/main" val="186179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DF04A27B-2E59-4B6E-8EE4-A83C6735E093}"/>
              </a:ext>
            </a:extLst>
          </p:cNvPr>
          <p:cNvSpPr txBox="1"/>
          <p:nvPr/>
        </p:nvSpPr>
        <p:spPr>
          <a:xfrm>
            <a:off x="285750" y="1174694"/>
            <a:ext cx="9082838" cy="5293757"/>
          </a:xfrm>
          <a:prstGeom prst="rect">
            <a:avLst/>
          </a:prstGeom>
          <a:noFill/>
        </p:spPr>
        <p:txBody>
          <a:bodyPr wrap="square">
            <a:spAutoFit/>
          </a:bodyPr>
          <a:lstStyle/>
          <a:p>
            <a:pPr algn="just"/>
            <a:r>
              <a:rPr lang="en-US" sz="3600" b="1" u="sng" dirty="0">
                <a:solidFill>
                  <a:srgbClr val="003F66"/>
                </a:solidFill>
                <a:latin typeface="Bookman Old Style" panose="02050604050505020204" pitchFamily="18" charset="0"/>
              </a:rPr>
              <a:t>access modifiers:</a:t>
            </a:r>
          </a:p>
          <a:p>
            <a:pPr algn="just"/>
            <a:r>
              <a:rPr lang="en-US" sz="2800" b="1" strike="sngStrike" dirty="0">
                <a:solidFill>
                  <a:srgbClr val="FF0000"/>
                </a:solidFill>
                <a:latin typeface="Bookman Old Style" panose="02050604050505020204" pitchFamily="18" charset="0"/>
              </a:rPr>
              <a:t>abstract:</a:t>
            </a:r>
            <a:r>
              <a:rPr lang="en-US" sz="2800" b="1" dirty="0">
                <a:solidFill>
                  <a:srgbClr val="003F66"/>
                </a:solidFill>
                <a:latin typeface="Bookman Old Style" panose="02050604050505020204" pitchFamily="18" charset="0"/>
              </a:rPr>
              <a:t>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is applicable only on class and methods because only class and method are having body/implementation.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variables are just initialized.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We should not declare variable as abstract. - Not Applicable</a:t>
            </a:r>
          </a:p>
          <a:p>
            <a:pPr algn="just"/>
            <a:endParaRPr lang="en-US" b="1" dirty="0">
              <a:solidFill>
                <a:srgbClr val="003F66"/>
              </a:solidFill>
              <a:latin typeface="Bookman Old Style" panose="02050604050505020204" pitchFamily="18" charset="0"/>
            </a:endParaRPr>
          </a:p>
          <a:p>
            <a:pPr algn="just"/>
            <a:r>
              <a:rPr lang="en-US" sz="2800" b="1" dirty="0">
                <a:solidFill>
                  <a:srgbClr val="FF0000"/>
                </a:solidFill>
                <a:latin typeface="Bookman Old Style" panose="02050604050505020204" pitchFamily="18" charset="0"/>
              </a:rPr>
              <a:t>final: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var whose value want to be constant forever are declared as final.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final var value must be initialized at the time of declaration.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They can't be reinitialized. initialization means assigning value.</a:t>
            </a:r>
          </a:p>
          <a:p>
            <a:pPr algn="just"/>
            <a:endParaRPr lang="en-US" sz="2000" b="1" dirty="0">
              <a:solidFill>
                <a:srgbClr val="003F66"/>
              </a:solidFill>
              <a:latin typeface="Bookman Old Style" panose="02050604050505020204" pitchFamily="18" charset="0"/>
            </a:endParaRPr>
          </a:p>
          <a:p>
            <a:pPr algn="just"/>
            <a:r>
              <a:rPr lang="en-US" sz="2400" dirty="0"/>
              <a:t>		    </a:t>
            </a:r>
            <a:r>
              <a:rPr lang="en-US" sz="2400" dirty="0" err="1">
                <a:solidFill>
                  <a:srgbClr val="F105D3"/>
                </a:solidFill>
              </a:rPr>
              <a:t>minAgeForVote</a:t>
            </a:r>
            <a:endParaRPr lang="en-US" sz="2400" dirty="0">
              <a:solidFill>
                <a:srgbClr val="F105D3"/>
              </a:solidFill>
            </a:endParaRPr>
          </a:p>
          <a:p>
            <a:pPr algn="just"/>
            <a:r>
              <a:rPr lang="en-US" sz="2400" dirty="0">
                <a:solidFill>
                  <a:srgbClr val="F105D3"/>
                </a:solidFill>
              </a:rPr>
              <a:t>public final int MIN_AGE_FOR_VOTE = 18;</a:t>
            </a:r>
            <a:endParaRPr lang="en-IN" sz="2400" dirty="0">
              <a:solidFill>
                <a:srgbClr val="F105D3"/>
              </a:solidFill>
            </a:endParaRPr>
          </a:p>
        </p:txBody>
      </p:sp>
    </p:spTree>
    <p:extLst>
      <p:ext uri="{BB962C8B-B14F-4D97-AF65-F5344CB8AC3E}">
        <p14:creationId xmlns:p14="http://schemas.microsoft.com/office/powerpoint/2010/main" val="4260279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9E7DC034-4FBA-4E47-9C47-F7DC1E4CDA04}"/>
              </a:ext>
            </a:extLst>
          </p:cNvPr>
          <p:cNvSpPr txBox="1"/>
          <p:nvPr/>
        </p:nvSpPr>
        <p:spPr>
          <a:xfrm>
            <a:off x="285750" y="1452988"/>
            <a:ext cx="9082838" cy="5047536"/>
          </a:xfrm>
          <a:prstGeom prst="rect">
            <a:avLst/>
          </a:prstGeom>
          <a:noFill/>
        </p:spPr>
        <p:txBody>
          <a:bodyPr wrap="square">
            <a:spAutoFit/>
          </a:bodyPr>
          <a:lstStyle/>
          <a:p>
            <a:pPr algn="just"/>
            <a:r>
              <a:rPr lang="en-US" sz="2800" b="1" dirty="0">
                <a:solidFill>
                  <a:srgbClr val="FF0000"/>
                </a:solidFill>
                <a:latin typeface="Bookman Old Style" panose="02050604050505020204" pitchFamily="18" charset="0"/>
              </a:rPr>
              <a:t>static: </a:t>
            </a:r>
            <a:r>
              <a:rPr lang="en-US" sz="1400" b="1" dirty="0">
                <a:solidFill>
                  <a:srgbClr val="003F66"/>
                </a:solidFill>
                <a:latin typeface="Bookman Old Style" panose="02050604050505020204" pitchFamily="18" charset="0"/>
              </a:rPr>
              <a:t>While declaring vars, vars which are not prefixed with static keyword are called as non static vars/class instance var/dynamic var (</a:t>
            </a:r>
            <a:r>
              <a:rPr lang="en-US" sz="1400" b="1" dirty="0" err="1">
                <a:solidFill>
                  <a:srgbClr val="003F66"/>
                </a:solidFill>
                <a:latin typeface="Bookman Old Style" panose="02050604050505020204" pitchFamily="18" charset="0"/>
              </a:rPr>
              <a:t>eid</a:t>
            </a:r>
            <a:r>
              <a:rPr lang="en-US" sz="1400" b="1" dirty="0">
                <a:solidFill>
                  <a:srgbClr val="003F66"/>
                </a:solidFill>
                <a:latin typeface="Bookman Old Style" panose="02050604050505020204" pitchFamily="18" charset="0"/>
              </a:rPr>
              <a:t>, </a:t>
            </a:r>
            <a:r>
              <a:rPr lang="en-US" sz="1400" b="1" dirty="0" err="1">
                <a:solidFill>
                  <a:srgbClr val="003F66"/>
                </a:solidFill>
                <a:latin typeface="Bookman Old Style" panose="02050604050505020204" pitchFamily="18" charset="0"/>
              </a:rPr>
              <a:t>ename</a:t>
            </a:r>
            <a:r>
              <a:rPr lang="en-US" sz="1400" b="1" dirty="0">
                <a:solidFill>
                  <a:srgbClr val="003F66"/>
                </a:solidFill>
                <a:latin typeface="Bookman Old Style" panose="02050604050505020204" pitchFamily="18" charset="0"/>
              </a:rPr>
              <a:t>, </a:t>
            </a:r>
            <a:r>
              <a:rPr lang="en-US" sz="1400" b="1" dirty="0" err="1">
                <a:solidFill>
                  <a:srgbClr val="003F66"/>
                </a:solidFill>
                <a:latin typeface="Bookman Old Style" panose="02050604050505020204" pitchFamily="18" charset="0"/>
              </a:rPr>
              <a:t>sal</a:t>
            </a:r>
            <a:r>
              <a:rPr lang="en-US" sz="1400" b="1" dirty="0">
                <a:solidFill>
                  <a:srgbClr val="003F66"/>
                </a:solidFill>
                <a:latin typeface="Bookman Old Style" panose="02050604050505020204" pitchFamily="18" charset="0"/>
              </a:rPr>
              <a:t>, </a:t>
            </a:r>
            <a:r>
              <a:rPr lang="en-US" sz="1400" b="1" dirty="0" err="1">
                <a:solidFill>
                  <a:srgbClr val="003F66"/>
                </a:solidFill>
                <a:latin typeface="Bookman Old Style" panose="02050604050505020204" pitchFamily="18" charset="0"/>
              </a:rPr>
              <a:t>desig</a:t>
            </a:r>
            <a:r>
              <a:rPr lang="en-US" sz="1400" b="1" dirty="0">
                <a:solidFill>
                  <a:srgbClr val="003F66"/>
                </a:solidFill>
                <a:latin typeface="Bookman Old Style" panose="02050604050505020204" pitchFamily="18" charset="0"/>
              </a:rPr>
              <a:t>). To such variables as many objects/instances of a class are created in those many instances the memory will be allocated to variables. The var value changes from instance-instance hence they are called as dynamic variables.</a:t>
            </a:r>
          </a:p>
          <a:p>
            <a:pPr algn="just"/>
            <a:endParaRPr lang="en-US" sz="1400" b="1"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Variable which is prefixed with static is called as static var/class var/not a class instance variable.</a:t>
            </a:r>
          </a:p>
          <a:p>
            <a:pPr algn="just"/>
            <a:endParaRPr lang="en-US" sz="1400" b="1"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Generally final variables are declared as static also because final variables value doesn't change though as many number of instances of the class are created, but in every instance memory, memory will be allocated to static variable which unnecessarily consumes the memory. Hence to not to consume memory unnecessarily for final variable, the var is also declared as static.</a:t>
            </a:r>
          </a:p>
          <a:p>
            <a:pPr algn="just"/>
            <a:endParaRPr lang="en-US" sz="1400" b="1"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Every static variable may not be a final variable such as </a:t>
            </a:r>
            <a:r>
              <a:rPr lang="en-US" sz="1400" b="1" i="1" u="sng" dirty="0">
                <a:solidFill>
                  <a:srgbClr val="003F66"/>
                </a:solidFill>
                <a:latin typeface="Bookman Old Style" panose="02050604050505020204" pitchFamily="18" charset="0"/>
              </a:rPr>
              <a:t>counter</a:t>
            </a:r>
            <a:r>
              <a:rPr lang="en-US" sz="1400" b="1" dirty="0">
                <a:solidFill>
                  <a:srgbClr val="003F66"/>
                </a:solidFill>
                <a:latin typeface="Bookman Old Style" panose="02050604050505020204" pitchFamily="18" charset="0"/>
              </a:rPr>
              <a:t> variable incremented in Student class constructor which will tells the count how many number of instances of Student class are created.</a:t>
            </a:r>
          </a:p>
          <a:p>
            <a:pPr algn="just"/>
            <a:endParaRPr lang="en-US" sz="1400" b="1"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If a variable is declared as static in one super class, with the same variable name if one more variable is declared in sub class. static vars are not derived into sub class, they will be directly called using classname.varname. static variables should not be called with this and super keywords. But they can be called with super class or sub class instances.</a:t>
            </a:r>
            <a:endParaRPr lang="en-IN" sz="1050" dirty="0">
              <a:solidFill>
                <a:srgbClr val="F105D3"/>
              </a:solidFill>
            </a:endParaRPr>
          </a:p>
        </p:txBody>
      </p:sp>
    </p:spTree>
    <p:extLst>
      <p:ext uri="{BB962C8B-B14F-4D97-AF65-F5344CB8AC3E}">
        <p14:creationId xmlns:p14="http://schemas.microsoft.com/office/powerpoint/2010/main" val="2320654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5" name="TextBox 24">
            <a:extLst>
              <a:ext uri="{FF2B5EF4-FFF2-40B4-BE49-F238E27FC236}">
                <a16:creationId xmlns:a16="http://schemas.microsoft.com/office/drawing/2014/main" id="{93273B17-ABB9-4764-B843-4303A08163F9}"/>
              </a:ext>
            </a:extLst>
          </p:cNvPr>
          <p:cNvSpPr txBox="1"/>
          <p:nvPr/>
        </p:nvSpPr>
        <p:spPr>
          <a:xfrm>
            <a:off x="272302" y="1385753"/>
            <a:ext cx="9256661" cy="4555093"/>
          </a:xfrm>
          <a:prstGeom prst="rect">
            <a:avLst/>
          </a:prstGeom>
          <a:noFill/>
        </p:spPr>
        <p:txBody>
          <a:bodyPr wrap="square">
            <a:spAutoFit/>
          </a:bodyPr>
          <a:lstStyle/>
          <a:p>
            <a:pPr algn="just"/>
            <a:r>
              <a:rPr lang="en-US" sz="2800" b="1" dirty="0">
                <a:solidFill>
                  <a:srgbClr val="FF0000"/>
                </a:solidFill>
                <a:latin typeface="Bookman Old Style" panose="02050604050505020204" pitchFamily="18" charset="0"/>
              </a:rPr>
              <a:t>transient:</a:t>
            </a:r>
            <a:r>
              <a:rPr lang="en-US" b="1" dirty="0">
                <a:solidFill>
                  <a:srgbClr val="003F66"/>
                </a:solidFill>
                <a:latin typeface="Bookman Old Style" panose="02050604050505020204" pitchFamily="18" charset="0"/>
              </a:rPr>
              <a:t> (variable which cannot be stored/saved into a serialized file)</a:t>
            </a:r>
          </a:p>
          <a:p>
            <a:pPr algn="just"/>
            <a:r>
              <a:rPr lang="en-US" b="1" dirty="0">
                <a:solidFill>
                  <a:srgbClr val="003F66"/>
                </a:solidFill>
                <a:latin typeface="Bookman Old Style" panose="02050604050505020204" pitchFamily="18" charset="0"/>
              </a:rPr>
              <a:t>Vars declared as transient cannot be persistent. Persistent means in a Emp or Student class we will declare vars such </a:t>
            </a:r>
            <a:r>
              <a:rPr lang="en-US" b="1" dirty="0" err="1">
                <a:solidFill>
                  <a:srgbClr val="003F66"/>
                </a:solidFill>
                <a:latin typeface="Bookman Old Style" panose="02050604050505020204" pitchFamily="18" charset="0"/>
              </a:rPr>
              <a:t>sid</a:t>
            </a:r>
            <a:r>
              <a:rPr lang="en-US" b="1" dirty="0">
                <a:solidFill>
                  <a:srgbClr val="003F66"/>
                </a:solidFill>
                <a:latin typeface="Bookman Old Style" panose="02050604050505020204" pitchFamily="18" charset="0"/>
              </a:rPr>
              <a:t>, </a:t>
            </a:r>
            <a:r>
              <a:rPr lang="en-US" b="1" dirty="0" err="1">
                <a:solidFill>
                  <a:srgbClr val="003F66"/>
                </a:solidFill>
                <a:latin typeface="Bookman Old Style" panose="02050604050505020204" pitchFamily="18" charset="0"/>
              </a:rPr>
              <a:t>sname</a:t>
            </a:r>
            <a:r>
              <a:rPr lang="en-US" b="1" dirty="0">
                <a:solidFill>
                  <a:srgbClr val="003F66"/>
                </a:solidFill>
                <a:latin typeface="Bookman Old Style" panose="02050604050505020204" pitchFamily="18" charset="0"/>
              </a:rPr>
              <a:t>, email, mobile, course, create object of Student class, initialize its state and can be stored into .ser file or the object can be passed into n/w to other machine. In the process of object serialization except transient variables all other variables are serialized.</a:t>
            </a:r>
          </a:p>
          <a:p>
            <a:pPr algn="just"/>
            <a:endParaRPr lang="en-US" b="1" dirty="0">
              <a:solidFill>
                <a:srgbClr val="003F66"/>
              </a:solidFill>
              <a:latin typeface="Bookman Old Style" panose="02050604050505020204" pitchFamily="18" charset="0"/>
            </a:endParaRPr>
          </a:p>
          <a:p>
            <a:pPr algn="just"/>
            <a:r>
              <a:rPr lang="en-US" sz="2800" b="1" dirty="0">
                <a:solidFill>
                  <a:srgbClr val="FF0000"/>
                </a:solidFill>
                <a:latin typeface="Bookman Old Style" panose="02050604050505020204" pitchFamily="18" charset="0"/>
              </a:rPr>
              <a:t>volatile: </a:t>
            </a:r>
            <a:r>
              <a:rPr lang="en-US" b="1" dirty="0">
                <a:solidFill>
                  <a:srgbClr val="003F66"/>
                </a:solidFill>
                <a:latin typeface="Bookman Old Style" panose="02050604050505020204" pitchFamily="18" charset="0"/>
              </a:rPr>
              <a:t>variable which cannot be synchronized</a:t>
            </a:r>
          </a:p>
          <a:p>
            <a:pPr algn="just"/>
            <a:r>
              <a:rPr lang="en-US" b="1" dirty="0">
                <a:solidFill>
                  <a:srgbClr val="003F66"/>
                </a:solidFill>
                <a:latin typeface="Bookman Old Style" panose="02050604050505020204" pitchFamily="18" charset="0"/>
              </a:rPr>
              <a:t>When a single class instance is used in multiple threads, the object state can be accessed or modified in multiple threads. Hence they are not thread-safe. To keep object state in thread-safe we can synchronize threads. During thread synchronization except volatile variables all other vars are in synchronous state. Volatile variables are asynchronous.</a:t>
            </a:r>
            <a:endParaRPr lang="en-IN" sz="800" b="1" dirty="0">
              <a:solidFill>
                <a:srgbClr val="F105D3"/>
              </a:solidFill>
            </a:endParaRPr>
          </a:p>
        </p:txBody>
      </p:sp>
      <p:sp>
        <p:nvSpPr>
          <p:cNvPr id="3" name="TextBox 2">
            <a:extLst>
              <a:ext uri="{FF2B5EF4-FFF2-40B4-BE49-F238E27FC236}">
                <a16:creationId xmlns:a16="http://schemas.microsoft.com/office/drawing/2014/main" id="{48101964-4FE1-7607-F4FC-A3C2B8B1B378}"/>
              </a:ext>
            </a:extLst>
          </p:cNvPr>
          <p:cNvSpPr txBox="1"/>
          <p:nvPr/>
        </p:nvSpPr>
        <p:spPr>
          <a:xfrm>
            <a:off x="2232215" y="1247449"/>
            <a:ext cx="2272549" cy="369332"/>
          </a:xfrm>
          <a:prstGeom prst="rect">
            <a:avLst/>
          </a:prstGeom>
          <a:noFill/>
        </p:spPr>
        <p:txBody>
          <a:bodyPr wrap="square">
            <a:spAutoFit/>
          </a:bodyPr>
          <a:lstStyle/>
          <a:p>
            <a:r>
              <a:rPr lang="en-US" b="1" dirty="0">
                <a:solidFill>
                  <a:srgbClr val="003F66"/>
                </a:solidFill>
                <a:latin typeface="Bookman Old Style" panose="02050604050505020204" pitchFamily="18" charset="0"/>
              </a:rPr>
              <a:t>(not a persistent)</a:t>
            </a:r>
            <a:endParaRPr lang="en-IN" dirty="0"/>
          </a:p>
        </p:txBody>
      </p:sp>
    </p:spTree>
    <p:extLst>
      <p:ext uri="{BB962C8B-B14F-4D97-AF65-F5344CB8AC3E}">
        <p14:creationId xmlns:p14="http://schemas.microsoft.com/office/powerpoint/2010/main" val="163734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6" name="TextBox 25">
            <a:extLst>
              <a:ext uri="{FF2B5EF4-FFF2-40B4-BE49-F238E27FC236}">
                <a16:creationId xmlns:a16="http://schemas.microsoft.com/office/drawing/2014/main" id="{E2E77BF6-35C1-4839-AB11-78791B368070}"/>
              </a:ext>
            </a:extLst>
          </p:cNvPr>
          <p:cNvSpPr txBox="1"/>
          <p:nvPr/>
        </p:nvSpPr>
        <p:spPr>
          <a:xfrm>
            <a:off x="285750" y="1452988"/>
            <a:ext cx="6923433" cy="4401205"/>
          </a:xfrm>
          <a:prstGeom prst="rect">
            <a:avLst/>
          </a:prstGeom>
          <a:noFill/>
        </p:spPr>
        <p:txBody>
          <a:bodyPr wrap="square">
            <a:spAutoFit/>
          </a:bodyPr>
          <a:lstStyle/>
          <a:p>
            <a:pPr algn="just"/>
            <a:r>
              <a:rPr lang="en-US" sz="2800" b="1" u="sng" dirty="0">
                <a:solidFill>
                  <a:srgbClr val="FF0000"/>
                </a:solidFill>
                <a:latin typeface="Bookman Old Style" panose="02050604050505020204" pitchFamily="18" charset="0"/>
              </a:rPr>
              <a:t>Example on final variable:</a:t>
            </a:r>
          </a:p>
          <a:p>
            <a:pPr algn="just"/>
            <a:r>
              <a:rPr lang="en-IN" dirty="0"/>
              <a:t>// FinalSuperClass.java</a:t>
            </a:r>
          </a:p>
          <a:p>
            <a:pPr algn="just"/>
            <a:r>
              <a:rPr lang="en-IN" dirty="0"/>
              <a:t>public class </a:t>
            </a:r>
            <a:r>
              <a:rPr lang="en-IN" dirty="0" err="1"/>
              <a:t>FinalVariableClass</a:t>
            </a:r>
            <a:r>
              <a:rPr lang="en-IN" dirty="0"/>
              <a:t> {</a:t>
            </a:r>
          </a:p>
          <a:p>
            <a:pPr algn="just"/>
            <a:r>
              <a:rPr lang="en-IN" dirty="0"/>
              <a:t>	</a:t>
            </a:r>
            <a:r>
              <a:rPr lang="en-IN" b="1" dirty="0"/>
              <a:t>// 1</a:t>
            </a:r>
            <a:r>
              <a:rPr lang="en-IN" b="1" baseline="30000" dirty="0"/>
              <a:t>st</a:t>
            </a:r>
            <a:r>
              <a:rPr lang="en-IN" b="1" dirty="0"/>
              <a:t> way</a:t>
            </a:r>
          </a:p>
          <a:p>
            <a:pPr algn="just"/>
            <a:r>
              <a:rPr lang="en-IN" dirty="0"/>
              <a:t>	</a:t>
            </a:r>
            <a:r>
              <a:rPr lang="en-IN" dirty="0">
                <a:solidFill>
                  <a:srgbClr val="FF0000"/>
                </a:solidFill>
              </a:rPr>
              <a:t>final int MIN_AGE=18;// once if declared &amp; initialized</a:t>
            </a:r>
          </a:p>
          <a:p>
            <a:pPr algn="just"/>
            <a:r>
              <a:rPr lang="en-IN" dirty="0"/>
              <a:t>	public </a:t>
            </a:r>
            <a:r>
              <a:rPr lang="en-IN" dirty="0" err="1"/>
              <a:t>FinalVariableClass</a:t>
            </a:r>
            <a:r>
              <a:rPr lang="en-IN" dirty="0"/>
              <a:t>() {</a:t>
            </a:r>
          </a:p>
          <a:p>
            <a:pPr algn="just"/>
            <a:r>
              <a:rPr lang="en-IN" dirty="0"/>
              <a:t>		</a:t>
            </a:r>
            <a:r>
              <a:rPr lang="en-IN" dirty="0">
                <a:solidFill>
                  <a:srgbClr val="FF0000"/>
                </a:solidFill>
              </a:rPr>
              <a:t>// MIN_AGE=21; // it cannot reinitialized</a:t>
            </a:r>
          </a:p>
          <a:p>
            <a:pPr algn="just"/>
            <a:r>
              <a:rPr lang="en-IN" dirty="0"/>
              <a:t>  	}</a:t>
            </a:r>
          </a:p>
          <a:p>
            <a:pPr algn="just"/>
            <a:r>
              <a:rPr lang="en-IN" dirty="0"/>
              <a:t>  </a:t>
            </a:r>
          </a:p>
          <a:p>
            <a:pPr lvl="1" algn="just"/>
            <a:r>
              <a:rPr lang="en-IN" b="1" dirty="0"/>
              <a:t>  	// 2</a:t>
            </a:r>
            <a:r>
              <a:rPr lang="en-IN" b="1" baseline="30000" dirty="0"/>
              <a:t>nd</a:t>
            </a:r>
            <a:r>
              <a:rPr lang="en-IN" b="1" dirty="0"/>
              <a:t> way</a:t>
            </a:r>
          </a:p>
          <a:p>
            <a:pPr algn="just"/>
            <a:r>
              <a:rPr lang="en-IN" dirty="0"/>
              <a:t>  </a:t>
            </a:r>
            <a:r>
              <a:rPr lang="en-IN" dirty="0">
                <a:solidFill>
                  <a:srgbClr val="FF0000"/>
                </a:solidFill>
              </a:rPr>
              <a:t>	final int MIN_AGE; // if var declared but not initialized</a:t>
            </a:r>
          </a:p>
          <a:p>
            <a:pPr algn="just"/>
            <a:r>
              <a:rPr lang="en-IN" dirty="0">
                <a:solidFill>
                  <a:srgbClr val="FF0000"/>
                </a:solidFill>
              </a:rPr>
              <a:t> </a:t>
            </a:r>
            <a:r>
              <a:rPr lang="en-IN" dirty="0"/>
              <a:t> 	public </a:t>
            </a:r>
            <a:r>
              <a:rPr lang="en-IN" dirty="0" err="1"/>
              <a:t>FinalVariableClass</a:t>
            </a:r>
            <a:r>
              <a:rPr lang="en-IN" dirty="0"/>
              <a:t>() {</a:t>
            </a:r>
          </a:p>
          <a:p>
            <a:pPr algn="just"/>
            <a:r>
              <a:rPr lang="en-IN" dirty="0"/>
              <a:t>    		</a:t>
            </a:r>
            <a:r>
              <a:rPr lang="en-IN" dirty="0">
                <a:solidFill>
                  <a:srgbClr val="FF0000"/>
                </a:solidFill>
              </a:rPr>
              <a:t>MIN_AGE=21; // it can be initialized in constructor</a:t>
            </a:r>
          </a:p>
          <a:p>
            <a:pPr algn="just"/>
            <a:r>
              <a:rPr lang="en-IN" dirty="0"/>
              <a:t>  	}</a:t>
            </a:r>
          </a:p>
          <a:p>
            <a:pPr algn="just"/>
            <a:r>
              <a:rPr lang="en-IN" dirty="0"/>
              <a:t>}</a:t>
            </a:r>
          </a:p>
        </p:txBody>
      </p:sp>
      <p:sp>
        <p:nvSpPr>
          <p:cNvPr id="27" name="TextBox 26">
            <a:extLst>
              <a:ext uri="{FF2B5EF4-FFF2-40B4-BE49-F238E27FC236}">
                <a16:creationId xmlns:a16="http://schemas.microsoft.com/office/drawing/2014/main" id="{404056A7-AF69-40C2-A649-29E9B415DC3D}"/>
              </a:ext>
            </a:extLst>
          </p:cNvPr>
          <p:cNvSpPr txBox="1"/>
          <p:nvPr/>
        </p:nvSpPr>
        <p:spPr>
          <a:xfrm>
            <a:off x="6346209" y="789520"/>
            <a:ext cx="5274283" cy="1477328"/>
          </a:xfrm>
          <a:prstGeom prst="rect">
            <a:avLst/>
          </a:prstGeom>
          <a:noFill/>
        </p:spPr>
        <p:txBody>
          <a:bodyPr wrap="square" rtlCol="0">
            <a:spAutoFit/>
          </a:bodyPr>
          <a:lstStyle/>
          <a:p>
            <a:r>
              <a:rPr lang="en-US" b="1" dirty="0"/>
              <a:t>How final variable can be accessed?</a:t>
            </a:r>
          </a:p>
          <a:p>
            <a:r>
              <a:rPr lang="en-US" dirty="0"/>
              <a:t>If final variable is declared as static it can be called with </a:t>
            </a:r>
            <a:r>
              <a:rPr lang="en-US" b="1" dirty="0" err="1">
                <a:solidFill>
                  <a:srgbClr val="FF0000"/>
                </a:solidFill>
              </a:rPr>
              <a:t>ClassName.varName</a:t>
            </a:r>
            <a:endParaRPr lang="en-US" b="1" dirty="0">
              <a:solidFill>
                <a:srgbClr val="FF0000"/>
              </a:solidFill>
            </a:endParaRPr>
          </a:p>
          <a:p>
            <a:r>
              <a:rPr lang="en-US" dirty="0"/>
              <a:t>If final var is not declared as static it must be accessed using </a:t>
            </a:r>
            <a:r>
              <a:rPr lang="en-US" b="1" dirty="0" err="1">
                <a:solidFill>
                  <a:srgbClr val="FF0000"/>
                </a:solidFill>
              </a:rPr>
              <a:t>object.varNames</a:t>
            </a:r>
            <a:endParaRPr lang="en-IN" b="1" dirty="0">
              <a:solidFill>
                <a:srgbClr val="FF0000"/>
              </a:solidFill>
            </a:endParaRPr>
          </a:p>
        </p:txBody>
      </p:sp>
      <p:sp>
        <p:nvSpPr>
          <p:cNvPr id="28" name="TextBox 27">
            <a:extLst>
              <a:ext uri="{FF2B5EF4-FFF2-40B4-BE49-F238E27FC236}">
                <a16:creationId xmlns:a16="http://schemas.microsoft.com/office/drawing/2014/main" id="{E9678A5C-AA06-476F-A65C-D17387B8390A}"/>
              </a:ext>
            </a:extLst>
          </p:cNvPr>
          <p:cNvSpPr txBox="1"/>
          <p:nvPr/>
        </p:nvSpPr>
        <p:spPr>
          <a:xfrm>
            <a:off x="6235394" y="2307803"/>
            <a:ext cx="5274283" cy="1754326"/>
          </a:xfrm>
          <a:prstGeom prst="rect">
            <a:avLst/>
          </a:prstGeom>
          <a:noFill/>
        </p:spPr>
        <p:txBody>
          <a:bodyPr wrap="square" rtlCol="0">
            <a:spAutoFit/>
          </a:bodyPr>
          <a:lstStyle/>
          <a:p>
            <a:r>
              <a:rPr lang="en-US" b="1" dirty="0"/>
              <a:t>class FVAC {</a:t>
            </a:r>
          </a:p>
          <a:p>
            <a:r>
              <a:rPr lang="en-US" b="1" dirty="0"/>
              <a:t>    p s v main(String rags[]) {</a:t>
            </a:r>
          </a:p>
          <a:p>
            <a:r>
              <a:rPr lang="en-US" b="1" dirty="0"/>
              <a:t>       </a:t>
            </a:r>
            <a:r>
              <a:rPr lang="en-US" b="1" dirty="0" err="1"/>
              <a:t>FinalVariableClass</a:t>
            </a:r>
            <a:r>
              <a:rPr lang="en-US" b="1" dirty="0"/>
              <a:t> </a:t>
            </a:r>
            <a:r>
              <a:rPr lang="en-US" b="1" dirty="0" err="1"/>
              <a:t>fvc</a:t>
            </a:r>
            <a:r>
              <a:rPr lang="en-US" b="1" dirty="0"/>
              <a:t>=new </a:t>
            </a:r>
            <a:r>
              <a:rPr lang="en-US" b="1" dirty="0" err="1"/>
              <a:t>FinalVariableClass</a:t>
            </a:r>
            <a:r>
              <a:rPr lang="en-US" b="1" dirty="0"/>
              <a:t>();</a:t>
            </a:r>
          </a:p>
          <a:p>
            <a:r>
              <a:rPr lang="en-US" b="1" dirty="0"/>
              <a:t>       System.out.println(</a:t>
            </a:r>
            <a:r>
              <a:rPr lang="en-US" b="1" dirty="0" err="1"/>
              <a:t>FinalVariableClass.MIN_AGE</a:t>
            </a:r>
            <a:r>
              <a:rPr lang="en-US" b="1" dirty="0"/>
              <a:t>);</a:t>
            </a:r>
          </a:p>
          <a:p>
            <a:r>
              <a:rPr lang="en-US" b="1" dirty="0"/>
              <a:t>       System.out.println(</a:t>
            </a:r>
            <a:r>
              <a:rPr lang="en-US" b="1" dirty="0" err="1"/>
              <a:t>fvc.MIN_AGE</a:t>
            </a:r>
            <a:r>
              <a:rPr lang="en-US" b="1" dirty="0"/>
              <a:t>);    }</a:t>
            </a:r>
          </a:p>
          <a:p>
            <a:r>
              <a:rPr lang="en-US" b="1" dirty="0"/>
              <a:t>}</a:t>
            </a:r>
            <a:endParaRPr lang="en-IN" b="1" dirty="0">
              <a:solidFill>
                <a:srgbClr val="FF0000"/>
              </a:solidFill>
            </a:endParaRPr>
          </a:p>
        </p:txBody>
      </p:sp>
    </p:spTree>
    <p:extLst>
      <p:ext uri="{BB962C8B-B14F-4D97-AF65-F5344CB8AC3E}">
        <p14:creationId xmlns:p14="http://schemas.microsoft.com/office/powerpoint/2010/main" val="232107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grpSp>
        <p:nvGrpSpPr>
          <p:cNvPr id="25" name="Group 24">
            <a:extLst>
              <a:ext uri="{FF2B5EF4-FFF2-40B4-BE49-F238E27FC236}">
                <a16:creationId xmlns:a16="http://schemas.microsoft.com/office/drawing/2014/main" id="{330258A9-4944-4AE2-9F34-3D421F0B7058}"/>
              </a:ext>
            </a:extLst>
          </p:cNvPr>
          <p:cNvGrpSpPr/>
          <p:nvPr/>
        </p:nvGrpSpPr>
        <p:grpSpPr>
          <a:xfrm>
            <a:off x="356108" y="702832"/>
            <a:ext cx="11670243" cy="5809166"/>
            <a:chOff x="183832" y="702832"/>
            <a:chExt cx="11670243" cy="5809166"/>
          </a:xfrm>
        </p:grpSpPr>
        <p:sp>
          <p:nvSpPr>
            <p:cNvPr id="29" name="TextBox 28">
              <a:extLst>
                <a:ext uri="{FF2B5EF4-FFF2-40B4-BE49-F238E27FC236}">
                  <a16:creationId xmlns:a16="http://schemas.microsoft.com/office/drawing/2014/main" id="{6F9361C8-2E69-466A-8FCB-BC476CCB2BCC}"/>
                </a:ext>
              </a:extLst>
            </p:cNvPr>
            <p:cNvSpPr txBox="1"/>
            <p:nvPr/>
          </p:nvSpPr>
          <p:spPr>
            <a:xfrm>
              <a:off x="183832" y="1137196"/>
              <a:ext cx="4480488" cy="4247317"/>
            </a:xfrm>
            <a:prstGeom prst="rect">
              <a:avLst/>
            </a:prstGeom>
            <a:noFill/>
          </p:spPr>
          <p:txBody>
            <a:bodyPr wrap="square">
              <a:spAutoFit/>
            </a:bodyPr>
            <a:lstStyle/>
            <a:p>
              <a:pPr algn="just"/>
              <a:r>
                <a:rPr lang="en-IN" dirty="0"/>
                <a:t>// Emp.java</a:t>
              </a:r>
            </a:p>
            <a:p>
              <a:pPr algn="just"/>
              <a:r>
                <a:rPr lang="en-IN" dirty="0"/>
                <a:t>public class Emp {</a:t>
              </a:r>
            </a:p>
            <a:p>
              <a:pPr algn="just"/>
              <a:r>
                <a:rPr lang="en-IN" dirty="0"/>
                <a:t>   int </a:t>
              </a:r>
              <a:r>
                <a:rPr lang="en-IN" dirty="0" err="1"/>
                <a:t>eid</a:t>
              </a:r>
              <a:r>
                <a:rPr lang="en-IN" dirty="0"/>
                <a:t>;</a:t>
              </a:r>
            </a:p>
            <a:p>
              <a:pPr algn="just"/>
              <a:r>
                <a:rPr lang="en-IN" dirty="0"/>
                <a:t>   String </a:t>
              </a:r>
              <a:r>
                <a:rPr lang="en-IN" dirty="0" err="1"/>
                <a:t>ename</a:t>
              </a:r>
              <a:r>
                <a:rPr lang="en-IN" dirty="0"/>
                <a:t>;</a:t>
              </a:r>
            </a:p>
            <a:p>
              <a:pPr algn="just"/>
              <a:r>
                <a:rPr lang="en-IN" dirty="0"/>
                <a:t>   double </a:t>
              </a:r>
              <a:r>
                <a:rPr lang="en-IN" dirty="0" err="1"/>
                <a:t>sal</a:t>
              </a:r>
              <a:r>
                <a:rPr lang="en-IN" dirty="0"/>
                <a:t>;</a:t>
              </a:r>
            </a:p>
            <a:p>
              <a:pPr algn="just"/>
              <a:r>
                <a:rPr lang="en-IN" dirty="0"/>
                <a:t>   String </a:t>
              </a:r>
              <a:r>
                <a:rPr lang="en-IN" dirty="0" err="1"/>
                <a:t>desig</a:t>
              </a:r>
              <a:r>
                <a:rPr lang="en-IN" dirty="0"/>
                <a:t>;</a:t>
              </a:r>
            </a:p>
            <a:p>
              <a:pPr algn="just"/>
              <a:r>
                <a:rPr lang="en-IN" dirty="0"/>
                <a:t>   final int MIN_AGE=18; // only final var</a:t>
              </a:r>
            </a:p>
            <a:p>
              <a:pPr algn="just"/>
              <a:endParaRPr lang="en-IN" dirty="0"/>
            </a:p>
            <a:p>
              <a:pPr algn="just"/>
              <a:r>
                <a:rPr lang="en-IN" dirty="0"/>
                <a:t>   Emp(int id, String </a:t>
              </a:r>
              <a:r>
                <a:rPr lang="en-IN" dirty="0" err="1"/>
                <a:t>en</a:t>
              </a:r>
              <a:r>
                <a:rPr lang="en-IN" dirty="0"/>
                <a:t>, double </a:t>
              </a:r>
              <a:r>
                <a:rPr lang="en-IN" dirty="0" err="1"/>
                <a:t>sa</a:t>
              </a:r>
              <a:r>
                <a:rPr lang="en-IN" dirty="0"/>
                <a:t>, String dg) {</a:t>
              </a:r>
            </a:p>
            <a:p>
              <a:pPr algn="just"/>
              <a:r>
                <a:rPr lang="en-IN" dirty="0"/>
                <a:t>      </a:t>
              </a:r>
              <a:r>
                <a:rPr lang="en-IN" dirty="0" err="1"/>
                <a:t>this.eid</a:t>
              </a:r>
              <a:r>
                <a:rPr lang="en-IN" dirty="0"/>
                <a:t>=id;</a:t>
              </a:r>
            </a:p>
            <a:p>
              <a:pPr algn="just"/>
              <a:r>
                <a:rPr lang="en-IN" dirty="0"/>
                <a:t>      </a:t>
              </a:r>
              <a:r>
                <a:rPr lang="en-IN" dirty="0" err="1"/>
                <a:t>ename</a:t>
              </a:r>
              <a:r>
                <a:rPr lang="en-IN" dirty="0"/>
                <a:t>=</a:t>
              </a:r>
              <a:r>
                <a:rPr lang="en-IN" dirty="0" err="1"/>
                <a:t>en</a:t>
              </a:r>
              <a:r>
                <a:rPr lang="en-IN" dirty="0"/>
                <a:t>;</a:t>
              </a:r>
            </a:p>
            <a:p>
              <a:pPr algn="just"/>
              <a:r>
                <a:rPr lang="en-IN" dirty="0"/>
                <a:t>      </a:t>
              </a:r>
              <a:r>
                <a:rPr lang="en-IN" dirty="0" err="1"/>
                <a:t>sal</a:t>
              </a:r>
              <a:r>
                <a:rPr lang="en-IN" dirty="0"/>
                <a:t>=</a:t>
              </a:r>
              <a:r>
                <a:rPr lang="en-IN" dirty="0" err="1"/>
                <a:t>sa</a:t>
              </a:r>
              <a:r>
                <a:rPr lang="en-IN" dirty="0"/>
                <a:t>;</a:t>
              </a:r>
            </a:p>
            <a:p>
              <a:pPr algn="just"/>
              <a:r>
                <a:rPr lang="en-IN" dirty="0"/>
                <a:t>      </a:t>
              </a:r>
              <a:r>
                <a:rPr lang="en-IN" dirty="0" err="1"/>
                <a:t>desig</a:t>
              </a:r>
              <a:r>
                <a:rPr lang="en-IN" dirty="0"/>
                <a:t>=dg;</a:t>
              </a:r>
            </a:p>
            <a:p>
              <a:pPr algn="just"/>
              <a:r>
                <a:rPr lang="en-IN" dirty="0"/>
                <a:t>   }</a:t>
              </a:r>
            </a:p>
            <a:p>
              <a:pPr algn="just"/>
              <a:r>
                <a:rPr lang="en-IN" dirty="0"/>
                <a:t>}</a:t>
              </a:r>
            </a:p>
          </p:txBody>
        </p:sp>
        <p:sp>
          <p:nvSpPr>
            <p:cNvPr id="30" name="TextBox 29">
              <a:extLst>
                <a:ext uri="{FF2B5EF4-FFF2-40B4-BE49-F238E27FC236}">
                  <a16:creationId xmlns:a16="http://schemas.microsoft.com/office/drawing/2014/main" id="{31D49670-07F6-4A08-B29F-05EF4C099BD6}"/>
                </a:ext>
              </a:extLst>
            </p:cNvPr>
            <p:cNvSpPr txBox="1"/>
            <p:nvPr/>
          </p:nvSpPr>
          <p:spPr>
            <a:xfrm>
              <a:off x="4665258" y="1231207"/>
              <a:ext cx="5827595" cy="2031325"/>
            </a:xfrm>
            <a:prstGeom prst="rect">
              <a:avLst/>
            </a:prstGeom>
            <a:noFill/>
          </p:spPr>
          <p:txBody>
            <a:bodyPr wrap="square">
              <a:spAutoFit/>
            </a:bodyPr>
            <a:lstStyle/>
            <a:p>
              <a:pPr algn="just"/>
              <a:r>
                <a:rPr lang="en-IN" dirty="0"/>
                <a:t>// EmpClient.java</a:t>
              </a:r>
            </a:p>
            <a:p>
              <a:pPr algn="just"/>
              <a:r>
                <a:rPr lang="en-IN" dirty="0"/>
                <a:t>public class </a:t>
              </a:r>
              <a:r>
                <a:rPr lang="en-IN" dirty="0" err="1"/>
                <a:t>EmpClient</a:t>
              </a:r>
              <a:r>
                <a:rPr lang="en-IN" dirty="0"/>
                <a:t> {</a:t>
              </a:r>
            </a:p>
            <a:p>
              <a:pPr algn="just"/>
              <a:r>
                <a:rPr lang="en-IN" dirty="0"/>
                <a:t>    public static void main(String rags[]) {</a:t>
              </a:r>
            </a:p>
            <a:p>
              <a:pPr algn="just"/>
              <a:r>
                <a:rPr lang="en-IN" dirty="0"/>
                <a:t>       Emp e1=new Emp(1, “ABC”, 50000.00, “Developer”);</a:t>
              </a:r>
            </a:p>
            <a:p>
              <a:pPr algn="just"/>
              <a:r>
                <a:rPr lang="en-IN" dirty="0"/>
                <a:t>       Emp e2=new Emp(2, “XYZ”, 100000.00, “Architect”);</a:t>
              </a:r>
            </a:p>
            <a:p>
              <a:pPr algn="just"/>
              <a:r>
                <a:rPr lang="en-IN" dirty="0"/>
                <a:t>    }</a:t>
              </a:r>
            </a:p>
            <a:p>
              <a:pPr algn="just"/>
              <a:r>
                <a:rPr lang="en-IN" dirty="0"/>
                <a:t>}</a:t>
              </a:r>
            </a:p>
          </p:txBody>
        </p:sp>
        <p:sp>
          <p:nvSpPr>
            <p:cNvPr id="31" name="Oval 30">
              <a:extLst>
                <a:ext uri="{FF2B5EF4-FFF2-40B4-BE49-F238E27FC236}">
                  <a16:creationId xmlns:a16="http://schemas.microsoft.com/office/drawing/2014/main" id="{5E4776C8-9FFC-47EB-A68D-779A32DC5097}"/>
                </a:ext>
              </a:extLst>
            </p:cNvPr>
            <p:cNvSpPr/>
            <p:nvPr/>
          </p:nvSpPr>
          <p:spPr>
            <a:xfrm>
              <a:off x="8570794" y="702832"/>
              <a:ext cx="1922059" cy="132895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err="1"/>
                <a:t>eid</a:t>
              </a:r>
              <a:r>
                <a:rPr lang="en-US" sz="1200" dirty="0"/>
                <a:t>=1 </a:t>
              </a:r>
              <a:r>
                <a:rPr lang="en-US" sz="1200" dirty="0" err="1"/>
                <a:t>ename</a:t>
              </a:r>
              <a:r>
                <a:rPr lang="en-US" sz="1200" dirty="0"/>
                <a:t>=“ABC” </a:t>
              </a:r>
              <a:r>
                <a:rPr lang="en-US" sz="1200" dirty="0" err="1"/>
                <a:t>sal</a:t>
              </a:r>
              <a:r>
                <a:rPr lang="en-US" sz="1200" dirty="0"/>
                <a:t>=50000.00 </a:t>
              </a:r>
              <a:r>
                <a:rPr lang="en-US" sz="1200" dirty="0" err="1"/>
                <a:t>desig</a:t>
              </a:r>
              <a:r>
                <a:rPr lang="en-US" sz="1200" dirty="0"/>
                <a:t>=“Developer”</a:t>
              </a:r>
            </a:p>
            <a:p>
              <a:pPr algn="ctr"/>
              <a:r>
                <a:rPr lang="en-US" sz="1200" dirty="0"/>
                <a:t>MIN_AGE=18</a:t>
              </a:r>
              <a:endParaRPr lang="en-IN" sz="1200" dirty="0"/>
            </a:p>
          </p:txBody>
        </p:sp>
        <p:sp>
          <p:nvSpPr>
            <p:cNvPr id="32" name="Oval 31">
              <a:extLst>
                <a:ext uri="{FF2B5EF4-FFF2-40B4-BE49-F238E27FC236}">
                  <a16:creationId xmlns:a16="http://schemas.microsoft.com/office/drawing/2014/main" id="{849B2BBD-B271-4DE5-B369-C4A319A21B4F}"/>
                </a:ext>
              </a:extLst>
            </p:cNvPr>
            <p:cNvSpPr/>
            <p:nvPr/>
          </p:nvSpPr>
          <p:spPr>
            <a:xfrm>
              <a:off x="9806721" y="2533129"/>
              <a:ext cx="1922059" cy="123607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err="1"/>
                <a:t>eid</a:t>
              </a:r>
              <a:r>
                <a:rPr lang="en-US" sz="1200" dirty="0"/>
                <a:t>=2 </a:t>
              </a:r>
              <a:r>
                <a:rPr lang="en-US" sz="1200" dirty="0" err="1"/>
                <a:t>ename</a:t>
              </a:r>
              <a:r>
                <a:rPr lang="en-US" sz="1200" dirty="0"/>
                <a:t>=“XYZ” </a:t>
              </a:r>
              <a:r>
                <a:rPr lang="en-US" sz="1200" dirty="0" err="1"/>
                <a:t>sal</a:t>
              </a:r>
              <a:r>
                <a:rPr lang="en-US" sz="1200" dirty="0"/>
                <a:t>=100000.00 </a:t>
              </a:r>
              <a:r>
                <a:rPr lang="en-US" sz="1200" dirty="0" err="1"/>
                <a:t>desig</a:t>
              </a:r>
              <a:r>
                <a:rPr lang="en-US" sz="1200" dirty="0"/>
                <a:t>=“Architect” MIN_AGE=18</a:t>
              </a:r>
              <a:endParaRPr lang="en-IN" sz="1200" dirty="0"/>
            </a:p>
          </p:txBody>
        </p:sp>
        <p:cxnSp>
          <p:nvCxnSpPr>
            <p:cNvPr id="33" name="Straight Arrow Connector 32">
              <a:extLst>
                <a:ext uri="{FF2B5EF4-FFF2-40B4-BE49-F238E27FC236}">
                  <a16:creationId xmlns:a16="http://schemas.microsoft.com/office/drawing/2014/main" id="{ABEC8A8B-5EE4-4BEF-AAEA-56F7F80A1D7A}"/>
                </a:ext>
              </a:extLst>
            </p:cNvPr>
            <p:cNvCxnSpPr/>
            <p:nvPr/>
          </p:nvCxnSpPr>
          <p:spPr>
            <a:xfrm flipV="1">
              <a:off x="5718412" y="1578347"/>
              <a:ext cx="2852382" cy="560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33291F3-1E2A-472D-8266-17F0BF1E2E18}"/>
                </a:ext>
              </a:extLst>
            </p:cNvPr>
            <p:cNvCxnSpPr/>
            <p:nvPr/>
          </p:nvCxnSpPr>
          <p:spPr>
            <a:xfrm>
              <a:off x="5691116" y="2610953"/>
              <a:ext cx="4115605" cy="649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DF71B9C-EB12-41BA-8360-BF071FEC1E44}"/>
                </a:ext>
              </a:extLst>
            </p:cNvPr>
            <p:cNvSpPr txBox="1"/>
            <p:nvPr/>
          </p:nvSpPr>
          <p:spPr>
            <a:xfrm>
              <a:off x="4745400" y="3372677"/>
              <a:ext cx="4419877" cy="3139321"/>
            </a:xfrm>
            <a:prstGeom prst="rect">
              <a:avLst/>
            </a:prstGeom>
            <a:noFill/>
          </p:spPr>
          <p:txBody>
            <a:bodyPr wrap="square" rtlCol="0">
              <a:spAutoFit/>
            </a:bodyPr>
            <a:lstStyle/>
            <a:p>
              <a:pPr algn="just"/>
              <a:r>
                <a:rPr lang="en-US" dirty="0" err="1"/>
                <a:t>eid</a:t>
              </a:r>
              <a:r>
                <a:rPr lang="en-US" dirty="0"/>
                <a:t>, </a:t>
              </a:r>
              <a:r>
                <a:rPr lang="en-US" dirty="0" err="1"/>
                <a:t>ename</a:t>
              </a:r>
              <a:r>
                <a:rPr lang="en-US" dirty="0"/>
                <a:t>, </a:t>
              </a:r>
              <a:r>
                <a:rPr lang="en-US" dirty="0" err="1"/>
                <a:t>sal</a:t>
              </a:r>
              <a:r>
                <a:rPr lang="en-US" dirty="0"/>
                <a:t>, </a:t>
              </a:r>
              <a:r>
                <a:rPr lang="en-US" dirty="0" err="1"/>
                <a:t>desig</a:t>
              </a:r>
              <a:r>
                <a:rPr lang="en-US" dirty="0"/>
                <a:t> are called as non-static variables or instance variables because in every instance of class memory is allocated to these variables because every object should hold different emp data.</a:t>
              </a:r>
            </a:p>
            <a:p>
              <a:pPr algn="just"/>
              <a:endParaRPr lang="en-US" dirty="0"/>
            </a:p>
            <a:p>
              <a:pPr algn="just"/>
              <a:r>
                <a:rPr lang="en-US" dirty="0"/>
                <a:t>But MIN_AGE is final, that means for any number of instances the var value remains same. Then why a separate memory is allocating in every instance which is waste of memory?</a:t>
              </a:r>
              <a:endParaRPr lang="en-IN" dirty="0"/>
            </a:p>
          </p:txBody>
        </p:sp>
        <p:sp>
          <p:nvSpPr>
            <p:cNvPr id="36" name="TextBox 35">
              <a:extLst>
                <a:ext uri="{FF2B5EF4-FFF2-40B4-BE49-F238E27FC236}">
                  <a16:creationId xmlns:a16="http://schemas.microsoft.com/office/drawing/2014/main" id="{C9E6011E-7341-416C-BDC6-C1DC36AA4C16}"/>
                </a:ext>
              </a:extLst>
            </p:cNvPr>
            <p:cNvSpPr txBox="1"/>
            <p:nvPr/>
          </p:nvSpPr>
          <p:spPr>
            <a:xfrm>
              <a:off x="10259279" y="1921917"/>
              <a:ext cx="1594796" cy="307777"/>
            </a:xfrm>
            <a:prstGeom prst="rect">
              <a:avLst/>
            </a:prstGeom>
            <a:noFill/>
          </p:spPr>
          <p:txBody>
            <a:bodyPr wrap="none" rtlCol="0">
              <a:spAutoFit/>
            </a:bodyPr>
            <a:lstStyle/>
            <a:p>
              <a:r>
                <a:rPr lang="en-US" sz="1400" b="1" dirty="0"/>
                <a:t>instance memories</a:t>
              </a:r>
              <a:endParaRPr lang="en-IN" b="1" dirty="0"/>
            </a:p>
          </p:txBody>
        </p:sp>
        <p:cxnSp>
          <p:nvCxnSpPr>
            <p:cNvPr id="37" name="Straight Arrow Connector 36">
              <a:extLst>
                <a:ext uri="{FF2B5EF4-FFF2-40B4-BE49-F238E27FC236}">
                  <a16:creationId xmlns:a16="http://schemas.microsoft.com/office/drawing/2014/main" id="{51A6954D-C139-4858-A5AA-846B8AA801E2}"/>
                </a:ext>
              </a:extLst>
            </p:cNvPr>
            <p:cNvCxnSpPr/>
            <p:nvPr/>
          </p:nvCxnSpPr>
          <p:spPr>
            <a:xfrm flipH="1" flipV="1">
              <a:off x="10484565" y="1675650"/>
              <a:ext cx="397565" cy="246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E2F7C9C-1C6A-40CD-8981-5FE67AD35D4B}"/>
                </a:ext>
              </a:extLst>
            </p:cNvPr>
            <p:cNvCxnSpPr/>
            <p:nvPr/>
          </p:nvCxnSpPr>
          <p:spPr>
            <a:xfrm flipH="1">
              <a:off x="10762860" y="2229694"/>
              <a:ext cx="159026" cy="270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2B55302-CF86-B107-E063-681B231A895A}"/>
              </a:ext>
            </a:extLst>
          </p:cNvPr>
          <p:cNvSpPr txBox="1"/>
          <p:nvPr/>
        </p:nvSpPr>
        <p:spPr>
          <a:xfrm>
            <a:off x="356108" y="815915"/>
            <a:ext cx="6185646" cy="369332"/>
          </a:xfrm>
          <a:prstGeom prst="rect">
            <a:avLst/>
          </a:prstGeom>
          <a:noFill/>
        </p:spPr>
        <p:txBody>
          <a:bodyPr wrap="square">
            <a:spAutoFit/>
          </a:bodyPr>
          <a:lstStyle/>
          <a:p>
            <a:pPr algn="just"/>
            <a:r>
              <a:rPr lang="en-US" b="1" u="sng" dirty="0">
                <a:solidFill>
                  <a:srgbClr val="FF0000"/>
                </a:solidFill>
                <a:latin typeface="Bookman Old Style" panose="02050604050505020204" pitchFamily="18" charset="0"/>
              </a:rPr>
              <a:t>Importance of declaring final variable as static:</a:t>
            </a:r>
          </a:p>
        </p:txBody>
      </p:sp>
    </p:spTree>
    <p:extLst>
      <p:ext uri="{BB962C8B-B14F-4D97-AF65-F5344CB8AC3E}">
        <p14:creationId xmlns:p14="http://schemas.microsoft.com/office/powerpoint/2010/main" val="1540145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2000" b="1" dirty="0">
                  <a:solidFill>
                    <a:schemeClr val="bg1"/>
                  </a:solidFill>
                  <a:latin typeface="Bookman Old Style" panose="02050604050505020204" pitchFamily="18" charset="0"/>
                </a:rPr>
                <a:t>Variable Syntax</a:t>
              </a:r>
              <a:endParaRPr lang="en-US" sz="1200" b="1" dirty="0">
                <a:solidFill>
                  <a:schemeClr val="bg1"/>
                </a:solidFill>
                <a:latin typeface="Bookman Old Style" panose="02050604050505020204" pitchFamily="18" charset="0"/>
              </a:endParaRPr>
            </a:p>
          </p:txBody>
        </p:sp>
        <p:sp>
          <p:nvSpPr>
            <p:cNvPr id="16" name="Half Frame 15">
              <a:extLst>
                <a:ext uri="{FF2B5EF4-FFF2-40B4-BE49-F238E27FC236}">
                  <a16:creationId xmlns:a16="http://schemas.microsoft.com/office/drawing/2014/main"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id="{576829B0-3EDD-4874-A380-B94C3CAC5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grpSp>
        <p:nvGrpSpPr>
          <p:cNvPr id="26" name="Group 25">
            <a:extLst>
              <a:ext uri="{FF2B5EF4-FFF2-40B4-BE49-F238E27FC236}">
                <a16:creationId xmlns:a16="http://schemas.microsoft.com/office/drawing/2014/main" id="{595CE607-B480-4A19-BE3E-146FF36B62DA}"/>
              </a:ext>
            </a:extLst>
          </p:cNvPr>
          <p:cNvGrpSpPr/>
          <p:nvPr/>
        </p:nvGrpSpPr>
        <p:grpSpPr>
          <a:xfrm>
            <a:off x="158961" y="962399"/>
            <a:ext cx="11735619" cy="5364335"/>
            <a:chOff x="132456" y="856383"/>
            <a:chExt cx="12099557" cy="5364335"/>
          </a:xfrm>
        </p:grpSpPr>
        <p:sp>
          <p:nvSpPr>
            <p:cNvPr id="27" name="TextBox 26">
              <a:extLst>
                <a:ext uri="{FF2B5EF4-FFF2-40B4-BE49-F238E27FC236}">
                  <a16:creationId xmlns:a16="http://schemas.microsoft.com/office/drawing/2014/main" id="{8C7E70FB-2E90-4CEE-A50B-E6DA9845841B}"/>
                </a:ext>
              </a:extLst>
            </p:cNvPr>
            <p:cNvSpPr txBox="1"/>
            <p:nvPr/>
          </p:nvSpPr>
          <p:spPr>
            <a:xfrm>
              <a:off x="132456" y="865406"/>
              <a:ext cx="4480488" cy="5355312"/>
            </a:xfrm>
            <a:prstGeom prst="rect">
              <a:avLst/>
            </a:prstGeom>
            <a:noFill/>
          </p:spPr>
          <p:txBody>
            <a:bodyPr wrap="square">
              <a:spAutoFit/>
            </a:bodyPr>
            <a:lstStyle/>
            <a:p>
              <a:pPr algn="just"/>
              <a:r>
                <a:rPr lang="en-US" dirty="0"/>
                <a:t>Importance of declaring final variable as static:</a:t>
              </a:r>
            </a:p>
            <a:p>
              <a:pPr algn="just"/>
              <a:r>
                <a:rPr lang="en-IN" dirty="0"/>
                <a:t>// Emp.java</a:t>
              </a:r>
            </a:p>
            <a:p>
              <a:pPr algn="just"/>
              <a:r>
                <a:rPr lang="en-IN" dirty="0"/>
                <a:t>public class Emp {</a:t>
              </a:r>
            </a:p>
            <a:p>
              <a:pPr algn="just"/>
              <a:r>
                <a:rPr lang="en-IN" dirty="0"/>
                <a:t>   int </a:t>
              </a:r>
              <a:r>
                <a:rPr lang="en-IN" dirty="0" err="1"/>
                <a:t>eid</a:t>
              </a:r>
              <a:r>
                <a:rPr lang="en-IN" dirty="0"/>
                <a:t>;</a:t>
              </a:r>
            </a:p>
            <a:p>
              <a:pPr algn="just"/>
              <a:r>
                <a:rPr lang="en-IN" dirty="0"/>
                <a:t>   String </a:t>
              </a:r>
              <a:r>
                <a:rPr lang="en-IN" dirty="0" err="1"/>
                <a:t>ename</a:t>
              </a:r>
              <a:r>
                <a:rPr lang="en-IN" dirty="0"/>
                <a:t>;</a:t>
              </a:r>
            </a:p>
            <a:p>
              <a:pPr algn="just"/>
              <a:r>
                <a:rPr lang="en-IN" dirty="0"/>
                <a:t>   double </a:t>
              </a:r>
              <a:r>
                <a:rPr lang="en-IN" dirty="0" err="1"/>
                <a:t>sal</a:t>
              </a:r>
              <a:r>
                <a:rPr lang="en-IN" dirty="0"/>
                <a:t>;</a:t>
              </a:r>
            </a:p>
            <a:p>
              <a:pPr algn="just"/>
              <a:r>
                <a:rPr lang="en-IN" dirty="0"/>
                <a:t>   String </a:t>
              </a:r>
              <a:r>
                <a:rPr lang="en-IN" dirty="0" err="1"/>
                <a:t>desig</a:t>
              </a:r>
              <a:r>
                <a:rPr lang="en-IN" dirty="0"/>
                <a:t>;</a:t>
              </a:r>
            </a:p>
            <a:p>
              <a:pPr algn="just"/>
              <a:r>
                <a:rPr lang="en-IN" dirty="0"/>
                <a:t>   static final int MIN_AGE=18; </a:t>
              </a:r>
            </a:p>
            <a:p>
              <a:pPr algn="just"/>
              <a:r>
                <a:rPr lang="en-IN" dirty="0"/>
                <a:t>   // static final var</a:t>
              </a:r>
            </a:p>
            <a:p>
              <a:pPr algn="just"/>
              <a:endParaRPr lang="en-IN" dirty="0"/>
            </a:p>
            <a:p>
              <a:pPr algn="just"/>
              <a:r>
                <a:rPr lang="en-IN" dirty="0"/>
                <a:t>   Emp(int id, String </a:t>
              </a:r>
              <a:r>
                <a:rPr lang="en-IN" dirty="0" err="1"/>
                <a:t>en</a:t>
              </a:r>
              <a:r>
                <a:rPr lang="en-IN" dirty="0"/>
                <a:t>, double </a:t>
              </a:r>
              <a:r>
                <a:rPr lang="en-IN" dirty="0" err="1"/>
                <a:t>sa</a:t>
              </a:r>
              <a:r>
                <a:rPr lang="en-IN" dirty="0"/>
                <a:t>, String dg) {</a:t>
              </a:r>
            </a:p>
            <a:p>
              <a:pPr algn="just"/>
              <a:r>
                <a:rPr lang="en-IN" dirty="0"/>
                <a:t>      </a:t>
              </a:r>
              <a:r>
                <a:rPr lang="en-IN" dirty="0" err="1"/>
                <a:t>this.eid</a:t>
              </a:r>
              <a:r>
                <a:rPr lang="en-IN" dirty="0"/>
                <a:t>=id;</a:t>
              </a:r>
            </a:p>
            <a:p>
              <a:pPr algn="just"/>
              <a:r>
                <a:rPr lang="en-IN" dirty="0"/>
                <a:t>      </a:t>
              </a:r>
              <a:r>
                <a:rPr lang="en-IN" dirty="0" err="1"/>
                <a:t>ename</a:t>
              </a:r>
              <a:r>
                <a:rPr lang="en-IN" dirty="0"/>
                <a:t>=</a:t>
              </a:r>
              <a:r>
                <a:rPr lang="en-IN" dirty="0" err="1"/>
                <a:t>en</a:t>
              </a:r>
              <a:r>
                <a:rPr lang="en-IN" dirty="0"/>
                <a:t>;</a:t>
              </a:r>
            </a:p>
            <a:p>
              <a:pPr algn="just"/>
              <a:r>
                <a:rPr lang="en-IN" dirty="0"/>
                <a:t>      </a:t>
              </a:r>
              <a:r>
                <a:rPr lang="en-IN" dirty="0" err="1"/>
                <a:t>sal</a:t>
              </a:r>
              <a:r>
                <a:rPr lang="en-IN" dirty="0"/>
                <a:t>=</a:t>
              </a:r>
              <a:r>
                <a:rPr lang="en-IN" dirty="0" err="1"/>
                <a:t>sa</a:t>
              </a:r>
              <a:r>
                <a:rPr lang="en-IN" dirty="0"/>
                <a:t>;</a:t>
              </a:r>
            </a:p>
            <a:p>
              <a:pPr algn="just"/>
              <a:r>
                <a:rPr lang="en-IN" dirty="0"/>
                <a:t>      </a:t>
              </a:r>
              <a:r>
                <a:rPr lang="en-IN" dirty="0" err="1"/>
                <a:t>desig</a:t>
              </a:r>
              <a:r>
                <a:rPr lang="en-IN" dirty="0"/>
                <a:t>=dg;</a:t>
              </a:r>
            </a:p>
            <a:p>
              <a:pPr algn="just"/>
              <a:r>
                <a:rPr lang="en-IN" dirty="0"/>
                <a:t>   }</a:t>
              </a:r>
            </a:p>
            <a:p>
              <a:pPr algn="just"/>
              <a:r>
                <a:rPr lang="en-IN" dirty="0"/>
                <a:t>}</a:t>
              </a:r>
            </a:p>
          </p:txBody>
        </p:sp>
        <p:sp>
          <p:nvSpPr>
            <p:cNvPr id="28" name="TextBox 27">
              <a:extLst>
                <a:ext uri="{FF2B5EF4-FFF2-40B4-BE49-F238E27FC236}">
                  <a16:creationId xmlns:a16="http://schemas.microsoft.com/office/drawing/2014/main" id="{3B351529-C825-4995-9C56-8122DD870B44}"/>
                </a:ext>
              </a:extLst>
            </p:cNvPr>
            <p:cNvSpPr txBox="1"/>
            <p:nvPr/>
          </p:nvSpPr>
          <p:spPr>
            <a:xfrm>
              <a:off x="4665258" y="1229530"/>
              <a:ext cx="5827595" cy="2031325"/>
            </a:xfrm>
            <a:prstGeom prst="rect">
              <a:avLst/>
            </a:prstGeom>
            <a:noFill/>
          </p:spPr>
          <p:txBody>
            <a:bodyPr wrap="square">
              <a:spAutoFit/>
            </a:bodyPr>
            <a:lstStyle/>
            <a:p>
              <a:pPr algn="just"/>
              <a:r>
                <a:rPr lang="en-IN" dirty="0"/>
                <a:t>// EmpClient.java</a:t>
              </a:r>
            </a:p>
            <a:p>
              <a:pPr algn="just"/>
              <a:r>
                <a:rPr lang="en-IN" dirty="0"/>
                <a:t>public class </a:t>
              </a:r>
              <a:r>
                <a:rPr lang="en-IN" dirty="0" err="1"/>
                <a:t>EmpClient</a:t>
              </a:r>
              <a:r>
                <a:rPr lang="en-IN" dirty="0"/>
                <a:t> {</a:t>
              </a:r>
            </a:p>
            <a:p>
              <a:pPr algn="just"/>
              <a:r>
                <a:rPr lang="en-IN" dirty="0"/>
                <a:t>    public static void main(String rags[]) {</a:t>
              </a:r>
            </a:p>
            <a:p>
              <a:pPr algn="just"/>
              <a:r>
                <a:rPr lang="en-IN" dirty="0"/>
                <a:t>       Emp e1=new Emp(1, “ABC”, 50000.00, “Developer”);</a:t>
              </a:r>
            </a:p>
            <a:p>
              <a:pPr algn="just"/>
              <a:r>
                <a:rPr lang="en-IN" dirty="0"/>
                <a:t>       Emp e2=new Emp(2, “XYZ”, 100000.00, “Architect”);</a:t>
              </a:r>
            </a:p>
            <a:p>
              <a:pPr algn="just"/>
              <a:r>
                <a:rPr lang="en-IN" dirty="0"/>
                <a:t>    }</a:t>
              </a:r>
            </a:p>
            <a:p>
              <a:pPr algn="just"/>
              <a:r>
                <a:rPr lang="en-IN" dirty="0"/>
                <a:t>}</a:t>
              </a:r>
            </a:p>
          </p:txBody>
        </p:sp>
        <p:sp>
          <p:nvSpPr>
            <p:cNvPr id="39" name="Oval 38">
              <a:extLst>
                <a:ext uri="{FF2B5EF4-FFF2-40B4-BE49-F238E27FC236}">
                  <a16:creationId xmlns:a16="http://schemas.microsoft.com/office/drawing/2014/main" id="{83DBB28A-BBD7-4CA5-A463-C6134068DC8D}"/>
                </a:ext>
              </a:extLst>
            </p:cNvPr>
            <p:cNvSpPr/>
            <p:nvPr/>
          </p:nvSpPr>
          <p:spPr>
            <a:xfrm>
              <a:off x="9531823" y="856383"/>
              <a:ext cx="1922059" cy="104420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err="1"/>
                <a:t>eid</a:t>
              </a:r>
              <a:r>
                <a:rPr lang="en-US" sz="1200" dirty="0"/>
                <a:t>=1 </a:t>
              </a:r>
              <a:r>
                <a:rPr lang="en-US" sz="1200" dirty="0" err="1"/>
                <a:t>ename</a:t>
              </a:r>
              <a:r>
                <a:rPr lang="en-US" sz="1200" dirty="0"/>
                <a:t>=“ABC” </a:t>
              </a:r>
              <a:r>
                <a:rPr lang="en-US" sz="1200" dirty="0" err="1"/>
                <a:t>sal</a:t>
              </a:r>
              <a:r>
                <a:rPr lang="en-US" sz="1200" dirty="0"/>
                <a:t>=50000.00 </a:t>
              </a:r>
              <a:r>
                <a:rPr lang="en-US" sz="1200" dirty="0" err="1"/>
                <a:t>desig</a:t>
              </a:r>
              <a:r>
                <a:rPr lang="en-US" sz="1200" dirty="0"/>
                <a:t>=“Developer”</a:t>
              </a:r>
              <a:endParaRPr lang="en-US" dirty="0"/>
            </a:p>
          </p:txBody>
        </p:sp>
        <p:sp>
          <p:nvSpPr>
            <p:cNvPr id="40" name="Oval 39">
              <a:extLst>
                <a:ext uri="{FF2B5EF4-FFF2-40B4-BE49-F238E27FC236}">
                  <a16:creationId xmlns:a16="http://schemas.microsoft.com/office/drawing/2014/main" id="{25AC05ED-A62D-4D86-83AB-D03178D8066A}"/>
                </a:ext>
              </a:extLst>
            </p:cNvPr>
            <p:cNvSpPr/>
            <p:nvPr/>
          </p:nvSpPr>
          <p:spPr>
            <a:xfrm>
              <a:off x="9806721" y="2725003"/>
              <a:ext cx="1922059" cy="104420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err="1"/>
                <a:t>eid</a:t>
              </a:r>
              <a:r>
                <a:rPr lang="en-US" sz="1200" dirty="0"/>
                <a:t>=2 </a:t>
              </a:r>
              <a:r>
                <a:rPr lang="en-US" sz="1200" dirty="0" err="1"/>
                <a:t>ename</a:t>
              </a:r>
              <a:r>
                <a:rPr lang="en-US" sz="1200" dirty="0"/>
                <a:t>=“XYZ” </a:t>
              </a:r>
              <a:r>
                <a:rPr lang="en-US" sz="1200" dirty="0" err="1"/>
                <a:t>sal</a:t>
              </a:r>
              <a:r>
                <a:rPr lang="en-US" sz="1200" dirty="0"/>
                <a:t>=100000.00 </a:t>
              </a:r>
              <a:r>
                <a:rPr lang="en-US" sz="1200" dirty="0" err="1"/>
                <a:t>desig</a:t>
              </a:r>
              <a:r>
                <a:rPr lang="en-US" sz="1200" dirty="0"/>
                <a:t>=“Architect”</a:t>
              </a:r>
              <a:endParaRPr lang="en-IN" sz="1400" dirty="0"/>
            </a:p>
          </p:txBody>
        </p:sp>
        <p:sp>
          <p:nvSpPr>
            <p:cNvPr id="41" name="TextBox 40">
              <a:extLst>
                <a:ext uri="{FF2B5EF4-FFF2-40B4-BE49-F238E27FC236}">
                  <a16:creationId xmlns:a16="http://schemas.microsoft.com/office/drawing/2014/main" id="{2DCAD487-4F09-4387-9A90-B37E04C5EA49}"/>
                </a:ext>
              </a:extLst>
            </p:cNvPr>
            <p:cNvSpPr txBox="1"/>
            <p:nvPr/>
          </p:nvSpPr>
          <p:spPr>
            <a:xfrm>
              <a:off x="4745400" y="3596285"/>
              <a:ext cx="4419877" cy="2308324"/>
            </a:xfrm>
            <a:prstGeom prst="rect">
              <a:avLst/>
            </a:prstGeom>
            <a:noFill/>
          </p:spPr>
          <p:txBody>
            <a:bodyPr wrap="square" rtlCol="0">
              <a:spAutoFit/>
            </a:bodyPr>
            <a:lstStyle/>
            <a:p>
              <a:pPr algn="just"/>
              <a:r>
                <a:rPr lang="en-US" dirty="0"/>
                <a:t>If final variable is declared as static. Then to static variable the memory is allocated in class memory (common memory) not in instance memory. Memory wastage reduces.</a:t>
              </a:r>
            </a:p>
            <a:p>
              <a:pPr algn="just"/>
              <a:endParaRPr lang="en-US" dirty="0"/>
            </a:p>
            <a:p>
              <a:pPr algn="just"/>
              <a:r>
                <a:rPr lang="en-US" dirty="0"/>
                <a:t>Hence final variables are recommended to be declared as static too.</a:t>
              </a:r>
              <a:endParaRPr lang="en-IN" dirty="0"/>
            </a:p>
          </p:txBody>
        </p:sp>
        <p:sp>
          <p:nvSpPr>
            <p:cNvPr id="42" name="Oval 41">
              <a:extLst>
                <a:ext uri="{FF2B5EF4-FFF2-40B4-BE49-F238E27FC236}">
                  <a16:creationId xmlns:a16="http://schemas.microsoft.com/office/drawing/2014/main" id="{08239C17-8592-46EF-B819-21688487C28C}"/>
                </a:ext>
              </a:extLst>
            </p:cNvPr>
            <p:cNvSpPr/>
            <p:nvPr/>
          </p:nvSpPr>
          <p:spPr>
            <a:xfrm>
              <a:off x="6864856" y="865406"/>
              <a:ext cx="2500349" cy="6186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MIN_AGE=18</a:t>
              </a:r>
              <a:endParaRPr lang="en-IN" dirty="0"/>
            </a:p>
          </p:txBody>
        </p:sp>
        <p:sp>
          <p:nvSpPr>
            <p:cNvPr id="43" name="TextBox 42">
              <a:extLst>
                <a:ext uri="{FF2B5EF4-FFF2-40B4-BE49-F238E27FC236}">
                  <a16:creationId xmlns:a16="http://schemas.microsoft.com/office/drawing/2014/main" id="{84011DDB-2B5B-4BCA-B905-9BF295E606D3}"/>
                </a:ext>
              </a:extLst>
            </p:cNvPr>
            <p:cNvSpPr txBox="1"/>
            <p:nvPr/>
          </p:nvSpPr>
          <p:spPr>
            <a:xfrm>
              <a:off x="10179011" y="2146854"/>
              <a:ext cx="2053002" cy="369332"/>
            </a:xfrm>
            <a:prstGeom prst="rect">
              <a:avLst/>
            </a:prstGeom>
            <a:noFill/>
          </p:spPr>
          <p:txBody>
            <a:bodyPr wrap="none" rtlCol="0">
              <a:spAutoFit/>
            </a:bodyPr>
            <a:lstStyle/>
            <a:p>
              <a:r>
                <a:rPr lang="en-US" b="1" dirty="0">
                  <a:solidFill>
                    <a:srgbClr val="FF0000"/>
                  </a:solidFill>
                </a:rPr>
                <a:t>instance memories</a:t>
              </a:r>
              <a:endParaRPr lang="en-IN" b="1" dirty="0">
                <a:solidFill>
                  <a:srgbClr val="FF0000"/>
                </a:solidFill>
              </a:endParaRPr>
            </a:p>
          </p:txBody>
        </p:sp>
        <p:cxnSp>
          <p:nvCxnSpPr>
            <p:cNvPr id="44" name="Straight Arrow Connector 43">
              <a:extLst>
                <a:ext uri="{FF2B5EF4-FFF2-40B4-BE49-F238E27FC236}">
                  <a16:creationId xmlns:a16="http://schemas.microsoft.com/office/drawing/2014/main" id="{8DE68B4B-E0F9-4D9C-A61B-ED8826EB0454}"/>
                </a:ext>
              </a:extLst>
            </p:cNvPr>
            <p:cNvCxnSpPr/>
            <p:nvPr/>
          </p:nvCxnSpPr>
          <p:spPr>
            <a:xfrm flipH="1" flipV="1">
              <a:off x="10800522" y="1900587"/>
              <a:ext cx="397565" cy="246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6CDA951-6A78-434B-B83E-C912AF844802}"/>
                </a:ext>
              </a:extLst>
            </p:cNvPr>
            <p:cNvCxnSpPr/>
            <p:nvPr/>
          </p:nvCxnSpPr>
          <p:spPr>
            <a:xfrm flipH="1">
              <a:off x="11078817" y="2454631"/>
              <a:ext cx="159026" cy="270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415D1D53-9DD6-40AF-B25F-1C7B80C456B2}"/>
              </a:ext>
            </a:extLst>
          </p:cNvPr>
          <p:cNvSpPr txBox="1"/>
          <p:nvPr/>
        </p:nvSpPr>
        <p:spPr>
          <a:xfrm>
            <a:off x="5698663" y="746137"/>
            <a:ext cx="1492140" cy="369332"/>
          </a:xfrm>
          <a:prstGeom prst="rect">
            <a:avLst/>
          </a:prstGeom>
          <a:noFill/>
        </p:spPr>
        <p:txBody>
          <a:bodyPr wrap="none" rtlCol="0">
            <a:spAutoFit/>
          </a:bodyPr>
          <a:lstStyle/>
          <a:p>
            <a:r>
              <a:rPr lang="en-US" b="1" dirty="0">
                <a:solidFill>
                  <a:srgbClr val="FF0000"/>
                </a:solidFill>
              </a:rPr>
              <a:t>class memory</a:t>
            </a:r>
            <a:endParaRPr lang="en-IN" b="1" dirty="0">
              <a:solidFill>
                <a:srgbClr val="FF0000"/>
              </a:solidFill>
            </a:endParaRPr>
          </a:p>
        </p:txBody>
      </p:sp>
    </p:spTree>
    <p:extLst>
      <p:ext uri="{BB962C8B-B14F-4D97-AF65-F5344CB8AC3E}">
        <p14:creationId xmlns:p14="http://schemas.microsoft.com/office/powerpoint/2010/main" val="29241044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542</TotalTime>
  <Words>1426</Words>
  <Application>Microsoft Office PowerPoint</Application>
  <PresentationFormat>Widescreen</PresentationFormat>
  <Paragraphs>158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Bookman Old Style</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nivas .</cp:lastModifiedBy>
  <cp:revision>26</cp:revision>
  <dcterms:created xsi:type="dcterms:W3CDTF">2021-09-13T09:22:41Z</dcterms:created>
  <dcterms:modified xsi:type="dcterms:W3CDTF">2022-09-19T15:44:29Z</dcterms:modified>
</cp:coreProperties>
</file>