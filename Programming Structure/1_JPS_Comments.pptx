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66"/>
    <a:srgbClr val="990033"/>
    <a:srgbClr val="0000FF"/>
    <a:srgbClr val="3399FF"/>
    <a:srgbClr val="FF9933"/>
    <a:srgbClr val="FF5050"/>
    <a:srgbClr val="F105D3"/>
    <a:srgbClr val="902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F8FD7-6664-4EC7-B781-79F419E034EE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Programming Structure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568EAF6-1126-491C-A21E-FF3DE6654C49}"/>
              </a:ext>
            </a:extLst>
          </p:cNvPr>
          <p:cNvSpPr txBox="1"/>
          <p:nvPr/>
        </p:nvSpPr>
        <p:spPr>
          <a:xfrm>
            <a:off x="180475" y="2132917"/>
            <a:ext cx="93619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Java Programming Structure</a:t>
            </a:r>
          </a:p>
          <a:p>
            <a:pPr algn="ctr"/>
            <a:r>
              <a:rPr lang="en-US" sz="7200" b="1">
                <a:solidFill>
                  <a:srgbClr val="FF0000"/>
                </a:solidFill>
              </a:rPr>
              <a:t>Part - I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088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Programming Structure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A9D5D3E-088E-4006-B57A-6C8680258BD2}"/>
              </a:ext>
            </a:extLst>
          </p:cNvPr>
          <p:cNvSpPr txBox="1"/>
          <p:nvPr/>
        </p:nvSpPr>
        <p:spPr>
          <a:xfrm>
            <a:off x="777871" y="1022682"/>
            <a:ext cx="85675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u="sng" dirty="0">
                <a:solidFill>
                  <a:srgbClr val="FF0000"/>
                </a:solidFill>
              </a:rPr>
              <a:t>9 parts of Java program: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1) Comments (optional)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2) package declaration (optional)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3) import statements (optional)</a:t>
            </a:r>
          </a:p>
          <a:p>
            <a:pPr algn="just"/>
            <a:endParaRPr lang="en-US" sz="2800" b="1" dirty="0">
              <a:solidFill>
                <a:srgbClr val="FF0000"/>
              </a:solidFill>
            </a:endParaRP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4) class declaration (compulsory)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5) variable declaration (optional)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6) constructor implementation (optional)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7) method implementation (compulsory)</a:t>
            </a:r>
          </a:p>
          <a:p>
            <a:pPr algn="just"/>
            <a:endParaRPr lang="en-US" sz="2800" b="1" dirty="0">
              <a:solidFill>
                <a:srgbClr val="FF0000"/>
              </a:solidFill>
            </a:endParaRP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8) static blocks (optional)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9) non-static blocks (optional)</a:t>
            </a:r>
          </a:p>
        </p:txBody>
      </p:sp>
    </p:spTree>
    <p:extLst>
      <p:ext uri="{BB962C8B-B14F-4D97-AF65-F5344CB8AC3E}">
        <p14:creationId xmlns:p14="http://schemas.microsoft.com/office/powerpoint/2010/main" val="350695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Comments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FD06EA5-03C8-42CB-BA33-9CB9BFB2E96E}"/>
              </a:ext>
            </a:extLst>
          </p:cNvPr>
          <p:cNvSpPr txBox="1"/>
          <p:nvPr/>
        </p:nvSpPr>
        <p:spPr>
          <a:xfrm>
            <a:off x="2931693" y="2102552"/>
            <a:ext cx="47709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8000" b="1" u="sng" dirty="0">
                <a:solidFill>
                  <a:srgbClr val="FF0000"/>
                </a:solidFill>
              </a:rPr>
              <a:t>Comments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09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Comments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5C9A681-3C01-4562-A3D1-8A091F92AC70}"/>
              </a:ext>
            </a:extLst>
          </p:cNvPr>
          <p:cNvSpPr txBox="1"/>
          <p:nvPr/>
        </p:nvSpPr>
        <p:spPr>
          <a:xfrm>
            <a:off x="1711948" y="2036375"/>
            <a:ext cx="635007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3200" b="1" u="sng" dirty="0">
                <a:solidFill>
                  <a:srgbClr val="FF0000"/>
                </a:solidFill>
              </a:rPr>
              <a:t>Java supports 3 types of comments: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</a:rPr>
              <a:t>Single line comment </a:t>
            </a:r>
            <a:r>
              <a:rPr lang="en-US" sz="3200" b="1" dirty="0">
                <a:solidFill>
                  <a:srgbClr val="0000FF"/>
                </a:solidFill>
              </a:rPr>
              <a:t>//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</a:rPr>
              <a:t>Multi line comment </a:t>
            </a:r>
            <a:r>
              <a:rPr lang="en-US" sz="3200" b="1" dirty="0">
                <a:solidFill>
                  <a:srgbClr val="0000FF"/>
                </a:solidFill>
              </a:rPr>
              <a:t>/*   */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</a:rPr>
              <a:t>Documentation comment </a:t>
            </a:r>
            <a:r>
              <a:rPr lang="en-US" sz="3200" b="1" dirty="0">
                <a:solidFill>
                  <a:srgbClr val="0000FF"/>
                </a:solidFill>
              </a:rPr>
              <a:t>/**   */</a:t>
            </a:r>
          </a:p>
        </p:txBody>
      </p:sp>
    </p:spTree>
    <p:extLst>
      <p:ext uri="{BB962C8B-B14F-4D97-AF65-F5344CB8AC3E}">
        <p14:creationId xmlns:p14="http://schemas.microsoft.com/office/powerpoint/2010/main" val="266019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Comments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B42CCA7-2C5F-4376-8673-F92D0D312DB4}"/>
              </a:ext>
            </a:extLst>
          </p:cNvPr>
          <p:cNvSpPr txBox="1"/>
          <p:nvPr/>
        </p:nvSpPr>
        <p:spPr>
          <a:xfrm>
            <a:off x="874818" y="1389650"/>
            <a:ext cx="81007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Comments are the statements that are ignored by compiler &amp; interpreter.</a:t>
            </a:r>
          </a:p>
          <a:p>
            <a:pPr algn="just"/>
            <a:endParaRPr lang="en-US" sz="2800" b="1" dirty="0"/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dirty="0"/>
              <a:t>Comments are used to provide explanation about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/>
              <a:t>why class?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/>
              <a:t>why variable?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/>
              <a:t>why constructor?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/>
              <a:t>why method?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/>
              <a:t>why and how logic is written inside method?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2800" b="1" dirty="0"/>
              <a:t>By reading comments others understand our code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9287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Comments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52B74BF-1C9D-442F-A056-5FF8B54C3C16}"/>
              </a:ext>
            </a:extLst>
          </p:cNvPr>
          <p:cNvSpPr txBox="1"/>
          <p:nvPr/>
        </p:nvSpPr>
        <p:spPr>
          <a:xfrm>
            <a:off x="793140" y="1121856"/>
            <a:ext cx="869512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 err="1">
                <a:solidFill>
                  <a:srgbClr val="FF0000"/>
                </a:solidFill>
              </a:rPr>
              <a:t>i</a:t>
            </a:r>
            <a:r>
              <a:rPr lang="en-US" sz="3200" b="1" dirty="0">
                <a:solidFill>
                  <a:srgbClr val="FF0000"/>
                </a:solidFill>
              </a:rPr>
              <a:t>) Single line comment </a:t>
            </a:r>
          </a:p>
          <a:p>
            <a:pPr algn="just"/>
            <a:r>
              <a:rPr lang="en-US" sz="3200" b="1" dirty="0">
                <a:solidFill>
                  <a:srgbClr val="0000FF"/>
                </a:solidFill>
              </a:rPr>
              <a:t>Ex: // </a:t>
            </a:r>
          </a:p>
          <a:p>
            <a:pPr algn="just"/>
            <a:r>
              <a:rPr lang="en-US" sz="3200" b="1" dirty="0">
                <a:solidFill>
                  <a:srgbClr val="0000FF"/>
                </a:solidFill>
              </a:rPr>
              <a:t>- </a:t>
            </a:r>
            <a:r>
              <a:rPr lang="en-US" sz="2800" b="1" dirty="0">
                <a:solidFill>
                  <a:srgbClr val="0000FF"/>
                </a:solidFill>
              </a:rPr>
              <a:t>To write class name as a file name</a:t>
            </a:r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- In informal documentation to describe about following classname, variable name, constructor, method </a:t>
            </a:r>
            <a:r>
              <a:rPr lang="en-US" sz="2800" b="1" dirty="0" err="1">
                <a:solidFill>
                  <a:srgbClr val="0000FF"/>
                </a:solidFill>
              </a:rPr>
              <a:t>etc</a:t>
            </a:r>
            <a:endParaRPr lang="en-US" sz="2800" b="1" dirty="0">
              <a:solidFill>
                <a:srgbClr val="0000FF"/>
              </a:solidFill>
            </a:endParaRPr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- Inside method to comment single lines such as var declaration, var initialization, object creation, method calling and return statements</a:t>
            </a:r>
          </a:p>
        </p:txBody>
      </p:sp>
    </p:spTree>
    <p:extLst>
      <p:ext uri="{BB962C8B-B14F-4D97-AF65-F5344CB8AC3E}">
        <p14:creationId xmlns:p14="http://schemas.microsoft.com/office/powerpoint/2010/main" val="3338691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Comments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BCA1FB2-6083-4908-BDD7-1BE57583210F}"/>
              </a:ext>
            </a:extLst>
          </p:cNvPr>
          <p:cNvSpPr txBox="1"/>
          <p:nvPr/>
        </p:nvSpPr>
        <p:spPr>
          <a:xfrm>
            <a:off x="793139" y="1121856"/>
            <a:ext cx="874589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ii) Multi line comment</a:t>
            </a:r>
          </a:p>
          <a:p>
            <a:pPr algn="just"/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- we will use multi line comment to comment a block of code in the method such as conditions, loops, exception handling</a:t>
            </a:r>
          </a:p>
          <a:p>
            <a:pPr algn="just"/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- old method implementations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/*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 we can write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	multiple lines of comment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 in below method implementation (or) we can put unused logic in multi line comment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*/</a:t>
            </a:r>
          </a:p>
          <a:p>
            <a:pPr algn="just"/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 </a:t>
            </a:r>
          </a:p>
          <a:p>
            <a:pPr algn="just"/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 for( int </a:t>
            </a:r>
            <a:r>
              <a:rPr lang="en-US" sz="1600" b="1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i</a:t>
            </a:r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=0; </a:t>
            </a:r>
            <a:r>
              <a:rPr lang="en-US" sz="1600" b="1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i</a:t>
            </a:r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&lt;20; </a:t>
            </a:r>
            <a:r>
              <a:rPr lang="en-US" sz="1600" b="1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i</a:t>
            </a:r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++) {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   /*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	if(i%2==0) {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	     System.out.println("This is even number");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	  } else {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	     System.out.println("This is odd number");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	  }</a:t>
            </a:r>
          </a:p>
          <a:p>
            <a:pPr algn="just"/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   */</a:t>
            </a:r>
          </a:p>
          <a:p>
            <a:pPr algn="just"/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    var _oddOr$even=(i%2==0)?"This is even number":"This is odd number";</a:t>
            </a:r>
          </a:p>
          <a:p>
            <a:pPr algn="just"/>
            <a:r>
              <a:rPr lang="en-US" sz="16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  }</a:t>
            </a:r>
            <a:endParaRPr lang="en-US" sz="14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38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Comments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AE2132E-37D6-4E04-BB81-CE62F170EFAB}"/>
              </a:ext>
            </a:extLst>
          </p:cNvPr>
          <p:cNvSpPr txBox="1"/>
          <p:nvPr/>
        </p:nvSpPr>
        <p:spPr>
          <a:xfrm>
            <a:off x="793139" y="817053"/>
            <a:ext cx="874589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iii) Java Documentation comment</a:t>
            </a:r>
          </a:p>
          <a:p>
            <a:pPr algn="just"/>
            <a:endParaRPr lang="en-US" sz="15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/**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* The following method adds two integer variables and return integer.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* @author Surya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* @version 1.0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* @since 05-01-2022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* @param </a:t>
            </a:r>
            <a:r>
              <a:rPr lang="en-US" sz="15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 is integer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* @param j is integer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* @return integer</a:t>
            </a:r>
          </a:p>
          <a:p>
            <a:pPr algn="just"/>
            <a:r>
              <a:rPr lang="en-US" sz="1500" dirty="0">
                <a:solidFill>
                  <a:srgbClr val="FF0000"/>
                </a:solidFill>
                <a:latin typeface="Bookman Old Style" panose="02050604050505020204" pitchFamily="18" charset="0"/>
              </a:rPr>
              <a:t>* @exception This method parameters must be non-negative or non-zero values, otherwise IllegalArgumentException is thrown</a:t>
            </a:r>
          </a:p>
          <a:p>
            <a:pPr algn="just"/>
            <a:r>
              <a:rPr lang="en-US" sz="1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*/</a:t>
            </a:r>
          </a:p>
          <a:p>
            <a:pPr algn="just"/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public int add(int </a:t>
            </a:r>
            <a:r>
              <a:rPr lang="en-US" sz="1500" b="1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i</a:t>
            </a:r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, int j) throws IllegalArgumentException {</a:t>
            </a:r>
          </a:p>
          <a:p>
            <a:pPr algn="just"/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	if(</a:t>
            </a:r>
            <a:r>
              <a:rPr lang="en-US" sz="1500" b="1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i</a:t>
            </a:r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&lt;=0 &amp;&amp; j&lt;=0) {</a:t>
            </a:r>
          </a:p>
          <a:p>
            <a:pPr algn="just"/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		throw new IllegalArgumentException();</a:t>
            </a:r>
          </a:p>
          <a:p>
            <a:pPr algn="just"/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	}</a:t>
            </a:r>
          </a:p>
          <a:p>
            <a:pPr algn="just"/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	return </a:t>
            </a:r>
            <a:r>
              <a:rPr lang="en-US" sz="1500" b="1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i+j</a:t>
            </a:r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;</a:t>
            </a:r>
          </a:p>
          <a:p>
            <a:pPr algn="just"/>
            <a:r>
              <a:rPr lang="en-US" sz="15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}</a:t>
            </a:r>
          </a:p>
          <a:p>
            <a:pPr algn="just"/>
            <a:endParaRPr lang="en-US" sz="15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1500" b="1" i="1" dirty="0">
                <a:solidFill>
                  <a:srgbClr val="0000FF"/>
                </a:solidFill>
                <a:latin typeface="Bookman Old Style" panose="02050604050505020204" pitchFamily="18" charset="0"/>
              </a:rPr>
              <a:t>The following command generates </a:t>
            </a:r>
            <a:r>
              <a:rPr lang="en-US" sz="1500" b="1" i="1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api</a:t>
            </a:r>
            <a:r>
              <a:rPr lang="en-US" sz="1500" b="1" i="1" dirty="0">
                <a:solidFill>
                  <a:srgbClr val="0000FF"/>
                </a:solidFill>
                <a:latin typeface="Bookman Old Style" panose="02050604050505020204" pitchFamily="18" charset="0"/>
              </a:rPr>
              <a:t> documentation of our current directory classes.</a:t>
            </a:r>
          </a:p>
          <a:p>
            <a:pPr algn="just"/>
            <a:r>
              <a:rPr lang="en-US" sz="15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javadoc</a:t>
            </a:r>
            <a:r>
              <a:rPr lang="en-US" sz="1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-d . *.java</a:t>
            </a:r>
          </a:p>
        </p:txBody>
      </p:sp>
    </p:spTree>
    <p:extLst>
      <p:ext uri="{BB962C8B-B14F-4D97-AF65-F5344CB8AC3E}">
        <p14:creationId xmlns:p14="http://schemas.microsoft.com/office/powerpoint/2010/main" val="3636890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DBC6C-E9A2-43DD-8AE4-8D0DDE4523E5}"/>
              </a:ext>
            </a:extLst>
          </p:cNvPr>
          <p:cNvGrpSpPr/>
          <p:nvPr/>
        </p:nvGrpSpPr>
        <p:grpSpPr>
          <a:xfrm>
            <a:off x="0" y="-3010"/>
            <a:ext cx="12226085" cy="6861011"/>
            <a:chOff x="0" y="-3010"/>
            <a:chExt cx="12226085" cy="686101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DCF868-6E93-4982-AB2D-FFEEE7478913}"/>
                </a:ext>
              </a:extLst>
            </p:cNvPr>
            <p:cNvSpPr/>
            <p:nvPr/>
          </p:nvSpPr>
          <p:spPr>
            <a:xfrm>
              <a:off x="9542412" y="3922295"/>
              <a:ext cx="2649586" cy="293570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F5FB86E3-5182-4C43-8464-D4B43C073FD3}"/>
                </a:ext>
              </a:extLst>
            </p:cNvPr>
            <p:cNvSpPr/>
            <p:nvPr/>
          </p:nvSpPr>
          <p:spPr>
            <a:xfrm>
              <a:off x="2935705" y="0"/>
              <a:ext cx="6039853" cy="718885"/>
            </a:xfrm>
            <a:prstGeom prst="chevron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Comments</a:t>
              </a:r>
            </a:p>
          </p:txBody>
        </p:sp>
        <p:sp>
          <p:nvSpPr>
            <p:cNvPr id="16" name="Half Frame 15">
              <a:extLst>
                <a:ext uri="{FF2B5EF4-FFF2-40B4-BE49-F238E27FC236}">
                  <a16:creationId xmlns:a16="http://schemas.microsoft.com/office/drawing/2014/main" id="{D42E4D77-9E3B-4372-9B15-2E2A4737FA1A}"/>
                </a:ext>
              </a:extLst>
            </p:cNvPr>
            <p:cNvSpPr/>
            <p:nvPr/>
          </p:nvSpPr>
          <p:spPr>
            <a:xfrm rot="16200000">
              <a:off x="27072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94B64B7C-6927-47F2-A370-51DB6CB7DB7C}"/>
                </a:ext>
              </a:extLst>
            </p:cNvPr>
            <p:cNvSpPr/>
            <p:nvPr/>
          </p:nvSpPr>
          <p:spPr>
            <a:xfrm>
              <a:off x="0" y="-30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Half Frame 17">
              <a:extLst>
                <a:ext uri="{FF2B5EF4-FFF2-40B4-BE49-F238E27FC236}">
                  <a16:creationId xmlns:a16="http://schemas.microsoft.com/office/drawing/2014/main" id="{D0D65A0A-0D35-43C7-8FFB-8766B0E0CFF5}"/>
                </a:ext>
              </a:extLst>
            </p:cNvPr>
            <p:cNvSpPr/>
            <p:nvPr/>
          </p:nvSpPr>
          <p:spPr>
            <a:xfrm rot="5400000">
              <a:off x="10775281" y="-2707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F0E1DE4-5900-4FD7-8376-F2806B3FD10B}"/>
                </a:ext>
              </a:extLst>
            </p:cNvPr>
            <p:cNvSpPr/>
            <p:nvPr/>
          </p:nvSpPr>
          <p:spPr>
            <a:xfrm rot="16200000">
              <a:off x="27073" y="5441282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AF515097-FF0D-4D2D-8ABE-40C71D119BD4}"/>
                </a:ext>
              </a:extLst>
            </p:cNvPr>
            <p:cNvSpPr/>
            <p:nvPr/>
          </p:nvSpPr>
          <p:spPr>
            <a:xfrm rot="10800000">
              <a:off x="10802349" y="5414210"/>
              <a:ext cx="1389649" cy="1443790"/>
            </a:xfrm>
            <a:prstGeom prst="halfFrame">
              <a:avLst>
                <a:gd name="adj1" fmla="val 12531"/>
                <a:gd name="adj2" fmla="val 13479"/>
              </a:avLst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CDA0A01-2100-4CCD-9D0E-EDE971F85C5A}"/>
                </a:ext>
              </a:extLst>
            </p:cNvPr>
            <p:cNvSpPr/>
            <p:nvPr/>
          </p:nvSpPr>
          <p:spPr>
            <a:xfrm>
              <a:off x="12045611" y="2756732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4ED9EE-B382-4495-BB26-9ABF91230913}"/>
                </a:ext>
              </a:extLst>
            </p:cNvPr>
            <p:cNvSpPr/>
            <p:nvPr/>
          </p:nvSpPr>
          <p:spPr>
            <a:xfrm>
              <a:off x="0" y="2756733"/>
              <a:ext cx="180474" cy="1112921"/>
            </a:xfrm>
            <a:prstGeom prst="rect">
              <a:avLst/>
            </a:prstGeom>
            <a:gradFill>
              <a:gsLst>
                <a:gs pos="0">
                  <a:srgbClr val="F000C6"/>
                </a:gs>
                <a:gs pos="46532">
                  <a:srgbClr val="B800C4"/>
                </a:gs>
                <a:gs pos="100000">
                  <a:srgbClr val="8000C2"/>
                </a:gs>
              </a:gsLst>
            </a:gradFill>
            <a:ln w="12700"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lIns="45719" rIns="45719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6829B0-3EDD-4874-A380-B94C3CAC5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1999" y="198519"/>
              <a:ext cx="752990" cy="824163"/>
            </a:xfrm>
            <a:prstGeom prst="roundRect">
              <a:avLst>
                <a:gd name="adj" fmla="val 2010"/>
              </a:avLst>
            </a:prstGeom>
            <a:gradFill>
              <a:gsLst>
                <a:gs pos="0">
                  <a:srgbClr val="00F2FE"/>
                </a:gs>
                <a:gs pos="41897">
                  <a:srgbClr val="28CFFE"/>
                </a:gs>
                <a:gs pos="97514">
                  <a:srgbClr val="4FACFE"/>
                </a:gs>
              </a:gsLst>
              <a:lin ang="8471591"/>
            </a:gradFill>
            <a:ln w="12700">
              <a:solidFill>
                <a:srgbClr val="F105D3"/>
              </a:solidFill>
              <a:miter lim="400000"/>
            </a:ln>
            <a:effectLst>
              <a:outerShdw blurRad="38100" dist="26654" dir="2315233" rotWithShape="0">
                <a:srgbClr val="000000">
                  <a:alpha val="28814"/>
                </a:srgbClr>
              </a:outerShdw>
            </a:effectLst>
          </p:spPr>
        </p:pic>
      </p:grpSp>
      <p:graphicFrame>
        <p:nvGraphicFramePr>
          <p:cNvPr id="25" name="Table 8">
            <a:extLst>
              <a:ext uri="{FF2B5EF4-FFF2-40B4-BE49-F238E27FC236}">
                <a16:creationId xmlns:a16="http://schemas.microsoft.com/office/drawing/2014/main" id="{F08E5331-AEBE-451C-88FD-CEB31611C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300865"/>
              </p:ext>
            </p:extLst>
          </p:nvPr>
        </p:nvGraphicFramePr>
        <p:xfrm>
          <a:off x="408901" y="1394647"/>
          <a:ext cx="9079367" cy="491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870">
                  <a:extLst>
                    <a:ext uri="{9D8B030D-6E8A-4147-A177-3AD203B41FA5}">
                      <a16:colId xmlns:a16="http://schemas.microsoft.com/office/drawing/2014/main" val="590077655"/>
                    </a:ext>
                  </a:extLst>
                </a:gridCol>
                <a:gridCol w="4404124">
                  <a:extLst>
                    <a:ext uri="{9D8B030D-6E8A-4147-A177-3AD203B41FA5}">
                      <a16:colId xmlns:a16="http://schemas.microsoft.com/office/drawing/2014/main" val="2561033707"/>
                    </a:ext>
                  </a:extLst>
                </a:gridCol>
                <a:gridCol w="3090373">
                  <a:extLst>
                    <a:ext uri="{9D8B030D-6E8A-4147-A177-3AD203B41FA5}">
                      <a16:colId xmlns:a16="http://schemas.microsoft.com/office/drawing/2014/main" val="3832462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Tag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Syntax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579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@author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Adds the author of a class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@author name-text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997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@code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Displays text in code font without interpreting text as HTML markup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{@code text}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35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@deprecated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Adds comment saying API is no longer used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@deprecated </a:t>
                      </a:r>
                      <a:r>
                        <a:rPr lang="en-US" sz="1600" dirty="0" err="1"/>
                        <a:t>deprecatedtext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01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@exception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Reports which exception the method throws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@exception class-name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988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@link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Inserts a inline link with the visible text label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{@link </a:t>
                      </a:r>
                      <a:r>
                        <a:rPr lang="en-US" sz="1600" dirty="0" err="1"/>
                        <a:t>package.class#member</a:t>
                      </a:r>
                      <a:r>
                        <a:rPr lang="en-US" sz="1600" dirty="0"/>
                        <a:t>}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670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@param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description of each parameter in the method/constructor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@param param-name description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16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@return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Adds a return section with the description text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@return description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78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@since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specifies from when the below class/variable/constructor/method exist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@since release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030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@throws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The @throws and @exception tags are same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@throws exception-class-name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80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@version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Specifies from which version of class the following var/constructor/method is introduced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@version version-text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32668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2D80CB9-C650-4D38-B851-7B971F537814}"/>
              </a:ext>
            </a:extLst>
          </p:cNvPr>
          <p:cNvSpPr txBox="1"/>
          <p:nvPr/>
        </p:nvSpPr>
        <p:spPr>
          <a:xfrm>
            <a:off x="410818" y="978162"/>
            <a:ext cx="5271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Javadoc tool recognizes following tags:</a:t>
            </a:r>
            <a:endParaRPr lang="en-IN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9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723</Words>
  <Application>Microsoft Office PowerPoint</Application>
  <PresentationFormat>Widescreen</PresentationFormat>
  <Paragraphs>125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Surya Narayana</cp:lastModifiedBy>
  <cp:revision>24</cp:revision>
  <dcterms:created xsi:type="dcterms:W3CDTF">2021-09-13T09:22:41Z</dcterms:created>
  <dcterms:modified xsi:type="dcterms:W3CDTF">2022-02-23T06:50:00Z</dcterms:modified>
</cp:coreProperties>
</file>