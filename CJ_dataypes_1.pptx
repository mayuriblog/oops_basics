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0" r:id="rId2"/>
    <p:sldId id="259" r:id="rId3"/>
    <p:sldId id="261" r:id="rId4"/>
    <p:sldId id="262" r:id="rId5"/>
    <p:sldId id="268" r:id="rId6"/>
    <p:sldId id="269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7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-370" y="91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0CB9C-1F97-44F0-ADF1-74556C438959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2F6C4-9CE3-43A1-B8BA-27BFB142F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8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/>
          </p:cNvSpPr>
          <p:nvPr/>
        </p:nvSpPr>
        <p:spPr bwMode="auto">
          <a:xfrm>
            <a:off x="0" y="3563542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57200" y="1314450"/>
            <a:ext cx="6629400" cy="1943100"/>
          </a:xfrm>
        </p:spPr>
        <p:txBody>
          <a:bodyPr anchor="t"/>
          <a:lstStyle>
            <a:lvl1pPr algn="ct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D41A595-8101-4452-BF23-4EE4E533C769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6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B992530-92A3-44B4-96DF-B2605C41FE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14300"/>
            <a:ext cx="7696200" cy="7429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28701"/>
            <a:ext cx="8610600" cy="3508772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01000" y="0"/>
            <a:ext cx="1143000" cy="171450"/>
          </a:xfrm>
        </p:spPr>
        <p:txBody>
          <a:bodyPr anchor="t"/>
          <a:lstStyle>
            <a:lvl1pPr>
              <a:defRPr/>
            </a:lvl1pPr>
          </a:lstStyle>
          <a:p>
            <a:pPr>
              <a:defRPr/>
            </a:pPr>
            <a:fld id="{C477F811-EC5B-458A-AA78-5C6D30FBA636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6ED7B-5CA3-4472-B01C-99CB7689D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/>
          </p:cNvSpPr>
          <p:nvPr/>
        </p:nvSpPr>
        <p:spPr bwMode="auto">
          <a:xfrm>
            <a:off x="0" y="3563542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600201"/>
            <a:ext cx="6629400" cy="1369772"/>
          </a:xfrm>
        </p:spPr>
        <p:txBody>
          <a:bodyPr tIns="0" bIns="0" anchor="t">
            <a:noAutofit/>
          </a:bodyPr>
          <a:lstStyle>
            <a:lvl1pPr algn="l">
              <a:buNone/>
              <a:defRPr sz="6600" b="1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ush Script MT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924800" y="1"/>
            <a:ext cx="1219200" cy="213122"/>
          </a:xfrm>
        </p:spPr>
        <p:txBody>
          <a:bodyPr anchor="t"/>
          <a:lstStyle>
            <a:lvl1pPr>
              <a:defRPr/>
            </a:lvl1pPr>
          </a:lstStyle>
          <a:p>
            <a:pPr>
              <a:defRPr/>
            </a:pPr>
            <a:fld id="{D6973F78-3E5F-4FCF-8112-A8BDF843D28A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17A7-E8DB-44FD-ABFD-9152337CD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 b="1"/>
            </a:lvl1pPr>
            <a:lvl2pPr>
              <a:defRPr sz="2200" b="1"/>
            </a:lvl2pPr>
            <a:lvl3pPr>
              <a:defRPr sz="20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 b="1"/>
            </a:lvl1pPr>
            <a:lvl2pPr>
              <a:defRPr sz="2200" b="1"/>
            </a:lvl2pPr>
            <a:lvl3pPr>
              <a:defRPr sz="20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01000" y="1"/>
            <a:ext cx="1143000" cy="273844"/>
          </a:xfrm>
        </p:spPr>
        <p:txBody>
          <a:bodyPr anchor="t"/>
          <a:lstStyle>
            <a:lvl1pPr>
              <a:defRPr/>
            </a:lvl1pPr>
          </a:lstStyle>
          <a:p>
            <a:pPr>
              <a:defRPr/>
            </a:pPr>
            <a:fld id="{EE0DD644-1011-4CF9-89DB-FF1D357CD224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C7008-F5ED-4269-A898-E084C9C899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114800"/>
            <a:ext cx="4040188" cy="62865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114800"/>
            <a:ext cx="4041775" cy="62865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1" y="1137685"/>
            <a:ext cx="4040188" cy="2956322"/>
          </a:xfrm>
        </p:spPr>
        <p:txBody>
          <a:bodyPr/>
          <a:lstStyle>
            <a:lvl1pPr>
              <a:defRPr sz="2400" b="1"/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137685"/>
            <a:ext cx="4041775" cy="2956322"/>
          </a:xfrm>
        </p:spPr>
        <p:txBody>
          <a:bodyPr/>
          <a:lstStyle>
            <a:lvl1pPr>
              <a:defRPr sz="2400" b="1"/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01000" y="1"/>
            <a:ext cx="1143000" cy="273844"/>
          </a:xfrm>
        </p:spPr>
        <p:txBody>
          <a:bodyPr anchor="t"/>
          <a:lstStyle>
            <a:lvl1pPr>
              <a:defRPr/>
            </a:lvl1pPr>
          </a:lstStyle>
          <a:p>
            <a:pPr>
              <a:defRPr/>
            </a:pPr>
            <a:fld id="{603148F3-2F3D-44C4-A06D-6D5ABFA28C94}" type="datetime4">
              <a:rPr lang="en-US" smtClean="0"/>
              <a:t>September 10, 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6BB36-18C6-4FE9-B805-A8C3DE15B0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ACDE3-3351-42A6-8876-7DCBAFDF278A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C28FB-DE10-4C5E-A921-43ECF992E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2FE36-6E07-493C-85FA-E147878D5390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BB723-660E-4467-8A37-055799D18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9147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 b="1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 b="1"/>
            </a:lvl1pPr>
            <a:lvl2pPr>
              <a:defRPr sz="2400" b="1"/>
            </a:lvl2pPr>
            <a:lvl3pPr>
              <a:defRPr sz="22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D7734-3905-499D-8BC0-86D1E7B259F8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575" y="4816080"/>
            <a:ext cx="7620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98E90-0A32-499E-B1BB-FF45A4E22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601" y="914400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rgbClr val="FFD0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62601" y="2057400"/>
            <a:ext cx="3053867" cy="1997612"/>
          </a:xfrm>
        </p:spPr>
        <p:txBody>
          <a:bodyPr lIns="45720" rIns="45720"/>
          <a:lstStyle>
            <a:lvl1pPr marL="0" indent="0">
              <a:buFontTx/>
              <a:buNone/>
              <a:defRPr sz="1200" b="1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5643E-C729-4886-86A2-9B06C90D9679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6B00E-CF0F-496B-9F75-F8C31B645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80069-86CD-472D-B286-1E84B99C692D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6275E-019F-4DBF-9570-2B2CFE581B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713DE-79EB-4A53-BF46-0B992F352868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E3C3C-488C-4C21-8865-BBB9440A0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0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4A2FF-2174-42B7-ABDE-C4D8D34A6635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Suryanarayana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E0CA6-51E5-4909-A9E7-74F83F158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057651"/>
            <a:ext cx="9144000" cy="109061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4099" name="Title Placeholder 8"/>
          <p:cNvSpPr>
            <a:spLocks noGrp="1"/>
          </p:cNvSpPr>
          <p:nvPr>
            <p:ph type="title"/>
          </p:nvPr>
        </p:nvSpPr>
        <p:spPr bwMode="auto">
          <a:xfrm>
            <a:off x="304800" y="114300"/>
            <a:ext cx="76200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304800" y="1028701"/>
            <a:ext cx="7620000" cy="3508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816080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1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7530CA5-8D03-41A6-959C-3EB64ADDA2D7}" type="datetime4">
              <a:rPr lang="en-US" smtClean="0"/>
              <a:t>September 10, 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4816080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1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Suryanarayana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481608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1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2A4EA7-F13F-43F3-A75F-8AA8F92E94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b="1" kern="1200">
          <a:solidFill>
            <a:srgbClr val="FFD03B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FFD03B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FFD03B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FFD03B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FFD03B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rgbClr val="FFD03B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rgbClr val="FFD03B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rgbClr val="FFD03B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rgbClr val="FFD03B"/>
          </a:solidFill>
          <a:latin typeface="Franklin Gothic Book" pitchFamily="34" charset="0"/>
        </a:defRPr>
      </a:lvl9pPr>
    </p:titleStyle>
    <p:bodyStyle>
      <a:lvl1pPr marL="419100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abc@gmail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Datatypes &amp; type conversions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57200" y="1428750"/>
            <a:ext cx="541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54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Datatypes in Java</a:t>
            </a:r>
            <a:endParaRPr lang="en-US" sz="3200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FADEFB7-7187-24BB-D2AE-14B0C19B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8597090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Datatypes &amp; type conversions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57200" y="2014403"/>
            <a:ext cx="822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Introduction to datatypes in java and their type conversion from one type to another type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992DDC6-D9CF-978B-C1C9-9E64C91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106086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Java Primitive datatypes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742951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Types of datatypes  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2444B490-0780-44D5-9933-4133F7AC11EC}"/>
              </a:ext>
            </a:extLst>
          </p:cNvPr>
          <p:cNvSpPr/>
          <p:nvPr/>
        </p:nvSpPr>
        <p:spPr>
          <a:xfrm>
            <a:off x="990600" y="1123950"/>
            <a:ext cx="2286000" cy="6858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Primitive datatypes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xmlns="" id="{D1263AB5-16F8-440F-B07D-BE101FD7421C}"/>
              </a:ext>
            </a:extLst>
          </p:cNvPr>
          <p:cNvSpPr/>
          <p:nvPr/>
        </p:nvSpPr>
        <p:spPr>
          <a:xfrm>
            <a:off x="228600" y="2521862"/>
            <a:ext cx="1600200" cy="507088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datatypes</a:t>
            </a:r>
            <a:endParaRPr lang="en-IN" sz="16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xmlns="" id="{56C56CFC-9BE9-4B66-85A1-BB6B844204A5}"/>
              </a:ext>
            </a:extLst>
          </p:cNvPr>
          <p:cNvSpPr/>
          <p:nvPr/>
        </p:nvSpPr>
        <p:spPr>
          <a:xfrm>
            <a:off x="1981200" y="2521862"/>
            <a:ext cx="1981200" cy="507088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Floating point datatypes</a:t>
            </a:r>
            <a:endParaRPr lang="en-IN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xmlns="" id="{22FBECA8-EACE-40D1-8C8C-751F5B0468D1}"/>
              </a:ext>
            </a:extLst>
          </p:cNvPr>
          <p:cNvSpPr/>
          <p:nvPr/>
        </p:nvSpPr>
        <p:spPr>
          <a:xfrm>
            <a:off x="1143000" y="2190750"/>
            <a:ext cx="381000" cy="2313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xmlns="" id="{3E94DB20-DF70-4D6C-8A22-A4F54D8FEB98}"/>
              </a:ext>
            </a:extLst>
          </p:cNvPr>
          <p:cNvSpPr/>
          <p:nvPr/>
        </p:nvSpPr>
        <p:spPr>
          <a:xfrm>
            <a:off x="2286000" y="2188014"/>
            <a:ext cx="381000" cy="2313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xmlns="" id="{61A69EAD-4B00-4987-9E08-AF47CA4D5179}"/>
              </a:ext>
            </a:extLst>
          </p:cNvPr>
          <p:cNvSpPr/>
          <p:nvPr/>
        </p:nvSpPr>
        <p:spPr>
          <a:xfrm>
            <a:off x="914400" y="3178614"/>
            <a:ext cx="381000" cy="2313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xmlns="" id="{C990A5FA-9D8D-40C9-8C45-0E03B33680B3}"/>
              </a:ext>
            </a:extLst>
          </p:cNvPr>
          <p:cNvSpPr/>
          <p:nvPr/>
        </p:nvSpPr>
        <p:spPr>
          <a:xfrm>
            <a:off x="2667000" y="3178614"/>
            <a:ext cx="381000" cy="2313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2DCDBCEC-8B02-4692-8718-7124E1303D81}"/>
              </a:ext>
            </a:extLst>
          </p:cNvPr>
          <p:cNvSpPr/>
          <p:nvPr/>
        </p:nvSpPr>
        <p:spPr>
          <a:xfrm>
            <a:off x="2590800" y="3486150"/>
            <a:ext cx="2095500" cy="50708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B79FA333-D99F-46BA-8381-617605ADB00C}"/>
              </a:ext>
            </a:extLst>
          </p:cNvPr>
          <p:cNvSpPr/>
          <p:nvPr/>
        </p:nvSpPr>
        <p:spPr>
          <a:xfrm>
            <a:off x="2705100" y="3543031"/>
            <a:ext cx="838200" cy="40731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float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64BD1916-90DC-4D28-8DCE-20B1CF0D9BC6}"/>
              </a:ext>
            </a:extLst>
          </p:cNvPr>
          <p:cNvSpPr/>
          <p:nvPr/>
        </p:nvSpPr>
        <p:spPr>
          <a:xfrm>
            <a:off x="3619500" y="3543031"/>
            <a:ext cx="914400" cy="40731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double</a:t>
            </a:r>
            <a:endParaRPr lang="en-IN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B6461492-70EB-44FF-A5FD-EF4EDB73F368}"/>
              </a:ext>
            </a:extLst>
          </p:cNvPr>
          <p:cNvGrpSpPr/>
          <p:nvPr/>
        </p:nvGrpSpPr>
        <p:grpSpPr>
          <a:xfrm>
            <a:off x="247650" y="3462574"/>
            <a:ext cx="2286000" cy="1143000"/>
            <a:chOff x="5181600" y="3409950"/>
            <a:chExt cx="2286000" cy="11430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xmlns="" id="{B4A01A06-6853-4668-979D-EB8664B39CF1}"/>
                </a:ext>
              </a:extLst>
            </p:cNvPr>
            <p:cNvSpPr/>
            <p:nvPr/>
          </p:nvSpPr>
          <p:spPr>
            <a:xfrm>
              <a:off x="5181600" y="3409950"/>
              <a:ext cx="2286000" cy="11430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xmlns="" id="{4B2F1783-46F1-4AB5-8777-D53197DCA9CF}"/>
                </a:ext>
              </a:extLst>
            </p:cNvPr>
            <p:cNvSpPr/>
            <p:nvPr/>
          </p:nvSpPr>
          <p:spPr>
            <a:xfrm>
              <a:off x="5212612" y="3543031"/>
              <a:ext cx="838200" cy="40731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byte</a:t>
              </a:r>
              <a:endParaRPr lang="en-IN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xmlns="" id="{E3A9104C-9279-43AD-BD35-ECFA1FBA31A0}"/>
                </a:ext>
              </a:extLst>
            </p:cNvPr>
            <p:cNvSpPr/>
            <p:nvPr/>
          </p:nvSpPr>
          <p:spPr>
            <a:xfrm>
              <a:off x="5669812" y="4050119"/>
              <a:ext cx="838200" cy="40731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short</a:t>
              </a:r>
              <a:endParaRPr lang="en-IN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xmlns="" id="{1B3950D8-9387-40D2-BFB0-D312860510E4}"/>
                </a:ext>
              </a:extLst>
            </p:cNvPr>
            <p:cNvSpPr/>
            <p:nvPr/>
          </p:nvSpPr>
          <p:spPr>
            <a:xfrm>
              <a:off x="6203212" y="3543031"/>
              <a:ext cx="838200" cy="40731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</a:t>
              </a:r>
              <a:endParaRPr lang="en-IN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xmlns="" id="{A638D994-4065-45B8-BFD7-67251E168880}"/>
                </a:ext>
              </a:extLst>
            </p:cNvPr>
            <p:cNvSpPr/>
            <p:nvPr/>
          </p:nvSpPr>
          <p:spPr>
            <a:xfrm>
              <a:off x="6584212" y="4050119"/>
              <a:ext cx="838200" cy="40731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long</a:t>
              </a:r>
              <a:endParaRPr lang="en-IN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8BF63C62-3864-41B3-8AF0-9425FD5F847B}"/>
              </a:ext>
            </a:extLst>
          </p:cNvPr>
          <p:cNvGrpSpPr/>
          <p:nvPr/>
        </p:nvGrpSpPr>
        <p:grpSpPr>
          <a:xfrm>
            <a:off x="6477000" y="1200150"/>
            <a:ext cx="2438400" cy="1600200"/>
            <a:chOff x="5585639" y="1392865"/>
            <a:chExt cx="2438400" cy="16002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E6912F1D-15E9-400F-B70B-80D7991B87A7}"/>
                </a:ext>
              </a:extLst>
            </p:cNvPr>
            <p:cNvSpPr/>
            <p:nvPr/>
          </p:nvSpPr>
          <p:spPr>
            <a:xfrm>
              <a:off x="5585639" y="1392865"/>
              <a:ext cx="2286000" cy="685800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Secondary datatypes</a:t>
              </a:r>
              <a:endParaRPr lang="en-IN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xmlns="" id="{00DF797A-375D-48B2-9CA0-31B41FDE345F}"/>
                </a:ext>
              </a:extLst>
            </p:cNvPr>
            <p:cNvSpPr/>
            <p:nvPr/>
          </p:nvSpPr>
          <p:spPr>
            <a:xfrm>
              <a:off x="5585639" y="2485977"/>
              <a:ext cx="1143000" cy="50708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Array</a:t>
              </a:r>
              <a:endParaRPr lang="en-IN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xmlns="" id="{23B2EB30-06E4-4745-B579-FDE0A9C47376}"/>
                </a:ext>
              </a:extLst>
            </p:cNvPr>
            <p:cNvSpPr/>
            <p:nvPr/>
          </p:nvSpPr>
          <p:spPr>
            <a:xfrm>
              <a:off x="6881039" y="2485977"/>
              <a:ext cx="1143000" cy="50708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  <a:endParaRPr lang="en-IN" dirty="0"/>
            </a:p>
          </p:txBody>
        </p:sp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xmlns="" id="{6E59744B-5085-47DD-A462-E95A6D3C11C2}"/>
                </a:ext>
              </a:extLst>
            </p:cNvPr>
            <p:cNvSpPr/>
            <p:nvPr/>
          </p:nvSpPr>
          <p:spPr>
            <a:xfrm>
              <a:off x="5966639" y="2178441"/>
              <a:ext cx="381000" cy="231336"/>
            </a:xfrm>
            <a:prstGeom prst="down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xmlns="" id="{9F1014C2-AAE4-4311-AF8B-554AACE23F83}"/>
                </a:ext>
              </a:extLst>
            </p:cNvPr>
            <p:cNvSpPr/>
            <p:nvPr/>
          </p:nvSpPr>
          <p:spPr>
            <a:xfrm>
              <a:off x="7107867" y="2178441"/>
              <a:ext cx="381000" cy="231336"/>
            </a:xfrm>
            <a:prstGeom prst="down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xmlns="" id="{2F206B50-5B17-4A64-81A0-5AAFA5B07BBA}"/>
              </a:ext>
            </a:extLst>
          </p:cNvPr>
          <p:cNvSpPr/>
          <p:nvPr/>
        </p:nvSpPr>
        <p:spPr>
          <a:xfrm>
            <a:off x="4109484" y="2621638"/>
            <a:ext cx="838200" cy="40731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</a:t>
            </a:r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xmlns="" id="{2257AEF2-F2BE-4F34-934C-365FF00152DB}"/>
              </a:ext>
            </a:extLst>
          </p:cNvPr>
          <p:cNvSpPr/>
          <p:nvPr/>
        </p:nvSpPr>
        <p:spPr>
          <a:xfrm>
            <a:off x="5023883" y="2621638"/>
            <a:ext cx="1142999" cy="40731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boolean</a:t>
            </a:r>
            <a:endParaRPr lang="en-IN" sz="14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xmlns="" id="{A53E8E05-B381-4D57-B7AD-0E0F589BEC79}"/>
              </a:ext>
            </a:extLst>
          </p:cNvPr>
          <p:cNvSpPr/>
          <p:nvPr/>
        </p:nvSpPr>
        <p:spPr>
          <a:xfrm>
            <a:off x="4229100" y="2189343"/>
            <a:ext cx="381000" cy="2313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xmlns="" id="{0CD1AC32-DCBD-4E4B-B93F-73DBDA5E6EE2}"/>
              </a:ext>
            </a:extLst>
          </p:cNvPr>
          <p:cNvSpPr/>
          <p:nvPr/>
        </p:nvSpPr>
        <p:spPr>
          <a:xfrm>
            <a:off x="5257800" y="2190750"/>
            <a:ext cx="381000" cy="231336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xmlns="" id="{5EB2F7A2-38A3-4AFD-A097-0AA5A210B0BD}"/>
              </a:ext>
            </a:extLst>
          </p:cNvPr>
          <p:cNvSpPr/>
          <p:nvPr/>
        </p:nvSpPr>
        <p:spPr>
          <a:xfrm>
            <a:off x="1142114" y="1903632"/>
            <a:ext cx="4572886" cy="208182"/>
          </a:xfrm>
          <a:prstGeom prst="homePlat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xmlns="" id="{AF463A95-7677-F4DB-24FF-998C365B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670412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datatype sizes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742951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sizes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4A65CE3F-EE61-413B-90C2-A423F343A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59194"/>
              </p:ext>
            </p:extLst>
          </p:nvPr>
        </p:nvGraphicFramePr>
        <p:xfrm>
          <a:off x="457200" y="1163648"/>
          <a:ext cx="5105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xmlns="" val="336247197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xmlns="" val="337412288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Sizes of datatypes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819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byte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byte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3213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short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bytes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01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6751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long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097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float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538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double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6566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char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bytes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720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boolean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byte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669391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FC31B5D-86A0-6EE6-E008-1F4F4CD4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3719367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Value ranges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742951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Datatype value ranges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0C7617A6-8A60-44A8-B057-09A292CA1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538202"/>
              </p:ext>
            </p:extLst>
          </p:nvPr>
        </p:nvGraphicFramePr>
        <p:xfrm>
          <a:off x="381000" y="1149350"/>
          <a:ext cx="609600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2605303208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xmlns="" val="1117486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Ranges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8086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byte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-128 to +127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8921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short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-32768 - +32767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94133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int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-2147483648 to +2147483647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6624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long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-9,223,372,036,854,775,808 to +9,223,372,036,854,775,807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0640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float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-3.402823E38 to +3.402823E38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89104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double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-1.79769313486232E308 to +1.79769313486232E308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5959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char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0-255  ASCII range =&gt; 256, 0-65535 Unicode range =&gt; 65536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0677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boolean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true/false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702491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AEDACA4-FAD2-B45D-08F9-2394EAD6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0316413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Default values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742951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default values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904138D8-47B9-4A3A-A43A-638FBE8B7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906249"/>
              </p:ext>
            </p:extLst>
          </p:nvPr>
        </p:nvGraphicFramePr>
        <p:xfrm>
          <a:off x="381000" y="1173838"/>
          <a:ext cx="5181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xmlns="" val="2768606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Default 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1005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byte b=0b;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27846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short s=0s;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395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int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=0;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61693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long l=0L;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06991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float f=0.0f;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5641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double d=0.0;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0550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char </a:t>
                      </a:r>
                      <a:r>
                        <a:rPr lang="en-US" dirty="0" err="1"/>
                        <a:t>ch</a:t>
                      </a:r>
                      <a:r>
                        <a:rPr lang="en-US" dirty="0"/>
                        <a:t>=</a:t>
                      </a:r>
                      <a:r>
                        <a:rPr kumimoji="0" lang="en-IN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'\u0000'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5558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boolean b=false;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612234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D9227B9-43F0-4E4D-6FB4-14EAF3DD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9507733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int to other types conversions using type casting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742951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type castings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BB68C72B-434A-4A88-A9E4-D29CF1220A59}"/>
              </a:ext>
            </a:extLst>
          </p:cNvPr>
          <p:cNvSpPr txBox="1"/>
          <p:nvPr/>
        </p:nvSpPr>
        <p:spPr>
          <a:xfrm>
            <a:off x="380999" y="1210598"/>
            <a:ext cx="40029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Note: narrow casting needs type casting. Wide casting don't need type casting.</a:t>
            </a:r>
          </a:p>
          <a:p>
            <a:endParaRPr lang="en-IN" sz="1400" b="1" dirty="0">
              <a:solidFill>
                <a:srgbClr val="FF0000"/>
              </a:solidFill>
            </a:endParaRPr>
          </a:p>
          <a:p>
            <a:r>
              <a:rPr lang="en-IN" sz="1400" b="1" dirty="0">
                <a:solidFill>
                  <a:srgbClr val="0070C0"/>
                </a:solidFill>
              </a:rPr>
              <a:t>// IntConversionDemo.java</a:t>
            </a:r>
          </a:p>
          <a:p>
            <a:r>
              <a:rPr lang="en-IN" sz="1400" b="1" dirty="0">
                <a:solidFill>
                  <a:srgbClr val="0070C0"/>
                </a:solidFill>
              </a:rPr>
              <a:t>class </a:t>
            </a:r>
            <a:r>
              <a:rPr lang="en-IN" sz="1400" b="1" dirty="0" err="1">
                <a:solidFill>
                  <a:srgbClr val="0070C0"/>
                </a:solidFill>
              </a:rPr>
              <a:t>IntConversionDemo</a:t>
            </a:r>
            <a:r>
              <a:rPr lang="en-IN" sz="1400" b="1" dirty="0">
                <a:solidFill>
                  <a:srgbClr val="0070C0"/>
                </a:solidFill>
              </a:rPr>
              <a:t> {</a:t>
            </a:r>
          </a:p>
          <a:p>
            <a:pPr lvl="1"/>
            <a:r>
              <a:rPr lang="en-IN" sz="1400" b="1" dirty="0">
                <a:solidFill>
                  <a:srgbClr val="0070C0"/>
                </a:solidFill>
              </a:rPr>
              <a:t>public static void main(String rags[]) {</a:t>
            </a:r>
          </a:p>
          <a:p>
            <a:pPr lvl="2"/>
            <a:r>
              <a:rPr lang="en-IN" sz="1400" b="1" dirty="0">
                <a:solidFill>
                  <a:srgbClr val="0070C0"/>
                </a:solidFill>
              </a:rPr>
              <a:t>int </a:t>
            </a:r>
            <a:r>
              <a:rPr lang="en-IN" sz="1400" b="1" dirty="0" err="1">
                <a:solidFill>
                  <a:srgbClr val="0070C0"/>
                </a:solidFill>
              </a:rPr>
              <a:t>i</a:t>
            </a:r>
            <a:r>
              <a:rPr lang="en-IN" sz="1400" b="1" dirty="0">
                <a:solidFill>
                  <a:srgbClr val="0070C0"/>
                </a:solidFill>
              </a:rPr>
              <a:t>=120;</a:t>
            </a:r>
          </a:p>
          <a:p>
            <a:pPr lvl="2"/>
            <a:r>
              <a:rPr lang="en-IN" sz="1400" b="1" dirty="0">
                <a:solidFill>
                  <a:srgbClr val="0070C0"/>
                </a:solidFill>
              </a:rPr>
              <a:t>byte b=(byte)</a:t>
            </a:r>
            <a:r>
              <a:rPr lang="en-IN" sz="1400" b="1" dirty="0" err="1">
                <a:solidFill>
                  <a:srgbClr val="0070C0"/>
                </a:solidFill>
              </a:rPr>
              <a:t>i</a:t>
            </a:r>
            <a:r>
              <a:rPr lang="en-IN" sz="1400" b="1" dirty="0">
                <a:solidFill>
                  <a:srgbClr val="0070C0"/>
                </a:solidFill>
              </a:rPr>
              <a:t>;</a:t>
            </a:r>
          </a:p>
          <a:p>
            <a:pPr lvl="2"/>
            <a:r>
              <a:rPr lang="en-IN" sz="1400" b="1" dirty="0">
                <a:solidFill>
                  <a:srgbClr val="0070C0"/>
                </a:solidFill>
              </a:rPr>
              <a:t>short s=(short)</a:t>
            </a:r>
            <a:r>
              <a:rPr lang="en-IN" sz="1400" b="1" dirty="0" err="1">
                <a:solidFill>
                  <a:srgbClr val="0070C0"/>
                </a:solidFill>
              </a:rPr>
              <a:t>i</a:t>
            </a:r>
            <a:r>
              <a:rPr lang="en-IN" sz="1400" b="1" dirty="0">
                <a:solidFill>
                  <a:srgbClr val="0070C0"/>
                </a:solidFill>
              </a:rPr>
              <a:t>;</a:t>
            </a:r>
          </a:p>
          <a:p>
            <a:pPr lvl="2"/>
            <a:r>
              <a:rPr lang="en-IN" sz="1400" b="1" dirty="0">
                <a:solidFill>
                  <a:srgbClr val="0070C0"/>
                </a:solidFill>
              </a:rPr>
              <a:t>long l=</a:t>
            </a:r>
            <a:r>
              <a:rPr lang="en-IN" sz="1400" b="1" dirty="0" err="1">
                <a:solidFill>
                  <a:srgbClr val="0070C0"/>
                </a:solidFill>
              </a:rPr>
              <a:t>i</a:t>
            </a:r>
            <a:r>
              <a:rPr lang="en-IN" sz="1400" b="1" dirty="0">
                <a:solidFill>
                  <a:srgbClr val="0070C0"/>
                </a:solidFill>
              </a:rPr>
              <a:t>;</a:t>
            </a:r>
          </a:p>
          <a:p>
            <a:pPr lvl="2"/>
            <a:r>
              <a:rPr lang="en-IN" sz="1400" b="1" dirty="0">
                <a:solidFill>
                  <a:srgbClr val="0070C0"/>
                </a:solidFill>
              </a:rPr>
              <a:t>float f=</a:t>
            </a:r>
            <a:r>
              <a:rPr lang="en-IN" sz="1400" b="1" dirty="0" err="1">
                <a:solidFill>
                  <a:srgbClr val="0070C0"/>
                </a:solidFill>
              </a:rPr>
              <a:t>i</a:t>
            </a:r>
            <a:r>
              <a:rPr lang="en-IN" sz="1400" b="1" dirty="0">
                <a:solidFill>
                  <a:srgbClr val="0070C0"/>
                </a:solidFill>
              </a:rPr>
              <a:t>;</a:t>
            </a:r>
          </a:p>
          <a:p>
            <a:pPr lvl="2"/>
            <a:r>
              <a:rPr lang="en-IN" sz="1400" b="1" dirty="0">
                <a:solidFill>
                  <a:srgbClr val="0070C0"/>
                </a:solidFill>
              </a:rPr>
              <a:t>double d=</a:t>
            </a:r>
            <a:r>
              <a:rPr lang="en-IN" sz="1400" b="1" dirty="0" err="1">
                <a:solidFill>
                  <a:srgbClr val="0070C0"/>
                </a:solidFill>
              </a:rPr>
              <a:t>i</a:t>
            </a:r>
            <a:r>
              <a:rPr lang="en-IN" sz="1400" b="1" dirty="0">
                <a:solidFill>
                  <a:srgbClr val="0070C0"/>
                </a:solidFill>
              </a:rPr>
              <a:t>;</a:t>
            </a:r>
          </a:p>
          <a:p>
            <a:endParaRPr lang="en-IN" sz="1200" dirty="0">
              <a:solidFill>
                <a:srgbClr val="0070C0"/>
              </a:solidFill>
            </a:endParaRPr>
          </a:p>
          <a:p>
            <a:pPr lvl="2"/>
            <a:endParaRPr lang="en-IN" sz="12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D86945B-7021-9C24-FBF1-93B9B48B106A}"/>
              </a:ext>
            </a:extLst>
          </p:cNvPr>
          <p:cNvSpPr txBox="1"/>
          <p:nvPr/>
        </p:nvSpPr>
        <p:spPr>
          <a:xfrm>
            <a:off x="2857500" y="2584667"/>
            <a:ext cx="3429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IN" sz="1400" b="1" dirty="0" err="1">
                <a:solidFill>
                  <a:srgbClr val="0070C0"/>
                </a:solidFill>
              </a:rPr>
              <a:t>System.out.println</a:t>
            </a:r>
            <a:r>
              <a:rPr lang="en-IN" sz="1400" b="1" dirty="0">
                <a:solidFill>
                  <a:srgbClr val="0070C0"/>
                </a:solidFill>
              </a:rPr>
              <a:t>(b);</a:t>
            </a:r>
          </a:p>
          <a:p>
            <a:pPr lvl="2"/>
            <a:r>
              <a:rPr lang="en-IN" sz="1400" b="1" dirty="0" err="1">
                <a:solidFill>
                  <a:srgbClr val="0070C0"/>
                </a:solidFill>
              </a:rPr>
              <a:t>System.out.println</a:t>
            </a:r>
            <a:r>
              <a:rPr lang="en-IN" sz="1400" b="1" dirty="0">
                <a:solidFill>
                  <a:srgbClr val="0070C0"/>
                </a:solidFill>
              </a:rPr>
              <a:t>(s);</a:t>
            </a:r>
          </a:p>
          <a:p>
            <a:pPr lvl="2"/>
            <a:r>
              <a:rPr lang="en-IN" sz="1400" b="1" dirty="0" err="1">
                <a:solidFill>
                  <a:srgbClr val="0070C0"/>
                </a:solidFill>
              </a:rPr>
              <a:t>System.out.println</a:t>
            </a:r>
            <a:r>
              <a:rPr lang="en-IN" sz="1400" b="1" dirty="0">
                <a:solidFill>
                  <a:srgbClr val="0070C0"/>
                </a:solidFill>
              </a:rPr>
              <a:t>(</a:t>
            </a:r>
            <a:r>
              <a:rPr lang="en-IN" sz="1400" b="1" dirty="0" err="1">
                <a:solidFill>
                  <a:srgbClr val="0070C0"/>
                </a:solidFill>
              </a:rPr>
              <a:t>i</a:t>
            </a:r>
            <a:r>
              <a:rPr lang="en-IN" sz="1400" b="1" dirty="0">
                <a:solidFill>
                  <a:srgbClr val="0070C0"/>
                </a:solidFill>
              </a:rPr>
              <a:t>);</a:t>
            </a:r>
          </a:p>
          <a:p>
            <a:pPr lvl="2"/>
            <a:r>
              <a:rPr lang="en-IN" sz="1400" b="1" dirty="0" err="1">
                <a:solidFill>
                  <a:srgbClr val="0070C0"/>
                </a:solidFill>
              </a:rPr>
              <a:t>System.out.println</a:t>
            </a:r>
            <a:r>
              <a:rPr lang="en-IN" sz="1400" b="1" dirty="0">
                <a:solidFill>
                  <a:srgbClr val="0070C0"/>
                </a:solidFill>
              </a:rPr>
              <a:t>(l);</a:t>
            </a:r>
          </a:p>
          <a:p>
            <a:pPr lvl="2"/>
            <a:r>
              <a:rPr lang="en-IN" sz="1400" b="1" dirty="0" err="1">
                <a:solidFill>
                  <a:srgbClr val="0070C0"/>
                </a:solidFill>
              </a:rPr>
              <a:t>System.out.println</a:t>
            </a:r>
            <a:r>
              <a:rPr lang="en-IN" sz="1400" b="1" dirty="0">
                <a:solidFill>
                  <a:srgbClr val="0070C0"/>
                </a:solidFill>
              </a:rPr>
              <a:t>(f);</a:t>
            </a:r>
          </a:p>
          <a:p>
            <a:pPr lvl="2"/>
            <a:r>
              <a:rPr lang="en-IN" sz="1400" b="1" dirty="0" err="1">
                <a:solidFill>
                  <a:srgbClr val="0070C0"/>
                </a:solidFill>
              </a:rPr>
              <a:t>System.out.println</a:t>
            </a:r>
            <a:r>
              <a:rPr lang="en-IN" sz="1400" b="1" dirty="0">
                <a:solidFill>
                  <a:srgbClr val="0070C0"/>
                </a:solidFill>
              </a:rPr>
              <a:t>(d);</a:t>
            </a:r>
          </a:p>
          <a:p>
            <a:pPr lvl="1"/>
            <a:r>
              <a:rPr lang="en-IN" sz="1400" b="1" dirty="0">
                <a:solidFill>
                  <a:srgbClr val="0070C0"/>
                </a:solidFill>
              </a:rPr>
              <a:t>}</a:t>
            </a:r>
          </a:p>
          <a:p>
            <a:r>
              <a:rPr lang="en-IN" sz="1400" b="1" dirty="0">
                <a:solidFill>
                  <a:srgbClr val="0070C0"/>
                </a:solidFill>
              </a:rPr>
              <a:t>}</a:t>
            </a:r>
            <a:endParaRPr lang="en-IN" sz="24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7CB00F94-3095-188B-F448-B4B07D3A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6439928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Primitive datatype and their respective wrapper classes</a:t>
            </a:r>
            <a:endParaRPr lang="en-US" sz="30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742951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wrapper classes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EF306D-5483-4B2F-99D1-647AE5B35207}"/>
              </a:ext>
            </a:extLst>
          </p:cNvPr>
          <p:cNvSpPr txBox="1"/>
          <p:nvPr/>
        </p:nvSpPr>
        <p:spPr>
          <a:xfrm>
            <a:off x="381000" y="1123950"/>
            <a:ext cx="8534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rgbClr val="0070C0"/>
                </a:solidFill>
              </a:rPr>
              <a:t>primitive-primitive =&gt; typecasting, wrapper classes</a:t>
            </a:r>
          </a:p>
          <a:p>
            <a:endParaRPr lang="en-IN" sz="1400" b="1" dirty="0">
              <a:solidFill>
                <a:srgbClr val="0070C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rgbClr val="0070C0"/>
                </a:solidFill>
              </a:rPr>
              <a:t>String-primitive, primitive-String =&gt; only wrapper classes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1C8D6E9B-D977-4073-A695-4A31EC8AB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2495"/>
              </p:ext>
            </p:extLst>
          </p:nvPr>
        </p:nvGraphicFramePr>
        <p:xfrm>
          <a:off x="533400" y="1975185"/>
          <a:ext cx="777240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xmlns="" val="68182020"/>
                    </a:ext>
                  </a:extLst>
                </a:gridCol>
                <a:gridCol w="1017814">
                  <a:extLst>
                    <a:ext uri="{9D8B030D-6E8A-4147-A177-3AD203B41FA5}">
                      <a16:colId xmlns:a16="http://schemas.microsoft.com/office/drawing/2014/main" xmlns="" val="1091541874"/>
                    </a:ext>
                  </a:extLst>
                </a:gridCol>
                <a:gridCol w="832757">
                  <a:extLst>
                    <a:ext uri="{9D8B030D-6E8A-4147-A177-3AD203B41FA5}">
                      <a16:colId xmlns:a16="http://schemas.microsoft.com/office/drawing/2014/main" xmlns="" val="1578706120"/>
                    </a:ext>
                  </a:extLst>
                </a:gridCol>
                <a:gridCol w="1017814">
                  <a:extLst>
                    <a:ext uri="{9D8B030D-6E8A-4147-A177-3AD203B41FA5}">
                      <a16:colId xmlns:a16="http://schemas.microsoft.com/office/drawing/2014/main" xmlns="" val="3746612689"/>
                    </a:ext>
                  </a:extLst>
                </a:gridCol>
                <a:gridCol w="925286">
                  <a:extLst>
                    <a:ext uri="{9D8B030D-6E8A-4147-A177-3AD203B41FA5}">
                      <a16:colId xmlns:a16="http://schemas.microsoft.com/office/drawing/2014/main" xmlns="" val="4145726343"/>
                    </a:ext>
                  </a:extLst>
                </a:gridCol>
                <a:gridCol w="925286">
                  <a:extLst>
                    <a:ext uri="{9D8B030D-6E8A-4147-A177-3AD203B41FA5}">
                      <a16:colId xmlns:a16="http://schemas.microsoft.com/office/drawing/2014/main" xmlns="" val="1648500794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xmlns="" val="940778610"/>
                    </a:ext>
                  </a:extLst>
                </a:gridCol>
                <a:gridCol w="1202871">
                  <a:extLst>
                    <a:ext uri="{9D8B030D-6E8A-4147-A177-3AD203B41FA5}">
                      <a16:colId xmlns:a16="http://schemas.microsoft.com/office/drawing/2014/main" xmlns="" val="2724450566"/>
                    </a:ext>
                  </a:extLst>
                </a:gridCol>
              </a:tblGrid>
              <a:tr h="435006">
                <a:tc gridSpan="8"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String - primitive, primitive-String, primitive-primitive conversion using Wrapper Classes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3646280"/>
                  </a:ext>
                </a:extLst>
              </a:tr>
              <a:tr h="352838">
                <a:tc gridSpan="8"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rgbClr val="0070C0"/>
                          </a:solidFill>
                        </a:rPr>
                        <a:t>Wrapper classes: In java for every primitive data type one wrapper class is given.</a:t>
                      </a:r>
                      <a:endParaRPr lang="en-IN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68856002"/>
                  </a:ext>
                </a:extLst>
              </a:tr>
              <a:tr h="35283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byte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short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int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long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float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double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char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boolean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71417438"/>
                  </a:ext>
                </a:extLst>
              </a:tr>
              <a:tr h="35283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Byte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Short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Integer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Long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Float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Double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Character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Boolean</a:t>
                      </a:r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183518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08FA29E-C1C0-893E-B602-765F12F8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5438097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Wrapper class - Integer</a:t>
            </a: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582138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wrapper class (a predefined class in Java API)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00C9460-F736-4870-9D31-30D1BA3AEE4F}"/>
              </a:ext>
            </a:extLst>
          </p:cNvPr>
          <p:cNvSpPr txBox="1"/>
          <p:nvPr/>
        </p:nvSpPr>
        <p:spPr>
          <a:xfrm>
            <a:off x="381000" y="917466"/>
            <a:ext cx="693420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2F71A2"/>
                </a:solidFill>
                <a:latin typeface="Comic Sans MS" panose="030F0702030302020204" pitchFamily="66" charset="0"/>
              </a:rPr>
              <a:t>public class Integer extends Number implements Serializable, Comparable {</a:t>
            </a:r>
          </a:p>
          <a:p>
            <a:r>
              <a:rPr lang="en-IN" sz="1000" dirty="0">
                <a:solidFill>
                  <a:srgbClr val="0070C0"/>
                </a:solidFill>
                <a:latin typeface="Comic Sans MS" panose="030F0702030302020204" pitchFamily="66" charset="0"/>
              </a:rPr>
              <a:t>	</a:t>
            </a:r>
          </a:p>
          <a:p>
            <a:r>
              <a:rPr lang="en-IN" sz="1000" dirty="0">
                <a:solidFill>
                  <a:srgbClr val="0070C0"/>
                </a:solidFill>
                <a:latin typeface="Comic Sans MS" panose="030F0702030302020204" pitchFamily="66" charset="0"/>
              </a:rPr>
              <a:t>	</a:t>
            </a:r>
            <a:r>
              <a:rPr lang="en-IN" sz="11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constructors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Integer(int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) {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Integer(String str) {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</a:t>
            </a:r>
          </a:p>
          <a:p>
            <a:r>
              <a:rPr lang="en-IN" sz="1100" b="1" dirty="0">
                <a:solidFill>
                  <a:srgbClr val="0070C0"/>
                </a:solidFill>
                <a:latin typeface="Comic Sans MS" panose="030F0702030302020204" pitchFamily="66" charset="0"/>
              </a:rPr>
              <a:t>	</a:t>
            </a:r>
            <a:r>
              <a:rPr lang="en-IN" sz="11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6 instance methods for primitive conversion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byte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byteValue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() {}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short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shortValue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() {}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int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intValue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() {}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long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longValue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() {}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float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floatValue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() {}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double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doubleValue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() {}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</a:t>
            </a:r>
          </a:p>
          <a:p>
            <a:r>
              <a:rPr lang="en-IN" sz="1100" b="1" dirty="0">
                <a:solidFill>
                  <a:srgbClr val="0070C0"/>
                </a:solidFill>
                <a:latin typeface="Comic Sans MS" panose="030F0702030302020204" pitchFamily="66" charset="0"/>
              </a:rPr>
              <a:t>	</a:t>
            </a:r>
            <a:r>
              <a:rPr lang="en-IN" sz="11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one method for String to int conversion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static int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parseInt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(String str) {}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</a:t>
            </a:r>
          </a:p>
          <a:p>
            <a:r>
              <a:rPr lang="en-IN" sz="1100" b="1" dirty="0">
                <a:solidFill>
                  <a:srgbClr val="FF0000"/>
                </a:solidFill>
                <a:latin typeface="Comic Sans MS" panose="030F0702030302020204" pitchFamily="66" charset="0"/>
              </a:rPr>
              <a:t>	// primitive / int - String conversion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	public String </a:t>
            </a:r>
            <a:r>
              <a:rPr lang="en-IN" sz="11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toString</a:t>
            </a:r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() {}</a:t>
            </a:r>
          </a:p>
          <a:p>
            <a:endParaRPr lang="en-IN" sz="11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}</a:t>
            </a:r>
            <a:endParaRPr lang="en-IN" sz="1000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41F1B19-81F1-C41F-C345-44ADD4B0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0588499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int to other types conversion using Integer wrapper class</a:t>
            </a:r>
            <a:endParaRPr lang="en-US" sz="3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04800" y="666750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auto">
              <a:spcBef>
                <a:spcPct val="20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Name of the topic: wrapper class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68709EF-6833-4BF5-ACAA-C8E8C1867A67}"/>
              </a:ext>
            </a:extLst>
          </p:cNvPr>
          <p:cNvSpPr txBox="1"/>
          <p:nvPr/>
        </p:nvSpPr>
        <p:spPr>
          <a:xfrm>
            <a:off x="381000" y="992922"/>
            <a:ext cx="533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IntegerDemo.java</a:t>
            </a:r>
          </a:p>
          <a:p>
            <a:r>
              <a:rPr lang="en-IN" sz="1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class </a:t>
            </a:r>
            <a:r>
              <a:rPr lang="en-IN" sz="1000" b="1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IntegerDemo</a:t>
            </a:r>
            <a:r>
              <a:rPr lang="en-IN" sz="1000" b="1" dirty="0">
                <a:solidFill>
                  <a:srgbClr val="0070C0"/>
                </a:solidFill>
                <a:latin typeface="Comic Sans MS" panose="030F0702030302020204" pitchFamily="66" charset="0"/>
              </a:rPr>
              <a:t> {</a:t>
            </a:r>
          </a:p>
          <a:p>
            <a:pPr lvl="1"/>
            <a:r>
              <a:rPr lang="en-IN" sz="1000" dirty="0">
                <a:solidFill>
                  <a:srgbClr val="0070C0"/>
                </a:solidFill>
                <a:latin typeface="Comic Sans MS" panose="030F0702030302020204" pitchFamily="66" charset="0"/>
              </a:rPr>
              <a:t>public static void main(String rags[]) {</a:t>
            </a:r>
          </a:p>
          <a:p>
            <a:r>
              <a:rPr lang="en-IN" sz="1000" dirty="0">
                <a:solidFill>
                  <a:srgbClr val="0070C0"/>
                </a:solidFill>
                <a:latin typeface="Comic Sans MS" panose="030F0702030302020204" pitchFamily="66" charset="0"/>
              </a:rPr>
              <a:t>		</a:t>
            </a: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// primitive-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primitve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 conversion</a:t>
            </a: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int 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 = 10;</a:t>
            </a:r>
          </a:p>
          <a:p>
            <a:pPr lvl="1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		</a:t>
            </a: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Integer in=new Integer(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);</a:t>
            </a: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byte b=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in.byteValue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(); </a:t>
            </a:r>
            <a:r>
              <a:rPr lang="en-IN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int – byte conversion</a:t>
            </a: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short s=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in.shortValue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(); </a:t>
            </a:r>
            <a:r>
              <a:rPr lang="en-IN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int – short conversion</a:t>
            </a:r>
            <a:endParaRPr lang="en-IN" sz="12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long l=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in.longValue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();</a:t>
            </a:r>
            <a:r>
              <a:rPr lang="en-IN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// int – long conversion</a:t>
            </a:r>
            <a:endParaRPr lang="en-IN" sz="12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float f=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in.floatValue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();</a:t>
            </a:r>
            <a:r>
              <a:rPr lang="en-IN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// int – float conversion</a:t>
            </a:r>
            <a:endParaRPr lang="en-IN" sz="12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2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double d=</a:t>
            </a:r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in.doubleValue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();</a:t>
            </a:r>
            <a:r>
              <a:rPr lang="en-IN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// int – double conversion</a:t>
            </a:r>
            <a:endParaRPr lang="en-IN" sz="12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1"/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		</a:t>
            </a:r>
          </a:p>
          <a:p>
            <a:pPr lvl="2"/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(b);</a:t>
            </a:r>
          </a:p>
          <a:p>
            <a:pPr lvl="2"/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(s);</a:t>
            </a:r>
          </a:p>
          <a:p>
            <a:pPr lvl="2"/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(l);</a:t>
            </a:r>
          </a:p>
          <a:p>
            <a:pPr lvl="2"/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(f);</a:t>
            </a:r>
          </a:p>
          <a:p>
            <a:pPr lvl="2"/>
            <a:r>
              <a:rPr lang="en-IN" sz="12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200" dirty="0">
                <a:solidFill>
                  <a:srgbClr val="0070C0"/>
                </a:solidFill>
                <a:latin typeface="Comic Sans MS" panose="030F0702030302020204" pitchFamily="66" charset="0"/>
              </a:rPr>
              <a:t>(d); </a:t>
            </a:r>
          </a:p>
          <a:p>
            <a:pPr lvl="1"/>
            <a:r>
              <a:rPr lang="en-IN" sz="1000" dirty="0">
                <a:solidFill>
                  <a:srgbClr val="0070C0"/>
                </a:solidFill>
                <a:latin typeface="Comic Sans MS" panose="030F0702030302020204" pitchFamily="66" charset="0"/>
              </a:rPr>
              <a:t>}</a:t>
            </a:r>
          </a:p>
          <a:p>
            <a:r>
              <a:rPr lang="en-IN" sz="1000" dirty="0">
                <a:solidFill>
                  <a:srgbClr val="0070C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xmlns="" id="{C627CA69-738B-464E-9572-EBA66C85D360}"/>
              </a:ext>
            </a:extLst>
          </p:cNvPr>
          <p:cNvSpPr/>
          <p:nvPr/>
        </p:nvSpPr>
        <p:spPr>
          <a:xfrm>
            <a:off x="6858000" y="1173838"/>
            <a:ext cx="2057400" cy="864512"/>
          </a:xfrm>
          <a:prstGeom prst="round2Same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 err="1"/>
              <a:t>javac</a:t>
            </a:r>
            <a:r>
              <a:rPr lang="en-US" sz="1200" dirty="0"/>
              <a:t> IntegerDemo.java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java </a:t>
            </a:r>
            <a:r>
              <a:rPr lang="en-US" sz="1200" dirty="0" err="1"/>
              <a:t>IntegerDemo</a:t>
            </a:r>
            <a:endParaRPr lang="en-US" sz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4D8E1FAA-88EB-0857-1040-75B1DEF1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9943627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6ED7B-5CA3-4472-B01C-99CB7689D1E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7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</a:rPr>
              <a:t>String-primitive types conversion</a:t>
            </a:r>
            <a:endParaRPr lang="en-US" sz="28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6" descr="iare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0"/>
            <a:ext cx="83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47C3583-85D0-4E5E-B4EF-E87C28011ECD}"/>
              </a:ext>
            </a:extLst>
          </p:cNvPr>
          <p:cNvSpPr txBox="1"/>
          <p:nvPr/>
        </p:nvSpPr>
        <p:spPr>
          <a:xfrm>
            <a:off x="228600" y="895350"/>
            <a:ext cx="68580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StringIntConversion.java</a:t>
            </a:r>
          </a:p>
          <a:p>
            <a:r>
              <a:rPr lang="en-IN" sz="1400" b="1" dirty="0">
                <a:solidFill>
                  <a:srgbClr val="0070C0"/>
                </a:solidFill>
                <a:latin typeface="Comic Sans MS" panose="030F0702030302020204" pitchFamily="66" charset="0"/>
              </a:rPr>
              <a:t>class </a:t>
            </a:r>
            <a:r>
              <a:rPr lang="en-IN" sz="1400" b="1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StringIntConversion</a:t>
            </a:r>
            <a:r>
              <a:rPr lang="en-IN" sz="1400" b="1" dirty="0">
                <a:solidFill>
                  <a:srgbClr val="0070C0"/>
                </a:solidFill>
                <a:latin typeface="Comic Sans MS" panose="030F0702030302020204" pitchFamily="66" charset="0"/>
              </a:rPr>
              <a:t> {</a:t>
            </a:r>
          </a:p>
          <a:p>
            <a:pPr lvl="1"/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public static void main(String rags[]) {</a:t>
            </a:r>
            <a:endParaRPr lang="en-IN" sz="11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2"/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String name=rags[0];</a:t>
            </a:r>
          </a:p>
          <a:p>
            <a:pPr lvl="2"/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int age=</a:t>
            </a:r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Integer.parseInt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(rags[1]); </a:t>
            </a:r>
            <a:r>
              <a:rPr lang="en-IN" sz="1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String-int conversion</a:t>
            </a:r>
          </a:p>
          <a:p>
            <a:pPr lvl="2"/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String qual=rags[2];</a:t>
            </a:r>
          </a:p>
          <a:p>
            <a:pPr lvl="2"/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long mobile=</a:t>
            </a:r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Long.parseDouble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(rags[3]); </a:t>
            </a:r>
            <a:r>
              <a:rPr lang="en-IN" sz="1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// String-long conversion</a:t>
            </a:r>
          </a:p>
          <a:p>
            <a:pPr lvl="2"/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String email=rags[4];</a:t>
            </a:r>
          </a:p>
          <a:p>
            <a:pPr lvl="2"/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String address=rags[5];</a:t>
            </a:r>
          </a:p>
          <a:p>
            <a:pPr lvl="2"/>
            <a:endParaRPr lang="en-IN" sz="1400" dirty="0">
              <a:solidFill>
                <a:srgbClr val="0070C0"/>
              </a:solidFill>
              <a:latin typeface="Comic Sans MS" panose="030F0702030302020204" pitchFamily="66" charset="0"/>
            </a:endParaRPr>
          </a:p>
          <a:p>
            <a:pPr lvl="2"/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(name);</a:t>
            </a:r>
          </a:p>
          <a:p>
            <a:pPr lvl="2"/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(age);</a:t>
            </a:r>
          </a:p>
          <a:p>
            <a:pPr lvl="2"/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(qual);</a:t>
            </a:r>
          </a:p>
          <a:p>
            <a:pPr lvl="2"/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(mobile);</a:t>
            </a:r>
          </a:p>
          <a:p>
            <a:pPr lvl="2"/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(email);</a:t>
            </a:r>
          </a:p>
          <a:p>
            <a:pPr lvl="2"/>
            <a:r>
              <a:rPr lang="en-IN" sz="1400" dirty="0" err="1">
                <a:solidFill>
                  <a:srgbClr val="0070C0"/>
                </a:solidFill>
                <a:latin typeface="Comic Sans MS" panose="030F0702030302020204" pitchFamily="66" charset="0"/>
              </a:rPr>
              <a:t>System.out.println</a:t>
            </a:r>
            <a:r>
              <a:rPr lang="en-IN" sz="1400" dirty="0">
                <a:solidFill>
                  <a:srgbClr val="0070C0"/>
                </a:solidFill>
                <a:latin typeface="Comic Sans MS" panose="030F0702030302020204" pitchFamily="66" charset="0"/>
              </a:rPr>
              <a:t>(address);</a:t>
            </a:r>
          </a:p>
          <a:p>
            <a:pPr lvl="1"/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}</a:t>
            </a:r>
          </a:p>
          <a:p>
            <a:r>
              <a:rPr lang="en-IN" sz="1100" dirty="0">
                <a:solidFill>
                  <a:srgbClr val="0070C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xmlns="" id="{35BF113B-B9BD-40FB-9FC4-2CDC716EC62C}"/>
              </a:ext>
            </a:extLst>
          </p:cNvPr>
          <p:cNvSpPr/>
          <p:nvPr/>
        </p:nvSpPr>
        <p:spPr>
          <a:xfrm>
            <a:off x="3600892" y="2937716"/>
            <a:ext cx="5181600" cy="864512"/>
          </a:xfrm>
          <a:prstGeom prst="round2Same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 err="1"/>
              <a:t>javac</a:t>
            </a:r>
            <a:r>
              <a:rPr lang="en-US" sz="1200" dirty="0"/>
              <a:t> StringIntConversion.java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java </a:t>
            </a:r>
            <a:r>
              <a:rPr lang="en-US" sz="1200" dirty="0" err="1"/>
              <a:t>StringIntConversion</a:t>
            </a:r>
            <a:r>
              <a:rPr lang="en-US" sz="1200" dirty="0"/>
              <a:t> ABC 21 BTech 9848012345 </a:t>
            </a:r>
            <a:r>
              <a:rPr lang="en-US" sz="1200" dirty="0">
                <a:hlinkClick r:id="rId3"/>
              </a:rPr>
              <a:t>abc@gmail.com</a:t>
            </a:r>
            <a:r>
              <a:rPr lang="en-US" sz="1200" dirty="0"/>
              <a:t> Hyderabad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84640B0-3864-4CF5-B592-3886E225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90165061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500</Words>
  <Application>Microsoft Office PowerPoint</Application>
  <PresentationFormat>On-screen Show (16:9)</PresentationFormat>
  <Paragraphs>208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Technic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dell1</cp:lastModifiedBy>
  <cp:revision>55</cp:revision>
  <dcterms:created xsi:type="dcterms:W3CDTF">2020-03-26T10:04:51Z</dcterms:created>
  <dcterms:modified xsi:type="dcterms:W3CDTF">2024-09-10T09:51:42Z</dcterms:modified>
</cp:coreProperties>
</file>