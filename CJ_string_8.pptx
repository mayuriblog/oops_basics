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88" r:id="rId15"/>
    <p:sldId id="289" r:id="rId16"/>
    <p:sldId id="269" r:id="rId17"/>
    <p:sldId id="270" r:id="rId18"/>
    <p:sldId id="271" r:id="rId19"/>
    <p:sldId id="290" r:id="rId20"/>
    <p:sldId id="272" r:id="rId21"/>
    <p:sldId id="273" r:id="rId22"/>
    <p:sldId id="274" r:id="rId23"/>
    <p:sldId id="275" r:id="rId24"/>
    <p:sldId id="276" r:id="rId25"/>
    <p:sldId id="277" r:id="rId26"/>
    <p:sldId id="291" r:id="rId27"/>
    <p:sldId id="278" r:id="rId28"/>
    <p:sldId id="279" r:id="rId29"/>
    <p:sldId id="280" r:id="rId30"/>
    <p:sldId id="281" r:id="rId31"/>
    <p:sldId id="282" r:id="rId32"/>
    <p:sldId id="283" r:id="rId33"/>
    <p:sldId id="284" r:id="rId34"/>
    <p:sldId id="285" r:id="rId35"/>
    <p:sldId id="286" r:id="rId36"/>
    <p:sldId id="287"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990033"/>
    <a:srgbClr val="003F66"/>
    <a:srgbClr val="0000FF"/>
    <a:srgbClr val="3399FF"/>
    <a:srgbClr val="FF9933"/>
    <a:srgbClr val="FF5050"/>
    <a:srgbClr val="F105D3"/>
    <a:srgbClr val="902B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997" autoAdjust="0"/>
    <p:restoredTop sz="94660"/>
  </p:normalViewPr>
  <p:slideViewPr>
    <p:cSldViewPr snapToGrid="0">
      <p:cViewPr varScale="1">
        <p:scale>
          <a:sx n="87" d="100"/>
          <a:sy n="87" d="100"/>
        </p:scale>
        <p:origin x="-528" y="-8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057030-8FD7-4CE3-896E-69EF44923A20}" type="datetimeFigureOut">
              <a:rPr lang="en-IN" smtClean="0"/>
              <a:pPr/>
              <a:t>03-11-2025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7AC390-88BD-4634-9682-A1B39BC14FA1}" type="slidenum">
              <a:rPr lang="en-IN" smtClean="0"/>
              <a:pPr/>
              <a:t>‹#›</a:t>
            </a:fld>
            <a:endParaRPr lang="en-IN"/>
          </a:p>
        </p:txBody>
      </p:sp>
    </p:spTree>
    <p:extLst>
      <p:ext uri="{BB962C8B-B14F-4D97-AF65-F5344CB8AC3E}">
        <p14:creationId xmlns="" xmlns:p14="http://schemas.microsoft.com/office/powerpoint/2010/main" val="1332276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7D53D4-ADD2-48AC-8994-14A51F0D2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70537EA9-7966-48DB-8A37-F2A824B840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865E772E-FB9A-427D-A4FB-DDA4C7000266}"/>
              </a:ext>
            </a:extLst>
          </p:cNvPr>
          <p:cNvSpPr>
            <a:spLocks noGrp="1"/>
          </p:cNvSpPr>
          <p:nvPr>
            <p:ph type="dt" sz="half" idx="10"/>
          </p:nvPr>
        </p:nvSpPr>
        <p:spPr/>
        <p:txBody>
          <a:bodyPr/>
          <a:lstStyle/>
          <a:p>
            <a:fld id="{DA0268BA-58A0-4DAB-B1E9-F482C63CCD35}" type="datetime1">
              <a:rPr lang="en-US" smtClean="0"/>
              <a:pPr/>
              <a:t>11/3/2025</a:t>
            </a:fld>
            <a:endParaRPr lang="en-US"/>
          </a:p>
        </p:txBody>
      </p:sp>
      <p:sp>
        <p:nvSpPr>
          <p:cNvPr id="5" name="Footer Placeholder 4">
            <a:extLst>
              <a:ext uri="{FF2B5EF4-FFF2-40B4-BE49-F238E27FC236}">
                <a16:creationId xmlns:a16="http://schemas.microsoft.com/office/drawing/2014/main" xmlns="" id="{F37A32E3-D1D5-46C6-AB63-9F796F5BEC05}"/>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756DE672-2E16-4C2D-BE2B-5E484F172565}"/>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2274145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69C132-9C22-4029-B989-13CBB40B5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929E3EE7-F4CB-4065-A44E-0318879BBF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3DB2CBC-33D2-4A33-B187-2CD7DA66C582}"/>
              </a:ext>
            </a:extLst>
          </p:cNvPr>
          <p:cNvSpPr>
            <a:spLocks noGrp="1"/>
          </p:cNvSpPr>
          <p:nvPr>
            <p:ph type="dt" sz="half" idx="10"/>
          </p:nvPr>
        </p:nvSpPr>
        <p:spPr/>
        <p:txBody>
          <a:bodyPr/>
          <a:lstStyle/>
          <a:p>
            <a:fld id="{B619557B-87DB-4CF8-A49D-F3B54FBD2A9D}" type="datetime1">
              <a:rPr lang="en-US" smtClean="0"/>
              <a:pPr/>
              <a:t>11/3/2025</a:t>
            </a:fld>
            <a:endParaRPr lang="en-US"/>
          </a:p>
        </p:txBody>
      </p:sp>
      <p:sp>
        <p:nvSpPr>
          <p:cNvPr id="5" name="Footer Placeholder 4">
            <a:extLst>
              <a:ext uri="{FF2B5EF4-FFF2-40B4-BE49-F238E27FC236}">
                <a16:creationId xmlns:a16="http://schemas.microsoft.com/office/drawing/2014/main" xmlns="" id="{D98BBEDA-6CC0-4558-9D29-AB6DD426BB7A}"/>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7CAA790F-764D-42B5-A732-7C09D26BA16F}"/>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3048941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D30C65-FF2A-4010-8C73-BB6E501313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D724171B-58EF-43B4-84A8-E189462C4D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3D6566F5-22D5-459C-990D-7013F4D89A32}"/>
              </a:ext>
            </a:extLst>
          </p:cNvPr>
          <p:cNvSpPr>
            <a:spLocks noGrp="1"/>
          </p:cNvSpPr>
          <p:nvPr>
            <p:ph type="dt" sz="half" idx="10"/>
          </p:nvPr>
        </p:nvSpPr>
        <p:spPr/>
        <p:txBody>
          <a:bodyPr/>
          <a:lstStyle/>
          <a:p>
            <a:fld id="{AF108925-9525-466A-84C5-CF199C11191B}" type="datetime1">
              <a:rPr lang="en-US" smtClean="0"/>
              <a:pPr/>
              <a:t>11/3/2025</a:t>
            </a:fld>
            <a:endParaRPr lang="en-US"/>
          </a:p>
        </p:txBody>
      </p:sp>
      <p:sp>
        <p:nvSpPr>
          <p:cNvPr id="5" name="Footer Placeholder 4">
            <a:extLst>
              <a:ext uri="{FF2B5EF4-FFF2-40B4-BE49-F238E27FC236}">
                <a16:creationId xmlns:a16="http://schemas.microsoft.com/office/drawing/2014/main" xmlns="" id="{D96CC63D-E273-4AAA-95C9-E401177BF957}"/>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DDBCFC71-6835-40D7-B028-B3CB4223C1F9}"/>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67427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AD4678-1CB9-4E61-9A69-472A205AB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62D61F08-F7B7-408E-BEDD-156B3EB710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202C45BB-AABE-4D19-813B-EC4B59505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849E3F09-087B-4D93-9258-8AF6657B21C4}"/>
              </a:ext>
            </a:extLst>
          </p:cNvPr>
          <p:cNvSpPr>
            <a:spLocks noGrp="1"/>
          </p:cNvSpPr>
          <p:nvPr>
            <p:ph type="dt" sz="half" idx="10"/>
          </p:nvPr>
        </p:nvSpPr>
        <p:spPr/>
        <p:txBody>
          <a:bodyPr/>
          <a:lstStyle/>
          <a:p>
            <a:fld id="{043FB652-6E0D-48A3-9DDA-A62CA73CDDE8}" type="datetime1">
              <a:rPr lang="en-US" smtClean="0"/>
              <a:pPr/>
              <a:t>11/3/2025</a:t>
            </a:fld>
            <a:endParaRPr lang="en-US"/>
          </a:p>
        </p:txBody>
      </p:sp>
      <p:sp>
        <p:nvSpPr>
          <p:cNvPr id="6" name="Footer Placeholder 5">
            <a:extLst>
              <a:ext uri="{FF2B5EF4-FFF2-40B4-BE49-F238E27FC236}">
                <a16:creationId xmlns:a16="http://schemas.microsoft.com/office/drawing/2014/main" xmlns="" id="{60944505-AD8E-4AAE-91A7-1E3E3739CD3F}"/>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xmlns="" id="{9E6EA56F-3ACC-4F18-9178-D44D8FC27BB9}"/>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293709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3E4EF0-CA05-417F-B465-4F0A092954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9F4F7286-079E-4D01-9619-DC462E593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4719288F-0A0B-483F-BB13-3EDE5C3DA2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672A0B30-266B-488F-B6CB-4AD30D85DF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23F90638-24C7-42C8-8931-B2B348493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9C666EBA-30E0-4DF0-96BE-62BE6AB519DD}"/>
              </a:ext>
            </a:extLst>
          </p:cNvPr>
          <p:cNvSpPr>
            <a:spLocks noGrp="1"/>
          </p:cNvSpPr>
          <p:nvPr>
            <p:ph type="dt" sz="half" idx="10"/>
          </p:nvPr>
        </p:nvSpPr>
        <p:spPr/>
        <p:txBody>
          <a:bodyPr/>
          <a:lstStyle/>
          <a:p>
            <a:fld id="{5BEFF663-8FA3-48A5-AED6-3D3FB17AA3D7}" type="datetime1">
              <a:rPr lang="en-US" smtClean="0"/>
              <a:pPr/>
              <a:t>11/3/2025</a:t>
            </a:fld>
            <a:endParaRPr lang="en-US"/>
          </a:p>
        </p:txBody>
      </p:sp>
      <p:sp>
        <p:nvSpPr>
          <p:cNvPr id="8" name="Footer Placeholder 7">
            <a:extLst>
              <a:ext uri="{FF2B5EF4-FFF2-40B4-BE49-F238E27FC236}">
                <a16:creationId xmlns:a16="http://schemas.microsoft.com/office/drawing/2014/main" xmlns="" id="{93E8E635-E195-41C7-81C8-D3344936196F}"/>
              </a:ext>
            </a:extLst>
          </p:cNvPr>
          <p:cNvSpPr>
            <a:spLocks noGrp="1"/>
          </p:cNvSpPr>
          <p:nvPr>
            <p:ph type="ftr" sz="quarter" idx="11"/>
          </p:nvPr>
        </p:nvSpPr>
        <p:spPr/>
        <p:txBody>
          <a:bodyPr/>
          <a:lstStyle/>
          <a:p>
            <a:r>
              <a:rPr lang="en-US"/>
              <a:t>Suryanarayana</a:t>
            </a:r>
          </a:p>
        </p:txBody>
      </p:sp>
      <p:sp>
        <p:nvSpPr>
          <p:cNvPr id="9" name="Slide Number Placeholder 8">
            <a:extLst>
              <a:ext uri="{FF2B5EF4-FFF2-40B4-BE49-F238E27FC236}">
                <a16:creationId xmlns:a16="http://schemas.microsoft.com/office/drawing/2014/main" xmlns="" id="{F9780DF9-B1D9-49B8-81AF-4B716B67A25C}"/>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476524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9DFEEF-8D2B-4F54-B662-31AEFD3DB8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C1297C29-F3EE-4250-9919-93948D0BEEB6}"/>
              </a:ext>
            </a:extLst>
          </p:cNvPr>
          <p:cNvSpPr>
            <a:spLocks noGrp="1"/>
          </p:cNvSpPr>
          <p:nvPr>
            <p:ph type="dt" sz="half" idx="10"/>
          </p:nvPr>
        </p:nvSpPr>
        <p:spPr/>
        <p:txBody>
          <a:bodyPr/>
          <a:lstStyle/>
          <a:p>
            <a:fld id="{0C1E75AF-B912-4162-ACD3-608F0AF838CC}" type="datetime1">
              <a:rPr lang="en-US" smtClean="0"/>
              <a:pPr/>
              <a:t>11/3/2025</a:t>
            </a:fld>
            <a:endParaRPr lang="en-US"/>
          </a:p>
        </p:txBody>
      </p:sp>
      <p:sp>
        <p:nvSpPr>
          <p:cNvPr id="4" name="Footer Placeholder 3">
            <a:extLst>
              <a:ext uri="{FF2B5EF4-FFF2-40B4-BE49-F238E27FC236}">
                <a16:creationId xmlns:a16="http://schemas.microsoft.com/office/drawing/2014/main" xmlns="" id="{34AADB8D-7767-4295-999A-A9CDFEC2CE05}"/>
              </a:ext>
            </a:extLst>
          </p:cNvPr>
          <p:cNvSpPr>
            <a:spLocks noGrp="1"/>
          </p:cNvSpPr>
          <p:nvPr>
            <p:ph type="ftr" sz="quarter" idx="11"/>
          </p:nvPr>
        </p:nvSpPr>
        <p:spPr/>
        <p:txBody>
          <a:bodyPr/>
          <a:lstStyle/>
          <a:p>
            <a:r>
              <a:rPr lang="en-US"/>
              <a:t>Suryanarayana</a:t>
            </a:r>
          </a:p>
        </p:txBody>
      </p:sp>
      <p:sp>
        <p:nvSpPr>
          <p:cNvPr id="5" name="Slide Number Placeholder 4">
            <a:extLst>
              <a:ext uri="{FF2B5EF4-FFF2-40B4-BE49-F238E27FC236}">
                <a16:creationId xmlns:a16="http://schemas.microsoft.com/office/drawing/2014/main" xmlns="" id="{A0748590-559B-4E6B-AF48-236BD7F81832}"/>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215514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9AAAFAD-BAB5-47A0-9962-AC707DCEEC4C}"/>
              </a:ext>
            </a:extLst>
          </p:cNvPr>
          <p:cNvSpPr>
            <a:spLocks noGrp="1"/>
          </p:cNvSpPr>
          <p:nvPr>
            <p:ph type="dt" sz="half" idx="10"/>
          </p:nvPr>
        </p:nvSpPr>
        <p:spPr/>
        <p:txBody>
          <a:bodyPr/>
          <a:lstStyle/>
          <a:p>
            <a:fld id="{710CC942-27DE-41F7-9C3C-831F0B2135C0}" type="datetime1">
              <a:rPr lang="en-US" smtClean="0"/>
              <a:pPr/>
              <a:t>11/3/2025</a:t>
            </a:fld>
            <a:endParaRPr lang="en-US"/>
          </a:p>
        </p:txBody>
      </p:sp>
      <p:sp>
        <p:nvSpPr>
          <p:cNvPr id="3" name="Footer Placeholder 2">
            <a:extLst>
              <a:ext uri="{FF2B5EF4-FFF2-40B4-BE49-F238E27FC236}">
                <a16:creationId xmlns:a16="http://schemas.microsoft.com/office/drawing/2014/main" xmlns="" id="{BE7E0FD4-2958-49A6-9B7B-5BCE813DA778}"/>
              </a:ext>
            </a:extLst>
          </p:cNvPr>
          <p:cNvSpPr>
            <a:spLocks noGrp="1"/>
          </p:cNvSpPr>
          <p:nvPr>
            <p:ph type="ftr" sz="quarter" idx="11"/>
          </p:nvPr>
        </p:nvSpPr>
        <p:spPr/>
        <p:txBody>
          <a:bodyPr/>
          <a:lstStyle/>
          <a:p>
            <a:r>
              <a:rPr lang="en-US"/>
              <a:t>Suryanarayana</a:t>
            </a:r>
          </a:p>
        </p:txBody>
      </p:sp>
      <p:sp>
        <p:nvSpPr>
          <p:cNvPr id="4" name="Slide Number Placeholder 3">
            <a:extLst>
              <a:ext uri="{FF2B5EF4-FFF2-40B4-BE49-F238E27FC236}">
                <a16:creationId xmlns:a16="http://schemas.microsoft.com/office/drawing/2014/main" xmlns="" id="{D47CCC7F-90C7-40A3-A729-679A94EC8C3E}"/>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3527961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A927E8-8760-4B04-BDEF-1AC275A52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D112E94A-ABB1-48E4-A3B6-4DA4142EC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1BF4EB3F-9F7E-4886-B5A3-9143917E7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D7C9E36-A297-4BF1-AC4B-B05E7A56454F}"/>
              </a:ext>
            </a:extLst>
          </p:cNvPr>
          <p:cNvSpPr>
            <a:spLocks noGrp="1"/>
          </p:cNvSpPr>
          <p:nvPr>
            <p:ph type="dt" sz="half" idx="10"/>
          </p:nvPr>
        </p:nvSpPr>
        <p:spPr/>
        <p:txBody>
          <a:bodyPr/>
          <a:lstStyle/>
          <a:p>
            <a:fld id="{C3F55A28-B653-4AF7-9EF4-F851D600CF16}" type="datetime1">
              <a:rPr lang="en-US" smtClean="0"/>
              <a:pPr/>
              <a:t>11/3/2025</a:t>
            </a:fld>
            <a:endParaRPr lang="en-US"/>
          </a:p>
        </p:txBody>
      </p:sp>
      <p:sp>
        <p:nvSpPr>
          <p:cNvPr id="6" name="Footer Placeholder 5">
            <a:extLst>
              <a:ext uri="{FF2B5EF4-FFF2-40B4-BE49-F238E27FC236}">
                <a16:creationId xmlns:a16="http://schemas.microsoft.com/office/drawing/2014/main" xmlns="" id="{3C0882DF-10C8-41FD-B12B-C4E3CD891900}"/>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xmlns="" id="{3A6D6DCD-5CAB-493D-B90D-5FB3795C302B}"/>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362865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8D295E-4A9D-40B5-962D-C4201C17D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68576C82-F6F1-4481-84C6-40A1DE0A0A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E08E40E7-4BEF-4AE8-A81B-8308860BF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DED0C40-7C93-47EE-B801-F4B254FD1134}"/>
              </a:ext>
            </a:extLst>
          </p:cNvPr>
          <p:cNvSpPr>
            <a:spLocks noGrp="1"/>
          </p:cNvSpPr>
          <p:nvPr>
            <p:ph type="dt" sz="half" idx="10"/>
          </p:nvPr>
        </p:nvSpPr>
        <p:spPr/>
        <p:txBody>
          <a:bodyPr/>
          <a:lstStyle/>
          <a:p>
            <a:fld id="{10B4B576-33B6-41B3-8FC3-216EBA0FED14}" type="datetime1">
              <a:rPr lang="en-US" smtClean="0"/>
              <a:pPr/>
              <a:t>11/3/2025</a:t>
            </a:fld>
            <a:endParaRPr lang="en-US"/>
          </a:p>
        </p:txBody>
      </p:sp>
      <p:sp>
        <p:nvSpPr>
          <p:cNvPr id="6" name="Footer Placeholder 5">
            <a:extLst>
              <a:ext uri="{FF2B5EF4-FFF2-40B4-BE49-F238E27FC236}">
                <a16:creationId xmlns:a16="http://schemas.microsoft.com/office/drawing/2014/main" xmlns="" id="{F08C15F7-71FB-46EE-9034-CEFA37850DE6}"/>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xmlns="" id="{0A5B243A-27C1-407B-995C-C80EDDD36005}"/>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1060794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B3B020-63B9-4BF9-B46E-630CCA8D14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F7A50300-809F-4B1C-BF1F-2C1EF82E1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7BD4618-E7CC-4722-B3AA-20767EE3B7EC}"/>
              </a:ext>
            </a:extLst>
          </p:cNvPr>
          <p:cNvSpPr>
            <a:spLocks noGrp="1"/>
          </p:cNvSpPr>
          <p:nvPr>
            <p:ph type="dt" sz="half" idx="10"/>
          </p:nvPr>
        </p:nvSpPr>
        <p:spPr/>
        <p:txBody>
          <a:bodyPr/>
          <a:lstStyle/>
          <a:p>
            <a:fld id="{87F5D251-313E-4A0E-9EE9-FE5F0F09F500}" type="datetime1">
              <a:rPr lang="en-US" smtClean="0"/>
              <a:pPr/>
              <a:t>11/3/2025</a:t>
            </a:fld>
            <a:endParaRPr lang="en-US"/>
          </a:p>
        </p:txBody>
      </p:sp>
      <p:sp>
        <p:nvSpPr>
          <p:cNvPr id="5" name="Footer Placeholder 4">
            <a:extLst>
              <a:ext uri="{FF2B5EF4-FFF2-40B4-BE49-F238E27FC236}">
                <a16:creationId xmlns:a16="http://schemas.microsoft.com/office/drawing/2014/main" xmlns="" id="{6EEC0B0F-962D-40AE-ABD3-0EA484E15F63}"/>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0740AE87-E966-4036-A783-F3B9616652AB}"/>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3271180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03D95C4-7F0B-4781-8E51-FCBD7CF6CD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9636C176-4EC6-451D-9FCF-4E0B4E7988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E842DD7-D7F2-4D2D-B342-780C9519A101}"/>
              </a:ext>
            </a:extLst>
          </p:cNvPr>
          <p:cNvSpPr>
            <a:spLocks noGrp="1"/>
          </p:cNvSpPr>
          <p:nvPr>
            <p:ph type="dt" sz="half" idx="10"/>
          </p:nvPr>
        </p:nvSpPr>
        <p:spPr/>
        <p:txBody>
          <a:bodyPr/>
          <a:lstStyle/>
          <a:p>
            <a:fld id="{A9784B64-05FB-4E82-B4F5-D377CCCE070A}" type="datetime1">
              <a:rPr lang="en-US" smtClean="0"/>
              <a:pPr/>
              <a:t>11/3/2025</a:t>
            </a:fld>
            <a:endParaRPr lang="en-US"/>
          </a:p>
        </p:txBody>
      </p:sp>
      <p:sp>
        <p:nvSpPr>
          <p:cNvPr id="5" name="Footer Placeholder 4">
            <a:extLst>
              <a:ext uri="{FF2B5EF4-FFF2-40B4-BE49-F238E27FC236}">
                <a16:creationId xmlns:a16="http://schemas.microsoft.com/office/drawing/2014/main" xmlns="" id="{FB1DD1C9-3310-40BF-A04F-E566FCA50C24}"/>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CD9A0831-D597-4CA4-AB0B-B9DDC151CB09}"/>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3545315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3B9F031-B0EE-4257-8C48-672A5B27A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EACC5C53-8193-4B94-A5A2-9272C0FC20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BA7540B0-D806-4E03-A997-E808A0A9AF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CA8E50-4B49-47AD-B615-CCB7FB8E0BAE}" type="datetime1">
              <a:rPr lang="en-US" smtClean="0"/>
              <a:pPr/>
              <a:t>11/3/2025</a:t>
            </a:fld>
            <a:endParaRPr lang="en-US"/>
          </a:p>
        </p:txBody>
      </p:sp>
      <p:sp>
        <p:nvSpPr>
          <p:cNvPr id="5" name="Footer Placeholder 4">
            <a:extLst>
              <a:ext uri="{FF2B5EF4-FFF2-40B4-BE49-F238E27FC236}">
                <a16:creationId xmlns:a16="http://schemas.microsoft.com/office/drawing/2014/main" xmlns="" id="{44CBE7AA-0209-485D-98A0-22386CF87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Suryanarayana</a:t>
            </a:r>
          </a:p>
        </p:txBody>
      </p:sp>
      <p:sp>
        <p:nvSpPr>
          <p:cNvPr id="6" name="Slide Number Placeholder 5">
            <a:extLst>
              <a:ext uri="{FF2B5EF4-FFF2-40B4-BE49-F238E27FC236}">
                <a16:creationId xmlns:a16="http://schemas.microsoft.com/office/drawing/2014/main" xmlns="" id="{7362E21E-194A-44F2-8CEA-40483DA3B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3934378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xmlns="" id="{8926E692-C2BA-4CA4-96A9-4894146636A4}"/>
              </a:ext>
            </a:extLst>
          </p:cNvPr>
          <p:cNvSpPr txBox="1"/>
          <p:nvPr/>
        </p:nvSpPr>
        <p:spPr>
          <a:xfrm>
            <a:off x="777305" y="1444413"/>
            <a:ext cx="8404865" cy="3139321"/>
          </a:xfrm>
          <a:prstGeom prst="rect">
            <a:avLst/>
          </a:prstGeom>
          <a:noFill/>
        </p:spPr>
        <p:txBody>
          <a:bodyPr wrap="none" rtlCol="0">
            <a:spAutoFit/>
          </a:bodyPr>
          <a:lstStyle/>
          <a:p>
            <a:pPr algn="just"/>
            <a:r>
              <a:rPr lang="en-US" sz="6600" b="1" dirty="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latin typeface="Arial" panose="020B0604020202020204" pitchFamily="34" charset="0"/>
                <a:cs typeface="Arial" panose="020B0604020202020204" pitchFamily="34" charset="0"/>
              </a:rPr>
              <a:t>String,</a:t>
            </a:r>
          </a:p>
          <a:p>
            <a:pPr algn="just"/>
            <a:r>
              <a:rPr lang="en-US" sz="6600" b="1" dirty="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latin typeface="Arial" panose="020B0604020202020204" pitchFamily="34" charset="0"/>
                <a:cs typeface="Arial" panose="020B0604020202020204" pitchFamily="34" charset="0"/>
              </a:rPr>
              <a:t>StringBuffer, </a:t>
            </a:r>
          </a:p>
          <a:p>
            <a:pPr algn="just"/>
            <a:r>
              <a:rPr lang="en-US" sz="6600" b="1" dirty="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latin typeface="Arial" panose="020B0604020202020204" pitchFamily="34" charset="0"/>
                <a:cs typeface="Arial" panose="020B0604020202020204" pitchFamily="34" charset="0"/>
              </a:rPr>
              <a:t>StringBuilder </a:t>
            </a:r>
            <a:r>
              <a:rPr lang="en-US" sz="2800" b="1" dirty="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latin typeface="Arial" panose="020B0604020202020204" pitchFamily="34" charset="0"/>
                <a:cs typeface="Arial" panose="020B0604020202020204" pitchFamily="34" charset="0"/>
              </a:rPr>
              <a:t>classes in Java</a:t>
            </a:r>
            <a:endParaRPr lang="en-US" sz="6600" b="1" dirty="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latin typeface="Arial" panose="020B0604020202020204" pitchFamily="34" charset="0"/>
              <a:cs typeface="Arial" panose="020B0604020202020204" pitchFamily="34" charset="0"/>
            </a:endParaRPr>
          </a:p>
        </p:txBody>
      </p:sp>
      <p:sp>
        <p:nvSpPr>
          <p:cNvPr id="7" name="Rectangle: Rounded Corners 6">
            <a:extLst>
              <a:ext uri="{FF2B5EF4-FFF2-40B4-BE49-F238E27FC236}">
                <a16:creationId xmlns:a16="http://schemas.microsoft.com/office/drawing/2014/main" xmlns="" id="{E95EDEB9-39EB-6ED0-E6F2-BC4F0A3CF81B}"/>
              </a:ext>
            </a:extLst>
          </p:cNvPr>
          <p:cNvSpPr/>
          <p:nvPr/>
        </p:nvSpPr>
        <p:spPr>
          <a:xfrm>
            <a:off x="5571801" y="1099120"/>
            <a:ext cx="3173506" cy="10085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60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Part - I</a:t>
            </a:r>
            <a:endParaRPr lang="en-IN" b="1" dirty="0"/>
          </a:p>
        </p:txBody>
      </p:sp>
      <p:sp>
        <p:nvSpPr>
          <p:cNvPr id="9" name="Footer Placeholder 8">
            <a:extLst>
              <a:ext uri="{FF2B5EF4-FFF2-40B4-BE49-F238E27FC236}">
                <a16:creationId xmlns:a16="http://schemas.microsoft.com/office/drawing/2014/main" xmlns="" id="{D69956F5-8EF8-76F9-A109-B4C6B44B5909}"/>
              </a:ext>
            </a:extLst>
          </p:cNvPr>
          <p:cNvSpPr>
            <a:spLocks noGrp="1"/>
          </p:cNvSpPr>
          <p:nvPr>
            <p:ph type="ftr" sz="quarter" idx="11"/>
          </p:nvPr>
        </p:nvSpPr>
        <p:spPr>
          <a:xfrm>
            <a:off x="3368843" y="5991727"/>
            <a:ext cx="4784558" cy="721893"/>
          </a:xfr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US" sz="5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Suryanarayana</a:t>
            </a:r>
            <a:endParaRPr 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extLst>
      <p:ext uri="{BB962C8B-B14F-4D97-AF65-F5344CB8AC3E}">
        <p14:creationId xmlns="" xmlns:p14="http://schemas.microsoft.com/office/powerpoint/2010/main" val="13534370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xmlns="" id="{8926E692-C2BA-4CA4-96A9-4894146636A4}"/>
              </a:ext>
            </a:extLst>
          </p:cNvPr>
          <p:cNvSpPr txBox="1"/>
          <p:nvPr/>
        </p:nvSpPr>
        <p:spPr>
          <a:xfrm>
            <a:off x="624903" y="1471307"/>
            <a:ext cx="10780515" cy="2308324"/>
          </a:xfrm>
          <a:prstGeom prst="rect">
            <a:avLst/>
          </a:prstGeom>
          <a:noFill/>
        </p:spPr>
        <p:txBody>
          <a:bodyPr wrap="none" rtlCol="0">
            <a:spAutoFit/>
          </a:bodyPr>
          <a:lstStyle/>
          <a:p>
            <a:pPr algn="just"/>
            <a:r>
              <a:rPr lang="en-US" sz="4800" b="1" dirty="0">
                <a:solidFill>
                  <a:srgbClr val="0000FF"/>
                </a:solidFill>
                <a:latin typeface="Arial" panose="020B0604020202020204" pitchFamily="34" charset="0"/>
                <a:cs typeface="Arial" panose="020B0604020202020204" pitchFamily="34" charset="0"/>
              </a:rPr>
              <a:t>String </a:t>
            </a:r>
            <a:r>
              <a:rPr lang="en-US" sz="3600" b="1" dirty="0">
                <a:solidFill>
                  <a:srgbClr val="0000FF"/>
                </a:solidFill>
                <a:latin typeface="Arial" panose="020B0604020202020204" pitchFamily="34" charset="0"/>
                <a:cs typeface="Arial" panose="020B0604020202020204" pitchFamily="34" charset="0"/>
              </a:rPr>
              <a:t>is immutable,</a:t>
            </a:r>
          </a:p>
          <a:p>
            <a:pPr algn="just"/>
            <a:r>
              <a:rPr lang="en-US" sz="4800" b="1" dirty="0">
                <a:solidFill>
                  <a:srgbClr val="0000FF"/>
                </a:solidFill>
                <a:latin typeface="Arial" panose="020B0604020202020204" pitchFamily="34" charset="0"/>
                <a:cs typeface="Arial" panose="020B0604020202020204" pitchFamily="34" charset="0"/>
              </a:rPr>
              <a:t>StringBuffer </a:t>
            </a:r>
            <a:r>
              <a:rPr lang="en-US" sz="3600" b="1" dirty="0">
                <a:solidFill>
                  <a:srgbClr val="0000FF"/>
                </a:solidFill>
                <a:latin typeface="Arial" panose="020B0604020202020204" pitchFamily="34" charset="0"/>
                <a:cs typeface="Arial" panose="020B0604020202020204" pitchFamily="34" charset="0"/>
              </a:rPr>
              <a:t>is mutable, thread-safe </a:t>
            </a:r>
          </a:p>
          <a:p>
            <a:pPr algn="just"/>
            <a:r>
              <a:rPr lang="en-US" sz="4800" b="1" dirty="0">
                <a:solidFill>
                  <a:srgbClr val="0000FF"/>
                </a:solidFill>
                <a:latin typeface="Arial" panose="020B0604020202020204" pitchFamily="34" charset="0"/>
                <a:cs typeface="Arial" panose="020B0604020202020204" pitchFamily="34" charset="0"/>
              </a:rPr>
              <a:t>StringBuilder</a:t>
            </a:r>
            <a:r>
              <a:rPr lang="en-US" sz="3600" b="1" dirty="0">
                <a:solidFill>
                  <a:srgbClr val="0000FF"/>
                </a:solidFill>
                <a:latin typeface="Arial" panose="020B0604020202020204" pitchFamily="34" charset="0"/>
                <a:cs typeface="Arial" panose="020B0604020202020204" pitchFamily="34" charset="0"/>
              </a:rPr>
              <a:t> is immutable, non-thread-safe</a:t>
            </a:r>
          </a:p>
        </p:txBody>
      </p:sp>
      <p:sp>
        <p:nvSpPr>
          <p:cNvPr id="7" name="Footer Placeholder 6">
            <a:extLst>
              <a:ext uri="{FF2B5EF4-FFF2-40B4-BE49-F238E27FC236}">
                <a16:creationId xmlns:a16="http://schemas.microsoft.com/office/drawing/2014/main" xmlns="" id="{B3426538-9B50-54DA-429A-6C84381A961F}"/>
              </a:ext>
            </a:extLst>
          </p:cNvPr>
          <p:cNvSpPr>
            <a:spLocks noGrp="1"/>
          </p:cNvSpPr>
          <p:nvPr>
            <p:ph type="ftr" sz="quarter" idx="11"/>
          </p:nvPr>
        </p:nvSpPr>
        <p:spPr/>
        <p:txBody>
          <a:bodyPr/>
          <a:lstStyle/>
          <a:p>
            <a:r>
              <a:rPr lang="en-US" dirty="0"/>
              <a:t>Suryanarayana</a:t>
            </a:r>
          </a:p>
        </p:txBody>
      </p:sp>
    </p:spTree>
    <p:extLst>
      <p:ext uri="{BB962C8B-B14F-4D97-AF65-F5344CB8AC3E}">
        <p14:creationId xmlns="" xmlns:p14="http://schemas.microsoft.com/office/powerpoint/2010/main" val="21006528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xmlns="" id="{8926E692-C2BA-4CA4-96A9-4894146636A4}"/>
              </a:ext>
            </a:extLst>
          </p:cNvPr>
          <p:cNvSpPr txBox="1"/>
          <p:nvPr/>
        </p:nvSpPr>
        <p:spPr>
          <a:xfrm>
            <a:off x="1408771" y="1471307"/>
            <a:ext cx="9212778" cy="1323439"/>
          </a:xfrm>
          <a:prstGeom prst="rect">
            <a:avLst/>
          </a:prstGeom>
          <a:noFill/>
        </p:spPr>
        <p:txBody>
          <a:bodyPr wrap="none" rtlCol="0">
            <a:spAutoFit/>
          </a:bodyPr>
          <a:lstStyle/>
          <a:p>
            <a:pPr algn="just"/>
            <a:r>
              <a:rPr lang="en-US" sz="2000" dirty="0">
                <a:solidFill>
                  <a:srgbClr val="0000FF"/>
                </a:solidFill>
                <a:latin typeface="Arial" panose="020B0604020202020204" pitchFamily="34" charset="0"/>
                <a:cs typeface="Arial" panose="020B0604020202020204" pitchFamily="34" charset="0"/>
              </a:rPr>
              <a:t>public final class String extends Object </a:t>
            </a:r>
          </a:p>
          <a:p>
            <a:pPr algn="just"/>
            <a:r>
              <a:rPr lang="en-US" sz="2000" dirty="0">
                <a:solidFill>
                  <a:srgbClr val="0000FF"/>
                </a:solidFill>
                <a:latin typeface="Arial" panose="020B0604020202020204" pitchFamily="34" charset="0"/>
                <a:cs typeface="Arial" panose="020B0604020202020204" pitchFamily="34" charset="0"/>
              </a:rPr>
              <a:t>			implements Serializable, Comparable, </a:t>
            </a:r>
            <a:r>
              <a:rPr lang="en-US" sz="2000" dirty="0" err="1">
                <a:solidFill>
                  <a:srgbClr val="0000FF"/>
                </a:solidFill>
                <a:latin typeface="Arial" panose="020B0604020202020204" pitchFamily="34" charset="0"/>
                <a:cs typeface="Arial" panose="020B0604020202020204" pitchFamily="34" charset="0"/>
              </a:rPr>
              <a:t>CharSequence</a:t>
            </a:r>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a:t>
            </a:r>
            <a:endParaRPr lang="en-US" sz="1400" dirty="0">
              <a:solidFill>
                <a:srgbClr val="0000FF"/>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xmlns="" id="{ADC70AE9-A001-685B-9C49-240B75D1787D}"/>
              </a:ext>
            </a:extLst>
          </p:cNvPr>
          <p:cNvSpPr txBox="1"/>
          <p:nvPr/>
        </p:nvSpPr>
        <p:spPr>
          <a:xfrm>
            <a:off x="1219617" y="3169465"/>
            <a:ext cx="7924383" cy="2308324"/>
          </a:xfrm>
          <a:prstGeom prst="rect">
            <a:avLst/>
          </a:prstGeom>
          <a:noFill/>
        </p:spPr>
        <p:txBody>
          <a:bodyPr wrap="square">
            <a:spAutoFit/>
          </a:bodyPr>
          <a:lstStyle/>
          <a:p>
            <a:pPr marL="285750" indent="-285750" algn="just">
              <a:buFont typeface="Wingdings" panose="05000000000000000000" pitchFamily="2" charset="2"/>
              <a:buChar char="v"/>
            </a:pPr>
            <a:r>
              <a:rPr lang="en-IN" dirty="0">
                <a:solidFill>
                  <a:srgbClr val="990033"/>
                </a:solidFill>
              </a:rPr>
              <a:t>Object is super classes to all java classes, override equals(), hashCode(), </a:t>
            </a:r>
            <a:r>
              <a:rPr lang="en-IN" dirty="0" err="1">
                <a:solidFill>
                  <a:srgbClr val="990033"/>
                </a:solidFill>
              </a:rPr>
              <a:t>toString</a:t>
            </a:r>
            <a:r>
              <a:rPr lang="en-IN" dirty="0">
                <a:solidFill>
                  <a:srgbClr val="990033"/>
                </a:solidFill>
              </a:rPr>
              <a:t>() methods</a:t>
            </a:r>
          </a:p>
          <a:p>
            <a:pPr marL="285750" indent="-285750" algn="just">
              <a:buFont typeface="Wingdings" panose="05000000000000000000" pitchFamily="2" charset="2"/>
              <a:buChar char="v"/>
            </a:pPr>
            <a:r>
              <a:rPr lang="en-IN" dirty="0">
                <a:solidFill>
                  <a:srgbClr val="990033"/>
                </a:solidFill>
              </a:rPr>
              <a:t>Because implemented from Serializable the String object's state can be moved from one location to another location in n/w, over distributed machines (through Socket Programming, RMI, EJB, CORBA, SOAP, REST)</a:t>
            </a:r>
          </a:p>
          <a:p>
            <a:pPr marL="285750" indent="-285750" algn="just">
              <a:buFont typeface="Wingdings" panose="05000000000000000000" pitchFamily="2" charset="2"/>
              <a:buChar char="v"/>
            </a:pPr>
            <a:r>
              <a:rPr lang="en-IN" dirty="0">
                <a:solidFill>
                  <a:srgbClr val="990033"/>
                </a:solidFill>
              </a:rPr>
              <a:t>Because of Comparable the String objects are natural sorted while adding into TreeSet and </a:t>
            </a:r>
            <a:r>
              <a:rPr lang="en-IN" dirty="0" err="1">
                <a:solidFill>
                  <a:srgbClr val="990033"/>
                </a:solidFill>
              </a:rPr>
              <a:t>TreeMap</a:t>
            </a:r>
            <a:endParaRPr lang="en-IN" dirty="0">
              <a:solidFill>
                <a:srgbClr val="990033"/>
              </a:solidFill>
            </a:endParaRPr>
          </a:p>
          <a:p>
            <a:pPr marL="285750" indent="-285750" algn="just">
              <a:buFont typeface="Wingdings" panose="05000000000000000000" pitchFamily="2" charset="2"/>
              <a:buChar char="v"/>
            </a:pPr>
            <a:r>
              <a:rPr lang="en-IN" dirty="0">
                <a:solidFill>
                  <a:srgbClr val="990033"/>
                </a:solidFill>
              </a:rPr>
              <a:t>Because implements from </a:t>
            </a:r>
            <a:r>
              <a:rPr lang="en-IN" dirty="0" err="1">
                <a:solidFill>
                  <a:srgbClr val="990033"/>
                </a:solidFill>
              </a:rPr>
              <a:t>CharSequence</a:t>
            </a:r>
            <a:r>
              <a:rPr lang="en-IN" dirty="0">
                <a:solidFill>
                  <a:srgbClr val="990033"/>
                </a:solidFill>
              </a:rPr>
              <a:t> represents 16-bit chars in sequence</a:t>
            </a:r>
          </a:p>
        </p:txBody>
      </p:sp>
      <p:sp>
        <p:nvSpPr>
          <p:cNvPr id="7" name="Footer Placeholder 6">
            <a:extLst>
              <a:ext uri="{FF2B5EF4-FFF2-40B4-BE49-F238E27FC236}">
                <a16:creationId xmlns:a16="http://schemas.microsoft.com/office/drawing/2014/main" xmlns="" id="{3735F4AD-C448-FBE8-86FA-3F02C9FBA49A}"/>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10485986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FFC130B7-20C8-FD02-33B8-A58BF58E9E9D}"/>
              </a:ext>
            </a:extLst>
          </p:cNvPr>
          <p:cNvSpPr txBox="1"/>
          <p:nvPr/>
        </p:nvSpPr>
        <p:spPr>
          <a:xfrm>
            <a:off x="482681" y="957137"/>
            <a:ext cx="9628624" cy="3046988"/>
          </a:xfrm>
          <a:prstGeom prst="rect">
            <a:avLst/>
          </a:prstGeom>
          <a:noFill/>
        </p:spPr>
        <p:txBody>
          <a:bodyPr wrap="square">
            <a:spAutoFit/>
          </a:bodyPr>
          <a:lstStyle/>
          <a:p>
            <a:pPr marL="342900" indent="-342900" algn="just">
              <a:buFont typeface="Wingdings" panose="05000000000000000000" pitchFamily="2" charset="2"/>
              <a:buChar char="v"/>
            </a:pPr>
            <a:r>
              <a:rPr lang="en-IN" sz="2400" dirty="0"/>
              <a:t>String is a fixed length char array. </a:t>
            </a:r>
          </a:p>
          <a:p>
            <a:pPr marL="342900" indent="-342900" algn="just">
              <a:buFont typeface="Wingdings" panose="05000000000000000000" pitchFamily="2" charset="2"/>
              <a:buChar char="v"/>
            </a:pPr>
            <a:r>
              <a:rPr lang="en-IN" sz="2400" dirty="0"/>
              <a:t>Though String is a data type, it is a class unlike byte, short, int, long, float, double, boolean &amp; char primitive data types. </a:t>
            </a:r>
          </a:p>
          <a:p>
            <a:pPr marL="342900" indent="-342900" algn="just">
              <a:buFont typeface="Wingdings" panose="05000000000000000000" pitchFamily="2" charset="2"/>
              <a:buChar char="v"/>
            </a:pPr>
            <a:r>
              <a:rPr lang="en-IN" sz="2400" dirty="0"/>
              <a:t>It is a secondary data type (arrays and classes are secondary data types).</a:t>
            </a:r>
          </a:p>
          <a:p>
            <a:pPr marL="342900" indent="-342900" algn="just">
              <a:buFont typeface="Wingdings" panose="05000000000000000000" pitchFamily="2" charset="2"/>
              <a:buChar char="v"/>
            </a:pPr>
            <a:r>
              <a:rPr lang="en-IN" sz="2400" dirty="0"/>
              <a:t>String internal representation is char array. </a:t>
            </a:r>
          </a:p>
          <a:p>
            <a:pPr marL="342900" indent="-342900" algn="just">
              <a:buFont typeface="Wingdings" panose="05000000000000000000" pitchFamily="2" charset="2"/>
              <a:buChar char="v"/>
            </a:pPr>
            <a:r>
              <a:rPr lang="en-IN" sz="2400" dirty="0"/>
              <a:t>If we store ActiveNET in String (String str="ActiveNET"), A is stored @ 0th index, c is stored @ 1 index so on like that up-to T is stored in index 8 because "ActiveNET" is having 9 characters.</a:t>
            </a:r>
          </a:p>
        </p:txBody>
      </p:sp>
      <p:sp>
        <p:nvSpPr>
          <p:cNvPr id="25" name="TextBox 24">
            <a:extLst>
              <a:ext uri="{FF2B5EF4-FFF2-40B4-BE49-F238E27FC236}">
                <a16:creationId xmlns:a16="http://schemas.microsoft.com/office/drawing/2014/main" xmlns="" id="{011FC2AE-4EEE-8A74-3D94-7623E7309765}"/>
              </a:ext>
            </a:extLst>
          </p:cNvPr>
          <p:cNvSpPr txBox="1"/>
          <p:nvPr/>
        </p:nvSpPr>
        <p:spPr>
          <a:xfrm>
            <a:off x="1658027" y="4336023"/>
            <a:ext cx="7324607" cy="830997"/>
          </a:xfrm>
          <a:prstGeom prst="rect">
            <a:avLst/>
          </a:prstGeom>
          <a:noFill/>
        </p:spPr>
        <p:txBody>
          <a:bodyPr wrap="square">
            <a:spAutoFit/>
          </a:bodyPr>
          <a:lstStyle/>
          <a:p>
            <a:pPr marL="285750" indent="-285750">
              <a:buFont typeface="Wingdings" panose="05000000000000000000" pitchFamily="2" charset="2"/>
              <a:buChar char="Ø"/>
            </a:pPr>
            <a:r>
              <a:rPr lang="en-IN" sz="2400" dirty="0"/>
              <a:t>String is a secondary data type, predefined class</a:t>
            </a:r>
          </a:p>
          <a:p>
            <a:pPr marL="285750" indent="-285750">
              <a:buFont typeface="Wingdings" panose="05000000000000000000" pitchFamily="2" charset="2"/>
              <a:buChar char="Ø"/>
            </a:pPr>
            <a:r>
              <a:rPr lang="en-IN" sz="2400" dirty="0"/>
              <a:t>It internally represents char array</a:t>
            </a:r>
          </a:p>
        </p:txBody>
      </p:sp>
      <p:sp>
        <p:nvSpPr>
          <p:cNvPr id="7" name="Footer Placeholder 6">
            <a:extLst>
              <a:ext uri="{FF2B5EF4-FFF2-40B4-BE49-F238E27FC236}">
                <a16:creationId xmlns:a16="http://schemas.microsoft.com/office/drawing/2014/main" xmlns="" id="{1F9E88BA-25ED-AD2F-E150-548D27506208}"/>
              </a:ext>
            </a:extLst>
          </p:cNvPr>
          <p:cNvSpPr>
            <a:spLocks noGrp="1"/>
          </p:cNvSpPr>
          <p:nvPr>
            <p:ph type="ftr" sz="quarter" idx="11"/>
          </p:nvPr>
        </p:nvSpPr>
        <p:spPr/>
        <p:txBody>
          <a:bodyPr/>
          <a:lstStyle/>
          <a:p>
            <a:r>
              <a:rPr lang="en-US"/>
              <a:t>Suryanarayana</a:t>
            </a:r>
          </a:p>
        </p:txBody>
      </p:sp>
      <p:graphicFrame>
        <p:nvGraphicFramePr>
          <p:cNvPr id="8" name="Table 7"/>
          <p:cNvGraphicFramePr>
            <a:graphicFrameLocks noGrp="1"/>
          </p:cNvGraphicFramePr>
          <p:nvPr>
            <p:extLst>
              <p:ext uri="{D42A27DB-BD31-4B8C-83A1-F6EECF244321}">
                <p14:modId xmlns="" xmlns:p14="http://schemas.microsoft.com/office/powerpoint/2010/main" val="4162162987"/>
              </p:ext>
            </p:extLst>
          </p:nvPr>
        </p:nvGraphicFramePr>
        <p:xfrm>
          <a:off x="763338" y="5204726"/>
          <a:ext cx="8127990" cy="741680"/>
        </p:xfrm>
        <a:graphic>
          <a:graphicData uri="http://schemas.openxmlformats.org/drawingml/2006/table">
            <a:tbl>
              <a:tblPr firstRow="1" bandRow="1">
                <a:tableStyleId>{BC89EF96-8CEA-46FF-86C4-4CE0E7609802}</a:tableStyleId>
              </a:tblPr>
              <a:tblGrid>
                <a:gridCol w="625230"/>
                <a:gridCol w="625230"/>
                <a:gridCol w="625230"/>
                <a:gridCol w="625230"/>
                <a:gridCol w="625230"/>
                <a:gridCol w="625230"/>
                <a:gridCol w="625230"/>
                <a:gridCol w="625230"/>
                <a:gridCol w="625230"/>
                <a:gridCol w="625230"/>
                <a:gridCol w="625230"/>
                <a:gridCol w="625230"/>
                <a:gridCol w="625230"/>
              </a:tblGrid>
              <a:tr h="370840">
                <a:tc>
                  <a:txBody>
                    <a:bodyPr/>
                    <a:lstStyle/>
                    <a:p>
                      <a:r>
                        <a:rPr lang="en-US" b="0" dirty="0" smtClean="0"/>
                        <a:t>0</a:t>
                      </a:r>
                      <a:endParaRPr lang="en-US" b="0" dirty="0"/>
                    </a:p>
                  </a:txBody>
                  <a:tcPr marT="0" marB="0"/>
                </a:tc>
                <a:tc>
                  <a:txBody>
                    <a:bodyPr/>
                    <a:lstStyle/>
                    <a:p>
                      <a:r>
                        <a:rPr lang="en-US" b="0" dirty="0" smtClean="0"/>
                        <a:t>1</a:t>
                      </a:r>
                      <a:endParaRPr lang="en-US" b="0" dirty="0"/>
                    </a:p>
                  </a:txBody>
                  <a:tcPr marT="0" marB="0"/>
                </a:tc>
                <a:tc>
                  <a:txBody>
                    <a:bodyPr/>
                    <a:lstStyle/>
                    <a:p>
                      <a:r>
                        <a:rPr lang="en-US" b="0" dirty="0" smtClean="0"/>
                        <a:t>2</a:t>
                      </a:r>
                      <a:endParaRPr lang="en-US" b="0" dirty="0"/>
                    </a:p>
                  </a:txBody>
                  <a:tcPr marT="0" marB="0"/>
                </a:tc>
                <a:tc>
                  <a:txBody>
                    <a:bodyPr/>
                    <a:lstStyle/>
                    <a:p>
                      <a:r>
                        <a:rPr lang="en-US" b="0" dirty="0" smtClean="0"/>
                        <a:t>3</a:t>
                      </a:r>
                      <a:endParaRPr lang="en-US" b="0" dirty="0"/>
                    </a:p>
                  </a:txBody>
                  <a:tcPr marT="0" marB="0"/>
                </a:tc>
                <a:tc>
                  <a:txBody>
                    <a:bodyPr/>
                    <a:lstStyle/>
                    <a:p>
                      <a:r>
                        <a:rPr lang="en-US" b="0" dirty="0" smtClean="0"/>
                        <a:t>4</a:t>
                      </a:r>
                      <a:endParaRPr lang="en-US" b="0" dirty="0"/>
                    </a:p>
                  </a:txBody>
                  <a:tcPr marT="0" marB="0"/>
                </a:tc>
                <a:tc>
                  <a:txBody>
                    <a:bodyPr/>
                    <a:lstStyle/>
                    <a:p>
                      <a:r>
                        <a:rPr lang="en-US" b="0" dirty="0" smtClean="0"/>
                        <a:t>5</a:t>
                      </a:r>
                      <a:endParaRPr lang="en-US" b="0" dirty="0"/>
                    </a:p>
                  </a:txBody>
                  <a:tcPr marT="0" marB="0"/>
                </a:tc>
                <a:tc>
                  <a:txBody>
                    <a:bodyPr/>
                    <a:lstStyle/>
                    <a:p>
                      <a:r>
                        <a:rPr lang="en-US" b="0" dirty="0" smtClean="0"/>
                        <a:t>6</a:t>
                      </a:r>
                      <a:endParaRPr lang="en-US" b="0" dirty="0"/>
                    </a:p>
                  </a:txBody>
                  <a:tcPr marT="0" marB="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smtClean="0"/>
                        <a:t>7</a:t>
                      </a:r>
                    </a:p>
                  </a:txBody>
                  <a:tcPr marT="0" marB="0"/>
                </a:tc>
                <a:tc>
                  <a:txBody>
                    <a:bodyPr/>
                    <a:lstStyle/>
                    <a:p>
                      <a:r>
                        <a:rPr lang="en-US" b="0" dirty="0" smtClean="0"/>
                        <a:t>8</a:t>
                      </a:r>
                      <a:endParaRPr lang="en-US" b="0" dirty="0"/>
                    </a:p>
                  </a:txBody>
                  <a:tcPr marT="0" marB="0"/>
                </a:tc>
                <a:tc>
                  <a:txBody>
                    <a:bodyPr/>
                    <a:lstStyle/>
                    <a:p>
                      <a:r>
                        <a:rPr lang="en-US" b="0" dirty="0" smtClean="0"/>
                        <a:t>9</a:t>
                      </a:r>
                      <a:endParaRPr lang="en-US" b="0" dirty="0"/>
                    </a:p>
                  </a:txBody>
                  <a:tcPr marT="0" marB="0"/>
                </a:tc>
                <a:tc>
                  <a:txBody>
                    <a:bodyPr/>
                    <a:lstStyle/>
                    <a:p>
                      <a:r>
                        <a:rPr lang="en-US" b="0" dirty="0" smtClean="0"/>
                        <a:t>10</a:t>
                      </a:r>
                      <a:endParaRPr lang="en-US" b="0" dirty="0"/>
                    </a:p>
                  </a:txBody>
                  <a:tcPr marT="0" marB="0"/>
                </a:tc>
                <a:tc>
                  <a:txBody>
                    <a:bodyPr/>
                    <a:lstStyle/>
                    <a:p>
                      <a:r>
                        <a:rPr lang="en-US" b="0" dirty="0" smtClean="0"/>
                        <a:t>11</a:t>
                      </a:r>
                      <a:endParaRPr lang="en-US" b="0" dirty="0"/>
                    </a:p>
                  </a:txBody>
                  <a:tcPr marT="0" marB="0"/>
                </a:tc>
                <a:tc>
                  <a:txBody>
                    <a:bodyPr/>
                    <a:lstStyle/>
                    <a:p>
                      <a:r>
                        <a:rPr lang="en-US" b="0" dirty="0" smtClean="0"/>
                        <a:t>12</a:t>
                      </a:r>
                      <a:endParaRPr lang="en-US" b="0" dirty="0"/>
                    </a:p>
                  </a:txBody>
                  <a:tcPr marT="0" marB="0"/>
                </a:tc>
              </a:tr>
              <a:tr h="370840">
                <a:tc>
                  <a:txBody>
                    <a:bodyPr/>
                    <a:lstStyle/>
                    <a:p>
                      <a:r>
                        <a:rPr lang="en-US" b="0" dirty="0" smtClean="0"/>
                        <a:t>S</a:t>
                      </a:r>
                      <a:endParaRPr lang="en-US" b="0" dirty="0"/>
                    </a:p>
                  </a:txBody>
                  <a:tcPr marT="0" marB="0"/>
                </a:tc>
                <a:tc>
                  <a:txBody>
                    <a:bodyPr/>
                    <a:lstStyle/>
                    <a:p>
                      <a:r>
                        <a:rPr lang="en-US" b="0" dirty="0" smtClean="0"/>
                        <a:t>U</a:t>
                      </a:r>
                      <a:endParaRPr lang="en-US" b="0" dirty="0"/>
                    </a:p>
                  </a:txBody>
                  <a:tcPr marT="0" marB="0"/>
                </a:tc>
                <a:tc>
                  <a:txBody>
                    <a:bodyPr/>
                    <a:lstStyle/>
                    <a:p>
                      <a:r>
                        <a:rPr lang="en-US" b="0" dirty="0" smtClean="0"/>
                        <a:t>r</a:t>
                      </a:r>
                      <a:endParaRPr lang="en-US" b="0" dirty="0"/>
                    </a:p>
                  </a:txBody>
                  <a:tcPr marT="0" marB="0"/>
                </a:tc>
                <a:tc>
                  <a:txBody>
                    <a:bodyPr/>
                    <a:lstStyle/>
                    <a:p>
                      <a:r>
                        <a:rPr lang="en-US" b="0" dirty="0" smtClean="0"/>
                        <a:t>y</a:t>
                      </a:r>
                      <a:endParaRPr lang="en-US" b="0" dirty="0"/>
                    </a:p>
                  </a:txBody>
                  <a:tcPr marT="0" marB="0"/>
                </a:tc>
                <a:tc>
                  <a:txBody>
                    <a:bodyPr/>
                    <a:lstStyle/>
                    <a:p>
                      <a:r>
                        <a:rPr lang="en-US" b="0" dirty="0" smtClean="0"/>
                        <a:t>a</a:t>
                      </a:r>
                      <a:endParaRPr lang="en-US" b="0" dirty="0"/>
                    </a:p>
                  </a:txBody>
                  <a:tcPr marT="0" marB="0"/>
                </a:tc>
                <a:tc>
                  <a:txBody>
                    <a:bodyPr/>
                    <a:lstStyle/>
                    <a:p>
                      <a:r>
                        <a:rPr lang="en-US" b="0" dirty="0" smtClean="0"/>
                        <a:t>n</a:t>
                      </a:r>
                      <a:endParaRPr lang="en-US" b="0" dirty="0"/>
                    </a:p>
                  </a:txBody>
                  <a:tcPr marT="0" marB="0"/>
                </a:tc>
                <a:tc>
                  <a:txBody>
                    <a:bodyPr/>
                    <a:lstStyle/>
                    <a:p>
                      <a:r>
                        <a:rPr lang="en-US" b="0" dirty="0" smtClean="0"/>
                        <a:t>a</a:t>
                      </a:r>
                      <a:endParaRPr lang="en-US" b="0" dirty="0"/>
                    </a:p>
                  </a:txBody>
                  <a:tcPr marT="0" marB="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smtClean="0"/>
                        <a:t>r</a:t>
                      </a:r>
                    </a:p>
                  </a:txBody>
                  <a:tcPr marT="0" marB="0"/>
                </a:tc>
                <a:tc>
                  <a:txBody>
                    <a:bodyPr/>
                    <a:lstStyle/>
                    <a:p>
                      <a:r>
                        <a:rPr lang="en-US" b="0" dirty="0" smtClean="0"/>
                        <a:t>a</a:t>
                      </a:r>
                      <a:endParaRPr lang="en-US" b="0" dirty="0"/>
                    </a:p>
                  </a:txBody>
                  <a:tcPr marT="0" marB="0"/>
                </a:tc>
                <a:tc>
                  <a:txBody>
                    <a:bodyPr/>
                    <a:lstStyle/>
                    <a:p>
                      <a:r>
                        <a:rPr lang="en-US" b="0" dirty="0" smtClean="0"/>
                        <a:t>y</a:t>
                      </a:r>
                      <a:endParaRPr lang="en-US" b="0" dirty="0"/>
                    </a:p>
                  </a:txBody>
                  <a:tcPr marT="0" marB="0"/>
                </a:tc>
                <a:tc>
                  <a:txBody>
                    <a:bodyPr/>
                    <a:lstStyle/>
                    <a:p>
                      <a:r>
                        <a:rPr lang="en-US" b="0" dirty="0" smtClean="0"/>
                        <a:t>a</a:t>
                      </a:r>
                      <a:endParaRPr lang="en-US" b="0" dirty="0"/>
                    </a:p>
                  </a:txBody>
                  <a:tcPr marT="0" marB="0"/>
                </a:tc>
                <a:tc>
                  <a:txBody>
                    <a:bodyPr/>
                    <a:lstStyle/>
                    <a:p>
                      <a:r>
                        <a:rPr lang="en-US" b="0" dirty="0" smtClean="0"/>
                        <a:t>n</a:t>
                      </a:r>
                      <a:endParaRPr lang="en-US" b="0" dirty="0"/>
                    </a:p>
                  </a:txBody>
                  <a:tcPr marT="0" marB="0"/>
                </a:tc>
                <a:tc>
                  <a:txBody>
                    <a:bodyPr/>
                    <a:lstStyle/>
                    <a:p>
                      <a:r>
                        <a:rPr lang="en-US" b="0" smtClean="0"/>
                        <a:t>a</a:t>
                      </a:r>
                      <a:endParaRPr lang="en-US" b="0" dirty="0"/>
                    </a:p>
                  </a:txBody>
                  <a:tcPr marT="0" marB="0"/>
                </a:tc>
              </a:tr>
            </a:tbl>
          </a:graphicData>
        </a:graphic>
      </p:graphicFrame>
    </p:spTree>
    <p:extLst>
      <p:ext uri="{BB962C8B-B14F-4D97-AF65-F5344CB8AC3E}">
        <p14:creationId xmlns="" xmlns:p14="http://schemas.microsoft.com/office/powerpoint/2010/main" val="38043985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FFC130B7-20C8-FD02-33B8-A58BF58E9E9D}"/>
              </a:ext>
            </a:extLst>
          </p:cNvPr>
          <p:cNvSpPr txBox="1"/>
          <p:nvPr/>
        </p:nvSpPr>
        <p:spPr>
          <a:xfrm>
            <a:off x="482681" y="957137"/>
            <a:ext cx="7639343" cy="5632311"/>
          </a:xfrm>
          <a:prstGeom prst="rect">
            <a:avLst/>
          </a:prstGeom>
          <a:noFill/>
        </p:spPr>
        <p:txBody>
          <a:bodyPr wrap="square">
            <a:spAutoFit/>
          </a:bodyPr>
          <a:lstStyle/>
          <a:p>
            <a:pPr marL="342900" indent="-342900" algn="just">
              <a:buFont typeface="Wingdings" panose="05000000000000000000" pitchFamily="2" charset="2"/>
              <a:buChar char="v"/>
            </a:pPr>
            <a:r>
              <a:rPr lang="en-IN" sz="2400" u="sng" dirty="0"/>
              <a:t>class object creation syntax:</a:t>
            </a:r>
          </a:p>
          <a:p>
            <a:pPr marL="342900" indent="-342900" algn="just">
              <a:buFont typeface="Wingdings" panose="05000000000000000000" pitchFamily="2" charset="2"/>
              <a:buChar char="v"/>
            </a:pPr>
            <a:r>
              <a:rPr lang="en-IN" sz="2400" dirty="0"/>
              <a:t>String class is having 15 constructors.</a:t>
            </a:r>
          </a:p>
          <a:p>
            <a:pPr marL="800100" lvl="1" indent="-342900" algn="just">
              <a:buFont typeface="Wingdings" panose="05000000000000000000" pitchFamily="2" charset="2"/>
              <a:buChar char="v"/>
            </a:pPr>
            <a:r>
              <a:rPr lang="en-IN" sz="2400" dirty="0"/>
              <a:t>Ex:</a:t>
            </a:r>
          </a:p>
          <a:p>
            <a:pPr marL="1257300" lvl="2" indent="-342900" algn="just">
              <a:buFont typeface="Wingdings" panose="05000000000000000000" pitchFamily="2" charset="2"/>
              <a:buChar char="v"/>
            </a:pPr>
            <a:r>
              <a:rPr lang="en-IN" sz="2400" dirty="0"/>
              <a:t>String str="</a:t>
            </a:r>
            <a:r>
              <a:rPr lang="en-IN" sz="2400" dirty="0" err="1"/>
              <a:t>Anotonio</a:t>
            </a:r>
            <a:r>
              <a:rPr lang="en-IN" sz="2400" dirty="0"/>
              <a:t>";</a:t>
            </a:r>
          </a:p>
          <a:p>
            <a:pPr marL="1257300" lvl="2" indent="-342900" algn="just">
              <a:buFont typeface="Wingdings" panose="05000000000000000000" pitchFamily="2" charset="2"/>
              <a:buChar char="v"/>
            </a:pPr>
            <a:r>
              <a:rPr lang="en-IN" sz="2400" dirty="0"/>
              <a:t>String str1=new String(“</a:t>
            </a:r>
            <a:r>
              <a:rPr lang="en-IN" sz="2400" dirty="0" err="1"/>
              <a:t>Rishab</a:t>
            </a:r>
            <a:r>
              <a:rPr lang="en-IN" sz="2400" dirty="0"/>
              <a:t>");</a:t>
            </a:r>
          </a:p>
          <a:p>
            <a:pPr marL="1257300" lvl="2" indent="-342900" algn="just">
              <a:buFont typeface="Wingdings" panose="05000000000000000000" pitchFamily="2" charset="2"/>
              <a:buChar char="v"/>
            </a:pPr>
            <a:r>
              <a:rPr lang="en-IN" sz="2400" dirty="0"/>
              <a:t>String str2=“</a:t>
            </a:r>
            <a:r>
              <a:rPr lang="en-IN" sz="2400" dirty="0" err="1"/>
              <a:t>Tarun</a:t>
            </a:r>
            <a:r>
              <a:rPr lang="en-IN" sz="2400" dirty="0"/>
              <a:t>";</a:t>
            </a:r>
          </a:p>
          <a:p>
            <a:pPr marL="1257300" lvl="2" indent="-342900" algn="just">
              <a:buFont typeface="Wingdings" panose="05000000000000000000" pitchFamily="2" charset="2"/>
              <a:buChar char="v"/>
            </a:pPr>
            <a:r>
              <a:rPr lang="en-IN" sz="2400" dirty="0"/>
              <a:t>String str3=new String(“Miller");</a:t>
            </a:r>
          </a:p>
          <a:p>
            <a:pPr marL="342900" indent="-342900" algn="just">
              <a:buFont typeface="Wingdings" panose="05000000000000000000" pitchFamily="2" charset="2"/>
              <a:buChar char="v"/>
            </a:pPr>
            <a:r>
              <a:rPr lang="en-IN" sz="2400" dirty="0"/>
              <a:t>public String()</a:t>
            </a:r>
          </a:p>
          <a:p>
            <a:pPr marL="342900" indent="-342900" algn="just">
              <a:buFont typeface="Wingdings" panose="05000000000000000000" pitchFamily="2" charset="2"/>
              <a:buChar char="v"/>
            </a:pPr>
            <a:r>
              <a:rPr lang="en-IN" sz="2400" dirty="0"/>
              <a:t>public String(byte b[])</a:t>
            </a:r>
          </a:p>
          <a:p>
            <a:pPr marL="342900" indent="-342900" algn="just">
              <a:buFont typeface="Wingdings" panose="05000000000000000000" pitchFamily="2" charset="2"/>
              <a:buChar char="v"/>
            </a:pPr>
            <a:r>
              <a:rPr lang="en-IN" sz="2400" dirty="0"/>
              <a:t>public String(byte b[], int offset, int </a:t>
            </a:r>
            <a:r>
              <a:rPr lang="en-IN" sz="2400" dirty="0" err="1"/>
              <a:t>len</a:t>
            </a:r>
            <a:r>
              <a:rPr lang="en-IN" sz="2400" dirty="0"/>
              <a:t>)</a:t>
            </a:r>
          </a:p>
          <a:p>
            <a:pPr marL="342900" indent="-342900" algn="just">
              <a:buFont typeface="Wingdings" panose="05000000000000000000" pitchFamily="2" charset="2"/>
              <a:buChar char="v"/>
            </a:pPr>
            <a:r>
              <a:rPr lang="en-IN" sz="2400" dirty="0"/>
              <a:t>public String(char </a:t>
            </a:r>
            <a:r>
              <a:rPr lang="en-IN" sz="2400" dirty="0" err="1"/>
              <a:t>ch</a:t>
            </a:r>
            <a:r>
              <a:rPr lang="en-IN" sz="2400" dirty="0"/>
              <a:t>[])</a:t>
            </a:r>
          </a:p>
          <a:p>
            <a:pPr marL="342900" indent="-342900" algn="just">
              <a:buFont typeface="Wingdings" panose="05000000000000000000" pitchFamily="2" charset="2"/>
              <a:buChar char="v"/>
            </a:pPr>
            <a:r>
              <a:rPr lang="en-IN" sz="2400" dirty="0"/>
              <a:t>public String(char </a:t>
            </a:r>
            <a:r>
              <a:rPr lang="en-IN" sz="2400" dirty="0" err="1"/>
              <a:t>ch</a:t>
            </a:r>
            <a:r>
              <a:rPr lang="en-IN" sz="2400" dirty="0"/>
              <a:t>[], int offset, int </a:t>
            </a:r>
            <a:r>
              <a:rPr lang="en-IN" sz="2400" dirty="0" err="1"/>
              <a:t>len</a:t>
            </a:r>
            <a:r>
              <a:rPr lang="en-IN" sz="2400" dirty="0"/>
              <a:t>)</a:t>
            </a:r>
          </a:p>
          <a:p>
            <a:pPr marL="342900" indent="-342900" algn="just">
              <a:buFont typeface="Wingdings" panose="05000000000000000000" pitchFamily="2" charset="2"/>
              <a:buChar char="v"/>
            </a:pPr>
            <a:r>
              <a:rPr lang="en-IN" sz="2400" dirty="0"/>
              <a:t>public String(String str)</a:t>
            </a:r>
          </a:p>
          <a:p>
            <a:pPr marL="342900" indent="-342900" algn="just">
              <a:buFont typeface="Wingdings" panose="05000000000000000000" pitchFamily="2" charset="2"/>
              <a:buChar char="v"/>
            </a:pPr>
            <a:r>
              <a:rPr lang="en-IN" sz="2400" dirty="0"/>
              <a:t>public String(</a:t>
            </a:r>
            <a:r>
              <a:rPr lang="en-IN" sz="2400" dirty="0" err="1"/>
              <a:t>StringBuffer</a:t>
            </a:r>
            <a:r>
              <a:rPr lang="en-IN" sz="2400" dirty="0"/>
              <a:t> </a:t>
            </a:r>
            <a:r>
              <a:rPr lang="en-IN" sz="2400" dirty="0" err="1"/>
              <a:t>sb</a:t>
            </a:r>
            <a:r>
              <a:rPr lang="en-IN" sz="2400" dirty="0"/>
              <a:t>)</a:t>
            </a:r>
          </a:p>
          <a:p>
            <a:pPr marL="342900" indent="-342900" algn="just">
              <a:buFont typeface="Wingdings" panose="05000000000000000000" pitchFamily="2" charset="2"/>
              <a:buChar char="v"/>
            </a:pPr>
            <a:r>
              <a:rPr lang="en-IN" sz="2400" dirty="0"/>
              <a:t>public String(StringBuilder </a:t>
            </a:r>
            <a:r>
              <a:rPr lang="en-IN" sz="2400" dirty="0" err="1"/>
              <a:t>sb</a:t>
            </a:r>
            <a:r>
              <a:rPr lang="en-IN" sz="2400" dirty="0"/>
              <a:t>)</a:t>
            </a:r>
          </a:p>
        </p:txBody>
      </p:sp>
      <p:sp>
        <p:nvSpPr>
          <p:cNvPr id="7" name="Footer Placeholder 6">
            <a:extLst>
              <a:ext uri="{FF2B5EF4-FFF2-40B4-BE49-F238E27FC236}">
                <a16:creationId xmlns:a16="http://schemas.microsoft.com/office/drawing/2014/main" xmlns="" id="{739DACEC-5479-8EB6-D1B0-DB5479C28D8E}"/>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4194740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FFC130B7-20C8-FD02-33B8-A58BF58E9E9D}"/>
              </a:ext>
            </a:extLst>
          </p:cNvPr>
          <p:cNvSpPr txBox="1"/>
          <p:nvPr/>
        </p:nvSpPr>
        <p:spPr>
          <a:xfrm>
            <a:off x="482681" y="957137"/>
            <a:ext cx="8688213" cy="3785652"/>
          </a:xfrm>
          <a:prstGeom prst="rect">
            <a:avLst/>
          </a:prstGeom>
          <a:noFill/>
        </p:spPr>
        <p:txBody>
          <a:bodyPr wrap="square">
            <a:spAutoFit/>
          </a:bodyPr>
          <a:lstStyle/>
          <a:p>
            <a:pPr marL="342900" indent="-342900" algn="just">
              <a:buFont typeface="Wingdings" panose="05000000000000000000" pitchFamily="2" charset="2"/>
              <a:buChar char="v"/>
            </a:pPr>
            <a:r>
              <a:rPr lang="en-US" sz="2400" dirty="0"/>
              <a:t>String class object can be created in following number of ways:</a:t>
            </a:r>
          </a:p>
          <a:p>
            <a:pPr marL="800100" lvl="1" indent="-342900" algn="just">
              <a:buFont typeface="Wingdings" panose="05000000000000000000" pitchFamily="2" charset="2"/>
              <a:buChar char="v"/>
            </a:pPr>
            <a:r>
              <a:rPr lang="en-US" sz="2400" dirty="0"/>
              <a:t>Except String class all other java class objects must be created with new operator and constructor. String class object can be created by directly assigning value to it. </a:t>
            </a:r>
          </a:p>
          <a:p>
            <a:pPr marL="800100" lvl="1" indent="-342900" algn="just">
              <a:buFont typeface="Wingdings" panose="05000000000000000000" pitchFamily="2" charset="2"/>
              <a:buChar char="v"/>
            </a:pPr>
            <a:r>
              <a:rPr lang="en-US" sz="2400" dirty="0"/>
              <a:t>String str="ActiveNET"; </a:t>
            </a:r>
          </a:p>
          <a:p>
            <a:pPr marL="800100" lvl="1" indent="-342900" algn="just">
              <a:buFont typeface="Wingdings" panose="05000000000000000000" pitchFamily="2" charset="2"/>
              <a:buChar char="v"/>
            </a:pPr>
            <a:r>
              <a:rPr lang="en-US" sz="2400" dirty="0"/>
              <a:t>without using new operator and constructor, by directly assigning value to variable/identifier String class object can be created. But such objects are stored in String pool. String objects created using new operator and constructor are stored in a separate heap memory.</a:t>
            </a:r>
            <a:endParaRPr lang="en-IN" sz="2400" dirty="0"/>
          </a:p>
        </p:txBody>
      </p:sp>
      <p:sp>
        <p:nvSpPr>
          <p:cNvPr id="19" name="TextBox 18">
            <a:extLst>
              <a:ext uri="{FF2B5EF4-FFF2-40B4-BE49-F238E27FC236}">
                <a16:creationId xmlns:a16="http://schemas.microsoft.com/office/drawing/2014/main" xmlns="" id="{229D41BF-8F20-FE31-3B62-462B1ACF2C17}"/>
              </a:ext>
            </a:extLst>
          </p:cNvPr>
          <p:cNvSpPr txBox="1"/>
          <p:nvPr/>
        </p:nvSpPr>
        <p:spPr>
          <a:xfrm>
            <a:off x="815318" y="4775352"/>
            <a:ext cx="3595317" cy="1200329"/>
          </a:xfrm>
          <a:prstGeom prst="rect">
            <a:avLst/>
          </a:prstGeom>
          <a:noFill/>
        </p:spPr>
        <p:txBody>
          <a:bodyPr wrap="square">
            <a:spAutoFit/>
          </a:bodyPr>
          <a:lstStyle/>
          <a:p>
            <a:pPr algn="just"/>
            <a:r>
              <a:rPr lang="en-US" dirty="0"/>
              <a:t>String str="ActiveNET";</a:t>
            </a:r>
          </a:p>
          <a:p>
            <a:pPr algn="just"/>
            <a:r>
              <a:rPr lang="en-US" dirty="0"/>
              <a:t>String str1="ActiveNET";</a:t>
            </a:r>
          </a:p>
          <a:p>
            <a:pPr algn="just"/>
            <a:r>
              <a:rPr lang="en-US" dirty="0"/>
              <a:t>String str2=new String("ActiveNET“);</a:t>
            </a:r>
          </a:p>
          <a:p>
            <a:pPr algn="just"/>
            <a:r>
              <a:rPr lang="en-US" dirty="0"/>
              <a:t>String str3=new String("ActiveNET“); </a:t>
            </a:r>
          </a:p>
        </p:txBody>
      </p:sp>
      <p:sp>
        <p:nvSpPr>
          <p:cNvPr id="8" name="Oval 7">
            <a:extLst>
              <a:ext uri="{FF2B5EF4-FFF2-40B4-BE49-F238E27FC236}">
                <a16:creationId xmlns:a16="http://schemas.microsoft.com/office/drawing/2014/main" xmlns="" id="{02B3DFE0-F8AF-48F1-518C-6DFFD0D62C0D}"/>
              </a:ext>
            </a:extLst>
          </p:cNvPr>
          <p:cNvSpPr/>
          <p:nvPr/>
        </p:nvSpPr>
        <p:spPr>
          <a:xfrm>
            <a:off x="6096000" y="4585447"/>
            <a:ext cx="1783976" cy="43619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ActiveNET</a:t>
            </a:r>
          </a:p>
        </p:txBody>
      </p:sp>
      <p:sp>
        <p:nvSpPr>
          <p:cNvPr id="25" name="Oval 24">
            <a:extLst>
              <a:ext uri="{FF2B5EF4-FFF2-40B4-BE49-F238E27FC236}">
                <a16:creationId xmlns:a16="http://schemas.microsoft.com/office/drawing/2014/main" xmlns="" id="{7FF41F0F-7C32-45C0-2BEE-F1B75EDD4A7C}"/>
              </a:ext>
            </a:extLst>
          </p:cNvPr>
          <p:cNvSpPr/>
          <p:nvPr/>
        </p:nvSpPr>
        <p:spPr>
          <a:xfrm>
            <a:off x="6096000" y="5082942"/>
            <a:ext cx="1783976" cy="43619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ActiveNET</a:t>
            </a:r>
          </a:p>
        </p:txBody>
      </p:sp>
      <p:sp>
        <p:nvSpPr>
          <p:cNvPr id="26" name="Oval 25">
            <a:extLst>
              <a:ext uri="{FF2B5EF4-FFF2-40B4-BE49-F238E27FC236}">
                <a16:creationId xmlns:a16="http://schemas.microsoft.com/office/drawing/2014/main" xmlns="" id="{A8DDB4CF-B519-C7ED-4044-030BC6200544}"/>
              </a:ext>
            </a:extLst>
          </p:cNvPr>
          <p:cNvSpPr/>
          <p:nvPr/>
        </p:nvSpPr>
        <p:spPr>
          <a:xfrm>
            <a:off x="6096000" y="5658558"/>
            <a:ext cx="1783976" cy="43619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ActiveNET</a:t>
            </a:r>
          </a:p>
        </p:txBody>
      </p:sp>
      <p:cxnSp>
        <p:nvCxnSpPr>
          <p:cNvPr id="10" name="Straight Arrow Connector 9">
            <a:extLst>
              <a:ext uri="{FF2B5EF4-FFF2-40B4-BE49-F238E27FC236}">
                <a16:creationId xmlns:a16="http://schemas.microsoft.com/office/drawing/2014/main" xmlns="" id="{13BFF663-7166-D4E3-0D99-0C00BD4157BE}"/>
              </a:ext>
            </a:extLst>
          </p:cNvPr>
          <p:cNvCxnSpPr/>
          <p:nvPr/>
        </p:nvCxnSpPr>
        <p:spPr>
          <a:xfrm flipV="1">
            <a:off x="3173506" y="4742789"/>
            <a:ext cx="2810435" cy="278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xmlns="" id="{17456135-B3ED-17BD-DC44-5E8B31654388}"/>
              </a:ext>
            </a:extLst>
          </p:cNvPr>
          <p:cNvCxnSpPr/>
          <p:nvPr/>
        </p:nvCxnSpPr>
        <p:spPr>
          <a:xfrm flipV="1">
            <a:off x="3173506" y="4803542"/>
            <a:ext cx="2810435" cy="497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xmlns="" id="{C73608E5-D4BE-0B04-A07C-7DA0670C5A87}"/>
              </a:ext>
            </a:extLst>
          </p:cNvPr>
          <p:cNvCxnSpPr/>
          <p:nvPr/>
        </p:nvCxnSpPr>
        <p:spPr>
          <a:xfrm flipV="1">
            <a:off x="4410635" y="5301037"/>
            <a:ext cx="1573306" cy="218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xmlns="" id="{5C0D6706-FC6A-4922-2FDD-609557AB12FA}"/>
              </a:ext>
            </a:extLst>
          </p:cNvPr>
          <p:cNvCxnSpPr/>
          <p:nvPr/>
        </p:nvCxnSpPr>
        <p:spPr>
          <a:xfrm>
            <a:off x="4391350" y="5777625"/>
            <a:ext cx="1592591" cy="123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Footer Placeholder 6">
            <a:extLst>
              <a:ext uri="{FF2B5EF4-FFF2-40B4-BE49-F238E27FC236}">
                <a16:creationId xmlns:a16="http://schemas.microsoft.com/office/drawing/2014/main" xmlns="" id="{4E2908DC-245A-28D5-E50F-3F422AD2871C}"/>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1803498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FFC130B7-20C8-FD02-33B8-A58BF58E9E9D}"/>
              </a:ext>
            </a:extLst>
          </p:cNvPr>
          <p:cNvSpPr txBox="1"/>
          <p:nvPr/>
        </p:nvSpPr>
        <p:spPr>
          <a:xfrm>
            <a:off x="1026163" y="1370256"/>
            <a:ext cx="8233956" cy="3970318"/>
          </a:xfrm>
          <a:prstGeom prst="rect">
            <a:avLst/>
          </a:prstGeom>
          <a:noFill/>
        </p:spPr>
        <p:txBody>
          <a:bodyPr wrap="square">
            <a:spAutoFit/>
          </a:bodyPr>
          <a:lstStyle/>
          <a:p>
            <a:pPr marL="342900" indent="-342900" algn="just">
              <a:buFont typeface="Wingdings" panose="05000000000000000000" pitchFamily="2" charset="2"/>
              <a:buChar char="v"/>
            </a:pPr>
            <a:r>
              <a:rPr lang="en-US" b="1" dirty="0"/>
              <a:t>String str1=new String();</a:t>
            </a:r>
            <a:r>
              <a:rPr lang="en-US" dirty="0"/>
              <a:t> // using no argument constructor</a:t>
            </a:r>
          </a:p>
          <a:p>
            <a:pPr marL="342900" indent="-342900" algn="just">
              <a:buFont typeface="Wingdings" panose="05000000000000000000" pitchFamily="2" charset="2"/>
              <a:buChar char="v"/>
            </a:pPr>
            <a:endParaRPr lang="en-US" dirty="0"/>
          </a:p>
          <a:p>
            <a:pPr marL="342900" indent="-342900" algn="just">
              <a:buFont typeface="Wingdings" panose="05000000000000000000" pitchFamily="2" charset="2"/>
              <a:buChar char="v"/>
            </a:pPr>
            <a:r>
              <a:rPr lang="en-US" dirty="0"/>
              <a:t>byte[] b={65,99,116,105,118,101,78,69,84};</a:t>
            </a:r>
          </a:p>
          <a:p>
            <a:pPr marL="342900" indent="-342900" algn="just">
              <a:buFont typeface="Wingdings" panose="05000000000000000000" pitchFamily="2" charset="2"/>
              <a:buChar char="v"/>
            </a:pPr>
            <a:r>
              <a:rPr lang="en-US" b="1" dirty="0"/>
              <a:t>String str2=new String(b);</a:t>
            </a:r>
            <a:r>
              <a:rPr lang="en-US" dirty="0"/>
              <a:t> // using byte[] argument constructor</a:t>
            </a:r>
          </a:p>
          <a:p>
            <a:pPr marL="342900" indent="-342900" algn="just">
              <a:buFont typeface="Wingdings" panose="05000000000000000000" pitchFamily="2" charset="2"/>
              <a:buChar char="v"/>
            </a:pPr>
            <a:endParaRPr lang="en-US" dirty="0"/>
          </a:p>
          <a:p>
            <a:pPr marL="342900" indent="-342900" algn="just">
              <a:buFont typeface="Wingdings" panose="05000000000000000000" pitchFamily="2" charset="2"/>
              <a:buChar char="v"/>
            </a:pPr>
            <a:r>
              <a:rPr lang="en-US" b="1" dirty="0"/>
              <a:t>String str3=new String(b, 0, 6);</a:t>
            </a:r>
            <a:r>
              <a:rPr lang="en-US" dirty="0"/>
              <a:t> // Active</a:t>
            </a:r>
          </a:p>
          <a:p>
            <a:pPr marL="342900" indent="-342900" algn="just">
              <a:buFont typeface="Wingdings" panose="05000000000000000000" pitchFamily="2" charset="2"/>
              <a:buChar char="v"/>
            </a:pPr>
            <a:endParaRPr lang="en-US" dirty="0"/>
          </a:p>
          <a:p>
            <a:pPr marL="342900" indent="-342900" algn="just">
              <a:buFont typeface="Wingdings" panose="05000000000000000000" pitchFamily="2" charset="2"/>
              <a:buChar char="v"/>
            </a:pPr>
            <a:r>
              <a:rPr lang="en-US" dirty="0"/>
              <a:t>char </a:t>
            </a:r>
            <a:r>
              <a:rPr lang="en-US" dirty="0" err="1"/>
              <a:t>ch</a:t>
            </a:r>
            <a:r>
              <a:rPr lang="en-US" dirty="0"/>
              <a:t>[]={'A','c','t','</a:t>
            </a:r>
            <a:r>
              <a:rPr lang="en-US" dirty="0" err="1"/>
              <a:t>i</a:t>
            </a:r>
            <a:r>
              <a:rPr lang="en-US" dirty="0"/>
              <a:t>','</a:t>
            </a:r>
            <a:r>
              <a:rPr lang="en-US" dirty="0" err="1"/>
              <a:t>v','e','N','E','T</a:t>
            </a:r>
            <a:r>
              <a:rPr lang="en-US" dirty="0"/>
              <a:t>'};</a:t>
            </a:r>
          </a:p>
          <a:p>
            <a:pPr marL="342900" indent="-342900" algn="just">
              <a:buFont typeface="Wingdings" panose="05000000000000000000" pitchFamily="2" charset="2"/>
              <a:buChar char="v"/>
            </a:pPr>
            <a:r>
              <a:rPr lang="en-US" b="1" dirty="0"/>
              <a:t>String str3=new String(</a:t>
            </a:r>
            <a:r>
              <a:rPr lang="en-US" b="1" dirty="0" err="1"/>
              <a:t>ch</a:t>
            </a:r>
            <a:r>
              <a:rPr lang="en-US" b="1" dirty="0"/>
              <a:t>); </a:t>
            </a:r>
            <a:r>
              <a:rPr lang="en-US" dirty="0"/>
              <a:t> // using char[] argument constructor</a:t>
            </a:r>
          </a:p>
          <a:p>
            <a:pPr marL="342900" indent="-342900" algn="just">
              <a:buFont typeface="Wingdings" panose="05000000000000000000" pitchFamily="2" charset="2"/>
              <a:buChar char="v"/>
            </a:pPr>
            <a:endParaRPr lang="en-US" dirty="0"/>
          </a:p>
          <a:p>
            <a:pPr marL="342900" indent="-342900" algn="just">
              <a:buFont typeface="Wingdings" panose="05000000000000000000" pitchFamily="2" charset="2"/>
              <a:buChar char="v"/>
            </a:pPr>
            <a:r>
              <a:rPr lang="en-US" b="1" dirty="0"/>
              <a:t>String str4=new String(</a:t>
            </a:r>
            <a:r>
              <a:rPr lang="en-US" b="1" dirty="0" err="1"/>
              <a:t>ch</a:t>
            </a:r>
            <a:r>
              <a:rPr lang="en-US" b="1" dirty="0"/>
              <a:t>, 6, 3);</a:t>
            </a:r>
            <a:r>
              <a:rPr lang="en-US" dirty="0"/>
              <a:t> // NET</a:t>
            </a:r>
          </a:p>
          <a:p>
            <a:pPr marL="342900" indent="-342900" algn="just">
              <a:buFont typeface="Wingdings" panose="05000000000000000000" pitchFamily="2" charset="2"/>
              <a:buChar char="v"/>
            </a:pPr>
            <a:endParaRPr lang="en-US" dirty="0"/>
          </a:p>
          <a:p>
            <a:pPr marL="342900" indent="-342900" algn="just">
              <a:buFont typeface="Wingdings" panose="05000000000000000000" pitchFamily="2" charset="2"/>
              <a:buChar char="v"/>
            </a:pPr>
            <a:r>
              <a:rPr lang="en-US" b="1" dirty="0"/>
              <a:t>String str5=new String("ActiveNET"); </a:t>
            </a:r>
            <a:r>
              <a:rPr lang="en-US" dirty="0"/>
              <a:t> // using directly passing String value/literal into constructor</a:t>
            </a:r>
            <a:endParaRPr lang="en-IN" dirty="0"/>
          </a:p>
        </p:txBody>
      </p:sp>
      <p:sp>
        <p:nvSpPr>
          <p:cNvPr id="7" name="Footer Placeholder 6">
            <a:extLst>
              <a:ext uri="{FF2B5EF4-FFF2-40B4-BE49-F238E27FC236}">
                <a16:creationId xmlns:a16="http://schemas.microsoft.com/office/drawing/2014/main" xmlns="" id="{0BC9EDB9-4E9A-BA5A-CBB2-102317C76819}"/>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738370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FFC130B7-20C8-FD02-33B8-A58BF58E9E9D}"/>
              </a:ext>
            </a:extLst>
          </p:cNvPr>
          <p:cNvSpPr txBox="1"/>
          <p:nvPr/>
        </p:nvSpPr>
        <p:spPr>
          <a:xfrm>
            <a:off x="826952" y="945300"/>
            <a:ext cx="8233956" cy="4524315"/>
          </a:xfrm>
          <a:prstGeom prst="rect">
            <a:avLst/>
          </a:prstGeom>
          <a:noFill/>
        </p:spPr>
        <p:txBody>
          <a:bodyPr wrap="square">
            <a:spAutoFit/>
          </a:bodyPr>
          <a:lstStyle/>
          <a:p>
            <a:pPr algn="just"/>
            <a:r>
              <a:rPr lang="en-US" b="1" dirty="0"/>
              <a:t>Important methods exist in String class are:</a:t>
            </a:r>
          </a:p>
          <a:p>
            <a:pPr algn="just"/>
            <a:r>
              <a:rPr lang="en-IN" b="1" dirty="0"/>
              <a:t>int </a:t>
            </a:r>
            <a:r>
              <a:rPr lang="en-IN" b="1" dirty="0" err="1"/>
              <a:t>indexOf</a:t>
            </a:r>
            <a:r>
              <a:rPr lang="en-IN" b="1" dirty="0"/>
              <a:t>(char </a:t>
            </a:r>
            <a:r>
              <a:rPr lang="en-IN" b="1" dirty="0" err="1"/>
              <a:t>ch</a:t>
            </a:r>
            <a:r>
              <a:rPr lang="en-IN" b="1" dirty="0"/>
              <a:t>) </a:t>
            </a:r>
          </a:p>
          <a:p>
            <a:pPr algn="just"/>
            <a:r>
              <a:rPr lang="en-IN" dirty="0"/>
              <a:t>	int </a:t>
            </a:r>
            <a:r>
              <a:rPr lang="en-IN" dirty="0" err="1"/>
              <a:t>idx</a:t>
            </a:r>
            <a:r>
              <a:rPr lang="en-IN" dirty="0"/>
              <a:t>=</a:t>
            </a:r>
            <a:r>
              <a:rPr lang="en-IN" dirty="0" err="1"/>
              <a:t>str.indexOf</a:t>
            </a:r>
            <a:r>
              <a:rPr lang="en-IN" dirty="0"/>
              <a:t>('v'); // </a:t>
            </a:r>
            <a:r>
              <a:rPr lang="en-IN" dirty="0" err="1"/>
              <a:t>idx</a:t>
            </a:r>
            <a:r>
              <a:rPr lang="en-IN" dirty="0"/>
              <a:t> is 4</a:t>
            </a:r>
          </a:p>
          <a:p>
            <a:pPr algn="just"/>
            <a:endParaRPr lang="en-IN" dirty="0"/>
          </a:p>
          <a:p>
            <a:pPr algn="just"/>
            <a:r>
              <a:rPr lang="en-IN" b="1" dirty="0"/>
              <a:t>int </a:t>
            </a:r>
            <a:r>
              <a:rPr lang="en-IN" b="1" dirty="0" err="1"/>
              <a:t>lastIndexOf</a:t>
            </a:r>
            <a:r>
              <a:rPr lang="en-IN" b="1" dirty="0"/>
              <a:t>(char </a:t>
            </a:r>
            <a:r>
              <a:rPr lang="en-IN" b="1" dirty="0" err="1"/>
              <a:t>ch</a:t>
            </a:r>
            <a:r>
              <a:rPr lang="en-IN" b="1" dirty="0"/>
              <a:t>)</a:t>
            </a:r>
          </a:p>
          <a:p>
            <a:pPr algn="just"/>
            <a:r>
              <a:rPr lang="en-IN" dirty="0"/>
              <a:t>	String str="</a:t>
            </a:r>
            <a:r>
              <a:rPr lang="en-IN" dirty="0" err="1"/>
              <a:t>mamun</a:t>
            </a:r>
            <a:r>
              <a:rPr lang="en-IN" dirty="0"/>
              <a:t>";</a:t>
            </a:r>
          </a:p>
          <a:p>
            <a:pPr algn="just"/>
            <a:r>
              <a:rPr lang="en-IN" dirty="0"/>
              <a:t>	</a:t>
            </a:r>
            <a:r>
              <a:rPr lang="en-IN" dirty="0" err="1"/>
              <a:t>idx</a:t>
            </a:r>
            <a:r>
              <a:rPr lang="en-IN" dirty="0"/>
              <a:t>=</a:t>
            </a:r>
            <a:r>
              <a:rPr lang="en-IN" dirty="0" err="1"/>
              <a:t>str.indexOf</a:t>
            </a:r>
            <a:r>
              <a:rPr lang="en-IN" dirty="0"/>
              <a:t>("m"); // 0</a:t>
            </a:r>
          </a:p>
          <a:p>
            <a:pPr algn="just"/>
            <a:r>
              <a:rPr lang="en-IN" dirty="0"/>
              <a:t>	</a:t>
            </a:r>
            <a:r>
              <a:rPr lang="en-IN" dirty="0" err="1"/>
              <a:t>idx</a:t>
            </a:r>
            <a:r>
              <a:rPr lang="en-IN" dirty="0"/>
              <a:t>=</a:t>
            </a:r>
            <a:r>
              <a:rPr lang="en-IN" dirty="0" err="1"/>
              <a:t>str.lastIndexOf</a:t>
            </a:r>
            <a:r>
              <a:rPr lang="en-IN" dirty="0"/>
              <a:t>("m"); // 2</a:t>
            </a:r>
          </a:p>
          <a:p>
            <a:pPr algn="just"/>
            <a:endParaRPr lang="en-IN" dirty="0"/>
          </a:p>
          <a:p>
            <a:pPr algn="just"/>
            <a:r>
              <a:rPr lang="en-IN" b="1" dirty="0"/>
              <a:t>boolean </a:t>
            </a:r>
            <a:r>
              <a:rPr lang="en-IN" b="1" dirty="0" err="1"/>
              <a:t>startsWith</a:t>
            </a:r>
            <a:r>
              <a:rPr lang="en-IN" b="1" dirty="0"/>
              <a:t>(String str)</a:t>
            </a:r>
          </a:p>
          <a:p>
            <a:pPr algn="just"/>
            <a:r>
              <a:rPr lang="en-IN" dirty="0"/>
              <a:t>	boolean flag=str5.startsWith("Act"); // true</a:t>
            </a:r>
          </a:p>
          <a:p>
            <a:pPr algn="just"/>
            <a:r>
              <a:rPr lang="en-IN" dirty="0"/>
              <a:t>	flag=str5.startsWith("act"); // false</a:t>
            </a:r>
          </a:p>
          <a:p>
            <a:pPr algn="just"/>
            <a:endParaRPr lang="en-IN" dirty="0"/>
          </a:p>
          <a:p>
            <a:pPr algn="just"/>
            <a:r>
              <a:rPr lang="en-IN" b="1" dirty="0"/>
              <a:t>boolean </a:t>
            </a:r>
            <a:r>
              <a:rPr lang="en-IN" b="1" dirty="0" err="1"/>
              <a:t>endsWith</a:t>
            </a:r>
            <a:r>
              <a:rPr lang="en-IN" b="1" dirty="0"/>
              <a:t>(String str)</a:t>
            </a:r>
          </a:p>
          <a:p>
            <a:pPr algn="just"/>
            <a:r>
              <a:rPr lang="en-IN" dirty="0"/>
              <a:t>	flag=str5.endsWith("NET"); // true</a:t>
            </a:r>
          </a:p>
          <a:p>
            <a:pPr algn="just"/>
            <a:r>
              <a:rPr lang="en-IN" dirty="0"/>
              <a:t>	false=str5.endsWith("net"); // false</a:t>
            </a:r>
          </a:p>
        </p:txBody>
      </p:sp>
      <p:sp>
        <p:nvSpPr>
          <p:cNvPr id="7" name="Footer Placeholder 6">
            <a:extLst>
              <a:ext uri="{FF2B5EF4-FFF2-40B4-BE49-F238E27FC236}">
                <a16:creationId xmlns:a16="http://schemas.microsoft.com/office/drawing/2014/main" xmlns="" id="{3733CA3C-B74F-5048-840E-5A6023E1E574}"/>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2528701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FFC130B7-20C8-FD02-33B8-A58BF58E9E9D}"/>
              </a:ext>
            </a:extLst>
          </p:cNvPr>
          <p:cNvSpPr txBox="1"/>
          <p:nvPr/>
        </p:nvSpPr>
        <p:spPr>
          <a:xfrm>
            <a:off x="826952" y="904959"/>
            <a:ext cx="8233956" cy="3416320"/>
          </a:xfrm>
          <a:prstGeom prst="rect">
            <a:avLst/>
          </a:prstGeom>
          <a:noFill/>
        </p:spPr>
        <p:txBody>
          <a:bodyPr wrap="square">
            <a:spAutoFit/>
          </a:bodyPr>
          <a:lstStyle/>
          <a:p>
            <a:pPr algn="just"/>
            <a:r>
              <a:rPr lang="en-IN" b="1" dirty="0"/>
              <a:t>char </a:t>
            </a:r>
            <a:r>
              <a:rPr lang="en-IN" b="1" dirty="0" err="1"/>
              <a:t>charAt</a:t>
            </a:r>
            <a:r>
              <a:rPr lang="en-IN" b="1" dirty="0"/>
              <a:t>(int index)</a:t>
            </a:r>
          </a:p>
          <a:p>
            <a:pPr algn="just"/>
            <a:r>
              <a:rPr lang="en-IN" dirty="0"/>
              <a:t>	char </a:t>
            </a:r>
            <a:r>
              <a:rPr lang="en-IN" dirty="0" err="1"/>
              <a:t>ch</a:t>
            </a:r>
            <a:r>
              <a:rPr lang="en-IN" dirty="0"/>
              <a:t>=str5.charAt(6); // 'N'</a:t>
            </a:r>
          </a:p>
          <a:p>
            <a:pPr algn="just"/>
            <a:endParaRPr lang="en-IN" dirty="0"/>
          </a:p>
          <a:p>
            <a:pPr algn="just"/>
            <a:r>
              <a:rPr lang="en-IN" b="1" dirty="0"/>
              <a:t>String replace(char </a:t>
            </a:r>
            <a:r>
              <a:rPr lang="en-IN" b="1" dirty="0" err="1"/>
              <a:t>oldChar</a:t>
            </a:r>
            <a:r>
              <a:rPr lang="en-IN" b="1" dirty="0"/>
              <a:t>, char </a:t>
            </a:r>
            <a:r>
              <a:rPr lang="en-IN" b="1" dirty="0" err="1"/>
              <a:t>newChar</a:t>
            </a:r>
            <a:r>
              <a:rPr lang="en-IN" b="1" dirty="0"/>
              <a:t>)</a:t>
            </a:r>
          </a:p>
          <a:p>
            <a:pPr algn="just"/>
            <a:r>
              <a:rPr lang="en-IN" dirty="0"/>
              <a:t>	str=str5.replace('</a:t>
            </a:r>
            <a:r>
              <a:rPr lang="en-IN" dirty="0" err="1"/>
              <a:t>e','E</a:t>
            </a:r>
            <a:r>
              <a:rPr lang="en-IN" dirty="0"/>
              <a:t>’); // "</a:t>
            </a:r>
            <a:r>
              <a:rPr lang="en-IN" dirty="0" err="1"/>
              <a:t>ActivENET</a:t>
            </a:r>
            <a:r>
              <a:rPr lang="en-IN" dirty="0"/>
              <a:t>"</a:t>
            </a:r>
          </a:p>
          <a:p>
            <a:pPr algn="just"/>
            <a:endParaRPr lang="en-IN" dirty="0"/>
          </a:p>
          <a:p>
            <a:pPr algn="just"/>
            <a:r>
              <a:rPr lang="en-IN" b="1" dirty="0"/>
              <a:t>int length()</a:t>
            </a:r>
          </a:p>
          <a:p>
            <a:pPr algn="just"/>
            <a:r>
              <a:rPr lang="en-IN" dirty="0"/>
              <a:t>	int </a:t>
            </a:r>
            <a:r>
              <a:rPr lang="en-IN" dirty="0" err="1"/>
              <a:t>len</a:t>
            </a:r>
            <a:r>
              <a:rPr lang="en-IN" dirty="0"/>
              <a:t>=str5.length(); // 9</a:t>
            </a:r>
          </a:p>
          <a:p>
            <a:pPr algn="just"/>
            <a:endParaRPr lang="en-IN" dirty="0"/>
          </a:p>
          <a:p>
            <a:pPr algn="just"/>
            <a:r>
              <a:rPr lang="en-IN" b="1" dirty="0"/>
              <a:t>boolean </a:t>
            </a:r>
            <a:r>
              <a:rPr lang="en-IN" b="1" dirty="0" err="1"/>
              <a:t>isEmpty</a:t>
            </a:r>
            <a:r>
              <a:rPr lang="en-IN" b="1" dirty="0"/>
              <a:t>()</a:t>
            </a:r>
          </a:p>
          <a:p>
            <a:pPr algn="just"/>
            <a:r>
              <a:rPr lang="en-IN" dirty="0"/>
              <a:t>	flag=str5.isEmpty(); // </a:t>
            </a:r>
            <a:r>
              <a:rPr lang="en-IN" dirty="0" err="1"/>
              <a:t>flase</a:t>
            </a:r>
            <a:endParaRPr lang="en-IN" dirty="0"/>
          </a:p>
          <a:p>
            <a:pPr algn="just"/>
            <a:r>
              <a:rPr lang="en-IN" dirty="0"/>
              <a:t>	true=str1.isEmpty(); // true</a:t>
            </a:r>
          </a:p>
        </p:txBody>
      </p:sp>
      <p:sp>
        <p:nvSpPr>
          <p:cNvPr id="7" name="Footer Placeholder 6">
            <a:extLst>
              <a:ext uri="{FF2B5EF4-FFF2-40B4-BE49-F238E27FC236}">
                <a16:creationId xmlns:a16="http://schemas.microsoft.com/office/drawing/2014/main" xmlns="" id="{F8671368-FE32-C95A-5814-9B605A8E1D63}"/>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2728576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FFC130B7-20C8-FD02-33B8-A58BF58E9E9D}"/>
              </a:ext>
            </a:extLst>
          </p:cNvPr>
          <p:cNvSpPr txBox="1"/>
          <p:nvPr/>
        </p:nvSpPr>
        <p:spPr>
          <a:xfrm>
            <a:off x="826952" y="918406"/>
            <a:ext cx="8233956" cy="4247317"/>
          </a:xfrm>
          <a:prstGeom prst="rect">
            <a:avLst/>
          </a:prstGeom>
          <a:noFill/>
        </p:spPr>
        <p:txBody>
          <a:bodyPr wrap="square">
            <a:spAutoFit/>
          </a:bodyPr>
          <a:lstStyle/>
          <a:p>
            <a:pPr algn="just"/>
            <a:r>
              <a:rPr lang="en-IN" b="1" dirty="0"/>
              <a:t>String </a:t>
            </a:r>
            <a:r>
              <a:rPr lang="en-IN" b="1" dirty="0" err="1"/>
              <a:t>concat</a:t>
            </a:r>
            <a:r>
              <a:rPr lang="en-IN" b="1" dirty="0"/>
              <a:t>(String </a:t>
            </a:r>
            <a:r>
              <a:rPr lang="en-IN" b="1" dirty="0" err="1"/>
              <a:t>anotherStr</a:t>
            </a:r>
            <a:r>
              <a:rPr lang="en-IN" b="1" dirty="0"/>
              <a:t>)</a:t>
            </a:r>
          </a:p>
          <a:p>
            <a:pPr algn="just"/>
            <a:r>
              <a:rPr lang="en-IN" dirty="0"/>
              <a:t>	String str6=str5.concat(" Informatics"); // "ActiveNET Informatics“</a:t>
            </a:r>
          </a:p>
          <a:p>
            <a:pPr algn="just"/>
            <a:endParaRPr lang="en-IN" dirty="0"/>
          </a:p>
          <a:p>
            <a:pPr algn="just"/>
            <a:r>
              <a:rPr lang="en-IN" b="1" dirty="0"/>
              <a:t>boolean matches(String </a:t>
            </a:r>
            <a:r>
              <a:rPr lang="en-IN" b="1" dirty="0" err="1"/>
              <a:t>regExpr</a:t>
            </a:r>
            <a:r>
              <a:rPr lang="en-IN" b="1" dirty="0"/>
              <a:t>)</a:t>
            </a:r>
          </a:p>
          <a:p>
            <a:pPr algn="just"/>
            <a:r>
              <a:rPr lang="en-IN" dirty="0"/>
              <a:t>	String str="Habib";</a:t>
            </a:r>
          </a:p>
          <a:p>
            <a:pPr algn="just"/>
            <a:r>
              <a:rPr lang="en-IN" dirty="0"/>
              <a:t>	flag=</a:t>
            </a:r>
            <a:r>
              <a:rPr lang="en-IN" dirty="0" err="1"/>
              <a:t>str.matches</a:t>
            </a:r>
            <a:r>
              <a:rPr lang="en-IN" dirty="0"/>
              <a:t>("\d"); // false</a:t>
            </a:r>
          </a:p>
          <a:p>
            <a:pPr algn="just"/>
            <a:r>
              <a:rPr lang="en-IN" dirty="0"/>
              <a:t>	str="Hab12ib45";</a:t>
            </a:r>
          </a:p>
          <a:p>
            <a:pPr algn="just"/>
            <a:r>
              <a:rPr lang="en-IN" dirty="0"/>
              <a:t>	true=</a:t>
            </a:r>
            <a:r>
              <a:rPr lang="en-IN" dirty="0" err="1"/>
              <a:t>str.matches</a:t>
            </a:r>
            <a:r>
              <a:rPr lang="en-IN" dirty="0"/>
              <a:t>("\d"); // false</a:t>
            </a:r>
          </a:p>
          <a:p>
            <a:pPr algn="just"/>
            <a:r>
              <a:rPr lang="en-IN" dirty="0"/>
              <a:t>	true=</a:t>
            </a:r>
            <a:r>
              <a:rPr lang="en-IN" dirty="0" err="1"/>
              <a:t>str.matches</a:t>
            </a:r>
            <a:r>
              <a:rPr lang="en-IN" dirty="0"/>
              <a:t>("[</a:t>
            </a:r>
            <a:r>
              <a:rPr lang="en-IN" dirty="0" err="1"/>
              <a:t>abcABC</a:t>
            </a:r>
            <a:r>
              <a:rPr lang="en-IN" dirty="0"/>
              <a:t>]");</a:t>
            </a:r>
          </a:p>
          <a:p>
            <a:pPr algn="just"/>
            <a:r>
              <a:rPr lang="en-IN" dirty="0"/>
              <a:t>	str="Habib";</a:t>
            </a:r>
          </a:p>
          <a:p>
            <a:pPr algn="just"/>
            <a:r>
              <a:rPr lang="en-IN" dirty="0"/>
              <a:t>	true=</a:t>
            </a:r>
            <a:r>
              <a:rPr lang="en-IN" dirty="0" err="1"/>
              <a:t>str.matches</a:t>
            </a:r>
            <a:r>
              <a:rPr lang="en-IN" dirty="0"/>
              <a:t>("b{2}"); // ‘b’ exactly 2 </a:t>
            </a:r>
            <a:r>
              <a:rPr lang="en-IN" dirty="0" err="1"/>
              <a:t>occurances</a:t>
            </a:r>
            <a:endParaRPr lang="en-IN" dirty="0"/>
          </a:p>
          <a:p>
            <a:pPr algn="just"/>
            <a:r>
              <a:rPr lang="en-IN" dirty="0"/>
              <a:t>	true=</a:t>
            </a:r>
            <a:r>
              <a:rPr lang="en-IN" dirty="0" err="1"/>
              <a:t>str.matches</a:t>
            </a:r>
            <a:r>
              <a:rPr lang="en-IN" dirty="0"/>
              <a:t>("b{2,3}"); // ‘b’ min 2, max 3 </a:t>
            </a:r>
            <a:r>
              <a:rPr lang="en-IN" dirty="0" err="1"/>
              <a:t>occurances</a:t>
            </a:r>
            <a:endParaRPr lang="en-IN" dirty="0"/>
          </a:p>
          <a:p>
            <a:pPr algn="just"/>
            <a:r>
              <a:rPr lang="en-IN" dirty="0"/>
              <a:t>	true=</a:t>
            </a:r>
            <a:r>
              <a:rPr lang="en-IN" dirty="0" err="1"/>
              <a:t>str.matches</a:t>
            </a:r>
            <a:r>
              <a:rPr lang="en-IN" dirty="0"/>
              <a:t>("b{2,}"); // ‘b’ min 2 or more </a:t>
            </a:r>
            <a:r>
              <a:rPr lang="en-IN" dirty="0" err="1"/>
              <a:t>occurances</a:t>
            </a:r>
            <a:endParaRPr lang="en-IN" dirty="0"/>
          </a:p>
          <a:p>
            <a:pPr algn="just"/>
            <a:r>
              <a:rPr lang="en-IN" dirty="0"/>
              <a:t>	true=</a:t>
            </a:r>
            <a:r>
              <a:rPr lang="en-IN" dirty="0" err="1"/>
              <a:t>str.matches</a:t>
            </a:r>
            <a:r>
              <a:rPr lang="en-IN" dirty="0"/>
              <a:t>("b$"); // ends with</a:t>
            </a:r>
          </a:p>
          <a:p>
            <a:pPr algn="just"/>
            <a:r>
              <a:rPr lang="en-IN" dirty="0"/>
              <a:t>	false=</a:t>
            </a:r>
            <a:r>
              <a:rPr lang="en-IN" dirty="0" err="1"/>
              <a:t>str.matches</a:t>
            </a:r>
            <a:r>
              <a:rPr lang="en-IN" dirty="0"/>
              <a:t>("^b"); // begins with</a:t>
            </a:r>
          </a:p>
        </p:txBody>
      </p:sp>
      <p:sp>
        <p:nvSpPr>
          <p:cNvPr id="7" name="Footer Placeholder 6">
            <a:extLst>
              <a:ext uri="{FF2B5EF4-FFF2-40B4-BE49-F238E27FC236}">
                <a16:creationId xmlns:a16="http://schemas.microsoft.com/office/drawing/2014/main" xmlns="" id="{082EEE17-CC80-DB9B-0D8D-177744D52778}"/>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1437882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FFC130B7-20C8-FD02-33B8-A58BF58E9E9D}"/>
              </a:ext>
            </a:extLst>
          </p:cNvPr>
          <p:cNvSpPr txBox="1"/>
          <p:nvPr/>
        </p:nvSpPr>
        <p:spPr>
          <a:xfrm>
            <a:off x="826952" y="918406"/>
            <a:ext cx="8233956" cy="4247317"/>
          </a:xfrm>
          <a:prstGeom prst="rect">
            <a:avLst/>
          </a:prstGeom>
          <a:noFill/>
        </p:spPr>
        <p:txBody>
          <a:bodyPr wrap="square">
            <a:spAutoFit/>
          </a:bodyPr>
          <a:lstStyle/>
          <a:p>
            <a:pPr algn="just"/>
            <a:r>
              <a:rPr lang="en-US" b="1" dirty="0"/>
              <a:t>boolean </a:t>
            </a:r>
            <a:r>
              <a:rPr lang="en-US" b="1" dirty="0" err="1"/>
              <a:t>regionMatches</a:t>
            </a:r>
            <a:r>
              <a:rPr lang="en-US" b="1" dirty="0"/>
              <a:t>(int </a:t>
            </a:r>
            <a:r>
              <a:rPr lang="en-US" b="1" dirty="0" err="1"/>
              <a:t>toOffset</a:t>
            </a:r>
            <a:r>
              <a:rPr lang="en-US" b="1" dirty="0"/>
              <a:t>, String </a:t>
            </a:r>
            <a:r>
              <a:rPr lang="en-US" b="1" dirty="0" err="1"/>
              <a:t>otherStr</a:t>
            </a:r>
            <a:r>
              <a:rPr lang="en-US" b="1" dirty="0"/>
              <a:t>, int </a:t>
            </a:r>
            <a:r>
              <a:rPr lang="en-US" b="1" dirty="0" err="1"/>
              <a:t>destOffset</a:t>
            </a:r>
            <a:r>
              <a:rPr lang="en-US" b="1" dirty="0"/>
              <a:t>, int </a:t>
            </a:r>
            <a:r>
              <a:rPr lang="en-US" b="1" dirty="0" err="1"/>
              <a:t>len</a:t>
            </a:r>
            <a:r>
              <a:rPr lang="en-US" b="1" dirty="0"/>
              <a:t>)</a:t>
            </a:r>
            <a:r>
              <a:rPr lang="en-US" dirty="0"/>
              <a:t> - part of source str compared with another part another String</a:t>
            </a:r>
          </a:p>
          <a:p>
            <a:pPr algn="just"/>
            <a:r>
              <a:rPr lang="en-US" dirty="0"/>
              <a:t>	str2="Are you having Idea Number";</a:t>
            </a:r>
          </a:p>
          <a:p>
            <a:pPr algn="just"/>
            <a:r>
              <a:rPr lang="en-US" dirty="0"/>
              <a:t>	str3="Yes </a:t>
            </a:r>
            <a:r>
              <a:rPr lang="en-US" dirty="0" err="1"/>
              <a:t>I’am</a:t>
            </a:r>
            <a:r>
              <a:rPr lang="en-US" dirty="0"/>
              <a:t> having Idea Number";</a:t>
            </a:r>
          </a:p>
          <a:p>
            <a:pPr algn="just"/>
            <a:r>
              <a:rPr lang="en-US" dirty="0"/>
              <a:t>	true=str2.regionMatches(15, str3, 15, 4); // </a:t>
            </a:r>
            <a:r>
              <a:rPr lang="en-US" dirty="0" err="1"/>
              <a:t>tooffset</a:t>
            </a:r>
            <a:r>
              <a:rPr lang="en-US" dirty="0"/>
              <a:t>, other, </a:t>
            </a:r>
            <a:r>
              <a:rPr lang="en-US" dirty="0" err="1"/>
              <a:t>ooffset</a:t>
            </a:r>
            <a:r>
              <a:rPr lang="en-US" dirty="0"/>
              <a:t>, </a:t>
            </a:r>
            <a:r>
              <a:rPr lang="en-US" dirty="0" err="1"/>
              <a:t>len</a:t>
            </a:r>
            <a:endParaRPr lang="en-US" dirty="0"/>
          </a:p>
          <a:p>
            <a:pPr algn="just"/>
            <a:endParaRPr lang="en-US" dirty="0"/>
          </a:p>
          <a:p>
            <a:pPr algn="just"/>
            <a:r>
              <a:rPr lang="en-US" b="1" dirty="0"/>
              <a:t>String[] split(String </a:t>
            </a:r>
            <a:r>
              <a:rPr lang="en-US" b="1" dirty="0" err="1"/>
              <a:t>regExpr</a:t>
            </a:r>
            <a:r>
              <a:rPr lang="en-US" b="1" dirty="0"/>
              <a:t>)</a:t>
            </a:r>
            <a:r>
              <a:rPr lang="en-US" dirty="0"/>
              <a:t> - </a:t>
            </a:r>
            <a:r>
              <a:rPr lang="en-US" dirty="0" err="1"/>
              <a:t>regExpr</a:t>
            </a:r>
            <a:r>
              <a:rPr lang="en-US" dirty="0"/>
              <a:t> matched Strings will be returned</a:t>
            </a:r>
          </a:p>
          <a:p>
            <a:pPr algn="just"/>
            <a:r>
              <a:rPr lang="en-US" dirty="0"/>
              <a:t>	str4="Are you having Idea Number";</a:t>
            </a:r>
          </a:p>
          <a:p>
            <a:pPr algn="just"/>
            <a:r>
              <a:rPr lang="en-US" dirty="0"/>
              <a:t>	String str5[]=str4.split("");</a:t>
            </a:r>
          </a:p>
          <a:p>
            <a:pPr algn="just"/>
            <a:r>
              <a:rPr lang="en-US" dirty="0"/>
              <a:t>	String str6[]=str4.split("\s"); </a:t>
            </a:r>
          </a:p>
          <a:p>
            <a:pPr algn="just"/>
            <a:endParaRPr lang="en-IN" dirty="0"/>
          </a:p>
          <a:p>
            <a:pPr algn="just"/>
            <a:r>
              <a:rPr lang="en-US" b="1" dirty="0"/>
              <a:t>substring(int </a:t>
            </a:r>
            <a:r>
              <a:rPr lang="en-US" b="1" dirty="0" err="1"/>
              <a:t>srcIndex</a:t>
            </a:r>
            <a:r>
              <a:rPr lang="en-US" b="1" dirty="0"/>
              <a:t>, int </a:t>
            </a:r>
            <a:r>
              <a:rPr lang="en-US" b="1" dirty="0" err="1"/>
              <a:t>destIndex</a:t>
            </a:r>
            <a:r>
              <a:rPr lang="en-US" b="1" dirty="0"/>
              <a:t>)</a:t>
            </a:r>
            <a:r>
              <a:rPr lang="en-US" dirty="0"/>
              <a:t> - part of the String will returned, destIndex-1; </a:t>
            </a:r>
            <a:r>
              <a:rPr lang="en-US" dirty="0" err="1"/>
              <a:t>destIndex</a:t>
            </a:r>
            <a:r>
              <a:rPr lang="en-US" dirty="0"/>
              <a:t> is exclusive</a:t>
            </a:r>
          </a:p>
          <a:p>
            <a:pPr algn="just"/>
            <a:r>
              <a:rPr lang="en-US" dirty="0"/>
              <a:t>	str7="Are you having Idea Number";</a:t>
            </a:r>
          </a:p>
          <a:p>
            <a:pPr algn="just"/>
            <a:r>
              <a:rPr lang="en-US" dirty="0"/>
              <a:t>	String str8=str7.substring(10, 14); // "</a:t>
            </a:r>
            <a:r>
              <a:rPr lang="en-US" dirty="0" err="1"/>
              <a:t>ving</a:t>
            </a:r>
            <a:r>
              <a:rPr lang="en-US" dirty="0"/>
              <a:t>"</a:t>
            </a:r>
            <a:endParaRPr lang="en-IN" dirty="0"/>
          </a:p>
        </p:txBody>
      </p:sp>
      <p:sp>
        <p:nvSpPr>
          <p:cNvPr id="8" name="TextBox 7">
            <a:extLst>
              <a:ext uri="{FF2B5EF4-FFF2-40B4-BE49-F238E27FC236}">
                <a16:creationId xmlns:a16="http://schemas.microsoft.com/office/drawing/2014/main" xmlns="" id="{AF3DF938-04D6-C1C8-B081-4916C143284A}"/>
              </a:ext>
            </a:extLst>
          </p:cNvPr>
          <p:cNvSpPr txBox="1"/>
          <p:nvPr/>
        </p:nvSpPr>
        <p:spPr>
          <a:xfrm>
            <a:off x="4475039" y="3355749"/>
            <a:ext cx="6138582" cy="584775"/>
          </a:xfrm>
          <a:prstGeom prst="rect">
            <a:avLst/>
          </a:prstGeom>
          <a:noFill/>
        </p:spPr>
        <p:txBody>
          <a:bodyPr wrap="square">
            <a:spAutoFit/>
          </a:bodyPr>
          <a:lstStyle/>
          <a:p>
            <a:pPr algn="just"/>
            <a:r>
              <a:rPr lang="en-US" sz="1600" dirty="0"/>
              <a:t>// \s stands for white space character includes space, tab, carriage return, a line feed, a form feed</a:t>
            </a:r>
          </a:p>
        </p:txBody>
      </p:sp>
      <p:sp>
        <p:nvSpPr>
          <p:cNvPr id="7" name="Footer Placeholder 6">
            <a:extLst>
              <a:ext uri="{FF2B5EF4-FFF2-40B4-BE49-F238E27FC236}">
                <a16:creationId xmlns:a16="http://schemas.microsoft.com/office/drawing/2014/main" xmlns="" id="{DBA5A368-914E-9FC0-1CFB-BC988F1D3F82}"/>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108786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FFC130B7-20C8-FD02-33B8-A58BF58E9E9D}"/>
              </a:ext>
            </a:extLst>
          </p:cNvPr>
          <p:cNvSpPr txBox="1"/>
          <p:nvPr/>
        </p:nvSpPr>
        <p:spPr>
          <a:xfrm>
            <a:off x="826952" y="918406"/>
            <a:ext cx="8233956" cy="2585323"/>
          </a:xfrm>
          <a:prstGeom prst="rect">
            <a:avLst/>
          </a:prstGeom>
          <a:noFill/>
        </p:spPr>
        <p:txBody>
          <a:bodyPr wrap="square">
            <a:spAutoFit/>
          </a:bodyPr>
          <a:lstStyle/>
          <a:p>
            <a:pPr algn="just"/>
            <a:r>
              <a:rPr lang="en-US" b="1" dirty="0"/>
              <a:t>String </a:t>
            </a:r>
            <a:r>
              <a:rPr lang="en-US" b="1" dirty="0" err="1"/>
              <a:t>toLowerCase</a:t>
            </a:r>
            <a:r>
              <a:rPr lang="en-US" b="1" dirty="0"/>
              <a:t>() </a:t>
            </a:r>
            <a:r>
              <a:rPr lang="en-US" dirty="0"/>
              <a:t>- converts all chars to lowercase</a:t>
            </a:r>
          </a:p>
          <a:p>
            <a:pPr algn="just"/>
            <a:r>
              <a:rPr lang="en-US" dirty="0"/>
              <a:t>	String str9=str5.toLowerCase();</a:t>
            </a:r>
          </a:p>
          <a:p>
            <a:pPr algn="just"/>
            <a:r>
              <a:rPr lang="en-US" dirty="0"/>
              <a:t>	"</a:t>
            </a:r>
            <a:r>
              <a:rPr lang="en-US" dirty="0" err="1"/>
              <a:t>activenet</a:t>
            </a:r>
            <a:r>
              <a:rPr lang="en-US" dirty="0"/>
              <a:t>"</a:t>
            </a:r>
          </a:p>
          <a:p>
            <a:pPr algn="just"/>
            <a:r>
              <a:rPr lang="en-US" b="1" dirty="0"/>
              <a:t>String </a:t>
            </a:r>
            <a:r>
              <a:rPr lang="en-US" b="1" dirty="0" err="1"/>
              <a:t>toUpperCase</a:t>
            </a:r>
            <a:r>
              <a:rPr lang="en-US" b="1" dirty="0"/>
              <a:t>() </a:t>
            </a:r>
            <a:r>
              <a:rPr lang="en-US" dirty="0"/>
              <a:t>- converts all chars to UPPERCASE</a:t>
            </a:r>
          </a:p>
          <a:p>
            <a:pPr algn="just"/>
            <a:r>
              <a:rPr lang="en-US" dirty="0"/>
              <a:t>	String str10=str5.toUpperCase();</a:t>
            </a:r>
          </a:p>
          <a:p>
            <a:pPr algn="just"/>
            <a:r>
              <a:rPr lang="en-US" dirty="0"/>
              <a:t>	" ACTIVENET"</a:t>
            </a:r>
          </a:p>
          <a:p>
            <a:pPr algn="just"/>
            <a:endParaRPr lang="en-US" dirty="0"/>
          </a:p>
          <a:p>
            <a:pPr algn="just"/>
            <a:r>
              <a:rPr lang="en-US" b="1" dirty="0"/>
              <a:t>String trim() </a:t>
            </a:r>
            <a:r>
              <a:rPr lang="en-US" dirty="0"/>
              <a:t>- remove leading and trailing spaces means spaces exist before and after String.</a:t>
            </a:r>
            <a:endParaRPr lang="en-IN" dirty="0"/>
          </a:p>
        </p:txBody>
      </p:sp>
      <p:sp>
        <p:nvSpPr>
          <p:cNvPr id="7" name="Footer Placeholder 6">
            <a:extLst>
              <a:ext uri="{FF2B5EF4-FFF2-40B4-BE49-F238E27FC236}">
                <a16:creationId xmlns:a16="http://schemas.microsoft.com/office/drawing/2014/main" xmlns="" id="{7066E2C3-8E22-BD06-2FBD-97F28851AB42}"/>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2147629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7" name="TextBox 6">
            <a:extLst>
              <a:ext uri="{FF2B5EF4-FFF2-40B4-BE49-F238E27FC236}">
                <a16:creationId xmlns:a16="http://schemas.microsoft.com/office/drawing/2014/main" xmlns="" id="{CF35F115-8A4C-2863-7B94-A1A87A0BDDAB}"/>
              </a:ext>
            </a:extLst>
          </p:cNvPr>
          <p:cNvSpPr txBox="1"/>
          <p:nvPr/>
        </p:nvSpPr>
        <p:spPr>
          <a:xfrm>
            <a:off x="777305" y="1444413"/>
            <a:ext cx="8404865" cy="3139321"/>
          </a:xfrm>
          <a:prstGeom prst="rect">
            <a:avLst/>
          </a:prstGeom>
          <a:noFill/>
        </p:spPr>
        <p:txBody>
          <a:bodyPr wrap="none" rtlCol="0">
            <a:spAutoFit/>
          </a:bodyPr>
          <a:lstStyle/>
          <a:p>
            <a:pPr algn="just"/>
            <a:r>
              <a:rPr lang="en-US" sz="6600" b="1" dirty="0">
                <a:solidFill>
                  <a:srgbClr val="0000FF"/>
                </a:solidFill>
                <a:latin typeface="Arial" panose="020B0604020202020204" pitchFamily="34" charset="0"/>
                <a:cs typeface="Arial" panose="020B0604020202020204" pitchFamily="34" charset="0"/>
              </a:rPr>
              <a:t>String,</a:t>
            </a:r>
          </a:p>
          <a:p>
            <a:pPr algn="just"/>
            <a:r>
              <a:rPr lang="en-US" sz="6600" b="1" dirty="0">
                <a:solidFill>
                  <a:srgbClr val="0000FF"/>
                </a:solidFill>
                <a:latin typeface="Arial" panose="020B0604020202020204" pitchFamily="34" charset="0"/>
                <a:cs typeface="Arial" panose="020B0604020202020204" pitchFamily="34" charset="0"/>
              </a:rPr>
              <a:t>StringBuffer, </a:t>
            </a:r>
          </a:p>
          <a:p>
            <a:pPr algn="just"/>
            <a:r>
              <a:rPr lang="en-US" sz="6600" b="1" dirty="0">
                <a:solidFill>
                  <a:srgbClr val="0000FF"/>
                </a:solidFill>
                <a:latin typeface="Arial" panose="020B0604020202020204" pitchFamily="34" charset="0"/>
                <a:cs typeface="Arial" panose="020B0604020202020204" pitchFamily="34" charset="0"/>
              </a:rPr>
              <a:t>StringBuilder </a:t>
            </a:r>
            <a:r>
              <a:rPr lang="en-US" sz="2800" b="1" dirty="0">
                <a:solidFill>
                  <a:srgbClr val="0000FF"/>
                </a:solidFill>
                <a:latin typeface="Arial" panose="020B0604020202020204" pitchFamily="34" charset="0"/>
                <a:cs typeface="Arial" panose="020B0604020202020204" pitchFamily="34" charset="0"/>
              </a:rPr>
              <a:t>classes in Java</a:t>
            </a:r>
            <a:endParaRPr lang="en-US" sz="6600" b="1" dirty="0">
              <a:solidFill>
                <a:srgbClr val="0000FF"/>
              </a:solidFill>
              <a:latin typeface="Arial" panose="020B0604020202020204" pitchFamily="34" charset="0"/>
              <a:cs typeface="Arial" panose="020B0604020202020204" pitchFamily="34" charset="0"/>
            </a:endParaRPr>
          </a:p>
        </p:txBody>
      </p:sp>
      <p:sp>
        <p:nvSpPr>
          <p:cNvPr id="8" name="Rectangle: Rounded Corners 7">
            <a:extLst>
              <a:ext uri="{FF2B5EF4-FFF2-40B4-BE49-F238E27FC236}">
                <a16:creationId xmlns:a16="http://schemas.microsoft.com/office/drawing/2014/main" xmlns="" id="{FDEA5A86-107D-39C7-00EF-FFF797D83737}"/>
              </a:ext>
            </a:extLst>
          </p:cNvPr>
          <p:cNvSpPr/>
          <p:nvPr/>
        </p:nvSpPr>
        <p:spPr>
          <a:xfrm>
            <a:off x="3173506" y="5069541"/>
            <a:ext cx="3173506" cy="10085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60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Part - II</a:t>
            </a:r>
            <a:endParaRPr lang="en-IN" b="1" dirty="0"/>
          </a:p>
        </p:txBody>
      </p:sp>
      <p:sp>
        <p:nvSpPr>
          <p:cNvPr id="9" name="Footer Placeholder 8">
            <a:extLst>
              <a:ext uri="{FF2B5EF4-FFF2-40B4-BE49-F238E27FC236}">
                <a16:creationId xmlns:a16="http://schemas.microsoft.com/office/drawing/2014/main" xmlns="" id="{D1D06C71-3666-E611-E6BA-4A74F1E2C54D}"/>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3447983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FFC130B7-20C8-FD02-33B8-A58BF58E9E9D}"/>
              </a:ext>
            </a:extLst>
          </p:cNvPr>
          <p:cNvSpPr txBox="1"/>
          <p:nvPr/>
        </p:nvSpPr>
        <p:spPr>
          <a:xfrm>
            <a:off x="826952" y="918406"/>
            <a:ext cx="8233956" cy="3693319"/>
          </a:xfrm>
          <a:prstGeom prst="rect">
            <a:avLst/>
          </a:prstGeom>
          <a:noFill/>
        </p:spPr>
        <p:txBody>
          <a:bodyPr wrap="square">
            <a:spAutoFit/>
          </a:bodyPr>
          <a:lstStyle/>
          <a:p>
            <a:pPr algn="just"/>
            <a:r>
              <a:rPr lang="en-US" b="1" dirty="0"/>
              <a:t>static String </a:t>
            </a:r>
            <a:r>
              <a:rPr lang="en-US" b="1" dirty="0" err="1"/>
              <a:t>valueOf</a:t>
            </a:r>
            <a:r>
              <a:rPr lang="en-US" b="1" dirty="0"/>
              <a:t>(boolean b)</a:t>
            </a:r>
          </a:p>
          <a:p>
            <a:pPr algn="just"/>
            <a:r>
              <a:rPr lang="en-US" b="1" dirty="0"/>
              <a:t>static String </a:t>
            </a:r>
            <a:r>
              <a:rPr lang="en-US" b="1" dirty="0" err="1"/>
              <a:t>valueOf</a:t>
            </a:r>
            <a:r>
              <a:rPr lang="en-US" b="1" dirty="0"/>
              <a:t>(char </a:t>
            </a:r>
            <a:r>
              <a:rPr lang="en-US" b="1" dirty="0" err="1"/>
              <a:t>ch</a:t>
            </a:r>
            <a:r>
              <a:rPr lang="en-US" b="1" dirty="0"/>
              <a:t>)</a:t>
            </a:r>
          </a:p>
          <a:p>
            <a:pPr algn="just"/>
            <a:r>
              <a:rPr lang="en-US" b="1" dirty="0"/>
              <a:t>static String </a:t>
            </a:r>
            <a:r>
              <a:rPr lang="en-US" b="1" dirty="0" err="1"/>
              <a:t>valueOf</a:t>
            </a:r>
            <a:r>
              <a:rPr lang="en-US" b="1" dirty="0"/>
              <a:t>(char[] </a:t>
            </a:r>
            <a:r>
              <a:rPr lang="en-US" b="1" dirty="0" err="1"/>
              <a:t>ch</a:t>
            </a:r>
            <a:r>
              <a:rPr lang="en-US" b="1" dirty="0"/>
              <a:t>)</a:t>
            </a:r>
          </a:p>
          <a:p>
            <a:pPr algn="just"/>
            <a:r>
              <a:rPr lang="en-US" b="1" dirty="0"/>
              <a:t>static String </a:t>
            </a:r>
            <a:r>
              <a:rPr lang="en-US" b="1" dirty="0" err="1"/>
              <a:t>valueOf</a:t>
            </a:r>
            <a:r>
              <a:rPr lang="en-US" b="1" dirty="0"/>
              <a:t>(double d)</a:t>
            </a:r>
          </a:p>
          <a:p>
            <a:pPr algn="just"/>
            <a:r>
              <a:rPr lang="en-US" b="1" dirty="0"/>
              <a:t>static String </a:t>
            </a:r>
            <a:r>
              <a:rPr lang="en-US" b="1" dirty="0" err="1"/>
              <a:t>valueOf</a:t>
            </a:r>
            <a:r>
              <a:rPr lang="en-US" b="1" dirty="0"/>
              <a:t>(float f)</a:t>
            </a:r>
          </a:p>
          <a:p>
            <a:pPr algn="just"/>
            <a:r>
              <a:rPr lang="en-US" b="1" dirty="0"/>
              <a:t>static String </a:t>
            </a:r>
            <a:r>
              <a:rPr lang="en-US" b="1" dirty="0" err="1"/>
              <a:t>valueOf</a:t>
            </a:r>
            <a:r>
              <a:rPr lang="en-US" b="1" dirty="0"/>
              <a:t>(int </a:t>
            </a:r>
            <a:r>
              <a:rPr lang="en-US" b="1" dirty="0" err="1"/>
              <a:t>i</a:t>
            </a:r>
            <a:r>
              <a:rPr lang="en-US" b="1" dirty="0"/>
              <a:t>)</a:t>
            </a:r>
          </a:p>
          <a:p>
            <a:pPr algn="just"/>
            <a:r>
              <a:rPr lang="en-US" b="1" dirty="0"/>
              <a:t>static String </a:t>
            </a:r>
            <a:r>
              <a:rPr lang="en-US" b="1" dirty="0" err="1"/>
              <a:t>valueOf</a:t>
            </a:r>
            <a:r>
              <a:rPr lang="en-US" b="1" dirty="0"/>
              <a:t>(long l)</a:t>
            </a:r>
          </a:p>
          <a:p>
            <a:pPr algn="just"/>
            <a:r>
              <a:rPr lang="en-US" b="1" dirty="0"/>
              <a:t>static String </a:t>
            </a:r>
            <a:r>
              <a:rPr lang="en-US" b="1" dirty="0" err="1"/>
              <a:t>valueOf</a:t>
            </a:r>
            <a:r>
              <a:rPr lang="en-US" b="1" dirty="0"/>
              <a:t>(Object o)</a:t>
            </a:r>
          </a:p>
          <a:p>
            <a:pPr algn="just"/>
            <a:r>
              <a:rPr lang="en-US" dirty="0"/>
              <a:t>	In how many ways we can convert int to String</a:t>
            </a:r>
          </a:p>
          <a:p>
            <a:pPr algn="just"/>
            <a:r>
              <a:rPr lang="en-US" dirty="0"/>
              <a:t>	int i1=10;</a:t>
            </a:r>
          </a:p>
          <a:p>
            <a:pPr algn="just"/>
            <a:r>
              <a:rPr lang="en-US" dirty="0"/>
              <a:t>	String str8=i1+"";</a:t>
            </a:r>
          </a:p>
          <a:p>
            <a:pPr algn="just"/>
            <a:r>
              <a:rPr lang="en-US" dirty="0"/>
              <a:t>	String str9=new Integer(i1).</a:t>
            </a:r>
            <a:r>
              <a:rPr lang="en-US" dirty="0" err="1"/>
              <a:t>toString</a:t>
            </a:r>
            <a:r>
              <a:rPr lang="en-US" dirty="0"/>
              <a:t>();</a:t>
            </a:r>
          </a:p>
          <a:p>
            <a:pPr algn="just"/>
            <a:r>
              <a:rPr lang="en-US" dirty="0"/>
              <a:t>	String str10=</a:t>
            </a:r>
            <a:r>
              <a:rPr lang="en-US" dirty="0" err="1"/>
              <a:t>String.valueOf</a:t>
            </a:r>
            <a:r>
              <a:rPr lang="en-US" dirty="0"/>
              <a:t>(i1);</a:t>
            </a:r>
            <a:endParaRPr lang="en-IN" dirty="0"/>
          </a:p>
        </p:txBody>
      </p:sp>
      <p:sp>
        <p:nvSpPr>
          <p:cNvPr id="19" name="TextBox 18">
            <a:extLst>
              <a:ext uri="{FF2B5EF4-FFF2-40B4-BE49-F238E27FC236}">
                <a16:creationId xmlns:a16="http://schemas.microsoft.com/office/drawing/2014/main" xmlns="" id="{7261929F-DB17-B895-1DB8-3BBBD22C27AA}"/>
              </a:ext>
            </a:extLst>
          </p:cNvPr>
          <p:cNvSpPr txBox="1"/>
          <p:nvPr/>
        </p:nvSpPr>
        <p:spPr>
          <a:xfrm>
            <a:off x="820922" y="4611725"/>
            <a:ext cx="6138582" cy="1754326"/>
          </a:xfrm>
          <a:prstGeom prst="rect">
            <a:avLst/>
          </a:prstGeom>
          <a:noFill/>
        </p:spPr>
        <p:txBody>
          <a:bodyPr wrap="square">
            <a:spAutoFit/>
          </a:bodyPr>
          <a:lstStyle/>
          <a:p>
            <a:r>
              <a:rPr lang="en-IN" b="1" dirty="0"/>
              <a:t>boolean equals(Object o)</a:t>
            </a:r>
          </a:p>
          <a:p>
            <a:r>
              <a:rPr lang="en-IN" dirty="0"/>
              <a:t>	String str6=new String("</a:t>
            </a:r>
            <a:r>
              <a:rPr lang="en-IN" dirty="0" err="1"/>
              <a:t>Saketh</a:t>
            </a:r>
            <a:r>
              <a:rPr lang="en-IN" dirty="0"/>
              <a:t>");</a:t>
            </a:r>
          </a:p>
          <a:p>
            <a:r>
              <a:rPr lang="en-IN" dirty="0"/>
              <a:t>	false=str6.equals("</a:t>
            </a:r>
            <a:r>
              <a:rPr lang="en-IN" dirty="0" err="1"/>
              <a:t>saketh</a:t>
            </a:r>
            <a:r>
              <a:rPr lang="en-IN" dirty="0"/>
              <a:t>");</a:t>
            </a:r>
          </a:p>
          <a:p>
            <a:r>
              <a:rPr lang="en-IN" dirty="0"/>
              <a:t>	</a:t>
            </a:r>
          </a:p>
          <a:p>
            <a:r>
              <a:rPr lang="en-IN" b="1" dirty="0"/>
              <a:t>boolean </a:t>
            </a:r>
            <a:r>
              <a:rPr lang="en-IN" b="1" dirty="0" err="1"/>
              <a:t>equalsIgnoreCase</a:t>
            </a:r>
            <a:r>
              <a:rPr lang="en-IN" b="1" dirty="0"/>
              <a:t>(Object o)</a:t>
            </a:r>
          </a:p>
          <a:p>
            <a:r>
              <a:rPr lang="en-IN" dirty="0"/>
              <a:t>	true=str6.equalsIgnoreCase("</a:t>
            </a:r>
            <a:r>
              <a:rPr lang="en-IN" dirty="0" err="1"/>
              <a:t>saketh</a:t>
            </a:r>
            <a:r>
              <a:rPr lang="en-IN" dirty="0"/>
              <a:t>");</a:t>
            </a:r>
          </a:p>
        </p:txBody>
      </p:sp>
      <p:sp>
        <p:nvSpPr>
          <p:cNvPr id="7" name="Footer Placeholder 6">
            <a:extLst>
              <a:ext uri="{FF2B5EF4-FFF2-40B4-BE49-F238E27FC236}">
                <a16:creationId xmlns:a16="http://schemas.microsoft.com/office/drawing/2014/main" xmlns="" id="{0EEEEBF1-DBBF-6A9B-2061-51E87718FD69}"/>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1915889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FFC130B7-20C8-FD02-33B8-A58BF58E9E9D}"/>
              </a:ext>
            </a:extLst>
          </p:cNvPr>
          <p:cNvSpPr txBox="1"/>
          <p:nvPr/>
        </p:nvSpPr>
        <p:spPr>
          <a:xfrm>
            <a:off x="437030" y="1354534"/>
            <a:ext cx="8233956" cy="4247317"/>
          </a:xfrm>
          <a:prstGeom prst="rect">
            <a:avLst/>
          </a:prstGeom>
          <a:noFill/>
        </p:spPr>
        <p:txBody>
          <a:bodyPr wrap="square">
            <a:spAutoFit/>
          </a:bodyPr>
          <a:lstStyle/>
          <a:p>
            <a:pPr algn="just"/>
            <a:r>
              <a:rPr lang="en-US" b="1" dirty="0"/>
              <a:t>int </a:t>
            </a:r>
            <a:r>
              <a:rPr lang="en-US" b="1" dirty="0" err="1"/>
              <a:t>hashCode</a:t>
            </a:r>
            <a:r>
              <a:rPr lang="en-US" b="1" dirty="0"/>
              <a:t>()</a:t>
            </a:r>
          </a:p>
          <a:p>
            <a:pPr marL="285750" indent="-285750" algn="just">
              <a:buFont typeface="Arial" panose="020B0604020202020204" pitchFamily="34" charset="0"/>
              <a:buChar char="•"/>
            </a:pPr>
            <a:r>
              <a:rPr lang="en-US" dirty="0"/>
              <a:t>Hash functionality converts variable length String into fixed length integer.</a:t>
            </a:r>
          </a:p>
          <a:p>
            <a:pPr marL="285750" indent="-285750" algn="just">
              <a:buFont typeface="Arial" panose="020B0604020202020204" pitchFamily="34" charset="0"/>
              <a:buChar char="•"/>
            </a:pPr>
            <a:r>
              <a:rPr lang="en-US" dirty="0"/>
              <a:t>Two integers comparison is faster than two Strings comparison.</a:t>
            </a:r>
          </a:p>
          <a:p>
            <a:pPr marL="285750" indent="-285750" algn="just">
              <a:buFont typeface="Arial" panose="020B0604020202020204" pitchFamily="34" charset="0"/>
              <a:buChar char="•"/>
            </a:pPr>
            <a:r>
              <a:rPr lang="en-US" dirty="0"/>
              <a:t>To make String conversion faster.</a:t>
            </a:r>
          </a:p>
          <a:p>
            <a:pPr marL="285750" indent="-285750" algn="just">
              <a:buFont typeface="Arial" panose="020B0604020202020204" pitchFamily="34" charset="0"/>
              <a:buChar char="•"/>
            </a:pPr>
            <a:r>
              <a:rPr lang="en-US" dirty="0" err="1"/>
              <a:t>hashCode</a:t>
            </a:r>
            <a:r>
              <a:rPr lang="en-US" dirty="0"/>
              <a:t>() function is common in all Java classes</a:t>
            </a:r>
          </a:p>
          <a:p>
            <a:pPr marL="285750" indent="-285750" algn="just">
              <a:buFont typeface="Arial" panose="020B0604020202020204" pitchFamily="34" charset="0"/>
              <a:buChar char="•"/>
            </a:pPr>
            <a:r>
              <a:rPr lang="en-US" dirty="0"/>
              <a:t>Every java class must converts  its object state into hash code to make its two object comparison faster than equals() method.</a:t>
            </a:r>
          </a:p>
          <a:p>
            <a:pPr marL="285750" indent="-285750" algn="just">
              <a:buFont typeface="Arial" panose="020B0604020202020204" pitchFamily="34" charset="0"/>
              <a:buChar char="•"/>
            </a:pPr>
            <a:r>
              <a:rPr lang="en-US" dirty="0"/>
              <a:t>If equals() returns true on two objects of the same class their hash code values are also must be same.</a:t>
            </a:r>
          </a:p>
          <a:p>
            <a:pPr marL="285750" indent="-285750" algn="just">
              <a:buFont typeface="Arial" panose="020B0604020202020204" pitchFamily="34" charset="0"/>
              <a:buChar char="•"/>
            </a:pPr>
            <a:r>
              <a:rPr lang="en-US" dirty="0"/>
              <a:t>The easiest way to implement </a:t>
            </a:r>
            <a:r>
              <a:rPr lang="en-US" dirty="0" err="1"/>
              <a:t>hashCode</a:t>
            </a:r>
            <a:r>
              <a:rPr lang="en-US" dirty="0"/>
              <a:t>() method in every class is, </a:t>
            </a:r>
          </a:p>
          <a:p>
            <a:pPr marL="742950" lvl="1" indent="-285750" algn="just">
              <a:buFont typeface="Arial" panose="020B0604020202020204" pitchFamily="34" charset="0"/>
              <a:buChar char="•"/>
            </a:pPr>
            <a:r>
              <a:rPr lang="en-US" dirty="0"/>
              <a:t>first of all we must override </a:t>
            </a:r>
            <a:r>
              <a:rPr lang="en-US" dirty="0" err="1"/>
              <a:t>toString</a:t>
            </a:r>
            <a:r>
              <a:rPr lang="en-US" dirty="0"/>
              <a:t>() method in every class, convert its entire state a single String and return the String.</a:t>
            </a:r>
          </a:p>
          <a:p>
            <a:pPr marL="742950" lvl="1" indent="-285750" algn="just">
              <a:buFont typeface="Arial" panose="020B0604020202020204" pitchFamily="34" charset="0"/>
              <a:buChar char="•"/>
            </a:pPr>
            <a:r>
              <a:rPr lang="en-US" dirty="0"/>
              <a:t>in the </a:t>
            </a:r>
            <a:r>
              <a:rPr lang="en-US" dirty="0" err="1"/>
              <a:t>hashCode</a:t>
            </a:r>
            <a:r>
              <a:rPr lang="en-US" dirty="0"/>
              <a:t>() method call </a:t>
            </a:r>
            <a:r>
              <a:rPr lang="en-US" dirty="0" err="1"/>
              <a:t>this.toString</a:t>
            </a:r>
            <a:r>
              <a:rPr lang="en-US" dirty="0"/>
              <a:t>().</a:t>
            </a:r>
            <a:r>
              <a:rPr lang="en-US" dirty="0" err="1"/>
              <a:t>hashCode</a:t>
            </a:r>
            <a:r>
              <a:rPr lang="en-US" dirty="0"/>
              <a:t>() method</a:t>
            </a:r>
          </a:p>
          <a:p>
            <a:pPr marL="742950" lvl="1" indent="-285750" algn="just">
              <a:buFont typeface="Arial" panose="020B0604020202020204" pitchFamily="34" charset="0"/>
              <a:buChar char="•"/>
            </a:pPr>
            <a:r>
              <a:rPr lang="en-US" dirty="0"/>
              <a:t>then what happens is the </a:t>
            </a:r>
            <a:r>
              <a:rPr lang="en-US" dirty="0" err="1"/>
              <a:t>hashCode</a:t>
            </a:r>
            <a:r>
              <a:rPr lang="en-US" dirty="0"/>
              <a:t>() method that is already implemented in String class converts our object’s state into hash code value.</a:t>
            </a:r>
          </a:p>
        </p:txBody>
      </p:sp>
      <p:sp>
        <p:nvSpPr>
          <p:cNvPr id="7" name="Footer Placeholder 6">
            <a:extLst>
              <a:ext uri="{FF2B5EF4-FFF2-40B4-BE49-F238E27FC236}">
                <a16:creationId xmlns:a16="http://schemas.microsoft.com/office/drawing/2014/main" xmlns="" id="{238DF5FF-0230-5058-7F6A-575585F1B44D}"/>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474540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a16="http://schemas.microsoft.com/office/drawing/2014/main" xmlns="" id="{DAE94146-1079-BB21-A59B-A632F4FF3A9D}"/>
              </a:ext>
            </a:extLst>
          </p:cNvPr>
          <p:cNvSpPr txBox="1"/>
          <p:nvPr/>
        </p:nvSpPr>
        <p:spPr>
          <a:xfrm>
            <a:off x="4653074" y="4367013"/>
            <a:ext cx="4600882" cy="2062103"/>
          </a:xfrm>
          <a:prstGeom prst="rect">
            <a:avLst/>
          </a:prstGeom>
          <a:noFill/>
          <a:ln w="28575">
            <a:solidFill>
              <a:schemeClr val="tx1"/>
            </a:solidFill>
          </a:ln>
          <a:scene3d>
            <a:camera prst="perspectiveRelaxedModerately"/>
            <a:lightRig rig="threePt" dir="t"/>
          </a:scene3d>
        </p:spPr>
        <p:txBody>
          <a:bodyPr wrap="square">
            <a:spAutoFit/>
          </a:bodyPr>
          <a:lstStyle/>
          <a:p>
            <a:pPr algn="just"/>
            <a:r>
              <a:rPr lang="en-US" sz="1600" dirty="0"/>
              <a:t>Emp e1=new Emp(1,”ABC”,50000.00,”Designer”);</a:t>
            </a:r>
          </a:p>
          <a:p>
            <a:pPr algn="just"/>
            <a:r>
              <a:rPr lang="en-US" sz="1600" dirty="0"/>
              <a:t>Emp e2=new Emp(2,”XYZ”,100000.00,”Developer”);</a:t>
            </a:r>
          </a:p>
          <a:p>
            <a:pPr algn="just"/>
            <a:r>
              <a:rPr lang="en-US" sz="1600" dirty="0"/>
              <a:t>Emp e3=new Emp(1,”ABC”,50000.00,”Designer”);</a:t>
            </a:r>
          </a:p>
          <a:p>
            <a:pPr algn="just"/>
            <a:r>
              <a:rPr lang="en-US" sz="1600" dirty="0"/>
              <a:t>if(e1.equals(e2)) {} // false</a:t>
            </a:r>
          </a:p>
          <a:p>
            <a:pPr algn="just"/>
            <a:r>
              <a:rPr lang="en-US" sz="1600" dirty="0"/>
              <a:t>if(e1.hashCode()==e2.hashCode()) {} // false</a:t>
            </a:r>
          </a:p>
          <a:p>
            <a:pPr algn="just"/>
            <a:endParaRPr lang="en-US" sz="1600" dirty="0"/>
          </a:p>
          <a:p>
            <a:pPr algn="just"/>
            <a:r>
              <a:rPr lang="en-US" sz="1600" dirty="0"/>
              <a:t>if(e1.equals(e3)) {} // true</a:t>
            </a:r>
          </a:p>
          <a:p>
            <a:pPr algn="just"/>
            <a:r>
              <a:rPr lang="en-US" sz="1600" dirty="0"/>
              <a:t>if(e1.hashCode()==e3.hashCode()) {} // true</a:t>
            </a:r>
          </a:p>
        </p:txBody>
      </p:sp>
      <p:sp>
        <p:nvSpPr>
          <p:cNvPr id="26" name="TextBox 25">
            <a:extLst>
              <a:ext uri="{FF2B5EF4-FFF2-40B4-BE49-F238E27FC236}">
                <a16:creationId xmlns:a16="http://schemas.microsoft.com/office/drawing/2014/main" xmlns="" id="{77E2A8A7-99CC-BB2D-7229-2E51858DEAC9}"/>
              </a:ext>
            </a:extLst>
          </p:cNvPr>
          <p:cNvSpPr txBox="1"/>
          <p:nvPr/>
        </p:nvSpPr>
        <p:spPr>
          <a:xfrm>
            <a:off x="427649" y="5205020"/>
            <a:ext cx="4045574" cy="923330"/>
          </a:xfrm>
          <a:prstGeom prst="rect">
            <a:avLst/>
          </a:prstGeom>
          <a:noFill/>
        </p:spPr>
        <p:txBody>
          <a:bodyPr wrap="square">
            <a:spAutoFit/>
          </a:bodyPr>
          <a:lstStyle/>
          <a:p>
            <a:r>
              <a:rPr lang="en-IN" b="1" dirty="0"/>
              <a:t>String </a:t>
            </a:r>
            <a:r>
              <a:rPr lang="en-IN" b="1" dirty="0" err="1"/>
              <a:t>toString</a:t>
            </a:r>
            <a:r>
              <a:rPr lang="en-IN" b="1" dirty="0"/>
              <a:t>()</a:t>
            </a:r>
          </a:p>
          <a:p>
            <a:pPr algn="just"/>
            <a:r>
              <a:rPr lang="en-IN" dirty="0"/>
              <a:t>returns string representation of object’s state.</a:t>
            </a:r>
          </a:p>
        </p:txBody>
      </p:sp>
      <p:sp>
        <p:nvSpPr>
          <p:cNvPr id="8" name="TextBox 7">
            <a:extLst>
              <a:ext uri="{FF2B5EF4-FFF2-40B4-BE49-F238E27FC236}">
                <a16:creationId xmlns:a16="http://schemas.microsoft.com/office/drawing/2014/main" xmlns="" id="{6BB5840C-D642-49F1-B1F6-5FE0F0CDE56C}"/>
              </a:ext>
            </a:extLst>
          </p:cNvPr>
          <p:cNvSpPr txBox="1"/>
          <p:nvPr/>
        </p:nvSpPr>
        <p:spPr>
          <a:xfrm>
            <a:off x="4791187" y="713040"/>
            <a:ext cx="5726417" cy="3816429"/>
          </a:xfrm>
          <a:prstGeom prst="rect">
            <a:avLst/>
          </a:prstGeom>
          <a:noFill/>
        </p:spPr>
        <p:txBody>
          <a:bodyPr wrap="square">
            <a:spAutoFit/>
          </a:bodyPr>
          <a:lstStyle/>
          <a:p>
            <a:pPr algn="just"/>
            <a:r>
              <a:rPr lang="en-US" sz="1600" b="1" dirty="0"/>
              <a:t>Below is how </a:t>
            </a:r>
            <a:r>
              <a:rPr lang="en-US" sz="1600" b="1" dirty="0" err="1"/>
              <a:t>hashCode</a:t>
            </a:r>
            <a:r>
              <a:rPr lang="en-US" sz="1600" b="1" dirty="0"/>
              <a:t>() method implemented in String class</a:t>
            </a:r>
          </a:p>
          <a:p>
            <a:pPr algn="just"/>
            <a:r>
              <a:rPr lang="en-US" sz="1600" dirty="0"/>
              <a:t>int hash=0;</a:t>
            </a:r>
          </a:p>
          <a:p>
            <a:pPr algn="just"/>
            <a:r>
              <a:rPr lang="en-US" sz="1600" dirty="0"/>
              <a:t>char[] value;</a:t>
            </a:r>
          </a:p>
          <a:p>
            <a:pPr algn="just"/>
            <a:r>
              <a:rPr lang="en-US" sz="1600" dirty="0"/>
              <a:t>public int </a:t>
            </a:r>
            <a:r>
              <a:rPr lang="en-US" sz="1600" dirty="0" err="1"/>
              <a:t>hashCode</a:t>
            </a:r>
            <a:r>
              <a:rPr lang="en-US" sz="1600" dirty="0"/>
              <a:t>() {</a:t>
            </a:r>
          </a:p>
          <a:p>
            <a:pPr algn="just"/>
            <a:r>
              <a:rPr lang="en-US" sz="1600" dirty="0"/>
              <a:t>        int h = hash;</a:t>
            </a:r>
          </a:p>
          <a:p>
            <a:pPr algn="just"/>
            <a:r>
              <a:rPr lang="en-US" sz="1600" dirty="0"/>
              <a:t>        if (h == 0 &amp;&amp; </a:t>
            </a:r>
            <a:r>
              <a:rPr lang="en-US" sz="1600" dirty="0" err="1"/>
              <a:t>value.length</a:t>
            </a:r>
            <a:r>
              <a:rPr lang="en-US" sz="1600" dirty="0"/>
              <a:t> &gt; 0) {</a:t>
            </a:r>
          </a:p>
          <a:p>
            <a:pPr algn="just"/>
            <a:r>
              <a:rPr lang="en-US" sz="1600" dirty="0"/>
              <a:t>            char </a:t>
            </a:r>
            <a:r>
              <a:rPr lang="en-US" sz="1600" dirty="0" err="1"/>
              <a:t>val</a:t>
            </a:r>
            <a:r>
              <a:rPr lang="en-US" sz="1600" dirty="0"/>
              <a:t>[] = value;</a:t>
            </a:r>
          </a:p>
          <a:p>
            <a:pPr algn="just"/>
            <a:endParaRPr lang="en-US" sz="1600" dirty="0"/>
          </a:p>
          <a:p>
            <a:pPr algn="just"/>
            <a:r>
              <a:rPr lang="en-US" sz="1600" dirty="0"/>
              <a:t>            for (int </a:t>
            </a:r>
            <a:r>
              <a:rPr lang="en-US" sz="1600" dirty="0" err="1"/>
              <a:t>i</a:t>
            </a:r>
            <a:r>
              <a:rPr lang="en-US" sz="1600" dirty="0"/>
              <a:t> = 0; </a:t>
            </a:r>
            <a:r>
              <a:rPr lang="en-US" sz="1600" dirty="0" err="1"/>
              <a:t>i</a:t>
            </a:r>
            <a:r>
              <a:rPr lang="en-US" sz="1600" dirty="0"/>
              <a:t> &lt; </a:t>
            </a:r>
            <a:r>
              <a:rPr lang="en-US" sz="1600" dirty="0" err="1"/>
              <a:t>value.length</a:t>
            </a:r>
            <a:r>
              <a:rPr lang="en-US" sz="1600" dirty="0"/>
              <a:t>; </a:t>
            </a:r>
            <a:r>
              <a:rPr lang="en-US" sz="1600" dirty="0" err="1"/>
              <a:t>i</a:t>
            </a:r>
            <a:r>
              <a:rPr lang="en-US" sz="1600" dirty="0"/>
              <a:t>++) {</a:t>
            </a:r>
          </a:p>
          <a:p>
            <a:pPr algn="just"/>
            <a:r>
              <a:rPr lang="en-US" sz="1600" dirty="0"/>
              <a:t>                h = 31 * h + </a:t>
            </a:r>
            <a:r>
              <a:rPr lang="en-US" sz="1600" dirty="0" err="1"/>
              <a:t>val</a:t>
            </a:r>
            <a:r>
              <a:rPr lang="en-US" sz="1600" dirty="0"/>
              <a:t>[</a:t>
            </a:r>
            <a:r>
              <a:rPr lang="en-US" sz="1600" dirty="0" err="1"/>
              <a:t>i</a:t>
            </a:r>
            <a:r>
              <a:rPr lang="en-US" sz="1600" dirty="0"/>
              <a:t>];</a:t>
            </a:r>
          </a:p>
          <a:p>
            <a:pPr algn="just"/>
            <a:r>
              <a:rPr lang="en-US" sz="1600" dirty="0"/>
              <a:t>            }</a:t>
            </a:r>
          </a:p>
          <a:p>
            <a:pPr algn="just"/>
            <a:r>
              <a:rPr lang="en-US" sz="1600" dirty="0"/>
              <a:t>            hash = h;</a:t>
            </a:r>
          </a:p>
          <a:p>
            <a:pPr algn="just"/>
            <a:r>
              <a:rPr lang="en-US" sz="1600" dirty="0"/>
              <a:t>        }</a:t>
            </a:r>
          </a:p>
          <a:p>
            <a:pPr algn="just"/>
            <a:r>
              <a:rPr lang="en-US" sz="1600" dirty="0"/>
              <a:t>        return h;</a:t>
            </a:r>
          </a:p>
          <a:p>
            <a:pPr algn="just"/>
            <a:r>
              <a:rPr lang="en-US" sz="1600" dirty="0"/>
              <a:t>    }	</a:t>
            </a:r>
            <a:endParaRPr lang="en-IN" sz="1600" dirty="0"/>
          </a:p>
        </p:txBody>
      </p:sp>
      <p:sp>
        <p:nvSpPr>
          <p:cNvPr id="9" name="TextBox 8">
            <a:extLst>
              <a:ext uri="{FF2B5EF4-FFF2-40B4-BE49-F238E27FC236}">
                <a16:creationId xmlns:a16="http://schemas.microsoft.com/office/drawing/2014/main" xmlns="" id="{6406C836-93CC-9160-AF62-EE96004FDE15}"/>
              </a:ext>
            </a:extLst>
          </p:cNvPr>
          <p:cNvSpPr txBox="1"/>
          <p:nvPr/>
        </p:nvSpPr>
        <p:spPr>
          <a:xfrm>
            <a:off x="282389" y="1036135"/>
            <a:ext cx="4370684" cy="4247317"/>
          </a:xfrm>
          <a:prstGeom prst="rect">
            <a:avLst/>
          </a:prstGeom>
          <a:noFill/>
        </p:spPr>
        <p:txBody>
          <a:bodyPr wrap="none" rtlCol="0">
            <a:spAutoFit/>
          </a:bodyPr>
          <a:lstStyle/>
          <a:p>
            <a:r>
              <a:rPr lang="en-IN" dirty="0"/>
              <a:t>class Emp {</a:t>
            </a:r>
          </a:p>
          <a:p>
            <a:r>
              <a:rPr lang="en-IN" dirty="0"/>
              <a:t>   int </a:t>
            </a:r>
            <a:r>
              <a:rPr lang="en-IN" dirty="0" err="1"/>
              <a:t>eid</a:t>
            </a:r>
            <a:r>
              <a:rPr lang="en-IN" dirty="0"/>
              <a:t>;</a:t>
            </a:r>
          </a:p>
          <a:p>
            <a:r>
              <a:rPr lang="en-IN" dirty="0"/>
              <a:t>   String </a:t>
            </a:r>
            <a:r>
              <a:rPr lang="en-IN" dirty="0" err="1"/>
              <a:t>ename</a:t>
            </a:r>
            <a:r>
              <a:rPr lang="en-IN" dirty="0"/>
              <a:t>;</a:t>
            </a:r>
          </a:p>
          <a:p>
            <a:r>
              <a:rPr lang="en-IN" dirty="0"/>
              <a:t>   double </a:t>
            </a:r>
            <a:r>
              <a:rPr lang="en-IN" dirty="0" err="1"/>
              <a:t>sal</a:t>
            </a:r>
            <a:r>
              <a:rPr lang="en-IN" dirty="0"/>
              <a:t>;</a:t>
            </a:r>
          </a:p>
          <a:p>
            <a:r>
              <a:rPr lang="en-IN" dirty="0"/>
              <a:t>   String </a:t>
            </a:r>
            <a:r>
              <a:rPr lang="en-IN" dirty="0" err="1"/>
              <a:t>desig</a:t>
            </a:r>
            <a:r>
              <a:rPr lang="en-IN" dirty="0"/>
              <a:t>;</a:t>
            </a:r>
          </a:p>
          <a:p>
            <a:r>
              <a:rPr lang="en-IN" dirty="0"/>
              <a:t>   // generate constructors</a:t>
            </a:r>
          </a:p>
          <a:p>
            <a:r>
              <a:rPr lang="en-IN" dirty="0"/>
              <a:t>   // setter and getter methods</a:t>
            </a:r>
          </a:p>
          <a:p>
            <a:r>
              <a:rPr lang="en-IN" dirty="0"/>
              <a:t>   </a:t>
            </a:r>
          </a:p>
          <a:p>
            <a:r>
              <a:rPr lang="en-IN" dirty="0"/>
              <a:t>   public String </a:t>
            </a:r>
            <a:r>
              <a:rPr lang="en-IN" dirty="0" err="1"/>
              <a:t>toString</a:t>
            </a:r>
            <a:r>
              <a:rPr lang="en-IN" dirty="0"/>
              <a:t>() {</a:t>
            </a:r>
          </a:p>
          <a:p>
            <a:r>
              <a:rPr lang="en-IN" dirty="0"/>
              <a:t>       return </a:t>
            </a:r>
            <a:r>
              <a:rPr lang="en-IN" dirty="0" err="1"/>
              <a:t>eid</a:t>
            </a:r>
            <a:r>
              <a:rPr lang="en-IN" dirty="0"/>
              <a:t>+” ”+</a:t>
            </a:r>
            <a:r>
              <a:rPr lang="en-IN" dirty="0" err="1"/>
              <a:t>ename</a:t>
            </a:r>
            <a:r>
              <a:rPr lang="en-IN" dirty="0"/>
              <a:t>+” ”+</a:t>
            </a:r>
            <a:r>
              <a:rPr lang="en-IN" dirty="0" err="1"/>
              <a:t>sal</a:t>
            </a:r>
            <a:r>
              <a:rPr lang="en-IN" dirty="0"/>
              <a:t>+” ”+</a:t>
            </a:r>
            <a:r>
              <a:rPr lang="en-IN" dirty="0" err="1"/>
              <a:t>desig</a:t>
            </a:r>
            <a:r>
              <a:rPr lang="en-IN" dirty="0"/>
              <a:t>;</a:t>
            </a:r>
          </a:p>
          <a:p>
            <a:r>
              <a:rPr lang="en-IN" dirty="0"/>
              <a:t>   }</a:t>
            </a:r>
          </a:p>
          <a:p>
            <a:r>
              <a:rPr lang="en-IN" dirty="0"/>
              <a:t>   public int </a:t>
            </a:r>
            <a:r>
              <a:rPr lang="en-IN" dirty="0" err="1"/>
              <a:t>hashCode</a:t>
            </a:r>
            <a:r>
              <a:rPr lang="en-IN" dirty="0"/>
              <a:t>() {</a:t>
            </a:r>
          </a:p>
          <a:p>
            <a:r>
              <a:rPr lang="en-IN" dirty="0"/>
              <a:t>      return </a:t>
            </a:r>
            <a:r>
              <a:rPr lang="en-IN" dirty="0" err="1"/>
              <a:t>this.toString</a:t>
            </a:r>
            <a:r>
              <a:rPr lang="en-IN" dirty="0"/>
              <a:t>().</a:t>
            </a:r>
            <a:r>
              <a:rPr lang="en-IN" dirty="0" err="1"/>
              <a:t>hashCode</a:t>
            </a:r>
            <a:r>
              <a:rPr lang="en-IN" dirty="0"/>
              <a:t>();</a:t>
            </a:r>
          </a:p>
          <a:p>
            <a:r>
              <a:rPr lang="en-IN" dirty="0"/>
              <a:t>   }</a:t>
            </a:r>
          </a:p>
          <a:p>
            <a:r>
              <a:rPr lang="en-IN" dirty="0"/>
              <a:t>}</a:t>
            </a:r>
          </a:p>
        </p:txBody>
      </p:sp>
      <p:sp>
        <p:nvSpPr>
          <p:cNvPr id="7" name="Footer Placeholder 6">
            <a:extLst>
              <a:ext uri="{FF2B5EF4-FFF2-40B4-BE49-F238E27FC236}">
                <a16:creationId xmlns:a16="http://schemas.microsoft.com/office/drawing/2014/main" xmlns="" id="{A8AA1A02-C048-2965-064B-245B89135F94}"/>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56479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BD5306D5-5CE8-6208-DD70-D6DC341714BD}"/>
              </a:ext>
            </a:extLst>
          </p:cNvPr>
          <p:cNvSpPr txBox="1"/>
          <p:nvPr/>
        </p:nvSpPr>
        <p:spPr>
          <a:xfrm>
            <a:off x="343196" y="713040"/>
            <a:ext cx="5180172" cy="5755422"/>
          </a:xfrm>
          <a:prstGeom prst="rect">
            <a:avLst/>
          </a:prstGeom>
          <a:noFill/>
        </p:spPr>
        <p:txBody>
          <a:bodyPr wrap="square">
            <a:spAutoFit/>
          </a:bodyPr>
          <a:lstStyle/>
          <a:p>
            <a:r>
              <a:rPr lang="en-IN" sz="1600" dirty="0"/>
              <a:t>// StringClassDemo.java</a:t>
            </a:r>
          </a:p>
          <a:p>
            <a:r>
              <a:rPr lang="en-IN" sz="1600" dirty="0"/>
              <a:t>public class StringClassDemo {</a:t>
            </a:r>
          </a:p>
          <a:p>
            <a:r>
              <a:rPr lang="en-IN" sz="1600" dirty="0"/>
              <a:t>   public static void main(String rags[]) throws Exception {</a:t>
            </a:r>
          </a:p>
          <a:p>
            <a:r>
              <a:rPr lang="en-IN" sz="1600" dirty="0"/>
              <a:t>		</a:t>
            </a:r>
          </a:p>
          <a:p>
            <a:r>
              <a:rPr lang="en-IN" sz="1600" dirty="0"/>
              <a:t>	// all String literals are instances of String class</a:t>
            </a:r>
          </a:p>
          <a:p>
            <a:r>
              <a:rPr lang="en-IN" sz="1600" dirty="0"/>
              <a:t>	String str="ActiveNET";</a:t>
            </a:r>
          </a:p>
          <a:p>
            <a:endParaRPr lang="en-IN" sz="1600" dirty="0"/>
          </a:p>
          <a:p>
            <a:r>
              <a:rPr lang="en-IN" sz="1600" dirty="0"/>
              <a:t>	String str1=new String();</a:t>
            </a:r>
          </a:p>
          <a:p>
            <a:endParaRPr lang="en-IN" sz="1600" dirty="0"/>
          </a:p>
          <a:p>
            <a:r>
              <a:rPr lang="en-IN" sz="1600" dirty="0"/>
              <a:t>	byte[] b={65,99,116,105,118,101,78,69,84};</a:t>
            </a:r>
          </a:p>
          <a:p>
            <a:r>
              <a:rPr lang="en-IN" sz="1600" dirty="0"/>
              <a:t>	String str2=new String(b);</a:t>
            </a:r>
          </a:p>
          <a:p>
            <a:endParaRPr lang="en-IN" sz="1600" dirty="0"/>
          </a:p>
          <a:p>
            <a:r>
              <a:rPr lang="en-IN" sz="1600" dirty="0"/>
              <a:t>	String str3=new String(b, 0, 6);</a:t>
            </a:r>
          </a:p>
          <a:p>
            <a:endParaRPr lang="en-IN" sz="1600" dirty="0"/>
          </a:p>
          <a:p>
            <a:r>
              <a:rPr lang="en-IN" sz="1600" dirty="0"/>
              <a:t>	char </a:t>
            </a:r>
            <a:r>
              <a:rPr lang="en-IN" sz="1600" dirty="0" err="1"/>
              <a:t>ch</a:t>
            </a:r>
            <a:r>
              <a:rPr lang="en-IN" sz="1600" dirty="0"/>
              <a:t>[]={'A','c','t','</a:t>
            </a:r>
            <a:r>
              <a:rPr lang="en-IN" sz="1600" dirty="0" err="1"/>
              <a:t>i</a:t>
            </a:r>
            <a:r>
              <a:rPr lang="en-IN" sz="1600" dirty="0"/>
              <a:t>','</a:t>
            </a:r>
            <a:r>
              <a:rPr lang="en-IN" sz="1600" dirty="0" err="1"/>
              <a:t>v','e','N','E','T</a:t>
            </a:r>
            <a:r>
              <a:rPr lang="en-IN" sz="1600" dirty="0"/>
              <a:t>'};</a:t>
            </a:r>
          </a:p>
          <a:p>
            <a:r>
              <a:rPr lang="en-IN" sz="1600" dirty="0"/>
              <a:t>	String str4=new String(</a:t>
            </a:r>
            <a:r>
              <a:rPr lang="en-IN" sz="1600" dirty="0" err="1"/>
              <a:t>ch</a:t>
            </a:r>
            <a:r>
              <a:rPr lang="en-IN" sz="1600" dirty="0"/>
              <a:t>);</a:t>
            </a:r>
          </a:p>
          <a:p>
            <a:endParaRPr lang="en-IN" sz="1600" dirty="0"/>
          </a:p>
          <a:p>
            <a:r>
              <a:rPr lang="en-IN" sz="1600" dirty="0"/>
              <a:t>	String str5=new String(</a:t>
            </a:r>
            <a:r>
              <a:rPr lang="en-IN" sz="1600" dirty="0" err="1"/>
              <a:t>ch</a:t>
            </a:r>
            <a:r>
              <a:rPr lang="en-IN" sz="1600" dirty="0"/>
              <a:t>, 6, 3);</a:t>
            </a:r>
          </a:p>
          <a:p>
            <a:endParaRPr lang="en-IN" sz="1600" dirty="0"/>
          </a:p>
          <a:p>
            <a:r>
              <a:rPr lang="en-IN" sz="1600" dirty="0"/>
              <a:t>	String str6=new String("ActiveNET"); </a:t>
            </a:r>
          </a:p>
          <a:p>
            <a:r>
              <a:rPr lang="en-IN" sz="1600" dirty="0"/>
              <a:t>		</a:t>
            </a:r>
          </a:p>
          <a:p>
            <a:r>
              <a:rPr lang="en-IN" sz="1600" dirty="0"/>
              <a:t>	System.out.println(</a:t>
            </a:r>
            <a:r>
              <a:rPr lang="en-IN" sz="1600" dirty="0" err="1"/>
              <a:t>str.indexOf</a:t>
            </a:r>
            <a:r>
              <a:rPr lang="en-IN" sz="1600" dirty="0"/>
              <a:t>('e'));</a:t>
            </a:r>
          </a:p>
          <a:p>
            <a:r>
              <a:rPr lang="en-IN" sz="1600" dirty="0"/>
              <a:t>        	System.out.println(</a:t>
            </a:r>
            <a:r>
              <a:rPr lang="en-IN" sz="1600" dirty="0" err="1"/>
              <a:t>str.lastIndexOf</a:t>
            </a:r>
            <a:r>
              <a:rPr lang="en-IN" sz="1600" dirty="0"/>
              <a:t>('e'));</a:t>
            </a:r>
          </a:p>
        </p:txBody>
      </p:sp>
      <p:sp>
        <p:nvSpPr>
          <p:cNvPr id="27" name="TextBox 26">
            <a:extLst>
              <a:ext uri="{FF2B5EF4-FFF2-40B4-BE49-F238E27FC236}">
                <a16:creationId xmlns:a16="http://schemas.microsoft.com/office/drawing/2014/main" xmlns="" id="{191D7AC6-71AC-482A-4CA0-2FAD5A0CDBAA}"/>
              </a:ext>
            </a:extLst>
          </p:cNvPr>
          <p:cNvSpPr txBox="1"/>
          <p:nvPr/>
        </p:nvSpPr>
        <p:spPr>
          <a:xfrm>
            <a:off x="5523368" y="765812"/>
            <a:ext cx="3808887" cy="5909310"/>
          </a:xfrm>
          <a:prstGeom prst="rect">
            <a:avLst/>
          </a:prstGeom>
          <a:noFill/>
        </p:spPr>
        <p:txBody>
          <a:bodyPr wrap="square">
            <a:spAutoFit/>
          </a:bodyPr>
          <a:lstStyle/>
          <a:p>
            <a:r>
              <a:rPr lang="en-IN" sz="1400" dirty="0"/>
              <a:t>System.out.println(</a:t>
            </a:r>
            <a:r>
              <a:rPr lang="en-IN" sz="1400" dirty="0" err="1"/>
              <a:t>str.startsWith</a:t>
            </a:r>
            <a:r>
              <a:rPr lang="en-IN" sz="1400" dirty="0"/>
              <a:t>("Act"));</a:t>
            </a:r>
          </a:p>
          <a:p>
            <a:r>
              <a:rPr lang="en-IN" sz="1400" dirty="0"/>
              <a:t>System.out.println(</a:t>
            </a:r>
            <a:r>
              <a:rPr lang="en-IN" sz="1400" dirty="0" err="1"/>
              <a:t>str.endsWith</a:t>
            </a:r>
            <a:r>
              <a:rPr lang="en-IN" sz="1400" dirty="0"/>
              <a:t>("NET"));</a:t>
            </a:r>
          </a:p>
          <a:p>
            <a:r>
              <a:rPr lang="en-IN" sz="1400" dirty="0"/>
              <a:t>System.out.println(</a:t>
            </a:r>
            <a:r>
              <a:rPr lang="en-IN" sz="1400" dirty="0" err="1"/>
              <a:t>str.charAt</a:t>
            </a:r>
            <a:r>
              <a:rPr lang="en-IN" sz="1400" dirty="0"/>
              <a:t>(5));</a:t>
            </a:r>
          </a:p>
          <a:p>
            <a:endParaRPr lang="en-IN" sz="1400" dirty="0"/>
          </a:p>
          <a:p>
            <a:r>
              <a:rPr lang="en-IN" sz="1400" dirty="0"/>
              <a:t>System.out.println(</a:t>
            </a:r>
            <a:r>
              <a:rPr lang="en-IN" sz="1400" dirty="0" err="1"/>
              <a:t>str.replace</a:t>
            </a:r>
            <a:r>
              <a:rPr lang="en-IN" sz="1400" dirty="0"/>
              <a:t>('</a:t>
            </a:r>
            <a:r>
              <a:rPr lang="en-IN" sz="1400" dirty="0" err="1"/>
              <a:t>T','t</a:t>
            </a:r>
            <a:r>
              <a:rPr lang="en-IN" sz="1400" dirty="0"/>
              <a:t>’));// </a:t>
            </a:r>
            <a:r>
              <a:rPr lang="en-IN" sz="1400" dirty="0" err="1"/>
              <a:t>ActiveNEt</a:t>
            </a:r>
            <a:endParaRPr lang="en-IN" sz="1400" dirty="0"/>
          </a:p>
          <a:p>
            <a:r>
              <a:rPr lang="en-IN" sz="1400" dirty="0"/>
              <a:t>		</a:t>
            </a:r>
          </a:p>
          <a:p>
            <a:r>
              <a:rPr lang="en-IN" sz="1400" dirty="0"/>
              <a:t>System.out.println(</a:t>
            </a:r>
            <a:r>
              <a:rPr lang="en-IN" sz="1400" dirty="0" err="1"/>
              <a:t>str.length</a:t>
            </a:r>
            <a:r>
              <a:rPr lang="en-IN" sz="1400" dirty="0"/>
              <a:t>());</a:t>
            </a:r>
          </a:p>
          <a:p>
            <a:r>
              <a:rPr lang="en-IN" sz="1400" dirty="0"/>
              <a:t>System.out.println(</a:t>
            </a:r>
            <a:r>
              <a:rPr lang="en-IN" sz="1400" dirty="0" err="1"/>
              <a:t>str.isEmpty</a:t>
            </a:r>
            <a:r>
              <a:rPr lang="en-IN" sz="1400" dirty="0"/>
              <a:t>());</a:t>
            </a:r>
          </a:p>
          <a:p>
            <a:r>
              <a:rPr lang="en-IN" sz="1400" dirty="0"/>
              <a:t>		</a:t>
            </a:r>
          </a:p>
          <a:p>
            <a:r>
              <a:rPr lang="en-IN" sz="1400" dirty="0"/>
              <a:t>System.out.println(str1.length());</a:t>
            </a:r>
          </a:p>
          <a:p>
            <a:r>
              <a:rPr lang="en-IN" sz="1400" dirty="0"/>
              <a:t>System.out.println(str1.isEmpty());</a:t>
            </a:r>
          </a:p>
          <a:p>
            <a:r>
              <a:rPr lang="en-IN" sz="1400" dirty="0"/>
              <a:t>		</a:t>
            </a:r>
          </a:p>
          <a:p>
            <a:r>
              <a:rPr lang="en-IN" sz="1400" dirty="0"/>
              <a:t>byte b2[]=</a:t>
            </a:r>
            <a:r>
              <a:rPr lang="en-IN" sz="1400" dirty="0" err="1"/>
              <a:t>str.getBytes</a:t>
            </a:r>
            <a:r>
              <a:rPr lang="en-IN" sz="1400" dirty="0"/>
              <a:t>();</a:t>
            </a:r>
          </a:p>
          <a:p>
            <a:r>
              <a:rPr lang="en-IN" sz="1400" dirty="0"/>
              <a:t>	</a:t>
            </a:r>
          </a:p>
          <a:p>
            <a:r>
              <a:rPr lang="en-IN" sz="1400" dirty="0"/>
              <a:t>// iterating over array</a:t>
            </a:r>
          </a:p>
          <a:p>
            <a:r>
              <a:rPr lang="en-IN" sz="1400" dirty="0"/>
              <a:t>// old technique</a:t>
            </a:r>
          </a:p>
          <a:p>
            <a:r>
              <a:rPr lang="en-IN" sz="1400" dirty="0"/>
              <a:t>int </a:t>
            </a:r>
            <a:r>
              <a:rPr lang="en-IN" sz="1400" dirty="0" err="1"/>
              <a:t>len</a:t>
            </a:r>
            <a:r>
              <a:rPr lang="en-IN" sz="1400" dirty="0"/>
              <a:t>=b2.length;</a:t>
            </a:r>
          </a:p>
          <a:p>
            <a:r>
              <a:rPr lang="en-IN" sz="1400" dirty="0"/>
              <a:t>for(int </a:t>
            </a:r>
            <a:r>
              <a:rPr lang="en-IN" sz="1400" dirty="0" err="1"/>
              <a:t>i</a:t>
            </a:r>
            <a:r>
              <a:rPr lang="en-IN" sz="1400" dirty="0"/>
              <a:t>=0;i&lt;</a:t>
            </a:r>
            <a:r>
              <a:rPr lang="en-IN" sz="1400" dirty="0" err="1"/>
              <a:t>len;i</a:t>
            </a:r>
            <a:r>
              <a:rPr lang="en-IN" sz="1400" dirty="0"/>
              <a:t>++) {</a:t>
            </a:r>
          </a:p>
          <a:p>
            <a:r>
              <a:rPr lang="en-IN" sz="1400" dirty="0"/>
              <a:t>	</a:t>
            </a:r>
            <a:r>
              <a:rPr lang="en-IN" sz="1400" dirty="0" err="1"/>
              <a:t>System.out.print</a:t>
            </a:r>
            <a:r>
              <a:rPr lang="en-IN" sz="1400" dirty="0"/>
              <a:t>((char)b2[</a:t>
            </a:r>
            <a:r>
              <a:rPr lang="en-IN" sz="1400" dirty="0" err="1"/>
              <a:t>i</a:t>
            </a:r>
            <a:r>
              <a:rPr lang="en-IN" sz="1400" dirty="0"/>
              <a:t>]);</a:t>
            </a:r>
          </a:p>
          <a:p>
            <a:r>
              <a:rPr lang="en-IN" sz="1400" dirty="0"/>
              <a:t>}</a:t>
            </a:r>
          </a:p>
          <a:p>
            <a:r>
              <a:rPr lang="en-IN" sz="1400" dirty="0" err="1"/>
              <a:t>System.out.println</a:t>
            </a:r>
            <a:r>
              <a:rPr lang="en-IN" sz="1400" dirty="0"/>
              <a:t>();</a:t>
            </a:r>
          </a:p>
          <a:p>
            <a:r>
              <a:rPr lang="en-IN" sz="1400" dirty="0"/>
              <a:t>		</a:t>
            </a:r>
          </a:p>
          <a:p>
            <a:r>
              <a:rPr lang="en-IN" sz="1400" dirty="0"/>
              <a:t>// for-each way of iterating string[]</a:t>
            </a:r>
          </a:p>
          <a:p>
            <a:r>
              <a:rPr lang="en-IN" sz="1400" dirty="0"/>
              <a:t>for(byte b1:b2) {</a:t>
            </a:r>
          </a:p>
          <a:p>
            <a:r>
              <a:rPr lang="en-IN" sz="1400" dirty="0"/>
              <a:t>	</a:t>
            </a:r>
            <a:r>
              <a:rPr lang="en-IN" sz="1400" dirty="0" err="1"/>
              <a:t>System.out.print</a:t>
            </a:r>
            <a:r>
              <a:rPr lang="en-IN" sz="1400" dirty="0"/>
              <a:t>((char)b1);</a:t>
            </a:r>
          </a:p>
          <a:p>
            <a:r>
              <a:rPr lang="en-IN" sz="1400" dirty="0"/>
              <a:t>}</a:t>
            </a:r>
          </a:p>
          <a:p>
            <a:r>
              <a:rPr lang="en-IN" sz="1400" dirty="0"/>
              <a:t>System.out.println();</a:t>
            </a:r>
          </a:p>
        </p:txBody>
      </p:sp>
      <p:sp>
        <p:nvSpPr>
          <p:cNvPr id="7" name="Footer Placeholder 6">
            <a:extLst>
              <a:ext uri="{FF2B5EF4-FFF2-40B4-BE49-F238E27FC236}">
                <a16:creationId xmlns:a16="http://schemas.microsoft.com/office/drawing/2014/main" xmlns="" id="{01BFBAD6-E304-A828-02E4-1DA21224FBE8}"/>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2711212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8F28DF0D-A2A0-793E-F19B-166B07F4994D}"/>
              </a:ext>
            </a:extLst>
          </p:cNvPr>
          <p:cNvSpPr txBox="1"/>
          <p:nvPr/>
        </p:nvSpPr>
        <p:spPr>
          <a:xfrm>
            <a:off x="224565" y="891779"/>
            <a:ext cx="5046682" cy="4524315"/>
          </a:xfrm>
          <a:prstGeom prst="rect">
            <a:avLst/>
          </a:prstGeom>
          <a:noFill/>
        </p:spPr>
        <p:txBody>
          <a:bodyPr wrap="square">
            <a:spAutoFit/>
          </a:bodyPr>
          <a:lstStyle/>
          <a:p>
            <a:r>
              <a:rPr lang="en-IN" dirty="0"/>
              <a:t>char ch4[]=new char[9];</a:t>
            </a:r>
          </a:p>
          <a:p>
            <a:r>
              <a:rPr lang="en-IN" dirty="0" err="1"/>
              <a:t>str.getChars</a:t>
            </a:r>
            <a:r>
              <a:rPr lang="en-IN" dirty="0"/>
              <a:t>(0, 6, ch4, 0);</a:t>
            </a:r>
          </a:p>
          <a:p>
            <a:r>
              <a:rPr lang="en-IN" dirty="0"/>
              <a:t>		</a:t>
            </a:r>
          </a:p>
          <a:p>
            <a:r>
              <a:rPr lang="en-IN" dirty="0"/>
              <a:t>// for-each way</a:t>
            </a:r>
          </a:p>
          <a:p>
            <a:r>
              <a:rPr lang="en-IN" dirty="0"/>
              <a:t>for(char ch1:ch4) {</a:t>
            </a:r>
          </a:p>
          <a:p>
            <a:r>
              <a:rPr lang="en-IN" dirty="0"/>
              <a:t>	</a:t>
            </a:r>
            <a:r>
              <a:rPr lang="en-IN" dirty="0" err="1"/>
              <a:t>System.out.print</a:t>
            </a:r>
            <a:r>
              <a:rPr lang="en-IN" dirty="0"/>
              <a:t>(ch1);</a:t>
            </a:r>
          </a:p>
          <a:p>
            <a:r>
              <a:rPr lang="en-IN" dirty="0"/>
              <a:t>}</a:t>
            </a:r>
          </a:p>
          <a:p>
            <a:r>
              <a:rPr lang="en-IN" dirty="0"/>
              <a:t>System.out.println();</a:t>
            </a:r>
          </a:p>
          <a:p>
            <a:r>
              <a:rPr lang="en-IN" dirty="0"/>
              <a:t>		</a:t>
            </a:r>
          </a:p>
          <a:p>
            <a:r>
              <a:rPr lang="en-IN" dirty="0"/>
              <a:t>char ch2[]=</a:t>
            </a:r>
            <a:r>
              <a:rPr lang="en-IN" dirty="0" err="1"/>
              <a:t>str.toCharArray</a:t>
            </a:r>
            <a:r>
              <a:rPr lang="en-IN" dirty="0"/>
              <a:t>();</a:t>
            </a:r>
          </a:p>
          <a:p>
            <a:r>
              <a:rPr lang="en-IN" dirty="0"/>
              <a:t>	</a:t>
            </a:r>
          </a:p>
          <a:p>
            <a:r>
              <a:rPr lang="en-IN" dirty="0"/>
              <a:t>// for-each way</a:t>
            </a:r>
          </a:p>
          <a:p>
            <a:r>
              <a:rPr lang="en-IN" dirty="0"/>
              <a:t>for(char ch3:ch2) {</a:t>
            </a:r>
          </a:p>
          <a:p>
            <a:r>
              <a:rPr lang="en-IN" dirty="0"/>
              <a:t>	</a:t>
            </a:r>
            <a:r>
              <a:rPr lang="en-IN" dirty="0" err="1"/>
              <a:t>System.out.print</a:t>
            </a:r>
            <a:r>
              <a:rPr lang="en-IN" dirty="0"/>
              <a:t>(ch3);</a:t>
            </a:r>
          </a:p>
          <a:p>
            <a:r>
              <a:rPr lang="en-IN" dirty="0"/>
              <a:t>}</a:t>
            </a:r>
          </a:p>
          <a:p>
            <a:r>
              <a:rPr lang="en-IN" dirty="0" err="1"/>
              <a:t>System.out.println</a:t>
            </a:r>
            <a:r>
              <a:rPr lang="en-IN" dirty="0"/>
              <a:t>();</a:t>
            </a:r>
          </a:p>
        </p:txBody>
      </p:sp>
      <p:sp>
        <p:nvSpPr>
          <p:cNvPr id="8" name="TextBox 7">
            <a:extLst>
              <a:ext uri="{FF2B5EF4-FFF2-40B4-BE49-F238E27FC236}">
                <a16:creationId xmlns:a16="http://schemas.microsoft.com/office/drawing/2014/main" xmlns="" id="{A6A00EE9-5EE4-1F84-A9DF-1ABE8A7F91AD}"/>
              </a:ext>
            </a:extLst>
          </p:cNvPr>
          <p:cNvSpPr txBox="1"/>
          <p:nvPr/>
        </p:nvSpPr>
        <p:spPr>
          <a:xfrm>
            <a:off x="3590366" y="858761"/>
            <a:ext cx="6831105" cy="4031873"/>
          </a:xfrm>
          <a:prstGeom prst="rect">
            <a:avLst/>
          </a:prstGeom>
          <a:noFill/>
        </p:spPr>
        <p:txBody>
          <a:bodyPr wrap="square">
            <a:spAutoFit/>
          </a:bodyPr>
          <a:lstStyle/>
          <a:p>
            <a:r>
              <a:rPr lang="en-IN" sz="1600" dirty="0"/>
              <a:t>// </a:t>
            </a:r>
            <a:r>
              <a:rPr lang="en-IN" sz="1600" dirty="0" err="1"/>
              <a:t>codePointAt</a:t>
            </a:r>
            <a:r>
              <a:rPr lang="en-IN" sz="1600" dirty="0"/>
              <a:t>(int index) returns the index of a given char's </a:t>
            </a:r>
            <a:r>
              <a:rPr lang="en-IN" sz="1600" dirty="0" err="1"/>
              <a:t>unicode</a:t>
            </a:r>
            <a:r>
              <a:rPr lang="en-IN" sz="1600" dirty="0"/>
              <a:t> value</a:t>
            </a:r>
          </a:p>
          <a:p>
            <a:r>
              <a:rPr lang="en-IN" sz="1600" dirty="0" err="1"/>
              <a:t>System.out.println</a:t>
            </a:r>
            <a:r>
              <a:rPr lang="en-IN" sz="1600" dirty="0"/>
              <a:t>(</a:t>
            </a:r>
            <a:r>
              <a:rPr lang="en-IN" sz="1600" dirty="0" err="1"/>
              <a:t>str.codePointAt</a:t>
            </a:r>
            <a:r>
              <a:rPr lang="en-IN" sz="1600" dirty="0"/>
              <a:t>(5)); // ‘e’ ASCII/Unicode value is 101</a:t>
            </a:r>
          </a:p>
          <a:p>
            <a:r>
              <a:rPr lang="en-IN" sz="1600" dirty="0"/>
              <a:t>		</a:t>
            </a:r>
          </a:p>
          <a:p>
            <a:r>
              <a:rPr lang="en-IN" sz="1600" dirty="0"/>
              <a:t>// natural sorting</a:t>
            </a:r>
          </a:p>
          <a:p>
            <a:r>
              <a:rPr lang="en-IN" sz="1600" dirty="0"/>
              <a:t>// </a:t>
            </a:r>
            <a:r>
              <a:rPr lang="en-IN" sz="1600" dirty="0" err="1"/>
              <a:t>ActiveNET</a:t>
            </a:r>
            <a:endParaRPr lang="en-IN" sz="1600" dirty="0"/>
          </a:p>
          <a:p>
            <a:r>
              <a:rPr lang="en-IN" sz="1600" dirty="0"/>
              <a:t>String str11="</a:t>
            </a:r>
            <a:r>
              <a:rPr lang="en-IN" sz="1600" dirty="0" err="1"/>
              <a:t>Activenet</a:t>
            </a:r>
            <a:r>
              <a:rPr lang="en-IN" sz="1600" dirty="0"/>
              <a:t>";</a:t>
            </a:r>
          </a:p>
          <a:p>
            <a:r>
              <a:rPr lang="en-IN" sz="1600" dirty="0" err="1"/>
              <a:t>System.out.println</a:t>
            </a:r>
            <a:r>
              <a:rPr lang="en-IN" sz="1600" dirty="0"/>
              <a:t>(</a:t>
            </a:r>
            <a:r>
              <a:rPr lang="en-IN" sz="1600" dirty="0" err="1"/>
              <a:t>str.compareTo</a:t>
            </a:r>
            <a:r>
              <a:rPr lang="en-IN" sz="1600" dirty="0"/>
              <a:t>(str11));</a:t>
            </a:r>
          </a:p>
          <a:p>
            <a:r>
              <a:rPr lang="en-IN" sz="1600" dirty="0"/>
              <a:t>if(</a:t>
            </a:r>
            <a:r>
              <a:rPr lang="en-IN" sz="1600" dirty="0" err="1"/>
              <a:t>str.compareTo</a:t>
            </a:r>
            <a:r>
              <a:rPr lang="en-IN" sz="1600" dirty="0"/>
              <a:t>(str11)==1) {</a:t>
            </a:r>
          </a:p>
          <a:p>
            <a:r>
              <a:rPr lang="en-IN" sz="1600" dirty="0"/>
              <a:t>	</a:t>
            </a:r>
            <a:r>
              <a:rPr lang="en-IN" sz="1600" dirty="0" err="1"/>
              <a:t>System.out.println</a:t>
            </a:r>
            <a:r>
              <a:rPr lang="en-IN" sz="1600" dirty="0"/>
              <a:t>("</a:t>
            </a:r>
            <a:r>
              <a:rPr lang="en-IN" sz="1600" dirty="0" err="1"/>
              <a:t>ActiveNET</a:t>
            </a:r>
            <a:r>
              <a:rPr lang="en-IN" sz="1600" dirty="0"/>
              <a:t> is bigger than </a:t>
            </a:r>
            <a:r>
              <a:rPr lang="en-IN" sz="1600" dirty="0" err="1"/>
              <a:t>Activenet</a:t>
            </a:r>
            <a:r>
              <a:rPr lang="en-IN" sz="1600" dirty="0"/>
              <a:t>");</a:t>
            </a:r>
          </a:p>
          <a:p>
            <a:r>
              <a:rPr lang="en-IN" sz="1600" dirty="0"/>
              <a:t>} else if(</a:t>
            </a:r>
            <a:r>
              <a:rPr lang="en-IN" sz="1600" dirty="0" err="1"/>
              <a:t>str.compareTo</a:t>
            </a:r>
            <a:r>
              <a:rPr lang="en-IN" sz="1600" dirty="0"/>
              <a:t>(str11)==-1) {</a:t>
            </a:r>
          </a:p>
          <a:p>
            <a:r>
              <a:rPr lang="en-IN" sz="1600" dirty="0"/>
              <a:t>	</a:t>
            </a:r>
            <a:r>
              <a:rPr lang="en-IN" sz="1600" dirty="0" err="1"/>
              <a:t>System.out.println</a:t>
            </a:r>
            <a:r>
              <a:rPr lang="en-IN" sz="1600" dirty="0"/>
              <a:t>("</a:t>
            </a:r>
            <a:r>
              <a:rPr lang="en-IN" sz="1600" dirty="0" err="1"/>
              <a:t>ActiveNET</a:t>
            </a:r>
            <a:r>
              <a:rPr lang="en-IN" sz="1600" dirty="0"/>
              <a:t> is smaller than </a:t>
            </a:r>
            <a:r>
              <a:rPr lang="en-IN" sz="1600" dirty="0" err="1"/>
              <a:t>Activenet</a:t>
            </a:r>
            <a:r>
              <a:rPr lang="en-IN" sz="1600" dirty="0"/>
              <a:t>");</a:t>
            </a:r>
          </a:p>
          <a:p>
            <a:r>
              <a:rPr lang="en-IN" sz="1600" dirty="0"/>
              <a:t>} else if(</a:t>
            </a:r>
            <a:r>
              <a:rPr lang="en-IN" sz="1600" dirty="0" err="1"/>
              <a:t>str.compareTo</a:t>
            </a:r>
            <a:r>
              <a:rPr lang="en-IN" sz="1600" dirty="0"/>
              <a:t>(str11)==0)  {</a:t>
            </a:r>
          </a:p>
          <a:p>
            <a:r>
              <a:rPr lang="en-IN" sz="1600" dirty="0"/>
              <a:t>	</a:t>
            </a:r>
            <a:r>
              <a:rPr lang="en-IN" sz="1600" dirty="0" err="1"/>
              <a:t>System.out.println</a:t>
            </a:r>
            <a:r>
              <a:rPr lang="en-IN" sz="1600" dirty="0"/>
              <a:t>("</a:t>
            </a:r>
            <a:r>
              <a:rPr lang="en-IN" sz="1600" dirty="0" err="1"/>
              <a:t>ActiveNET</a:t>
            </a:r>
            <a:r>
              <a:rPr lang="en-IN" sz="1600" dirty="0"/>
              <a:t> is equal to </a:t>
            </a:r>
            <a:r>
              <a:rPr lang="en-IN" sz="1600" dirty="0" err="1"/>
              <a:t>Activenet</a:t>
            </a:r>
            <a:r>
              <a:rPr lang="en-IN" sz="1600" dirty="0"/>
              <a:t>");</a:t>
            </a:r>
          </a:p>
          <a:p>
            <a:r>
              <a:rPr lang="en-IN" sz="1600" dirty="0"/>
              <a:t>} else {</a:t>
            </a:r>
          </a:p>
          <a:p>
            <a:r>
              <a:rPr lang="en-IN" sz="1600" dirty="0"/>
              <a:t>	</a:t>
            </a:r>
            <a:r>
              <a:rPr lang="en-IN" sz="1600" dirty="0" err="1"/>
              <a:t>System.out.println</a:t>
            </a:r>
            <a:r>
              <a:rPr lang="en-IN" sz="1600" dirty="0"/>
              <a:t>("No result");</a:t>
            </a:r>
          </a:p>
          <a:p>
            <a:r>
              <a:rPr lang="en-IN" sz="1600" dirty="0"/>
              <a:t>}</a:t>
            </a:r>
          </a:p>
        </p:txBody>
      </p:sp>
      <p:sp>
        <p:nvSpPr>
          <p:cNvPr id="7" name="Footer Placeholder 6">
            <a:extLst>
              <a:ext uri="{FF2B5EF4-FFF2-40B4-BE49-F238E27FC236}">
                <a16:creationId xmlns:a16="http://schemas.microsoft.com/office/drawing/2014/main" xmlns="" id="{DCEE4340-4313-DFE3-C46F-4FB89CDB17B1}"/>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21663354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a16="http://schemas.microsoft.com/office/drawing/2014/main" xmlns="" id="{B94E353F-3E0A-C44D-31B5-E126B9C3F140}"/>
              </a:ext>
            </a:extLst>
          </p:cNvPr>
          <p:cNvSpPr txBox="1"/>
          <p:nvPr/>
        </p:nvSpPr>
        <p:spPr>
          <a:xfrm>
            <a:off x="6129672" y="995881"/>
            <a:ext cx="5342903" cy="3693319"/>
          </a:xfrm>
          <a:prstGeom prst="rect">
            <a:avLst/>
          </a:prstGeom>
          <a:noFill/>
        </p:spPr>
        <p:txBody>
          <a:bodyPr wrap="square">
            <a:spAutoFit/>
          </a:bodyPr>
          <a:lstStyle/>
          <a:p>
            <a:r>
              <a:rPr lang="en-IN" dirty="0"/>
              <a:t>if(</a:t>
            </a:r>
            <a:r>
              <a:rPr lang="en-IN" dirty="0" err="1"/>
              <a:t>str.equalsIgnoreCase</a:t>
            </a:r>
            <a:r>
              <a:rPr lang="en-IN" dirty="0"/>
              <a:t>("</a:t>
            </a:r>
            <a:r>
              <a:rPr lang="en-IN" dirty="0" err="1"/>
              <a:t>Activenet</a:t>
            </a:r>
            <a:r>
              <a:rPr lang="en-IN" dirty="0"/>
              <a:t>")) {</a:t>
            </a:r>
          </a:p>
          <a:p>
            <a:r>
              <a:rPr lang="en-IN" dirty="0"/>
              <a:t>	System.out.println("ActiveNET and </a:t>
            </a:r>
            <a:r>
              <a:rPr lang="en-IN" dirty="0" err="1"/>
              <a:t>Activenet</a:t>
            </a:r>
            <a:r>
              <a:rPr lang="en-IN" dirty="0"/>
              <a:t> are equal with ignore case");</a:t>
            </a:r>
          </a:p>
          <a:p>
            <a:r>
              <a:rPr lang="en-IN" dirty="0"/>
              <a:t>} else {</a:t>
            </a:r>
          </a:p>
          <a:p>
            <a:r>
              <a:rPr lang="en-IN" dirty="0"/>
              <a:t>	System.out.println("ActiveNET and </a:t>
            </a:r>
            <a:r>
              <a:rPr lang="en-IN" dirty="0" err="1"/>
              <a:t>Activenet</a:t>
            </a:r>
            <a:r>
              <a:rPr lang="en-IN" dirty="0"/>
              <a:t> are not equal");</a:t>
            </a:r>
          </a:p>
          <a:p>
            <a:r>
              <a:rPr lang="en-IN" dirty="0"/>
              <a:t>}</a:t>
            </a:r>
          </a:p>
          <a:p>
            <a:r>
              <a:rPr lang="en-IN" dirty="0"/>
              <a:t>		</a:t>
            </a:r>
          </a:p>
          <a:p>
            <a:r>
              <a:rPr lang="en-IN" dirty="0" err="1"/>
              <a:t>System.out.println</a:t>
            </a:r>
            <a:r>
              <a:rPr lang="en-IN" dirty="0"/>
              <a:t>(</a:t>
            </a:r>
            <a:r>
              <a:rPr lang="en-IN" dirty="0" err="1"/>
              <a:t>str.hashCode</a:t>
            </a:r>
            <a:r>
              <a:rPr lang="en-IN" dirty="0"/>
              <a:t>(); // -2086524777</a:t>
            </a:r>
          </a:p>
          <a:p>
            <a:r>
              <a:rPr lang="en-IN" dirty="0" err="1"/>
              <a:t>System.out.println</a:t>
            </a:r>
            <a:r>
              <a:rPr lang="en-IN" dirty="0"/>
              <a:t>(str11.hashCode(); // -2086493001</a:t>
            </a:r>
          </a:p>
          <a:p>
            <a:r>
              <a:rPr lang="en-IN" dirty="0" err="1"/>
              <a:t>System.out.println</a:t>
            </a:r>
            <a:r>
              <a:rPr lang="en-IN" dirty="0"/>
              <a:t>(</a:t>
            </a:r>
            <a:r>
              <a:rPr lang="en-IN" dirty="0" err="1"/>
              <a:t>str.toString</a:t>
            </a:r>
            <a:r>
              <a:rPr lang="en-IN" dirty="0"/>
              <a:t>());</a:t>
            </a:r>
          </a:p>
          <a:p>
            <a:r>
              <a:rPr lang="en-IN" dirty="0"/>
              <a:t>}  // main()</a:t>
            </a:r>
          </a:p>
          <a:p>
            <a:r>
              <a:rPr lang="en-IN" dirty="0"/>
              <a:t>} // class</a:t>
            </a:r>
          </a:p>
        </p:txBody>
      </p:sp>
      <p:sp>
        <p:nvSpPr>
          <p:cNvPr id="8" name="TextBox 7">
            <a:extLst>
              <a:ext uri="{FF2B5EF4-FFF2-40B4-BE49-F238E27FC236}">
                <a16:creationId xmlns:a16="http://schemas.microsoft.com/office/drawing/2014/main" xmlns="" id="{A2EE3E22-8EA8-43FE-1223-727D5D023C6C}"/>
              </a:ext>
            </a:extLst>
          </p:cNvPr>
          <p:cNvSpPr txBox="1"/>
          <p:nvPr/>
        </p:nvSpPr>
        <p:spPr>
          <a:xfrm>
            <a:off x="289113" y="804778"/>
            <a:ext cx="6138582" cy="5355312"/>
          </a:xfrm>
          <a:prstGeom prst="rect">
            <a:avLst/>
          </a:prstGeom>
          <a:noFill/>
        </p:spPr>
        <p:txBody>
          <a:bodyPr wrap="square">
            <a:spAutoFit/>
          </a:bodyPr>
          <a:lstStyle/>
          <a:p>
            <a:r>
              <a:rPr lang="en-IN" sz="1800" dirty="0" err="1"/>
              <a:t>System.out.println</a:t>
            </a:r>
            <a:r>
              <a:rPr lang="en-IN" sz="1800" dirty="0"/>
              <a:t>(</a:t>
            </a:r>
            <a:r>
              <a:rPr lang="en-IN" sz="1800" dirty="0" err="1"/>
              <a:t>str.concat</a:t>
            </a:r>
            <a:r>
              <a:rPr lang="en-IN" sz="1800" dirty="0"/>
              <a:t>(" Informatics Pvt Ltd"));</a:t>
            </a:r>
          </a:p>
          <a:p>
            <a:r>
              <a:rPr lang="en-IN" sz="1800" dirty="0"/>
              <a:t>String str7="Are you having Idea Number";</a:t>
            </a:r>
          </a:p>
          <a:p>
            <a:r>
              <a:rPr lang="en-IN" sz="1800" dirty="0"/>
              <a:t>String str8=str7.substring(15, 19);</a:t>
            </a:r>
          </a:p>
          <a:p>
            <a:r>
              <a:rPr lang="en-IN" sz="1800" dirty="0" err="1"/>
              <a:t>System.out.println</a:t>
            </a:r>
            <a:r>
              <a:rPr lang="en-IN" sz="1800" dirty="0"/>
              <a:t>(str8);</a:t>
            </a:r>
          </a:p>
          <a:p>
            <a:r>
              <a:rPr lang="en-IN" sz="1800" dirty="0"/>
              <a:t>	       </a:t>
            </a:r>
          </a:p>
          <a:p>
            <a:r>
              <a:rPr lang="en-IN" sz="1800" dirty="0" err="1"/>
              <a:t>System.out.println</a:t>
            </a:r>
            <a:r>
              <a:rPr lang="en-IN" sz="1800" dirty="0"/>
              <a:t>(</a:t>
            </a:r>
            <a:r>
              <a:rPr lang="en-IN" sz="1800" dirty="0" err="1"/>
              <a:t>str.toLowerCase</a:t>
            </a:r>
            <a:r>
              <a:rPr lang="en-IN" sz="1800" dirty="0"/>
              <a:t>());</a:t>
            </a:r>
          </a:p>
          <a:p>
            <a:r>
              <a:rPr lang="en-IN" sz="1800" dirty="0" err="1"/>
              <a:t>System.out.println</a:t>
            </a:r>
            <a:r>
              <a:rPr lang="en-IN" sz="1800" dirty="0"/>
              <a:t>(</a:t>
            </a:r>
            <a:r>
              <a:rPr lang="en-IN" sz="1800" dirty="0" err="1"/>
              <a:t>str.toUpperCase</a:t>
            </a:r>
            <a:r>
              <a:rPr lang="en-IN" sz="1800" dirty="0"/>
              <a:t>());</a:t>
            </a:r>
          </a:p>
          <a:p>
            <a:r>
              <a:rPr lang="en-IN" sz="1800" dirty="0"/>
              <a:t>		</a:t>
            </a:r>
          </a:p>
          <a:p>
            <a:r>
              <a:rPr lang="en-IN" sz="1800" dirty="0"/>
              <a:t>String str9="  </a:t>
            </a:r>
            <a:r>
              <a:rPr lang="en-IN" sz="1800" dirty="0" err="1"/>
              <a:t>ActiveNET</a:t>
            </a:r>
            <a:r>
              <a:rPr lang="en-IN" sz="1800" dirty="0"/>
              <a:t>   ";</a:t>
            </a:r>
          </a:p>
          <a:p>
            <a:r>
              <a:rPr lang="en-IN" sz="1800" dirty="0" err="1"/>
              <a:t>System.out.println</a:t>
            </a:r>
            <a:r>
              <a:rPr lang="en-IN" sz="1800" dirty="0"/>
              <a:t>(</a:t>
            </a:r>
            <a:r>
              <a:rPr lang="en-IN" sz="1800" dirty="0" err="1"/>
              <a:t>str.trim</a:t>
            </a:r>
            <a:r>
              <a:rPr lang="en-IN" sz="1800" dirty="0"/>
              <a:t>()); </a:t>
            </a:r>
          </a:p>
          <a:p>
            <a:r>
              <a:rPr lang="en-IN" sz="1800" dirty="0"/>
              <a:t>// leading/before and trailing/after spaces are removed</a:t>
            </a:r>
          </a:p>
          <a:p>
            <a:r>
              <a:rPr lang="en-IN" sz="1800" dirty="0"/>
              <a:t>		</a:t>
            </a:r>
          </a:p>
          <a:p>
            <a:r>
              <a:rPr lang="en-IN" sz="1800" dirty="0"/>
              <a:t>if(</a:t>
            </a:r>
            <a:r>
              <a:rPr lang="en-IN" sz="1800" dirty="0" err="1"/>
              <a:t>str.equals</a:t>
            </a:r>
            <a:r>
              <a:rPr lang="en-IN" sz="1800" dirty="0"/>
              <a:t>("</a:t>
            </a:r>
            <a:r>
              <a:rPr lang="en-IN" sz="1800" dirty="0" err="1"/>
              <a:t>Activenet</a:t>
            </a:r>
            <a:r>
              <a:rPr lang="en-IN" sz="1800" dirty="0"/>
              <a:t>")) {</a:t>
            </a:r>
          </a:p>
          <a:p>
            <a:r>
              <a:rPr lang="en-IN" sz="1800" dirty="0"/>
              <a:t>	</a:t>
            </a:r>
            <a:r>
              <a:rPr lang="en-IN" sz="1800" dirty="0" err="1"/>
              <a:t>System.out.println</a:t>
            </a:r>
            <a:r>
              <a:rPr lang="en-IN" sz="1800" dirty="0"/>
              <a:t>("</a:t>
            </a:r>
            <a:r>
              <a:rPr lang="en-IN" sz="1800" dirty="0" err="1"/>
              <a:t>ActiveNET</a:t>
            </a:r>
            <a:r>
              <a:rPr lang="en-IN" sz="1800" dirty="0"/>
              <a:t> and </a:t>
            </a:r>
            <a:r>
              <a:rPr lang="en-IN" sz="1800" dirty="0" err="1"/>
              <a:t>Activenet</a:t>
            </a:r>
            <a:r>
              <a:rPr lang="en-IN" sz="1800" dirty="0"/>
              <a:t> are equal");</a:t>
            </a:r>
          </a:p>
          <a:p>
            <a:r>
              <a:rPr lang="en-IN" sz="1800" dirty="0"/>
              <a:t>} else {</a:t>
            </a:r>
          </a:p>
          <a:p>
            <a:r>
              <a:rPr lang="en-IN" sz="1800" dirty="0"/>
              <a:t>	</a:t>
            </a:r>
            <a:r>
              <a:rPr lang="en-IN" sz="1800" dirty="0" err="1"/>
              <a:t>System.out.println</a:t>
            </a:r>
            <a:r>
              <a:rPr lang="en-IN" sz="1800" dirty="0"/>
              <a:t>("</a:t>
            </a:r>
            <a:r>
              <a:rPr lang="en-IN" sz="1800" dirty="0" err="1"/>
              <a:t>ActiveNET</a:t>
            </a:r>
            <a:r>
              <a:rPr lang="en-IN" sz="1800" dirty="0"/>
              <a:t> and </a:t>
            </a:r>
            <a:r>
              <a:rPr lang="en-IN" sz="1800" dirty="0" err="1"/>
              <a:t>Activenet</a:t>
            </a:r>
            <a:r>
              <a:rPr lang="en-IN" sz="1800" dirty="0"/>
              <a:t> are not equal");</a:t>
            </a:r>
          </a:p>
          <a:p>
            <a:r>
              <a:rPr lang="en-IN" sz="1800" dirty="0"/>
              <a:t>}</a:t>
            </a:r>
          </a:p>
        </p:txBody>
      </p:sp>
      <p:sp>
        <p:nvSpPr>
          <p:cNvPr id="7" name="Footer Placeholder 6">
            <a:extLst>
              <a:ext uri="{FF2B5EF4-FFF2-40B4-BE49-F238E27FC236}">
                <a16:creationId xmlns:a16="http://schemas.microsoft.com/office/drawing/2014/main" xmlns="" id="{D0960856-1A6C-58CF-DDC3-7E173C66924C}"/>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2759723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807B0A52-06D4-3E1D-A5D8-13E8C37E498F}"/>
              </a:ext>
            </a:extLst>
          </p:cNvPr>
          <p:cNvSpPr txBox="1"/>
          <p:nvPr/>
        </p:nvSpPr>
        <p:spPr>
          <a:xfrm>
            <a:off x="326094" y="742426"/>
            <a:ext cx="9042494" cy="5678478"/>
          </a:xfrm>
          <a:prstGeom prst="rect">
            <a:avLst/>
          </a:prstGeom>
          <a:noFill/>
        </p:spPr>
        <p:txBody>
          <a:bodyPr wrap="square">
            <a:spAutoFit/>
          </a:bodyPr>
          <a:lstStyle/>
          <a:p>
            <a:r>
              <a:rPr lang="en-IN" sz="1300" b="1" dirty="0"/>
              <a:t>// StringCompareDemo.java</a:t>
            </a:r>
          </a:p>
          <a:p>
            <a:r>
              <a:rPr lang="en-IN" sz="1400" dirty="0"/>
              <a:t>public class </a:t>
            </a:r>
            <a:r>
              <a:rPr lang="en-IN" sz="1400" dirty="0" err="1"/>
              <a:t>StringCompareDemo</a:t>
            </a:r>
            <a:r>
              <a:rPr lang="en-IN" sz="1400" dirty="0"/>
              <a:t> {</a:t>
            </a:r>
          </a:p>
          <a:p>
            <a:r>
              <a:rPr lang="en-IN" sz="1400" dirty="0"/>
              <a:t>   public static void main(String rags[]) throws Exception {</a:t>
            </a:r>
          </a:p>
          <a:p>
            <a:r>
              <a:rPr lang="en-IN" sz="1400" dirty="0"/>
              <a:t>	</a:t>
            </a:r>
          </a:p>
          <a:p>
            <a:r>
              <a:rPr lang="en-IN" sz="1400" dirty="0"/>
              <a:t>/* </a:t>
            </a:r>
          </a:p>
          <a:p>
            <a:r>
              <a:rPr lang="en-IN" sz="1400" dirty="0"/>
              <a:t>primitive data type (</a:t>
            </a:r>
            <a:r>
              <a:rPr lang="en-IN" sz="1400" dirty="0" err="1"/>
              <a:t>byte,short,int,long,float,double,char,boolean</a:t>
            </a:r>
            <a:r>
              <a:rPr lang="en-IN" sz="1400" dirty="0"/>
              <a:t>) variables can be compared with == operator </a:t>
            </a:r>
          </a:p>
          <a:p>
            <a:r>
              <a:rPr lang="en-IN" sz="1400" dirty="0"/>
              <a:t>*/</a:t>
            </a:r>
          </a:p>
          <a:p>
            <a:r>
              <a:rPr lang="en-IN" sz="1400" dirty="0"/>
              <a:t>/*</a:t>
            </a:r>
          </a:p>
          <a:p>
            <a:pPr lvl="1"/>
            <a:r>
              <a:rPr lang="en-IN" sz="1400" dirty="0"/>
              <a:t>int </a:t>
            </a:r>
            <a:r>
              <a:rPr lang="en-IN" sz="1400" dirty="0" err="1"/>
              <a:t>i</a:t>
            </a:r>
            <a:r>
              <a:rPr lang="en-IN" sz="1400" dirty="0"/>
              <a:t>=10,j=10,k=1;</a:t>
            </a:r>
          </a:p>
          <a:p>
            <a:pPr lvl="1"/>
            <a:r>
              <a:rPr lang="en-IN" sz="1400" dirty="0"/>
              <a:t>if(</a:t>
            </a:r>
            <a:r>
              <a:rPr lang="en-IN" sz="1400" dirty="0" err="1"/>
              <a:t>i</a:t>
            </a:r>
            <a:r>
              <a:rPr lang="en-IN" sz="1400" dirty="0"/>
              <a:t>==j) {</a:t>
            </a:r>
          </a:p>
          <a:p>
            <a:pPr lvl="1"/>
            <a:r>
              <a:rPr lang="en-IN" sz="1400" dirty="0"/>
              <a:t>}</a:t>
            </a:r>
          </a:p>
          <a:p>
            <a:pPr lvl="1"/>
            <a:r>
              <a:rPr lang="en-IN" sz="1400" dirty="0"/>
              <a:t>if(j==k) {</a:t>
            </a:r>
          </a:p>
          <a:p>
            <a:pPr lvl="1"/>
            <a:r>
              <a:rPr lang="en-IN" sz="1400" dirty="0"/>
              <a:t>}</a:t>
            </a:r>
          </a:p>
          <a:p>
            <a:r>
              <a:rPr lang="en-IN" sz="1400" dirty="0"/>
              <a:t>*/</a:t>
            </a:r>
          </a:p>
          <a:p>
            <a:r>
              <a:rPr lang="en-IN" sz="1400" dirty="0"/>
              <a:t>		</a:t>
            </a:r>
          </a:p>
          <a:p>
            <a:r>
              <a:rPr lang="en-IN" sz="1400" dirty="0"/>
              <a:t>/* </a:t>
            </a:r>
          </a:p>
          <a:p>
            <a:r>
              <a:rPr lang="en-IN" sz="1400" dirty="0"/>
              <a:t>whereas secondary datatype (classes including String, array) variables cannot be compared with == operator. To compare class objects equals() method must be used.</a:t>
            </a:r>
          </a:p>
          <a:p>
            <a:endParaRPr lang="en-IN" sz="1400" dirty="0"/>
          </a:p>
          <a:p>
            <a:r>
              <a:rPr lang="en-IN" sz="1400" dirty="0"/>
              <a:t>String objects created by using direct assignment and stored in a String pool. String pool is one of the memory unit in JVM.</a:t>
            </a:r>
          </a:p>
          <a:p>
            <a:r>
              <a:rPr lang="en-IN" sz="1400" dirty="0"/>
              <a:t>		</a:t>
            </a:r>
          </a:p>
          <a:p>
            <a:r>
              <a:rPr lang="en-IN" sz="1400" dirty="0"/>
              <a:t>Such a two String objects created with the same state (value) are points to the same memory location in the String pool.</a:t>
            </a:r>
          </a:p>
          <a:p>
            <a:r>
              <a:rPr lang="en-IN" sz="1400" dirty="0"/>
              <a:t>*/</a:t>
            </a:r>
          </a:p>
          <a:p>
            <a:r>
              <a:rPr lang="en-IN" sz="1400" dirty="0"/>
              <a:t>String str="ActiveNET";</a:t>
            </a:r>
          </a:p>
          <a:p>
            <a:r>
              <a:rPr lang="en-IN" sz="1400" dirty="0"/>
              <a:t>String str1="ActiveNET";</a:t>
            </a:r>
          </a:p>
          <a:p>
            <a:r>
              <a:rPr lang="en-IN" sz="1400" dirty="0"/>
              <a:t>String str2="</a:t>
            </a:r>
            <a:r>
              <a:rPr lang="en-IN" sz="1400" dirty="0" err="1"/>
              <a:t>activeNET</a:t>
            </a:r>
            <a:r>
              <a:rPr lang="en-IN" sz="1400" dirty="0"/>
              <a:t>";</a:t>
            </a:r>
          </a:p>
        </p:txBody>
      </p:sp>
      <p:sp>
        <p:nvSpPr>
          <p:cNvPr id="7" name="Footer Placeholder 6">
            <a:extLst>
              <a:ext uri="{FF2B5EF4-FFF2-40B4-BE49-F238E27FC236}">
                <a16:creationId xmlns:a16="http://schemas.microsoft.com/office/drawing/2014/main" xmlns="" id="{C37B4F0C-AD95-D2AE-5942-24A421B29876}"/>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35448984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746FF482-CC5E-2507-3486-D3F66CC1B7E3}"/>
              </a:ext>
            </a:extLst>
          </p:cNvPr>
          <p:cNvSpPr txBox="1"/>
          <p:nvPr/>
        </p:nvSpPr>
        <p:spPr>
          <a:xfrm>
            <a:off x="191625" y="625195"/>
            <a:ext cx="5823693" cy="6001643"/>
          </a:xfrm>
          <a:prstGeom prst="rect">
            <a:avLst/>
          </a:prstGeom>
          <a:noFill/>
        </p:spPr>
        <p:txBody>
          <a:bodyPr wrap="square">
            <a:spAutoFit/>
          </a:bodyPr>
          <a:lstStyle/>
          <a:p>
            <a:pPr algn="just"/>
            <a:r>
              <a:rPr lang="en-IN" sz="1200" dirty="0"/>
              <a:t>/* </a:t>
            </a:r>
          </a:p>
          <a:p>
            <a:pPr algn="just"/>
            <a:r>
              <a:rPr lang="en-IN" sz="1200" dirty="0"/>
              <a:t>If String objects are created using new operator and constructor are stored in JVM heap. JVM heap is one of the memory unit in JVM. In Java all objects created using new operator are stored in JVM heap only.</a:t>
            </a:r>
          </a:p>
          <a:p>
            <a:pPr algn="just"/>
            <a:r>
              <a:rPr lang="en-IN" sz="1200" dirty="0"/>
              <a:t>		</a:t>
            </a:r>
          </a:p>
          <a:p>
            <a:pPr algn="just"/>
            <a:r>
              <a:rPr lang="en-IN" sz="1200" dirty="0"/>
              <a:t>Even though two String objects are created with the new operator and with the same state are stored in different addresses.</a:t>
            </a:r>
          </a:p>
          <a:p>
            <a:pPr algn="just"/>
            <a:r>
              <a:rPr lang="en-IN" sz="1200" dirty="0"/>
              <a:t>*/</a:t>
            </a:r>
          </a:p>
          <a:p>
            <a:pPr algn="just"/>
            <a:r>
              <a:rPr lang="en-IN" sz="1200" dirty="0"/>
              <a:t>String str3=new String("ActiveNET");</a:t>
            </a:r>
          </a:p>
          <a:p>
            <a:pPr algn="just"/>
            <a:r>
              <a:rPr lang="en-IN" sz="1200" dirty="0"/>
              <a:t>String str4=new String("ActiveNET");</a:t>
            </a:r>
          </a:p>
          <a:p>
            <a:pPr algn="just"/>
            <a:r>
              <a:rPr lang="en-IN" sz="1200" dirty="0"/>
              <a:t>	   </a:t>
            </a:r>
          </a:p>
          <a:p>
            <a:pPr algn="just"/>
            <a:r>
              <a:rPr lang="en-IN" sz="1200" dirty="0"/>
              <a:t>// object address are compared</a:t>
            </a:r>
          </a:p>
          <a:p>
            <a:pPr algn="just"/>
            <a:r>
              <a:rPr lang="en-IN" sz="1200" dirty="0"/>
              <a:t>if(str==str1) {</a:t>
            </a:r>
          </a:p>
          <a:p>
            <a:pPr algn="just"/>
            <a:r>
              <a:rPr lang="en-IN" sz="1200" dirty="0"/>
              <a:t>	System.out.println("str &amp; str1 pointing to same memory location");</a:t>
            </a:r>
          </a:p>
          <a:p>
            <a:pPr algn="just"/>
            <a:r>
              <a:rPr lang="en-IN" sz="1200" dirty="0"/>
              <a:t>}</a:t>
            </a:r>
          </a:p>
          <a:p>
            <a:pPr algn="just"/>
            <a:r>
              <a:rPr lang="en-IN" sz="1200" dirty="0"/>
              <a:t>	   </a:t>
            </a:r>
          </a:p>
          <a:p>
            <a:pPr algn="just"/>
            <a:r>
              <a:rPr lang="en-IN" sz="1200" dirty="0"/>
              <a:t>// object state/value are compared</a:t>
            </a:r>
          </a:p>
          <a:p>
            <a:pPr algn="just"/>
            <a:r>
              <a:rPr lang="en-IN" sz="1200" dirty="0"/>
              <a:t>if(</a:t>
            </a:r>
            <a:r>
              <a:rPr lang="en-IN" sz="1200" dirty="0" err="1"/>
              <a:t>str.equals</a:t>
            </a:r>
            <a:r>
              <a:rPr lang="en-IN" sz="1200" dirty="0"/>
              <a:t>(str1)){</a:t>
            </a:r>
          </a:p>
          <a:p>
            <a:pPr algn="just"/>
            <a:r>
              <a:rPr lang="en-IN" sz="1200" dirty="0"/>
              <a:t>	System.out.println("str &amp; str1 state is same");</a:t>
            </a:r>
          </a:p>
          <a:p>
            <a:pPr algn="just"/>
            <a:r>
              <a:rPr lang="en-IN" sz="1200" dirty="0"/>
              <a:t>}</a:t>
            </a:r>
          </a:p>
          <a:p>
            <a:pPr algn="just"/>
            <a:r>
              <a:rPr lang="en-IN" sz="1200" dirty="0"/>
              <a:t>	   </a:t>
            </a:r>
          </a:p>
          <a:p>
            <a:pPr algn="just"/>
            <a:r>
              <a:rPr lang="en-IN" sz="1200" dirty="0"/>
              <a:t>if(str==str2) {</a:t>
            </a:r>
          </a:p>
          <a:p>
            <a:pPr algn="just"/>
            <a:r>
              <a:rPr lang="en-IN" sz="1200" dirty="0"/>
              <a:t>      System.out.println("str &amp; str2 are pointing to same memory location");</a:t>
            </a:r>
          </a:p>
          <a:p>
            <a:pPr algn="just"/>
            <a:r>
              <a:rPr lang="en-IN" sz="1200" dirty="0"/>
              <a:t>} else {</a:t>
            </a:r>
          </a:p>
          <a:p>
            <a:pPr algn="just"/>
            <a:r>
              <a:rPr lang="en-IN" sz="1200" dirty="0"/>
              <a:t>      System.out.println("str &amp; str2 are not pointing to same memory location");	   </a:t>
            </a:r>
          </a:p>
          <a:p>
            <a:pPr algn="just"/>
            <a:r>
              <a:rPr lang="en-IN" sz="1200" dirty="0"/>
              <a:t>}</a:t>
            </a:r>
          </a:p>
          <a:p>
            <a:pPr algn="just"/>
            <a:r>
              <a:rPr lang="en-IN" sz="1200" dirty="0"/>
              <a:t>	   </a:t>
            </a:r>
          </a:p>
          <a:p>
            <a:pPr algn="just"/>
            <a:r>
              <a:rPr lang="en-IN" sz="1200" dirty="0"/>
              <a:t>if(</a:t>
            </a:r>
            <a:r>
              <a:rPr lang="en-IN" sz="1200" dirty="0" err="1"/>
              <a:t>str.equals</a:t>
            </a:r>
            <a:r>
              <a:rPr lang="en-IN" sz="1200" dirty="0"/>
              <a:t>(str2)) {</a:t>
            </a:r>
          </a:p>
          <a:p>
            <a:pPr algn="just"/>
            <a:r>
              <a:rPr lang="en-IN" sz="1200" dirty="0"/>
              <a:t>      System.out.println("str &amp; str2 state is same");</a:t>
            </a:r>
          </a:p>
          <a:p>
            <a:pPr algn="just"/>
            <a:r>
              <a:rPr lang="en-IN" sz="1200" dirty="0"/>
              <a:t>} else {</a:t>
            </a:r>
          </a:p>
          <a:p>
            <a:pPr algn="just"/>
            <a:r>
              <a:rPr lang="en-IN" sz="1200" dirty="0"/>
              <a:t>      System.out.println("str &amp; str2 state are not same");	   </a:t>
            </a:r>
          </a:p>
          <a:p>
            <a:pPr algn="just"/>
            <a:r>
              <a:rPr lang="en-IN" sz="1200" dirty="0"/>
              <a:t>}</a:t>
            </a:r>
          </a:p>
        </p:txBody>
      </p:sp>
      <p:sp>
        <p:nvSpPr>
          <p:cNvPr id="25" name="TextBox 24">
            <a:extLst>
              <a:ext uri="{FF2B5EF4-FFF2-40B4-BE49-F238E27FC236}">
                <a16:creationId xmlns:a16="http://schemas.microsoft.com/office/drawing/2014/main" xmlns="" id="{59671D55-7FA5-B10B-1686-38243106B49A}"/>
              </a:ext>
            </a:extLst>
          </p:cNvPr>
          <p:cNvSpPr txBox="1"/>
          <p:nvPr/>
        </p:nvSpPr>
        <p:spPr>
          <a:xfrm>
            <a:off x="5936577" y="893836"/>
            <a:ext cx="5173757" cy="5078313"/>
          </a:xfrm>
          <a:prstGeom prst="rect">
            <a:avLst/>
          </a:prstGeom>
          <a:noFill/>
        </p:spPr>
        <p:txBody>
          <a:bodyPr wrap="square">
            <a:spAutoFit/>
          </a:bodyPr>
          <a:lstStyle/>
          <a:p>
            <a:r>
              <a:rPr lang="en-IN" sz="1200" dirty="0"/>
              <a:t> if(str==str3) {</a:t>
            </a:r>
          </a:p>
          <a:p>
            <a:r>
              <a:rPr lang="en-IN" sz="1200" dirty="0"/>
              <a:t>      System.out.println("str &amp; str3 are pointing to same memory location");</a:t>
            </a:r>
          </a:p>
          <a:p>
            <a:r>
              <a:rPr lang="en-IN" sz="1200" dirty="0"/>
              <a:t>   } else {</a:t>
            </a:r>
          </a:p>
          <a:p>
            <a:r>
              <a:rPr lang="en-IN" sz="1200" dirty="0"/>
              <a:t>      System.out.println("str &amp; str3 are not pointing to same memory location");	   </a:t>
            </a:r>
          </a:p>
          <a:p>
            <a:r>
              <a:rPr lang="en-IN" sz="1200" dirty="0"/>
              <a:t>   }</a:t>
            </a:r>
          </a:p>
          <a:p>
            <a:r>
              <a:rPr lang="en-IN" sz="1200" dirty="0"/>
              <a:t>	   </a:t>
            </a:r>
          </a:p>
          <a:p>
            <a:r>
              <a:rPr lang="en-IN" sz="1200" dirty="0"/>
              <a:t>   if(</a:t>
            </a:r>
            <a:r>
              <a:rPr lang="en-IN" sz="1200" dirty="0" err="1"/>
              <a:t>str.equals</a:t>
            </a:r>
            <a:r>
              <a:rPr lang="en-IN" sz="1200" dirty="0"/>
              <a:t>(str3)){</a:t>
            </a:r>
          </a:p>
          <a:p>
            <a:r>
              <a:rPr lang="en-IN" sz="1200" dirty="0"/>
              <a:t>      System.out.println("str &amp; str3 state is same");</a:t>
            </a:r>
          </a:p>
          <a:p>
            <a:r>
              <a:rPr lang="en-IN" sz="1200" dirty="0"/>
              <a:t>   } else {</a:t>
            </a:r>
          </a:p>
          <a:p>
            <a:r>
              <a:rPr lang="en-IN" sz="1200" dirty="0"/>
              <a:t>      System.out.println("str &amp; str3 state are not same");</a:t>
            </a:r>
          </a:p>
          <a:p>
            <a:r>
              <a:rPr lang="en-IN" sz="1200" dirty="0"/>
              <a:t>   }</a:t>
            </a:r>
          </a:p>
          <a:p>
            <a:endParaRPr lang="en-IN" sz="1200" dirty="0"/>
          </a:p>
          <a:p>
            <a:r>
              <a:rPr lang="en-IN" sz="1200" dirty="0"/>
              <a:t>   if(str3==str4) {</a:t>
            </a:r>
          </a:p>
          <a:p>
            <a:r>
              <a:rPr lang="en-IN" sz="1200" dirty="0"/>
              <a:t>      System.out.println("str3 &amp; str4 are pointing to same memory location");</a:t>
            </a:r>
          </a:p>
          <a:p>
            <a:r>
              <a:rPr lang="en-IN" sz="1200" dirty="0"/>
              <a:t>   } else {</a:t>
            </a:r>
          </a:p>
          <a:p>
            <a:r>
              <a:rPr lang="en-IN" sz="1200" dirty="0"/>
              <a:t>      System.out.println("str3 &amp; str4 are not pointing to same memory location"); </a:t>
            </a:r>
          </a:p>
          <a:p>
            <a:r>
              <a:rPr lang="en-IN" sz="1200" dirty="0"/>
              <a:t>   }</a:t>
            </a:r>
          </a:p>
          <a:p>
            <a:r>
              <a:rPr lang="en-IN" sz="1200" dirty="0"/>
              <a:t>	   </a:t>
            </a:r>
          </a:p>
          <a:p>
            <a:r>
              <a:rPr lang="en-IN" sz="1200" dirty="0"/>
              <a:t>   if(str3.equals(str4)){</a:t>
            </a:r>
          </a:p>
          <a:p>
            <a:r>
              <a:rPr lang="en-IN" sz="1200" dirty="0"/>
              <a:t>      System.out.println("str3 &amp; str4 state is same");</a:t>
            </a:r>
          </a:p>
          <a:p>
            <a:r>
              <a:rPr lang="en-IN" sz="1200" dirty="0"/>
              <a:t>   } else {</a:t>
            </a:r>
          </a:p>
          <a:p>
            <a:r>
              <a:rPr lang="en-IN" sz="1200" dirty="0"/>
              <a:t>      System.out.println("str3 &amp;</a:t>
            </a:r>
          </a:p>
          <a:p>
            <a:r>
              <a:rPr lang="en-IN" sz="1200" dirty="0"/>
              <a:t>	 str4 state are not same");</a:t>
            </a:r>
          </a:p>
          <a:p>
            <a:r>
              <a:rPr lang="en-IN" sz="1200" dirty="0"/>
              <a:t>   }	   </a:t>
            </a:r>
          </a:p>
          <a:p>
            <a:r>
              <a:rPr lang="en-IN" sz="1200" dirty="0"/>
              <a:t> }</a:t>
            </a:r>
          </a:p>
          <a:p>
            <a:r>
              <a:rPr lang="en-IN" sz="1200" dirty="0"/>
              <a:t>}</a:t>
            </a:r>
          </a:p>
        </p:txBody>
      </p:sp>
      <p:sp>
        <p:nvSpPr>
          <p:cNvPr id="7" name="Footer Placeholder 6">
            <a:extLst>
              <a:ext uri="{FF2B5EF4-FFF2-40B4-BE49-F238E27FC236}">
                <a16:creationId xmlns:a16="http://schemas.microsoft.com/office/drawing/2014/main" xmlns="" id="{6B69E0EE-7355-3591-D088-DE692C2DB321}"/>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15272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E303ACF2-FA09-FB5B-95EF-E5D9D3BD420D}"/>
              </a:ext>
            </a:extLst>
          </p:cNvPr>
          <p:cNvSpPr txBox="1"/>
          <p:nvPr/>
        </p:nvSpPr>
        <p:spPr>
          <a:xfrm>
            <a:off x="285750" y="754666"/>
            <a:ext cx="9082838" cy="5293757"/>
          </a:xfrm>
          <a:prstGeom prst="rect">
            <a:avLst/>
          </a:prstGeom>
          <a:noFill/>
        </p:spPr>
        <p:txBody>
          <a:bodyPr wrap="square">
            <a:spAutoFit/>
          </a:bodyPr>
          <a:lstStyle/>
          <a:p>
            <a:pPr algn="just"/>
            <a:r>
              <a:rPr lang="en-IN" sz="2000" b="1" u="sng" dirty="0"/>
              <a:t>Strings are immutable and StringBuffer is mutable:</a:t>
            </a:r>
          </a:p>
          <a:p>
            <a:pPr algn="just"/>
            <a:r>
              <a:rPr lang="en-IN" sz="2000" dirty="0"/>
              <a:t>What is immutable? How classes other than String class are mutable?</a:t>
            </a:r>
          </a:p>
          <a:p>
            <a:pPr algn="just"/>
            <a:r>
              <a:rPr lang="en-IN" sz="2000" dirty="0"/>
              <a:t>What is main difference between creating String class object using new operator and by directly assigning value to variable?</a:t>
            </a:r>
          </a:p>
          <a:p>
            <a:pPr algn="just"/>
            <a:endParaRPr lang="en-IN" sz="2000" dirty="0"/>
          </a:p>
          <a:p>
            <a:pPr algn="just"/>
            <a:r>
              <a:rPr lang="en-IN" sz="2000" dirty="0"/>
              <a:t>If String class object is created using new operator. As many number of chars exist in the String those many chars * 2 bytes memory will be allocated to String class object. Though two String objects are created using new operator and constructor with the same state/value different copy of memory will be allocated to two objects of String class. For example.</a:t>
            </a:r>
          </a:p>
          <a:p>
            <a:pPr algn="just"/>
            <a:endParaRPr lang="en-IN" sz="2000" dirty="0"/>
          </a:p>
          <a:p>
            <a:pPr algn="just"/>
            <a:r>
              <a:rPr lang="en-IN" sz="2000" dirty="0"/>
              <a:t>String str=new String("ActiveNET"); // str points one memory location, for its 9 chars 18 bytes memory will be allocated.</a:t>
            </a:r>
          </a:p>
          <a:p>
            <a:pPr algn="just"/>
            <a:endParaRPr lang="en-IN" sz="2000" dirty="0"/>
          </a:p>
          <a:p>
            <a:pPr algn="just"/>
            <a:r>
              <a:rPr lang="en-IN" sz="2000" dirty="0"/>
              <a:t>If one more String object is created with new operator and constructor, though the str and str1 object state are same, different memory will be allocated str and str1.</a:t>
            </a:r>
          </a:p>
          <a:p>
            <a:pPr algn="just"/>
            <a:r>
              <a:rPr lang="en-IN" sz="2000" dirty="0"/>
              <a:t>String str1=new String("ActiveNET");</a:t>
            </a:r>
          </a:p>
        </p:txBody>
      </p:sp>
      <p:sp>
        <p:nvSpPr>
          <p:cNvPr id="7" name="Footer Placeholder 6">
            <a:extLst>
              <a:ext uri="{FF2B5EF4-FFF2-40B4-BE49-F238E27FC236}">
                <a16:creationId xmlns:a16="http://schemas.microsoft.com/office/drawing/2014/main" xmlns="" id="{8BB42787-4658-21E7-AFFE-5101249A1E25}"/>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33556026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xmlns="" id="{9D741EAE-8856-5CE7-4D9D-1ED65B72DCCF}"/>
              </a:ext>
            </a:extLst>
          </p:cNvPr>
          <p:cNvSpPr txBox="1"/>
          <p:nvPr/>
        </p:nvSpPr>
        <p:spPr>
          <a:xfrm>
            <a:off x="285750" y="1023347"/>
            <a:ext cx="9082838" cy="5016758"/>
          </a:xfrm>
          <a:prstGeom prst="rect">
            <a:avLst/>
          </a:prstGeom>
          <a:noFill/>
        </p:spPr>
        <p:txBody>
          <a:bodyPr wrap="square">
            <a:spAutoFit/>
          </a:bodyPr>
          <a:lstStyle/>
          <a:p>
            <a:pPr algn="just"/>
            <a:r>
              <a:rPr lang="en-IN" sz="2000" dirty="0"/>
              <a:t>Whereas if two String objects are created with the same state by directly assigning value to it, if their state is same, then both the object references will point to same memory location because when String object is directly created using = (assignment operator) followed by value the instead of allocation String objects memory in heap (in java object memory will be always allocated in heap area of the JVM), JVM will use a different memory location called String pool. When first object is created using String str2="ActiveNET"; the JVM will verify with the same state is there any object exist in the String pool or not. If not first time memory will allocate str2 in String pool. If another object is created with the same state as String str3="ActiveNET"; then JVM will verify the same state in String pool, if any string object exist in the pool with "ActiveNET" then str3 also points to the same memory location. Then both str2 and str3 will point to the same memory location. </a:t>
            </a:r>
          </a:p>
          <a:p>
            <a:pPr algn="just"/>
            <a:endParaRPr lang="en-IN" sz="2000" dirty="0"/>
          </a:p>
          <a:p>
            <a:pPr algn="just"/>
            <a:r>
              <a:rPr lang="en-IN" sz="2000" dirty="0"/>
              <a:t>Why String class is immutable because when we create String str="ActiveNET"; it will point to some memory location where 18 bytes of consecutive memory is available the object reference str will point to that memory location.</a:t>
            </a:r>
          </a:p>
        </p:txBody>
      </p:sp>
      <p:sp>
        <p:nvSpPr>
          <p:cNvPr id="7" name="Footer Placeholder 6">
            <a:extLst>
              <a:ext uri="{FF2B5EF4-FFF2-40B4-BE49-F238E27FC236}">
                <a16:creationId xmlns:a16="http://schemas.microsoft.com/office/drawing/2014/main" xmlns="" id="{A3ED24D8-E31E-57FC-F8C3-D226FDB8A391}"/>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30159146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BAA7E8CA-4E7F-53AD-3F9F-8E921AF38F9D}"/>
              </a:ext>
            </a:extLst>
          </p:cNvPr>
          <p:cNvSpPr txBox="1"/>
          <p:nvPr/>
        </p:nvSpPr>
        <p:spPr>
          <a:xfrm>
            <a:off x="302793" y="726487"/>
            <a:ext cx="7241007" cy="5355312"/>
          </a:xfrm>
          <a:prstGeom prst="rect">
            <a:avLst/>
          </a:prstGeom>
          <a:noFill/>
        </p:spPr>
        <p:txBody>
          <a:bodyPr wrap="square">
            <a:spAutoFit/>
          </a:bodyPr>
          <a:lstStyle/>
          <a:p>
            <a:pPr algn="just"/>
            <a:r>
              <a:rPr lang="en-IN" dirty="0"/>
              <a:t>If we try to modify String using str=str+" Informatics Pvt Ltd". " Informatics Pvt Ltd" contains 20 characters, the initial String contains 9 characters all together 29 characters 58 bytes of memory is required. Hence JVM will find out where 58 consecutive bytes of memory is available there the new String is copied str object reference points to that new memory location. The str doesn't points 18 bytes memory location. When a memory location is not pointing by any object reference Garbage Collector named one process is JVM will identify such objects as "no longer referenced objects" such objects are marked for garbage collection. This is how String can be modifiable but they will vacate old premises and occupies new premises. This is how String is immutable.</a:t>
            </a:r>
          </a:p>
          <a:p>
            <a:pPr algn="just"/>
            <a:endParaRPr lang="en-IN" dirty="0"/>
          </a:p>
          <a:p>
            <a:pPr algn="just"/>
            <a:r>
              <a:rPr lang="en-IN" dirty="0"/>
              <a:t>But in case of Emp class </a:t>
            </a:r>
          </a:p>
          <a:p>
            <a:pPr algn="just"/>
            <a:r>
              <a:rPr lang="en-IN" dirty="0"/>
              <a:t>	Emp e1=new Emp(1,"ABC", 50000.00, "Designer"); </a:t>
            </a:r>
          </a:p>
          <a:p>
            <a:pPr algn="just"/>
            <a:r>
              <a:rPr lang="en-IN" dirty="0"/>
              <a:t>	</a:t>
            </a:r>
          </a:p>
          <a:p>
            <a:pPr algn="just"/>
            <a:r>
              <a:rPr lang="en-IN" dirty="0"/>
              <a:t>34 bytes available memory location e1 object reference points. After some time if e1 object state is modified as e1.eid(2); e1.setEname("XYZ") etc. e1 object still points to the same memory location but only its state changes. This is how other than String class objects are mutable.</a:t>
            </a:r>
          </a:p>
        </p:txBody>
      </p:sp>
      <p:sp>
        <p:nvSpPr>
          <p:cNvPr id="25" name="TextBox 24">
            <a:extLst>
              <a:ext uri="{FF2B5EF4-FFF2-40B4-BE49-F238E27FC236}">
                <a16:creationId xmlns:a16="http://schemas.microsoft.com/office/drawing/2014/main" xmlns="" id="{B27539B6-A2BB-4C8F-4212-76A4BA85A002}"/>
              </a:ext>
            </a:extLst>
          </p:cNvPr>
          <p:cNvSpPr txBox="1"/>
          <p:nvPr/>
        </p:nvSpPr>
        <p:spPr>
          <a:xfrm>
            <a:off x="7769802" y="1552942"/>
            <a:ext cx="3932140" cy="2308324"/>
          </a:xfrm>
          <a:prstGeom prst="rect">
            <a:avLst/>
          </a:prstGeom>
          <a:noFill/>
        </p:spPr>
        <p:txBody>
          <a:bodyPr wrap="square">
            <a:spAutoFit/>
          </a:bodyPr>
          <a:lstStyle/>
          <a:p>
            <a:pPr algn="just"/>
            <a:r>
              <a:rPr lang="en-IN" dirty="0"/>
              <a:t>If two String objects are compared using == operator then their location will be compared, whereas if two String object compared using .equals() method their state will be compared. Hence in java we always compare two objects of the same class with equals() method but not by using == operator.</a:t>
            </a:r>
          </a:p>
        </p:txBody>
      </p:sp>
      <p:sp>
        <p:nvSpPr>
          <p:cNvPr id="7" name="Footer Placeholder 6">
            <a:extLst>
              <a:ext uri="{FF2B5EF4-FFF2-40B4-BE49-F238E27FC236}">
                <a16:creationId xmlns:a16="http://schemas.microsoft.com/office/drawing/2014/main" xmlns="" id="{7828008C-D37B-CF58-2406-3235060FD749}"/>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36816959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StringBuffer</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BAA7E8CA-4E7F-53AD-3F9F-8E921AF38F9D}"/>
              </a:ext>
            </a:extLst>
          </p:cNvPr>
          <p:cNvSpPr txBox="1"/>
          <p:nvPr/>
        </p:nvSpPr>
        <p:spPr>
          <a:xfrm>
            <a:off x="753978" y="1062190"/>
            <a:ext cx="9561095" cy="3693319"/>
          </a:xfrm>
          <a:prstGeom prst="rect">
            <a:avLst/>
          </a:prstGeom>
          <a:noFill/>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13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StringBuffer</a:t>
            </a:r>
          </a:p>
          <a:p>
            <a:pPr algn="ctr"/>
            <a:r>
              <a:rPr lang="en-US" sz="9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StringBuilder</a:t>
            </a:r>
            <a:endParaRPr lang="en-IN" sz="4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7" name="Footer Placeholder 6">
            <a:extLst>
              <a:ext uri="{FF2B5EF4-FFF2-40B4-BE49-F238E27FC236}">
                <a16:creationId xmlns:a16="http://schemas.microsoft.com/office/drawing/2014/main" xmlns="" id="{C888AC61-93B5-8798-7888-E00C1A7C9731}"/>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2188322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8"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StringBuffer</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BAA7E8CA-4E7F-53AD-3F9F-8E921AF38F9D}"/>
              </a:ext>
            </a:extLst>
          </p:cNvPr>
          <p:cNvSpPr txBox="1"/>
          <p:nvPr/>
        </p:nvSpPr>
        <p:spPr>
          <a:xfrm>
            <a:off x="302793" y="981980"/>
            <a:ext cx="8965531" cy="5262979"/>
          </a:xfrm>
          <a:prstGeom prst="rect">
            <a:avLst/>
          </a:prstGeom>
          <a:noFill/>
        </p:spPr>
        <p:txBody>
          <a:bodyPr wrap="square">
            <a:spAutoFit/>
          </a:bodyPr>
          <a:lstStyle/>
          <a:p>
            <a:pPr algn="just"/>
            <a:r>
              <a:rPr lang="en-US" sz="2400" dirty="0"/>
              <a:t>String is immutable and StringBuffer is mutable. String is fixed length char array. StringBuffer is a variable length char array. That means it occupies memory as many characters as it contains. In contrast with String in StringBuffer by default 16 characters memory exist irrespective of as many characters as it contains. Mute means modification. That means if String is modified the new memory is allocated to hold old String content and new content in a new memory location, old memory location will be garbage collected. That means in String as many times String is modified memory often create and destroys again and again, but not in StringBuffer.</a:t>
            </a:r>
          </a:p>
          <a:p>
            <a:pPr algn="just"/>
            <a:endParaRPr lang="en-US" sz="2400" dirty="0"/>
          </a:p>
          <a:p>
            <a:pPr algn="just"/>
            <a:r>
              <a:rPr lang="en-US" sz="2400" dirty="0"/>
              <a:t>String str="Surya";</a:t>
            </a:r>
          </a:p>
          <a:p>
            <a:pPr algn="just"/>
            <a:r>
              <a:rPr lang="en-US" sz="2400" dirty="0"/>
              <a:t>str=str+"</a:t>
            </a:r>
            <a:r>
              <a:rPr lang="en-US" sz="2400" dirty="0" err="1"/>
              <a:t>narayana</a:t>
            </a:r>
            <a:r>
              <a:rPr lang="en-US" sz="2400" dirty="0"/>
              <a:t>"; // here str object is destroyed and recreated with new state</a:t>
            </a:r>
            <a:endParaRPr lang="en-IN" sz="2400" dirty="0"/>
          </a:p>
        </p:txBody>
      </p:sp>
      <p:sp>
        <p:nvSpPr>
          <p:cNvPr id="7" name="Footer Placeholder 6">
            <a:extLst>
              <a:ext uri="{FF2B5EF4-FFF2-40B4-BE49-F238E27FC236}">
                <a16:creationId xmlns:a16="http://schemas.microsoft.com/office/drawing/2014/main" xmlns="" id="{C888AC61-93B5-8798-7888-E00C1A7C9731}"/>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21883225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StringBuffer</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BAA7E8CA-4E7F-53AD-3F9F-8E921AF38F9D}"/>
              </a:ext>
            </a:extLst>
          </p:cNvPr>
          <p:cNvSpPr txBox="1"/>
          <p:nvPr/>
        </p:nvSpPr>
        <p:spPr>
          <a:xfrm>
            <a:off x="302793" y="981980"/>
            <a:ext cx="8965531" cy="4524315"/>
          </a:xfrm>
          <a:prstGeom prst="rect">
            <a:avLst/>
          </a:prstGeom>
          <a:noFill/>
        </p:spPr>
        <p:txBody>
          <a:bodyPr wrap="square">
            <a:spAutoFit/>
          </a:bodyPr>
          <a:lstStyle/>
          <a:p>
            <a:pPr algn="just"/>
            <a:r>
              <a:rPr lang="en-US" sz="2400" b="1" u="sng" dirty="0"/>
              <a:t>Way to convert String into StringBuffer</a:t>
            </a:r>
          </a:p>
          <a:p>
            <a:pPr algn="just"/>
            <a:r>
              <a:rPr lang="en-US" sz="2400" dirty="0"/>
              <a:t>String str="Surya";</a:t>
            </a:r>
          </a:p>
          <a:p>
            <a:pPr algn="just"/>
            <a:r>
              <a:rPr lang="en-US" sz="2400" dirty="0"/>
              <a:t>StringBuffer sb=new StringBuffer(str);</a:t>
            </a:r>
          </a:p>
          <a:p>
            <a:pPr algn="just"/>
            <a:endParaRPr lang="en-US" sz="2400" dirty="0"/>
          </a:p>
          <a:p>
            <a:pPr algn="just"/>
            <a:r>
              <a:rPr lang="en-US" sz="2400" dirty="0" err="1"/>
              <a:t>sb.append</a:t>
            </a:r>
            <a:r>
              <a:rPr lang="en-US" sz="2400" dirty="0"/>
              <a:t>("</a:t>
            </a:r>
            <a:r>
              <a:rPr lang="en-US" sz="2400" dirty="0" err="1"/>
              <a:t>narayana</a:t>
            </a:r>
            <a:r>
              <a:rPr lang="en-US" sz="2400" dirty="0"/>
              <a:t>"); Suryanarayana</a:t>
            </a:r>
          </a:p>
          <a:p>
            <a:pPr algn="just"/>
            <a:r>
              <a:rPr lang="en-US" sz="2400" dirty="0" err="1"/>
              <a:t>sb.append</a:t>
            </a:r>
            <a:r>
              <a:rPr lang="en-US" sz="2400" dirty="0"/>
              <a:t>(" I.N.V.");</a:t>
            </a:r>
          </a:p>
          <a:p>
            <a:pPr algn="just"/>
            <a:r>
              <a:rPr lang="en-US" sz="2400" dirty="0" err="1"/>
              <a:t>sb.insert</a:t>
            </a:r>
            <a:r>
              <a:rPr lang="en-US" sz="2400" dirty="0"/>
              <a:t>(5, " "); Surya </a:t>
            </a:r>
            <a:r>
              <a:rPr lang="en-US" sz="2400" dirty="0" err="1"/>
              <a:t>narayana</a:t>
            </a:r>
            <a:endParaRPr lang="en-US" sz="2400" dirty="0"/>
          </a:p>
          <a:p>
            <a:pPr algn="just"/>
            <a:r>
              <a:rPr lang="en-US" sz="2400" dirty="0" err="1"/>
              <a:t>sb.trimToSize</a:t>
            </a:r>
            <a:r>
              <a:rPr lang="en-US" sz="2400" dirty="0"/>
              <a:t>();</a:t>
            </a:r>
          </a:p>
          <a:p>
            <a:pPr algn="just"/>
            <a:endParaRPr lang="en-US" sz="2400" dirty="0"/>
          </a:p>
          <a:p>
            <a:pPr algn="just"/>
            <a:r>
              <a:rPr lang="en-US" sz="2400" b="1" u="sng" dirty="0"/>
              <a:t>Two ways of converting StringBuffer to String</a:t>
            </a:r>
          </a:p>
          <a:p>
            <a:pPr algn="just"/>
            <a:r>
              <a:rPr lang="en-US" sz="2400" dirty="0"/>
              <a:t>String str=</a:t>
            </a:r>
            <a:r>
              <a:rPr lang="en-US" sz="2400" dirty="0" err="1"/>
              <a:t>sb.toString</a:t>
            </a:r>
            <a:r>
              <a:rPr lang="en-US" sz="2400" dirty="0"/>
              <a:t>();</a:t>
            </a:r>
          </a:p>
          <a:p>
            <a:pPr algn="just"/>
            <a:r>
              <a:rPr lang="en-US" sz="2400" dirty="0"/>
              <a:t>String str1=new String(sb);</a:t>
            </a:r>
            <a:endParaRPr lang="en-IN" sz="2400" dirty="0"/>
          </a:p>
        </p:txBody>
      </p:sp>
      <p:sp>
        <p:nvSpPr>
          <p:cNvPr id="7" name="Footer Placeholder 6">
            <a:extLst>
              <a:ext uri="{FF2B5EF4-FFF2-40B4-BE49-F238E27FC236}">
                <a16:creationId xmlns:a16="http://schemas.microsoft.com/office/drawing/2014/main" xmlns="" id="{71A49E32-AB82-286E-60E9-9AD87C06DCEB}"/>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13294663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StringBuffer</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BAA7E8CA-4E7F-53AD-3F9F-8E921AF38F9D}"/>
              </a:ext>
            </a:extLst>
          </p:cNvPr>
          <p:cNvSpPr txBox="1"/>
          <p:nvPr/>
        </p:nvSpPr>
        <p:spPr>
          <a:xfrm>
            <a:off x="302793" y="981980"/>
            <a:ext cx="8965531" cy="5632311"/>
          </a:xfrm>
          <a:prstGeom prst="rect">
            <a:avLst/>
          </a:prstGeom>
          <a:noFill/>
        </p:spPr>
        <p:txBody>
          <a:bodyPr wrap="square">
            <a:spAutoFit/>
          </a:bodyPr>
          <a:lstStyle/>
          <a:p>
            <a:pPr algn="just"/>
            <a:r>
              <a:rPr lang="en-US" sz="2400" b="1" u="sng" dirty="0"/>
              <a:t>StringBuffer methods:</a:t>
            </a:r>
          </a:p>
          <a:p>
            <a:pPr algn="just"/>
            <a:r>
              <a:rPr lang="en-US" sz="2400" dirty="0"/>
              <a:t>	</a:t>
            </a:r>
            <a:r>
              <a:rPr lang="en-US" sz="2400" dirty="0" err="1"/>
              <a:t>sb.append</a:t>
            </a:r>
            <a:r>
              <a:rPr lang="en-US" sz="2400" dirty="0"/>
              <a:t>(</a:t>
            </a:r>
            <a:r>
              <a:rPr lang="en-US" sz="2400" dirty="0" err="1"/>
              <a:t>anydatatype_value</a:t>
            </a:r>
            <a:r>
              <a:rPr lang="en-US" sz="2400" dirty="0"/>
              <a:t>);</a:t>
            </a:r>
          </a:p>
          <a:p>
            <a:pPr algn="just"/>
            <a:r>
              <a:rPr lang="en-US" sz="2400" dirty="0"/>
              <a:t>	</a:t>
            </a:r>
            <a:r>
              <a:rPr lang="en-US" sz="2400" dirty="0" err="1"/>
              <a:t>sb.insert</a:t>
            </a:r>
            <a:r>
              <a:rPr lang="en-US" sz="2400" dirty="0"/>
              <a:t>(int index, </a:t>
            </a:r>
            <a:r>
              <a:rPr lang="en-US" sz="2400" dirty="0" err="1"/>
              <a:t>anydatatype_value</a:t>
            </a:r>
            <a:r>
              <a:rPr lang="en-US" sz="2400" dirty="0"/>
              <a:t>);</a:t>
            </a:r>
          </a:p>
          <a:p>
            <a:pPr algn="just"/>
            <a:r>
              <a:rPr lang="en-US" sz="2400" dirty="0"/>
              <a:t>	</a:t>
            </a:r>
            <a:r>
              <a:rPr lang="en-US" sz="2400" dirty="0" err="1"/>
              <a:t>setCharAt</a:t>
            </a:r>
            <a:r>
              <a:rPr lang="en-US" sz="2400" dirty="0"/>
              <a:t>(int index, char </a:t>
            </a:r>
            <a:r>
              <a:rPr lang="en-US" sz="2400" dirty="0" err="1"/>
              <a:t>newChar</a:t>
            </a:r>
            <a:r>
              <a:rPr lang="en-US" sz="2400" dirty="0"/>
              <a:t>);</a:t>
            </a:r>
          </a:p>
          <a:p>
            <a:pPr algn="just"/>
            <a:r>
              <a:rPr lang="en-US" sz="2400" dirty="0"/>
              <a:t>	</a:t>
            </a:r>
            <a:r>
              <a:rPr lang="en-US" sz="2400" dirty="0" err="1"/>
              <a:t>sb.replace</a:t>
            </a:r>
            <a:r>
              <a:rPr lang="en-US" sz="2400" dirty="0"/>
              <a:t>(int start, int end, String </a:t>
            </a:r>
            <a:r>
              <a:rPr lang="en-US" sz="2400" dirty="0" err="1"/>
              <a:t>newStr</a:t>
            </a:r>
            <a:r>
              <a:rPr lang="en-US" sz="2400" dirty="0"/>
              <a:t>);</a:t>
            </a:r>
          </a:p>
          <a:p>
            <a:pPr algn="just"/>
            <a:r>
              <a:rPr lang="en-US" sz="2400" dirty="0"/>
              <a:t>	</a:t>
            </a:r>
            <a:r>
              <a:rPr lang="en-US" sz="2400" dirty="0" err="1"/>
              <a:t>sb.delete</a:t>
            </a:r>
            <a:r>
              <a:rPr lang="en-US" sz="2400" dirty="0"/>
              <a:t>(int start, int end);</a:t>
            </a:r>
          </a:p>
          <a:p>
            <a:pPr algn="just"/>
            <a:r>
              <a:rPr lang="en-US" sz="2400" dirty="0"/>
              <a:t>	</a:t>
            </a:r>
            <a:r>
              <a:rPr lang="en-US" sz="2400" dirty="0" err="1"/>
              <a:t>sb.deleteCharAt</a:t>
            </a:r>
            <a:r>
              <a:rPr lang="en-US" sz="2400" dirty="0"/>
              <a:t>(int index);</a:t>
            </a:r>
          </a:p>
          <a:p>
            <a:pPr algn="just"/>
            <a:r>
              <a:rPr lang="en-US" sz="2400" dirty="0"/>
              <a:t>	</a:t>
            </a:r>
            <a:r>
              <a:rPr lang="en-US" sz="2400" dirty="0" err="1"/>
              <a:t>sb.reverse</a:t>
            </a:r>
            <a:r>
              <a:rPr lang="en-US" sz="2400" dirty="0"/>
              <a:t>();</a:t>
            </a:r>
          </a:p>
          <a:p>
            <a:pPr algn="just"/>
            <a:r>
              <a:rPr lang="en-US" sz="2400" dirty="0"/>
              <a:t>	</a:t>
            </a:r>
            <a:r>
              <a:rPr lang="en-US" sz="2400" dirty="0" err="1"/>
              <a:t>setChartAt</a:t>
            </a:r>
            <a:r>
              <a:rPr lang="en-US" sz="2400" dirty="0"/>
              <a:t>(int index, char </a:t>
            </a:r>
            <a:r>
              <a:rPr lang="en-US" sz="2400" dirty="0" err="1"/>
              <a:t>ch</a:t>
            </a:r>
            <a:r>
              <a:rPr lang="en-US" sz="2400" dirty="0"/>
              <a:t>)</a:t>
            </a:r>
          </a:p>
          <a:p>
            <a:pPr algn="just"/>
            <a:r>
              <a:rPr lang="en-US" sz="2400" dirty="0"/>
              <a:t>	</a:t>
            </a:r>
            <a:r>
              <a:rPr lang="en-US" sz="2400" dirty="0" err="1"/>
              <a:t>setLength</a:t>
            </a:r>
            <a:r>
              <a:rPr lang="en-US" sz="2400" dirty="0"/>
              <a:t>(int </a:t>
            </a:r>
            <a:r>
              <a:rPr lang="en-US" sz="2400" dirty="0" err="1"/>
              <a:t>newLength</a:t>
            </a:r>
            <a:r>
              <a:rPr lang="en-US" sz="2400" dirty="0"/>
              <a:t>);</a:t>
            </a:r>
          </a:p>
          <a:p>
            <a:pPr algn="just"/>
            <a:r>
              <a:rPr lang="en-US" sz="2400" dirty="0"/>
              <a:t>	</a:t>
            </a:r>
            <a:r>
              <a:rPr lang="en-US" sz="2400" dirty="0" err="1"/>
              <a:t>sb.ensureCapacity</a:t>
            </a:r>
            <a:r>
              <a:rPr lang="en-US" sz="2400" dirty="0"/>
              <a:t>(int </a:t>
            </a:r>
            <a:r>
              <a:rPr lang="en-US" sz="2400" dirty="0" err="1"/>
              <a:t>requiredCapacity</a:t>
            </a:r>
            <a:r>
              <a:rPr lang="en-US" sz="2400" dirty="0"/>
              <a:t>);</a:t>
            </a:r>
          </a:p>
          <a:p>
            <a:pPr algn="just"/>
            <a:r>
              <a:rPr lang="en-US" sz="2400" dirty="0"/>
              <a:t>	</a:t>
            </a:r>
            <a:r>
              <a:rPr lang="en-US" sz="2400" dirty="0" err="1"/>
              <a:t>sb.capacity</a:t>
            </a:r>
            <a:r>
              <a:rPr lang="en-US" sz="2400" dirty="0"/>
              <a:t>();</a:t>
            </a:r>
          </a:p>
          <a:p>
            <a:pPr algn="just"/>
            <a:r>
              <a:rPr lang="en-US" sz="2400" dirty="0"/>
              <a:t>	</a:t>
            </a:r>
            <a:r>
              <a:rPr lang="en-US" sz="2400" dirty="0" err="1"/>
              <a:t>sb.length</a:t>
            </a:r>
            <a:r>
              <a:rPr lang="en-US" sz="2400" dirty="0"/>
              <a:t>();</a:t>
            </a:r>
          </a:p>
          <a:p>
            <a:pPr algn="just"/>
            <a:r>
              <a:rPr lang="en-US" sz="2400" dirty="0"/>
              <a:t>	substring(int </a:t>
            </a:r>
            <a:r>
              <a:rPr lang="en-US" sz="2400" dirty="0" err="1"/>
              <a:t>startIndex</a:t>
            </a:r>
            <a:r>
              <a:rPr lang="en-US" sz="2400" dirty="0"/>
              <a:t>, int endIndex+1)</a:t>
            </a:r>
          </a:p>
          <a:p>
            <a:pPr algn="just"/>
            <a:r>
              <a:rPr lang="en-US" sz="2400" dirty="0"/>
              <a:t>	</a:t>
            </a:r>
            <a:r>
              <a:rPr lang="en-US" sz="2400" dirty="0" err="1"/>
              <a:t>sb.trimToSize</a:t>
            </a:r>
            <a:r>
              <a:rPr lang="en-US" sz="2400" dirty="0"/>
              <a:t>(); </a:t>
            </a:r>
            <a:r>
              <a:rPr lang="en-US" sz="2400" dirty="0" err="1"/>
              <a:t>etc</a:t>
            </a:r>
            <a:r>
              <a:rPr lang="en-US" sz="2400" dirty="0"/>
              <a:t> functions.</a:t>
            </a:r>
          </a:p>
        </p:txBody>
      </p:sp>
      <p:sp>
        <p:nvSpPr>
          <p:cNvPr id="7" name="Footer Placeholder 6">
            <a:extLst>
              <a:ext uri="{FF2B5EF4-FFF2-40B4-BE49-F238E27FC236}">
                <a16:creationId xmlns:a16="http://schemas.microsoft.com/office/drawing/2014/main" xmlns="" id="{98752C2F-0A4A-0135-72F5-077A51A57E83}"/>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39457309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StringBuffer</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BAA7E8CA-4E7F-53AD-3F9F-8E921AF38F9D}"/>
              </a:ext>
            </a:extLst>
          </p:cNvPr>
          <p:cNvSpPr txBox="1"/>
          <p:nvPr/>
        </p:nvSpPr>
        <p:spPr>
          <a:xfrm>
            <a:off x="302793" y="981980"/>
            <a:ext cx="8965531" cy="4524315"/>
          </a:xfrm>
          <a:prstGeom prst="rect">
            <a:avLst/>
          </a:prstGeom>
          <a:noFill/>
        </p:spPr>
        <p:txBody>
          <a:bodyPr wrap="square">
            <a:spAutoFit/>
          </a:bodyPr>
          <a:lstStyle/>
          <a:p>
            <a:pPr algn="just"/>
            <a:r>
              <a:rPr lang="en-US" sz="2400" dirty="0"/>
              <a:t>String is a predefined secondary data type in Java along with primitive data types byte, short, int, long, float, double, char, boolean.</a:t>
            </a:r>
          </a:p>
          <a:p>
            <a:pPr algn="just"/>
            <a:endParaRPr lang="en-US" sz="2400" dirty="0"/>
          </a:p>
          <a:p>
            <a:pPr algn="just"/>
            <a:r>
              <a:rPr lang="en-US" sz="2400" dirty="0"/>
              <a:t>But StringBuffer is not a predefined data type instead this class is used to manipulate the content of the String. StringBuffer is mutable unlike String.</a:t>
            </a:r>
          </a:p>
          <a:p>
            <a:pPr algn="just"/>
            <a:endParaRPr lang="en-US" sz="2400" dirty="0"/>
          </a:p>
          <a:p>
            <a:pPr algn="just"/>
            <a:r>
              <a:rPr lang="en-US" sz="2400" dirty="0"/>
              <a:t>On an existing String content/value if we want to perform appending one more String to existing String or we want to insert one more String in middle of the String content then we will store String into StringBuffer, invoke insert(), append() operations on StringBuffer and then finally convert StringBuffer into String object.</a:t>
            </a:r>
          </a:p>
        </p:txBody>
      </p:sp>
      <p:sp>
        <p:nvSpPr>
          <p:cNvPr id="7" name="Footer Placeholder 6">
            <a:extLst>
              <a:ext uri="{FF2B5EF4-FFF2-40B4-BE49-F238E27FC236}">
                <a16:creationId xmlns:a16="http://schemas.microsoft.com/office/drawing/2014/main" xmlns="" id="{3780841F-9C82-0DDA-5741-14C52394D687}"/>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35678295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StringBuffer</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BAA7E8CA-4E7F-53AD-3F9F-8E921AF38F9D}"/>
              </a:ext>
            </a:extLst>
          </p:cNvPr>
          <p:cNvSpPr txBox="1"/>
          <p:nvPr/>
        </p:nvSpPr>
        <p:spPr>
          <a:xfrm>
            <a:off x="302793" y="981980"/>
            <a:ext cx="8965531" cy="5016758"/>
          </a:xfrm>
          <a:prstGeom prst="rect">
            <a:avLst/>
          </a:prstGeom>
          <a:noFill/>
        </p:spPr>
        <p:txBody>
          <a:bodyPr wrap="square">
            <a:spAutoFit/>
          </a:bodyPr>
          <a:lstStyle/>
          <a:p>
            <a:pPr algn="just"/>
            <a:r>
              <a:rPr lang="en-US" sz="2000" dirty="0"/>
              <a:t>As same as StringBuffer to String content also we can append another String but only its String object reference pointing location will change. Then what makes the difference between String and StringBuffer?</a:t>
            </a:r>
          </a:p>
          <a:p>
            <a:pPr algn="just"/>
            <a:endParaRPr lang="en-US" sz="2000" dirty="0"/>
          </a:p>
          <a:p>
            <a:pPr algn="just"/>
            <a:r>
              <a:rPr lang="en-US" sz="2000" dirty="0"/>
              <a:t>String is a fixed length char[]/String that means memory is allocated to only as many characters are assigned to String only that much memory is allocated. Hence whenever its value changes it address/location also but memory don't contains space to additional characters appended to String. Whereas in StringBuffer by default 16 characters memory is allocated though less number of characters are assigned to it. For example if "Active" is assigned to StringBuffer in the 16 characters memory "Active" will be accommodated in first 6 characters remaining space of 10 characters are left empty. After creating StringBuffer object with "Active", on the same object if "NET" is appended. "NET will also be stored in the same memory location remaining 3 characters more be occupied. In StringBuffer 9 characters are accommodated, still there is a space for 7 more characters. Like that StringBuffer avoids frequent creation and destruction of memory for StringBuffer object.</a:t>
            </a:r>
          </a:p>
        </p:txBody>
      </p:sp>
      <p:sp>
        <p:nvSpPr>
          <p:cNvPr id="7" name="Footer Placeholder 6">
            <a:extLst>
              <a:ext uri="{FF2B5EF4-FFF2-40B4-BE49-F238E27FC236}">
                <a16:creationId xmlns:a16="http://schemas.microsoft.com/office/drawing/2014/main" xmlns="" id="{94DFF396-D877-BEDC-9BCF-1D84AB801A42}"/>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39596328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StringBuffer</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BAA7E8CA-4E7F-53AD-3F9F-8E921AF38F9D}"/>
              </a:ext>
            </a:extLst>
          </p:cNvPr>
          <p:cNvSpPr txBox="1"/>
          <p:nvPr/>
        </p:nvSpPr>
        <p:spPr>
          <a:xfrm>
            <a:off x="302793" y="713040"/>
            <a:ext cx="8965531" cy="5909310"/>
          </a:xfrm>
          <a:prstGeom prst="rect">
            <a:avLst/>
          </a:prstGeom>
          <a:noFill/>
        </p:spPr>
        <p:txBody>
          <a:bodyPr wrap="square">
            <a:spAutoFit/>
          </a:bodyPr>
          <a:lstStyle/>
          <a:p>
            <a:pPr algn="just"/>
            <a:r>
              <a:rPr lang="en-US" dirty="0"/>
              <a:t>When there is a chance of String more frequently modified in a java application, StringBuffer is more recommended than String.</a:t>
            </a:r>
          </a:p>
          <a:p>
            <a:pPr algn="just"/>
            <a:endParaRPr lang="en-US" dirty="0"/>
          </a:p>
          <a:p>
            <a:pPr algn="just"/>
            <a:r>
              <a:rPr lang="en-US" dirty="0"/>
              <a:t>How to convert String to StringBuffer?</a:t>
            </a:r>
          </a:p>
          <a:p>
            <a:pPr algn="just"/>
            <a:r>
              <a:rPr lang="en-US" dirty="0"/>
              <a:t>StringBuffer class is having one no parameter and one String parameter constructor exists. </a:t>
            </a:r>
          </a:p>
          <a:p>
            <a:pPr algn="just"/>
            <a:endParaRPr lang="en-US" dirty="0"/>
          </a:p>
          <a:p>
            <a:pPr algn="just"/>
            <a:r>
              <a:rPr lang="en-US" dirty="0"/>
              <a:t>String str="Active";</a:t>
            </a:r>
          </a:p>
          <a:p>
            <a:pPr algn="just"/>
            <a:r>
              <a:rPr lang="en-US" dirty="0"/>
              <a:t>StringBuffer sb=new StringBuffer(str);</a:t>
            </a:r>
          </a:p>
          <a:p>
            <a:pPr algn="just"/>
            <a:endParaRPr lang="en-US" dirty="0"/>
          </a:p>
          <a:p>
            <a:pPr algn="just"/>
            <a:r>
              <a:rPr lang="en-US" dirty="0"/>
              <a:t>How to convert StringBuffer to String?</a:t>
            </a:r>
          </a:p>
          <a:p>
            <a:pPr algn="just"/>
            <a:r>
              <a:rPr lang="en-US" dirty="0"/>
              <a:t>two ways:</a:t>
            </a:r>
          </a:p>
          <a:p>
            <a:pPr algn="just"/>
            <a:r>
              <a:rPr lang="en-US" dirty="0"/>
              <a:t>  one way:</a:t>
            </a:r>
          </a:p>
          <a:p>
            <a:pPr algn="just"/>
            <a:r>
              <a:rPr lang="en-US" dirty="0"/>
              <a:t>     str=</a:t>
            </a:r>
            <a:r>
              <a:rPr lang="en-US" dirty="0" err="1"/>
              <a:t>sb.toString</a:t>
            </a:r>
            <a:r>
              <a:rPr lang="en-US" dirty="0"/>
              <a:t>();</a:t>
            </a:r>
          </a:p>
          <a:p>
            <a:pPr algn="just"/>
            <a:r>
              <a:rPr lang="en-US" dirty="0"/>
              <a:t>  second way:</a:t>
            </a:r>
          </a:p>
          <a:p>
            <a:pPr algn="just"/>
            <a:r>
              <a:rPr lang="en-US" dirty="0"/>
              <a:t>     str=new String(sb);</a:t>
            </a:r>
          </a:p>
          <a:p>
            <a:pPr algn="just"/>
            <a:r>
              <a:rPr lang="en-US" dirty="0"/>
              <a:t>	 </a:t>
            </a:r>
          </a:p>
          <a:p>
            <a:pPr algn="just"/>
            <a:r>
              <a:rPr lang="en-US" dirty="0"/>
              <a:t>StringBuffer class constructors:</a:t>
            </a:r>
          </a:p>
          <a:p>
            <a:pPr algn="just"/>
            <a:r>
              <a:rPr lang="en-US" dirty="0"/>
              <a:t>StringBuffer()</a:t>
            </a:r>
          </a:p>
          <a:p>
            <a:pPr algn="just"/>
            <a:r>
              <a:rPr lang="en-US" dirty="0"/>
              <a:t>StringBuffer(String str)</a:t>
            </a:r>
          </a:p>
          <a:p>
            <a:pPr algn="just"/>
            <a:r>
              <a:rPr lang="en-US" dirty="0"/>
              <a:t>StringBuffer(</a:t>
            </a:r>
            <a:r>
              <a:rPr lang="en-US" dirty="0" err="1"/>
              <a:t>CharSequence</a:t>
            </a:r>
            <a:r>
              <a:rPr lang="en-US" dirty="0"/>
              <a:t> cs)</a:t>
            </a:r>
          </a:p>
          <a:p>
            <a:pPr algn="just"/>
            <a:r>
              <a:rPr lang="en-US" dirty="0"/>
              <a:t>StringBuffer(int capacity)</a:t>
            </a:r>
          </a:p>
        </p:txBody>
      </p:sp>
      <p:sp>
        <p:nvSpPr>
          <p:cNvPr id="7" name="Footer Placeholder 6">
            <a:extLst>
              <a:ext uri="{FF2B5EF4-FFF2-40B4-BE49-F238E27FC236}">
                <a16:creationId xmlns:a16="http://schemas.microsoft.com/office/drawing/2014/main" xmlns="" id="{3F90AEAF-F222-0D17-DA34-B464BE29C8C3}"/>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32327501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StringBuffer</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BAA7E8CA-4E7F-53AD-3F9F-8E921AF38F9D}"/>
              </a:ext>
            </a:extLst>
          </p:cNvPr>
          <p:cNvSpPr txBox="1"/>
          <p:nvPr/>
        </p:nvSpPr>
        <p:spPr>
          <a:xfrm>
            <a:off x="302793" y="901298"/>
            <a:ext cx="8965531" cy="5478423"/>
          </a:xfrm>
          <a:prstGeom prst="rect">
            <a:avLst/>
          </a:prstGeom>
          <a:noFill/>
        </p:spPr>
        <p:txBody>
          <a:bodyPr wrap="square">
            <a:spAutoFit/>
          </a:bodyPr>
          <a:lstStyle/>
          <a:p>
            <a:pPr algn="just"/>
            <a:r>
              <a:rPr lang="en-US" sz="1400" dirty="0"/>
              <a:t>// StringBufferDemo.java</a:t>
            </a:r>
          </a:p>
          <a:p>
            <a:pPr algn="just"/>
            <a:r>
              <a:rPr lang="en-US" sz="1400" dirty="0"/>
              <a:t>public class </a:t>
            </a:r>
            <a:r>
              <a:rPr lang="en-US" sz="1400" dirty="0" err="1"/>
              <a:t>StringBufferDemo</a:t>
            </a:r>
            <a:r>
              <a:rPr lang="en-US" sz="1400" dirty="0"/>
              <a:t> {</a:t>
            </a:r>
          </a:p>
          <a:p>
            <a:pPr algn="just"/>
            <a:r>
              <a:rPr lang="en-US" sz="1400" dirty="0"/>
              <a:t>   public static void main(String rags[]) {</a:t>
            </a:r>
          </a:p>
          <a:p>
            <a:pPr algn="just"/>
            <a:r>
              <a:rPr lang="en-US" sz="1400" dirty="0"/>
              <a:t>       String str="Active";</a:t>
            </a:r>
          </a:p>
          <a:p>
            <a:pPr algn="just"/>
            <a:r>
              <a:rPr lang="en-US" sz="1400" dirty="0"/>
              <a:t>	   System.out.println(str+" length is : "+</a:t>
            </a:r>
            <a:r>
              <a:rPr lang="en-US" sz="1400" dirty="0" err="1"/>
              <a:t>str.length</a:t>
            </a:r>
            <a:r>
              <a:rPr lang="en-US" sz="1400" dirty="0"/>
              <a:t>());</a:t>
            </a:r>
          </a:p>
          <a:p>
            <a:pPr algn="just"/>
            <a:r>
              <a:rPr lang="en-US" sz="1400" dirty="0"/>
              <a:t>	   </a:t>
            </a:r>
          </a:p>
          <a:p>
            <a:pPr algn="just"/>
            <a:r>
              <a:rPr lang="en-US" sz="1400" dirty="0"/>
              <a:t>	   StringBuffer sb=new StringBuffer(str);</a:t>
            </a:r>
          </a:p>
          <a:p>
            <a:pPr algn="just"/>
            <a:r>
              <a:rPr lang="en-US" sz="1400" dirty="0"/>
              <a:t>	   System.out.println(</a:t>
            </a:r>
            <a:r>
              <a:rPr lang="en-US" sz="1400" dirty="0" err="1"/>
              <a:t>sb.capacity</a:t>
            </a:r>
            <a:r>
              <a:rPr lang="en-US" sz="1400" dirty="0"/>
              <a:t>()+" "+ </a:t>
            </a:r>
            <a:r>
              <a:rPr lang="en-US" sz="1400" dirty="0" err="1"/>
              <a:t>sb.length</a:t>
            </a:r>
            <a:r>
              <a:rPr lang="en-US" sz="1400" dirty="0"/>
              <a:t>());</a:t>
            </a:r>
          </a:p>
          <a:p>
            <a:pPr algn="just"/>
            <a:r>
              <a:rPr lang="en-US" sz="1400" dirty="0"/>
              <a:t>	   </a:t>
            </a:r>
          </a:p>
          <a:p>
            <a:pPr algn="just"/>
            <a:r>
              <a:rPr lang="en-US" sz="1400" dirty="0"/>
              <a:t>	   </a:t>
            </a:r>
            <a:r>
              <a:rPr lang="en-US" sz="1400" dirty="0" err="1"/>
              <a:t>sb.append</a:t>
            </a:r>
            <a:r>
              <a:rPr lang="en-US" sz="1400" dirty="0"/>
              <a:t>("NET");</a:t>
            </a:r>
          </a:p>
          <a:p>
            <a:pPr algn="just"/>
            <a:r>
              <a:rPr lang="en-US" sz="1400" dirty="0"/>
              <a:t>	   System.out.println(</a:t>
            </a:r>
            <a:r>
              <a:rPr lang="en-US" sz="1400" dirty="0" err="1"/>
              <a:t>sb.capacity</a:t>
            </a:r>
            <a:r>
              <a:rPr lang="en-US" sz="1400" dirty="0"/>
              <a:t>()+" "+ </a:t>
            </a:r>
            <a:r>
              <a:rPr lang="en-US" sz="1400" dirty="0" err="1"/>
              <a:t>sb.length</a:t>
            </a:r>
            <a:r>
              <a:rPr lang="en-US" sz="1400" dirty="0"/>
              <a:t>());</a:t>
            </a:r>
          </a:p>
          <a:p>
            <a:pPr algn="just"/>
            <a:r>
              <a:rPr lang="en-US" sz="1400" dirty="0"/>
              <a:t>	   </a:t>
            </a:r>
          </a:p>
          <a:p>
            <a:pPr algn="just"/>
            <a:r>
              <a:rPr lang="en-US" sz="1400" dirty="0"/>
              <a:t>	   </a:t>
            </a:r>
            <a:r>
              <a:rPr lang="en-US" sz="1400" dirty="0" err="1"/>
              <a:t>sb.append</a:t>
            </a:r>
            <a:r>
              <a:rPr lang="en-US" sz="1400" dirty="0"/>
              <a:t>(" Inform");</a:t>
            </a:r>
          </a:p>
          <a:p>
            <a:pPr algn="just"/>
            <a:r>
              <a:rPr lang="en-US" sz="1400" dirty="0"/>
              <a:t>	   System.out.println(</a:t>
            </a:r>
            <a:r>
              <a:rPr lang="en-US" sz="1400" dirty="0" err="1"/>
              <a:t>sb.capacity</a:t>
            </a:r>
            <a:r>
              <a:rPr lang="en-US" sz="1400" dirty="0"/>
              <a:t>()+" "+ </a:t>
            </a:r>
            <a:r>
              <a:rPr lang="en-US" sz="1400" dirty="0" err="1"/>
              <a:t>sb.length</a:t>
            </a:r>
            <a:r>
              <a:rPr lang="en-US" sz="1400" dirty="0"/>
              <a:t>());</a:t>
            </a:r>
          </a:p>
          <a:p>
            <a:pPr algn="just"/>
            <a:r>
              <a:rPr lang="en-US" sz="1400" dirty="0"/>
              <a:t>	   </a:t>
            </a:r>
          </a:p>
          <a:p>
            <a:pPr algn="just"/>
            <a:r>
              <a:rPr lang="en-US" sz="1400" dirty="0"/>
              <a:t>	   </a:t>
            </a:r>
            <a:r>
              <a:rPr lang="en-US" sz="1400" dirty="0" err="1"/>
              <a:t>sb.append</a:t>
            </a:r>
            <a:r>
              <a:rPr lang="en-US" sz="1400" dirty="0"/>
              <a:t>("</a:t>
            </a:r>
            <a:r>
              <a:rPr lang="en-US" sz="1400" dirty="0" err="1"/>
              <a:t>actics</a:t>
            </a:r>
            <a:r>
              <a:rPr lang="en-US" sz="1400" dirty="0"/>
              <a:t>");</a:t>
            </a:r>
          </a:p>
          <a:p>
            <a:pPr algn="just"/>
            <a:r>
              <a:rPr lang="en-US" sz="1400" dirty="0"/>
              <a:t>	   System.out.println(</a:t>
            </a:r>
            <a:r>
              <a:rPr lang="en-US" sz="1400" dirty="0" err="1"/>
              <a:t>sb.capacity</a:t>
            </a:r>
            <a:r>
              <a:rPr lang="en-US" sz="1400" dirty="0"/>
              <a:t>()+" "+ </a:t>
            </a:r>
            <a:r>
              <a:rPr lang="en-US" sz="1400" dirty="0" err="1"/>
              <a:t>sb.length</a:t>
            </a:r>
            <a:r>
              <a:rPr lang="en-US" sz="1400" dirty="0"/>
              <a:t>());</a:t>
            </a:r>
          </a:p>
          <a:p>
            <a:pPr algn="just"/>
            <a:endParaRPr lang="en-US" sz="1400" dirty="0"/>
          </a:p>
          <a:p>
            <a:pPr algn="just"/>
            <a:r>
              <a:rPr lang="en-US" sz="1400" dirty="0"/>
              <a:t>	   </a:t>
            </a:r>
            <a:r>
              <a:rPr lang="en-US" sz="1400" dirty="0" err="1"/>
              <a:t>sb.append</a:t>
            </a:r>
            <a:r>
              <a:rPr lang="en-US" sz="1400" dirty="0"/>
              <a:t>(" Pvt Ltd");</a:t>
            </a:r>
          </a:p>
          <a:p>
            <a:pPr algn="just"/>
            <a:r>
              <a:rPr lang="en-US" sz="1400" dirty="0"/>
              <a:t>	   System.out.println(</a:t>
            </a:r>
            <a:r>
              <a:rPr lang="en-US" sz="1400" dirty="0" err="1"/>
              <a:t>sb.capacity</a:t>
            </a:r>
            <a:r>
              <a:rPr lang="en-US" sz="1400" dirty="0"/>
              <a:t>()+" "+ </a:t>
            </a:r>
            <a:r>
              <a:rPr lang="en-US" sz="1400" dirty="0" err="1"/>
              <a:t>sb.length</a:t>
            </a:r>
            <a:r>
              <a:rPr lang="en-US" sz="1400" dirty="0"/>
              <a:t>());</a:t>
            </a:r>
          </a:p>
          <a:p>
            <a:pPr algn="just"/>
            <a:r>
              <a:rPr lang="en-US" sz="1400" dirty="0"/>
              <a:t>	   </a:t>
            </a:r>
          </a:p>
          <a:p>
            <a:pPr algn="just"/>
            <a:r>
              <a:rPr lang="en-US" sz="1400" dirty="0"/>
              <a:t>	   </a:t>
            </a:r>
            <a:r>
              <a:rPr lang="en-US" sz="1400" dirty="0" err="1"/>
              <a:t>sb.append</a:t>
            </a:r>
            <a:r>
              <a:rPr lang="en-US" sz="1400" dirty="0"/>
              <a:t>(", Ameerpet, Hyderabad, 500038");</a:t>
            </a:r>
          </a:p>
          <a:p>
            <a:pPr algn="just"/>
            <a:r>
              <a:rPr lang="en-US" sz="1400" dirty="0"/>
              <a:t>	   System.out.println(</a:t>
            </a:r>
            <a:r>
              <a:rPr lang="en-US" sz="1400" dirty="0" err="1"/>
              <a:t>sb.capacity</a:t>
            </a:r>
            <a:r>
              <a:rPr lang="en-US" sz="1400" dirty="0"/>
              <a:t>()+" "+ </a:t>
            </a:r>
            <a:r>
              <a:rPr lang="en-US" sz="1400" dirty="0" err="1"/>
              <a:t>sb.length</a:t>
            </a:r>
            <a:r>
              <a:rPr lang="en-US" sz="1400" dirty="0"/>
              <a:t>());</a:t>
            </a:r>
          </a:p>
          <a:p>
            <a:pPr algn="just"/>
            <a:r>
              <a:rPr lang="en-US" sz="1400" dirty="0"/>
              <a:t>   }</a:t>
            </a:r>
          </a:p>
          <a:p>
            <a:pPr algn="just"/>
            <a:r>
              <a:rPr lang="en-US" sz="1400" dirty="0"/>
              <a:t>}</a:t>
            </a:r>
          </a:p>
        </p:txBody>
      </p:sp>
      <p:sp>
        <p:nvSpPr>
          <p:cNvPr id="7" name="Footer Placeholder 6">
            <a:extLst>
              <a:ext uri="{FF2B5EF4-FFF2-40B4-BE49-F238E27FC236}">
                <a16:creationId xmlns:a16="http://schemas.microsoft.com/office/drawing/2014/main" xmlns="" id="{78D49C06-A24D-640A-8FA7-3333CD51EFC7}"/>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42308012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StringBuffer</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BAA7E8CA-4E7F-53AD-3F9F-8E921AF38F9D}"/>
              </a:ext>
            </a:extLst>
          </p:cNvPr>
          <p:cNvSpPr txBox="1"/>
          <p:nvPr/>
        </p:nvSpPr>
        <p:spPr>
          <a:xfrm>
            <a:off x="302793" y="995427"/>
            <a:ext cx="8965531" cy="3785652"/>
          </a:xfrm>
          <a:prstGeom prst="rect">
            <a:avLst/>
          </a:prstGeom>
          <a:noFill/>
        </p:spPr>
        <p:txBody>
          <a:bodyPr wrap="square">
            <a:spAutoFit/>
          </a:bodyPr>
          <a:lstStyle/>
          <a:p>
            <a:pPr algn="just"/>
            <a:r>
              <a:rPr lang="en-US" sz="2000" dirty="0"/>
              <a:t>Note: In the above example what we noticed is by default to StringBuffer 16 characters space will be allocated. If we add any String it will occupy memory for additional number of characters+16 characters space. 16 more characters can be appended to it. If size increases more than its capacity, it doubles the capacity+2 more characters space. Likewise for every its additional capacity of characters only it doubles the size but not for every new number of characters are immediately added to it. JVM burden reduces.</a:t>
            </a:r>
          </a:p>
          <a:p>
            <a:pPr algn="just"/>
            <a:endParaRPr lang="en-US" sz="2000" dirty="0"/>
          </a:p>
          <a:p>
            <a:pPr algn="just"/>
            <a:r>
              <a:rPr lang="en-US" sz="2000" dirty="0"/>
              <a:t>This is how StringBuffer is useful to alter the data of a String frequently but not acts like a String data type. StringBuffer and StringBuilder are exactly same except all methods of StringBuffer class are synchronized and all StringBuilder class methods are asynchronous. </a:t>
            </a:r>
          </a:p>
        </p:txBody>
      </p:sp>
      <p:sp>
        <p:nvSpPr>
          <p:cNvPr id="7" name="Footer Placeholder 6">
            <a:extLst>
              <a:ext uri="{FF2B5EF4-FFF2-40B4-BE49-F238E27FC236}">
                <a16:creationId xmlns:a16="http://schemas.microsoft.com/office/drawing/2014/main" xmlns="" id="{242FA3E2-F3E2-FBDF-57A0-A4106CE09DAC}"/>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2414601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StringBuffer</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BAA7E8CA-4E7F-53AD-3F9F-8E921AF38F9D}"/>
              </a:ext>
            </a:extLst>
          </p:cNvPr>
          <p:cNvSpPr txBox="1"/>
          <p:nvPr/>
        </p:nvSpPr>
        <p:spPr>
          <a:xfrm>
            <a:off x="285750" y="1224393"/>
            <a:ext cx="8965531" cy="3170099"/>
          </a:xfrm>
          <a:prstGeom prst="rect">
            <a:avLst/>
          </a:prstGeom>
          <a:noFill/>
        </p:spPr>
        <p:txBody>
          <a:bodyPr wrap="square">
            <a:spAutoFit/>
          </a:bodyPr>
          <a:lstStyle/>
          <a:p>
            <a:pPr algn="just"/>
            <a:r>
              <a:rPr lang="en-US" sz="2000" dirty="0"/>
              <a:t>When StringBuffer object is passed into multiple threads. When one thread is manipulating StringBuffer object, other threads which are using the same StringBuffer object cannot be modified. StringBuffer object's state is always thread-safe and consistent.</a:t>
            </a:r>
          </a:p>
          <a:p>
            <a:pPr algn="just"/>
            <a:endParaRPr lang="en-US" sz="2000" dirty="0"/>
          </a:p>
          <a:p>
            <a:pPr algn="just"/>
            <a:r>
              <a:rPr lang="en-US" sz="2000" dirty="0"/>
              <a:t>Where performance is more important and StringBuffer object state consistency is less important there StringBuilder is recommended to use.</a:t>
            </a:r>
          </a:p>
          <a:p>
            <a:pPr algn="just"/>
            <a:endParaRPr lang="en-US" sz="2000" dirty="0"/>
          </a:p>
          <a:p>
            <a:pPr algn="just"/>
            <a:r>
              <a:rPr lang="en-US" sz="2000" dirty="0"/>
              <a:t>Where performance is less important and StringBuffer object state consistency is more important there StringBuffer is recommended to use.</a:t>
            </a:r>
          </a:p>
        </p:txBody>
      </p:sp>
      <p:sp>
        <p:nvSpPr>
          <p:cNvPr id="7" name="Footer Placeholder 6">
            <a:extLst>
              <a:ext uri="{FF2B5EF4-FFF2-40B4-BE49-F238E27FC236}">
                <a16:creationId xmlns:a16="http://schemas.microsoft.com/office/drawing/2014/main" xmlns="" id="{7DD4BE39-981E-6A82-8A76-832248C71C80}"/>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35592883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StringBuffer</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BAA7E8CA-4E7F-53AD-3F9F-8E921AF38F9D}"/>
              </a:ext>
            </a:extLst>
          </p:cNvPr>
          <p:cNvSpPr txBox="1"/>
          <p:nvPr/>
        </p:nvSpPr>
        <p:spPr>
          <a:xfrm>
            <a:off x="366016" y="745919"/>
            <a:ext cx="4236178" cy="5609228"/>
          </a:xfrm>
          <a:prstGeom prst="rect">
            <a:avLst/>
          </a:prstGeom>
          <a:noFill/>
        </p:spPr>
        <p:txBody>
          <a:bodyPr wrap="square">
            <a:spAutoFit/>
          </a:bodyPr>
          <a:lstStyle/>
          <a:p>
            <a:pPr algn="just"/>
            <a:r>
              <a:rPr lang="en-US" sz="1200" dirty="0"/>
              <a:t>/*</a:t>
            </a:r>
          </a:p>
          <a:p>
            <a:pPr algn="just"/>
            <a:r>
              <a:rPr lang="en-US" sz="1200" dirty="0"/>
              <a:t>String is a fixed length char array</a:t>
            </a:r>
          </a:p>
          <a:p>
            <a:pPr algn="just"/>
            <a:r>
              <a:rPr lang="en-US" sz="1200" dirty="0"/>
              <a:t>StringBuffer is a variable length char array</a:t>
            </a:r>
          </a:p>
          <a:p>
            <a:pPr algn="just"/>
            <a:r>
              <a:rPr lang="en-US" sz="1200" dirty="0"/>
              <a:t>*/</a:t>
            </a:r>
          </a:p>
          <a:p>
            <a:pPr algn="just"/>
            <a:r>
              <a:rPr lang="en-US" sz="1200" dirty="0"/>
              <a:t>// StringBufferDemo.java</a:t>
            </a:r>
          </a:p>
          <a:p>
            <a:pPr algn="just"/>
            <a:r>
              <a:rPr lang="en-US" sz="1200" dirty="0"/>
              <a:t>class </a:t>
            </a:r>
            <a:r>
              <a:rPr lang="en-US" sz="1200" dirty="0" err="1"/>
              <a:t>StringBufferDemo</a:t>
            </a:r>
            <a:r>
              <a:rPr lang="en-US" sz="1200" dirty="0"/>
              <a:t> {</a:t>
            </a:r>
          </a:p>
          <a:p>
            <a:pPr algn="just"/>
            <a:r>
              <a:rPr lang="en-US" sz="1200" dirty="0"/>
              <a:t>	public static void main(String rags[]) {</a:t>
            </a:r>
          </a:p>
          <a:p>
            <a:pPr algn="just"/>
            <a:r>
              <a:rPr lang="en-US" sz="1200" dirty="0"/>
              <a:t>		</a:t>
            </a:r>
          </a:p>
          <a:p>
            <a:pPr algn="just"/>
            <a:r>
              <a:rPr lang="en-US" sz="1200" dirty="0"/>
              <a:t>	String str="Active"; // 6</a:t>
            </a:r>
          </a:p>
          <a:p>
            <a:pPr algn="just"/>
            <a:r>
              <a:rPr lang="en-US" sz="1200" dirty="0"/>
              <a:t>	StringBuffer sb=new StringBuffer();</a:t>
            </a:r>
          </a:p>
          <a:p>
            <a:pPr algn="just"/>
            <a:r>
              <a:rPr lang="en-US" sz="1200" dirty="0"/>
              <a:t>	</a:t>
            </a:r>
            <a:r>
              <a:rPr lang="en-US" sz="1200" dirty="0" err="1"/>
              <a:t>sb.append</a:t>
            </a:r>
            <a:r>
              <a:rPr lang="en-US" sz="1200" dirty="0"/>
              <a:t>(str);</a:t>
            </a:r>
          </a:p>
          <a:p>
            <a:pPr algn="just"/>
            <a:r>
              <a:rPr lang="en-US" sz="1200" dirty="0"/>
              <a:t>		</a:t>
            </a:r>
          </a:p>
          <a:p>
            <a:pPr algn="just"/>
            <a:r>
              <a:rPr lang="en-US" sz="1200" dirty="0"/>
              <a:t>	System.out.println(</a:t>
            </a:r>
            <a:r>
              <a:rPr lang="en-US" sz="1200" dirty="0" err="1"/>
              <a:t>sb.capacity</a:t>
            </a:r>
            <a:r>
              <a:rPr lang="en-US" sz="1200" dirty="0"/>
              <a:t>()); // 22</a:t>
            </a:r>
          </a:p>
          <a:p>
            <a:pPr algn="just"/>
            <a:r>
              <a:rPr lang="en-US" sz="1200" dirty="0"/>
              <a:t>	System.out.println(</a:t>
            </a:r>
            <a:r>
              <a:rPr lang="en-US" sz="1200" dirty="0" err="1"/>
              <a:t>sb.length</a:t>
            </a:r>
            <a:r>
              <a:rPr lang="en-US" sz="1200" dirty="0"/>
              <a:t>()); // 6</a:t>
            </a:r>
          </a:p>
          <a:p>
            <a:pPr algn="just"/>
            <a:r>
              <a:rPr lang="en-US" sz="1200" dirty="0"/>
              <a:t>		</a:t>
            </a:r>
          </a:p>
          <a:p>
            <a:pPr algn="just"/>
            <a:r>
              <a:rPr lang="en-US" sz="1200" dirty="0"/>
              <a:t>	</a:t>
            </a:r>
            <a:r>
              <a:rPr lang="en-US" sz="1200" dirty="0" err="1"/>
              <a:t>sb.append</a:t>
            </a:r>
            <a:r>
              <a:rPr lang="en-US" sz="1200" dirty="0"/>
              <a:t>("NET"); // 9</a:t>
            </a:r>
          </a:p>
          <a:p>
            <a:pPr algn="just"/>
            <a:r>
              <a:rPr lang="en-US" sz="1200" dirty="0"/>
              <a:t>		</a:t>
            </a:r>
          </a:p>
          <a:p>
            <a:pPr algn="just"/>
            <a:r>
              <a:rPr lang="en-US" sz="1200" dirty="0"/>
              <a:t>	System.out.println(</a:t>
            </a:r>
            <a:r>
              <a:rPr lang="en-US" sz="1200" dirty="0" err="1"/>
              <a:t>sb.capacity</a:t>
            </a:r>
            <a:r>
              <a:rPr lang="en-US" sz="1200" dirty="0"/>
              <a:t>());</a:t>
            </a:r>
          </a:p>
          <a:p>
            <a:pPr algn="just"/>
            <a:r>
              <a:rPr lang="en-US" sz="1200" dirty="0"/>
              <a:t>	System.out.println(</a:t>
            </a:r>
            <a:r>
              <a:rPr lang="en-US" sz="1200" dirty="0" err="1"/>
              <a:t>sb.length</a:t>
            </a:r>
            <a:r>
              <a:rPr lang="en-US" sz="1200" dirty="0"/>
              <a:t>());</a:t>
            </a:r>
          </a:p>
          <a:p>
            <a:pPr algn="just"/>
            <a:r>
              <a:rPr lang="en-US" sz="1200" dirty="0"/>
              <a:t>		</a:t>
            </a:r>
          </a:p>
          <a:p>
            <a:pPr algn="just"/>
            <a:r>
              <a:rPr lang="en-US" sz="1200" dirty="0"/>
              <a:t>	// ActiveNET Informatics Pvt Ltd</a:t>
            </a:r>
          </a:p>
          <a:p>
            <a:pPr algn="just"/>
            <a:r>
              <a:rPr lang="en-US" sz="1200" dirty="0"/>
              <a:t>	</a:t>
            </a:r>
            <a:r>
              <a:rPr lang="en-US" sz="1200" dirty="0" err="1"/>
              <a:t>sb.append</a:t>
            </a:r>
            <a:r>
              <a:rPr lang="en-US" sz="1200" dirty="0"/>
              <a:t>("Informatics"); // 11, 9+11=20, 34</a:t>
            </a:r>
          </a:p>
          <a:p>
            <a:pPr algn="just"/>
            <a:r>
              <a:rPr lang="en-US" sz="1200" dirty="0"/>
              <a:t>	System.out.println(sb);</a:t>
            </a:r>
          </a:p>
          <a:p>
            <a:pPr algn="just"/>
            <a:r>
              <a:rPr lang="en-US" sz="1200" dirty="0"/>
              <a:t>		</a:t>
            </a:r>
          </a:p>
          <a:p>
            <a:pPr algn="just"/>
            <a:r>
              <a:rPr lang="en-US" sz="1200" dirty="0"/>
              <a:t>	System.out.println(</a:t>
            </a:r>
            <a:r>
              <a:rPr lang="en-US" sz="1200" dirty="0" err="1"/>
              <a:t>sb.capacity</a:t>
            </a:r>
            <a:r>
              <a:rPr lang="en-US" sz="1200" dirty="0"/>
              <a:t>());</a:t>
            </a:r>
          </a:p>
          <a:p>
            <a:pPr algn="just"/>
            <a:r>
              <a:rPr lang="en-US" sz="1200" dirty="0"/>
              <a:t>	System.out.println(</a:t>
            </a:r>
            <a:r>
              <a:rPr lang="en-US" sz="1200" dirty="0" err="1"/>
              <a:t>sb.length</a:t>
            </a:r>
            <a:r>
              <a:rPr lang="en-US" sz="1200" dirty="0"/>
              <a:t>());</a:t>
            </a:r>
          </a:p>
          <a:p>
            <a:pPr algn="just"/>
            <a:r>
              <a:rPr lang="en-US" sz="1200" dirty="0"/>
              <a:t>		</a:t>
            </a:r>
          </a:p>
          <a:p>
            <a:pPr algn="just"/>
            <a:r>
              <a:rPr lang="en-US" sz="1200" dirty="0"/>
              <a:t>	</a:t>
            </a:r>
            <a:r>
              <a:rPr lang="en-US" sz="1200" dirty="0" err="1"/>
              <a:t>sb.insert</a:t>
            </a:r>
            <a:r>
              <a:rPr lang="en-US" sz="1200" dirty="0"/>
              <a:t>(9, " ");</a:t>
            </a:r>
          </a:p>
          <a:p>
            <a:pPr algn="just"/>
            <a:r>
              <a:rPr lang="en-US" sz="1200" dirty="0"/>
              <a:t>	System.out.println(sb);</a:t>
            </a:r>
            <a:r>
              <a:rPr lang="en-US" sz="1000" dirty="0"/>
              <a:t>		</a:t>
            </a:r>
          </a:p>
          <a:p>
            <a:pPr algn="just"/>
            <a:r>
              <a:rPr lang="en-US" sz="1000" dirty="0"/>
              <a:t>		</a:t>
            </a:r>
          </a:p>
        </p:txBody>
      </p:sp>
      <p:sp>
        <p:nvSpPr>
          <p:cNvPr id="24" name="TextBox 23">
            <a:extLst>
              <a:ext uri="{FF2B5EF4-FFF2-40B4-BE49-F238E27FC236}">
                <a16:creationId xmlns:a16="http://schemas.microsoft.com/office/drawing/2014/main" xmlns="" id="{7A7BB5AB-F552-BD76-273D-7F7F98C3B20A}"/>
              </a:ext>
            </a:extLst>
          </p:cNvPr>
          <p:cNvSpPr txBox="1"/>
          <p:nvPr/>
        </p:nvSpPr>
        <p:spPr>
          <a:xfrm>
            <a:off x="5069188" y="692131"/>
            <a:ext cx="4199136" cy="6070893"/>
          </a:xfrm>
          <a:prstGeom prst="rect">
            <a:avLst/>
          </a:prstGeom>
          <a:noFill/>
        </p:spPr>
        <p:txBody>
          <a:bodyPr wrap="square">
            <a:spAutoFit/>
          </a:bodyPr>
          <a:lstStyle/>
          <a:p>
            <a:pPr algn="just"/>
            <a:r>
              <a:rPr lang="en-US" sz="1050" dirty="0"/>
              <a:t>System.out.println(</a:t>
            </a:r>
            <a:r>
              <a:rPr lang="en-US" sz="1050" dirty="0" err="1"/>
              <a:t>sb.capacity</a:t>
            </a:r>
            <a:r>
              <a:rPr lang="en-US" sz="1050" dirty="0"/>
              <a:t>());</a:t>
            </a:r>
          </a:p>
          <a:p>
            <a:pPr algn="just"/>
            <a:r>
              <a:rPr lang="en-US" sz="1050" dirty="0"/>
              <a:t>System.out.println(</a:t>
            </a:r>
            <a:r>
              <a:rPr lang="en-US" sz="1050" dirty="0" err="1"/>
              <a:t>sb.length</a:t>
            </a:r>
            <a:r>
              <a:rPr lang="en-US" sz="1050" dirty="0"/>
              <a:t>());</a:t>
            </a:r>
          </a:p>
          <a:p>
            <a:pPr algn="just"/>
            <a:r>
              <a:rPr lang="en-US" sz="1050" dirty="0"/>
              <a:t>		</a:t>
            </a:r>
          </a:p>
          <a:p>
            <a:pPr algn="just"/>
            <a:r>
              <a:rPr lang="en-US" sz="1050" dirty="0"/>
              <a:t>// </a:t>
            </a:r>
            <a:r>
              <a:rPr lang="en-US" sz="1050" dirty="0" err="1"/>
              <a:t>ActiveNETInformatics</a:t>
            </a:r>
            <a:endParaRPr lang="en-US" sz="1050" dirty="0"/>
          </a:p>
          <a:p>
            <a:pPr algn="just"/>
            <a:r>
              <a:rPr lang="en-US" sz="1050" dirty="0"/>
              <a:t>// </a:t>
            </a:r>
            <a:r>
              <a:rPr lang="en-US" sz="1050" dirty="0" err="1"/>
              <a:t>sb.setChartAt</a:t>
            </a:r>
            <a:r>
              <a:rPr lang="en-US" sz="1050" dirty="0"/>
              <a:t>(9, " ");// ActiveNET </a:t>
            </a:r>
            <a:r>
              <a:rPr lang="en-US" sz="1050" dirty="0" err="1"/>
              <a:t>nformatics</a:t>
            </a:r>
            <a:endParaRPr lang="en-US" sz="1050" dirty="0"/>
          </a:p>
          <a:p>
            <a:pPr algn="just"/>
            <a:endParaRPr lang="en-US" sz="1050" dirty="0"/>
          </a:p>
          <a:p>
            <a:pPr algn="just"/>
            <a:r>
              <a:rPr lang="en-US" sz="1050" dirty="0" err="1"/>
              <a:t>sb.append</a:t>
            </a:r>
            <a:r>
              <a:rPr lang="en-US" sz="1050" dirty="0"/>
              <a:t>(" Pvt Ltd");</a:t>
            </a:r>
          </a:p>
          <a:p>
            <a:pPr algn="just"/>
            <a:r>
              <a:rPr lang="en-US" sz="1050" dirty="0"/>
              <a:t>System.out.println(sb);</a:t>
            </a:r>
          </a:p>
          <a:p>
            <a:pPr algn="just"/>
            <a:endParaRPr lang="en-US" sz="1050" dirty="0"/>
          </a:p>
          <a:p>
            <a:pPr algn="just"/>
            <a:r>
              <a:rPr lang="en-US" sz="1050" dirty="0"/>
              <a:t>System.out.println(</a:t>
            </a:r>
            <a:r>
              <a:rPr lang="en-US" sz="1050" dirty="0" err="1"/>
              <a:t>sb.capacity</a:t>
            </a:r>
            <a:r>
              <a:rPr lang="en-US" sz="1050" dirty="0"/>
              <a:t>());</a:t>
            </a:r>
          </a:p>
          <a:p>
            <a:pPr algn="just"/>
            <a:r>
              <a:rPr lang="en-US" sz="1050" dirty="0"/>
              <a:t>System.out.println(</a:t>
            </a:r>
            <a:r>
              <a:rPr lang="en-US" sz="1050" dirty="0" err="1"/>
              <a:t>sb.length</a:t>
            </a:r>
            <a:r>
              <a:rPr lang="en-US" sz="1050" dirty="0"/>
              <a:t>());</a:t>
            </a:r>
          </a:p>
          <a:p>
            <a:pPr algn="just"/>
            <a:endParaRPr lang="en-US" sz="1050" dirty="0"/>
          </a:p>
          <a:p>
            <a:pPr algn="just"/>
            <a:r>
              <a:rPr lang="en-US" sz="1050" dirty="0"/>
              <a:t>// ActiveNET Informatics Pvt Ltd</a:t>
            </a:r>
          </a:p>
          <a:p>
            <a:pPr algn="just"/>
            <a:r>
              <a:rPr lang="en-US" sz="1050" dirty="0"/>
              <a:t>// ActiveNET Informatics Public Ltd</a:t>
            </a:r>
          </a:p>
          <a:p>
            <a:pPr algn="just"/>
            <a:r>
              <a:rPr lang="en-US" sz="1050" dirty="0" err="1"/>
              <a:t>sb.replace</a:t>
            </a:r>
            <a:r>
              <a:rPr lang="en-US" sz="1050" dirty="0"/>
              <a:t>(22, 25, "Public");	</a:t>
            </a:r>
          </a:p>
          <a:p>
            <a:pPr algn="just"/>
            <a:r>
              <a:rPr lang="en-US" sz="1050" dirty="0"/>
              <a:t>System.out.println(sb);</a:t>
            </a:r>
          </a:p>
          <a:p>
            <a:pPr algn="just"/>
            <a:r>
              <a:rPr lang="en-US" sz="1050" dirty="0"/>
              <a:t>		</a:t>
            </a:r>
          </a:p>
          <a:p>
            <a:pPr algn="just"/>
            <a:r>
              <a:rPr lang="en-US" sz="1050" dirty="0"/>
              <a:t>System.out.println(</a:t>
            </a:r>
            <a:r>
              <a:rPr lang="en-US" sz="1050" dirty="0" err="1"/>
              <a:t>sb.capacity</a:t>
            </a:r>
            <a:r>
              <a:rPr lang="en-US" sz="1050" dirty="0"/>
              <a:t>());</a:t>
            </a:r>
          </a:p>
          <a:p>
            <a:pPr algn="just"/>
            <a:r>
              <a:rPr lang="en-US" sz="1050" dirty="0"/>
              <a:t>System.out.println(</a:t>
            </a:r>
            <a:r>
              <a:rPr lang="en-US" sz="1050" dirty="0" err="1"/>
              <a:t>sb.length</a:t>
            </a:r>
            <a:r>
              <a:rPr lang="en-US" sz="1050" dirty="0"/>
              <a:t>());</a:t>
            </a:r>
          </a:p>
          <a:p>
            <a:pPr algn="just"/>
            <a:r>
              <a:rPr lang="en-US" sz="1050" dirty="0"/>
              <a:t>		</a:t>
            </a:r>
          </a:p>
          <a:p>
            <a:pPr algn="just"/>
            <a:r>
              <a:rPr lang="en-US" sz="1050" dirty="0" err="1"/>
              <a:t>sb.append</a:t>
            </a:r>
            <a:r>
              <a:rPr lang="en-US" sz="1050" dirty="0"/>
              <a:t>("...;");</a:t>
            </a:r>
          </a:p>
          <a:p>
            <a:pPr algn="just"/>
            <a:r>
              <a:rPr lang="en-US" sz="1050" dirty="0"/>
              <a:t>System.out.println(sb);</a:t>
            </a:r>
          </a:p>
          <a:p>
            <a:pPr algn="just"/>
            <a:r>
              <a:rPr lang="en-US" sz="1050" dirty="0"/>
              <a:t>		</a:t>
            </a:r>
          </a:p>
          <a:p>
            <a:pPr algn="just"/>
            <a:r>
              <a:rPr lang="en-US" sz="1050" dirty="0"/>
              <a:t>System.out.println(</a:t>
            </a:r>
            <a:r>
              <a:rPr lang="en-US" sz="1050" dirty="0" err="1"/>
              <a:t>sb.capacity</a:t>
            </a:r>
            <a:r>
              <a:rPr lang="en-US" sz="1050" dirty="0"/>
              <a:t>());</a:t>
            </a:r>
          </a:p>
          <a:p>
            <a:pPr algn="just"/>
            <a:r>
              <a:rPr lang="en-US" sz="1050" dirty="0"/>
              <a:t>System.out.println(</a:t>
            </a:r>
            <a:r>
              <a:rPr lang="en-US" sz="1050" dirty="0" err="1"/>
              <a:t>sb.length</a:t>
            </a:r>
            <a:r>
              <a:rPr lang="en-US" sz="1050" dirty="0"/>
              <a:t>());</a:t>
            </a:r>
          </a:p>
          <a:p>
            <a:pPr algn="just"/>
            <a:r>
              <a:rPr lang="en-US" sz="1050" dirty="0"/>
              <a:t>		</a:t>
            </a:r>
          </a:p>
          <a:p>
            <a:pPr algn="just"/>
            <a:r>
              <a:rPr lang="en-US" sz="1050" dirty="0" err="1"/>
              <a:t>sb.trimToSize</a:t>
            </a:r>
            <a:r>
              <a:rPr lang="en-US" sz="1050" dirty="0"/>
              <a:t>();</a:t>
            </a:r>
          </a:p>
          <a:p>
            <a:pPr algn="just"/>
            <a:r>
              <a:rPr lang="en-US" sz="1050" dirty="0"/>
              <a:t>System.out.println(</a:t>
            </a:r>
            <a:r>
              <a:rPr lang="en-US" sz="1050" dirty="0" err="1"/>
              <a:t>sb.capacity</a:t>
            </a:r>
            <a:r>
              <a:rPr lang="en-US" sz="1050" dirty="0"/>
              <a:t>());</a:t>
            </a:r>
          </a:p>
          <a:p>
            <a:pPr algn="just"/>
            <a:r>
              <a:rPr lang="en-US" sz="1050" dirty="0"/>
              <a:t>System.out.println(</a:t>
            </a:r>
            <a:r>
              <a:rPr lang="en-US" sz="1050" dirty="0" err="1"/>
              <a:t>sb.length</a:t>
            </a:r>
            <a:r>
              <a:rPr lang="en-US" sz="1050" dirty="0"/>
              <a:t>());</a:t>
            </a:r>
          </a:p>
          <a:p>
            <a:pPr algn="just"/>
            <a:r>
              <a:rPr lang="en-US" sz="1050" dirty="0"/>
              <a:t>		</a:t>
            </a:r>
          </a:p>
          <a:p>
            <a:pPr algn="just"/>
            <a:r>
              <a:rPr lang="en-US" sz="1050" dirty="0"/>
              <a:t>// String str1=</a:t>
            </a:r>
            <a:r>
              <a:rPr lang="en-US" sz="1050" dirty="0" err="1"/>
              <a:t>sb.toString</a:t>
            </a:r>
            <a:r>
              <a:rPr lang="en-US" sz="1050" dirty="0"/>
              <a:t>();</a:t>
            </a:r>
          </a:p>
          <a:p>
            <a:pPr algn="just"/>
            <a:r>
              <a:rPr lang="en-US" sz="1050" dirty="0"/>
              <a:t>String str1=new String(sb);</a:t>
            </a:r>
          </a:p>
          <a:p>
            <a:pPr algn="just"/>
            <a:r>
              <a:rPr lang="en-US" sz="1050" dirty="0"/>
              <a:t>System.out.println(str1);</a:t>
            </a:r>
          </a:p>
          <a:p>
            <a:pPr algn="just"/>
            <a:r>
              <a:rPr lang="en-US" sz="1050" dirty="0"/>
              <a:t>System.out.println(str1.length());</a:t>
            </a:r>
          </a:p>
          <a:p>
            <a:pPr algn="just"/>
            <a:r>
              <a:rPr lang="en-US" sz="1050" dirty="0"/>
              <a:t>		</a:t>
            </a:r>
          </a:p>
          <a:p>
            <a:pPr algn="just"/>
            <a:r>
              <a:rPr lang="en-US" sz="1050" dirty="0"/>
              <a:t>}</a:t>
            </a:r>
          </a:p>
          <a:p>
            <a:pPr algn="just"/>
            <a:r>
              <a:rPr lang="en-US" sz="1050" dirty="0"/>
              <a:t>}</a:t>
            </a:r>
            <a:endParaRPr lang="en-IN" sz="2800" dirty="0"/>
          </a:p>
        </p:txBody>
      </p:sp>
      <p:sp>
        <p:nvSpPr>
          <p:cNvPr id="7" name="Footer Placeholder 6">
            <a:extLst>
              <a:ext uri="{FF2B5EF4-FFF2-40B4-BE49-F238E27FC236}">
                <a16:creationId xmlns:a16="http://schemas.microsoft.com/office/drawing/2014/main" xmlns="" id="{6287BDC0-FFC1-099D-350A-6A05330BEE39}"/>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21363131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StringBuilder</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xmlns="" id="{BAA7E8CA-4E7F-53AD-3F9F-8E921AF38F9D}"/>
              </a:ext>
            </a:extLst>
          </p:cNvPr>
          <p:cNvSpPr txBox="1"/>
          <p:nvPr/>
        </p:nvSpPr>
        <p:spPr>
          <a:xfrm>
            <a:off x="705204" y="922581"/>
            <a:ext cx="7070208" cy="3046988"/>
          </a:xfrm>
          <a:prstGeom prst="rect">
            <a:avLst/>
          </a:prstGeom>
          <a:noFill/>
        </p:spPr>
        <p:txBody>
          <a:bodyPr wrap="square">
            <a:spAutoFit/>
          </a:bodyPr>
          <a:lstStyle/>
          <a:p>
            <a:pPr algn="just"/>
            <a:r>
              <a:rPr lang="en-US" sz="2400" dirty="0"/>
              <a:t>StringBuffer and StringBuilder both are same, except in StringBuffer the methods are declared as synchronized due to which in multithreaded environments the performance was effected. </a:t>
            </a:r>
          </a:p>
          <a:p>
            <a:pPr algn="just"/>
            <a:endParaRPr lang="en-US" sz="2400" dirty="0"/>
          </a:p>
          <a:p>
            <a:pPr algn="just"/>
            <a:r>
              <a:rPr lang="en-US" sz="2400" dirty="0"/>
              <a:t>To increase multithreaded application’s performance the synchronized keyword is removed to StringBuffer methods and made it as StringBuilder.</a:t>
            </a:r>
            <a:endParaRPr lang="en-US" sz="1600" dirty="0"/>
          </a:p>
        </p:txBody>
      </p:sp>
      <p:sp>
        <p:nvSpPr>
          <p:cNvPr id="25" name="TextBox 24">
            <a:extLst>
              <a:ext uri="{FF2B5EF4-FFF2-40B4-BE49-F238E27FC236}">
                <a16:creationId xmlns:a16="http://schemas.microsoft.com/office/drawing/2014/main" xmlns="" id="{641FBBBB-09CE-6D19-BE70-552DC363672D}"/>
              </a:ext>
            </a:extLst>
          </p:cNvPr>
          <p:cNvSpPr txBox="1"/>
          <p:nvPr/>
        </p:nvSpPr>
        <p:spPr>
          <a:xfrm>
            <a:off x="1086204" y="4525992"/>
            <a:ext cx="7681278" cy="461665"/>
          </a:xfrm>
          <a:prstGeom prst="rect">
            <a:avLst/>
          </a:prstGeom>
          <a:noFill/>
        </p:spPr>
        <p:txBody>
          <a:bodyPr wrap="square">
            <a:spAutoFit/>
          </a:bodyPr>
          <a:lstStyle/>
          <a:p>
            <a:pPr algn="just"/>
            <a:r>
              <a:rPr lang="en-US" sz="2400" dirty="0"/>
              <a:t>Asynchronous StringBuffer methods StringBuilder methods.</a:t>
            </a:r>
            <a:endParaRPr lang="en-US" sz="1600" dirty="0"/>
          </a:p>
        </p:txBody>
      </p:sp>
      <p:sp>
        <p:nvSpPr>
          <p:cNvPr id="7" name="Footer Placeholder 6">
            <a:extLst>
              <a:ext uri="{FF2B5EF4-FFF2-40B4-BE49-F238E27FC236}">
                <a16:creationId xmlns:a16="http://schemas.microsoft.com/office/drawing/2014/main" xmlns="" id="{58D5BBFB-15D5-F8E8-EF6F-4A3BA6DB003A}"/>
              </a:ext>
            </a:extLst>
          </p:cNvPr>
          <p:cNvSpPr>
            <a:spLocks noGrp="1"/>
          </p:cNvSpPr>
          <p:nvPr>
            <p:ph type="ftr" sz="quarter" idx="11"/>
          </p:nvPr>
        </p:nvSpPr>
        <p:spPr/>
        <p:txBody>
          <a:bodyPr/>
          <a:lstStyle/>
          <a:p>
            <a:r>
              <a:rPr lang="en-US"/>
              <a:t>Suryanarayana</a:t>
            </a:r>
          </a:p>
        </p:txBody>
      </p:sp>
    </p:spTree>
    <p:extLst>
      <p:ext uri="{BB962C8B-B14F-4D97-AF65-F5344CB8AC3E}">
        <p14:creationId xmlns="" xmlns:p14="http://schemas.microsoft.com/office/powerpoint/2010/main" val="38837729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552</TotalTime>
  <Words>3135</Words>
  <Application>Microsoft Office PowerPoint</Application>
  <PresentationFormat>Custom</PresentationFormat>
  <Paragraphs>709</Paragraphs>
  <Slides>36</Slides>
  <Notes>0</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ICT_4</dc:creator>
  <cp:lastModifiedBy>dell1</cp:lastModifiedBy>
  <cp:revision>52</cp:revision>
  <dcterms:created xsi:type="dcterms:W3CDTF">2021-09-13T09:22:41Z</dcterms:created>
  <dcterms:modified xsi:type="dcterms:W3CDTF">2025-11-03T07:45:30Z</dcterms:modified>
</cp:coreProperties>
</file>