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9" r:id="rId3"/>
    <p:sldId id="282" r:id="rId4"/>
    <p:sldId id="280" r:id="rId5"/>
    <p:sldId id="283" r:id="rId6"/>
    <p:sldId id="281" r:id="rId7"/>
    <p:sldId id="284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2BFF"/>
    <a:srgbClr val="0000FF"/>
    <a:srgbClr val="3399FF"/>
    <a:srgbClr val="003F66"/>
    <a:srgbClr val="990033"/>
    <a:srgbClr val="FF9933"/>
    <a:srgbClr val="FF5050"/>
    <a:srgbClr val="F10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7077B-0EFB-492A-954D-F6500769EC75}" type="datetimeFigureOut">
              <a:rPr lang="en-IN" smtClean="0"/>
              <a:t>24-08-2023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9B265-C78C-4D57-B466-C165EC8183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66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559B6-D14D-4FDE-A59D-31035DEB748C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C3751-9E37-4ACC-AACC-3ED1C7464C09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E53A1-68B8-44E6-80BB-30387FD0ACD8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1777-32DD-4099-843A-96AA64DF1CD7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553D-B216-4A63-8A9E-53EC6F762334}" type="datetime1">
              <a:rPr lang="en-US" smtClean="0"/>
              <a:t>8/24/2023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F9CE2-81B0-4B98-BCFC-12E7B3264DC4}" type="datetime1">
              <a:rPr lang="en-US" smtClean="0"/>
              <a:t>8/24/2023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3D3EF-6284-412E-9B40-64B4AF10D9DB}" type="datetime1">
              <a:rPr lang="en-US" smtClean="0"/>
              <a:t>8/24/2023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A90B8-CE9F-4ABC-9673-C31F6FE5B9A6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09D6-33D2-4E3C-A3F0-D11367058680}" type="datetime1">
              <a:rPr lang="en-US" smtClean="0"/>
              <a:t>8/24/2023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0BFF-E3CA-457C-9A88-F99C1A91551B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14358-4C3F-45A0-B099-C31D4991BDFA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11431-E068-4B95-BAC2-E5C264D18FCE}" type="datetime1">
              <a:rPr lang="en-US" smtClean="0"/>
              <a:t>8/24/2023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115984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I/O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1530290" y="2069989"/>
            <a:ext cx="72811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I/O Streams in Java</a:t>
            </a:r>
          </a:p>
          <a:p>
            <a:pPr algn="ctr"/>
            <a:r>
              <a:rPr lang="en-US" sz="3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java.io package</a:t>
            </a:r>
            <a:endParaRPr lang="en-US" sz="6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BEAD8-20C1-4935-1CCC-1B6AFC4C18D0}"/>
              </a:ext>
            </a:extLst>
          </p:cNvPr>
          <p:cNvSpPr txBox="1"/>
          <p:nvPr/>
        </p:nvSpPr>
        <p:spPr>
          <a:xfrm>
            <a:off x="3732547" y="3656892"/>
            <a:ext cx="30043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- III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4A132F6-63C7-C7FB-B91A-6BEDCA941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3534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98AE0C8-314F-02C5-68FA-51C9D86C9B2C}"/>
              </a:ext>
            </a:extLst>
          </p:cNvPr>
          <p:cNvSpPr txBox="1"/>
          <p:nvPr/>
        </p:nvSpPr>
        <p:spPr>
          <a:xfrm>
            <a:off x="208748" y="1458979"/>
            <a:ext cx="514318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Unlike direct </a:t>
            </a:r>
            <a:r>
              <a:rPr lang="en-IN" sz="2000" dirty="0" err="1"/>
              <a:t>InputStream</a:t>
            </a:r>
            <a:r>
              <a:rPr lang="en-IN" sz="2000" dirty="0"/>
              <a:t> direct sub classes, </a:t>
            </a:r>
            <a:r>
              <a:rPr lang="en-IN" sz="2000" dirty="0" err="1"/>
              <a:t>FilterInputStream</a:t>
            </a:r>
            <a:r>
              <a:rPr lang="en-IN" sz="2000" dirty="0"/>
              <a:t> classes by default do not point to any source. But they are having special ability to read data line-line or buffer-buffer.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Hence to read data from text file line-line, create </a:t>
            </a:r>
            <a:r>
              <a:rPr lang="en-IN" sz="2000" dirty="0" err="1"/>
              <a:t>FileInputStream</a:t>
            </a:r>
            <a:r>
              <a:rPr lang="en-IN" sz="2000" dirty="0"/>
              <a:t> class object that points to text file, pass </a:t>
            </a:r>
            <a:r>
              <a:rPr lang="en-IN" sz="2000" dirty="0" err="1"/>
              <a:t>fis</a:t>
            </a:r>
            <a:r>
              <a:rPr lang="en-IN" sz="2000" dirty="0"/>
              <a:t> object as argument into </a:t>
            </a:r>
            <a:r>
              <a:rPr lang="en-IN" sz="2000" dirty="0" err="1"/>
              <a:t>DataInputStream</a:t>
            </a:r>
            <a:r>
              <a:rPr lang="en-IN" sz="2000" dirty="0"/>
              <a:t> class constructor so that we can read data from text file line-line. 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To read data from binary file pass </a:t>
            </a:r>
            <a:r>
              <a:rPr lang="en-IN" sz="2000" dirty="0" err="1"/>
              <a:t>fis</a:t>
            </a:r>
            <a:r>
              <a:rPr lang="en-IN" sz="2000" dirty="0"/>
              <a:t> object as argument into </a:t>
            </a:r>
            <a:r>
              <a:rPr lang="en-IN" sz="2000" dirty="0" err="1"/>
              <a:t>BufferedInputStream</a:t>
            </a:r>
            <a:r>
              <a:rPr lang="en-IN" sz="2000" dirty="0"/>
              <a:t> class constructor so that we can read buffer (byte[]) by buffer (byte[]).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DataInputStream</a:t>
            </a:r>
            <a:r>
              <a:rPr lang="en-IN" sz="2400" b="1" dirty="0"/>
              <a:t> and </a:t>
            </a:r>
            <a:r>
              <a:rPr lang="en-IN" sz="2400" b="1" dirty="0" err="1"/>
              <a:t>BufferedInputStream</a:t>
            </a:r>
            <a:endParaRPr lang="en-IN" sz="2400" b="1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2E2EFA-2EFE-4541-4F58-27F1C1AC3F65}"/>
              </a:ext>
            </a:extLst>
          </p:cNvPr>
          <p:cNvGrpSpPr/>
          <p:nvPr/>
        </p:nvGrpSpPr>
        <p:grpSpPr>
          <a:xfrm>
            <a:off x="5434845" y="1415197"/>
            <a:ext cx="4502530" cy="3139321"/>
            <a:chOff x="6107868" y="1415197"/>
            <a:chExt cx="6010836" cy="31393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434002-6FC0-EFD6-0A68-19D1B537AFD8}"/>
                </a:ext>
              </a:extLst>
            </p:cNvPr>
            <p:cNvSpPr txBox="1"/>
            <p:nvPr/>
          </p:nvSpPr>
          <p:spPr>
            <a:xfrm>
              <a:off x="6107868" y="1415197"/>
              <a:ext cx="6010836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 err="1"/>
                <a:t>FilterInputStream</a:t>
              </a:r>
              <a:r>
                <a:rPr lang="en-IN" b="1" dirty="0"/>
                <a:t> class hierarchy:</a:t>
              </a:r>
            </a:p>
            <a:p>
              <a:r>
                <a:rPr lang="en-IN" b="1" dirty="0"/>
                <a:t>	</a:t>
              </a:r>
              <a:r>
                <a:rPr lang="en-IN" b="1" dirty="0" err="1"/>
                <a:t>FilterInputStream</a:t>
              </a:r>
              <a:endParaRPr lang="en-IN" b="1" dirty="0"/>
            </a:p>
            <a:p>
              <a:r>
                <a:rPr lang="en-IN" b="1" dirty="0"/>
                <a:t>	          </a:t>
              </a:r>
              <a:r>
                <a:rPr lang="en-IN" b="1" dirty="0" err="1"/>
                <a:t>DataInputStream</a:t>
              </a:r>
              <a:endParaRPr lang="en-IN" b="1" dirty="0"/>
            </a:p>
            <a:p>
              <a:r>
                <a:rPr lang="en-IN" b="1" dirty="0"/>
                <a:t>	          </a:t>
              </a:r>
              <a:r>
                <a:rPr lang="en-IN" b="1" dirty="0" err="1"/>
                <a:t>BufferedInputStream</a:t>
              </a:r>
              <a:endParaRPr lang="en-IN" b="1" dirty="0"/>
            </a:p>
            <a:p>
              <a:r>
                <a:rPr lang="en-IN" b="1" dirty="0"/>
                <a:t>	          </a:t>
              </a:r>
              <a:r>
                <a:rPr lang="en-IN" b="1" dirty="0" err="1"/>
                <a:t>LineNumerInputStream</a:t>
              </a:r>
              <a:endParaRPr lang="en-IN" b="1" dirty="0"/>
            </a:p>
            <a:p>
              <a:r>
                <a:rPr lang="en-IN" b="1" dirty="0"/>
                <a:t>	          </a:t>
              </a:r>
              <a:r>
                <a:rPr lang="en-IN" b="1" dirty="0" err="1"/>
                <a:t>PushbackInputStream</a:t>
              </a:r>
              <a:endParaRPr lang="en-IN" b="1" dirty="0"/>
            </a:p>
            <a:p>
              <a:r>
                <a:rPr lang="en-IN" b="1" dirty="0"/>
                <a:t>	          </a:t>
              </a:r>
              <a:r>
                <a:rPr lang="en-IN" b="1" dirty="0" err="1"/>
                <a:t>CipherInputStream</a:t>
              </a:r>
              <a:endParaRPr lang="en-IN" b="1" dirty="0"/>
            </a:p>
            <a:p>
              <a:r>
                <a:rPr lang="en-IN" b="1" dirty="0"/>
                <a:t>	          </a:t>
              </a:r>
              <a:r>
                <a:rPr lang="en-IN" b="1" dirty="0" err="1"/>
                <a:t>DeflaterInputStream</a:t>
              </a:r>
              <a:endParaRPr lang="en-IN" b="1" dirty="0"/>
            </a:p>
            <a:p>
              <a:r>
                <a:rPr lang="en-IN" b="1" dirty="0"/>
                <a:t>	          </a:t>
              </a:r>
              <a:r>
                <a:rPr lang="en-IN" b="1" dirty="0" err="1"/>
                <a:t>InflaterOutputStream</a:t>
              </a:r>
              <a:endParaRPr lang="en-IN" b="1" dirty="0"/>
            </a:p>
            <a:p>
              <a:r>
                <a:rPr lang="en-IN" b="1" dirty="0"/>
                <a:t>	          </a:t>
              </a:r>
              <a:r>
                <a:rPr lang="en-IN" b="1" dirty="0" err="1"/>
                <a:t>DigestInputStream</a:t>
              </a:r>
              <a:endParaRPr lang="en-IN" b="1" dirty="0"/>
            </a:p>
            <a:p>
              <a:r>
                <a:rPr lang="en-IN" b="1" dirty="0"/>
                <a:t>	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08E3751-D954-161B-D66B-692FFAF8002D}"/>
                </a:ext>
              </a:extLst>
            </p:cNvPr>
            <p:cNvCxnSpPr/>
            <p:nvPr/>
          </p:nvCxnSpPr>
          <p:spPr>
            <a:xfrm>
              <a:off x="6771496" y="1942233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9AD79C2-5062-9A66-1F82-D30E0FE1D6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6334" y="2099156"/>
              <a:ext cx="42228" cy="19322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A6E61F8-303F-0902-341C-B8D8B4D7DD50}"/>
                </a:ext>
              </a:extLst>
            </p:cNvPr>
            <p:cNvCxnSpPr/>
            <p:nvPr/>
          </p:nvCxnSpPr>
          <p:spPr>
            <a:xfrm>
              <a:off x="7533226" y="2130880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FB50F22-7F74-4737-726D-2DEA03DB5403}"/>
                </a:ext>
              </a:extLst>
            </p:cNvPr>
            <p:cNvCxnSpPr/>
            <p:nvPr/>
          </p:nvCxnSpPr>
          <p:spPr>
            <a:xfrm>
              <a:off x="7510814" y="2404303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037A9E5-FB1E-3AFA-E949-4B1A8C766B62}"/>
                </a:ext>
              </a:extLst>
            </p:cNvPr>
            <p:cNvCxnSpPr/>
            <p:nvPr/>
          </p:nvCxnSpPr>
          <p:spPr>
            <a:xfrm>
              <a:off x="7515297" y="2677726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1743DCE-7EB1-5C42-D627-FB75A6F9F628}"/>
                </a:ext>
              </a:extLst>
            </p:cNvPr>
            <p:cNvCxnSpPr/>
            <p:nvPr/>
          </p:nvCxnSpPr>
          <p:spPr>
            <a:xfrm>
              <a:off x="7533227" y="2951149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D1E78A0-CF6F-104A-4AD6-3A4012D3B4E5}"/>
                </a:ext>
              </a:extLst>
            </p:cNvPr>
            <p:cNvCxnSpPr/>
            <p:nvPr/>
          </p:nvCxnSpPr>
          <p:spPr>
            <a:xfrm>
              <a:off x="7506334" y="3220089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AFF2325-3A38-57DF-DC0E-4D99CB2513CF}"/>
                </a:ext>
              </a:extLst>
            </p:cNvPr>
            <p:cNvCxnSpPr/>
            <p:nvPr/>
          </p:nvCxnSpPr>
          <p:spPr>
            <a:xfrm>
              <a:off x="7483922" y="3480065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2E90683-BB70-E50F-F1D3-BEE5D520DCA4}"/>
                </a:ext>
              </a:extLst>
            </p:cNvPr>
            <p:cNvCxnSpPr/>
            <p:nvPr/>
          </p:nvCxnSpPr>
          <p:spPr>
            <a:xfrm>
              <a:off x="7528745" y="3766935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129FA72-83EC-EF3D-5BE1-574BA0E86E3F}"/>
                </a:ext>
              </a:extLst>
            </p:cNvPr>
            <p:cNvCxnSpPr/>
            <p:nvPr/>
          </p:nvCxnSpPr>
          <p:spPr>
            <a:xfrm>
              <a:off x="7483922" y="4031392"/>
              <a:ext cx="5109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1D24B55-382A-B584-37F7-E2B8817CD9B4}"/>
              </a:ext>
            </a:extLst>
          </p:cNvPr>
          <p:cNvSpPr txBox="1"/>
          <p:nvPr/>
        </p:nvSpPr>
        <p:spPr>
          <a:xfrm>
            <a:off x="6187877" y="4437531"/>
            <a:ext cx="2674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FIS </a:t>
            </a:r>
            <a:r>
              <a:rPr lang="en-IN" dirty="0" err="1"/>
              <a:t>fis</a:t>
            </a:r>
            <a:r>
              <a:rPr lang="en-IN" dirty="0"/>
              <a:t>=new FIS(“data.txt”);</a:t>
            </a:r>
          </a:p>
          <a:p>
            <a:r>
              <a:rPr lang="en-IN" dirty="0"/>
              <a:t>DIS dis=new DIS(</a:t>
            </a:r>
            <a:r>
              <a:rPr lang="en-IN" dirty="0" err="1"/>
              <a:t>fis</a:t>
            </a:r>
            <a:r>
              <a:rPr lang="en-IN" dirty="0"/>
              <a:t>);</a:t>
            </a:r>
          </a:p>
          <a:p>
            <a:r>
              <a:rPr lang="en-IN" dirty="0"/>
              <a:t>String line=</a:t>
            </a:r>
            <a:r>
              <a:rPr lang="en-IN" dirty="0" err="1"/>
              <a:t>dis.readLine</a:t>
            </a:r>
            <a:r>
              <a:rPr lang="en-IN" dirty="0"/>
              <a:t>();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854922-DCD9-EB6E-83BC-05781AD0AD67}"/>
              </a:ext>
            </a:extLst>
          </p:cNvPr>
          <p:cNvSpPr txBox="1"/>
          <p:nvPr/>
        </p:nvSpPr>
        <p:spPr>
          <a:xfrm>
            <a:off x="5571080" y="5432728"/>
            <a:ext cx="28775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FIS </a:t>
            </a:r>
            <a:r>
              <a:rPr lang="en-IN" dirty="0" err="1"/>
              <a:t>fis</a:t>
            </a:r>
            <a:r>
              <a:rPr lang="en-IN" dirty="0"/>
              <a:t>=new FIS(“image.jpg”);</a:t>
            </a:r>
          </a:p>
          <a:p>
            <a:r>
              <a:rPr lang="en-IN" dirty="0"/>
              <a:t>BIS bis=new BIS(</a:t>
            </a:r>
            <a:r>
              <a:rPr lang="en-IN" dirty="0" err="1"/>
              <a:t>fis</a:t>
            </a:r>
            <a:r>
              <a:rPr lang="en-IN" dirty="0"/>
              <a:t>);</a:t>
            </a:r>
          </a:p>
          <a:p>
            <a:r>
              <a:rPr lang="en-IN" dirty="0"/>
              <a:t>byte b[]=new byte[100];</a:t>
            </a:r>
          </a:p>
          <a:p>
            <a:r>
              <a:rPr lang="en-IN" dirty="0" err="1"/>
              <a:t>bis.read</a:t>
            </a:r>
            <a:r>
              <a:rPr lang="en-IN" dirty="0"/>
              <a:t>(b);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1CCA93F3-3DE9-30D8-E9DE-ABC075A1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12473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DataInputStream</a:t>
            </a:r>
            <a:r>
              <a:rPr lang="en-IN" sz="2400" b="1" dirty="0"/>
              <a:t> and </a:t>
            </a:r>
            <a:r>
              <a:rPr lang="en-IN" sz="2400" b="1" dirty="0" err="1"/>
              <a:t>BufferedInputStream</a:t>
            </a:r>
            <a:endParaRPr lang="en-IN" sz="2400" b="1" dirty="0"/>
          </a:p>
        </p:txBody>
      </p:sp>
      <p:graphicFrame>
        <p:nvGraphicFramePr>
          <p:cNvPr id="32" name="Table 32">
            <a:extLst>
              <a:ext uri="{FF2B5EF4-FFF2-40B4-BE49-F238E27FC236}">
                <a16:creationId xmlns:a16="http://schemas.microsoft.com/office/drawing/2014/main" id="{102E55B5-62D5-E341-FF73-94BA47237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722847"/>
              </p:ext>
            </p:extLst>
          </p:nvPr>
        </p:nvGraphicFramePr>
        <p:xfrm>
          <a:off x="285750" y="1496955"/>
          <a:ext cx="4138332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455">
                  <a:extLst>
                    <a:ext uri="{9D8B030D-6E8A-4147-A177-3AD203B41FA5}">
                      <a16:colId xmlns:a16="http://schemas.microsoft.com/office/drawing/2014/main" val="228914212"/>
                    </a:ext>
                  </a:extLst>
                </a:gridCol>
                <a:gridCol w="2407877">
                  <a:extLst>
                    <a:ext uri="{9D8B030D-6E8A-4147-A177-3AD203B41FA5}">
                      <a16:colId xmlns:a16="http://schemas.microsoft.com/office/drawing/2014/main" val="72382226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public class </a:t>
                      </a:r>
                      <a:r>
                        <a:rPr lang="en-IN" sz="1600" dirty="0" err="1"/>
                        <a:t>DataInputStream</a:t>
                      </a:r>
                      <a:r>
                        <a:rPr lang="en-IN" sz="1600" dirty="0"/>
                        <a:t> extends </a:t>
                      </a:r>
                      <a:r>
                        <a:rPr lang="en-IN" sz="1600" dirty="0" err="1"/>
                        <a:t>FilterInputStream</a:t>
                      </a:r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44729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 err="1"/>
                        <a:t>DataInputStream</a:t>
                      </a:r>
                      <a:r>
                        <a:rPr lang="en-IN" sz="1600" dirty="0"/>
                        <a:t>(</a:t>
                      </a:r>
                      <a:r>
                        <a:rPr lang="en-IN" sz="1600" dirty="0" err="1"/>
                        <a:t>InputStream</a:t>
                      </a:r>
                      <a:r>
                        <a:rPr lang="en-IN" sz="1600" dirty="0"/>
                        <a:t> is)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any </a:t>
                      </a:r>
                      <a:r>
                        <a:rPr lang="en-IN" sz="1600" dirty="0" err="1"/>
                        <a:t>inputstream</a:t>
                      </a:r>
                      <a:r>
                        <a:rPr lang="en-IN" sz="1600" dirty="0"/>
                        <a:t> class object can be passed as argument, so that dis reads line-line/int-int/double-double from that source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69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read(byte[]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2913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 err="1"/>
                        <a:t>boolean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readBoolean</a:t>
                      </a:r>
                      <a:r>
                        <a:rPr lang="en-IN" sz="1600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1199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byte </a:t>
                      </a:r>
                      <a:r>
                        <a:rPr lang="en-IN" sz="1600" dirty="0" err="1"/>
                        <a:t>readByte</a:t>
                      </a:r>
                      <a:r>
                        <a:rPr lang="en-IN" sz="1600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08895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short </a:t>
                      </a:r>
                      <a:r>
                        <a:rPr lang="en-IN" sz="1600" dirty="0" err="1"/>
                        <a:t>readShort</a:t>
                      </a:r>
                      <a:r>
                        <a:rPr lang="en-IN" sz="1600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6809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int </a:t>
                      </a:r>
                      <a:r>
                        <a:rPr lang="en-IN" sz="1600" dirty="0" err="1"/>
                        <a:t>readInt</a:t>
                      </a:r>
                      <a:r>
                        <a:rPr lang="en-IN" sz="1600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919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long </a:t>
                      </a:r>
                      <a:r>
                        <a:rPr lang="en-IN" sz="1600" dirty="0" err="1"/>
                        <a:t>readLong</a:t>
                      </a:r>
                      <a:r>
                        <a:rPr lang="en-IN" sz="1600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32993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float </a:t>
                      </a:r>
                      <a:r>
                        <a:rPr lang="en-IN" sz="1600" dirty="0" err="1"/>
                        <a:t>readFloat</a:t>
                      </a:r>
                      <a:r>
                        <a:rPr lang="en-IN" sz="1600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4352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double </a:t>
                      </a:r>
                      <a:r>
                        <a:rPr lang="en-IN" sz="1600" dirty="0" err="1"/>
                        <a:t>readDouble</a:t>
                      </a:r>
                      <a:r>
                        <a:rPr lang="en-IN" sz="1600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51434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String </a:t>
                      </a:r>
                      <a:r>
                        <a:rPr lang="en-IN" sz="1600" dirty="0" err="1"/>
                        <a:t>readLine</a:t>
                      </a:r>
                      <a:r>
                        <a:rPr lang="en-IN" sz="1600" dirty="0"/>
                        <a:t>()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318934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D5B4B8B-45A0-C746-E6E2-44455A4CD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441936"/>
              </p:ext>
            </p:extLst>
          </p:nvPr>
        </p:nvGraphicFramePr>
        <p:xfrm>
          <a:off x="4687414" y="1501438"/>
          <a:ext cx="4138332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455">
                  <a:extLst>
                    <a:ext uri="{9D8B030D-6E8A-4147-A177-3AD203B41FA5}">
                      <a16:colId xmlns:a16="http://schemas.microsoft.com/office/drawing/2014/main" val="228914212"/>
                    </a:ext>
                  </a:extLst>
                </a:gridCol>
                <a:gridCol w="2407877">
                  <a:extLst>
                    <a:ext uri="{9D8B030D-6E8A-4147-A177-3AD203B41FA5}">
                      <a16:colId xmlns:a16="http://schemas.microsoft.com/office/drawing/2014/main" val="72382226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public class </a:t>
                      </a:r>
                      <a:r>
                        <a:rPr lang="en-IN" sz="1600" dirty="0" err="1"/>
                        <a:t>BufferedInputStream</a:t>
                      </a:r>
                      <a:r>
                        <a:rPr lang="en-IN" sz="1600" dirty="0"/>
                        <a:t> extends </a:t>
                      </a:r>
                      <a:r>
                        <a:rPr lang="en-IN" sz="1600" dirty="0" err="1"/>
                        <a:t>FilterInputStream</a:t>
                      </a:r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44729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 err="1"/>
                        <a:t>BufferedInputStream</a:t>
                      </a:r>
                      <a:r>
                        <a:rPr lang="en-IN" sz="1600" dirty="0"/>
                        <a:t>(</a:t>
                      </a:r>
                      <a:r>
                        <a:rPr lang="en-IN" sz="1600" dirty="0" err="1"/>
                        <a:t>InputStream</a:t>
                      </a:r>
                      <a:r>
                        <a:rPr lang="en-IN" sz="1600" dirty="0"/>
                        <a:t> is)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any </a:t>
                      </a:r>
                      <a:r>
                        <a:rPr lang="en-IN" sz="1600" dirty="0" err="1"/>
                        <a:t>inputstream</a:t>
                      </a:r>
                      <a:r>
                        <a:rPr lang="en-IN" sz="1600" dirty="0"/>
                        <a:t> class object can be passed as argument, so that bis reads buffer/byte[]-buffer/byte[] from that source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69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read(int </a:t>
                      </a:r>
                      <a:r>
                        <a:rPr lang="en-IN" sz="1600" dirty="0" err="1"/>
                        <a:t>i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2913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600" dirty="0"/>
                        <a:t>read (byte[] b, int offset, int </a:t>
                      </a:r>
                      <a:r>
                        <a:rPr lang="en-IN" sz="1600" dirty="0" err="1"/>
                        <a:t>len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1199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08895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6809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919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32993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4352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51434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318934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08E3C5-D121-18FF-8DA7-74DC3E68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813313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98AE0C8-314F-02C5-68FA-51C9D86C9B2C}"/>
              </a:ext>
            </a:extLst>
          </p:cNvPr>
          <p:cNvSpPr txBox="1"/>
          <p:nvPr/>
        </p:nvSpPr>
        <p:spPr>
          <a:xfrm>
            <a:off x="356348" y="1365830"/>
            <a:ext cx="436357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900" dirty="0"/>
              <a:t>Unlike direct </a:t>
            </a:r>
            <a:r>
              <a:rPr lang="en-IN" sz="1900" dirty="0" err="1"/>
              <a:t>OutputStream</a:t>
            </a:r>
            <a:r>
              <a:rPr lang="en-IN" sz="1900" dirty="0"/>
              <a:t> sub classes, </a:t>
            </a:r>
            <a:r>
              <a:rPr lang="en-IN" sz="1900" dirty="0" err="1"/>
              <a:t>FilterOutputStream</a:t>
            </a:r>
            <a:r>
              <a:rPr lang="en-IN" sz="1900" dirty="0"/>
              <a:t> by default do not point to any destination. But they are having special ability to write data line-line or buffer-buffer.</a:t>
            </a:r>
          </a:p>
          <a:p>
            <a:pPr algn="just"/>
            <a:endParaRPr lang="en-IN" sz="1900" dirty="0"/>
          </a:p>
          <a:p>
            <a:pPr algn="just"/>
            <a:r>
              <a:rPr lang="en-IN" sz="1900" dirty="0"/>
              <a:t>Hence to write data into text file line-line, create </a:t>
            </a:r>
            <a:r>
              <a:rPr lang="en-IN" sz="1900" dirty="0" err="1"/>
              <a:t>FileOutputStream</a:t>
            </a:r>
            <a:r>
              <a:rPr lang="en-IN" sz="1900" dirty="0"/>
              <a:t> class object that points to text file, pass </a:t>
            </a:r>
            <a:r>
              <a:rPr lang="en-IN" sz="1900" dirty="0" err="1"/>
              <a:t>fos</a:t>
            </a:r>
            <a:r>
              <a:rPr lang="en-IN" sz="1900" dirty="0"/>
              <a:t> object as argument into </a:t>
            </a:r>
            <a:r>
              <a:rPr lang="en-IN" sz="1900" dirty="0" err="1"/>
              <a:t>DataOutputStream</a:t>
            </a:r>
            <a:r>
              <a:rPr lang="en-IN" sz="1900" dirty="0"/>
              <a:t> class constructor so that we can write data into text file line-line. </a:t>
            </a:r>
          </a:p>
          <a:p>
            <a:pPr algn="just"/>
            <a:endParaRPr lang="en-IN" sz="1900" dirty="0"/>
          </a:p>
          <a:p>
            <a:pPr algn="just"/>
            <a:r>
              <a:rPr lang="en-IN" sz="1900" dirty="0"/>
              <a:t>To write data into binary file pass </a:t>
            </a:r>
            <a:r>
              <a:rPr lang="en-IN" sz="1900" dirty="0" err="1"/>
              <a:t>fos</a:t>
            </a:r>
            <a:r>
              <a:rPr lang="en-IN" sz="1900" dirty="0"/>
              <a:t> object as argument into </a:t>
            </a:r>
            <a:r>
              <a:rPr lang="en-IN" sz="1900" dirty="0" err="1"/>
              <a:t>BufferedOutputStream</a:t>
            </a:r>
            <a:r>
              <a:rPr lang="en-IN" sz="1900" dirty="0"/>
              <a:t> class constructor so that we can write buffer (byte[]) by buffer (byte[]).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76520" y="699960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DataOutputStream</a:t>
            </a:r>
            <a:r>
              <a:rPr lang="en-IN" sz="2400" b="1" dirty="0"/>
              <a:t> and </a:t>
            </a:r>
            <a:r>
              <a:rPr lang="en-IN" sz="2400" b="1" dirty="0" err="1"/>
              <a:t>BufferedOutputStream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629A9-B4AC-56F7-7B4D-A6F1CB62030C}"/>
              </a:ext>
            </a:extLst>
          </p:cNvPr>
          <p:cNvSpPr txBox="1"/>
          <p:nvPr/>
        </p:nvSpPr>
        <p:spPr>
          <a:xfrm>
            <a:off x="4844790" y="1414574"/>
            <a:ext cx="60108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FilterOutputStream</a:t>
            </a:r>
            <a:r>
              <a:rPr lang="en-IN" b="1" dirty="0"/>
              <a:t> classes hierarchy:</a:t>
            </a:r>
          </a:p>
          <a:p>
            <a:r>
              <a:rPr lang="en-IN" b="1" dirty="0" err="1"/>
              <a:t>FilterOutputStream</a:t>
            </a:r>
            <a:endParaRPr lang="en-IN" b="1" dirty="0"/>
          </a:p>
          <a:p>
            <a:r>
              <a:rPr lang="en-IN" b="1" dirty="0"/>
              <a:t>	</a:t>
            </a:r>
            <a:r>
              <a:rPr lang="en-IN" b="1" dirty="0" err="1"/>
              <a:t>FilterOutputStream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DataOutputStream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BufferedOutputStream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PrintStream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CheckedOutputStream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CipherOutputStream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InflaterOutputStream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DeflaterOutputStream</a:t>
            </a:r>
            <a:endParaRPr lang="en-IN" b="1" dirty="0"/>
          </a:p>
          <a:p>
            <a:r>
              <a:rPr lang="en-IN" b="1" dirty="0"/>
              <a:t>		</a:t>
            </a:r>
            <a:r>
              <a:rPr lang="en-IN" b="1" dirty="0" err="1"/>
              <a:t>DigestOutputStream</a:t>
            </a:r>
            <a:endParaRPr lang="en-IN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D15D19-D07E-1B47-7ECB-883EA923BDE1}"/>
              </a:ext>
            </a:extLst>
          </p:cNvPr>
          <p:cNvCxnSpPr/>
          <p:nvPr/>
        </p:nvCxnSpPr>
        <p:spPr>
          <a:xfrm>
            <a:off x="5324402" y="2170209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9DB398-8DB0-558E-9654-BB7BA77138D7}"/>
              </a:ext>
            </a:extLst>
          </p:cNvPr>
          <p:cNvCxnSpPr>
            <a:cxnSpLocks/>
          </p:cNvCxnSpPr>
          <p:nvPr/>
        </p:nvCxnSpPr>
        <p:spPr>
          <a:xfrm flipH="1">
            <a:off x="6220869" y="2402941"/>
            <a:ext cx="28783" cy="2044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F7B47A-4988-CCB6-502D-F0C25AA6E4DD}"/>
              </a:ext>
            </a:extLst>
          </p:cNvPr>
          <p:cNvCxnSpPr/>
          <p:nvPr/>
        </p:nvCxnSpPr>
        <p:spPr>
          <a:xfrm>
            <a:off x="6234315" y="2434665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BA302C-E495-2744-AEDC-D13D64298397}"/>
              </a:ext>
            </a:extLst>
          </p:cNvPr>
          <p:cNvCxnSpPr/>
          <p:nvPr/>
        </p:nvCxnSpPr>
        <p:spPr>
          <a:xfrm>
            <a:off x="6211904" y="2708088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B26BFF-3615-44DC-054E-479B7EE6A401}"/>
              </a:ext>
            </a:extLst>
          </p:cNvPr>
          <p:cNvCxnSpPr/>
          <p:nvPr/>
        </p:nvCxnSpPr>
        <p:spPr>
          <a:xfrm>
            <a:off x="6216387" y="2981511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4961C62-D667-02B5-25B1-6BC35F6DDDB9}"/>
              </a:ext>
            </a:extLst>
          </p:cNvPr>
          <p:cNvCxnSpPr/>
          <p:nvPr/>
        </p:nvCxnSpPr>
        <p:spPr>
          <a:xfrm>
            <a:off x="6234317" y="3254934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D7A37C4-6AF9-91C6-6984-59E2817F9D71}"/>
              </a:ext>
            </a:extLst>
          </p:cNvPr>
          <p:cNvCxnSpPr/>
          <p:nvPr/>
        </p:nvCxnSpPr>
        <p:spPr>
          <a:xfrm>
            <a:off x="6207423" y="3523874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A40891-86A9-7188-74F5-B90D055A15E6}"/>
              </a:ext>
            </a:extLst>
          </p:cNvPr>
          <p:cNvCxnSpPr/>
          <p:nvPr/>
        </p:nvCxnSpPr>
        <p:spPr>
          <a:xfrm>
            <a:off x="6185012" y="3783850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15F7EF9-1474-C8AC-F60E-FA2DAE85FA83}"/>
              </a:ext>
            </a:extLst>
          </p:cNvPr>
          <p:cNvCxnSpPr/>
          <p:nvPr/>
        </p:nvCxnSpPr>
        <p:spPr>
          <a:xfrm>
            <a:off x="6229836" y="4070720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60CBDC-880F-492E-3CD9-4034FF237C0B}"/>
              </a:ext>
            </a:extLst>
          </p:cNvPr>
          <p:cNvCxnSpPr/>
          <p:nvPr/>
        </p:nvCxnSpPr>
        <p:spPr>
          <a:xfrm>
            <a:off x="6185012" y="4335177"/>
            <a:ext cx="5109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3C6C4A0-AC5F-2E7D-FE2E-C7BBBB5D1406}"/>
              </a:ext>
            </a:extLst>
          </p:cNvPr>
          <p:cNvSpPr txBox="1"/>
          <p:nvPr/>
        </p:nvSpPr>
        <p:spPr>
          <a:xfrm>
            <a:off x="9032894" y="1830971"/>
            <a:ext cx="29233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FOS </a:t>
            </a:r>
            <a:r>
              <a:rPr lang="en-IN" dirty="0" err="1"/>
              <a:t>fos</a:t>
            </a:r>
            <a:r>
              <a:rPr lang="en-IN" dirty="0"/>
              <a:t>=new FOS(“data.txt”);</a:t>
            </a:r>
          </a:p>
          <a:p>
            <a:r>
              <a:rPr lang="en-IN" dirty="0"/>
              <a:t>DOS dos=new DOS(</a:t>
            </a:r>
            <a:r>
              <a:rPr lang="en-IN" dirty="0" err="1"/>
              <a:t>fos</a:t>
            </a:r>
            <a:r>
              <a:rPr lang="en-IN" dirty="0"/>
              <a:t>);</a:t>
            </a:r>
          </a:p>
          <a:p>
            <a:r>
              <a:rPr lang="en-IN" dirty="0" err="1"/>
              <a:t>dos.writeBytes</a:t>
            </a:r>
            <a:r>
              <a:rPr lang="en-IN" dirty="0"/>
              <a:t>(line);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077C12-1D75-F35B-E10B-CDD078B72086}"/>
              </a:ext>
            </a:extLst>
          </p:cNvPr>
          <p:cNvSpPr txBox="1"/>
          <p:nvPr/>
        </p:nvSpPr>
        <p:spPr>
          <a:xfrm>
            <a:off x="4904507" y="4720670"/>
            <a:ext cx="451019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FOS </a:t>
            </a:r>
            <a:r>
              <a:rPr lang="en-IN" dirty="0" err="1"/>
              <a:t>fos</a:t>
            </a:r>
            <a:r>
              <a:rPr lang="en-IN" dirty="0"/>
              <a:t>=new FOS(“image.jpg”);</a:t>
            </a:r>
          </a:p>
          <a:p>
            <a:r>
              <a:rPr lang="en-IN" dirty="0"/>
              <a:t>BOS </a:t>
            </a:r>
            <a:r>
              <a:rPr lang="en-IN" dirty="0" err="1"/>
              <a:t>bos</a:t>
            </a:r>
            <a:r>
              <a:rPr lang="en-IN" dirty="0"/>
              <a:t>=new BOS(</a:t>
            </a:r>
            <a:r>
              <a:rPr lang="en-IN" dirty="0" err="1"/>
              <a:t>fos</a:t>
            </a:r>
            <a:r>
              <a:rPr lang="en-IN" dirty="0"/>
              <a:t>);</a:t>
            </a:r>
          </a:p>
          <a:p>
            <a:r>
              <a:rPr lang="en-IN" dirty="0"/>
              <a:t>byte b[]=assume having binary data</a:t>
            </a:r>
          </a:p>
          <a:p>
            <a:r>
              <a:rPr lang="en-IN" sz="1400" i="1" dirty="0">
                <a:solidFill>
                  <a:srgbClr val="FF0000"/>
                </a:solidFill>
              </a:rPr>
              <a:t>may be read through bis</a:t>
            </a:r>
            <a:endParaRPr lang="en-IN" i="1" dirty="0">
              <a:solidFill>
                <a:srgbClr val="FF0000"/>
              </a:solidFill>
            </a:endParaRPr>
          </a:p>
          <a:p>
            <a:r>
              <a:rPr lang="en-IN" dirty="0" err="1"/>
              <a:t>bos.write</a:t>
            </a:r>
            <a:r>
              <a:rPr lang="en-IN" dirty="0"/>
              <a:t>(b, 0, </a:t>
            </a:r>
            <a:r>
              <a:rPr lang="en-IN" dirty="0" err="1"/>
              <a:t>b.length</a:t>
            </a:r>
            <a:r>
              <a:rPr lang="en-IN" dirty="0"/>
              <a:t>);</a:t>
            </a: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4B783AA4-BE01-E704-2F9C-562B6683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75680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9B1852-A1F1-F6C9-D455-00FC16711C7B}"/>
              </a:ext>
            </a:extLst>
          </p:cNvPr>
          <p:cNvSpPr/>
          <p:nvPr/>
        </p:nvSpPr>
        <p:spPr>
          <a:xfrm>
            <a:off x="310101" y="741216"/>
            <a:ext cx="6236368" cy="6486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DataOutputStream</a:t>
            </a:r>
            <a:r>
              <a:rPr lang="en-IN" sz="2400" b="1" dirty="0"/>
              <a:t> and </a:t>
            </a:r>
            <a:r>
              <a:rPr lang="en-IN" sz="2400" b="1" dirty="0" err="1"/>
              <a:t>BufferedOutputStream</a:t>
            </a:r>
            <a:endParaRPr lang="en-IN" sz="2400" b="1" dirty="0"/>
          </a:p>
        </p:txBody>
      </p:sp>
      <p:graphicFrame>
        <p:nvGraphicFramePr>
          <p:cNvPr id="32" name="Table 32">
            <a:extLst>
              <a:ext uri="{FF2B5EF4-FFF2-40B4-BE49-F238E27FC236}">
                <a16:creationId xmlns:a16="http://schemas.microsoft.com/office/drawing/2014/main" id="{102E55B5-62D5-E341-FF73-94BA47237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716023"/>
              </p:ext>
            </p:extLst>
          </p:nvPr>
        </p:nvGraphicFramePr>
        <p:xfrm>
          <a:off x="285750" y="1496955"/>
          <a:ext cx="4138332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8332">
                  <a:extLst>
                    <a:ext uri="{9D8B030D-6E8A-4147-A177-3AD203B41FA5}">
                      <a16:colId xmlns:a16="http://schemas.microsoft.com/office/drawing/2014/main" val="228914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public class </a:t>
                      </a:r>
                      <a:r>
                        <a:rPr lang="en-IN" sz="1600" dirty="0" err="1"/>
                        <a:t>DataOutputStream</a:t>
                      </a:r>
                      <a:r>
                        <a:rPr lang="en-IN" sz="1600" dirty="0"/>
                        <a:t> extends </a:t>
                      </a:r>
                      <a:r>
                        <a:rPr lang="en-IN" sz="1600" dirty="0" err="1"/>
                        <a:t>FilterOutputStream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44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DataOutputStream</a:t>
                      </a:r>
                      <a:r>
                        <a:rPr lang="en-IN" sz="1600" dirty="0"/>
                        <a:t>(</a:t>
                      </a:r>
                      <a:r>
                        <a:rPr lang="en-IN" sz="1600" dirty="0" err="1"/>
                        <a:t>OutputStream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os</a:t>
                      </a:r>
                      <a:r>
                        <a:rPr lang="en-IN" sz="1600" dirty="0"/>
                        <a:t>)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any </a:t>
                      </a:r>
                      <a:r>
                        <a:rPr lang="en-IN" sz="1600" dirty="0" err="1"/>
                        <a:t>outputstream</a:t>
                      </a:r>
                      <a:r>
                        <a:rPr lang="en-IN" sz="1600" dirty="0"/>
                        <a:t> class object can be passed as argument, so that dos writes line-line/int-int/double-double into that destination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69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write(byte[] b, int offset, int </a:t>
                      </a:r>
                      <a:r>
                        <a:rPr lang="en-IN" sz="1600" dirty="0" err="1"/>
                        <a:t>len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291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write(int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1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write(</a:t>
                      </a:r>
                      <a:r>
                        <a:rPr lang="en-IN" sz="1600" dirty="0" err="1"/>
                        <a:t>boolean</a:t>
                      </a:r>
                      <a:r>
                        <a:rPr lang="en-IN" sz="1600" dirty="0"/>
                        <a:t>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08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writeByte</a:t>
                      </a:r>
                      <a:r>
                        <a:rPr lang="en-IN" sz="1600" dirty="0"/>
                        <a:t>(byte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680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writeBytes</a:t>
                      </a:r>
                      <a:r>
                        <a:rPr lang="en-IN" sz="1600" dirty="0"/>
                        <a:t>(String 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writeChar</a:t>
                      </a:r>
                      <a:r>
                        <a:rPr lang="en-IN" sz="1600" dirty="0"/>
                        <a:t>(int </a:t>
                      </a:r>
                      <a:r>
                        <a:rPr lang="en-IN" sz="1600" dirty="0" err="1"/>
                        <a:t>ch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329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writeChars</a:t>
                      </a:r>
                      <a:r>
                        <a:rPr lang="en-IN" sz="1600" dirty="0"/>
                        <a:t>(String 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43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writeLong</a:t>
                      </a:r>
                      <a:r>
                        <a:rPr lang="en-IN" sz="1600" dirty="0"/>
                        <a:t>(long 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5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writeDouble</a:t>
                      </a:r>
                      <a:r>
                        <a:rPr lang="en-IN" sz="1600" dirty="0"/>
                        <a:t>(double 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318934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D5B4B8B-45A0-C746-E6E2-44455A4CD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206924"/>
              </p:ext>
            </p:extLst>
          </p:nvPr>
        </p:nvGraphicFramePr>
        <p:xfrm>
          <a:off x="4687414" y="1501438"/>
          <a:ext cx="4138332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8332">
                  <a:extLst>
                    <a:ext uri="{9D8B030D-6E8A-4147-A177-3AD203B41FA5}">
                      <a16:colId xmlns:a16="http://schemas.microsoft.com/office/drawing/2014/main" val="228914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public class </a:t>
                      </a:r>
                      <a:r>
                        <a:rPr lang="en-IN" sz="1600" dirty="0" err="1"/>
                        <a:t>BufferedOutputStream</a:t>
                      </a:r>
                      <a:r>
                        <a:rPr lang="en-IN" sz="1600" dirty="0"/>
                        <a:t> extends </a:t>
                      </a:r>
                      <a:r>
                        <a:rPr lang="en-IN" sz="1600" dirty="0" err="1"/>
                        <a:t>FilterOutputStream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44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BufferedOutputStream</a:t>
                      </a:r>
                      <a:r>
                        <a:rPr lang="en-IN" sz="1600" dirty="0"/>
                        <a:t>(</a:t>
                      </a:r>
                      <a:r>
                        <a:rPr lang="en-IN" sz="1600" dirty="0" err="1"/>
                        <a:t>OutputStream</a:t>
                      </a:r>
                      <a:r>
                        <a:rPr lang="en-IN" sz="1600" dirty="0"/>
                        <a:t> </a:t>
                      </a:r>
                      <a:r>
                        <a:rPr lang="en-IN" sz="1600" dirty="0" err="1"/>
                        <a:t>os</a:t>
                      </a:r>
                      <a:r>
                        <a:rPr lang="en-IN" sz="1600" dirty="0"/>
                        <a:t>)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any </a:t>
                      </a:r>
                      <a:r>
                        <a:rPr lang="en-IN" sz="1600" dirty="0" err="1"/>
                        <a:t>outputstream</a:t>
                      </a:r>
                      <a:r>
                        <a:rPr lang="en-IN" sz="1600" dirty="0"/>
                        <a:t> class object can be passed as argument, so that </a:t>
                      </a:r>
                      <a:r>
                        <a:rPr lang="en-IN" sz="1600" dirty="0" err="1"/>
                        <a:t>bos</a:t>
                      </a:r>
                      <a:r>
                        <a:rPr lang="en-IN" sz="1600" dirty="0"/>
                        <a:t> writes buffer/byte[]-buffer/byte[] into that destination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69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write(int </a:t>
                      </a:r>
                      <a:r>
                        <a:rPr lang="en-IN" sz="1600" dirty="0" err="1"/>
                        <a:t>i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291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write(byte[] b, int offset, int </a:t>
                      </a:r>
                      <a:r>
                        <a:rPr lang="en-IN" sz="1600" dirty="0" err="1"/>
                        <a:t>len</a:t>
                      </a:r>
                      <a:r>
                        <a:rPr lang="en-IN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1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08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680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9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329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43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51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318934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EFBCD5-F6A0-4C84-8E47-EC13ADB36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24087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98AE0C8-314F-02C5-68FA-51C9D86C9B2C}"/>
              </a:ext>
            </a:extLst>
          </p:cNvPr>
          <p:cNvSpPr txBox="1"/>
          <p:nvPr/>
        </p:nvSpPr>
        <p:spPr>
          <a:xfrm>
            <a:off x="571500" y="706919"/>
            <a:ext cx="808537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/>
              <a:t>// DISDOSDemo5.java</a:t>
            </a:r>
          </a:p>
          <a:p>
            <a:pPr algn="just"/>
            <a:r>
              <a:rPr lang="en-IN" sz="2000" dirty="0"/>
              <a:t>import java.io.*;</a:t>
            </a:r>
          </a:p>
          <a:p>
            <a:pPr algn="just"/>
            <a:r>
              <a:rPr lang="en-IN" sz="2000" dirty="0"/>
              <a:t>public class DISDOSDemo5 {</a:t>
            </a:r>
          </a:p>
          <a:p>
            <a:pPr algn="just"/>
            <a:r>
              <a:rPr lang="en-IN" sz="2000" dirty="0"/>
              <a:t>  public static void main(String rags[]) throws Exception {</a:t>
            </a:r>
          </a:p>
          <a:p>
            <a:pPr algn="just"/>
            <a:r>
              <a:rPr lang="en-IN" sz="2000" dirty="0"/>
              <a:t>    </a:t>
            </a:r>
            <a:r>
              <a:rPr lang="en-IN" sz="2000" dirty="0" err="1"/>
              <a:t>FileInputStream</a:t>
            </a:r>
            <a:r>
              <a:rPr lang="en-IN" sz="2000" dirty="0"/>
              <a:t> </a:t>
            </a:r>
            <a:r>
              <a:rPr lang="en-IN" sz="2000" dirty="0" err="1"/>
              <a:t>fis</a:t>
            </a:r>
            <a:r>
              <a:rPr lang="en-IN" sz="2000" dirty="0"/>
              <a:t>=new </a:t>
            </a:r>
            <a:r>
              <a:rPr lang="en-IN" sz="2000" dirty="0" err="1"/>
              <a:t>FileInputStream</a:t>
            </a:r>
            <a:r>
              <a:rPr lang="en-IN" sz="2000" dirty="0"/>
              <a:t>("StudentDetails.txt");</a:t>
            </a:r>
          </a:p>
          <a:p>
            <a:pPr algn="just"/>
            <a:r>
              <a:rPr lang="en-IN" sz="2000" dirty="0"/>
              <a:t>    </a:t>
            </a:r>
            <a:r>
              <a:rPr lang="en-IN" sz="2000" dirty="0" err="1"/>
              <a:t>DataInputStream</a:t>
            </a:r>
            <a:r>
              <a:rPr lang="en-IN" sz="2000" dirty="0"/>
              <a:t> dis=new </a:t>
            </a:r>
            <a:r>
              <a:rPr lang="en-IN" sz="2000" dirty="0" err="1"/>
              <a:t>DataInputStream</a:t>
            </a:r>
            <a:r>
              <a:rPr lang="en-IN" sz="2000" dirty="0"/>
              <a:t>(</a:t>
            </a:r>
            <a:r>
              <a:rPr lang="en-IN" sz="2000" dirty="0" err="1"/>
              <a:t>fis</a:t>
            </a:r>
            <a:r>
              <a:rPr lang="en-IN" sz="2000" dirty="0"/>
              <a:t>);</a:t>
            </a:r>
          </a:p>
          <a:p>
            <a:pPr algn="just"/>
            <a:r>
              <a:rPr lang="en-IN" sz="2000" dirty="0"/>
              <a:t>	</a:t>
            </a:r>
          </a:p>
          <a:p>
            <a:pPr algn="just"/>
            <a:r>
              <a:rPr lang="en-IN" sz="2000" dirty="0"/>
              <a:t>     </a:t>
            </a:r>
            <a:r>
              <a:rPr lang="en-IN" sz="2000" dirty="0" err="1"/>
              <a:t>FileOutputStream</a:t>
            </a:r>
            <a:r>
              <a:rPr lang="en-IN" sz="2000" dirty="0"/>
              <a:t> </a:t>
            </a:r>
            <a:r>
              <a:rPr lang="en-IN" sz="2000" dirty="0" err="1"/>
              <a:t>fos</a:t>
            </a:r>
            <a:r>
              <a:rPr lang="en-IN" sz="2000" dirty="0"/>
              <a:t>=new </a:t>
            </a:r>
            <a:r>
              <a:rPr lang="en-IN" sz="2000" dirty="0" err="1"/>
              <a:t>FileOutputStream</a:t>
            </a:r>
            <a:r>
              <a:rPr lang="en-IN" sz="2000" dirty="0"/>
              <a:t>("StudentDetails2.txt");</a:t>
            </a:r>
          </a:p>
          <a:p>
            <a:pPr algn="just"/>
            <a:r>
              <a:rPr lang="en-IN" sz="2000" dirty="0"/>
              <a:t>    </a:t>
            </a:r>
            <a:r>
              <a:rPr lang="en-IN" sz="2000" dirty="0" err="1"/>
              <a:t>DataOutputStream</a:t>
            </a:r>
            <a:r>
              <a:rPr lang="en-IN" sz="2000" dirty="0"/>
              <a:t> dos=new </a:t>
            </a:r>
            <a:r>
              <a:rPr lang="en-IN" sz="2000" dirty="0" err="1"/>
              <a:t>DataOutputStream</a:t>
            </a:r>
            <a:r>
              <a:rPr lang="en-IN" sz="2000" dirty="0"/>
              <a:t>(</a:t>
            </a:r>
            <a:r>
              <a:rPr lang="en-IN" sz="2000" dirty="0" err="1"/>
              <a:t>fos</a:t>
            </a:r>
            <a:r>
              <a:rPr lang="en-IN" sz="2000" dirty="0"/>
              <a:t>);</a:t>
            </a:r>
          </a:p>
          <a:p>
            <a:pPr algn="just"/>
            <a:r>
              <a:rPr lang="en-IN" sz="2000" dirty="0"/>
              <a:t>    // </a:t>
            </a:r>
            <a:r>
              <a:rPr lang="en-IN" sz="2000" dirty="0" err="1"/>
              <a:t>PrintStream</a:t>
            </a:r>
            <a:r>
              <a:rPr lang="en-IN" sz="2000" dirty="0"/>
              <a:t> </a:t>
            </a:r>
            <a:r>
              <a:rPr lang="en-IN" sz="2000" dirty="0" err="1"/>
              <a:t>ps</a:t>
            </a:r>
            <a:r>
              <a:rPr lang="en-IN" sz="2000" dirty="0"/>
              <a:t>=new </a:t>
            </a:r>
            <a:r>
              <a:rPr lang="en-IN" sz="2000" dirty="0" err="1"/>
              <a:t>PrintStream</a:t>
            </a:r>
            <a:r>
              <a:rPr lang="en-IN" sz="2000" dirty="0"/>
              <a:t>(</a:t>
            </a:r>
            <a:r>
              <a:rPr lang="en-IN" sz="2000" dirty="0" err="1"/>
              <a:t>fos</a:t>
            </a:r>
            <a:r>
              <a:rPr lang="en-IN" sz="2000" dirty="0"/>
              <a:t>);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    String line=</a:t>
            </a:r>
            <a:r>
              <a:rPr lang="en-IN" sz="2000" dirty="0" err="1"/>
              <a:t>dis.readLine</a:t>
            </a:r>
            <a:r>
              <a:rPr lang="en-IN" sz="2000" dirty="0"/>
              <a:t>();</a:t>
            </a:r>
          </a:p>
          <a:p>
            <a:pPr algn="just"/>
            <a:r>
              <a:rPr lang="en-IN" sz="2000" dirty="0"/>
              <a:t>    while(line!=null) {</a:t>
            </a:r>
          </a:p>
          <a:p>
            <a:pPr algn="just"/>
            <a:r>
              <a:rPr lang="en-IN" sz="2000" dirty="0"/>
              <a:t>      </a:t>
            </a:r>
            <a:r>
              <a:rPr lang="en-IN" sz="2000" dirty="0" err="1"/>
              <a:t>dos.writeBytes</a:t>
            </a:r>
            <a:r>
              <a:rPr lang="en-IN" sz="2000" dirty="0"/>
              <a:t>(line+"\n");</a:t>
            </a:r>
          </a:p>
          <a:p>
            <a:pPr algn="just"/>
            <a:r>
              <a:rPr lang="en-IN" sz="2000" dirty="0"/>
              <a:t>      // </a:t>
            </a:r>
            <a:r>
              <a:rPr lang="en-IN" sz="2000" dirty="0" err="1"/>
              <a:t>ps.println</a:t>
            </a:r>
            <a:r>
              <a:rPr lang="en-IN" sz="2000" dirty="0"/>
              <a:t>(line);</a:t>
            </a:r>
          </a:p>
          <a:p>
            <a:pPr algn="just"/>
            <a:r>
              <a:rPr lang="en-IN" sz="2000" dirty="0"/>
              <a:t>      </a:t>
            </a:r>
            <a:r>
              <a:rPr lang="en-IN" sz="2000" dirty="0" err="1"/>
              <a:t>System.out.println</a:t>
            </a:r>
            <a:r>
              <a:rPr lang="en-IN" sz="2000" dirty="0"/>
              <a:t>(line);</a:t>
            </a:r>
          </a:p>
          <a:p>
            <a:pPr algn="just"/>
            <a:r>
              <a:rPr lang="en-IN" sz="2000" dirty="0"/>
              <a:t>      </a:t>
            </a:r>
            <a:r>
              <a:rPr lang="en-IN" sz="2000" dirty="0" err="1"/>
              <a:t>Thread.sleep</a:t>
            </a:r>
            <a:r>
              <a:rPr lang="en-IN" sz="2000" dirty="0"/>
              <a:t>(100);</a:t>
            </a:r>
          </a:p>
          <a:p>
            <a:pPr algn="just"/>
            <a:r>
              <a:rPr lang="en-IN" sz="2000" dirty="0"/>
              <a:t>       line=</a:t>
            </a:r>
            <a:r>
              <a:rPr lang="en-IN" sz="2000" dirty="0" err="1"/>
              <a:t>dis.readLine</a:t>
            </a:r>
            <a:r>
              <a:rPr lang="en-IN" sz="2000" dirty="0"/>
              <a:t>();</a:t>
            </a:r>
          </a:p>
          <a:p>
            <a:pPr algn="just"/>
            <a:r>
              <a:rPr lang="en-IN" sz="2000" dirty="0"/>
              <a:t>   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09213-16FA-3EF3-6844-7AA6424FF1F2}"/>
              </a:ext>
            </a:extLst>
          </p:cNvPr>
          <p:cNvSpPr txBox="1"/>
          <p:nvPr/>
        </p:nvSpPr>
        <p:spPr>
          <a:xfrm>
            <a:off x="8540990" y="1381855"/>
            <a:ext cx="24692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    // </a:t>
            </a:r>
            <a:r>
              <a:rPr lang="en-IN" sz="2000" dirty="0" err="1"/>
              <a:t>ps.close</a:t>
            </a:r>
            <a:r>
              <a:rPr lang="en-IN" sz="2000" dirty="0"/>
              <a:t>(); </a:t>
            </a:r>
          </a:p>
          <a:p>
            <a:pPr algn="just"/>
            <a:r>
              <a:rPr lang="en-IN" sz="2000" dirty="0"/>
              <a:t>    </a:t>
            </a:r>
            <a:r>
              <a:rPr lang="en-IN" sz="2000" dirty="0" err="1"/>
              <a:t>dos.close</a:t>
            </a:r>
            <a:r>
              <a:rPr lang="en-IN" sz="2000" dirty="0"/>
              <a:t>(); </a:t>
            </a:r>
          </a:p>
          <a:p>
            <a:pPr algn="just"/>
            <a:r>
              <a:rPr lang="en-IN" sz="2000" dirty="0"/>
              <a:t>    </a:t>
            </a:r>
            <a:r>
              <a:rPr lang="en-IN" sz="2000" dirty="0" err="1"/>
              <a:t>fos.close</a:t>
            </a:r>
            <a:r>
              <a:rPr lang="en-IN" sz="2000" dirty="0"/>
              <a:t>();</a:t>
            </a:r>
          </a:p>
          <a:p>
            <a:pPr algn="just"/>
            <a:r>
              <a:rPr lang="en-IN" sz="2000" dirty="0"/>
              <a:t>    </a:t>
            </a:r>
            <a:r>
              <a:rPr lang="en-IN" sz="2000" dirty="0" err="1"/>
              <a:t>dis.close</a:t>
            </a:r>
            <a:r>
              <a:rPr lang="en-IN" sz="2000" dirty="0"/>
              <a:t>(); </a:t>
            </a:r>
          </a:p>
          <a:p>
            <a:pPr algn="just"/>
            <a:r>
              <a:rPr lang="en-IN" sz="2000" dirty="0"/>
              <a:t>    </a:t>
            </a:r>
            <a:r>
              <a:rPr lang="en-IN" sz="2000" dirty="0" err="1"/>
              <a:t>fis.close</a:t>
            </a:r>
            <a:r>
              <a:rPr lang="en-IN" sz="2000" dirty="0"/>
              <a:t>();</a:t>
            </a:r>
          </a:p>
          <a:p>
            <a:pPr algn="just"/>
            <a:r>
              <a:rPr lang="en-IN" sz="2000" dirty="0"/>
              <a:t>  }</a:t>
            </a:r>
          </a:p>
          <a:p>
            <a:pPr algn="just"/>
            <a:r>
              <a:rPr lang="en-IN" sz="2000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11BFE-1A33-AAEE-295F-B73CCA17EA36}"/>
              </a:ext>
            </a:extLst>
          </p:cNvPr>
          <p:cNvSpPr txBox="1"/>
          <p:nvPr/>
        </p:nvSpPr>
        <p:spPr>
          <a:xfrm>
            <a:off x="5011031" y="3946534"/>
            <a:ext cx="381023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DataInputStream</a:t>
            </a:r>
            <a:r>
              <a:rPr lang="en-IN" sz="2000" dirty="0"/>
              <a:t> &amp; </a:t>
            </a:r>
            <a:r>
              <a:rPr lang="en-IN" sz="2000" dirty="0" err="1"/>
              <a:t>DataOutputStream</a:t>
            </a:r>
            <a:r>
              <a:rPr lang="en-IN" sz="2000" dirty="0"/>
              <a:t> /</a:t>
            </a:r>
            <a:r>
              <a:rPr lang="en-IN" sz="2000" dirty="0" err="1"/>
              <a:t>PrintStream</a:t>
            </a:r>
            <a:r>
              <a:rPr lang="en-IN" sz="2000" dirty="0"/>
              <a:t> can read &amp; write data to and from text file line-line. </a:t>
            </a:r>
          </a:p>
          <a:p>
            <a:endParaRPr lang="en-IN" sz="2000" dirty="0"/>
          </a:p>
          <a:p>
            <a:r>
              <a:rPr lang="en-IN" sz="2000" dirty="0"/>
              <a:t>But binary files cannot be read line-line, for that we have to read &amp; write buffer-buffer.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E3FEF5-4FBB-89A6-8941-0BED02AA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77017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48B3DC9-5826-E84A-A17A-025F8B2B8135}"/>
              </a:ext>
            </a:extLst>
          </p:cNvPr>
          <p:cNvSpPr txBox="1"/>
          <p:nvPr/>
        </p:nvSpPr>
        <p:spPr>
          <a:xfrm>
            <a:off x="178182" y="638427"/>
            <a:ext cx="606125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// BISBOSDemo6_1.java</a:t>
            </a:r>
          </a:p>
          <a:p>
            <a:r>
              <a:rPr lang="en-IN" sz="1600" dirty="0"/>
              <a:t>import java.io.*;</a:t>
            </a:r>
          </a:p>
          <a:p>
            <a:r>
              <a:rPr lang="en-IN" sz="1600" dirty="0"/>
              <a:t>public class BISBOSDemo6_1 {</a:t>
            </a:r>
          </a:p>
          <a:p>
            <a:r>
              <a:rPr lang="en-IN" sz="1600" dirty="0"/>
              <a:t>  public static void main(String rags[]) throws Exception {</a:t>
            </a:r>
          </a:p>
          <a:p>
            <a:r>
              <a:rPr lang="en-IN" sz="1600" dirty="0"/>
              <a:t>      String </a:t>
            </a:r>
            <a:r>
              <a:rPr lang="en-IN" sz="1600" dirty="0" err="1"/>
              <a:t>filePath</a:t>
            </a:r>
            <a:r>
              <a:rPr lang="en-IN" sz="1600" dirty="0"/>
              <a:t>="C:\\Users\\Public\\Pictures\\Sample Pictures\\Penguins.jpg";</a:t>
            </a:r>
          </a:p>
          <a:p>
            <a:r>
              <a:rPr lang="en-IN" sz="1600" dirty="0"/>
              <a:t>      </a:t>
            </a:r>
            <a:r>
              <a:rPr lang="en-IN" sz="1600" dirty="0" err="1"/>
              <a:t>FileInputStream</a:t>
            </a:r>
            <a:r>
              <a:rPr lang="en-IN" sz="1600" dirty="0"/>
              <a:t> </a:t>
            </a:r>
            <a:r>
              <a:rPr lang="en-IN" sz="1600" dirty="0" err="1"/>
              <a:t>fis</a:t>
            </a:r>
            <a:r>
              <a:rPr lang="en-IN" sz="1600" dirty="0"/>
              <a:t>=new </a:t>
            </a:r>
            <a:r>
              <a:rPr lang="en-IN" sz="1600" dirty="0" err="1"/>
              <a:t>FileInputStream</a:t>
            </a:r>
            <a:r>
              <a:rPr lang="en-IN" sz="1600" dirty="0"/>
              <a:t>(</a:t>
            </a:r>
            <a:r>
              <a:rPr lang="en-IN" sz="1600" dirty="0" err="1"/>
              <a:t>filePath</a:t>
            </a:r>
            <a:r>
              <a:rPr lang="en-IN" sz="1600" dirty="0"/>
              <a:t>);</a:t>
            </a:r>
          </a:p>
          <a:p>
            <a:r>
              <a:rPr lang="en-IN" sz="1600" dirty="0"/>
              <a:t>      </a:t>
            </a:r>
            <a:r>
              <a:rPr lang="en-IN" sz="1600" dirty="0" err="1"/>
              <a:t>BufferedInputStream</a:t>
            </a:r>
            <a:r>
              <a:rPr lang="en-IN" sz="1600" dirty="0"/>
              <a:t> bis=new </a:t>
            </a:r>
            <a:r>
              <a:rPr lang="en-IN" sz="1600" dirty="0" err="1"/>
              <a:t>BufferedInputStream</a:t>
            </a:r>
            <a:r>
              <a:rPr lang="en-IN" sz="1600" dirty="0"/>
              <a:t>(</a:t>
            </a:r>
            <a:r>
              <a:rPr lang="en-IN" sz="1600" dirty="0" err="1"/>
              <a:t>fis</a:t>
            </a:r>
            <a:r>
              <a:rPr lang="en-IN" sz="1600" dirty="0"/>
              <a:t>, 1024);</a:t>
            </a:r>
          </a:p>
          <a:p>
            <a:endParaRPr lang="en-IN" sz="1600" dirty="0"/>
          </a:p>
          <a:p>
            <a:r>
              <a:rPr lang="en-IN" sz="1600" dirty="0"/>
              <a:t>      </a:t>
            </a:r>
            <a:r>
              <a:rPr lang="en-IN" sz="1600" dirty="0" err="1"/>
              <a:t>FileOutputStream</a:t>
            </a:r>
            <a:r>
              <a:rPr lang="en-IN" sz="1600" dirty="0"/>
              <a:t> </a:t>
            </a:r>
            <a:r>
              <a:rPr lang="en-IN" sz="1600" dirty="0" err="1"/>
              <a:t>fos</a:t>
            </a:r>
            <a:r>
              <a:rPr lang="en-IN" sz="1600" dirty="0"/>
              <a:t>=new </a:t>
            </a:r>
            <a:r>
              <a:rPr lang="en-IN" sz="1600" dirty="0" err="1"/>
              <a:t>FileOutputStream</a:t>
            </a:r>
            <a:r>
              <a:rPr lang="en-IN" sz="1600" dirty="0"/>
              <a:t>("Penguins-1.jpg");	</a:t>
            </a:r>
          </a:p>
          <a:p>
            <a:r>
              <a:rPr lang="en-IN" sz="1600" dirty="0"/>
              <a:t>      </a:t>
            </a:r>
            <a:r>
              <a:rPr lang="en-IN" sz="1600" dirty="0" err="1"/>
              <a:t>BufferedOutputStream</a:t>
            </a:r>
            <a:r>
              <a:rPr lang="en-IN" sz="1600" dirty="0"/>
              <a:t> </a:t>
            </a:r>
            <a:r>
              <a:rPr lang="en-IN" sz="1600" dirty="0" err="1"/>
              <a:t>bos</a:t>
            </a:r>
            <a:r>
              <a:rPr lang="en-IN" sz="1600" dirty="0"/>
              <a:t>=new </a:t>
            </a:r>
            <a:r>
              <a:rPr lang="en-IN" sz="1600" dirty="0" err="1"/>
              <a:t>BufferedOutputStream</a:t>
            </a:r>
            <a:r>
              <a:rPr lang="en-IN" sz="1600" dirty="0"/>
              <a:t>(</a:t>
            </a:r>
            <a:r>
              <a:rPr lang="en-IN" sz="1600" dirty="0" err="1"/>
              <a:t>fos</a:t>
            </a:r>
            <a:r>
              <a:rPr lang="en-IN" sz="1600" dirty="0"/>
              <a:t>, 1024);</a:t>
            </a:r>
          </a:p>
          <a:p>
            <a:endParaRPr lang="en-IN" sz="1600" dirty="0"/>
          </a:p>
          <a:p>
            <a:r>
              <a:rPr lang="en-IN" sz="1600" dirty="0"/>
              <a:t>      File f=new File(</a:t>
            </a:r>
            <a:r>
              <a:rPr lang="en-IN" sz="1600" dirty="0" err="1"/>
              <a:t>filePath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  long </a:t>
            </a:r>
            <a:r>
              <a:rPr lang="en-IN" sz="1600" dirty="0" err="1"/>
              <a:t>len</a:t>
            </a:r>
            <a:r>
              <a:rPr lang="en-IN" sz="1600" dirty="0"/>
              <a:t>=</a:t>
            </a:r>
            <a:r>
              <a:rPr lang="en-IN" sz="1600" dirty="0" err="1"/>
              <a:t>f.length</a:t>
            </a:r>
            <a:r>
              <a:rPr lang="en-IN" sz="1600" dirty="0"/>
              <a:t>(); // 757 kb, 775702 bytes</a:t>
            </a:r>
          </a:p>
          <a:p>
            <a:r>
              <a:rPr lang="en-IN" sz="1600" dirty="0"/>
              <a:t>      </a:t>
            </a:r>
            <a:r>
              <a:rPr lang="en-IN" sz="1600" dirty="0" err="1"/>
              <a:t>System.out.println</a:t>
            </a:r>
            <a:r>
              <a:rPr lang="en-IN" sz="1600" dirty="0"/>
              <a:t>("actual </a:t>
            </a:r>
            <a:r>
              <a:rPr lang="en-IN" sz="1600" dirty="0" err="1"/>
              <a:t>len</a:t>
            </a:r>
            <a:r>
              <a:rPr lang="en-IN" sz="1600" dirty="0"/>
              <a:t> of the file: "+</a:t>
            </a:r>
            <a:r>
              <a:rPr lang="en-IN" sz="1600" dirty="0" err="1"/>
              <a:t>len</a:t>
            </a:r>
            <a:r>
              <a:rPr lang="en-IN" sz="1600" dirty="0"/>
              <a:t>); // 759kb, 777835 bytes</a:t>
            </a:r>
          </a:p>
          <a:p>
            <a:endParaRPr lang="en-IN" sz="1600" dirty="0"/>
          </a:p>
          <a:p>
            <a:r>
              <a:rPr lang="en-IN" sz="1600" dirty="0"/>
              <a:t>      double </a:t>
            </a:r>
            <a:r>
              <a:rPr lang="en-IN" sz="1600" dirty="0" err="1"/>
              <a:t>dlen</a:t>
            </a:r>
            <a:r>
              <a:rPr lang="en-IN" sz="1600" dirty="0"/>
              <a:t>=(double)</a:t>
            </a:r>
            <a:r>
              <a:rPr lang="en-IN" sz="1600" dirty="0" err="1"/>
              <a:t>len</a:t>
            </a:r>
            <a:r>
              <a:rPr lang="en-IN" sz="1600" dirty="0"/>
              <a:t>/1024; // 757.521484375 iterations</a:t>
            </a:r>
          </a:p>
          <a:p>
            <a:r>
              <a:rPr lang="en-IN" sz="1600" dirty="0"/>
              <a:t>      </a:t>
            </a:r>
            <a:r>
              <a:rPr lang="en-IN" sz="1600" dirty="0" err="1"/>
              <a:t>System.out.println</a:t>
            </a:r>
            <a:r>
              <a:rPr lang="en-IN" sz="1600" dirty="0"/>
              <a:t>("double </a:t>
            </a:r>
            <a:r>
              <a:rPr lang="en-IN" sz="1600" dirty="0" err="1"/>
              <a:t>len</a:t>
            </a:r>
            <a:r>
              <a:rPr lang="en-IN" sz="1600" dirty="0"/>
              <a:t> before ceil: "+</a:t>
            </a:r>
            <a:r>
              <a:rPr lang="en-IN" sz="1600" dirty="0" err="1"/>
              <a:t>dlen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  </a:t>
            </a:r>
            <a:r>
              <a:rPr lang="en-IN" sz="1600" dirty="0" err="1"/>
              <a:t>dlen</a:t>
            </a:r>
            <a:r>
              <a:rPr lang="en-IN" sz="1600" dirty="0"/>
              <a:t>=</a:t>
            </a:r>
            <a:r>
              <a:rPr lang="en-IN" sz="1600" dirty="0" err="1"/>
              <a:t>Math.ceil</a:t>
            </a:r>
            <a:r>
              <a:rPr lang="en-IN" sz="1600" dirty="0"/>
              <a:t>(</a:t>
            </a:r>
            <a:r>
              <a:rPr lang="en-IN" sz="1600" dirty="0" err="1"/>
              <a:t>dlen</a:t>
            </a:r>
            <a:r>
              <a:rPr lang="en-IN" sz="1600" dirty="0"/>
              <a:t>); // 758.0</a:t>
            </a:r>
          </a:p>
          <a:p>
            <a:r>
              <a:rPr lang="en-IN" sz="1600" dirty="0"/>
              <a:t>      </a:t>
            </a:r>
            <a:r>
              <a:rPr lang="en-IN" sz="1600" dirty="0" err="1"/>
              <a:t>System.out.println</a:t>
            </a:r>
            <a:r>
              <a:rPr lang="en-IN" sz="1600" dirty="0"/>
              <a:t>("double </a:t>
            </a:r>
            <a:r>
              <a:rPr lang="en-IN" sz="1600" dirty="0" err="1"/>
              <a:t>len</a:t>
            </a:r>
            <a:r>
              <a:rPr lang="en-IN" sz="1600" dirty="0"/>
              <a:t> after ceil: "+</a:t>
            </a:r>
            <a:r>
              <a:rPr lang="en-IN" sz="1600" dirty="0" err="1"/>
              <a:t>dlen</a:t>
            </a:r>
            <a:r>
              <a:rPr lang="en-IN" sz="1600" dirty="0"/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AEB84A-EC17-56AE-D415-02FF72E216F1}"/>
              </a:ext>
            </a:extLst>
          </p:cNvPr>
          <p:cNvSpPr txBox="1"/>
          <p:nvPr/>
        </p:nvSpPr>
        <p:spPr>
          <a:xfrm>
            <a:off x="6120651" y="705720"/>
            <a:ext cx="5433382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    // int </a:t>
            </a:r>
            <a:r>
              <a:rPr lang="en-IN" sz="1600" dirty="0" err="1"/>
              <a:t>noi</a:t>
            </a:r>
            <a:r>
              <a:rPr lang="en-IN" sz="1600" dirty="0"/>
              <a:t>=(int)</a:t>
            </a:r>
            <a:r>
              <a:rPr lang="en-IN" sz="1600" dirty="0" err="1"/>
              <a:t>dlen</a:t>
            </a:r>
            <a:r>
              <a:rPr lang="en-IN" sz="1600" dirty="0"/>
              <a:t>; // 758 iterations</a:t>
            </a:r>
          </a:p>
          <a:p>
            <a:r>
              <a:rPr lang="en-IN" sz="1600" dirty="0"/>
              <a:t>    int </a:t>
            </a:r>
            <a:r>
              <a:rPr lang="en-IN" sz="1600" dirty="0" err="1"/>
              <a:t>noi</a:t>
            </a:r>
            <a:r>
              <a:rPr lang="en-IN" sz="1600" dirty="0"/>
              <a:t>=new Double(</a:t>
            </a:r>
            <a:r>
              <a:rPr lang="en-IN" sz="1600" dirty="0" err="1"/>
              <a:t>dlen</a:t>
            </a:r>
            <a:r>
              <a:rPr lang="en-IN" sz="1600" dirty="0"/>
              <a:t>).</a:t>
            </a:r>
            <a:r>
              <a:rPr lang="en-IN" sz="1600" dirty="0" err="1"/>
              <a:t>intValue</a:t>
            </a:r>
            <a:r>
              <a:rPr lang="en-IN" sz="1600" dirty="0"/>
              <a:t>();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System.out.println</a:t>
            </a:r>
            <a:r>
              <a:rPr lang="en-IN" sz="1600" dirty="0"/>
              <a:t>("no of iterations: "+</a:t>
            </a:r>
            <a:r>
              <a:rPr lang="en-IN" sz="1600" dirty="0" err="1"/>
              <a:t>noi</a:t>
            </a:r>
            <a:r>
              <a:rPr lang="en-IN" sz="1600" dirty="0"/>
              <a:t>);</a:t>
            </a:r>
          </a:p>
          <a:p>
            <a:endParaRPr lang="en-IN" sz="1600" dirty="0"/>
          </a:p>
          <a:p>
            <a:r>
              <a:rPr lang="en-IN" sz="1600" dirty="0"/>
              <a:t>    for(int </a:t>
            </a:r>
            <a:r>
              <a:rPr lang="en-IN" sz="1600" dirty="0" err="1"/>
              <a:t>i</a:t>
            </a:r>
            <a:r>
              <a:rPr lang="en-IN" sz="1600" dirty="0"/>
              <a:t>=1;i&lt;=</a:t>
            </a:r>
            <a:r>
              <a:rPr lang="en-IN" sz="1600" dirty="0" err="1"/>
              <a:t>noi;i</a:t>
            </a:r>
            <a:r>
              <a:rPr lang="en-IN" sz="1600" dirty="0"/>
              <a:t>++) {</a:t>
            </a:r>
          </a:p>
          <a:p>
            <a:r>
              <a:rPr lang="en-IN" sz="1600" dirty="0"/>
              <a:t>      byte b[]=new byte[1024]; // every time empty byte array</a:t>
            </a:r>
          </a:p>
          <a:p>
            <a:endParaRPr lang="en-IN" sz="1600" dirty="0"/>
          </a:p>
          <a:p>
            <a:r>
              <a:rPr lang="en-IN" sz="1600" dirty="0"/>
              <a:t>      </a:t>
            </a:r>
            <a:r>
              <a:rPr lang="en-IN" sz="1200" dirty="0"/>
              <a:t>// bis reads 1024 bytes of data and populates into byte array b[]</a:t>
            </a:r>
            <a:endParaRPr lang="en-IN" sz="1600" dirty="0"/>
          </a:p>
          <a:p>
            <a:r>
              <a:rPr lang="en-IN" sz="1600" dirty="0"/>
              <a:t>      </a:t>
            </a:r>
            <a:r>
              <a:rPr lang="en-IN" sz="1600" dirty="0" err="1"/>
              <a:t>bis.read</a:t>
            </a:r>
            <a:r>
              <a:rPr lang="en-IN" sz="1600" dirty="0"/>
              <a:t>(b); </a:t>
            </a:r>
          </a:p>
          <a:p>
            <a:r>
              <a:rPr lang="en-IN" sz="1100" dirty="0"/>
              <a:t>         </a:t>
            </a:r>
          </a:p>
          <a:p>
            <a:r>
              <a:rPr lang="en-IN" sz="1100" dirty="0"/>
              <a:t>        // writes filled byte array into </a:t>
            </a:r>
            <a:r>
              <a:rPr lang="en-IN" sz="1100" dirty="0" err="1"/>
              <a:t>bos</a:t>
            </a:r>
            <a:r>
              <a:rPr lang="en-IN" sz="1100" dirty="0"/>
              <a:t> buffer, from there to </a:t>
            </a:r>
            <a:r>
              <a:rPr lang="en-IN" sz="1100" dirty="0" err="1"/>
              <a:t>fos</a:t>
            </a:r>
            <a:r>
              <a:rPr lang="en-IN" sz="1100" dirty="0"/>
              <a:t> to file</a:t>
            </a:r>
          </a:p>
          <a:p>
            <a:r>
              <a:rPr lang="en-IN" sz="1600" dirty="0"/>
              <a:t>      </a:t>
            </a:r>
            <a:r>
              <a:rPr lang="en-IN" sz="1600" dirty="0" err="1"/>
              <a:t>bos.write</a:t>
            </a:r>
            <a:r>
              <a:rPr lang="en-IN" sz="1600" dirty="0"/>
              <a:t>(b); </a:t>
            </a:r>
            <a:endParaRPr lang="en-IN" sz="1200" dirty="0"/>
          </a:p>
          <a:p>
            <a:r>
              <a:rPr lang="en-IN" sz="1600" dirty="0"/>
              <a:t>    }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bos.close</a:t>
            </a:r>
            <a:r>
              <a:rPr lang="en-IN" sz="1600" dirty="0"/>
              <a:t>(); </a:t>
            </a:r>
            <a:r>
              <a:rPr lang="en-IN" sz="1600" dirty="0" err="1"/>
              <a:t>fos.close</a:t>
            </a:r>
            <a:r>
              <a:rPr lang="en-IN" sz="1600" dirty="0"/>
              <a:t>(); </a:t>
            </a:r>
            <a:r>
              <a:rPr lang="en-IN" sz="1600" dirty="0" err="1"/>
              <a:t>bis.close</a:t>
            </a:r>
            <a:r>
              <a:rPr lang="en-IN" sz="1600" dirty="0"/>
              <a:t>(); </a:t>
            </a:r>
            <a:r>
              <a:rPr lang="en-IN" sz="1600" dirty="0" err="1"/>
              <a:t>fis.close</a:t>
            </a:r>
            <a:r>
              <a:rPr lang="en-IN" sz="1600" dirty="0"/>
              <a:t>();</a:t>
            </a:r>
          </a:p>
          <a:p>
            <a:r>
              <a:rPr lang="en-IN" sz="1600" dirty="0"/>
              <a:t>  }</a:t>
            </a:r>
          </a:p>
          <a:p>
            <a:r>
              <a:rPr lang="en-IN" sz="1600" dirty="0"/>
              <a:t>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A75656-B5FA-2E4B-9DF4-0016AC04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42434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78288"/>
              <a:chOff x="2877550" y="55045"/>
              <a:chExt cx="6436895" cy="678288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IO Streams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BA485DC-A1BE-79B6-D31D-415C9196092A}"/>
              </a:ext>
            </a:extLst>
          </p:cNvPr>
          <p:cNvSpPr txBox="1"/>
          <p:nvPr/>
        </p:nvSpPr>
        <p:spPr>
          <a:xfrm>
            <a:off x="285758" y="550999"/>
            <a:ext cx="669326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LNISDemo7.java</a:t>
            </a:r>
          </a:p>
          <a:p>
            <a:r>
              <a:rPr lang="en-IN" dirty="0"/>
              <a:t>import java.io.*;</a:t>
            </a:r>
          </a:p>
          <a:p>
            <a:r>
              <a:rPr lang="en-IN" dirty="0"/>
              <a:t>public class LNISDemo7 {</a:t>
            </a:r>
          </a:p>
          <a:p>
            <a:r>
              <a:rPr lang="en-IN" dirty="0"/>
              <a:t>  public static void main(String rags[]) throws Exception {</a:t>
            </a:r>
          </a:p>
          <a:p>
            <a:r>
              <a:rPr lang="en-IN" dirty="0"/>
              <a:t>    </a:t>
            </a:r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fis</a:t>
            </a:r>
            <a:r>
              <a:rPr lang="en-IN" dirty="0"/>
              <a:t>=new </a:t>
            </a:r>
            <a:r>
              <a:rPr lang="en-IN" dirty="0" err="1"/>
              <a:t>FileInputStream</a:t>
            </a:r>
            <a:r>
              <a:rPr lang="en-IN" dirty="0"/>
              <a:t>("StudentDetails.txt");</a:t>
            </a:r>
          </a:p>
          <a:p>
            <a:r>
              <a:rPr lang="en-IN" dirty="0"/>
              <a:t>    </a:t>
            </a:r>
            <a:r>
              <a:rPr lang="en-IN" dirty="0" err="1"/>
              <a:t>LineNumberInputStream</a:t>
            </a:r>
            <a:r>
              <a:rPr lang="en-IN" dirty="0"/>
              <a:t> </a:t>
            </a:r>
            <a:r>
              <a:rPr lang="en-IN" dirty="0" err="1"/>
              <a:t>lnis</a:t>
            </a:r>
            <a:r>
              <a:rPr lang="en-IN" dirty="0"/>
              <a:t>=new </a:t>
            </a:r>
            <a:r>
              <a:rPr lang="en-IN" dirty="0" err="1"/>
              <a:t>LineNumberInputStream</a:t>
            </a:r>
            <a:r>
              <a:rPr lang="en-IN" dirty="0"/>
              <a:t>(</a:t>
            </a:r>
            <a:r>
              <a:rPr lang="en-IN" dirty="0" err="1"/>
              <a:t>fis</a:t>
            </a:r>
            <a:r>
              <a:rPr lang="en-IN" dirty="0"/>
              <a:t>);</a:t>
            </a:r>
          </a:p>
          <a:p>
            <a:r>
              <a:rPr lang="en-IN" dirty="0"/>
              <a:t>    </a:t>
            </a:r>
            <a:r>
              <a:rPr lang="en-IN" dirty="0" err="1"/>
              <a:t>DataInputStream</a:t>
            </a:r>
            <a:r>
              <a:rPr lang="en-IN" dirty="0"/>
              <a:t> dis=new </a:t>
            </a:r>
            <a:r>
              <a:rPr lang="en-IN" dirty="0" err="1"/>
              <a:t>DataInputStream</a:t>
            </a:r>
            <a:r>
              <a:rPr lang="en-IN" dirty="0"/>
              <a:t>(</a:t>
            </a:r>
            <a:r>
              <a:rPr lang="en-IN" dirty="0" err="1"/>
              <a:t>lnis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String line=</a:t>
            </a:r>
            <a:r>
              <a:rPr lang="en-IN" dirty="0" err="1"/>
              <a:t>dis.readLine</a:t>
            </a:r>
            <a:r>
              <a:rPr lang="en-IN" dirty="0"/>
              <a:t>();</a:t>
            </a:r>
          </a:p>
          <a:p>
            <a:r>
              <a:rPr lang="en-IN" dirty="0"/>
              <a:t>    while(line!=null) {</a:t>
            </a:r>
          </a:p>
          <a:p>
            <a:r>
              <a:rPr lang="en-IN" dirty="0"/>
              <a:t>       int </a:t>
            </a:r>
            <a:r>
              <a:rPr lang="en-IN" dirty="0" err="1"/>
              <a:t>lineNumber</a:t>
            </a:r>
            <a:r>
              <a:rPr lang="en-IN" dirty="0"/>
              <a:t>=</a:t>
            </a:r>
            <a:r>
              <a:rPr lang="en-IN" dirty="0" err="1"/>
              <a:t>lnis.getLineNumber</a:t>
            </a:r>
            <a:r>
              <a:rPr lang="en-IN" dirty="0"/>
              <a:t>();</a:t>
            </a:r>
          </a:p>
          <a:p>
            <a:r>
              <a:rPr lang="en-IN" dirty="0"/>
              <a:t>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lineNumber</a:t>
            </a:r>
            <a:r>
              <a:rPr lang="en-IN" dirty="0"/>
              <a:t>+"  "+line);</a:t>
            </a:r>
          </a:p>
          <a:p>
            <a:r>
              <a:rPr lang="en-IN" dirty="0"/>
              <a:t>       line=</a:t>
            </a:r>
            <a:r>
              <a:rPr lang="en-IN" dirty="0" err="1"/>
              <a:t>dis.readLine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dis.close</a:t>
            </a:r>
            <a:r>
              <a:rPr lang="en-IN" dirty="0"/>
              <a:t>();</a:t>
            </a:r>
          </a:p>
          <a:p>
            <a:r>
              <a:rPr lang="en-IN" dirty="0"/>
              <a:t>    </a:t>
            </a:r>
            <a:r>
              <a:rPr lang="en-IN" dirty="0" err="1"/>
              <a:t>lnis.close</a:t>
            </a:r>
            <a:r>
              <a:rPr lang="en-IN" dirty="0"/>
              <a:t>();</a:t>
            </a:r>
          </a:p>
          <a:p>
            <a:r>
              <a:rPr lang="en-IN" dirty="0"/>
              <a:t>    </a:t>
            </a:r>
            <a:r>
              <a:rPr lang="en-IN" dirty="0" err="1"/>
              <a:t>fis.close</a:t>
            </a:r>
            <a:r>
              <a:rPr lang="en-IN" dirty="0"/>
              <a:t>();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DF2F3C-C5C6-CBBA-C087-88CA29DC2D5A}"/>
              </a:ext>
            </a:extLst>
          </p:cNvPr>
          <p:cNvSpPr/>
          <p:nvPr/>
        </p:nvSpPr>
        <p:spPr>
          <a:xfrm>
            <a:off x="4760259" y="2926152"/>
            <a:ext cx="7304038" cy="889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/>
              <a:t>after every </a:t>
            </a:r>
            <a:r>
              <a:rPr lang="en-IN" dirty="0" err="1"/>
              <a:t>readLine</a:t>
            </a:r>
            <a:r>
              <a:rPr lang="en-IN" dirty="0"/>
              <a:t>() method the line number increments, </a:t>
            </a:r>
            <a:r>
              <a:rPr lang="en-IN" dirty="0" err="1"/>
              <a:t>getLineNumber</a:t>
            </a:r>
            <a:r>
              <a:rPr lang="en-IN" dirty="0"/>
              <a:t>() method returns that line number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2947B6-26FF-80B3-AA60-7915B9E1DE81}"/>
              </a:ext>
            </a:extLst>
          </p:cNvPr>
          <p:cNvCxnSpPr/>
          <p:nvPr/>
        </p:nvCxnSpPr>
        <p:spPr>
          <a:xfrm flipV="1">
            <a:off x="4329953" y="3302668"/>
            <a:ext cx="363071" cy="1263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815DCB-81A6-A568-A439-A024359F1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079049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1406</Words>
  <Application>Microsoft Office PowerPoint</Application>
  <PresentationFormat>Widescreen</PresentationFormat>
  <Paragraphs>199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nivas .</cp:lastModifiedBy>
  <cp:revision>58</cp:revision>
  <dcterms:created xsi:type="dcterms:W3CDTF">2021-09-13T09:22:41Z</dcterms:created>
  <dcterms:modified xsi:type="dcterms:W3CDTF">2023-08-24T05:01:47Z</dcterms:modified>
</cp:coreProperties>
</file>