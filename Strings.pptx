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6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7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4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52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2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7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59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8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47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1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2B8CC-0CE7-4FCE-9934-0CACCB67E40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9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770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68703"/>
          </a:xfrm>
        </p:spPr>
        <p:txBody>
          <a:bodyPr>
            <a:noAutofit/>
          </a:bodyPr>
          <a:lstStyle/>
          <a:p>
            <a:r>
              <a:rPr lang="en-US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B </a:t>
            </a:r>
            <a:r>
              <a:rPr lang="en-US" sz="3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Padmaja</a:t>
            </a:r>
            <a:endParaRPr lang="en-US" sz="3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Dean, Career Development Centre</a:t>
            </a:r>
          </a:p>
          <a:p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IARE</a:t>
            </a:r>
            <a:endParaRPr lang="en-US" sz="3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92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Strings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1486" y="1005454"/>
            <a:ext cx="10672313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String in Java represents a </a:t>
            </a:r>
            <a:r>
              <a:rPr kumimoji="0" lang="en-US" altLang="en-US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sequence of characters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is a </a:t>
            </a:r>
            <a:r>
              <a:rPr kumimoji="0" lang="en-US" altLang="en-US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package </a:t>
            </a:r>
            <a:r>
              <a:rPr kumimoji="0" lang="en-US" altLang="en-US" sz="2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java.lang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Strings are </a:t>
            </a:r>
            <a:r>
              <a:rPr kumimoji="0" lang="en-US" altLang="en-US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immutable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meaning once created, they </a:t>
            </a:r>
            <a:r>
              <a:rPr kumimoji="0" lang="en-US" altLang="en-US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 be changed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5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 name = “Ramesh";</a:t>
            </a:r>
          </a:p>
        </p:txBody>
      </p:sp>
    </p:spTree>
    <p:extLst>
      <p:ext uri="{BB962C8B-B14F-4D97-AF65-F5344CB8AC3E}">
        <p14:creationId xmlns:p14="http://schemas.microsoft.com/office/powerpoint/2010/main" val="3235036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Strings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974"/>
            <a:ext cx="10515600" cy="5064155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a String is the type of object that can store a sequence of characters enclosed by double quotes and every character is stored in 16 bits, i.e., using UTF 16-bit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UTF stands for </a:t>
            </a: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Unicode Transformation Format.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5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It’s a standard way of encoding characters (letters, digits, symbols, </a:t>
            </a:r>
            <a:r>
              <a:rPr lang="en-US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emojis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etc.) into bytes, so that they can be stored or transmitted across systems consistently — regardless of language or platform.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Unicode -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global standard that assigns a unique number (called a </a:t>
            </a:r>
            <a:r>
              <a:rPr lang="en-US" sz="2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 point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to every character. Example: 'A' → U+0041, '₹' → U+20B9.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UTF (Unicode Transformation Format) -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way those Unicode code points are </a:t>
            </a:r>
            <a:r>
              <a:rPr lang="en-US" sz="2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stored in memory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encoded into bytes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65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5379429"/>
              </p:ext>
            </p:extLst>
          </p:nvPr>
        </p:nvGraphicFramePr>
        <p:xfrm>
          <a:off x="1036607" y="1471166"/>
          <a:ext cx="10515600" cy="3383280"/>
        </p:xfrm>
        <a:graphic>
          <a:graphicData uri="http://schemas.openxmlformats.org/drawingml/2006/table">
            <a:tbl>
              <a:tblPr/>
              <a:tblGrid>
                <a:gridCol w="2439838"/>
                <a:gridCol w="5589917"/>
                <a:gridCol w="2485845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Bytes per 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UTF-8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Variable-length encoding (1–4 bytes). Backward compatible with ASCII. Most common on the web.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1–4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UTF-16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internally by Java String and char. Most characters take 2 bytes, some take 4.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or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UTF-32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length — every character takes 4 bytes. Rarely used in Java.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291977"/>
            <a:ext cx="10263996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UTF Encodings in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08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37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Functions (Methods) </a:t>
            </a:r>
            <a:b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and Basic Access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01782" y="1539174"/>
          <a:ext cx="11568544" cy="4266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278"/>
                <a:gridCol w="3605842"/>
                <a:gridCol w="3579962"/>
                <a:gridCol w="1368462"/>
              </a:tblGrid>
              <a:tr h="853176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length()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the length of the string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Hello”.length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charAt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index)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the character at the given index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“Hello”.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charAt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‘e’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indexOf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(char/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first index of given char or substring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“Java”.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indexOf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(‘a’)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lastIndexOf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(char/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last index of given char or substring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“Banana”.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lastIndexOf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(‘a’)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121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37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Functions (Methods) </a:t>
            </a:r>
            <a:b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Conversion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739700"/>
              </p:ext>
            </p:extLst>
          </p:nvPr>
        </p:nvGraphicFramePr>
        <p:xfrm>
          <a:off x="401782" y="1539174"/>
          <a:ext cx="11568544" cy="256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278"/>
                <a:gridCol w="3605842"/>
                <a:gridCol w="3579962"/>
                <a:gridCol w="1368462"/>
              </a:tblGrid>
              <a:tr h="853176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toUpperCase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all letters to uppercase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“java”.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toUpperCase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“JAVA”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toLowerCase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all letters to lowercase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“JAVA”.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toLowerCase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“java”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746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332"/>
            <a:ext cx="10515600" cy="10237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Functions (Methods) </a:t>
            </a:r>
            <a:b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Substring and Modification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65051"/>
              </p:ext>
            </p:extLst>
          </p:nvPr>
        </p:nvGraphicFramePr>
        <p:xfrm>
          <a:off x="200891" y="1224950"/>
          <a:ext cx="11790218" cy="554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037"/>
                <a:gridCol w="3159403"/>
                <a:gridCol w="4057390"/>
                <a:gridCol w="1501388"/>
              </a:tblGrid>
              <a:tr h="37589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substring(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beginIndex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substring from given index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Computer”.substring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puter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substring(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begin, 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end)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substring between two indices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Computer”.substring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(0,4)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“Comp”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(String</a:t>
                      </a:r>
                      <a:r>
                        <a:rPr lang="en-US" sz="2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</a:t>
                      </a:r>
                      <a:r>
                        <a:rPr lang="en-US" sz="2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Joins two strings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“Hello”.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(“World”)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“Hello World”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replace(char old, char new)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Replaces all</a:t>
                      </a:r>
                      <a:r>
                        <a:rPr lang="en-US" sz="2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occurrences of a character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banana”.replace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(‘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a’,’o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bonono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replaceAll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(String regex, String replacement)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Replaces using regex pattern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"a1b2c3".replaceAll("\\d","")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abc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trim()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leading and trailing spaces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 Hi ".trim()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“Hi”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35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37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Functions (Methods) </a:t>
            </a:r>
            <a:b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Methods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918090"/>
              </p:ext>
            </p:extLst>
          </p:nvPr>
        </p:nvGraphicFramePr>
        <p:xfrm>
          <a:off x="401782" y="1539174"/>
          <a:ext cx="11568544" cy="4647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278"/>
                <a:gridCol w="3605842"/>
                <a:gridCol w="3579962"/>
                <a:gridCol w="1368462"/>
              </a:tblGrid>
              <a:tr h="853176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equals(String s)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two strings are equal (case-sensitive)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Java".equals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("java")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equalsIgnoreCase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(String s)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Case-insensitive comparison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"Java".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equalsIgnoreCase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("java")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compareTo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(String s)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Lexicographical comparison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abc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".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compareTo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compareToIgnoreCase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(String s)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Case-insensitive lexicographical comparison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abc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".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compareToIgnoreCase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("ABC")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980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37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Functions (Methods) </a:t>
            </a:r>
            <a:b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Searching and Checking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507434"/>
              </p:ext>
            </p:extLst>
          </p:nvPr>
        </p:nvGraphicFramePr>
        <p:xfrm>
          <a:off x="401782" y="1539174"/>
          <a:ext cx="11568544" cy="5120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278"/>
                <a:gridCol w="3605842"/>
                <a:gridCol w="3579962"/>
                <a:gridCol w="1368462"/>
              </a:tblGrid>
              <a:tr h="853176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contains(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CharSequence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substring is present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welcome".contains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("come")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startsWith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(String prefix)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string starts with given prefix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"hello".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startsWith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("he")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endsWith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(String suffix)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string ends with given suffix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"hello".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endsWith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("lo")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isEmpty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string is empty (length == 0)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"".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isEmpty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isBlank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(Java 11+)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string is empty or contains only spaces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 ".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isBlank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425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37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Functions (Methods) </a:t>
            </a:r>
            <a:b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 and Splitting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507849"/>
              </p:ext>
            </p:extLst>
          </p:nvPr>
        </p:nvGraphicFramePr>
        <p:xfrm>
          <a:off x="401782" y="1539174"/>
          <a:ext cx="11568544" cy="4647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432"/>
                <a:gridCol w="3468414"/>
                <a:gridCol w="3610303"/>
                <a:gridCol w="1880395"/>
              </a:tblGrid>
              <a:tr h="853176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toCharArray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string into char array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"Java".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toCharArray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['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J','a','v','a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']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split(String regex)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Splits string into array using a delimiter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a,b,c".split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(",")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["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a","b","c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"]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join(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CharSequence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delimiter, elements…)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Joins multiple strings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String.join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("-", "A", "B", "C")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"A-B-C"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valueOf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anyType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other types to string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String.valueOf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(123)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"123"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474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37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Functions (Methods) </a:t>
            </a:r>
            <a:b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Formatting and Matching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578255"/>
              </p:ext>
            </p:extLst>
          </p:nvPr>
        </p:nvGraphicFramePr>
        <p:xfrm>
          <a:off x="449078" y="1696829"/>
          <a:ext cx="11568544" cy="256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432"/>
                <a:gridCol w="3468414"/>
                <a:gridCol w="3610303"/>
                <a:gridCol w="1880395"/>
              </a:tblGrid>
              <a:tr h="853176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format(String 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fmt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args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formatted string 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String.format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("Hi %s", “Ramesh")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"Hi Ramesh"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matches(String regex)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string matches regex pattern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"abc123".matches("[a-z]+\\d+")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523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8476"/>
            <a:ext cx="10515600" cy="747683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38200" y="1112808"/>
            <a:ext cx="1075713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mutable (modifiable) sequence of characters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used when you need to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modify strings frequently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for example, in loops, concatenations, or when building dynamic text.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part of the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java.lang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package (like String).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Mutable: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Unlike String, a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object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modified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without creating a new object in memory.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Thread-safe (Synchronized):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methods in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synchronized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meaning multiple threads cannot modify it at the same time. This ensures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thread safety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multithreaded environments.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Stored in Heap Memory: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Objects are created in the heap, not in the String pool.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507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31445"/>
            <a:ext cx="10515600" cy="1023728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String and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121933"/>
              </p:ext>
            </p:extLst>
          </p:nvPr>
        </p:nvGraphicFramePr>
        <p:xfrm>
          <a:off x="558241" y="1310049"/>
          <a:ext cx="11075515" cy="511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2982"/>
                <a:gridCol w="3915317"/>
                <a:gridCol w="3887216"/>
              </a:tblGrid>
              <a:tr h="853176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StringBuffer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Mutability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Immutable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Mutable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Thread Safety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thread-safe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Thread-safe (synchronized methods)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 for repeated modifications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for repeated modifications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Usage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new objects for every change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Modifies the same object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Area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 Constant Pool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 Memory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0518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254" y="141605"/>
            <a:ext cx="10515600" cy="1023728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Methods 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442847"/>
              </p:ext>
            </p:extLst>
          </p:nvPr>
        </p:nvGraphicFramePr>
        <p:xfrm>
          <a:off x="401782" y="1165333"/>
          <a:ext cx="11568544" cy="512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211"/>
                <a:gridCol w="3074276"/>
                <a:gridCol w="3090041"/>
                <a:gridCol w="2511016"/>
              </a:tblGrid>
              <a:tr h="853176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append(String s)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text to the end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sb.append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 Java")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"Hello Java"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insert(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offset, String s)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Inserts text at a position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sb.insert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"123")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"Hello123 Java"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replace(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start, 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end, String s)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Replaces a portion of text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sb.replace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5, "Hi")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"Hi123 Java"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delete(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start, 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end)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Deletes a portion of text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sb.delete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(2, 5)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"Hi Java"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reverse()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Reverses the characters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sb.reverse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avaJ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iH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791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383" y="0"/>
            <a:ext cx="10515600" cy="1023728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Methods 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307512"/>
              </p:ext>
            </p:extLst>
          </p:nvPr>
        </p:nvGraphicFramePr>
        <p:xfrm>
          <a:off x="401782" y="971615"/>
          <a:ext cx="11568544" cy="5972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7804"/>
                <a:gridCol w="3547242"/>
                <a:gridCol w="2932386"/>
                <a:gridCol w="2101112"/>
              </a:tblGrid>
              <a:tr h="853176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length()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length of buffer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sb.length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capacity()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current capacity (allocated space)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sb.capacity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Default: 16 + length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charAt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index)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character at index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sb.charAt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setCharAt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index, char </a:t>
                      </a:r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Modifies a character at index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sb.setCharAt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'Y')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"Yi Java"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deleteCharAt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index)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Deletes one character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sb.deleteCharAt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YiJava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176">
                <a:tc>
                  <a:txBody>
                    <a:bodyPr/>
                    <a:lstStyle/>
                    <a:p>
                      <a:pPr algn="l"/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toString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buffer to normal String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sb.toString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23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YiJava</a:t>
                      </a:r>
                      <a:r>
                        <a:rPr lang="en-US" sz="2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404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510" y="345822"/>
            <a:ext cx="10515600" cy="747683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StringBuilder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02810" y="1207805"/>
            <a:ext cx="10776659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StringBuilder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kumimoji="0" lang="en-US" altLang="en-US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mutable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non-synchronized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 introduced in </a:t>
            </a:r>
            <a:r>
              <a:rPr kumimoji="0" lang="en-US" altLang="en-US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1.5 (Java 5)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is used to create and manipulate </a:t>
            </a:r>
            <a:r>
              <a:rPr kumimoji="0" lang="en-US" altLang="en-US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strings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similar to </a:t>
            </a:r>
            <a:r>
              <a:rPr kumimoji="0" lang="en-US" altLang="en-US" sz="2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functionality — but </a:t>
            </a:r>
            <a:r>
              <a:rPr kumimoji="0" lang="en-US" altLang="en-US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because it </a:t>
            </a:r>
            <a:r>
              <a:rPr kumimoji="0" lang="en-US" altLang="en-US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not synchronize its methods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(i.e., it is </a:t>
            </a:r>
            <a:r>
              <a:rPr kumimoji="0" lang="en-US" altLang="en-US" sz="25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thread-safe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it when: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need to modify strings frequently.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don’t need thread safety (like in a single-threaded program).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751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61608"/>
            <a:ext cx="10515600" cy="10237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String,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StringBuilder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402532"/>
              </p:ext>
            </p:extLst>
          </p:nvPr>
        </p:nvGraphicFramePr>
        <p:xfrm>
          <a:off x="965199" y="1503680"/>
          <a:ext cx="10307320" cy="4692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/>
                <a:gridCol w="2576830"/>
                <a:gridCol w="2576830"/>
                <a:gridCol w="2576830"/>
              </a:tblGrid>
              <a:tr h="4555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StringBuffer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StringBuilder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Mutability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Immutable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Mutable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Mutable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Thread Safety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thread-safe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Thread-safe (synchronized methods)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thread-safe</a:t>
                      </a:r>
                    </a:p>
                    <a:p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 for repeated modifications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Fastest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Synchronization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in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 1.0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 1.0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 1.5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data is constant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thread safety is needed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speed is needed in single-threaded code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6778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254" y="0"/>
            <a:ext cx="10515600" cy="1023728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StringBuilder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Methods 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539371"/>
              </p:ext>
            </p:extLst>
          </p:nvPr>
        </p:nvGraphicFramePr>
        <p:xfrm>
          <a:off x="521852" y="792530"/>
          <a:ext cx="11328404" cy="6102562"/>
        </p:xfrm>
        <a:graphic>
          <a:graphicData uri="http://schemas.openxmlformats.org/drawingml/2006/table">
            <a:tbl>
              <a:tblPr/>
              <a:tblGrid>
                <a:gridCol w="3237348"/>
                <a:gridCol w="3342640"/>
                <a:gridCol w="2448560"/>
                <a:gridCol w="2299856"/>
              </a:tblGrid>
              <a:tr h="31070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070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append(String s)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string at the end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sb.append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 Java")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"Hello Java"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1070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insert(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offset, String s)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Inserts text at given index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sb.insert(5, "123")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"Hello123 Java"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43736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replace(int start, int end, String s)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Replaces text between indices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sb.replace(0, 5, "Hi")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"Hi123 Java"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43736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delete(int start, int end)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Deletes text between indices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sb.delete(2, 5)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"Hi Java"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1070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deleteCharAt(int index)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Deletes single character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sb.deleteCharAt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 Java"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1070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reverse()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Reverses the sequence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sb.reverse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avaJ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iH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1070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length()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length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sb.length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e.g., 7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1070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capacity()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allocated capacity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sb.capacity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Default = 16 + length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1070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charAt(int index)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char at index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sb.charAt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'v'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43736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setCharAt(int index, char ch)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Replaces char at given index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sb.setCharAt(0, 'Y')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Yava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1070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toString()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to String object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sb.toString()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Yava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43736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ensureCapacity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min)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Expands internal buffer if needed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715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1366</Words>
  <Application>Microsoft Office PowerPoint</Application>
  <PresentationFormat>Widescreen</PresentationFormat>
  <Paragraphs>356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 Theme</vt:lpstr>
      <vt:lpstr>Strings</vt:lpstr>
      <vt:lpstr>Introduction to Strings</vt:lpstr>
      <vt:lpstr>Introduction to Strings</vt:lpstr>
      <vt:lpstr>PowerPoint Presentation</vt:lpstr>
      <vt:lpstr>String Functions (Methods)  Length and Basic Access</vt:lpstr>
      <vt:lpstr>String Functions (Methods)  Case Conversion</vt:lpstr>
      <vt:lpstr>String Functions (Methods)  Substring and Modification</vt:lpstr>
      <vt:lpstr>String Functions (Methods)  Comparison Methods</vt:lpstr>
      <vt:lpstr>String Functions (Methods)  Searching and Checking</vt:lpstr>
      <vt:lpstr>String Functions (Methods)  Conversion and Splitting</vt:lpstr>
      <vt:lpstr>String Functions (Methods)  Formatting and Matching</vt:lpstr>
      <vt:lpstr>StringBuffer</vt:lpstr>
      <vt:lpstr>Difference between String and StringBuffer</vt:lpstr>
      <vt:lpstr>StringBuffer Methods </vt:lpstr>
      <vt:lpstr>StringBuffer Methods </vt:lpstr>
      <vt:lpstr>StringBuilder</vt:lpstr>
      <vt:lpstr>Difference between String, StringBuffer and StringBuilder</vt:lpstr>
      <vt:lpstr>StringBuilder Methods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32</cp:revision>
  <dcterms:created xsi:type="dcterms:W3CDTF">2025-11-02T11:18:37Z</dcterms:created>
  <dcterms:modified xsi:type="dcterms:W3CDTF">2025-11-02T16:37:37Z</dcterms:modified>
</cp:coreProperties>
</file>