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17" r:id="rId2"/>
    <p:sldId id="318" r:id="rId3"/>
    <p:sldId id="321" r:id="rId4"/>
    <p:sldId id="319" r:id="rId5"/>
    <p:sldId id="320"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8" r:id="rId22"/>
    <p:sldId id="337" r:id="rId23"/>
    <p:sldId id="339" r:id="rId24"/>
    <p:sldId id="340" r:id="rId25"/>
    <p:sldId id="341" r:id="rId26"/>
    <p:sldId id="342" r:id="rId27"/>
    <p:sldId id="343" r:id="rId28"/>
    <p:sldId id="34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F66"/>
    <a:srgbClr val="990033"/>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C25E4-A07D-4691-877B-EFD1B9F3356C}" type="datetimeFigureOut">
              <a:rPr lang="en-IN" smtClean="0"/>
              <a:t>24-08-2023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38F0C-5E4F-4470-941D-321625ACD1AC}" type="slidenum">
              <a:rPr lang="en-IN" smtClean="0"/>
              <a:t>‹#›</a:t>
            </a:fld>
            <a:endParaRPr lang="en-IN"/>
          </a:p>
        </p:txBody>
      </p:sp>
    </p:spTree>
    <p:extLst>
      <p:ext uri="{BB962C8B-B14F-4D97-AF65-F5344CB8AC3E}">
        <p14:creationId xmlns:p14="http://schemas.microsoft.com/office/powerpoint/2010/main" val="3338733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AFB11B92-0A28-4FC3-82A4-19371253B46A}" type="datetime1">
              <a:rPr lang="en-US" smtClean="0"/>
              <a:t>8/24/2023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D8195BB8-D873-47D9-8022-1E83F1B69209}" type="datetime1">
              <a:rPr lang="en-US" smtClean="0"/>
              <a:t>8/24/2023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A214A486-444C-4EFF-AB6F-29A5FAA52261}" type="datetime1">
              <a:rPr lang="en-US" smtClean="0"/>
              <a:t>8/24/2023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B56F4585-9799-4479-B845-AD40DF0A6DA8}" type="datetime1">
              <a:rPr lang="en-US" smtClean="0"/>
              <a:t>8/24/2023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609CCCDC-FD47-4EB1-8F26-5BBF733363D9}" type="datetime1">
              <a:rPr lang="en-US" smtClean="0"/>
              <a:t>8/24/2023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56A3B33A-7CA3-402A-A742-E7234474A7FD}" type="datetime1">
              <a:rPr lang="en-US" smtClean="0"/>
              <a:t>8/24/2023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9DFE8461-08FC-44F8-A3E1-74143FF6704F}" type="datetime1">
              <a:rPr lang="en-US" smtClean="0"/>
              <a:t>8/24/2023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672AFAF3-B908-405F-A26B-BFDE27C05929}" type="datetime1">
              <a:rPr lang="en-US" smtClean="0"/>
              <a:t>8/24/2023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B46FFB25-A875-489E-92AE-A4BD09A7EB55}" type="datetime1">
              <a:rPr lang="en-US" smtClean="0"/>
              <a:t>8/24/2023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52578B76-70FC-43E3-9F56-A4932C95845F}" type="datetime1">
              <a:rPr lang="en-US" smtClean="0"/>
              <a:t>8/24/2023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3578B123-37BC-4370-A71D-A2BE40CDA24E}" type="datetime1">
              <a:rPr lang="en-US" smtClean="0"/>
              <a:t>8/24/2023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E9CD6-0AE4-4210-AE2F-51AF9CAE007D}" type="datetime1">
              <a:rPr lang="en-US" smtClean="0"/>
              <a:t>8/24/2023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1470316" y="1867263"/>
            <a:ext cx="5722079" cy="769441"/>
          </a:xfrm>
          <a:prstGeom prst="rect">
            <a:avLst/>
          </a:prstGeom>
          <a:noFill/>
        </p:spPr>
        <p:txBody>
          <a:bodyPr wrap="none" rtlCol="0">
            <a:spAutoFit/>
          </a:bodyPr>
          <a:lstStyle/>
          <a:p>
            <a:r>
              <a:rPr lang="en-US" sz="4400" b="1" dirty="0" err="1">
                <a:solidFill>
                  <a:srgbClr val="0000FF"/>
                </a:solidFill>
                <a:latin typeface="+mj-lt"/>
                <a:cs typeface="Arial" panose="020B0604020202020204" pitchFamily="34" charset="0"/>
              </a:rPr>
              <a:t>java.lang</a:t>
            </a:r>
            <a:r>
              <a:rPr lang="en-US" sz="4400" b="1" dirty="0">
                <a:solidFill>
                  <a:srgbClr val="0000FF"/>
                </a:solidFill>
                <a:latin typeface="+mj-lt"/>
                <a:cs typeface="Arial" panose="020B0604020202020204" pitchFamily="34" charset="0"/>
              </a:rPr>
              <a:t> package classes</a:t>
            </a:r>
          </a:p>
        </p:txBody>
      </p:sp>
      <p:sp>
        <p:nvSpPr>
          <p:cNvPr id="6" name="TextBox 5">
            <a:extLst>
              <a:ext uri="{FF2B5EF4-FFF2-40B4-BE49-F238E27FC236}">
                <a16:creationId xmlns:a16="http://schemas.microsoft.com/office/drawing/2014/main" id="{11044E1F-6464-BF04-1E70-CE0B63180262}"/>
              </a:ext>
            </a:extLst>
          </p:cNvPr>
          <p:cNvSpPr txBox="1"/>
          <p:nvPr/>
        </p:nvSpPr>
        <p:spPr>
          <a:xfrm>
            <a:off x="5303951" y="2544912"/>
            <a:ext cx="1754326" cy="2862322"/>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Object</a:t>
            </a:r>
          </a:p>
          <a:p>
            <a:r>
              <a:rPr lang="en-US" sz="3600" b="1" dirty="0">
                <a:solidFill>
                  <a:srgbClr val="0000FF"/>
                </a:solidFill>
                <a:latin typeface="+mj-lt"/>
                <a:cs typeface="Arial" panose="020B0604020202020204" pitchFamily="34" charset="0"/>
              </a:rPr>
              <a:t>System</a:t>
            </a:r>
          </a:p>
          <a:p>
            <a:r>
              <a:rPr lang="en-US" sz="3600" b="1" dirty="0">
                <a:solidFill>
                  <a:srgbClr val="0000FF"/>
                </a:solidFill>
                <a:latin typeface="+mj-lt"/>
                <a:cs typeface="Arial" panose="020B0604020202020204" pitchFamily="34" charset="0"/>
              </a:rPr>
              <a:t>Class</a:t>
            </a:r>
          </a:p>
          <a:p>
            <a:r>
              <a:rPr lang="en-US" sz="3600" b="1" dirty="0">
                <a:solidFill>
                  <a:srgbClr val="0000FF"/>
                </a:solidFill>
                <a:latin typeface="+mj-lt"/>
                <a:cs typeface="Arial" panose="020B0604020202020204" pitchFamily="34" charset="0"/>
              </a:rPr>
              <a:t>Process</a:t>
            </a:r>
          </a:p>
          <a:p>
            <a:r>
              <a:rPr lang="en-US" sz="3600" b="1" dirty="0">
                <a:solidFill>
                  <a:srgbClr val="0000FF"/>
                </a:solidFill>
                <a:latin typeface="+mj-lt"/>
                <a:cs typeface="Arial" panose="020B0604020202020204" pitchFamily="34" charset="0"/>
              </a:rPr>
              <a:t>Runtime</a:t>
            </a:r>
          </a:p>
        </p:txBody>
      </p:sp>
      <p:sp>
        <p:nvSpPr>
          <p:cNvPr id="7" name="Footer Placeholder 6">
            <a:extLst>
              <a:ext uri="{FF2B5EF4-FFF2-40B4-BE49-F238E27FC236}">
                <a16:creationId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793797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1536332" y="972185"/>
            <a:ext cx="515577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In </a:t>
            </a:r>
            <a:r>
              <a:rPr lang="en-US" sz="3600" b="1" dirty="0" err="1">
                <a:solidFill>
                  <a:srgbClr val="0000FF"/>
                </a:solidFill>
                <a:latin typeface="+mj-lt"/>
                <a:cs typeface="Arial" panose="020B0604020202020204" pitchFamily="34" charset="0"/>
              </a:rPr>
              <a:t>java.lang</a:t>
            </a:r>
            <a:r>
              <a:rPr lang="en-US" sz="3600" b="1" dirty="0">
                <a:solidFill>
                  <a:srgbClr val="0000FF"/>
                </a:solidFill>
                <a:latin typeface="+mj-lt"/>
                <a:cs typeface="Arial" panose="020B0604020202020204" pitchFamily="34" charset="0"/>
              </a:rPr>
              <a:t> package classes</a:t>
            </a:r>
          </a:p>
        </p:txBody>
      </p:sp>
      <p:sp>
        <p:nvSpPr>
          <p:cNvPr id="6" name="TextBox 5">
            <a:extLst>
              <a:ext uri="{FF2B5EF4-FFF2-40B4-BE49-F238E27FC236}">
                <a16:creationId xmlns:a16="http://schemas.microsoft.com/office/drawing/2014/main" id="{11044E1F-6464-BF04-1E70-CE0B63180262}"/>
              </a:ext>
            </a:extLst>
          </p:cNvPr>
          <p:cNvSpPr txBox="1"/>
          <p:nvPr/>
        </p:nvSpPr>
        <p:spPr>
          <a:xfrm>
            <a:off x="2280396" y="1636656"/>
            <a:ext cx="6985524"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cs typeface="Arial" panose="020B0604020202020204" pitchFamily="34" charset="0"/>
              </a:rPr>
              <a:t>Wrapper classes (Byte, Short, Integer, Long, Float, Double, Character, Boolean)</a:t>
            </a:r>
          </a:p>
          <a:p>
            <a:pPr marL="342900" indent="-342900">
              <a:buFont typeface="Arial" panose="020B0604020202020204" pitchFamily="34" charset="0"/>
              <a:buChar char="•"/>
            </a:pPr>
            <a:r>
              <a:rPr lang="en-US" sz="2000" dirty="0">
                <a:solidFill>
                  <a:srgbClr val="0000FF"/>
                </a:solidFill>
                <a:cs typeface="Arial" panose="020B0604020202020204" pitchFamily="34" charset="0"/>
              </a:rPr>
              <a:t>String, </a:t>
            </a:r>
            <a:r>
              <a:rPr lang="en-US" sz="2000" dirty="0" err="1">
                <a:solidFill>
                  <a:srgbClr val="0000FF"/>
                </a:solidFill>
                <a:cs typeface="Arial" panose="020B0604020202020204" pitchFamily="34" charset="0"/>
              </a:rPr>
              <a:t>StringBuffer</a:t>
            </a:r>
            <a:r>
              <a:rPr lang="en-US" sz="2000" dirty="0">
                <a:solidFill>
                  <a:srgbClr val="0000FF"/>
                </a:solidFill>
                <a:cs typeface="Arial" panose="020B0604020202020204" pitchFamily="34" charset="0"/>
              </a:rPr>
              <a:t>, StringBuilder</a:t>
            </a:r>
          </a:p>
          <a:p>
            <a:pPr marL="342900" indent="-342900">
              <a:buFont typeface="Arial" panose="020B0604020202020204" pitchFamily="34" charset="0"/>
              <a:buChar char="•"/>
            </a:pPr>
            <a:r>
              <a:rPr lang="en-US" sz="2000" dirty="0">
                <a:solidFill>
                  <a:srgbClr val="0000FF"/>
                </a:solidFill>
                <a:cs typeface="Arial" panose="020B0604020202020204" pitchFamily="34" charset="0"/>
              </a:rPr>
              <a:t>Exception classes (Throwable, Error, Error sub classes, Exception, Exception sub classes, </a:t>
            </a:r>
            <a:r>
              <a:rPr lang="en-US" sz="2000" dirty="0" err="1">
                <a:solidFill>
                  <a:srgbClr val="0000FF"/>
                </a:solidFill>
                <a:cs typeface="Arial" panose="020B0604020202020204" pitchFamily="34" charset="0"/>
              </a:rPr>
              <a:t>RuntimeException,RuntimeException</a:t>
            </a:r>
            <a:r>
              <a:rPr lang="en-US" sz="2000" dirty="0">
                <a:solidFill>
                  <a:srgbClr val="0000FF"/>
                </a:solidFill>
                <a:cs typeface="Arial" panose="020B0604020202020204" pitchFamily="34" charset="0"/>
              </a:rPr>
              <a:t> sub classes</a:t>
            </a:r>
          </a:p>
          <a:p>
            <a:pPr marL="342900" indent="-342900">
              <a:buFont typeface="Arial" panose="020B0604020202020204" pitchFamily="34" charset="0"/>
              <a:buChar char="•"/>
            </a:pPr>
            <a:r>
              <a:rPr lang="en-US" sz="2000" dirty="0">
                <a:solidFill>
                  <a:srgbClr val="0000FF"/>
                </a:solidFill>
                <a:cs typeface="Arial" panose="020B0604020202020204" pitchFamily="34" charset="0"/>
              </a:rPr>
              <a:t>Thread class &amp; Runnable interface</a:t>
            </a:r>
          </a:p>
          <a:p>
            <a:pPr marL="342900" indent="-342900">
              <a:buFont typeface="Arial" panose="020B0604020202020204" pitchFamily="34" charset="0"/>
              <a:buChar char="•"/>
            </a:pPr>
            <a:r>
              <a:rPr lang="en-US" sz="2000" dirty="0">
                <a:solidFill>
                  <a:srgbClr val="0000FF"/>
                </a:solidFill>
                <a:cs typeface="Arial" panose="020B0604020202020204" pitchFamily="34" charset="0"/>
              </a:rPr>
              <a:t>Object, System, Class, Process, Runtime</a:t>
            </a:r>
          </a:p>
        </p:txBody>
      </p:sp>
      <p:sp>
        <p:nvSpPr>
          <p:cNvPr id="7" name="Footer Placeholder 6">
            <a:extLst>
              <a:ext uri="{FF2B5EF4-FFF2-40B4-BE49-F238E27FC236}">
                <a16:creationId xmlns:a16="http://schemas.microsoft.com/office/drawing/2014/main" id="{64B7F535-AB67-F08E-E409-8FFCEEC2948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41690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1536332"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1698500" y="1497292"/>
            <a:ext cx="7567419"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cs typeface="Arial" panose="020B0604020202020204" pitchFamily="34" charset="0"/>
              </a:rPr>
              <a:t>User defined classes such as:</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Java Bean/POJO/DTO, VO/BO/Entity/Domain classes</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Standalone classes (class containing main() method)</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Factory classes (creates objects of other classes)</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Validator classes (</a:t>
            </a:r>
            <a:r>
              <a:rPr lang="en-US" sz="2000" dirty="0" err="1">
                <a:solidFill>
                  <a:srgbClr val="0000FF"/>
                </a:solidFill>
                <a:cs typeface="Arial" panose="020B0604020202020204" pitchFamily="34" charset="0"/>
              </a:rPr>
              <a:t>NotNull</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MinLength</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MaxLength</a:t>
            </a:r>
            <a:r>
              <a:rPr lang="en-US" sz="2000" dirty="0">
                <a:solidFill>
                  <a:srgbClr val="0000FF"/>
                </a:solidFill>
                <a:cs typeface="Arial" panose="020B0604020202020204" pitchFamily="34" charset="0"/>
              </a:rPr>
              <a:t>, Date, Email, URL, </a:t>
            </a:r>
            <a:r>
              <a:rPr lang="en-US" sz="2000" dirty="0" err="1">
                <a:solidFill>
                  <a:srgbClr val="0000FF"/>
                </a:solidFill>
                <a:cs typeface="Arial" panose="020B0604020202020204" pitchFamily="34" charset="0"/>
              </a:rPr>
              <a:t>CreditCard</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PANCard</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AadharCardNo</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SSNo</a:t>
            </a:r>
            <a:r>
              <a:rPr lang="en-US" sz="2000" dirty="0">
                <a:solidFill>
                  <a:srgbClr val="0000FF"/>
                </a:solidFill>
                <a:cs typeface="Arial" panose="020B0604020202020204" pitchFamily="34" charset="0"/>
              </a:rPr>
              <a:t>, ZIP, Pattern/</a:t>
            </a:r>
            <a:r>
              <a:rPr lang="en-US" sz="2000" dirty="0" err="1">
                <a:solidFill>
                  <a:srgbClr val="0000FF"/>
                </a:solidFill>
                <a:cs typeface="Arial" panose="020B0604020202020204" pitchFamily="34" charset="0"/>
              </a:rPr>
              <a:t>RegExpr</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validatons</a:t>
            </a:r>
            <a:r>
              <a:rPr lang="en-US" sz="2000" dirty="0">
                <a:solidFill>
                  <a:srgbClr val="0000FF"/>
                </a:solidFill>
                <a:cs typeface="Arial" panose="020B0604020202020204" pitchFamily="34" charset="0"/>
              </a:rPr>
              <a:t>)</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Business logic classes (</a:t>
            </a:r>
            <a:r>
              <a:rPr lang="en-US" sz="2000" dirty="0" err="1">
                <a:solidFill>
                  <a:srgbClr val="0000FF"/>
                </a:solidFill>
                <a:cs typeface="Arial" panose="020B0604020202020204" pitchFamily="34" charset="0"/>
              </a:rPr>
              <a:t>calSal</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calTax</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calPercentage</a:t>
            </a:r>
            <a:r>
              <a:rPr lang="en-US" sz="2000" dirty="0">
                <a:solidFill>
                  <a:srgbClr val="0000FF"/>
                </a:solidFill>
                <a:cs typeface="Arial" panose="020B0604020202020204" pitchFamily="34" charset="0"/>
              </a:rPr>
              <a:t>(), authenticate(), </a:t>
            </a:r>
            <a:r>
              <a:rPr lang="en-US" sz="2000" dirty="0" err="1">
                <a:solidFill>
                  <a:srgbClr val="0000FF"/>
                </a:solidFill>
                <a:cs typeface="Arial" panose="020B0604020202020204" pitchFamily="34" charset="0"/>
              </a:rPr>
              <a:t>isAuthroized</a:t>
            </a:r>
            <a:r>
              <a:rPr lang="en-US" sz="2000" dirty="0">
                <a:solidFill>
                  <a:srgbClr val="0000FF"/>
                </a:solidFill>
                <a:cs typeface="Arial" panose="020B0604020202020204" pitchFamily="34" charset="0"/>
              </a:rPr>
              <a:t>())</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DAO classes (contains CRUD operations)</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Thread &amp; Runnable sub classes </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Comparable classes (</a:t>
            </a:r>
            <a:r>
              <a:rPr lang="en-US" sz="2000" dirty="0" err="1">
                <a:solidFill>
                  <a:srgbClr val="0000FF"/>
                </a:solidFill>
                <a:cs typeface="Arial" panose="020B0604020202020204" pitchFamily="34" charset="0"/>
              </a:rPr>
              <a:t>compareTo</a:t>
            </a:r>
            <a:r>
              <a:rPr lang="en-US" sz="2000" dirty="0">
                <a:solidFill>
                  <a:srgbClr val="0000FF"/>
                </a:solidFill>
                <a:cs typeface="Arial" panose="020B0604020202020204" pitchFamily="34" charset="0"/>
              </a:rPr>
              <a:t>(Object o)</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Comparator classes (compare(Object </a:t>
            </a:r>
            <a:r>
              <a:rPr lang="en-US" sz="2000" dirty="0" err="1">
                <a:solidFill>
                  <a:srgbClr val="0000FF"/>
                </a:solidFill>
                <a:cs typeface="Arial" panose="020B0604020202020204" pitchFamily="34" charset="0"/>
              </a:rPr>
              <a:t>lhs</a:t>
            </a:r>
            <a:r>
              <a:rPr lang="en-US" sz="2000" dirty="0">
                <a:solidFill>
                  <a:srgbClr val="0000FF"/>
                </a:solidFill>
                <a:cs typeface="Arial" panose="020B0604020202020204" pitchFamily="34" charset="0"/>
              </a:rPr>
              <a:t>, Object </a:t>
            </a:r>
            <a:r>
              <a:rPr lang="en-US" sz="2000" dirty="0" err="1">
                <a:solidFill>
                  <a:srgbClr val="0000FF"/>
                </a:solidFill>
                <a:cs typeface="Arial" panose="020B0604020202020204" pitchFamily="34" charset="0"/>
              </a:rPr>
              <a:t>rhs</a:t>
            </a:r>
            <a:r>
              <a:rPr lang="en-US" sz="2000" dirty="0">
                <a:solidFill>
                  <a:srgbClr val="0000FF"/>
                </a:solidFill>
                <a:cs typeface="Arial" panose="020B0604020202020204" pitchFamily="34" charset="0"/>
              </a:rPr>
              <a:t>)</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Remote components (RMI, CORBA, EJB)</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Web components (Servlets, JSP, Struts Action, Spring Controller, JSF </a:t>
            </a:r>
            <a:r>
              <a:rPr lang="en-US" sz="2000" dirty="0" err="1">
                <a:solidFill>
                  <a:srgbClr val="0000FF"/>
                </a:solidFill>
                <a:cs typeface="Arial" panose="020B0604020202020204" pitchFamily="34" charset="0"/>
              </a:rPr>
              <a:t>ManagedBean</a:t>
            </a:r>
            <a:r>
              <a:rPr lang="en-US" sz="2000" dirty="0">
                <a:solidFill>
                  <a:srgbClr val="0000FF"/>
                </a:solidFill>
                <a:cs typeface="Arial" panose="020B0604020202020204" pitchFamily="34" charset="0"/>
              </a:rPr>
              <a:t> classes)</a:t>
            </a:r>
          </a:p>
          <a:p>
            <a:pPr marL="800100" lvl="1" indent="-342900">
              <a:buFont typeface="Arial" panose="020B0604020202020204" pitchFamily="34" charset="0"/>
              <a:buChar char="•"/>
            </a:pPr>
            <a:r>
              <a:rPr lang="en-US" sz="2000" dirty="0">
                <a:solidFill>
                  <a:srgbClr val="0000FF"/>
                </a:solidFill>
                <a:cs typeface="Arial" panose="020B0604020202020204" pitchFamily="34" charset="0"/>
              </a:rPr>
              <a:t>Inter-operator components (SOAP, RESTful webservices)</a:t>
            </a:r>
          </a:p>
        </p:txBody>
      </p:sp>
      <p:sp>
        <p:nvSpPr>
          <p:cNvPr id="7" name="Footer Placeholder 6">
            <a:extLst>
              <a:ext uri="{FF2B5EF4-FFF2-40B4-BE49-F238E27FC236}">
                <a16:creationId xmlns:a16="http://schemas.microsoft.com/office/drawing/2014/main" id="{2B6F2290-6D05-05A1-E15A-4B9A7BEF8D6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8922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1536332"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2280396" y="1688812"/>
            <a:ext cx="6985524"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cs typeface="Arial" panose="020B0604020202020204" pitchFamily="34" charset="0"/>
              </a:rPr>
              <a:t>public </a:t>
            </a:r>
            <a:r>
              <a:rPr lang="en-US" sz="2000" dirty="0" err="1">
                <a:solidFill>
                  <a:srgbClr val="0000FF"/>
                </a:solidFill>
                <a:cs typeface="Arial" panose="020B0604020202020204" pitchFamily="34" charset="0"/>
              </a:rPr>
              <a:t>boolean</a:t>
            </a:r>
            <a:r>
              <a:rPr lang="en-US" sz="2000" dirty="0">
                <a:solidFill>
                  <a:srgbClr val="0000FF"/>
                </a:solidFill>
                <a:cs typeface="Arial" panose="020B0604020202020204" pitchFamily="34" charset="0"/>
              </a:rPr>
              <a:t> equals()</a:t>
            </a:r>
          </a:p>
          <a:p>
            <a:pPr marL="342900" indent="-342900">
              <a:buFont typeface="Arial" panose="020B0604020202020204" pitchFamily="34" charset="0"/>
              <a:buChar char="•"/>
            </a:pPr>
            <a:r>
              <a:rPr lang="en-US" sz="2000" dirty="0">
                <a:solidFill>
                  <a:srgbClr val="0000FF"/>
                </a:solidFill>
                <a:cs typeface="Arial" panose="020B0604020202020204" pitchFamily="34" charset="0"/>
              </a:rPr>
              <a:t>public int </a:t>
            </a:r>
            <a:r>
              <a:rPr lang="en-US" sz="2000" dirty="0" err="1">
                <a:solidFill>
                  <a:srgbClr val="0000FF"/>
                </a:solidFill>
                <a:cs typeface="Arial" panose="020B0604020202020204" pitchFamily="34" charset="0"/>
              </a:rPr>
              <a:t>hashCode</a:t>
            </a:r>
            <a:r>
              <a:rPr lang="en-US" sz="2000" dirty="0">
                <a:solidFill>
                  <a:srgbClr val="0000FF"/>
                </a:solidFill>
                <a:cs typeface="Arial" panose="020B0604020202020204" pitchFamily="34" charset="0"/>
              </a:rPr>
              <a:t>()</a:t>
            </a:r>
          </a:p>
          <a:p>
            <a:pPr marL="342900" indent="-342900">
              <a:buFont typeface="Arial" panose="020B0604020202020204" pitchFamily="34" charset="0"/>
              <a:buChar char="•"/>
            </a:pPr>
            <a:r>
              <a:rPr lang="en-US" sz="2000" dirty="0">
                <a:solidFill>
                  <a:srgbClr val="0000FF"/>
                </a:solidFill>
                <a:cs typeface="Arial" panose="020B0604020202020204" pitchFamily="34" charset="0"/>
              </a:rPr>
              <a:t>public String </a:t>
            </a:r>
            <a:r>
              <a:rPr lang="en-US" sz="2000" dirty="0" err="1">
                <a:solidFill>
                  <a:srgbClr val="0000FF"/>
                </a:solidFill>
                <a:cs typeface="Arial" panose="020B0604020202020204" pitchFamily="34" charset="0"/>
              </a:rPr>
              <a:t>toString</a:t>
            </a:r>
            <a:r>
              <a:rPr lang="en-US" sz="2000" dirty="0">
                <a:solidFill>
                  <a:srgbClr val="0000FF"/>
                </a:solidFill>
                <a:cs typeface="Arial" panose="020B0604020202020204" pitchFamily="34" charset="0"/>
              </a:rPr>
              <a:t>()</a:t>
            </a:r>
          </a:p>
          <a:p>
            <a:pPr marL="342900" indent="-342900">
              <a:buFont typeface="Arial" panose="020B0604020202020204" pitchFamily="34" charset="0"/>
              <a:buChar char="•"/>
            </a:pPr>
            <a:endParaRPr lang="en-US" sz="2000" dirty="0">
              <a:solidFill>
                <a:srgbClr val="0000FF"/>
              </a:solidFill>
              <a:cs typeface="Arial" panose="020B0604020202020204" pitchFamily="34" charset="0"/>
            </a:endParaRPr>
          </a:p>
          <a:p>
            <a:pPr marL="342900" indent="-342900">
              <a:buFont typeface="Arial" panose="020B0604020202020204" pitchFamily="34" charset="0"/>
              <a:buChar char="•"/>
            </a:pPr>
            <a:r>
              <a:rPr lang="en-US" sz="2000" dirty="0">
                <a:solidFill>
                  <a:srgbClr val="0000FF"/>
                </a:solidFill>
                <a:cs typeface="Arial" panose="020B0604020202020204" pitchFamily="34" charset="0"/>
              </a:rPr>
              <a:t>Object clone()</a:t>
            </a:r>
          </a:p>
          <a:p>
            <a:pPr marL="342900" indent="-342900">
              <a:buFont typeface="Arial" panose="020B0604020202020204" pitchFamily="34" charset="0"/>
              <a:buChar char="•"/>
            </a:pPr>
            <a:r>
              <a:rPr lang="en-US" sz="2000" dirty="0">
                <a:solidFill>
                  <a:srgbClr val="0000FF"/>
                </a:solidFill>
                <a:cs typeface="Arial" panose="020B0604020202020204" pitchFamily="34" charset="0"/>
              </a:rPr>
              <a:t>void finalize()</a:t>
            </a:r>
          </a:p>
          <a:p>
            <a:pPr marL="342900" indent="-342900">
              <a:buFont typeface="Arial" panose="020B0604020202020204" pitchFamily="34" charset="0"/>
              <a:buChar char="•"/>
            </a:pPr>
            <a:r>
              <a:rPr lang="en-US" sz="2000" dirty="0">
                <a:solidFill>
                  <a:srgbClr val="0000FF"/>
                </a:solidFill>
                <a:cs typeface="Arial" panose="020B0604020202020204" pitchFamily="34" charset="0"/>
              </a:rPr>
              <a:t>Class </a:t>
            </a:r>
            <a:r>
              <a:rPr lang="en-US" sz="2000" dirty="0" err="1">
                <a:solidFill>
                  <a:srgbClr val="0000FF"/>
                </a:solidFill>
                <a:cs typeface="Arial" panose="020B0604020202020204" pitchFamily="34" charset="0"/>
              </a:rPr>
              <a:t>getClass</a:t>
            </a:r>
            <a:r>
              <a:rPr lang="en-US" sz="2000" dirty="0">
                <a:solidFill>
                  <a:srgbClr val="0000FF"/>
                </a:solidFill>
                <a:cs typeface="Arial" panose="020B0604020202020204" pitchFamily="34" charset="0"/>
              </a:rPr>
              <a:t>() </a:t>
            </a:r>
          </a:p>
          <a:p>
            <a:pPr marL="342900" indent="-342900">
              <a:buFont typeface="Arial" panose="020B0604020202020204" pitchFamily="34" charset="0"/>
              <a:buChar char="•"/>
            </a:pPr>
            <a:endParaRPr lang="en-US" sz="2000" dirty="0">
              <a:solidFill>
                <a:srgbClr val="0000FF"/>
              </a:solidFill>
              <a:cs typeface="Arial" panose="020B0604020202020204" pitchFamily="34" charset="0"/>
            </a:endParaRPr>
          </a:p>
          <a:p>
            <a:pPr marL="342900" indent="-342900">
              <a:buFont typeface="Arial" panose="020B0604020202020204" pitchFamily="34" charset="0"/>
              <a:buChar char="•"/>
            </a:pPr>
            <a:r>
              <a:rPr lang="en-US" sz="2000" dirty="0">
                <a:solidFill>
                  <a:srgbClr val="0000FF"/>
                </a:solidFill>
                <a:cs typeface="Arial" panose="020B0604020202020204" pitchFamily="34" charset="0"/>
              </a:rPr>
              <a:t>void wait()</a:t>
            </a:r>
          </a:p>
          <a:p>
            <a:pPr marL="342900" indent="-342900">
              <a:buFont typeface="Arial" panose="020B0604020202020204" pitchFamily="34" charset="0"/>
              <a:buChar char="•"/>
            </a:pPr>
            <a:r>
              <a:rPr lang="en-US" sz="2000" dirty="0">
                <a:solidFill>
                  <a:srgbClr val="0000FF"/>
                </a:solidFill>
                <a:cs typeface="Arial" panose="020B0604020202020204" pitchFamily="34" charset="0"/>
              </a:rPr>
              <a:t>void wait(long </a:t>
            </a:r>
            <a:r>
              <a:rPr lang="en-US" sz="2000" dirty="0" err="1">
                <a:solidFill>
                  <a:srgbClr val="0000FF"/>
                </a:solidFill>
                <a:cs typeface="Arial" panose="020B0604020202020204" pitchFamily="34" charset="0"/>
              </a:rPr>
              <a:t>milliSecs</a:t>
            </a:r>
            <a:r>
              <a:rPr lang="en-US" sz="2000" dirty="0">
                <a:solidFill>
                  <a:srgbClr val="0000FF"/>
                </a:solidFill>
                <a:cs typeface="Arial" panose="020B0604020202020204" pitchFamily="34" charset="0"/>
              </a:rPr>
              <a:t>)</a:t>
            </a:r>
          </a:p>
          <a:p>
            <a:pPr marL="342900" indent="-342900">
              <a:buFont typeface="Arial" panose="020B0604020202020204" pitchFamily="34" charset="0"/>
              <a:buChar char="•"/>
            </a:pPr>
            <a:r>
              <a:rPr lang="en-US" sz="2000" dirty="0">
                <a:solidFill>
                  <a:srgbClr val="0000FF"/>
                </a:solidFill>
                <a:cs typeface="Arial" panose="020B0604020202020204" pitchFamily="34" charset="0"/>
              </a:rPr>
              <a:t>void wait(long </a:t>
            </a:r>
            <a:r>
              <a:rPr lang="en-US" sz="2000" dirty="0" err="1">
                <a:solidFill>
                  <a:srgbClr val="0000FF"/>
                </a:solidFill>
                <a:cs typeface="Arial" panose="020B0604020202020204" pitchFamily="34" charset="0"/>
              </a:rPr>
              <a:t>milliSecs</a:t>
            </a:r>
            <a:r>
              <a:rPr lang="en-US" sz="2000" dirty="0">
                <a:solidFill>
                  <a:srgbClr val="0000FF"/>
                </a:solidFill>
                <a:cs typeface="Arial" panose="020B0604020202020204" pitchFamily="34" charset="0"/>
              </a:rPr>
              <a:t>, int </a:t>
            </a:r>
            <a:r>
              <a:rPr lang="en-US" sz="2000" dirty="0" err="1">
                <a:solidFill>
                  <a:srgbClr val="0000FF"/>
                </a:solidFill>
                <a:cs typeface="Arial" panose="020B0604020202020204" pitchFamily="34" charset="0"/>
              </a:rPr>
              <a:t>nanoSecs</a:t>
            </a:r>
            <a:r>
              <a:rPr lang="en-US" sz="2000" dirty="0">
                <a:solidFill>
                  <a:srgbClr val="0000FF"/>
                </a:solidFill>
                <a:cs typeface="Arial" panose="020B0604020202020204" pitchFamily="34" charset="0"/>
              </a:rPr>
              <a:t>)</a:t>
            </a:r>
          </a:p>
          <a:p>
            <a:pPr marL="342900" indent="-342900">
              <a:buFont typeface="Arial" panose="020B0604020202020204" pitchFamily="34" charset="0"/>
              <a:buChar char="•"/>
            </a:pPr>
            <a:r>
              <a:rPr lang="en-US" sz="2000" dirty="0">
                <a:solidFill>
                  <a:srgbClr val="0000FF"/>
                </a:solidFill>
                <a:cs typeface="Arial" panose="020B0604020202020204" pitchFamily="34" charset="0"/>
              </a:rPr>
              <a:t>void notify()</a:t>
            </a:r>
          </a:p>
          <a:p>
            <a:pPr marL="342900" indent="-342900">
              <a:buFont typeface="Arial" panose="020B0604020202020204" pitchFamily="34" charset="0"/>
              <a:buChar char="•"/>
            </a:pPr>
            <a:r>
              <a:rPr lang="en-US" sz="2000" dirty="0">
                <a:solidFill>
                  <a:srgbClr val="0000FF"/>
                </a:solidFill>
                <a:cs typeface="Arial" panose="020B0604020202020204" pitchFamily="34" charset="0"/>
              </a:rPr>
              <a:t>void </a:t>
            </a:r>
            <a:r>
              <a:rPr lang="en-US" sz="2000" dirty="0" err="1">
                <a:solidFill>
                  <a:srgbClr val="0000FF"/>
                </a:solidFill>
                <a:cs typeface="Arial" panose="020B0604020202020204" pitchFamily="34" charset="0"/>
              </a:rPr>
              <a:t>notifyAll</a:t>
            </a:r>
            <a:r>
              <a:rPr lang="en-US" sz="2000" dirty="0">
                <a:solidFill>
                  <a:srgbClr val="0000FF"/>
                </a:solidFill>
                <a:cs typeface="Arial" panose="020B0604020202020204" pitchFamily="34" charset="0"/>
              </a:rPr>
              <a:t>()</a:t>
            </a:r>
          </a:p>
        </p:txBody>
      </p:sp>
      <p:sp>
        <p:nvSpPr>
          <p:cNvPr id="7" name="Footer Placeholder 6">
            <a:extLst>
              <a:ext uri="{FF2B5EF4-FFF2-40B4-BE49-F238E27FC236}">
                <a16:creationId xmlns:a16="http://schemas.microsoft.com/office/drawing/2014/main" id="{36330609-387C-BDFD-F8AD-3406B615252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59507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1536332"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1698500" y="1577974"/>
            <a:ext cx="7567419"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solidFill>
                  <a:srgbClr val="0000FF"/>
                </a:solidFill>
                <a:cs typeface="Arial" panose="020B0604020202020204" pitchFamily="34" charset="0"/>
              </a:rPr>
              <a:t>java.lang.Object</a:t>
            </a:r>
            <a:r>
              <a:rPr lang="en-US" sz="2000" dirty="0">
                <a:solidFill>
                  <a:srgbClr val="0000FF"/>
                </a:solidFill>
                <a:cs typeface="Arial" panose="020B0604020202020204" pitchFamily="34" charset="0"/>
              </a:rPr>
              <a:t> is the root most class to all the java classes in class hierarchy.</a:t>
            </a:r>
          </a:p>
          <a:p>
            <a:pPr marL="342900" indent="-342900">
              <a:buFont typeface="Arial" panose="020B0604020202020204" pitchFamily="34" charset="0"/>
              <a:buChar char="•"/>
            </a:pPr>
            <a:r>
              <a:rPr lang="en-US" sz="2000" dirty="0">
                <a:solidFill>
                  <a:srgbClr val="0000FF"/>
                </a:solidFill>
                <a:cs typeface="Arial" panose="020B0604020202020204" pitchFamily="34" charset="0"/>
              </a:rPr>
              <a:t>Root most class to all Java predefined &amp; user defined classes</a:t>
            </a:r>
          </a:p>
          <a:p>
            <a:pPr marL="342900" indent="-342900">
              <a:buFont typeface="Arial" panose="020B0604020202020204" pitchFamily="34" charset="0"/>
              <a:buChar char="•"/>
            </a:pPr>
            <a:r>
              <a:rPr lang="en-US" sz="2000" dirty="0">
                <a:solidFill>
                  <a:srgbClr val="0000FF"/>
                </a:solidFill>
                <a:cs typeface="Arial" panose="020B0604020202020204" pitchFamily="34" charset="0"/>
              </a:rPr>
              <a:t>If we write a class without extending from any super class, during compilation time the class by default derives from </a:t>
            </a:r>
            <a:r>
              <a:rPr lang="en-US" sz="2000" dirty="0" err="1">
                <a:solidFill>
                  <a:srgbClr val="0000FF"/>
                </a:solidFill>
                <a:cs typeface="Arial" panose="020B0604020202020204" pitchFamily="34" charset="0"/>
              </a:rPr>
              <a:t>java.lang.Object</a:t>
            </a:r>
            <a:endParaRPr lang="en-US" sz="2000" dirty="0">
              <a:solidFill>
                <a:srgbClr val="0000FF"/>
              </a:solidFill>
              <a:cs typeface="Arial" panose="020B0604020202020204" pitchFamily="34" charset="0"/>
            </a:endParaRPr>
          </a:p>
          <a:p>
            <a:pPr marL="342900" indent="-342900">
              <a:buFont typeface="Arial" panose="020B0604020202020204" pitchFamily="34" charset="0"/>
              <a:buChar char="•"/>
            </a:pPr>
            <a:r>
              <a:rPr lang="en-US" sz="2000" dirty="0">
                <a:solidFill>
                  <a:srgbClr val="0000FF"/>
                </a:solidFill>
                <a:cs typeface="Arial" panose="020B0604020202020204" pitchFamily="34" charset="0"/>
              </a:rPr>
              <a:t>For example</a:t>
            </a:r>
          </a:p>
          <a:p>
            <a:pPr lvl="1"/>
            <a:r>
              <a:rPr lang="en-US" sz="2000" dirty="0">
                <a:solidFill>
                  <a:srgbClr val="0000FF"/>
                </a:solidFill>
                <a:cs typeface="Arial" panose="020B0604020202020204" pitchFamily="34" charset="0"/>
              </a:rPr>
              <a:t>class Hello {</a:t>
            </a:r>
          </a:p>
          <a:p>
            <a:pPr lvl="1"/>
            <a:r>
              <a:rPr lang="en-US" sz="2000" dirty="0">
                <a:solidFill>
                  <a:srgbClr val="0000FF"/>
                </a:solidFill>
                <a:cs typeface="Arial" panose="020B0604020202020204" pitchFamily="34" charset="0"/>
              </a:rPr>
              <a:t>	p void </a:t>
            </a:r>
            <a:r>
              <a:rPr lang="en-US" sz="2000" dirty="0" err="1">
                <a:solidFill>
                  <a:srgbClr val="0000FF"/>
                </a:solidFill>
                <a:cs typeface="Arial" panose="020B0604020202020204" pitchFamily="34" charset="0"/>
              </a:rPr>
              <a:t>sayHello</a:t>
            </a:r>
            <a:r>
              <a:rPr lang="en-US" sz="2000" dirty="0">
                <a:solidFill>
                  <a:srgbClr val="0000FF"/>
                </a:solidFill>
                <a:cs typeface="Arial" panose="020B0604020202020204" pitchFamily="34" charset="0"/>
              </a:rPr>
              <a:t>(String name) {</a:t>
            </a:r>
          </a:p>
          <a:p>
            <a:pPr lvl="1"/>
            <a:r>
              <a:rPr lang="en-US" sz="2000" dirty="0">
                <a:solidFill>
                  <a:srgbClr val="0000FF"/>
                </a:solidFill>
                <a:cs typeface="Arial" panose="020B0604020202020204" pitchFamily="34" charset="0"/>
              </a:rPr>
              <a:t>	}</a:t>
            </a:r>
          </a:p>
          <a:p>
            <a:pPr lvl="1"/>
            <a:r>
              <a:rPr lang="en-US" sz="2000" dirty="0">
                <a:solidFill>
                  <a:srgbClr val="0000FF"/>
                </a:solidFill>
                <a:cs typeface="Arial" panose="020B0604020202020204" pitchFamily="34" charset="0"/>
              </a:rPr>
              <a:t>}</a:t>
            </a:r>
          </a:p>
          <a:p>
            <a:pPr lvl="1"/>
            <a:endParaRPr lang="en-US" sz="2000" dirty="0">
              <a:solidFill>
                <a:srgbClr val="0000FF"/>
              </a:solidFill>
              <a:cs typeface="Arial" panose="020B0604020202020204" pitchFamily="34" charset="0"/>
            </a:endParaRPr>
          </a:p>
          <a:p>
            <a:pPr lvl="1"/>
            <a:r>
              <a:rPr lang="en-US" sz="2000" dirty="0" err="1">
                <a:solidFill>
                  <a:srgbClr val="0000FF"/>
                </a:solidFill>
                <a:cs typeface="Arial" panose="020B0604020202020204" pitchFamily="34" charset="0"/>
              </a:rPr>
              <a:t>javac</a:t>
            </a:r>
            <a:r>
              <a:rPr lang="en-US" sz="2000" dirty="0">
                <a:solidFill>
                  <a:srgbClr val="0000FF"/>
                </a:solidFill>
                <a:cs typeface="Arial" panose="020B0604020202020204" pitchFamily="34" charset="0"/>
              </a:rPr>
              <a:t> Hello.java</a:t>
            </a:r>
          </a:p>
        </p:txBody>
      </p:sp>
      <p:sp>
        <p:nvSpPr>
          <p:cNvPr id="9" name="TextBox 8">
            <a:extLst>
              <a:ext uri="{FF2B5EF4-FFF2-40B4-BE49-F238E27FC236}">
                <a16:creationId xmlns:a16="http://schemas.microsoft.com/office/drawing/2014/main" id="{1D3406E8-0F03-4A07-9AB8-C2F39B43E971}"/>
              </a:ext>
            </a:extLst>
          </p:cNvPr>
          <p:cNvSpPr txBox="1"/>
          <p:nvPr/>
        </p:nvSpPr>
        <p:spPr>
          <a:xfrm>
            <a:off x="4666127" y="4290146"/>
            <a:ext cx="4693024" cy="2308324"/>
          </a:xfrm>
          <a:prstGeom prst="rect">
            <a:avLst/>
          </a:prstGeom>
          <a:noFill/>
        </p:spPr>
        <p:txBody>
          <a:bodyPr wrap="square">
            <a:spAutoFit/>
          </a:bodyPr>
          <a:lstStyle/>
          <a:p>
            <a:r>
              <a:rPr lang="en-US" dirty="0">
                <a:solidFill>
                  <a:srgbClr val="0000FF"/>
                </a:solidFill>
                <a:cs typeface="Arial" panose="020B0604020202020204" pitchFamily="34" charset="0"/>
              </a:rPr>
              <a:t>class Hello extends Object {</a:t>
            </a:r>
          </a:p>
          <a:p>
            <a:r>
              <a:rPr lang="en-US" sz="1800" dirty="0">
                <a:solidFill>
                  <a:srgbClr val="0000FF"/>
                </a:solidFill>
                <a:cs typeface="Arial" panose="020B0604020202020204" pitchFamily="34" charset="0"/>
              </a:rPr>
              <a:t>	// default constructor</a:t>
            </a:r>
          </a:p>
          <a:p>
            <a:r>
              <a:rPr lang="en-US" sz="1800" dirty="0">
                <a:solidFill>
                  <a:srgbClr val="0000FF"/>
                </a:solidFill>
                <a:cs typeface="Arial" panose="020B0604020202020204" pitchFamily="34" charset="0"/>
              </a:rPr>
              <a:t>	Hello() {</a:t>
            </a:r>
          </a:p>
          <a:p>
            <a:r>
              <a:rPr lang="en-US" sz="1800" dirty="0">
                <a:solidFill>
                  <a:srgbClr val="0000FF"/>
                </a:solidFill>
                <a:cs typeface="Arial" panose="020B0604020202020204" pitchFamily="34" charset="0"/>
              </a:rPr>
              <a:t>		super();</a:t>
            </a:r>
          </a:p>
          <a:p>
            <a:r>
              <a:rPr lang="en-US" dirty="0">
                <a:solidFill>
                  <a:srgbClr val="0000FF"/>
                </a:solidFill>
                <a:cs typeface="Arial" panose="020B0604020202020204" pitchFamily="34" charset="0"/>
              </a:rPr>
              <a:t>	}</a:t>
            </a:r>
          </a:p>
          <a:p>
            <a:r>
              <a:rPr lang="en-US" sz="1800" dirty="0">
                <a:solidFill>
                  <a:srgbClr val="0000FF"/>
                </a:solidFill>
                <a:cs typeface="Arial" panose="020B0604020202020204" pitchFamily="34" charset="0"/>
              </a:rPr>
              <a:t>	public void </a:t>
            </a:r>
            <a:r>
              <a:rPr lang="en-US" sz="1800" dirty="0" err="1">
                <a:solidFill>
                  <a:srgbClr val="0000FF"/>
                </a:solidFill>
                <a:cs typeface="Arial" panose="020B0604020202020204" pitchFamily="34" charset="0"/>
              </a:rPr>
              <a:t>sayHello</a:t>
            </a:r>
            <a:r>
              <a:rPr lang="en-US" sz="1800" dirty="0">
                <a:solidFill>
                  <a:srgbClr val="0000FF"/>
                </a:solidFill>
                <a:cs typeface="Arial" panose="020B0604020202020204" pitchFamily="34" charset="0"/>
              </a:rPr>
              <a:t>(String name) {</a:t>
            </a:r>
          </a:p>
          <a:p>
            <a:r>
              <a:rPr lang="en-US" sz="1800" dirty="0">
                <a:solidFill>
                  <a:srgbClr val="0000FF"/>
                </a:solidFill>
                <a:cs typeface="Arial" panose="020B0604020202020204" pitchFamily="34" charset="0"/>
              </a:rPr>
              <a:t>	}</a:t>
            </a:r>
            <a:endParaRPr lang="en-US" dirty="0">
              <a:solidFill>
                <a:srgbClr val="0000FF"/>
              </a:solidFill>
              <a:cs typeface="Arial" panose="020B0604020202020204" pitchFamily="34" charset="0"/>
            </a:endParaRPr>
          </a:p>
          <a:p>
            <a:r>
              <a:rPr lang="en-US" sz="1800" dirty="0">
                <a:solidFill>
                  <a:srgbClr val="0000FF"/>
                </a:solidFill>
                <a:cs typeface="Arial" panose="020B0604020202020204" pitchFamily="34" charset="0"/>
              </a:rPr>
              <a:t>}</a:t>
            </a:r>
          </a:p>
        </p:txBody>
      </p:sp>
      <p:sp>
        <p:nvSpPr>
          <p:cNvPr id="7" name="Footer Placeholder 6">
            <a:extLst>
              <a:ext uri="{FF2B5EF4-FFF2-40B4-BE49-F238E27FC236}">
                <a16:creationId xmlns:a16="http://schemas.microsoft.com/office/drawing/2014/main" id="{A49DE765-BCEE-F8E4-7419-EA7C9ACB76E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93769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932021" y="1577974"/>
            <a:ext cx="7567419" cy="4708981"/>
          </a:xfrm>
          <a:prstGeom prst="rect">
            <a:avLst/>
          </a:prstGeom>
          <a:noFill/>
        </p:spPr>
        <p:txBody>
          <a:bodyPr wrap="square" rtlCol="0">
            <a:spAutoFit/>
          </a:bodyPr>
          <a:lstStyle/>
          <a:p>
            <a:r>
              <a:rPr lang="en-US" sz="2000" dirty="0">
                <a:solidFill>
                  <a:srgbClr val="0000FF"/>
                </a:solidFill>
                <a:cs typeface="Arial" panose="020B0604020202020204" pitchFamily="34" charset="0"/>
              </a:rPr>
              <a:t>class Hai extends Hello {</a:t>
            </a:r>
          </a:p>
          <a:p>
            <a:r>
              <a:rPr lang="en-US" sz="2000" dirty="0">
                <a:solidFill>
                  <a:srgbClr val="0000FF"/>
                </a:solidFill>
                <a:cs typeface="Arial" panose="020B0604020202020204" pitchFamily="34" charset="0"/>
              </a:rPr>
              <a:t>	p v </a:t>
            </a:r>
            <a:r>
              <a:rPr lang="en-US" sz="2000" dirty="0" err="1">
                <a:solidFill>
                  <a:srgbClr val="0000FF"/>
                </a:solidFill>
                <a:cs typeface="Arial" panose="020B0604020202020204" pitchFamily="34" charset="0"/>
              </a:rPr>
              <a:t>sayHai</a:t>
            </a:r>
            <a:r>
              <a:rPr lang="en-US" sz="2000" dirty="0">
                <a:solidFill>
                  <a:srgbClr val="0000FF"/>
                </a:solidFill>
                <a:cs typeface="Arial" panose="020B0604020202020204" pitchFamily="34" charset="0"/>
              </a:rPr>
              <a:t>(String name) {</a:t>
            </a:r>
          </a:p>
          <a:p>
            <a:r>
              <a:rPr lang="en-US" sz="2000" dirty="0">
                <a:solidFill>
                  <a:srgbClr val="0000FF"/>
                </a:solidFill>
                <a:cs typeface="Arial" panose="020B0604020202020204" pitchFamily="34" charset="0"/>
              </a:rPr>
              <a:t>	}</a:t>
            </a:r>
          </a:p>
          <a:p>
            <a:r>
              <a:rPr lang="en-US" sz="2000" dirty="0">
                <a:solidFill>
                  <a:srgbClr val="0000FF"/>
                </a:solidFill>
                <a:cs typeface="Arial" panose="020B0604020202020204" pitchFamily="34" charset="0"/>
              </a:rPr>
              <a:t>}</a:t>
            </a:r>
          </a:p>
          <a:p>
            <a:endParaRPr lang="en-US" sz="2000" dirty="0">
              <a:solidFill>
                <a:srgbClr val="0000FF"/>
              </a:solidFill>
              <a:cs typeface="Arial" panose="020B0604020202020204" pitchFamily="34" charset="0"/>
            </a:endParaRPr>
          </a:p>
          <a:p>
            <a:r>
              <a:rPr lang="en-US" sz="2000" dirty="0" err="1">
                <a:solidFill>
                  <a:srgbClr val="0000FF"/>
                </a:solidFill>
                <a:cs typeface="Arial" panose="020B0604020202020204" pitchFamily="34" charset="0"/>
              </a:rPr>
              <a:t>javac</a:t>
            </a:r>
            <a:r>
              <a:rPr lang="en-US" sz="2000" dirty="0">
                <a:solidFill>
                  <a:srgbClr val="0000FF"/>
                </a:solidFill>
                <a:cs typeface="Arial" panose="020B0604020202020204" pitchFamily="34" charset="0"/>
              </a:rPr>
              <a:t> Hai.java</a:t>
            </a:r>
          </a:p>
          <a:p>
            <a:endParaRPr lang="en-US" sz="2000" dirty="0">
              <a:solidFill>
                <a:srgbClr val="0000FF"/>
              </a:solidFill>
              <a:cs typeface="Arial" panose="020B0604020202020204" pitchFamily="34" charset="0"/>
            </a:endParaRPr>
          </a:p>
          <a:p>
            <a:r>
              <a:rPr lang="en-US" sz="2000" dirty="0">
                <a:solidFill>
                  <a:srgbClr val="0000FF"/>
                </a:solidFill>
                <a:cs typeface="Arial" panose="020B0604020202020204" pitchFamily="34" charset="0"/>
              </a:rPr>
              <a:t>class Hai extends Hello {</a:t>
            </a:r>
          </a:p>
          <a:p>
            <a:r>
              <a:rPr lang="en-US" sz="2000" dirty="0">
                <a:solidFill>
                  <a:srgbClr val="0000FF"/>
                </a:solidFill>
                <a:cs typeface="Arial" panose="020B0604020202020204" pitchFamily="34" charset="0"/>
              </a:rPr>
              <a:t>	Hai() {</a:t>
            </a:r>
          </a:p>
          <a:p>
            <a:r>
              <a:rPr lang="en-US" sz="2000" dirty="0">
                <a:solidFill>
                  <a:srgbClr val="0000FF"/>
                </a:solidFill>
                <a:cs typeface="Arial" panose="020B0604020202020204" pitchFamily="34" charset="0"/>
              </a:rPr>
              <a:t>		super();</a:t>
            </a:r>
          </a:p>
          <a:p>
            <a:r>
              <a:rPr lang="en-US" sz="2000" dirty="0">
                <a:solidFill>
                  <a:srgbClr val="0000FF"/>
                </a:solidFill>
                <a:cs typeface="Arial" panose="020B0604020202020204" pitchFamily="34" charset="0"/>
              </a:rPr>
              <a:t>	}</a:t>
            </a:r>
          </a:p>
          <a:p>
            <a:r>
              <a:rPr lang="en-US" sz="2000" dirty="0">
                <a:solidFill>
                  <a:srgbClr val="0000FF"/>
                </a:solidFill>
                <a:cs typeface="Arial" panose="020B0604020202020204" pitchFamily="34" charset="0"/>
              </a:rPr>
              <a:t>	p v </a:t>
            </a:r>
            <a:r>
              <a:rPr lang="en-US" sz="2000" dirty="0" err="1">
                <a:solidFill>
                  <a:srgbClr val="0000FF"/>
                </a:solidFill>
                <a:cs typeface="Arial" panose="020B0604020202020204" pitchFamily="34" charset="0"/>
              </a:rPr>
              <a:t>sayHai</a:t>
            </a:r>
            <a:r>
              <a:rPr lang="en-US" sz="2000" dirty="0">
                <a:solidFill>
                  <a:srgbClr val="0000FF"/>
                </a:solidFill>
                <a:cs typeface="Arial" panose="020B0604020202020204" pitchFamily="34" charset="0"/>
              </a:rPr>
              <a:t>(String name) {</a:t>
            </a:r>
          </a:p>
          <a:p>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System.out.println</a:t>
            </a:r>
            <a:r>
              <a:rPr lang="en-US" sz="2000" dirty="0">
                <a:solidFill>
                  <a:srgbClr val="0000FF"/>
                </a:solidFill>
                <a:cs typeface="Arial" panose="020B0604020202020204" pitchFamily="34" charset="0"/>
              </a:rPr>
              <a:t>(name+" "+</a:t>
            </a:r>
            <a:r>
              <a:rPr lang="en-US" sz="2000" dirty="0" err="1">
                <a:solidFill>
                  <a:srgbClr val="0000FF"/>
                </a:solidFill>
                <a:cs typeface="Arial" panose="020B0604020202020204" pitchFamily="34" charset="0"/>
              </a:rPr>
              <a:t>name.toLowerCase</a:t>
            </a:r>
            <a:r>
              <a:rPr lang="en-US" sz="2000" dirty="0">
                <a:solidFill>
                  <a:srgbClr val="0000FF"/>
                </a:solidFill>
                <a:cs typeface="Arial" panose="020B0604020202020204" pitchFamily="34" charset="0"/>
              </a:rPr>
              <a:t>());</a:t>
            </a:r>
          </a:p>
          <a:p>
            <a:r>
              <a:rPr lang="en-US" sz="2000" dirty="0">
                <a:solidFill>
                  <a:srgbClr val="0000FF"/>
                </a:solidFill>
                <a:cs typeface="Arial" panose="020B0604020202020204" pitchFamily="34" charset="0"/>
              </a:rPr>
              <a:t>	}	</a:t>
            </a:r>
          </a:p>
          <a:p>
            <a:r>
              <a:rPr lang="en-US" sz="2000" dirty="0">
                <a:solidFill>
                  <a:srgbClr val="0000FF"/>
                </a:solidFill>
                <a:cs typeface="Arial" panose="020B0604020202020204" pitchFamily="34" charset="0"/>
              </a:rPr>
              <a:t>}</a:t>
            </a:r>
          </a:p>
        </p:txBody>
      </p:sp>
      <p:sp>
        <p:nvSpPr>
          <p:cNvPr id="10" name="TextBox 9">
            <a:extLst>
              <a:ext uri="{FF2B5EF4-FFF2-40B4-BE49-F238E27FC236}">
                <a16:creationId xmlns:a16="http://schemas.microsoft.com/office/drawing/2014/main" id="{C25E1029-EA46-B449-A1A7-F1046667DC30}"/>
              </a:ext>
            </a:extLst>
          </p:cNvPr>
          <p:cNvSpPr txBox="1"/>
          <p:nvPr/>
        </p:nvSpPr>
        <p:spPr>
          <a:xfrm>
            <a:off x="4627866" y="846469"/>
            <a:ext cx="6286500" cy="3693319"/>
          </a:xfrm>
          <a:prstGeom prst="rect">
            <a:avLst/>
          </a:prstGeom>
          <a:noFill/>
        </p:spPr>
        <p:txBody>
          <a:bodyPr wrap="square">
            <a:spAutoFit/>
          </a:bodyPr>
          <a:lstStyle/>
          <a:p>
            <a:r>
              <a:rPr lang="en-US" sz="1800" dirty="0">
                <a:solidFill>
                  <a:srgbClr val="0000FF"/>
                </a:solidFill>
                <a:cs typeface="Arial" panose="020B0604020202020204" pitchFamily="34" charset="0"/>
              </a:rPr>
              <a:t>class </a:t>
            </a:r>
            <a:r>
              <a:rPr lang="en-US" sz="1800" dirty="0" err="1">
                <a:solidFill>
                  <a:srgbClr val="0000FF"/>
                </a:solidFill>
                <a:cs typeface="Arial" panose="020B0604020202020204" pitchFamily="34" charset="0"/>
              </a:rPr>
              <a:t>HelloClient</a:t>
            </a:r>
            <a:r>
              <a:rPr lang="en-US" sz="1800" dirty="0">
                <a:solidFill>
                  <a:srgbClr val="0000FF"/>
                </a:solidFill>
                <a:cs typeface="Arial" panose="020B0604020202020204" pitchFamily="34" charset="0"/>
              </a:rPr>
              <a:t> {</a:t>
            </a:r>
          </a:p>
          <a:p>
            <a:r>
              <a:rPr lang="en-US" sz="1800" dirty="0">
                <a:solidFill>
                  <a:srgbClr val="0000FF"/>
                </a:solidFill>
                <a:cs typeface="Arial" panose="020B0604020202020204" pitchFamily="34" charset="0"/>
              </a:rPr>
              <a:t>	public static void main(String rags[]) {</a:t>
            </a:r>
          </a:p>
          <a:p>
            <a:r>
              <a:rPr lang="en-US" sz="1800" dirty="0">
                <a:solidFill>
                  <a:srgbClr val="0000FF"/>
                </a:solidFill>
                <a:cs typeface="Arial" panose="020B0604020202020204" pitchFamily="34" charset="0"/>
              </a:rPr>
              <a:t>		Hello hello=new Hello();</a:t>
            </a:r>
          </a:p>
          <a:p>
            <a:r>
              <a:rPr lang="en-US" sz="1800" dirty="0">
                <a:solidFill>
                  <a:srgbClr val="0000FF"/>
                </a:solidFill>
                <a:cs typeface="Arial" panose="020B0604020202020204" pitchFamily="34" charset="0"/>
              </a:rPr>
              <a:t>		Hai </a:t>
            </a:r>
            <a:r>
              <a:rPr lang="en-US" sz="1800" dirty="0" err="1">
                <a:solidFill>
                  <a:srgbClr val="0000FF"/>
                </a:solidFill>
                <a:cs typeface="Arial" panose="020B0604020202020204" pitchFamily="34" charset="0"/>
              </a:rPr>
              <a:t>hai</a:t>
            </a:r>
            <a:r>
              <a:rPr lang="en-US" sz="1800" dirty="0">
                <a:solidFill>
                  <a:srgbClr val="0000FF"/>
                </a:solidFill>
                <a:cs typeface="Arial" panose="020B0604020202020204" pitchFamily="34" charset="0"/>
              </a:rPr>
              <a:t>=new Hai();</a:t>
            </a:r>
          </a:p>
          <a:p>
            <a:endParaRPr lang="en-US" sz="1800" dirty="0">
              <a:solidFill>
                <a:srgbClr val="0000FF"/>
              </a:solidFill>
              <a:cs typeface="Arial" panose="020B0604020202020204" pitchFamily="34" charset="0"/>
            </a:endParaRPr>
          </a:p>
          <a:p>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System.out.println</a:t>
            </a:r>
            <a:r>
              <a:rPr lang="en-US" sz="1800" dirty="0">
                <a:solidFill>
                  <a:srgbClr val="0000FF"/>
                </a:solidFill>
                <a:cs typeface="Arial" panose="020B0604020202020204" pitchFamily="34" charset="0"/>
              </a:rPr>
              <a:t>(hello </a:t>
            </a:r>
            <a:r>
              <a:rPr lang="en-US" sz="1800" dirty="0" err="1">
                <a:solidFill>
                  <a:srgbClr val="0000FF"/>
                </a:solidFill>
                <a:cs typeface="Arial" panose="020B0604020202020204" pitchFamily="34" charset="0"/>
              </a:rPr>
              <a:t>instanceof</a:t>
            </a:r>
            <a:r>
              <a:rPr lang="en-US" sz="1800" dirty="0">
                <a:solidFill>
                  <a:srgbClr val="0000FF"/>
                </a:solidFill>
                <a:cs typeface="Arial" panose="020B0604020202020204" pitchFamily="34" charset="0"/>
              </a:rPr>
              <a:t> Hello);</a:t>
            </a:r>
          </a:p>
          <a:p>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System.out.println</a:t>
            </a:r>
            <a:r>
              <a:rPr lang="en-US" sz="1800" dirty="0">
                <a:solidFill>
                  <a:srgbClr val="0000FF"/>
                </a:solidFill>
                <a:cs typeface="Arial" panose="020B0604020202020204" pitchFamily="34" charset="0"/>
              </a:rPr>
              <a:t>(hello </a:t>
            </a:r>
            <a:r>
              <a:rPr lang="en-US" sz="1800" dirty="0" err="1">
                <a:solidFill>
                  <a:srgbClr val="0000FF"/>
                </a:solidFill>
                <a:cs typeface="Arial" panose="020B0604020202020204" pitchFamily="34" charset="0"/>
              </a:rPr>
              <a:t>instanceof</a:t>
            </a:r>
            <a:r>
              <a:rPr lang="en-US" sz="1800" dirty="0">
                <a:solidFill>
                  <a:srgbClr val="0000FF"/>
                </a:solidFill>
                <a:cs typeface="Arial" panose="020B0604020202020204" pitchFamily="34" charset="0"/>
              </a:rPr>
              <a:t> Object);</a:t>
            </a:r>
          </a:p>
          <a:p>
            <a:endParaRPr lang="en-US" sz="1800" dirty="0">
              <a:solidFill>
                <a:srgbClr val="0000FF"/>
              </a:solidFill>
              <a:cs typeface="Arial" panose="020B0604020202020204" pitchFamily="34" charset="0"/>
            </a:endParaRPr>
          </a:p>
          <a:p>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System.out.println</a:t>
            </a:r>
            <a:r>
              <a:rPr lang="en-US" sz="1800" dirty="0">
                <a:solidFill>
                  <a:srgbClr val="0000FF"/>
                </a:solidFill>
                <a:cs typeface="Arial" panose="020B0604020202020204" pitchFamily="34" charset="0"/>
              </a:rPr>
              <a:t>(</a:t>
            </a:r>
            <a:r>
              <a:rPr lang="en-US" sz="1800" dirty="0" err="1">
                <a:solidFill>
                  <a:srgbClr val="0000FF"/>
                </a:solidFill>
                <a:cs typeface="Arial" panose="020B0604020202020204" pitchFamily="34" charset="0"/>
              </a:rPr>
              <a:t>hai</a:t>
            </a:r>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instanceof</a:t>
            </a:r>
            <a:r>
              <a:rPr lang="en-US" sz="1800" dirty="0">
                <a:solidFill>
                  <a:srgbClr val="0000FF"/>
                </a:solidFill>
                <a:cs typeface="Arial" panose="020B0604020202020204" pitchFamily="34" charset="0"/>
              </a:rPr>
              <a:t> Hai);</a:t>
            </a:r>
          </a:p>
          <a:p>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System.out.println</a:t>
            </a:r>
            <a:r>
              <a:rPr lang="en-US" sz="1800" dirty="0">
                <a:solidFill>
                  <a:srgbClr val="0000FF"/>
                </a:solidFill>
                <a:cs typeface="Arial" panose="020B0604020202020204" pitchFamily="34" charset="0"/>
              </a:rPr>
              <a:t>(</a:t>
            </a:r>
            <a:r>
              <a:rPr lang="en-US" sz="1800" dirty="0" err="1">
                <a:solidFill>
                  <a:srgbClr val="0000FF"/>
                </a:solidFill>
                <a:cs typeface="Arial" panose="020B0604020202020204" pitchFamily="34" charset="0"/>
              </a:rPr>
              <a:t>hai</a:t>
            </a:r>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instanceof</a:t>
            </a:r>
            <a:r>
              <a:rPr lang="en-US" sz="1800" dirty="0">
                <a:solidFill>
                  <a:srgbClr val="0000FF"/>
                </a:solidFill>
                <a:cs typeface="Arial" panose="020B0604020202020204" pitchFamily="34" charset="0"/>
              </a:rPr>
              <a:t> Hello);</a:t>
            </a:r>
          </a:p>
          <a:p>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System.out.println</a:t>
            </a:r>
            <a:r>
              <a:rPr lang="en-US" sz="1800" dirty="0">
                <a:solidFill>
                  <a:srgbClr val="0000FF"/>
                </a:solidFill>
                <a:cs typeface="Arial" panose="020B0604020202020204" pitchFamily="34" charset="0"/>
              </a:rPr>
              <a:t>(</a:t>
            </a:r>
            <a:r>
              <a:rPr lang="en-US" sz="1800" dirty="0" err="1">
                <a:solidFill>
                  <a:srgbClr val="0000FF"/>
                </a:solidFill>
                <a:cs typeface="Arial" panose="020B0604020202020204" pitchFamily="34" charset="0"/>
              </a:rPr>
              <a:t>hai</a:t>
            </a:r>
            <a:r>
              <a:rPr lang="en-US" sz="1800" dirty="0">
                <a:solidFill>
                  <a:srgbClr val="0000FF"/>
                </a:solidFill>
                <a:cs typeface="Arial" panose="020B0604020202020204" pitchFamily="34" charset="0"/>
              </a:rPr>
              <a:t> </a:t>
            </a:r>
            <a:r>
              <a:rPr lang="en-US" sz="1800" dirty="0" err="1">
                <a:solidFill>
                  <a:srgbClr val="0000FF"/>
                </a:solidFill>
                <a:cs typeface="Arial" panose="020B0604020202020204" pitchFamily="34" charset="0"/>
              </a:rPr>
              <a:t>instanceof</a:t>
            </a:r>
            <a:r>
              <a:rPr lang="en-US" sz="1800" dirty="0">
                <a:solidFill>
                  <a:srgbClr val="0000FF"/>
                </a:solidFill>
                <a:cs typeface="Arial" panose="020B0604020202020204" pitchFamily="34" charset="0"/>
              </a:rPr>
              <a:t> Object);</a:t>
            </a:r>
          </a:p>
          <a:p>
            <a:r>
              <a:rPr lang="en-US" sz="1800" dirty="0">
                <a:solidFill>
                  <a:srgbClr val="0000FF"/>
                </a:solidFill>
                <a:cs typeface="Arial" panose="020B0604020202020204" pitchFamily="34" charset="0"/>
              </a:rPr>
              <a:t>	}</a:t>
            </a:r>
          </a:p>
          <a:p>
            <a:r>
              <a:rPr lang="en-US" sz="1800" dirty="0">
                <a:solidFill>
                  <a:srgbClr val="0000FF"/>
                </a:solidFill>
                <a:cs typeface="Arial" panose="020B0604020202020204" pitchFamily="34" charset="0"/>
              </a:rPr>
              <a:t>}</a:t>
            </a:r>
          </a:p>
        </p:txBody>
      </p:sp>
      <p:sp>
        <p:nvSpPr>
          <p:cNvPr id="7" name="Footer Placeholder 6">
            <a:extLst>
              <a:ext uri="{FF2B5EF4-FFF2-40B4-BE49-F238E27FC236}">
                <a16:creationId xmlns:a16="http://schemas.microsoft.com/office/drawing/2014/main" id="{7D1B034C-5ED9-487F-52B1-CA36B95D2C5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181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932021" y="1577974"/>
            <a:ext cx="8610391" cy="4708981"/>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rgbClr val="0000FF"/>
                </a:solidFill>
                <a:cs typeface="Arial" panose="020B0604020202020204" pitchFamily="34" charset="0"/>
              </a:rPr>
              <a:t>To bring all Java classes under one roof </a:t>
            </a:r>
            <a:r>
              <a:rPr lang="en-US" sz="2000" dirty="0" err="1">
                <a:solidFill>
                  <a:srgbClr val="0000FF"/>
                </a:solidFill>
                <a:cs typeface="Arial" panose="020B0604020202020204" pitchFamily="34" charset="0"/>
              </a:rPr>
              <a:t>java.lang.Object</a:t>
            </a:r>
            <a:r>
              <a:rPr lang="en-US" sz="2000" dirty="0">
                <a:solidFill>
                  <a:srgbClr val="0000FF"/>
                </a:solidFill>
                <a:cs typeface="Arial" panose="020B0604020202020204" pitchFamily="34" charset="0"/>
              </a:rPr>
              <a:t> acts as super most class. For marking/recognizing the class as a Java class.</a:t>
            </a:r>
          </a:p>
          <a:p>
            <a:pPr marL="342900" indent="-342900" algn="just">
              <a:buFont typeface="Arial" panose="020B0604020202020204" pitchFamily="34" charset="0"/>
              <a:buChar char="•"/>
            </a:pPr>
            <a:r>
              <a:rPr lang="en-US" sz="2000" dirty="0">
                <a:solidFill>
                  <a:srgbClr val="0000FF"/>
                </a:solidFill>
                <a:cs typeface="Arial" panose="020B0604020202020204" pitchFamily="34" charset="0"/>
              </a:rPr>
              <a:t>The another reason is Object class provides common functionalities/methods to all the Java class.</a:t>
            </a:r>
          </a:p>
          <a:p>
            <a:pPr marL="800100" lvl="1" indent="-342900" algn="just">
              <a:buFont typeface="Arial" panose="020B0604020202020204" pitchFamily="34" charset="0"/>
              <a:buChar char="•"/>
            </a:pPr>
            <a:r>
              <a:rPr lang="en-US" sz="2000" dirty="0">
                <a:solidFill>
                  <a:srgbClr val="0000FF"/>
                </a:solidFill>
                <a:cs typeface="Arial" panose="020B0604020202020204" pitchFamily="34" charset="0"/>
              </a:rPr>
              <a:t>equals(), </a:t>
            </a:r>
            <a:r>
              <a:rPr lang="en-US" sz="2000" dirty="0" err="1">
                <a:solidFill>
                  <a:srgbClr val="0000FF"/>
                </a:solidFill>
                <a:cs typeface="Arial" panose="020B0604020202020204" pitchFamily="34" charset="0"/>
              </a:rPr>
              <a:t>hashCode</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toString</a:t>
            </a:r>
            <a:r>
              <a:rPr lang="en-US" sz="2000" dirty="0">
                <a:solidFill>
                  <a:srgbClr val="0000FF"/>
                </a:solidFill>
                <a:cs typeface="Arial" panose="020B0604020202020204" pitchFamily="34" charset="0"/>
              </a:rPr>
              <a:t>(), wait(), wait(long </a:t>
            </a:r>
            <a:r>
              <a:rPr lang="en-US" sz="2000" dirty="0" err="1">
                <a:solidFill>
                  <a:srgbClr val="0000FF"/>
                </a:solidFill>
                <a:cs typeface="Arial" panose="020B0604020202020204" pitchFamily="34" charset="0"/>
              </a:rPr>
              <a:t>ms</a:t>
            </a:r>
            <a:r>
              <a:rPr lang="en-US" sz="2000" dirty="0">
                <a:solidFill>
                  <a:srgbClr val="0000FF"/>
                </a:solidFill>
                <a:cs typeface="Arial" panose="020B0604020202020204" pitchFamily="34" charset="0"/>
              </a:rPr>
              <a:t>), wait(long </a:t>
            </a:r>
            <a:r>
              <a:rPr lang="en-US" sz="2000" dirty="0" err="1">
                <a:solidFill>
                  <a:srgbClr val="0000FF"/>
                </a:solidFill>
                <a:cs typeface="Arial" panose="020B0604020202020204" pitchFamily="34" charset="0"/>
              </a:rPr>
              <a:t>ms</a:t>
            </a:r>
            <a:r>
              <a:rPr lang="en-US" sz="2000" dirty="0">
                <a:solidFill>
                  <a:srgbClr val="0000FF"/>
                </a:solidFill>
                <a:cs typeface="Arial" panose="020B0604020202020204" pitchFamily="34" charset="0"/>
              </a:rPr>
              <a:t>, int nanos), notify(), </a:t>
            </a:r>
            <a:r>
              <a:rPr lang="en-US" sz="2000" dirty="0" err="1">
                <a:solidFill>
                  <a:srgbClr val="0000FF"/>
                </a:solidFill>
                <a:cs typeface="Arial" panose="020B0604020202020204" pitchFamily="34" charset="0"/>
              </a:rPr>
              <a:t>notifyAll</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getClass</a:t>
            </a:r>
            <a:r>
              <a:rPr lang="en-US" sz="2000" dirty="0">
                <a:solidFill>
                  <a:srgbClr val="0000FF"/>
                </a:solidFill>
                <a:cs typeface="Arial" panose="020B0604020202020204" pitchFamily="34" charset="0"/>
              </a:rPr>
              <a:t>(), finalize(), clone()</a:t>
            </a:r>
          </a:p>
          <a:p>
            <a:pPr marL="800100" lvl="1" indent="-342900" algn="just">
              <a:buFont typeface="Arial" panose="020B0604020202020204" pitchFamily="34" charset="0"/>
              <a:buChar char="•"/>
            </a:pPr>
            <a:endParaRPr lang="en-US" sz="2000" dirty="0">
              <a:solidFill>
                <a:srgbClr val="0000FF"/>
              </a:solidFill>
              <a:cs typeface="Arial" panose="020B0604020202020204" pitchFamily="34" charset="0"/>
            </a:endParaRPr>
          </a:p>
          <a:p>
            <a:pPr marL="342900" indent="-342900" algn="just">
              <a:buFont typeface="Arial" panose="020B0604020202020204" pitchFamily="34" charset="0"/>
              <a:buChar char="•"/>
            </a:pPr>
            <a:r>
              <a:rPr lang="en-US" sz="2000" dirty="0">
                <a:solidFill>
                  <a:srgbClr val="0000FF"/>
                </a:solidFill>
                <a:cs typeface="Arial" panose="020B0604020202020204" pitchFamily="34" charset="0"/>
              </a:rPr>
              <a:t>All most all sub classes of Object class overrides equals(), </a:t>
            </a:r>
            <a:r>
              <a:rPr lang="en-US" sz="2000" dirty="0" err="1">
                <a:solidFill>
                  <a:srgbClr val="0000FF"/>
                </a:solidFill>
                <a:cs typeface="Arial" panose="020B0604020202020204" pitchFamily="34" charset="0"/>
              </a:rPr>
              <a:t>hashCode</a:t>
            </a:r>
            <a:r>
              <a:rPr lang="en-US" sz="2000" dirty="0">
                <a:solidFill>
                  <a:srgbClr val="0000FF"/>
                </a:solidFill>
                <a:cs typeface="Arial" panose="020B0604020202020204" pitchFamily="34" charset="0"/>
              </a:rPr>
              <a:t>() and </a:t>
            </a:r>
            <a:r>
              <a:rPr lang="en-US" sz="2000" dirty="0" err="1">
                <a:solidFill>
                  <a:srgbClr val="0000FF"/>
                </a:solidFill>
                <a:cs typeface="Arial" panose="020B0604020202020204" pitchFamily="34" charset="0"/>
              </a:rPr>
              <a:t>toString</a:t>
            </a:r>
            <a:r>
              <a:rPr lang="en-US" sz="2000" dirty="0">
                <a:solidFill>
                  <a:srgbClr val="0000FF"/>
                </a:solidFill>
                <a:cs typeface="Arial" panose="020B0604020202020204" pitchFamily="34" charset="0"/>
              </a:rPr>
              <a:t>() methods according to their class instance variables.</a:t>
            </a:r>
          </a:p>
          <a:p>
            <a:pPr marL="342900" indent="-342900" algn="just">
              <a:buFont typeface="Arial" panose="020B0604020202020204" pitchFamily="34" charset="0"/>
              <a:buChar char="•"/>
            </a:pPr>
            <a:endParaRPr lang="en-US" sz="2000" dirty="0">
              <a:solidFill>
                <a:srgbClr val="0000FF"/>
              </a:solidFill>
              <a:cs typeface="Arial" panose="020B0604020202020204" pitchFamily="34" charset="0"/>
            </a:endParaRPr>
          </a:p>
          <a:p>
            <a:pPr marL="342900" indent="-342900" algn="just">
              <a:buFont typeface="Arial" panose="020B0604020202020204" pitchFamily="34" charset="0"/>
              <a:buChar char="•"/>
            </a:pPr>
            <a:r>
              <a:rPr lang="en-US" sz="2000" dirty="0">
                <a:solidFill>
                  <a:srgbClr val="0000FF"/>
                </a:solidFill>
                <a:cs typeface="Arial" panose="020B0604020202020204" pitchFamily="34" charset="0"/>
              </a:rPr>
              <a:t>For example in String class these 3 methods are implemented on char array.</a:t>
            </a:r>
          </a:p>
          <a:p>
            <a:pPr marL="342900" indent="-342900" algn="just">
              <a:buFont typeface="Arial" panose="020B0604020202020204" pitchFamily="34" charset="0"/>
              <a:buChar char="•"/>
            </a:pPr>
            <a:r>
              <a:rPr lang="en-US" sz="2000" dirty="0">
                <a:solidFill>
                  <a:srgbClr val="0000FF"/>
                </a:solidFill>
                <a:cs typeface="Arial" panose="020B0604020202020204" pitchFamily="34" charset="0"/>
              </a:rPr>
              <a:t>In Date class these 3 methods are implemented by using date, month, year, hours, minutes, seconds and milliseconds.</a:t>
            </a:r>
          </a:p>
          <a:p>
            <a:pPr marL="342900" indent="-342900" algn="just">
              <a:buFont typeface="Arial" panose="020B0604020202020204" pitchFamily="34" charset="0"/>
              <a:buChar char="•"/>
            </a:pPr>
            <a:r>
              <a:rPr lang="en-US" sz="2000" dirty="0">
                <a:solidFill>
                  <a:srgbClr val="0000FF"/>
                </a:solidFill>
                <a:cs typeface="Arial" panose="020B0604020202020204" pitchFamily="34" charset="0"/>
              </a:rPr>
              <a:t>If we write user defined class like Emp we will implement equals(), </a:t>
            </a:r>
            <a:r>
              <a:rPr lang="en-US" sz="2000" dirty="0" err="1">
                <a:solidFill>
                  <a:srgbClr val="0000FF"/>
                </a:solidFill>
                <a:cs typeface="Arial" panose="020B0604020202020204" pitchFamily="34" charset="0"/>
              </a:rPr>
              <a:t>toString</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hashCode</a:t>
            </a:r>
            <a:r>
              <a:rPr lang="en-US" sz="2000" dirty="0">
                <a:solidFill>
                  <a:srgbClr val="0000FF"/>
                </a:solidFill>
                <a:cs typeface="Arial" panose="020B0604020202020204" pitchFamily="34" charset="0"/>
              </a:rPr>
              <a:t>() methods using </a:t>
            </a:r>
            <a:r>
              <a:rPr lang="en-US" sz="2000" dirty="0" err="1">
                <a:solidFill>
                  <a:srgbClr val="0000FF"/>
                </a:solidFill>
                <a:cs typeface="Arial" panose="020B0604020202020204" pitchFamily="34" charset="0"/>
              </a:rPr>
              <a:t>eid</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ename</a:t>
            </a:r>
            <a:r>
              <a:rPr lang="en-US" sz="2000" dirty="0">
                <a:solidFill>
                  <a:srgbClr val="0000FF"/>
                </a:solidFill>
                <a:cs typeface="Arial" panose="020B0604020202020204" pitchFamily="34" charset="0"/>
              </a:rPr>
              <a:t>, </a:t>
            </a:r>
            <a:r>
              <a:rPr lang="en-US" sz="2000" dirty="0" err="1">
                <a:solidFill>
                  <a:srgbClr val="0000FF"/>
                </a:solidFill>
                <a:cs typeface="Arial" panose="020B0604020202020204" pitchFamily="34" charset="0"/>
              </a:rPr>
              <a:t>sal</a:t>
            </a:r>
            <a:r>
              <a:rPr lang="en-US" sz="2000" dirty="0">
                <a:solidFill>
                  <a:srgbClr val="0000FF"/>
                </a:solidFill>
                <a:cs typeface="Arial" panose="020B0604020202020204" pitchFamily="34" charset="0"/>
              </a:rPr>
              <a:t> and </a:t>
            </a:r>
            <a:r>
              <a:rPr lang="en-US" sz="2000" dirty="0" err="1">
                <a:solidFill>
                  <a:srgbClr val="0000FF"/>
                </a:solidFill>
                <a:cs typeface="Arial" panose="020B0604020202020204" pitchFamily="34" charset="0"/>
              </a:rPr>
              <a:t>desig</a:t>
            </a:r>
            <a:r>
              <a:rPr lang="en-US" sz="2000" dirty="0">
                <a:solidFill>
                  <a:srgbClr val="0000FF"/>
                </a:solidFill>
                <a:cs typeface="Arial" panose="020B0604020202020204" pitchFamily="34" charset="0"/>
              </a:rPr>
              <a:t> variables.</a:t>
            </a:r>
          </a:p>
        </p:txBody>
      </p:sp>
      <p:sp>
        <p:nvSpPr>
          <p:cNvPr id="7" name="Footer Placeholder 6">
            <a:extLst>
              <a:ext uri="{FF2B5EF4-FFF2-40B4-BE49-F238E27FC236}">
                <a16:creationId xmlns:a16="http://schemas.microsoft.com/office/drawing/2014/main" id="{9EF8FB86-7FF6-9DDD-0B65-C7CC5279ECF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1821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6" name="TextBox 5">
            <a:extLst>
              <a:ext uri="{FF2B5EF4-FFF2-40B4-BE49-F238E27FC236}">
                <a16:creationId xmlns:a16="http://schemas.microsoft.com/office/drawing/2014/main" id="{11044E1F-6464-BF04-1E70-CE0B63180262}"/>
              </a:ext>
            </a:extLst>
          </p:cNvPr>
          <p:cNvSpPr txBox="1"/>
          <p:nvPr/>
        </p:nvSpPr>
        <p:spPr>
          <a:xfrm>
            <a:off x="864786" y="1564527"/>
            <a:ext cx="8610391" cy="2308324"/>
          </a:xfrm>
          <a:prstGeom prst="rect">
            <a:avLst/>
          </a:prstGeom>
          <a:noFill/>
        </p:spPr>
        <p:txBody>
          <a:bodyPr wrap="square" rtlCol="0">
            <a:spAutoFit/>
          </a:bodyPr>
          <a:lstStyle/>
          <a:p>
            <a:pPr marL="342900" indent="-342900" algn="just">
              <a:buFont typeface="Arial" panose="020B0604020202020204" pitchFamily="34" charset="0"/>
              <a:buChar char="•"/>
            </a:pPr>
            <a:r>
              <a:rPr lang="en-US" dirty="0">
                <a:solidFill>
                  <a:srgbClr val="0000FF"/>
                </a:solidFill>
                <a:cs typeface="Arial" panose="020B0604020202020204" pitchFamily="34" charset="0"/>
              </a:rPr>
              <a:t>Why every class need to override equals() method because if two objects of the same class want to compared then equals() method is used not ==.</a:t>
            </a:r>
          </a:p>
          <a:p>
            <a:pPr marL="342900" indent="-342900" algn="just">
              <a:buFont typeface="Arial" panose="020B0604020202020204" pitchFamily="34" charset="0"/>
              <a:buChar char="•"/>
            </a:pPr>
            <a:r>
              <a:rPr lang="en-US" dirty="0">
                <a:solidFill>
                  <a:srgbClr val="0000FF"/>
                </a:solidFill>
                <a:cs typeface="Arial" panose="020B0604020202020204" pitchFamily="34" charset="0"/>
              </a:rPr>
              <a:t>== operator compares address of object, == operator compares values of primitive members</a:t>
            </a:r>
          </a:p>
          <a:p>
            <a:pPr marL="800100" lvl="1" indent="-342900" algn="just">
              <a:buFont typeface="Arial" panose="020B0604020202020204" pitchFamily="34" charset="0"/>
              <a:buChar char="•"/>
            </a:pPr>
            <a:r>
              <a:rPr lang="en-US" dirty="0">
                <a:solidFill>
                  <a:srgbClr val="0000FF"/>
                </a:solidFill>
                <a:cs typeface="Arial" panose="020B0604020202020204" pitchFamily="34" charset="0"/>
              </a:rPr>
              <a:t>String str1=“Surya”; String str2=“</a:t>
            </a:r>
            <a:r>
              <a:rPr lang="en-US" dirty="0" err="1">
                <a:solidFill>
                  <a:srgbClr val="0000FF"/>
                </a:solidFill>
                <a:cs typeface="Arial" panose="020B0604020202020204" pitchFamily="34" charset="0"/>
              </a:rPr>
              <a:t>surya</a:t>
            </a:r>
            <a:r>
              <a:rPr lang="en-US" dirty="0">
                <a:solidFill>
                  <a:srgbClr val="0000FF"/>
                </a:solidFill>
                <a:cs typeface="Arial" panose="020B0604020202020204" pitchFamily="34" charset="0"/>
              </a:rPr>
              <a:t>”;</a:t>
            </a:r>
          </a:p>
          <a:p>
            <a:pPr marL="800100" lvl="1" indent="-342900" algn="just">
              <a:buFont typeface="Arial" panose="020B0604020202020204" pitchFamily="34" charset="0"/>
              <a:buChar char="•"/>
            </a:pPr>
            <a:r>
              <a:rPr lang="en-US" dirty="0">
                <a:solidFill>
                  <a:srgbClr val="0000FF"/>
                </a:solidFill>
                <a:cs typeface="Arial" panose="020B0604020202020204" pitchFamily="34" charset="0"/>
              </a:rPr>
              <a:t>if(str1.equals(str2)) {}</a:t>
            </a:r>
          </a:p>
          <a:p>
            <a:pPr marL="800100" lvl="1" indent="-342900" algn="just">
              <a:buFont typeface="Arial" panose="020B0604020202020204" pitchFamily="34" charset="0"/>
              <a:buChar char="•"/>
            </a:pPr>
            <a:r>
              <a:rPr lang="en-US" dirty="0">
                <a:solidFill>
                  <a:srgbClr val="0000FF"/>
                </a:solidFill>
                <a:cs typeface="Arial" panose="020B0604020202020204" pitchFamily="34" charset="0"/>
              </a:rPr>
              <a:t>if(emp1.equals(e2)) {}</a:t>
            </a:r>
          </a:p>
          <a:p>
            <a:pPr marL="800100" lvl="1" indent="-342900" algn="just">
              <a:buFont typeface="Arial" panose="020B0604020202020204" pitchFamily="34" charset="0"/>
              <a:buChar char="•"/>
            </a:pPr>
            <a:r>
              <a:rPr lang="en-US" dirty="0">
                <a:solidFill>
                  <a:srgbClr val="0000FF"/>
                </a:solidFill>
                <a:cs typeface="Arial" panose="020B0604020202020204" pitchFamily="34" charset="0"/>
              </a:rPr>
              <a:t>if(date1.equals(date2)) {}</a:t>
            </a:r>
          </a:p>
        </p:txBody>
      </p:sp>
      <p:sp>
        <p:nvSpPr>
          <p:cNvPr id="7" name="Footer Placeholder 6">
            <a:extLst>
              <a:ext uri="{FF2B5EF4-FFF2-40B4-BE49-F238E27FC236}">
                <a16:creationId xmlns:a16="http://schemas.microsoft.com/office/drawing/2014/main" id="{C01C052E-C9A4-B550-FA69-98F3A4F6A47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07642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9" name="TextBox 8">
            <a:extLst>
              <a:ext uri="{FF2B5EF4-FFF2-40B4-BE49-F238E27FC236}">
                <a16:creationId xmlns:a16="http://schemas.microsoft.com/office/drawing/2014/main" id="{25DB8D61-95F8-9B30-03FD-B18E251734BD}"/>
              </a:ext>
            </a:extLst>
          </p:cNvPr>
          <p:cNvSpPr txBox="1"/>
          <p:nvPr/>
        </p:nvSpPr>
        <p:spPr>
          <a:xfrm>
            <a:off x="877429" y="1468596"/>
            <a:ext cx="4568630" cy="4278094"/>
          </a:xfrm>
          <a:prstGeom prst="rect">
            <a:avLst/>
          </a:prstGeom>
          <a:noFill/>
          <a:ln w="9525">
            <a:noFill/>
          </a:ln>
        </p:spPr>
        <p:txBody>
          <a:bodyPr wrap="square" rtlCol="0">
            <a:spAutoFit/>
          </a:bodyPr>
          <a:lstStyle/>
          <a:p>
            <a:r>
              <a:rPr lang="en-US" sz="1600" dirty="0">
                <a:solidFill>
                  <a:srgbClr val="0000FF"/>
                </a:solidFill>
                <a:cs typeface="Arial" panose="020B0604020202020204" pitchFamily="34" charset="0"/>
              </a:rPr>
              <a:t>class Emp {</a:t>
            </a:r>
          </a:p>
          <a:p>
            <a:endParaRPr lang="en-US" sz="1600" dirty="0">
              <a:solidFill>
                <a:srgbClr val="0000FF"/>
              </a:solidFill>
              <a:cs typeface="Arial" panose="020B0604020202020204" pitchFamily="34" charset="0"/>
            </a:endParaRPr>
          </a:p>
          <a:p>
            <a:r>
              <a:rPr lang="en-US" sz="1600" dirty="0">
                <a:solidFill>
                  <a:srgbClr val="0000FF"/>
                </a:solidFill>
                <a:cs typeface="Arial" panose="020B0604020202020204" pitchFamily="34" charset="0"/>
              </a:rPr>
              <a:t>   int </a:t>
            </a:r>
            <a:r>
              <a:rPr lang="en-US" sz="1600" dirty="0" err="1">
                <a:solidFill>
                  <a:srgbClr val="0000FF"/>
                </a:solidFill>
                <a:cs typeface="Arial" panose="020B0604020202020204" pitchFamily="34" charset="0"/>
              </a:rPr>
              <a:t>eid</a:t>
            </a:r>
            <a:r>
              <a:rPr lang="en-US" sz="1600" dirty="0">
                <a:solidFill>
                  <a:srgbClr val="0000FF"/>
                </a:solidFill>
                <a:cs typeface="Arial" panose="020B0604020202020204" pitchFamily="34" charset="0"/>
              </a:rPr>
              <a:t>; String </a:t>
            </a:r>
            <a:r>
              <a:rPr lang="en-US" sz="1600" dirty="0" err="1">
                <a:solidFill>
                  <a:srgbClr val="0000FF"/>
                </a:solidFill>
                <a:cs typeface="Arial" panose="020B0604020202020204" pitchFamily="34" charset="0"/>
              </a:rPr>
              <a:t>ename</a:t>
            </a:r>
            <a:r>
              <a:rPr lang="en-US" sz="1600" dirty="0">
                <a:solidFill>
                  <a:srgbClr val="0000FF"/>
                </a:solidFill>
                <a:cs typeface="Arial" panose="020B0604020202020204" pitchFamily="34" charset="0"/>
              </a:rPr>
              <a:t>; double </a:t>
            </a:r>
            <a:r>
              <a:rPr lang="en-US" sz="1600" dirty="0" err="1">
                <a:solidFill>
                  <a:srgbClr val="0000FF"/>
                </a:solidFill>
                <a:cs typeface="Arial" panose="020B0604020202020204" pitchFamily="34" charset="0"/>
              </a:rPr>
              <a:t>sal</a:t>
            </a:r>
            <a:r>
              <a:rPr lang="en-US" sz="1600" dirty="0">
                <a:solidFill>
                  <a:srgbClr val="0000FF"/>
                </a:solidFill>
                <a:cs typeface="Arial" panose="020B0604020202020204" pitchFamily="34" charset="0"/>
              </a:rPr>
              <a:t>; String </a:t>
            </a:r>
            <a:r>
              <a:rPr lang="en-US" sz="1600" dirty="0" err="1">
                <a:solidFill>
                  <a:srgbClr val="0000FF"/>
                </a:solidFill>
                <a:cs typeface="Arial" panose="020B0604020202020204" pitchFamily="34" charset="0"/>
              </a:rPr>
              <a:t>desig</a:t>
            </a:r>
            <a:r>
              <a:rPr lang="en-US" sz="1600" dirty="0">
                <a:solidFill>
                  <a:srgbClr val="0000FF"/>
                </a:solidFill>
                <a:cs typeface="Arial" panose="020B0604020202020204" pitchFamily="34" charset="0"/>
              </a:rPr>
              <a:t>;</a:t>
            </a:r>
          </a:p>
          <a:p>
            <a:endParaRPr lang="en-US" sz="1600" dirty="0">
              <a:solidFill>
                <a:srgbClr val="0000FF"/>
              </a:solidFill>
              <a:cs typeface="Arial" panose="020B0604020202020204" pitchFamily="34" charset="0"/>
            </a:endParaRPr>
          </a:p>
          <a:p>
            <a:r>
              <a:rPr lang="en-US" sz="1600" dirty="0">
                <a:solidFill>
                  <a:srgbClr val="0000FF"/>
                </a:solidFill>
                <a:cs typeface="Arial" panose="020B0604020202020204" pitchFamily="34" charset="0"/>
              </a:rPr>
              <a:t>   public </a:t>
            </a:r>
            <a:r>
              <a:rPr lang="en-US" sz="1600" dirty="0" err="1">
                <a:solidFill>
                  <a:srgbClr val="0000FF"/>
                </a:solidFill>
                <a:cs typeface="Arial" panose="020B0604020202020204" pitchFamily="34" charset="0"/>
              </a:rPr>
              <a:t>boolean</a:t>
            </a:r>
            <a:r>
              <a:rPr lang="en-US" sz="1600" dirty="0">
                <a:solidFill>
                  <a:srgbClr val="0000FF"/>
                </a:solidFill>
                <a:cs typeface="Arial" panose="020B0604020202020204" pitchFamily="34" charset="0"/>
              </a:rPr>
              <a:t> equals(Object o) {</a:t>
            </a:r>
          </a:p>
          <a:p>
            <a:r>
              <a:rPr lang="en-US" sz="1600" dirty="0">
                <a:solidFill>
                  <a:srgbClr val="0000FF"/>
                </a:solidFill>
                <a:cs typeface="Arial" panose="020B0604020202020204" pitchFamily="34" charset="0"/>
              </a:rPr>
              <a:t>      </a:t>
            </a:r>
            <a:r>
              <a:rPr lang="en-US" sz="1600" dirty="0" err="1">
                <a:solidFill>
                  <a:srgbClr val="0000FF"/>
                </a:solidFill>
                <a:cs typeface="Arial" panose="020B0604020202020204" pitchFamily="34" charset="0"/>
              </a:rPr>
              <a:t>boolean</a:t>
            </a:r>
            <a:r>
              <a:rPr lang="en-US" sz="1600" dirty="0">
                <a:solidFill>
                  <a:srgbClr val="0000FF"/>
                </a:solidFill>
                <a:cs typeface="Arial" panose="020B0604020202020204" pitchFamily="34" charset="0"/>
              </a:rPr>
              <a:t> flag=false;</a:t>
            </a:r>
          </a:p>
          <a:p>
            <a:r>
              <a:rPr lang="en-US" sz="1600" dirty="0">
                <a:solidFill>
                  <a:srgbClr val="0000FF"/>
                </a:solidFill>
                <a:cs typeface="Arial" panose="020B0604020202020204" pitchFamily="34" charset="0"/>
              </a:rPr>
              <a:t>      if(o </a:t>
            </a:r>
            <a:r>
              <a:rPr lang="en-US" sz="1600" dirty="0" err="1">
                <a:solidFill>
                  <a:srgbClr val="0000FF"/>
                </a:solidFill>
                <a:cs typeface="Arial" panose="020B0604020202020204" pitchFamily="34" charset="0"/>
              </a:rPr>
              <a:t>instanceof</a:t>
            </a:r>
            <a:r>
              <a:rPr lang="en-US" sz="1600" dirty="0">
                <a:solidFill>
                  <a:srgbClr val="0000FF"/>
                </a:solidFill>
                <a:cs typeface="Arial" panose="020B0604020202020204" pitchFamily="34" charset="0"/>
              </a:rPr>
              <a:t> Emp) {</a:t>
            </a:r>
          </a:p>
          <a:p>
            <a:r>
              <a:rPr lang="en-US" sz="1600" dirty="0">
                <a:solidFill>
                  <a:srgbClr val="0000FF"/>
                </a:solidFill>
                <a:cs typeface="Arial" panose="020B0604020202020204" pitchFamily="34" charset="0"/>
              </a:rPr>
              <a:t>         Emp e1=(Emp)o;</a:t>
            </a:r>
          </a:p>
          <a:p>
            <a:r>
              <a:rPr lang="en-US" sz="1600" dirty="0">
                <a:solidFill>
                  <a:srgbClr val="0000FF"/>
                </a:solidFill>
                <a:cs typeface="Arial" panose="020B0604020202020204" pitchFamily="34" charset="0"/>
              </a:rPr>
              <a:t>         if(</a:t>
            </a:r>
            <a:r>
              <a:rPr lang="en-US" sz="1600" dirty="0" err="1">
                <a:solidFill>
                  <a:srgbClr val="0000FF"/>
                </a:solidFill>
                <a:cs typeface="Arial" panose="020B0604020202020204" pitchFamily="34" charset="0"/>
              </a:rPr>
              <a:t>this.eid</a:t>
            </a:r>
            <a:r>
              <a:rPr lang="en-US" sz="1600" dirty="0">
                <a:solidFill>
                  <a:srgbClr val="0000FF"/>
                </a:solidFill>
                <a:cs typeface="Arial" panose="020B0604020202020204" pitchFamily="34" charset="0"/>
              </a:rPr>
              <a:t>==e1.getEid() &amp;&amp; </a:t>
            </a:r>
            <a:r>
              <a:rPr lang="en-US" sz="1600" dirty="0" err="1">
                <a:solidFill>
                  <a:srgbClr val="0000FF"/>
                </a:solidFill>
                <a:cs typeface="Arial" panose="020B0604020202020204" pitchFamily="34" charset="0"/>
              </a:rPr>
              <a:t>this.ename.equals</a:t>
            </a:r>
            <a:r>
              <a:rPr lang="en-US" sz="1600" dirty="0">
                <a:solidFill>
                  <a:srgbClr val="0000FF"/>
                </a:solidFill>
                <a:cs typeface="Arial" panose="020B0604020202020204" pitchFamily="34" charset="0"/>
              </a:rPr>
              <a:t>(e1.getEname()) &amp;&amp; </a:t>
            </a:r>
            <a:r>
              <a:rPr lang="en-US" sz="1600" dirty="0" err="1">
                <a:solidFill>
                  <a:srgbClr val="0000FF"/>
                </a:solidFill>
                <a:cs typeface="Arial" panose="020B0604020202020204" pitchFamily="34" charset="0"/>
              </a:rPr>
              <a:t>this.sal</a:t>
            </a:r>
            <a:r>
              <a:rPr lang="en-US" sz="1600" dirty="0">
                <a:solidFill>
                  <a:srgbClr val="0000FF"/>
                </a:solidFill>
                <a:cs typeface="Arial" panose="020B0604020202020204" pitchFamily="34" charset="0"/>
              </a:rPr>
              <a:t>==e1.getSal() &amp;&amp; </a:t>
            </a:r>
            <a:r>
              <a:rPr lang="en-US" sz="1600" dirty="0" err="1">
                <a:solidFill>
                  <a:srgbClr val="0000FF"/>
                </a:solidFill>
                <a:cs typeface="Arial" panose="020B0604020202020204" pitchFamily="34" charset="0"/>
              </a:rPr>
              <a:t>this.desig.equals</a:t>
            </a:r>
            <a:r>
              <a:rPr lang="en-US" sz="1600" dirty="0">
                <a:solidFill>
                  <a:srgbClr val="0000FF"/>
                </a:solidFill>
                <a:cs typeface="Arial" panose="020B0604020202020204" pitchFamily="34" charset="0"/>
              </a:rPr>
              <a:t>(e1.getDesig()) {</a:t>
            </a:r>
          </a:p>
          <a:p>
            <a:r>
              <a:rPr lang="en-US" sz="1600" dirty="0">
                <a:solidFill>
                  <a:srgbClr val="0000FF"/>
                </a:solidFill>
                <a:cs typeface="Arial" panose="020B0604020202020204" pitchFamily="34" charset="0"/>
              </a:rPr>
              <a:t>            flag=true;</a:t>
            </a:r>
          </a:p>
          <a:p>
            <a:r>
              <a:rPr lang="en-US" sz="1600" dirty="0">
                <a:solidFill>
                  <a:srgbClr val="0000FF"/>
                </a:solidFill>
                <a:cs typeface="Arial" panose="020B0604020202020204" pitchFamily="34" charset="0"/>
              </a:rPr>
              <a:t>         }</a:t>
            </a:r>
          </a:p>
          <a:p>
            <a:r>
              <a:rPr lang="en-US" sz="1600" dirty="0">
                <a:solidFill>
                  <a:srgbClr val="0000FF"/>
                </a:solidFill>
                <a:cs typeface="Arial" panose="020B0604020202020204" pitchFamily="34" charset="0"/>
              </a:rPr>
              <a:t>      }</a:t>
            </a:r>
          </a:p>
          <a:p>
            <a:r>
              <a:rPr lang="en-US" sz="1600" dirty="0">
                <a:solidFill>
                  <a:srgbClr val="0000FF"/>
                </a:solidFill>
                <a:cs typeface="Arial" panose="020B0604020202020204" pitchFamily="34" charset="0"/>
              </a:rPr>
              <a:t>      return flag;</a:t>
            </a:r>
          </a:p>
          <a:p>
            <a:r>
              <a:rPr lang="en-US" sz="1600" dirty="0">
                <a:solidFill>
                  <a:srgbClr val="0000FF"/>
                </a:solidFill>
                <a:cs typeface="Arial" panose="020B0604020202020204" pitchFamily="34" charset="0"/>
              </a:rPr>
              <a:t>   }</a:t>
            </a:r>
          </a:p>
        </p:txBody>
      </p:sp>
      <p:sp>
        <p:nvSpPr>
          <p:cNvPr id="10" name="TextBox 9">
            <a:extLst>
              <a:ext uri="{FF2B5EF4-FFF2-40B4-BE49-F238E27FC236}">
                <a16:creationId xmlns:a16="http://schemas.microsoft.com/office/drawing/2014/main" id="{3F251C1B-7E67-617F-9368-9D31BF9A3266}"/>
              </a:ext>
            </a:extLst>
          </p:cNvPr>
          <p:cNvSpPr txBox="1"/>
          <p:nvPr/>
        </p:nvSpPr>
        <p:spPr>
          <a:xfrm>
            <a:off x="5066390" y="1111310"/>
            <a:ext cx="5027350" cy="5262979"/>
          </a:xfrm>
          <a:prstGeom prst="rect">
            <a:avLst/>
          </a:prstGeom>
          <a:noFill/>
        </p:spPr>
        <p:txBody>
          <a:bodyPr wrap="square">
            <a:spAutoFit/>
          </a:bodyPr>
          <a:lstStyle/>
          <a:p>
            <a:r>
              <a:rPr lang="en-IN" sz="1600" dirty="0">
                <a:solidFill>
                  <a:srgbClr val="0000FF"/>
                </a:solidFill>
              </a:rPr>
              <a:t>public String </a:t>
            </a:r>
            <a:r>
              <a:rPr lang="en-IN" sz="1600" dirty="0" err="1">
                <a:solidFill>
                  <a:srgbClr val="0000FF"/>
                </a:solidFill>
              </a:rPr>
              <a:t>toString</a:t>
            </a:r>
            <a:r>
              <a:rPr lang="en-IN" sz="1600" dirty="0">
                <a:solidFill>
                  <a:srgbClr val="0000FF"/>
                </a:solidFill>
              </a:rPr>
              <a:t>() {</a:t>
            </a:r>
          </a:p>
          <a:p>
            <a:r>
              <a:rPr lang="en-IN" sz="1600" dirty="0">
                <a:solidFill>
                  <a:srgbClr val="0000FF"/>
                </a:solidFill>
              </a:rPr>
              <a:t>   return </a:t>
            </a:r>
            <a:r>
              <a:rPr lang="en-IN" sz="1600" dirty="0" err="1">
                <a:solidFill>
                  <a:srgbClr val="0000FF"/>
                </a:solidFill>
              </a:rPr>
              <a:t>sid</a:t>
            </a:r>
            <a:r>
              <a:rPr lang="en-IN" sz="1600" dirty="0">
                <a:solidFill>
                  <a:srgbClr val="0000FF"/>
                </a:solidFill>
              </a:rPr>
              <a:t>+" "+</a:t>
            </a:r>
            <a:r>
              <a:rPr lang="en-IN" sz="1600" dirty="0" err="1">
                <a:solidFill>
                  <a:srgbClr val="0000FF"/>
                </a:solidFill>
              </a:rPr>
              <a:t>sname</a:t>
            </a:r>
            <a:r>
              <a:rPr lang="en-IN" sz="1600" dirty="0">
                <a:solidFill>
                  <a:srgbClr val="0000FF"/>
                </a:solidFill>
              </a:rPr>
              <a:t>+" "+email+" "+mobile+" "+course;</a:t>
            </a:r>
          </a:p>
          <a:p>
            <a:r>
              <a:rPr lang="en-IN" sz="1600" dirty="0">
                <a:solidFill>
                  <a:srgbClr val="0000FF"/>
                </a:solidFill>
              </a:rPr>
              <a:t>}</a:t>
            </a:r>
          </a:p>
          <a:p>
            <a:r>
              <a:rPr lang="en-IN" sz="1600" dirty="0">
                <a:solidFill>
                  <a:srgbClr val="0000FF"/>
                </a:solidFill>
              </a:rPr>
              <a:t>		</a:t>
            </a:r>
          </a:p>
          <a:p>
            <a:r>
              <a:rPr lang="en-IN" sz="1600" dirty="0">
                <a:solidFill>
                  <a:srgbClr val="0000FF"/>
                </a:solidFill>
              </a:rPr>
              <a:t>public int </a:t>
            </a:r>
            <a:r>
              <a:rPr lang="en-IN" sz="1600" dirty="0" err="1">
                <a:solidFill>
                  <a:srgbClr val="0000FF"/>
                </a:solidFill>
              </a:rPr>
              <a:t>hashCode</a:t>
            </a:r>
            <a:r>
              <a:rPr lang="en-IN" sz="1600" dirty="0">
                <a:solidFill>
                  <a:srgbClr val="0000FF"/>
                </a:solidFill>
              </a:rPr>
              <a:t>() {</a:t>
            </a:r>
          </a:p>
          <a:p>
            <a:r>
              <a:rPr lang="en-IN" sz="1600" dirty="0">
                <a:solidFill>
                  <a:srgbClr val="0000FF"/>
                </a:solidFill>
              </a:rPr>
              <a:t>   return </a:t>
            </a:r>
            <a:r>
              <a:rPr lang="en-IN" sz="1600" dirty="0" err="1">
                <a:solidFill>
                  <a:srgbClr val="0000FF"/>
                </a:solidFill>
              </a:rPr>
              <a:t>toString</a:t>
            </a:r>
            <a:r>
              <a:rPr lang="en-IN" sz="1600" dirty="0">
                <a:solidFill>
                  <a:srgbClr val="0000FF"/>
                </a:solidFill>
              </a:rPr>
              <a:t>().</a:t>
            </a:r>
            <a:r>
              <a:rPr lang="en-IN" sz="1600" dirty="0" err="1">
                <a:solidFill>
                  <a:srgbClr val="0000FF"/>
                </a:solidFill>
              </a:rPr>
              <a:t>hashCode</a:t>
            </a:r>
            <a:r>
              <a:rPr lang="en-IN" sz="1600" dirty="0">
                <a:solidFill>
                  <a:srgbClr val="0000FF"/>
                </a:solidFill>
              </a:rPr>
              <a:t>();</a:t>
            </a:r>
          </a:p>
          <a:p>
            <a:r>
              <a:rPr lang="en-IN" sz="1600" dirty="0">
                <a:solidFill>
                  <a:srgbClr val="0000FF"/>
                </a:solidFill>
              </a:rPr>
              <a:t>}</a:t>
            </a:r>
          </a:p>
          <a:p>
            <a:r>
              <a:rPr lang="en-IN" sz="1600" dirty="0">
                <a:solidFill>
                  <a:srgbClr val="0000FF"/>
                </a:solidFill>
              </a:rPr>
              <a:t>		</a:t>
            </a:r>
          </a:p>
          <a:p>
            <a:r>
              <a:rPr lang="en-IN" sz="1600" dirty="0">
                <a:solidFill>
                  <a:srgbClr val="0000FF"/>
                </a:solidFill>
              </a:rPr>
              <a:t>public Object clone() {</a:t>
            </a:r>
          </a:p>
          <a:p>
            <a:r>
              <a:rPr lang="en-IN" sz="1600" dirty="0">
                <a:solidFill>
                  <a:srgbClr val="0000FF"/>
                </a:solidFill>
              </a:rPr>
              <a:t>   </a:t>
            </a:r>
          </a:p>
          <a:p>
            <a:r>
              <a:rPr lang="en-IN" sz="1600" dirty="0">
                <a:solidFill>
                  <a:srgbClr val="0000FF"/>
                </a:solidFill>
              </a:rPr>
              <a:t>   // shallow cloning</a:t>
            </a:r>
          </a:p>
          <a:p>
            <a:r>
              <a:rPr lang="en-IN" sz="1600" dirty="0">
                <a:solidFill>
                  <a:srgbClr val="0000FF"/>
                </a:solidFill>
              </a:rPr>
              <a:t>   // return this;</a:t>
            </a:r>
          </a:p>
          <a:p>
            <a:r>
              <a:rPr lang="en-IN" sz="1600" dirty="0">
                <a:solidFill>
                  <a:srgbClr val="0000FF"/>
                </a:solidFill>
              </a:rPr>
              <a:t>			</a:t>
            </a:r>
          </a:p>
          <a:p>
            <a:r>
              <a:rPr lang="en-IN" sz="1600" dirty="0">
                <a:solidFill>
                  <a:srgbClr val="0000FF"/>
                </a:solidFill>
              </a:rPr>
              <a:t>   // deep cloning</a:t>
            </a:r>
          </a:p>
          <a:p>
            <a:r>
              <a:rPr lang="en-IN" sz="1600" dirty="0">
                <a:solidFill>
                  <a:srgbClr val="0000FF"/>
                </a:solidFill>
              </a:rPr>
              <a:t>   Emp e1=new Emp();</a:t>
            </a:r>
          </a:p>
          <a:p>
            <a:r>
              <a:rPr lang="en-IN" sz="1600" dirty="0">
                <a:solidFill>
                  <a:srgbClr val="0000FF"/>
                </a:solidFill>
              </a:rPr>
              <a:t>   e1.setEid(</a:t>
            </a:r>
            <a:r>
              <a:rPr lang="en-IN" sz="1600" dirty="0" err="1">
                <a:solidFill>
                  <a:srgbClr val="0000FF"/>
                </a:solidFill>
              </a:rPr>
              <a:t>this.eid</a:t>
            </a:r>
            <a:r>
              <a:rPr lang="en-IN" sz="1600" dirty="0">
                <a:solidFill>
                  <a:srgbClr val="0000FF"/>
                </a:solidFill>
              </a:rPr>
              <a:t>);</a:t>
            </a:r>
          </a:p>
          <a:p>
            <a:r>
              <a:rPr lang="en-IN" sz="1600" dirty="0">
                <a:solidFill>
                  <a:srgbClr val="0000FF"/>
                </a:solidFill>
              </a:rPr>
              <a:t>   e1.setEname(</a:t>
            </a:r>
            <a:r>
              <a:rPr lang="en-IN" sz="1600" dirty="0" err="1">
                <a:solidFill>
                  <a:srgbClr val="0000FF"/>
                </a:solidFill>
              </a:rPr>
              <a:t>this.ename</a:t>
            </a:r>
            <a:r>
              <a:rPr lang="en-IN" sz="1600" dirty="0">
                <a:solidFill>
                  <a:srgbClr val="0000FF"/>
                </a:solidFill>
              </a:rPr>
              <a:t>);</a:t>
            </a:r>
          </a:p>
          <a:p>
            <a:r>
              <a:rPr lang="en-IN" sz="1600" dirty="0">
                <a:solidFill>
                  <a:srgbClr val="0000FF"/>
                </a:solidFill>
              </a:rPr>
              <a:t>   e1.setSal(</a:t>
            </a:r>
            <a:r>
              <a:rPr lang="en-IN" sz="1600" dirty="0" err="1">
                <a:solidFill>
                  <a:srgbClr val="0000FF"/>
                </a:solidFill>
              </a:rPr>
              <a:t>this.sal</a:t>
            </a:r>
            <a:r>
              <a:rPr lang="en-IN" sz="1600" dirty="0">
                <a:solidFill>
                  <a:srgbClr val="0000FF"/>
                </a:solidFill>
              </a:rPr>
              <a:t>);</a:t>
            </a:r>
          </a:p>
          <a:p>
            <a:r>
              <a:rPr lang="en-IN" sz="1600" dirty="0">
                <a:solidFill>
                  <a:srgbClr val="0000FF"/>
                </a:solidFill>
              </a:rPr>
              <a:t>   e1.setDesig(</a:t>
            </a:r>
            <a:r>
              <a:rPr lang="en-IN" sz="1600" dirty="0" err="1">
                <a:solidFill>
                  <a:srgbClr val="0000FF"/>
                </a:solidFill>
              </a:rPr>
              <a:t>this.desig</a:t>
            </a:r>
            <a:r>
              <a:rPr lang="en-IN" sz="1600" dirty="0">
                <a:solidFill>
                  <a:srgbClr val="0000FF"/>
                </a:solidFill>
              </a:rPr>
              <a:t>);</a:t>
            </a:r>
          </a:p>
          <a:p>
            <a:r>
              <a:rPr lang="en-IN" sz="1600" dirty="0">
                <a:solidFill>
                  <a:srgbClr val="0000FF"/>
                </a:solidFill>
              </a:rPr>
              <a:t>   return e1;</a:t>
            </a:r>
          </a:p>
          <a:p>
            <a:r>
              <a:rPr lang="en-IN" sz="1600" dirty="0">
                <a:solidFill>
                  <a:srgbClr val="0000FF"/>
                </a:solidFill>
              </a:rPr>
              <a:t>} 	</a:t>
            </a:r>
          </a:p>
        </p:txBody>
      </p:sp>
      <p:sp>
        <p:nvSpPr>
          <p:cNvPr id="12" name="TextBox 11">
            <a:extLst>
              <a:ext uri="{FF2B5EF4-FFF2-40B4-BE49-F238E27FC236}">
                <a16:creationId xmlns:a16="http://schemas.microsoft.com/office/drawing/2014/main" id="{4836B97C-F77A-AA64-644B-268AE6FD095C}"/>
              </a:ext>
            </a:extLst>
          </p:cNvPr>
          <p:cNvSpPr txBox="1"/>
          <p:nvPr/>
        </p:nvSpPr>
        <p:spPr>
          <a:xfrm>
            <a:off x="8123354" y="1904921"/>
            <a:ext cx="2649586" cy="1815882"/>
          </a:xfrm>
          <a:prstGeom prst="rect">
            <a:avLst/>
          </a:prstGeom>
          <a:noFill/>
        </p:spPr>
        <p:txBody>
          <a:bodyPr wrap="square">
            <a:spAutoFit/>
          </a:bodyPr>
          <a:lstStyle/>
          <a:p>
            <a:r>
              <a:rPr lang="en-IN" sz="1600" dirty="0">
                <a:solidFill>
                  <a:srgbClr val="0000FF"/>
                </a:solidFill>
              </a:rPr>
              <a:t>  public void finalize() {</a:t>
            </a:r>
          </a:p>
          <a:p>
            <a:r>
              <a:rPr lang="en-IN" sz="1600" dirty="0">
                <a:solidFill>
                  <a:srgbClr val="0000FF"/>
                </a:solidFill>
              </a:rPr>
              <a:t>     </a:t>
            </a:r>
            <a:r>
              <a:rPr lang="en-IN" sz="1600" dirty="0" err="1">
                <a:solidFill>
                  <a:srgbClr val="0000FF"/>
                </a:solidFill>
              </a:rPr>
              <a:t>this.eid</a:t>
            </a:r>
            <a:r>
              <a:rPr lang="en-IN" sz="1600" dirty="0">
                <a:solidFill>
                  <a:srgbClr val="0000FF"/>
                </a:solidFill>
              </a:rPr>
              <a:t>=0;</a:t>
            </a:r>
          </a:p>
          <a:p>
            <a:r>
              <a:rPr lang="en-IN" sz="1600" dirty="0">
                <a:solidFill>
                  <a:srgbClr val="0000FF"/>
                </a:solidFill>
              </a:rPr>
              <a:t>     </a:t>
            </a:r>
            <a:r>
              <a:rPr lang="en-IN" sz="1600" dirty="0" err="1">
                <a:solidFill>
                  <a:srgbClr val="0000FF"/>
                </a:solidFill>
              </a:rPr>
              <a:t>this.ename</a:t>
            </a:r>
            <a:r>
              <a:rPr lang="en-IN" sz="1600" dirty="0">
                <a:solidFill>
                  <a:srgbClr val="0000FF"/>
                </a:solidFill>
              </a:rPr>
              <a:t>=null;</a:t>
            </a:r>
          </a:p>
          <a:p>
            <a:r>
              <a:rPr lang="en-IN" sz="1600" dirty="0">
                <a:solidFill>
                  <a:srgbClr val="0000FF"/>
                </a:solidFill>
              </a:rPr>
              <a:t>     </a:t>
            </a:r>
            <a:r>
              <a:rPr lang="en-IN" sz="1600" dirty="0" err="1">
                <a:solidFill>
                  <a:srgbClr val="0000FF"/>
                </a:solidFill>
              </a:rPr>
              <a:t>this.sal</a:t>
            </a:r>
            <a:r>
              <a:rPr lang="en-IN" sz="1600" dirty="0">
                <a:solidFill>
                  <a:srgbClr val="0000FF"/>
                </a:solidFill>
              </a:rPr>
              <a:t>=0.0;</a:t>
            </a:r>
          </a:p>
          <a:p>
            <a:r>
              <a:rPr lang="en-IN" sz="1600" dirty="0">
                <a:solidFill>
                  <a:srgbClr val="0000FF"/>
                </a:solidFill>
              </a:rPr>
              <a:t>     </a:t>
            </a:r>
            <a:r>
              <a:rPr lang="en-IN" sz="1600" dirty="0" err="1">
                <a:solidFill>
                  <a:srgbClr val="0000FF"/>
                </a:solidFill>
              </a:rPr>
              <a:t>this.desig</a:t>
            </a:r>
            <a:r>
              <a:rPr lang="en-IN" sz="1600" dirty="0">
                <a:solidFill>
                  <a:srgbClr val="0000FF"/>
                </a:solidFill>
              </a:rPr>
              <a:t>=null;</a:t>
            </a:r>
          </a:p>
          <a:p>
            <a:r>
              <a:rPr lang="en-IN" sz="1600" dirty="0">
                <a:solidFill>
                  <a:srgbClr val="0000FF"/>
                </a:solidFill>
              </a:rPr>
              <a:t>  }</a:t>
            </a:r>
          </a:p>
          <a:p>
            <a:r>
              <a:rPr lang="en-IN" sz="1600" dirty="0">
                <a:solidFill>
                  <a:srgbClr val="0000FF"/>
                </a:solidFill>
              </a:rPr>
              <a:t>}</a:t>
            </a:r>
          </a:p>
        </p:txBody>
      </p:sp>
      <p:sp>
        <p:nvSpPr>
          <p:cNvPr id="14" name="TextBox 13">
            <a:extLst>
              <a:ext uri="{FF2B5EF4-FFF2-40B4-BE49-F238E27FC236}">
                <a16:creationId xmlns:a16="http://schemas.microsoft.com/office/drawing/2014/main" id="{480B81A0-1483-D074-7789-F2671AC471BD}"/>
              </a:ext>
            </a:extLst>
          </p:cNvPr>
          <p:cNvSpPr txBox="1"/>
          <p:nvPr/>
        </p:nvSpPr>
        <p:spPr>
          <a:xfrm>
            <a:off x="1316517" y="6398072"/>
            <a:ext cx="7949403" cy="338554"/>
          </a:xfrm>
          <a:prstGeom prst="rect">
            <a:avLst/>
          </a:prstGeom>
          <a:noFill/>
        </p:spPr>
        <p:txBody>
          <a:bodyPr wrap="square">
            <a:spAutoFit/>
          </a:bodyPr>
          <a:lstStyle/>
          <a:p>
            <a:r>
              <a:rPr lang="en-IN" sz="1600" dirty="0">
                <a:solidFill>
                  <a:srgbClr val="0000FF"/>
                </a:solidFill>
              </a:rPr>
              <a:t>wait(), notify() and </a:t>
            </a:r>
            <a:r>
              <a:rPr lang="en-IN" sz="1600" dirty="0" err="1">
                <a:solidFill>
                  <a:srgbClr val="0000FF"/>
                </a:solidFill>
              </a:rPr>
              <a:t>notifyAll</a:t>
            </a:r>
            <a:r>
              <a:rPr lang="en-IN" sz="1600" dirty="0">
                <a:solidFill>
                  <a:srgbClr val="0000FF"/>
                </a:solidFill>
              </a:rPr>
              <a:t>() methods are used in method &amp; object synchronization.</a:t>
            </a:r>
          </a:p>
        </p:txBody>
      </p:sp>
      <p:sp>
        <p:nvSpPr>
          <p:cNvPr id="6" name="Footer Placeholder 5">
            <a:extLst>
              <a:ext uri="{FF2B5EF4-FFF2-40B4-BE49-F238E27FC236}">
                <a16:creationId xmlns:a16="http://schemas.microsoft.com/office/drawing/2014/main" id="{81E3C6F0-40C2-1829-BE43-4113129FD14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68341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544560"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Object</a:t>
            </a:r>
          </a:p>
        </p:txBody>
      </p:sp>
      <p:sp>
        <p:nvSpPr>
          <p:cNvPr id="14" name="TextBox 13">
            <a:extLst>
              <a:ext uri="{FF2B5EF4-FFF2-40B4-BE49-F238E27FC236}">
                <a16:creationId xmlns:a16="http://schemas.microsoft.com/office/drawing/2014/main" id="{480B81A0-1483-D074-7789-F2671AC471BD}"/>
              </a:ext>
            </a:extLst>
          </p:cNvPr>
          <p:cNvSpPr txBox="1"/>
          <p:nvPr/>
        </p:nvSpPr>
        <p:spPr>
          <a:xfrm>
            <a:off x="1329964" y="1577201"/>
            <a:ext cx="7949403" cy="2862322"/>
          </a:xfrm>
          <a:prstGeom prst="rect">
            <a:avLst/>
          </a:prstGeom>
          <a:noFill/>
        </p:spPr>
        <p:txBody>
          <a:bodyPr wrap="square">
            <a:spAutoFit/>
          </a:bodyPr>
          <a:lstStyle/>
          <a:p>
            <a:pPr algn="just"/>
            <a:r>
              <a:rPr lang="en-IN" dirty="0">
                <a:solidFill>
                  <a:srgbClr val="0000FF"/>
                </a:solidFill>
              </a:rPr>
              <a:t>public Class </a:t>
            </a:r>
            <a:r>
              <a:rPr lang="en-IN" dirty="0" err="1">
                <a:solidFill>
                  <a:srgbClr val="0000FF"/>
                </a:solidFill>
              </a:rPr>
              <a:t>getClass</a:t>
            </a:r>
            <a:r>
              <a:rPr lang="en-IN" dirty="0">
                <a:solidFill>
                  <a:srgbClr val="0000FF"/>
                </a:solidFill>
              </a:rPr>
              <a:t>()</a:t>
            </a:r>
          </a:p>
          <a:p>
            <a:pPr algn="just"/>
            <a:r>
              <a:rPr lang="en-IN" dirty="0">
                <a:solidFill>
                  <a:srgbClr val="0000FF"/>
                </a:solidFill>
              </a:rPr>
              <a:t>	</a:t>
            </a:r>
            <a:r>
              <a:rPr lang="en-IN" dirty="0" err="1">
                <a:solidFill>
                  <a:srgbClr val="0000FF"/>
                </a:solidFill>
              </a:rPr>
              <a:t>getClass</a:t>
            </a:r>
            <a:r>
              <a:rPr lang="en-IN" dirty="0">
                <a:solidFill>
                  <a:srgbClr val="0000FF"/>
                </a:solidFill>
              </a:rPr>
              <a:t>() method is used for two purposes:</a:t>
            </a:r>
          </a:p>
          <a:p>
            <a:pPr algn="just"/>
            <a:r>
              <a:rPr lang="en-IN" dirty="0">
                <a:solidFill>
                  <a:srgbClr val="0000FF"/>
                </a:solidFill>
              </a:rPr>
              <a:t>	</a:t>
            </a:r>
            <a:r>
              <a:rPr lang="en-IN" dirty="0" err="1">
                <a:solidFill>
                  <a:srgbClr val="0000FF"/>
                </a:solidFill>
              </a:rPr>
              <a:t>i</a:t>
            </a:r>
            <a:r>
              <a:rPr lang="en-IN" dirty="0">
                <a:solidFill>
                  <a:srgbClr val="0000FF"/>
                </a:solidFill>
              </a:rPr>
              <a:t>) to retrieve the class name for ex: e1.getClass().</a:t>
            </a:r>
            <a:r>
              <a:rPr lang="en-IN" dirty="0" err="1">
                <a:solidFill>
                  <a:srgbClr val="0000FF"/>
                </a:solidFill>
              </a:rPr>
              <a:t>getName</a:t>
            </a:r>
            <a:r>
              <a:rPr lang="en-IN" dirty="0">
                <a:solidFill>
                  <a:srgbClr val="0000FF"/>
                </a:solidFill>
              </a:rPr>
              <a:t>()</a:t>
            </a:r>
          </a:p>
          <a:p>
            <a:pPr algn="just"/>
            <a:r>
              <a:rPr lang="en-IN" dirty="0">
                <a:solidFill>
                  <a:srgbClr val="0000FF"/>
                </a:solidFill>
              </a:rPr>
              <a:t>	ii) to introspect the Class</a:t>
            </a:r>
          </a:p>
          <a:p>
            <a:pPr algn="just"/>
            <a:endParaRPr lang="en-US" dirty="0">
              <a:solidFill>
                <a:srgbClr val="0000FF"/>
              </a:solidFill>
            </a:endParaRPr>
          </a:p>
          <a:p>
            <a:pPr algn="just"/>
            <a:r>
              <a:rPr lang="en-US" dirty="0">
                <a:solidFill>
                  <a:srgbClr val="0000FF"/>
                </a:solidFill>
              </a:rPr>
              <a:t>Introspection is a method to retrieve the details of a class, its super class, super interfaces, variables, constructors and methods exist in the class. At runtime whatever class name we give to Class object using </a:t>
            </a:r>
          </a:p>
          <a:p>
            <a:pPr algn="just"/>
            <a:endParaRPr lang="en-US" dirty="0">
              <a:solidFill>
                <a:srgbClr val="0000FF"/>
              </a:solidFill>
            </a:endParaRPr>
          </a:p>
          <a:p>
            <a:pPr algn="just"/>
            <a:r>
              <a:rPr lang="en-US" dirty="0">
                <a:solidFill>
                  <a:srgbClr val="0000FF"/>
                </a:solidFill>
              </a:rPr>
              <a:t>Class c=</a:t>
            </a:r>
            <a:r>
              <a:rPr lang="en-US" dirty="0" err="1">
                <a:solidFill>
                  <a:srgbClr val="0000FF"/>
                </a:solidFill>
              </a:rPr>
              <a:t>Class.forName</a:t>
            </a:r>
            <a:r>
              <a:rPr lang="en-US" dirty="0">
                <a:solidFill>
                  <a:srgbClr val="0000FF"/>
                </a:solidFill>
              </a:rPr>
              <a:t>(rags[0]); // pass fully qualified class name of the class</a:t>
            </a:r>
          </a:p>
        </p:txBody>
      </p:sp>
      <p:sp>
        <p:nvSpPr>
          <p:cNvPr id="6" name="Footer Placeholder 5">
            <a:extLst>
              <a:ext uri="{FF2B5EF4-FFF2-40B4-BE49-F238E27FC236}">
                <a16:creationId xmlns:a16="http://schemas.microsoft.com/office/drawing/2014/main" id="{2B29C9C0-516E-1A9C-8B18-1B26C648EBC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88700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246402"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a:t>
            </a:r>
            <a:r>
              <a:rPr lang="en-US" sz="3600" b="1" dirty="0" err="1">
                <a:solidFill>
                  <a:srgbClr val="0000FF"/>
                </a:solidFill>
                <a:latin typeface="+mj-lt"/>
                <a:cs typeface="Arial" panose="020B0604020202020204" pitchFamily="34" charset="0"/>
              </a:rPr>
              <a:t>Class</a:t>
            </a:r>
            <a:endParaRPr lang="en-US" sz="3600" b="1" dirty="0">
              <a:solidFill>
                <a:srgbClr val="0000FF"/>
              </a:solidFill>
              <a:latin typeface="+mj-lt"/>
              <a:cs typeface="Arial" panose="020B0604020202020204" pitchFamily="34" charset="0"/>
            </a:endParaRPr>
          </a:p>
        </p:txBody>
      </p:sp>
      <p:sp>
        <p:nvSpPr>
          <p:cNvPr id="14" name="TextBox 13">
            <a:extLst>
              <a:ext uri="{FF2B5EF4-FFF2-40B4-BE49-F238E27FC236}">
                <a16:creationId xmlns:a16="http://schemas.microsoft.com/office/drawing/2014/main" id="{480B81A0-1483-D074-7789-F2671AC471BD}"/>
              </a:ext>
            </a:extLst>
          </p:cNvPr>
          <p:cNvSpPr txBox="1"/>
          <p:nvPr/>
        </p:nvSpPr>
        <p:spPr>
          <a:xfrm>
            <a:off x="1329964" y="1577201"/>
            <a:ext cx="7949403" cy="2585323"/>
          </a:xfrm>
          <a:prstGeom prst="rect">
            <a:avLst/>
          </a:prstGeom>
          <a:noFill/>
        </p:spPr>
        <p:txBody>
          <a:bodyPr wrap="square">
            <a:spAutoFit/>
          </a:bodyPr>
          <a:lstStyle/>
          <a:p>
            <a:pPr algn="just"/>
            <a:r>
              <a:rPr lang="en-US" dirty="0">
                <a:solidFill>
                  <a:srgbClr val="0000FF"/>
                </a:solidFill>
              </a:rPr>
              <a:t>The class </a:t>
            </a:r>
            <a:r>
              <a:rPr lang="en-US" dirty="0" err="1">
                <a:solidFill>
                  <a:srgbClr val="0000FF"/>
                </a:solidFill>
              </a:rPr>
              <a:t>Class</a:t>
            </a:r>
            <a:r>
              <a:rPr lang="en-US" dirty="0">
                <a:solidFill>
                  <a:srgbClr val="0000FF"/>
                </a:solidFill>
              </a:rPr>
              <a:t> is having following methods:</a:t>
            </a:r>
          </a:p>
          <a:p>
            <a:pPr marL="285750" indent="-285750" algn="just">
              <a:buFont typeface="Arial" panose="020B0604020202020204" pitchFamily="34" charset="0"/>
              <a:buChar char="•"/>
            </a:pPr>
            <a:r>
              <a:rPr lang="en-US" dirty="0">
                <a:solidFill>
                  <a:srgbClr val="0000FF"/>
                </a:solidFill>
              </a:rPr>
              <a:t>Package </a:t>
            </a:r>
            <a:r>
              <a:rPr lang="en-US" dirty="0" err="1">
                <a:solidFill>
                  <a:srgbClr val="0000FF"/>
                </a:solidFill>
              </a:rPr>
              <a:t>getPackage</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int </a:t>
            </a:r>
            <a:r>
              <a:rPr lang="en-US" dirty="0" err="1">
                <a:solidFill>
                  <a:srgbClr val="0000FF"/>
                </a:solidFill>
              </a:rPr>
              <a:t>getModifiers</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String </a:t>
            </a:r>
            <a:r>
              <a:rPr lang="en-US" dirty="0" err="1">
                <a:solidFill>
                  <a:srgbClr val="0000FF"/>
                </a:solidFill>
              </a:rPr>
              <a:t>getName</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Class </a:t>
            </a:r>
            <a:r>
              <a:rPr lang="en-US" dirty="0" err="1">
                <a:solidFill>
                  <a:srgbClr val="0000FF"/>
                </a:solidFill>
              </a:rPr>
              <a:t>getSuperClass</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Class[] </a:t>
            </a:r>
            <a:r>
              <a:rPr lang="en-US" dirty="0" err="1">
                <a:solidFill>
                  <a:srgbClr val="0000FF"/>
                </a:solidFill>
              </a:rPr>
              <a:t>getInterfaces</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Field[] </a:t>
            </a:r>
            <a:r>
              <a:rPr lang="en-US" dirty="0" err="1">
                <a:solidFill>
                  <a:srgbClr val="0000FF"/>
                </a:solidFill>
              </a:rPr>
              <a:t>getFields</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Constructor[] </a:t>
            </a:r>
            <a:r>
              <a:rPr lang="en-US" dirty="0" err="1">
                <a:solidFill>
                  <a:srgbClr val="0000FF"/>
                </a:solidFill>
              </a:rPr>
              <a:t>getConstructors</a:t>
            </a:r>
            <a:r>
              <a:rPr lang="en-US" dirty="0">
                <a:solidFill>
                  <a:srgbClr val="0000FF"/>
                </a:solidFill>
              </a:rPr>
              <a:t>()</a:t>
            </a:r>
          </a:p>
          <a:p>
            <a:pPr marL="285750" indent="-285750" algn="just">
              <a:buFont typeface="Arial" panose="020B0604020202020204" pitchFamily="34" charset="0"/>
              <a:buChar char="•"/>
            </a:pPr>
            <a:r>
              <a:rPr lang="en-US" dirty="0">
                <a:solidFill>
                  <a:srgbClr val="0000FF"/>
                </a:solidFill>
              </a:rPr>
              <a:t>Method[] </a:t>
            </a:r>
            <a:r>
              <a:rPr lang="en-US" dirty="0" err="1">
                <a:solidFill>
                  <a:srgbClr val="0000FF"/>
                </a:solidFill>
              </a:rPr>
              <a:t>getMethods</a:t>
            </a:r>
            <a:r>
              <a:rPr lang="en-US" dirty="0">
                <a:solidFill>
                  <a:srgbClr val="0000FF"/>
                </a:solidFill>
              </a:rPr>
              <a:t>()</a:t>
            </a:r>
          </a:p>
        </p:txBody>
      </p:sp>
      <p:sp>
        <p:nvSpPr>
          <p:cNvPr id="6" name="Footer Placeholder 5">
            <a:extLst>
              <a:ext uri="{FF2B5EF4-FFF2-40B4-BE49-F238E27FC236}">
                <a16:creationId xmlns:a16="http://schemas.microsoft.com/office/drawing/2014/main" id="{7DAF7704-06B4-6D7B-1017-FB8AD9320CB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13627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837088" y="972185"/>
            <a:ext cx="3246402"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public class </a:t>
            </a:r>
            <a:r>
              <a:rPr lang="en-US" sz="3600" b="1" dirty="0" err="1">
                <a:solidFill>
                  <a:srgbClr val="0000FF"/>
                </a:solidFill>
                <a:latin typeface="+mj-lt"/>
                <a:cs typeface="Arial" panose="020B0604020202020204" pitchFamily="34" charset="0"/>
              </a:rPr>
              <a:t>Class</a:t>
            </a:r>
            <a:endParaRPr lang="en-US" sz="3600" b="1" dirty="0">
              <a:solidFill>
                <a:srgbClr val="0000FF"/>
              </a:solidFill>
              <a:latin typeface="+mj-lt"/>
              <a:cs typeface="Arial" panose="020B0604020202020204" pitchFamily="34" charset="0"/>
            </a:endParaRPr>
          </a:p>
        </p:txBody>
      </p:sp>
      <p:sp>
        <p:nvSpPr>
          <p:cNvPr id="14" name="TextBox 13">
            <a:extLst>
              <a:ext uri="{FF2B5EF4-FFF2-40B4-BE49-F238E27FC236}">
                <a16:creationId xmlns:a16="http://schemas.microsoft.com/office/drawing/2014/main" id="{480B81A0-1483-D074-7789-F2671AC471BD}"/>
              </a:ext>
            </a:extLst>
          </p:cNvPr>
          <p:cNvSpPr txBox="1"/>
          <p:nvPr/>
        </p:nvSpPr>
        <p:spPr>
          <a:xfrm>
            <a:off x="1257514" y="1469625"/>
            <a:ext cx="6205603" cy="2585323"/>
          </a:xfrm>
          <a:prstGeom prst="rect">
            <a:avLst/>
          </a:prstGeom>
          <a:noFill/>
        </p:spPr>
        <p:txBody>
          <a:bodyPr wrap="square">
            <a:spAutoFit/>
          </a:bodyPr>
          <a:lstStyle/>
          <a:p>
            <a:pPr algn="just"/>
            <a:r>
              <a:rPr lang="en-US" dirty="0">
                <a:solidFill>
                  <a:srgbClr val="0000FF"/>
                </a:solidFill>
              </a:rPr>
              <a:t>All the above said classes exist in </a:t>
            </a:r>
            <a:r>
              <a:rPr lang="en-US" dirty="0" err="1">
                <a:solidFill>
                  <a:srgbClr val="0000FF"/>
                </a:solidFill>
              </a:rPr>
              <a:t>java.lang.reflect</a:t>
            </a:r>
            <a:r>
              <a:rPr lang="en-US" dirty="0">
                <a:solidFill>
                  <a:srgbClr val="0000FF"/>
                </a:solidFill>
              </a:rPr>
              <a:t> package.</a:t>
            </a:r>
          </a:p>
          <a:p>
            <a:pPr algn="just"/>
            <a:endParaRPr lang="en-US" dirty="0">
              <a:solidFill>
                <a:srgbClr val="0000FF"/>
              </a:solidFill>
            </a:endParaRPr>
          </a:p>
          <a:p>
            <a:pPr algn="just"/>
            <a:r>
              <a:rPr lang="en-US" dirty="0">
                <a:solidFill>
                  <a:srgbClr val="0000FF"/>
                </a:solidFill>
              </a:rPr>
              <a:t>Package class is having </a:t>
            </a:r>
          </a:p>
          <a:p>
            <a:pPr algn="just"/>
            <a:r>
              <a:rPr lang="en-US" dirty="0">
                <a:solidFill>
                  <a:srgbClr val="0000FF"/>
                </a:solidFill>
              </a:rPr>
              <a:t>String </a:t>
            </a:r>
            <a:r>
              <a:rPr lang="en-US" dirty="0" err="1">
                <a:solidFill>
                  <a:srgbClr val="0000FF"/>
                </a:solidFill>
              </a:rPr>
              <a:t>getName</a:t>
            </a:r>
            <a:r>
              <a:rPr lang="en-US" dirty="0">
                <a:solidFill>
                  <a:srgbClr val="0000FF"/>
                </a:solidFill>
              </a:rPr>
              <a:t>() method</a:t>
            </a:r>
          </a:p>
          <a:p>
            <a:pPr algn="just"/>
            <a:endParaRPr lang="en-US" dirty="0">
              <a:solidFill>
                <a:srgbClr val="0000FF"/>
              </a:solidFill>
            </a:endParaRPr>
          </a:p>
          <a:p>
            <a:pPr algn="just"/>
            <a:r>
              <a:rPr lang="en-US" dirty="0">
                <a:solidFill>
                  <a:srgbClr val="0000FF"/>
                </a:solidFill>
              </a:rPr>
              <a:t>Field class is having</a:t>
            </a:r>
          </a:p>
          <a:p>
            <a:pPr algn="just"/>
            <a:r>
              <a:rPr lang="en-US" dirty="0">
                <a:solidFill>
                  <a:srgbClr val="0000FF"/>
                </a:solidFill>
              </a:rPr>
              <a:t>String </a:t>
            </a:r>
            <a:r>
              <a:rPr lang="en-US" dirty="0" err="1">
                <a:solidFill>
                  <a:srgbClr val="0000FF"/>
                </a:solidFill>
              </a:rPr>
              <a:t>getName</a:t>
            </a:r>
            <a:r>
              <a:rPr lang="en-US" dirty="0">
                <a:solidFill>
                  <a:srgbClr val="0000FF"/>
                </a:solidFill>
              </a:rPr>
              <a:t>()</a:t>
            </a:r>
          </a:p>
          <a:p>
            <a:pPr algn="just"/>
            <a:r>
              <a:rPr lang="en-US" dirty="0">
                <a:solidFill>
                  <a:srgbClr val="0000FF"/>
                </a:solidFill>
              </a:rPr>
              <a:t>Class </a:t>
            </a:r>
            <a:r>
              <a:rPr lang="en-US" dirty="0" err="1">
                <a:solidFill>
                  <a:srgbClr val="0000FF"/>
                </a:solidFill>
              </a:rPr>
              <a:t>getType</a:t>
            </a:r>
            <a:r>
              <a:rPr lang="en-US" dirty="0">
                <a:solidFill>
                  <a:srgbClr val="0000FF"/>
                </a:solidFill>
              </a:rPr>
              <a:t>()</a:t>
            </a:r>
          </a:p>
          <a:p>
            <a:pPr algn="just"/>
            <a:r>
              <a:rPr lang="en-US" dirty="0">
                <a:solidFill>
                  <a:srgbClr val="0000FF"/>
                </a:solidFill>
              </a:rPr>
              <a:t>int </a:t>
            </a:r>
            <a:r>
              <a:rPr lang="en-US" dirty="0" err="1">
                <a:solidFill>
                  <a:srgbClr val="0000FF"/>
                </a:solidFill>
              </a:rPr>
              <a:t>getModifiers</a:t>
            </a:r>
            <a:r>
              <a:rPr lang="en-US" dirty="0">
                <a:solidFill>
                  <a:srgbClr val="0000FF"/>
                </a:solidFill>
              </a:rPr>
              <a:t>()</a:t>
            </a:r>
          </a:p>
        </p:txBody>
      </p:sp>
      <p:sp>
        <p:nvSpPr>
          <p:cNvPr id="7" name="TextBox 6">
            <a:extLst>
              <a:ext uri="{FF2B5EF4-FFF2-40B4-BE49-F238E27FC236}">
                <a16:creationId xmlns:a16="http://schemas.microsoft.com/office/drawing/2014/main" id="{A9F9FB1D-283F-0AC0-3862-DAF21C111AEB}"/>
              </a:ext>
            </a:extLst>
          </p:cNvPr>
          <p:cNvSpPr txBox="1"/>
          <p:nvPr/>
        </p:nvSpPr>
        <p:spPr>
          <a:xfrm>
            <a:off x="4046715" y="2729794"/>
            <a:ext cx="4075309" cy="3139321"/>
          </a:xfrm>
          <a:prstGeom prst="rect">
            <a:avLst/>
          </a:prstGeom>
          <a:noFill/>
        </p:spPr>
        <p:txBody>
          <a:bodyPr wrap="square">
            <a:spAutoFit/>
          </a:bodyPr>
          <a:lstStyle/>
          <a:p>
            <a:pPr algn="just"/>
            <a:r>
              <a:rPr lang="en-US" dirty="0">
                <a:solidFill>
                  <a:srgbClr val="0000FF"/>
                </a:solidFill>
              </a:rPr>
              <a:t>Method class is having</a:t>
            </a:r>
          </a:p>
          <a:p>
            <a:pPr algn="just"/>
            <a:r>
              <a:rPr lang="en-US" dirty="0">
                <a:solidFill>
                  <a:srgbClr val="0000FF"/>
                </a:solidFill>
              </a:rPr>
              <a:t>String </a:t>
            </a:r>
            <a:r>
              <a:rPr lang="en-US" dirty="0" err="1">
                <a:solidFill>
                  <a:srgbClr val="0000FF"/>
                </a:solidFill>
              </a:rPr>
              <a:t>getName</a:t>
            </a:r>
            <a:r>
              <a:rPr lang="en-US" dirty="0">
                <a:solidFill>
                  <a:srgbClr val="0000FF"/>
                </a:solidFill>
              </a:rPr>
              <a:t>()</a:t>
            </a:r>
          </a:p>
          <a:p>
            <a:pPr algn="just"/>
            <a:r>
              <a:rPr lang="en-US" dirty="0">
                <a:solidFill>
                  <a:srgbClr val="0000FF"/>
                </a:solidFill>
              </a:rPr>
              <a:t>Class </a:t>
            </a:r>
            <a:r>
              <a:rPr lang="en-US" dirty="0" err="1">
                <a:solidFill>
                  <a:srgbClr val="0000FF"/>
                </a:solidFill>
              </a:rPr>
              <a:t>getReturnType</a:t>
            </a:r>
            <a:r>
              <a:rPr lang="en-US" dirty="0">
                <a:solidFill>
                  <a:srgbClr val="0000FF"/>
                </a:solidFill>
              </a:rPr>
              <a:t>()</a:t>
            </a:r>
          </a:p>
          <a:p>
            <a:pPr algn="just"/>
            <a:r>
              <a:rPr lang="en-US" dirty="0">
                <a:solidFill>
                  <a:srgbClr val="0000FF"/>
                </a:solidFill>
              </a:rPr>
              <a:t>int </a:t>
            </a:r>
            <a:r>
              <a:rPr lang="en-US" dirty="0" err="1">
                <a:solidFill>
                  <a:srgbClr val="0000FF"/>
                </a:solidFill>
              </a:rPr>
              <a:t>getModifiers</a:t>
            </a:r>
            <a:r>
              <a:rPr lang="en-US" dirty="0">
                <a:solidFill>
                  <a:srgbClr val="0000FF"/>
                </a:solidFill>
              </a:rPr>
              <a:t>()</a:t>
            </a:r>
          </a:p>
          <a:p>
            <a:pPr algn="just"/>
            <a:r>
              <a:rPr lang="en-US" dirty="0">
                <a:solidFill>
                  <a:srgbClr val="0000FF"/>
                </a:solidFill>
              </a:rPr>
              <a:t>Class[] </a:t>
            </a:r>
            <a:r>
              <a:rPr lang="en-US" dirty="0" err="1">
                <a:solidFill>
                  <a:srgbClr val="0000FF"/>
                </a:solidFill>
              </a:rPr>
              <a:t>getParameterTypes</a:t>
            </a:r>
            <a:r>
              <a:rPr lang="en-US" dirty="0">
                <a:solidFill>
                  <a:srgbClr val="0000FF"/>
                </a:solidFill>
              </a:rPr>
              <a:t>()</a:t>
            </a:r>
          </a:p>
          <a:p>
            <a:pPr algn="just"/>
            <a:r>
              <a:rPr lang="en-US" dirty="0">
                <a:solidFill>
                  <a:srgbClr val="0000FF"/>
                </a:solidFill>
              </a:rPr>
              <a:t>Class[] </a:t>
            </a:r>
            <a:r>
              <a:rPr lang="en-US" dirty="0" err="1">
                <a:solidFill>
                  <a:srgbClr val="0000FF"/>
                </a:solidFill>
              </a:rPr>
              <a:t>getExceptionTypes</a:t>
            </a:r>
            <a:r>
              <a:rPr lang="en-US" dirty="0">
                <a:solidFill>
                  <a:srgbClr val="0000FF"/>
                </a:solidFill>
              </a:rPr>
              <a:t>()</a:t>
            </a:r>
          </a:p>
          <a:p>
            <a:pPr algn="just"/>
            <a:endParaRPr lang="en-US" dirty="0">
              <a:solidFill>
                <a:srgbClr val="0000FF"/>
              </a:solidFill>
            </a:endParaRPr>
          </a:p>
          <a:p>
            <a:pPr algn="just"/>
            <a:r>
              <a:rPr lang="en-US" dirty="0">
                <a:solidFill>
                  <a:srgbClr val="0000FF"/>
                </a:solidFill>
              </a:rPr>
              <a:t>Constructor class having</a:t>
            </a:r>
          </a:p>
          <a:p>
            <a:pPr algn="just"/>
            <a:r>
              <a:rPr lang="en-US" dirty="0">
                <a:solidFill>
                  <a:srgbClr val="0000FF"/>
                </a:solidFill>
              </a:rPr>
              <a:t>String </a:t>
            </a:r>
            <a:r>
              <a:rPr lang="en-US" dirty="0" err="1">
                <a:solidFill>
                  <a:srgbClr val="0000FF"/>
                </a:solidFill>
              </a:rPr>
              <a:t>getName</a:t>
            </a:r>
            <a:r>
              <a:rPr lang="en-US" dirty="0">
                <a:solidFill>
                  <a:srgbClr val="0000FF"/>
                </a:solidFill>
              </a:rPr>
              <a:t>()</a:t>
            </a:r>
          </a:p>
          <a:p>
            <a:pPr algn="just"/>
            <a:r>
              <a:rPr lang="en-US" dirty="0">
                <a:solidFill>
                  <a:srgbClr val="0000FF"/>
                </a:solidFill>
              </a:rPr>
              <a:t>int </a:t>
            </a:r>
            <a:r>
              <a:rPr lang="en-US" dirty="0" err="1">
                <a:solidFill>
                  <a:srgbClr val="0000FF"/>
                </a:solidFill>
              </a:rPr>
              <a:t>getModifiers</a:t>
            </a:r>
            <a:r>
              <a:rPr lang="en-US" dirty="0">
                <a:solidFill>
                  <a:srgbClr val="0000FF"/>
                </a:solidFill>
              </a:rPr>
              <a:t>()</a:t>
            </a:r>
          </a:p>
          <a:p>
            <a:pPr algn="just"/>
            <a:r>
              <a:rPr lang="en-US" dirty="0">
                <a:solidFill>
                  <a:srgbClr val="0000FF"/>
                </a:solidFill>
              </a:rPr>
              <a:t>Class[] </a:t>
            </a:r>
            <a:r>
              <a:rPr lang="en-US" dirty="0" err="1">
                <a:solidFill>
                  <a:srgbClr val="0000FF"/>
                </a:solidFill>
              </a:rPr>
              <a:t>getParameterTypes</a:t>
            </a:r>
            <a:r>
              <a:rPr lang="en-US" dirty="0">
                <a:solidFill>
                  <a:srgbClr val="0000FF"/>
                </a:solidFill>
              </a:rPr>
              <a:t>()</a:t>
            </a:r>
            <a:endParaRPr lang="en-IN" dirty="0"/>
          </a:p>
        </p:txBody>
      </p:sp>
      <p:sp>
        <p:nvSpPr>
          <p:cNvPr id="6" name="Footer Placeholder 5">
            <a:extLst>
              <a:ext uri="{FF2B5EF4-FFF2-40B4-BE49-F238E27FC236}">
                <a16:creationId xmlns:a16="http://schemas.microsoft.com/office/drawing/2014/main" id="{EBE395CB-5F3C-02B6-DB97-F1959C6211E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46126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9" name="TextBox 8">
            <a:extLst>
              <a:ext uri="{FF2B5EF4-FFF2-40B4-BE49-F238E27FC236}">
                <a16:creationId xmlns:a16="http://schemas.microsoft.com/office/drawing/2014/main" id="{83ED6093-22EA-299F-C26E-3696A4397016}"/>
              </a:ext>
            </a:extLst>
          </p:cNvPr>
          <p:cNvSpPr txBox="1"/>
          <p:nvPr/>
        </p:nvSpPr>
        <p:spPr>
          <a:xfrm>
            <a:off x="1426210" y="914142"/>
            <a:ext cx="7984490" cy="5693866"/>
          </a:xfrm>
          <a:prstGeom prst="rect">
            <a:avLst/>
          </a:prstGeom>
          <a:noFill/>
        </p:spPr>
        <p:txBody>
          <a:bodyPr wrap="square">
            <a:spAutoFit/>
          </a:bodyPr>
          <a:lstStyle/>
          <a:p>
            <a:r>
              <a:rPr lang="en-IN" sz="1400" dirty="0"/>
              <a:t>// ReflectionDemo.java</a:t>
            </a:r>
          </a:p>
          <a:p>
            <a:r>
              <a:rPr lang="en-IN" sz="1400" dirty="0"/>
              <a:t>import </a:t>
            </a:r>
            <a:r>
              <a:rPr lang="en-IN" sz="1400" dirty="0" err="1"/>
              <a:t>java.lang.reflect</a:t>
            </a:r>
            <a:r>
              <a:rPr lang="en-IN" sz="1400" dirty="0"/>
              <a:t>.*;</a:t>
            </a:r>
          </a:p>
          <a:p>
            <a:r>
              <a:rPr lang="en-IN" sz="1400" dirty="0"/>
              <a:t>public class </a:t>
            </a:r>
            <a:r>
              <a:rPr lang="en-IN" sz="1400" dirty="0" err="1"/>
              <a:t>ReflectionDemo</a:t>
            </a:r>
            <a:r>
              <a:rPr lang="en-IN" sz="1400" dirty="0"/>
              <a:t> {</a:t>
            </a:r>
          </a:p>
          <a:p>
            <a:r>
              <a:rPr lang="en-IN" sz="1400" dirty="0"/>
              <a:t> public static void main(String rags[]) throws Exception { </a:t>
            </a:r>
          </a:p>
          <a:p>
            <a:r>
              <a:rPr lang="en-IN" sz="1400" dirty="0"/>
              <a:t>   Class c=</a:t>
            </a:r>
            <a:r>
              <a:rPr lang="en-IN" sz="1400" dirty="0" err="1"/>
              <a:t>Class.forName</a:t>
            </a:r>
            <a:r>
              <a:rPr lang="en-IN" sz="1400" dirty="0"/>
              <a:t>(rags[0]);</a:t>
            </a:r>
          </a:p>
          <a:p>
            <a:r>
              <a:rPr lang="en-IN" sz="1400" dirty="0"/>
              <a:t>   </a:t>
            </a:r>
            <a:r>
              <a:rPr lang="en-IN" sz="1400" dirty="0" err="1"/>
              <a:t>System.out.println</a:t>
            </a:r>
            <a:r>
              <a:rPr lang="en-IN" sz="1400" dirty="0"/>
              <a:t>("Class Name is "+</a:t>
            </a:r>
            <a:r>
              <a:rPr lang="en-IN" sz="1400" dirty="0" err="1"/>
              <a:t>c.getName</a:t>
            </a:r>
            <a:r>
              <a:rPr lang="en-IN" sz="1400" dirty="0"/>
              <a:t>());</a:t>
            </a:r>
          </a:p>
          <a:p>
            <a:r>
              <a:rPr lang="en-IN" sz="1400" dirty="0"/>
              <a:t>   </a:t>
            </a:r>
            <a:r>
              <a:rPr lang="en-IN" sz="1400" dirty="0" err="1"/>
              <a:t>System.out.println</a:t>
            </a:r>
            <a:r>
              <a:rPr lang="en-IN" sz="1400" dirty="0"/>
              <a:t>("instance is "+</a:t>
            </a:r>
            <a:r>
              <a:rPr lang="en-IN" sz="1400" dirty="0" err="1"/>
              <a:t>c.newInstance</a:t>
            </a:r>
            <a:r>
              <a:rPr lang="en-IN" sz="1400" dirty="0"/>
              <a:t>());</a:t>
            </a:r>
          </a:p>
          <a:p>
            <a:r>
              <a:rPr lang="en-IN" sz="1400" dirty="0"/>
              <a:t>   try { </a:t>
            </a:r>
          </a:p>
          <a:p>
            <a:r>
              <a:rPr lang="en-IN" sz="1400" dirty="0"/>
              <a:t>	</a:t>
            </a:r>
            <a:r>
              <a:rPr lang="en-IN" sz="1400" dirty="0" err="1"/>
              <a:t>System.out.println</a:t>
            </a:r>
            <a:r>
              <a:rPr lang="en-IN" sz="1400" dirty="0"/>
              <a:t>("super class "+</a:t>
            </a:r>
            <a:r>
              <a:rPr lang="en-IN" sz="1400" dirty="0" err="1"/>
              <a:t>c.getSuperclass</a:t>
            </a:r>
            <a:r>
              <a:rPr lang="en-IN" sz="1400" dirty="0"/>
              <a:t>().</a:t>
            </a:r>
            <a:r>
              <a:rPr lang="en-IN" sz="1400" dirty="0" err="1"/>
              <a:t>getName</a:t>
            </a:r>
            <a:r>
              <a:rPr lang="en-IN" sz="1400" dirty="0"/>
              <a:t>()); </a:t>
            </a:r>
          </a:p>
          <a:p>
            <a:r>
              <a:rPr lang="en-IN" sz="1400" dirty="0"/>
              <a:t>   } catch(Exception e) {}</a:t>
            </a:r>
          </a:p>
          <a:p>
            <a:endParaRPr lang="en-IN" sz="1400" dirty="0"/>
          </a:p>
          <a:p>
            <a:r>
              <a:rPr lang="en-IN" sz="1400" dirty="0"/>
              <a:t>   </a:t>
            </a:r>
            <a:r>
              <a:rPr lang="en-IN" sz="1400" dirty="0" err="1"/>
              <a:t>System.out.println</a:t>
            </a:r>
            <a:r>
              <a:rPr lang="en-IN" sz="1400" dirty="0"/>
              <a:t>("access modifiers "+</a:t>
            </a:r>
            <a:r>
              <a:rPr lang="en-IN" sz="1400" dirty="0" err="1"/>
              <a:t>c.getModifiers</a:t>
            </a:r>
            <a:r>
              <a:rPr lang="en-IN" sz="1400" dirty="0"/>
              <a:t>());</a:t>
            </a:r>
          </a:p>
          <a:p>
            <a:endParaRPr lang="en-IN" sz="1400" dirty="0"/>
          </a:p>
          <a:p>
            <a:r>
              <a:rPr lang="en-IN" sz="1400" dirty="0"/>
              <a:t>   Class c1[]=</a:t>
            </a:r>
            <a:r>
              <a:rPr lang="en-IN" sz="1400" dirty="0" err="1"/>
              <a:t>c.getInterfaces</a:t>
            </a:r>
            <a:r>
              <a:rPr lang="en-IN" sz="1400" dirty="0"/>
              <a:t>();</a:t>
            </a:r>
          </a:p>
          <a:p>
            <a:r>
              <a:rPr lang="en-IN" sz="1400" dirty="0"/>
              <a:t>   int len1=c1.length;</a:t>
            </a:r>
          </a:p>
          <a:p>
            <a:r>
              <a:rPr lang="en-IN" sz="1400" dirty="0"/>
              <a:t>   for(int </a:t>
            </a:r>
            <a:r>
              <a:rPr lang="en-IN" sz="1400" dirty="0" err="1"/>
              <a:t>i</a:t>
            </a:r>
            <a:r>
              <a:rPr lang="en-IN" sz="1400" dirty="0"/>
              <a:t>=0;i&lt;len1;i++){</a:t>
            </a:r>
          </a:p>
          <a:p>
            <a:r>
              <a:rPr lang="en-IN" sz="1400" dirty="0"/>
              <a:t>      </a:t>
            </a:r>
            <a:r>
              <a:rPr lang="en-IN" sz="1400" dirty="0" err="1"/>
              <a:t>System.out.println</a:t>
            </a:r>
            <a:r>
              <a:rPr lang="en-IN" sz="1400" dirty="0"/>
              <a:t>("super interface is "+c1[</a:t>
            </a:r>
            <a:r>
              <a:rPr lang="en-IN" sz="1400" dirty="0" err="1"/>
              <a:t>i</a:t>
            </a:r>
            <a:r>
              <a:rPr lang="en-IN" sz="1400" dirty="0"/>
              <a:t>].</a:t>
            </a:r>
            <a:r>
              <a:rPr lang="en-IN" sz="1400" dirty="0" err="1"/>
              <a:t>getName</a:t>
            </a:r>
            <a:r>
              <a:rPr lang="en-IN" sz="1400" dirty="0"/>
              <a:t>());</a:t>
            </a:r>
          </a:p>
          <a:p>
            <a:r>
              <a:rPr lang="en-IN" sz="1400" dirty="0"/>
              <a:t>   }</a:t>
            </a:r>
          </a:p>
          <a:p>
            <a:r>
              <a:rPr lang="en-IN" sz="1400" dirty="0"/>
              <a:t> </a:t>
            </a:r>
          </a:p>
          <a:p>
            <a:r>
              <a:rPr lang="en-IN" sz="1400" dirty="0"/>
              <a:t>   Field f1[]=</a:t>
            </a:r>
            <a:r>
              <a:rPr lang="en-IN" sz="1400" dirty="0" err="1"/>
              <a:t>c.getFields</a:t>
            </a:r>
            <a:r>
              <a:rPr lang="en-IN" sz="1400" dirty="0"/>
              <a:t>();</a:t>
            </a:r>
          </a:p>
          <a:p>
            <a:r>
              <a:rPr lang="en-IN" sz="1400" dirty="0"/>
              <a:t>   len1=f1.length;</a:t>
            </a:r>
          </a:p>
          <a:p>
            <a:r>
              <a:rPr lang="en-IN" sz="1400" dirty="0"/>
              <a:t>   for(int </a:t>
            </a:r>
            <a:r>
              <a:rPr lang="en-IN" sz="1400" dirty="0" err="1"/>
              <a:t>i</a:t>
            </a:r>
            <a:r>
              <a:rPr lang="en-IN" sz="1400" dirty="0"/>
              <a:t>=0;i&lt;len1;i++){</a:t>
            </a:r>
          </a:p>
          <a:p>
            <a:r>
              <a:rPr lang="en-IN" sz="1400" dirty="0"/>
              <a:t>     </a:t>
            </a:r>
            <a:r>
              <a:rPr lang="en-IN" sz="1400" dirty="0" err="1"/>
              <a:t>System.out.println</a:t>
            </a:r>
            <a:r>
              <a:rPr lang="en-IN" sz="1400" dirty="0"/>
              <a:t>("Field Name is "+f1[</a:t>
            </a:r>
            <a:r>
              <a:rPr lang="en-IN" sz="1400" dirty="0" err="1"/>
              <a:t>i</a:t>
            </a:r>
            <a:r>
              <a:rPr lang="en-IN" sz="1400" dirty="0"/>
              <a:t>].</a:t>
            </a:r>
            <a:r>
              <a:rPr lang="en-IN" sz="1400" dirty="0" err="1"/>
              <a:t>getName</a:t>
            </a:r>
            <a:r>
              <a:rPr lang="en-IN" sz="1400" dirty="0"/>
              <a:t>()+", field type is "+f1[</a:t>
            </a:r>
            <a:r>
              <a:rPr lang="en-IN" sz="1400" dirty="0" err="1"/>
              <a:t>i</a:t>
            </a:r>
            <a:r>
              <a:rPr lang="en-IN" sz="1400" dirty="0"/>
              <a:t>].</a:t>
            </a:r>
            <a:r>
              <a:rPr lang="en-IN" sz="1400" dirty="0" err="1"/>
              <a:t>getType</a:t>
            </a:r>
            <a:r>
              <a:rPr lang="en-IN" sz="1400" dirty="0"/>
              <a:t>()+", modifiers are "+f1[</a:t>
            </a:r>
            <a:r>
              <a:rPr lang="en-IN" sz="1400" dirty="0" err="1"/>
              <a:t>i</a:t>
            </a:r>
            <a:r>
              <a:rPr lang="en-IN" sz="1400" dirty="0"/>
              <a:t>].</a:t>
            </a:r>
            <a:r>
              <a:rPr lang="en-IN" sz="1400" dirty="0" err="1"/>
              <a:t>getModifiers</a:t>
            </a:r>
            <a:r>
              <a:rPr lang="en-IN" sz="1400" dirty="0"/>
              <a:t>());</a:t>
            </a:r>
          </a:p>
          <a:p>
            <a:r>
              <a:rPr lang="en-IN" sz="1400" dirty="0"/>
              <a:t>   }</a:t>
            </a:r>
          </a:p>
        </p:txBody>
      </p:sp>
      <p:sp>
        <p:nvSpPr>
          <p:cNvPr id="6" name="Footer Placeholder 5">
            <a:extLst>
              <a:ext uri="{FF2B5EF4-FFF2-40B4-BE49-F238E27FC236}">
                <a16:creationId xmlns:a16="http://schemas.microsoft.com/office/drawing/2014/main" id="{DBA83609-2CFE-30A0-CBA1-5393F20AF24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634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E68492AF-0CDE-B7F1-B664-993DE4F9498D}"/>
              </a:ext>
            </a:extLst>
          </p:cNvPr>
          <p:cNvSpPr txBox="1"/>
          <p:nvPr/>
        </p:nvSpPr>
        <p:spPr>
          <a:xfrm>
            <a:off x="1136650" y="933364"/>
            <a:ext cx="8261350" cy="5262979"/>
          </a:xfrm>
          <a:prstGeom prst="rect">
            <a:avLst/>
          </a:prstGeom>
          <a:noFill/>
        </p:spPr>
        <p:txBody>
          <a:bodyPr wrap="square">
            <a:spAutoFit/>
          </a:bodyPr>
          <a:lstStyle/>
          <a:p>
            <a:r>
              <a:rPr lang="en-IN" sz="1400" dirty="0"/>
              <a:t>Constructor con1[]=</a:t>
            </a:r>
            <a:r>
              <a:rPr lang="en-IN" sz="1400" dirty="0" err="1"/>
              <a:t>c.getConstructors</a:t>
            </a:r>
            <a:r>
              <a:rPr lang="en-IN" sz="1400" dirty="0"/>
              <a:t>();</a:t>
            </a:r>
          </a:p>
          <a:p>
            <a:r>
              <a:rPr lang="en-IN" sz="1400" dirty="0"/>
              <a:t> len1=con1.length;</a:t>
            </a:r>
          </a:p>
          <a:p>
            <a:r>
              <a:rPr lang="en-IN" sz="1400" dirty="0"/>
              <a:t> for(int </a:t>
            </a:r>
            <a:r>
              <a:rPr lang="en-IN" sz="1400" dirty="0" err="1"/>
              <a:t>i</a:t>
            </a:r>
            <a:r>
              <a:rPr lang="en-IN" sz="1400" dirty="0"/>
              <a:t>=0;i&lt;len1;i++){</a:t>
            </a:r>
          </a:p>
          <a:p>
            <a:r>
              <a:rPr lang="en-IN" sz="1400" dirty="0"/>
              <a:t>    </a:t>
            </a:r>
            <a:r>
              <a:rPr lang="en-IN" sz="1400" dirty="0" err="1"/>
              <a:t>System.out.println</a:t>
            </a:r>
            <a:r>
              <a:rPr lang="en-IN" sz="1400" dirty="0"/>
              <a:t>("Constructor name is  "+con1[</a:t>
            </a:r>
            <a:r>
              <a:rPr lang="en-IN" sz="1400" dirty="0" err="1"/>
              <a:t>i</a:t>
            </a:r>
            <a:r>
              <a:rPr lang="en-IN" sz="1400" dirty="0"/>
              <a:t>].</a:t>
            </a:r>
            <a:r>
              <a:rPr lang="en-IN" sz="1400" dirty="0" err="1"/>
              <a:t>getName</a:t>
            </a:r>
            <a:r>
              <a:rPr lang="en-IN" sz="1400" dirty="0"/>
              <a:t>()+", modifiers are "+con1[</a:t>
            </a:r>
            <a:r>
              <a:rPr lang="en-IN" sz="1400" dirty="0" err="1"/>
              <a:t>i</a:t>
            </a:r>
            <a:r>
              <a:rPr lang="en-IN" sz="1400" dirty="0"/>
              <a:t>].</a:t>
            </a:r>
            <a:r>
              <a:rPr lang="en-IN" sz="1400" dirty="0" err="1"/>
              <a:t>getModifiers</a:t>
            </a:r>
            <a:r>
              <a:rPr lang="en-IN" sz="1400" dirty="0"/>
              <a:t>());</a:t>
            </a:r>
          </a:p>
          <a:p>
            <a:r>
              <a:rPr lang="en-IN" sz="1400" dirty="0"/>
              <a:t>    </a:t>
            </a:r>
          </a:p>
          <a:p>
            <a:r>
              <a:rPr lang="en-IN" sz="1400" dirty="0"/>
              <a:t>    Class[] </a:t>
            </a:r>
            <a:r>
              <a:rPr lang="en-IN" sz="1400" dirty="0" err="1"/>
              <a:t>ptc</a:t>
            </a:r>
            <a:r>
              <a:rPr lang="en-IN" sz="1400" dirty="0"/>
              <a:t>=con1[</a:t>
            </a:r>
            <a:r>
              <a:rPr lang="en-IN" sz="1400" dirty="0" err="1"/>
              <a:t>i</a:t>
            </a:r>
            <a:r>
              <a:rPr lang="en-IN" sz="1400" dirty="0"/>
              <a:t>].</a:t>
            </a:r>
            <a:r>
              <a:rPr lang="en-IN" sz="1400" dirty="0" err="1"/>
              <a:t>getParameterTypes</a:t>
            </a:r>
            <a:r>
              <a:rPr lang="en-IN" sz="1400" dirty="0"/>
              <a:t>();</a:t>
            </a:r>
          </a:p>
          <a:p>
            <a:r>
              <a:rPr lang="en-IN" sz="1400" dirty="0"/>
              <a:t>    for( int j=0;j&lt;</a:t>
            </a:r>
            <a:r>
              <a:rPr lang="en-IN" sz="1400" dirty="0" err="1"/>
              <a:t>ptc.length;j</a:t>
            </a:r>
            <a:r>
              <a:rPr lang="en-IN" sz="1400" dirty="0"/>
              <a:t>++) {</a:t>
            </a:r>
          </a:p>
          <a:p>
            <a:r>
              <a:rPr lang="en-IN" sz="1400" dirty="0"/>
              <a:t>      </a:t>
            </a:r>
            <a:r>
              <a:rPr lang="en-IN" sz="1400" dirty="0" err="1"/>
              <a:t>System.out.println</a:t>
            </a:r>
            <a:r>
              <a:rPr lang="en-IN" sz="1400" dirty="0"/>
              <a:t>("\t\t parameter type is "+</a:t>
            </a:r>
            <a:r>
              <a:rPr lang="en-IN" sz="1400" dirty="0" err="1"/>
              <a:t>ptc</a:t>
            </a:r>
            <a:r>
              <a:rPr lang="en-IN" sz="1400" dirty="0"/>
              <a:t>[j].</a:t>
            </a:r>
            <a:r>
              <a:rPr lang="en-IN" sz="1400" dirty="0" err="1"/>
              <a:t>getName</a:t>
            </a:r>
            <a:r>
              <a:rPr lang="en-IN" sz="1400" dirty="0"/>
              <a:t>());</a:t>
            </a:r>
          </a:p>
          <a:p>
            <a:r>
              <a:rPr lang="en-IN" sz="1400" dirty="0"/>
              <a:t>    }</a:t>
            </a:r>
          </a:p>
          <a:p>
            <a:r>
              <a:rPr lang="en-IN" sz="1400" dirty="0"/>
              <a:t>  }	</a:t>
            </a:r>
          </a:p>
          <a:p>
            <a:endParaRPr lang="en-IN" sz="1400" dirty="0"/>
          </a:p>
          <a:p>
            <a:r>
              <a:rPr lang="en-IN" sz="1400" dirty="0"/>
              <a:t> Method met1[]=</a:t>
            </a:r>
            <a:r>
              <a:rPr lang="en-IN" sz="1400" dirty="0" err="1"/>
              <a:t>c.getMethods</a:t>
            </a:r>
            <a:r>
              <a:rPr lang="en-IN" sz="1400" dirty="0"/>
              <a:t>();</a:t>
            </a:r>
          </a:p>
          <a:p>
            <a:r>
              <a:rPr lang="en-IN" sz="1400" dirty="0"/>
              <a:t> len1=met1.length;</a:t>
            </a:r>
          </a:p>
          <a:p>
            <a:r>
              <a:rPr lang="en-IN" sz="1400" dirty="0"/>
              <a:t> for(int </a:t>
            </a:r>
            <a:r>
              <a:rPr lang="en-IN" sz="1400" dirty="0" err="1"/>
              <a:t>i</a:t>
            </a:r>
            <a:r>
              <a:rPr lang="en-IN" sz="1400" dirty="0"/>
              <a:t>=0;i&lt;len1;i++){</a:t>
            </a:r>
          </a:p>
          <a:p>
            <a:r>
              <a:rPr lang="en-IN" sz="1400" dirty="0"/>
              <a:t>    </a:t>
            </a:r>
            <a:r>
              <a:rPr lang="en-IN" sz="1400" dirty="0" err="1"/>
              <a:t>System.out.println</a:t>
            </a:r>
            <a:r>
              <a:rPr lang="en-IN" sz="1400" dirty="0"/>
              <a:t>("Method name is  "+met1[</a:t>
            </a:r>
            <a:r>
              <a:rPr lang="en-IN" sz="1400" dirty="0" err="1"/>
              <a:t>i</a:t>
            </a:r>
            <a:r>
              <a:rPr lang="en-IN" sz="1400" dirty="0"/>
              <a:t>].</a:t>
            </a:r>
            <a:r>
              <a:rPr lang="en-IN" sz="1400" dirty="0" err="1"/>
              <a:t>getName</a:t>
            </a:r>
            <a:r>
              <a:rPr lang="en-IN" sz="1400" dirty="0"/>
              <a:t>()+", modifiers are "+met1[</a:t>
            </a:r>
            <a:r>
              <a:rPr lang="en-IN" sz="1400" dirty="0" err="1"/>
              <a:t>i</a:t>
            </a:r>
            <a:r>
              <a:rPr lang="en-IN" sz="1400" dirty="0"/>
              <a:t>].</a:t>
            </a:r>
            <a:r>
              <a:rPr lang="en-IN" sz="1400" dirty="0" err="1"/>
              <a:t>getModifiers</a:t>
            </a:r>
            <a:r>
              <a:rPr lang="en-IN" sz="1400" dirty="0"/>
              <a:t>()+", return type is  "+met1[</a:t>
            </a:r>
            <a:r>
              <a:rPr lang="en-IN" sz="1400" dirty="0" err="1"/>
              <a:t>i</a:t>
            </a:r>
            <a:r>
              <a:rPr lang="en-IN" sz="1400" dirty="0"/>
              <a:t>].</a:t>
            </a:r>
            <a:r>
              <a:rPr lang="en-IN" sz="1400" dirty="0" err="1"/>
              <a:t>getReturnType</a:t>
            </a:r>
            <a:r>
              <a:rPr lang="en-IN" sz="1400" dirty="0"/>
              <a:t>().</a:t>
            </a:r>
            <a:r>
              <a:rPr lang="en-IN" sz="1400" dirty="0" err="1"/>
              <a:t>getName</a:t>
            </a:r>
            <a:r>
              <a:rPr lang="en-IN" sz="1400" dirty="0"/>
              <a:t>());</a:t>
            </a:r>
          </a:p>
          <a:p>
            <a:r>
              <a:rPr lang="en-IN" sz="1400" dirty="0"/>
              <a:t>			</a:t>
            </a:r>
          </a:p>
          <a:p>
            <a:r>
              <a:rPr lang="en-IN" sz="1400" dirty="0"/>
              <a:t>    Class[] </a:t>
            </a:r>
            <a:r>
              <a:rPr lang="en-IN" sz="1400" dirty="0" err="1"/>
              <a:t>ptc</a:t>
            </a:r>
            <a:r>
              <a:rPr lang="en-IN" sz="1400" dirty="0"/>
              <a:t>=met1[</a:t>
            </a:r>
            <a:r>
              <a:rPr lang="en-IN" sz="1400" dirty="0" err="1"/>
              <a:t>i</a:t>
            </a:r>
            <a:r>
              <a:rPr lang="en-IN" sz="1400" dirty="0"/>
              <a:t>].</a:t>
            </a:r>
            <a:r>
              <a:rPr lang="en-IN" sz="1400" dirty="0" err="1"/>
              <a:t>getParameterTypes</a:t>
            </a:r>
            <a:r>
              <a:rPr lang="en-IN" sz="1400" dirty="0"/>
              <a:t>();</a:t>
            </a:r>
          </a:p>
          <a:p>
            <a:r>
              <a:rPr lang="en-IN" sz="1400" dirty="0"/>
              <a:t>    for( int j=0;j&lt;</a:t>
            </a:r>
            <a:r>
              <a:rPr lang="en-IN" sz="1400" dirty="0" err="1"/>
              <a:t>ptc.length;j</a:t>
            </a:r>
            <a:r>
              <a:rPr lang="en-IN" sz="1400" dirty="0"/>
              <a:t>++) {</a:t>
            </a:r>
          </a:p>
          <a:p>
            <a:r>
              <a:rPr lang="en-IN" sz="1400" dirty="0"/>
              <a:t>        </a:t>
            </a:r>
            <a:r>
              <a:rPr lang="en-IN" sz="1400" dirty="0" err="1"/>
              <a:t>System.out.println</a:t>
            </a:r>
            <a:r>
              <a:rPr lang="en-IN" sz="1400" dirty="0"/>
              <a:t>("\t\t parameter type is "+</a:t>
            </a:r>
            <a:r>
              <a:rPr lang="en-IN" sz="1400" dirty="0" err="1"/>
              <a:t>ptc</a:t>
            </a:r>
            <a:r>
              <a:rPr lang="en-IN" sz="1400" dirty="0"/>
              <a:t>[j].</a:t>
            </a:r>
            <a:r>
              <a:rPr lang="en-IN" sz="1400" dirty="0" err="1"/>
              <a:t>getName</a:t>
            </a:r>
            <a:r>
              <a:rPr lang="en-IN" sz="1400" dirty="0"/>
              <a:t>());</a:t>
            </a:r>
          </a:p>
          <a:p>
            <a:r>
              <a:rPr lang="en-IN" sz="1400" dirty="0"/>
              <a:t>    }</a:t>
            </a:r>
          </a:p>
          <a:p>
            <a:r>
              <a:rPr lang="en-IN" sz="1400" dirty="0"/>
              <a:t>  }</a:t>
            </a:r>
          </a:p>
          <a:p>
            <a:r>
              <a:rPr lang="en-IN" sz="1400" dirty="0"/>
              <a:t>}</a:t>
            </a:r>
          </a:p>
          <a:p>
            <a:r>
              <a:rPr lang="en-IN" sz="1400" dirty="0"/>
              <a:t>}</a:t>
            </a:r>
          </a:p>
        </p:txBody>
      </p:sp>
      <p:sp>
        <p:nvSpPr>
          <p:cNvPr id="6" name="Footer Placeholder 5">
            <a:extLst>
              <a:ext uri="{FF2B5EF4-FFF2-40B4-BE49-F238E27FC236}">
                <a16:creationId xmlns:a16="http://schemas.microsoft.com/office/drawing/2014/main" id="{2EAA4841-F5CC-6AB9-194F-196E5200EE0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824739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E68492AF-0CDE-B7F1-B664-993DE4F9498D}"/>
              </a:ext>
            </a:extLst>
          </p:cNvPr>
          <p:cNvSpPr txBox="1"/>
          <p:nvPr/>
        </p:nvSpPr>
        <p:spPr>
          <a:xfrm>
            <a:off x="819150" y="933364"/>
            <a:ext cx="8261350" cy="584775"/>
          </a:xfrm>
          <a:prstGeom prst="rect">
            <a:avLst/>
          </a:prstGeom>
          <a:noFill/>
        </p:spPr>
        <p:txBody>
          <a:bodyPr wrap="square">
            <a:spAutoFit/>
          </a:bodyPr>
          <a:lstStyle/>
          <a:p>
            <a:r>
              <a:rPr lang="en-IN" sz="1600" b="1" dirty="0"/>
              <a:t>Another example on introspection:</a:t>
            </a:r>
          </a:p>
          <a:p>
            <a:endParaRPr lang="en-IN" sz="1600" dirty="0"/>
          </a:p>
        </p:txBody>
      </p:sp>
      <p:sp>
        <p:nvSpPr>
          <p:cNvPr id="7" name="TextBox 6">
            <a:extLst>
              <a:ext uri="{FF2B5EF4-FFF2-40B4-BE49-F238E27FC236}">
                <a16:creationId xmlns:a16="http://schemas.microsoft.com/office/drawing/2014/main" id="{A6CBB5BC-771F-F58F-AD15-B1097BF4D1E7}"/>
              </a:ext>
            </a:extLst>
          </p:cNvPr>
          <p:cNvSpPr txBox="1"/>
          <p:nvPr/>
        </p:nvSpPr>
        <p:spPr>
          <a:xfrm>
            <a:off x="1289050" y="1246297"/>
            <a:ext cx="7346950" cy="5016758"/>
          </a:xfrm>
          <a:prstGeom prst="rect">
            <a:avLst/>
          </a:prstGeom>
          <a:noFill/>
        </p:spPr>
        <p:txBody>
          <a:bodyPr wrap="square">
            <a:spAutoFit/>
          </a:bodyPr>
          <a:lstStyle/>
          <a:p>
            <a:r>
              <a:rPr lang="en-IN" sz="1600" dirty="0"/>
              <a:t>import </a:t>
            </a:r>
            <a:r>
              <a:rPr lang="en-IN" sz="1600" dirty="0" err="1"/>
              <a:t>java.lang.Class</a:t>
            </a:r>
            <a:r>
              <a:rPr lang="en-IN" sz="1600" dirty="0"/>
              <a:t>;</a:t>
            </a:r>
          </a:p>
          <a:p>
            <a:r>
              <a:rPr lang="en-IN" sz="1600" dirty="0"/>
              <a:t>import </a:t>
            </a:r>
            <a:r>
              <a:rPr lang="en-IN" sz="1600" dirty="0" err="1"/>
              <a:t>java.lang.reflect.Field</a:t>
            </a:r>
            <a:r>
              <a:rPr lang="en-IN" sz="1600" dirty="0"/>
              <a:t>;</a:t>
            </a:r>
          </a:p>
          <a:p>
            <a:r>
              <a:rPr lang="en-IN" sz="1600" dirty="0"/>
              <a:t>import </a:t>
            </a:r>
            <a:r>
              <a:rPr lang="en-IN" sz="1600" dirty="0" err="1"/>
              <a:t>java.lang.reflect.Constructor</a:t>
            </a:r>
            <a:r>
              <a:rPr lang="en-IN" sz="1600" dirty="0"/>
              <a:t>;</a:t>
            </a:r>
          </a:p>
          <a:p>
            <a:r>
              <a:rPr lang="en-IN" sz="1600" dirty="0"/>
              <a:t>import </a:t>
            </a:r>
            <a:r>
              <a:rPr lang="en-IN" sz="1600" dirty="0" err="1"/>
              <a:t>java.lang.reflect.Method</a:t>
            </a:r>
            <a:r>
              <a:rPr lang="en-IN" sz="1600" dirty="0"/>
              <a:t>;</a:t>
            </a:r>
          </a:p>
          <a:p>
            <a:endParaRPr lang="en-IN" sz="1600" dirty="0"/>
          </a:p>
          <a:p>
            <a:r>
              <a:rPr lang="en-IN" sz="1600" dirty="0"/>
              <a:t>class </a:t>
            </a:r>
            <a:r>
              <a:rPr lang="en-IN" sz="1600" dirty="0" err="1"/>
              <a:t>IntrospectionDemo</a:t>
            </a:r>
            <a:r>
              <a:rPr lang="en-IN" sz="1600" dirty="0"/>
              <a:t> {</a:t>
            </a:r>
          </a:p>
          <a:p>
            <a:r>
              <a:rPr lang="en-IN" sz="1600" dirty="0"/>
              <a:t>	</a:t>
            </a:r>
          </a:p>
          <a:p>
            <a:r>
              <a:rPr lang="en-IN" sz="1600" dirty="0"/>
              <a:t>	public static void main(String rags[]) {</a:t>
            </a:r>
          </a:p>
          <a:p>
            <a:r>
              <a:rPr lang="en-IN" sz="1600" dirty="0"/>
              <a:t>	</a:t>
            </a:r>
          </a:p>
          <a:p>
            <a:r>
              <a:rPr lang="en-IN" sz="1600" dirty="0"/>
              <a:t>	// Class c=</a:t>
            </a:r>
            <a:r>
              <a:rPr lang="en-IN" sz="1600" dirty="0" err="1"/>
              <a:t>Class.forName</a:t>
            </a:r>
            <a:r>
              <a:rPr lang="en-IN" sz="1600" dirty="0"/>
              <a:t>("</a:t>
            </a:r>
            <a:r>
              <a:rPr lang="en-IN" sz="1600" dirty="0" err="1"/>
              <a:t>java.lang.String</a:t>
            </a:r>
            <a:r>
              <a:rPr lang="en-IN" sz="1600" dirty="0"/>
              <a:t>");</a:t>
            </a:r>
          </a:p>
          <a:p>
            <a:r>
              <a:rPr lang="en-IN" sz="1600" dirty="0"/>
              <a:t>	Class c=</a:t>
            </a:r>
            <a:r>
              <a:rPr lang="en-IN" sz="1600" dirty="0" err="1"/>
              <a:t>Class.forName</a:t>
            </a:r>
            <a:r>
              <a:rPr lang="en-IN" sz="1600" dirty="0"/>
              <a:t>(rags[0]);</a:t>
            </a:r>
          </a:p>
          <a:p>
            <a:endParaRPr lang="en-IN" sz="1600" dirty="0"/>
          </a:p>
          <a:p>
            <a:r>
              <a:rPr lang="en-IN" sz="1600" dirty="0"/>
              <a:t>	int </a:t>
            </a:r>
            <a:r>
              <a:rPr lang="en-IN" sz="1600" dirty="0" err="1"/>
              <a:t>i</a:t>
            </a:r>
            <a:r>
              <a:rPr lang="en-IN" sz="1600" dirty="0"/>
              <a:t>=</a:t>
            </a:r>
            <a:r>
              <a:rPr lang="en-IN" sz="1600" dirty="0" err="1"/>
              <a:t>c.getModifiers</a:t>
            </a:r>
            <a:r>
              <a:rPr lang="en-IN" sz="1600" dirty="0"/>
              <a:t>();</a:t>
            </a:r>
          </a:p>
          <a:p>
            <a:r>
              <a:rPr lang="en-IN" sz="1600" dirty="0"/>
              <a:t>	Class </a:t>
            </a:r>
            <a:r>
              <a:rPr lang="en-IN" sz="1600" dirty="0" err="1"/>
              <a:t>sc</a:t>
            </a:r>
            <a:r>
              <a:rPr lang="en-IN" sz="1600" dirty="0"/>
              <a:t>=</a:t>
            </a:r>
            <a:r>
              <a:rPr lang="en-IN" sz="1600" dirty="0" err="1"/>
              <a:t>c.getSuperClass</a:t>
            </a:r>
            <a:r>
              <a:rPr lang="en-IN" sz="1600" dirty="0"/>
              <a:t>();</a:t>
            </a:r>
          </a:p>
          <a:p>
            <a:r>
              <a:rPr lang="en-IN" sz="1600" dirty="0"/>
              <a:t>	</a:t>
            </a:r>
            <a:r>
              <a:rPr lang="en-IN" sz="1600" dirty="0" err="1"/>
              <a:t>System.out.println</a:t>
            </a:r>
            <a:r>
              <a:rPr lang="en-IN" sz="1600" dirty="0"/>
              <a:t>(</a:t>
            </a:r>
            <a:r>
              <a:rPr lang="en-IN" sz="1600" dirty="0" err="1"/>
              <a:t>sc.getPackage</a:t>
            </a:r>
            <a:r>
              <a:rPr lang="en-IN" sz="1600" dirty="0"/>
              <a:t>().</a:t>
            </a:r>
            <a:r>
              <a:rPr lang="en-IN" sz="1600" dirty="0" err="1"/>
              <a:t>getName</a:t>
            </a:r>
            <a:r>
              <a:rPr lang="en-IN" sz="1600" dirty="0"/>
              <a:t>()+" "+</a:t>
            </a:r>
            <a:r>
              <a:rPr lang="en-IN" sz="1600" dirty="0" err="1"/>
              <a:t>sc.getName</a:t>
            </a:r>
            <a:r>
              <a:rPr lang="en-IN" sz="1600" dirty="0"/>
              <a:t>());</a:t>
            </a:r>
          </a:p>
          <a:p>
            <a:r>
              <a:rPr lang="en-IN" sz="1600" dirty="0"/>
              <a:t>			</a:t>
            </a:r>
          </a:p>
          <a:p>
            <a:r>
              <a:rPr lang="en-IN" sz="1600" dirty="0"/>
              <a:t>	Class </a:t>
            </a:r>
            <a:r>
              <a:rPr lang="en-IN" sz="1600" dirty="0" err="1"/>
              <a:t>intfs</a:t>
            </a:r>
            <a:r>
              <a:rPr lang="en-IN" sz="1600" dirty="0"/>
              <a:t>[]=</a:t>
            </a:r>
            <a:r>
              <a:rPr lang="en-IN" sz="1600" dirty="0" err="1"/>
              <a:t>c.getSuperInterfaces</a:t>
            </a:r>
            <a:r>
              <a:rPr lang="en-IN" sz="1600" dirty="0"/>
              <a:t>();</a:t>
            </a:r>
          </a:p>
          <a:p>
            <a:r>
              <a:rPr lang="en-IN" sz="1600" dirty="0"/>
              <a:t>	for(Class </a:t>
            </a:r>
            <a:r>
              <a:rPr lang="en-IN" sz="1600" dirty="0" err="1"/>
              <a:t>intf:intfs</a:t>
            </a:r>
            <a:r>
              <a:rPr lang="en-IN" sz="1600" dirty="0"/>
              <a:t>) {</a:t>
            </a:r>
          </a:p>
          <a:p>
            <a:r>
              <a:rPr lang="en-IN" sz="1600" dirty="0"/>
              <a:t>	  </a:t>
            </a:r>
            <a:r>
              <a:rPr lang="en-IN" sz="1600" dirty="0" err="1"/>
              <a:t>System.out.println</a:t>
            </a:r>
            <a:r>
              <a:rPr lang="en-IN" sz="1600" dirty="0"/>
              <a:t>(</a:t>
            </a:r>
            <a:r>
              <a:rPr lang="en-IN" sz="1600" dirty="0" err="1"/>
              <a:t>intf.getPackage</a:t>
            </a:r>
            <a:r>
              <a:rPr lang="en-IN" sz="1600" dirty="0"/>
              <a:t>().</a:t>
            </a:r>
            <a:r>
              <a:rPr lang="en-IN" sz="1600" dirty="0" err="1"/>
              <a:t>getName</a:t>
            </a:r>
            <a:r>
              <a:rPr lang="en-IN" sz="1600" dirty="0"/>
              <a:t>()+" "+</a:t>
            </a:r>
            <a:r>
              <a:rPr lang="en-IN" sz="1600" dirty="0" err="1"/>
              <a:t>intf.getName</a:t>
            </a:r>
            <a:r>
              <a:rPr lang="en-IN" sz="1600" dirty="0"/>
              <a:t>());</a:t>
            </a:r>
          </a:p>
          <a:p>
            <a:r>
              <a:rPr lang="en-IN" sz="1600" dirty="0"/>
              <a:t>	}</a:t>
            </a:r>
          </a:p>
        </p:txBody>
      </p:sp>
      <p:sp>
        <p:nvSpPr>
          <p:cNvPr id="6" name="Footer Placeholder 5">
            <a:extLst>
              <a:ext uri="{FF2B5EF4-FFF2-40B4-BE49-F238E27FC236}">
                <a16:creationId xmlns:a16="http://schemas.microsoft.com/office/drawing/2014/main" id="{0BE40A53-2214-7432-7201-749D146FAE2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48151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9" name="TextBox 8">
            <a:extLst>
              <a:ext uri="{FF2B5EF4-FFF2-40B4-BE49-F238E27FC236}">
                <a16:creationId xmlns:a16="http://schemas.microsoft.com/office/drawing/2014/main" id="{B6FBF4D5-68C6-A8C3-5B06-C23619B91603}"/>
              </a:ext>
            </a:extLst>
          </p:cNvPr>
          <p:cNvSpPr txBox="1"/>
          <p:nvPr/>
        </p:nvSpPr>
        <p:spPr>
          <a:xfrm>
            <a:off x="730250" y="1441926"/>
            <a:ext cx="6457950" cy="3785652"/>
          </a:xfrm>
          <a:prstGeom prst="rect">
            <a:avLst/>
          </a:prstGeom>
          <a:noFill/>
        </p:spPr>
        <p:txBody>
          <a:bodyPr wrap="square">
            <a:spAutoFit/>
          </a:bodyPr>
          <a:lstStyle/>
          <a:p>
            <a:r>
              <a:rPr lang="en-IN" sz="1600" dirty="0"/>
              <a:t>Field fs[]=</a:t>
            </a:r>
            <a:r>
              <a:rPr lang="en-IN" sz="1600" dirty="0" err="1"/>
              <a:t>c.getFields</a:t>
            </a:r>
            <a:r>
              <a:rPr lang="en-IN" sz="1600" dirty="0"/>
              <a:t>();</a:t>
            </a:r>
          </a:p>
          <a:p>
            <a:r>
              <a:rPr lang="en-IN" sz="1600" dirty="0"/>
              <a:t>for(Field f:fs) {</a:t>
            </a:r>
          </a:p>
          <a:p>
            <a:r>
              <a:rPr lang="en-IN" sz="1600" dirty="0"/>
              <a:t>   </a:t>
            </a:r>
            <a:r>
              <a:rPr lang="en-IN" sz="1600" dirty="0" err="1"/>
              <a:t>System.out.println</a:t>
            </a:r>
            <a:r>
              <a:rPr lang="en-IN" sz="1600" dirty="0"/>
              <a:t>("Modifiers "+</a:t>
            </a:r>
            <a:r>
              <a:rPr lang="en-IN" sz="1600" dirty="0" err="1"/>
              <a:t>f.getModifiers</a:t>
            </a:r>
            <a:r>
              <a:rPr lang="en-IN" sz="1600" dirty="0"/>
              <a:t>());</a:t>
            </a:r>
          </a:p>
          <a:p>
            <a:r>
              <a:rPr lang="en-IN" sz="1600" dirty="0"/>
              <a:t>   </a:t>
            </a:r>
            <a:r>
              <a:rPr lang="en-IN" sz="1600" dirty="0" err="1"/>
              <a:t>System.out.println</a:t>
            </a:r>
            <a:r>
              <a:rPr lang="en-IN" sz="1600" dirty="0"/>
              <a:t>("Datatype "+</a:t>
            </a:r>
            <a:r>
              <a:rPr lang="en-IN" sz="1600" dirty="0" err="1"/>
              <a:t>f.getType</a:t>
            </a:r>
            <a:r>
              <a:rPr lang="en-IN" sz="1600" dirty="0"/>
              <a:t>());</a:t>
            </a:r>
          </a:p>
          <a:p>
            <a:r>
              <a:rPr lang="en-IN" sz="1600" dirty="0"/>
              <a:t>   </a:t>
            </a:r>
            <a:r>
              <a:rPr lang="en-IN" sz="1600" dirty="0" err="1"/>
              <a:t>System.out.println</a:t>
            </a:r>
            <a:r>
              <a:rPr lang="en-IN" sz="1600" dirty="0"/>
              <a:t>("Var name "+</a:t>
            </a:r>
            <a:r>
              <a:rPr lang="en-IN" sz="1600" dirty="0" err="1"/>
              <a:t>f.getName</a:t>
            </a:r>
            <a:r>
              <a:rPr lang="en-IN" sz="1600" dirty="0"/>
              <a:t>());</a:t>
            </a:r>
          </a:p>
          <a:p>
            <a:r>
              <a:rPr lang="en-IN" sz="1600" dirty="0"/>
              <a:t>}</a:t>
            </a:r>
          </a:p>
          <a:p>
            <a:r>
              <a:rPr lang="en-IN" sz="1600" dirty="0"/>
              <a:t>			</a:t>
            </a:r>
          </a:p>
          <a:p>
            <a:r>
              <a:rPr lang="en-IN" sz="1600" dirty="0"/>
              <a:t>Constructor </a:t>
            </a:r>
            <a:r>
              <a:rPr lang="en-IN" sz="1600" dirty="0" err="1"/>
              <a:t>constrs</a:t>
            </a:r>
            <a:r>
              <a:rPr lang="en-IN" sz="1600" dirty="0"/>
              <a:t>[]=</a:t>
            </a:r>
            <a:r>
              <a:rPr lang="en-IN" sz="1600" dirty="0" err="1"/>
              <a:t>c.getConstructors</a:t>
            </a:r>
            <a:r>
              <a:rPr lang="en-IN" sz="1600" dirty="0"/>
              <a:t>();</a:t>
            </a:r>
          </a:p>
          <a:p>
            <a:r>
              <a:rPr lang="en-IN" sz="1600" dirty="0"/>
              <a:t>for(Constructor </a:t>
            </a:r>
            <a:r>
              <a:rPr lang="en-IN" sz="1600" dirty="0" err="1"/>
              <a:t>constr:constrs</a:t>
            </a:r>
            <a:r>
              <a:rPr lang="en-IN" sz="1600" dirty="0"/>
              <a:t>) {</a:t>
            </a:r>
          </a:p>
          <a:p>
            <a:r>
              <a:rPr lang="en-IN" sz="1600" dirty="0"/>
              <a:t>   </a:t>
            </a:r>
            <a:r>
              <a:rPr lang="en-IN" sz="1600" dirty="0" err="1"/>
              <a:t>System.out.println</a:t>
            </a:r>
            <a:r>
              <a:rPr lang="en-IN" sz="1600" dirty="0"/>
              <a:t>("Modifiers "+</a:t>
            </a:r>
            <a:r>
              <a:rPr lang="en-IN" sz="1600" dirty="0" err="1"/>
              <a:t>constr.getModifiers</a:t>
            </a:r>
            <a:r>
              <a:rPr lang="en-IN" sz="1600" dirty="0"/>
              <a:t>());</a:t>
            </a:r>
          </a:p>
          <a:p>
            <a:r>
              <a:rPr lang="en-IN" sz="1600" dirty="0"/>
              <a:t>   </a:t>
            </a:r>
            <a:r>
              <a:rPr lang="en-IN" sz="1600" dirty="0" err="1"/>
              <a:t>System.out.println</a:t>
            </a:r>
            <a:r>
              <a:rPr lang="en-IN" sz="1600" dirty="0"/>
              <a:t>("Name "+</a:t>
            </a:r>
            <a:r>
              <a:rPr lang="en-IN" sz="1600" dirty="0" err="1"/>
              <a:t>constr.getName</a:t>
            </a:r>
            <a:r>
              <a:rPr lang="en-IN" sz="1600" dirty="0"/>
              <a:t>());</a:t>
            </a:r>
          </a:p>
          <a:p>
            <a:r>
              <a:rPr lang="en-IN" sz="1600" dirty="0"/>
              <a:t>   </a:t>
            </a:r>
            <a:r>
              <a:rPr lang="en-IN" sz="1600" dirty="0" err="1"/>
              <a:t>System.out.println</a:t>
            </a:r>
            <a:r>
              <a:rPr lang="en-IN" sz="1600" dirty="0"/>
              <a:t>("Parameters count "+</a:t>
            </a:r>
            <a:r>
              <a:rPr lang="en-IN" sz="1600" dirty="0" err="1"/>
              <a:t>constr.getParameterCount</a:t>
            </a:r>
            <a:r>
              <a:rPr lang="en-IN" sz="1600" dirty="0"/>
              <a:t>());</a:t>
            </a:r>
          </a:p>
          <a:p>
            <a:r>
              <a:rPr lang="en-IN" sz="1600" dirty="0"/>
              <a:t>   </a:t>
            </a:r>
            <a:r>
              <a:rPr lang="en-IN" sz="1600" dirty="0" err="1"/>
              <a:t>System.out.println</a:t>
            </a:r>
            <a:r>
              <a:rPr lang="en-IN" sz="1600" dirty="0"/>
              <a:t>("Exceptions count "+</a:t>
            </a:r>
            <a:r>
              <a:rPr lang="en-IN" sz="1600" dirty="0" err="1"/>
              <a:t>constr.getExceptionTypes</a:t>
            </a:r>
            <a:r>
              <a:rPr lang="en-IN" sz="1600" dirty="0"/>
              <a:t>().length);</a:t>
            </a:r>
          </a:p>
          <a:p>
            <a:r>
              <a:rPr lang="en-IN" sz="1600" dirty="0"/>
              <a:t>}</a:t>
            </a:r>
          </a:p>
        </p:txBody>
      </p:sp>
      <p:sp>
        <p:nvSpPr>
          <p:cNvPr id="6" name="Footer Placeholder 5">
            <a:extLst>
              <a:ext uri="{FF2B5EF4-FFF2-40B4-BE49-F238E27FC236}">
                <a16:creationId xmlns:a16="http://schemas.microsoft.com/office/drawing/2014/main" id="{11F7B0D8-3A99-82B9-AD36-043322B34C4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91243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7" name="TextBox 6">
            <a:extLst>
              <a:ext uri="{FF2B5EF4-FFF2-40B4-BE49-F238E27FC236}">
                <a16:creationId xmlns:a16="http://schemas.microsoft.com/office/drawing/2014/main" id="{B9E410C7-E82F-00F8-77B7-F44A49105553}"/>
              </a:ext>
            </a:extLst>
          </p:cNvPr>
          <p:cNvSpPr txBox="1"/>
          <p:nvPr/>
        </p:nvSpPr>
        <p:spPr>
          <a:xfrm>
            <a:off x="922020" y="1429594"/>
            <a:ext cx="8139430" cy="2862322"/>
          </a:xfrm>
          <a:prstGeom prst="rect">
            <a:avLst/>
          </a:prstGeom>
          <a:noFill/>
        </p:spPr>
        <p:txBody>
          <a:bodyPr wrap="square">
            <a:spAutoFit/>
          </a:bodyPr>
          <a:lstStyle/>
          <a:p>
            <a:r>
              <a:rPr lang="en-IN" sz="1800" dirty="0"/>
              <a:t>Method </a:t>
            </a:r>
            <a:r>
              <a:rPr lang="en-IN" sz="1800" dirty="0" err="1"/>
              <a:t>mets</a:t>
            </a:r>
            <a:r>
              <a:rPr lang="en-IN" sz="1800" dirty="0"/>
              <a:t>[]=</a:t>
            </a:r>
            <a:r>
              <a:rPr lang="en-IN" sz="1800" dirty="0" err="1"/>
              <a:t>c.getMethods</a:t>
            </a:r>
            <a:r>
              <a:rPr lang="en-IN" sz="1800" dirty="0"/>
              <a:t>();</a:t>
            </a:r>
          </a:p>
          <a:p>
            <a:r>
              <a:rPr lang="en-IN" sz="1800" dirty="0"/>
              <a:t>  for(Method </a:t>
            </a:r>
            <a:r>
              <a:rPr lang="en-IN" sz="1800" dirty="0" err="1"/>
              <a:t>met:mets</a:t>
            </a:r>
            <a:r>
              <a:rPr lang="en-IN" sz="1800" dirty="0"/>
              <a:t>) {</a:t>
            </a:r>
          </a:p>
          <a:p>
            <a:r>
              <a:rPr lang="en-IN" sz="1800" dirty="0"/>
              <a:t>    </a:t>
            </a:r>
            <a:r>
              <a:rPr lang="en-IN" sz="1800" dirty="0" err="1"/>
              <a:t>System.out.println</a:t>
            </a:r>
            <a:r>
              <a:rPr lang="en-IN" sz="1800" dirty="0"/>
              <a:t>("Modifiers "+</a:t>
            </a:r>
            <a:r>
              <a:rPr lang="en-IN" sz="1800" dirty="0" err="1"/>
              <a:t>met.getModifiers</a:t>
            </a:r>
            <a:r>
              <a:rPr lang="en-IN" sz="1800" dirty="0"/>
              <a:t>());</a:t>
            </a:r>
          </a:p>
          <a:p>
            <a:r>
              <a:rPr lang="en-IN" sz="1800" dirty="0"/>
              <a:t>    </a:t>
            </a:r>
            <a:r>
              <a:rPr lang="en-IN" sz="1800" dirty="0" err="1"/>
              <a:t>System.out.println</a:t>
            </a:r>
            <a:r>
              <a:rPr lang="en-IN" sz="1800" dirty="0"/>
              <a:t>("Name "+</a:t>
            </a:r>
            <a:r>
              <a:rPr lang="en-IN" sz="1800" dirty="0" err="1"/>
              <a:t>met.getName</a:t>
            </a:r>
            <a:r>
              <a:rPr lang="en-IN" sz="1800" dirty="0"/>
              <a:t>());</a:t>
            </a:r>
          </a:p>
          <a:p>
            <a:r>
              <a:rPr lang="en-IN" sz="1800" dirty="0"/>
              <a:t>    </a:t>
            </a:r>
            <a:r>
              <a:rPr lang="en-IN" sz="1800" dirty="0" err="1"/>
              <a:t>System.out.println</a:t>
            </a:r>
            <a:r>
              <a:rPr lang="en-IN" sz="1800" dirty="0"/>
              <a:t>("Return type "+</a:t>
            </a:r>
            <a:r>
              <a:rPr lang="en-IN" sz="1800" dirty="0" err="1"/>
              <a:t>met.getReturnType</a:t>
            </a:r>
            <a:r>
              <a:rPr lang="en-IN" sz="1800" dirty="0"/>
              <a:t>().</a:t>
            </a:r>
            <a:r>
              <a:rPr lang="en-IN" sz="1800" dirty="0" err="1"/>
              <a:t>getName</a:t>
            </a:r>
            <a:r>
              <a:rPr lang="en-IN" sz="1800" dirty="0"/>
              <a:t>());</a:t>
            </a:r>
          </a:p>
          <a:p>
            <a:r>
              <a:rPr lang="en-IN" sz="1800" dirty="0"/>
              <a:t>    </a:t>
            </a:r>
            <a:r>
              <a:rPr lang="en-IN" sz="1800" dirty="0" err="1"/>
              <a:t>System.out.println</a:t>
            </a:r>
            <a:r>
              <a:rPr lang="en-IN" sz="1800" dirty="0"/>
              <a:t>("Parameters count "+</a:t>
            </a:r>
            <a:r>
              <a:rPr lang="en-IN" sz="1800" dirty="0" err="1"/>
              <a:t>met.getParameterCount</a:t>
            </a:r>
            <a:r>
              <a:rPr lang="en-IN" sz="1800" dirty="0"/>
              <a:t>());</a:t>
            </a:r>
          </a:p>
          <a:p>
            <a:r>
              <a:rPr lang="en-IN" sz="1800" dirty="0"/>
              <a:t>    </a:t>
            </a:r>
            <a:r>
              <a:rPr lang="en-IN" sz="1800" dirty="0" err="1"/>
              <a:t>System.out.println</a:t>
            </a:r>
            <a:r>
              <a:rPr lang="en-IN" sz="1800" dirty="0"/>
              <a:t>("Exceptions count "+</a:t>
            </a:r>
            <a:r>
              <a:rPr lang="en-IN" sz="1800" dirty="0" err="1"/>
              <a:t>met.getExceptionTypes</a:t>
            </a:r>
            <a:r>
              <a:rPr lang="en-IN" sz="1800" dirty="0"/>
              <a:t>().length);</a:t>
            </a:r>
          </a:p>
          <a:p>
            <a:r>
              <a:rPr lang="en-IN" sz="1800" dirty="0"/>
              <a:t>  }</a:t>
            </a:r>
          </a:p>
          <a:p>
            <a:r>
              <a:rPr lang="en-IN" sz="1800" dirty="0"/>
              <a:t>}</a:t>
            </a:r>
          </a:p>
          <a:p>
            <a:r>
              <a:rPr lang="en-IN" sz="1800" dirty="0"/>
              <a:t>}</a:t>
            </a:r>
          </a:p>
        </p:txBody>
      </p:sp>
      <p:sp>
        <p:nvSpPr>
          <p:cNvPr id="6" name="Footer Placeholder 5">
            <a:extLst>
              <a:ext uri="{FF2B5EF4-FFF2-40B4-BE49-F238E27FC236}">
                <a16:creationId xmlns:a16="http://schemas.microsoft.com/office/drawing/2014/main" id="{5F1643EA-DB15-E25D-97E5-A25E6BABF83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00031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6" name="TextBox 5">
            <a:extLst>
              <a:ext uri="{FF2B5EF4-FFF2-40B4-BE49-F238E27FC236}">
                <a16:creationId xmlns:a16="http://schemas.microsoft.com/office/drawing/2014/main" id="{7815B87C-FC24-7BC1-15AF-F080E389862F}"/>
              </a:ext>
            </a:extLst>
          </p:cNvPr>
          <p:cNvSpPr txBox="1"/>
          <p:nvPr/>
        </p:nvSpPr>
        <p:spPr>
          <a:xfrm>
            <a:off x="1470316" y="1867263"/>
            <a:ext cx="5722079" cy="769441"/>
          </a:xfrm>
          <a:prstGeom prst="rect">
            <a:avLst/>
          </a:prstGeom>
          <a:noFill/>
        </p:spPr>
        <p:txBody>
          <a:bodyPr wrap="none" rtlCol="0">
            <a:spAutoFit/>
          </a:bodyPr>
          <a:lstStyle/>
          <a:p>
            <a:r>
              <a:rPr lang="en-US" sz="4400" b="1" dirty="0" err="1">
                <a:solidFill>
                  <a:srgbClr val="0000FF"/>
                </a:solidFill>
                <a:latin typeface="+mj-lt"/>
                <a:cs typeface="Arial" panose="020B0604020202020204" pitchFamily="34" charset="0"/>
              </a:rPr>
              <a:t>java.lang</a:t>
            </a:r>
            <a:r>
              <a:rPr lang="en-US" sz="4400" b="1" dirty="0">
                <a:solidFill>
                  <a:srgbClr val="0000FF"/>
                </a:solidFill>
                <a:latin typeface="+mj-lt"/>
                <a:cs typeface="Arial" panose="020B0604020202020204" pitchFamily="34" charset="0"/>
              </a:rPr>
              <a:t> package classes</a:t>
            </a:r>
          </a:p>
        </p:txBody>
      </p:sp>
      <p:sp>
        <p:nvSpPr>
          <p:cNvPr id="9" name="TextBox 8">
            <a:extLst>
              <a:ext uri="{FF2B5EF4-FFF2-40B4-BE49-F238E27FC236}">
                <a16:creationId xmlns:a16="http://schemas.microsoft.com/office/drawing/2014/main" id="{EB47F8DB-94EF-B182-609B-692B4CC300A3}"/>
              </a:ext>
            </a:extLst>
          </p:cNvPr>
          <p:cNvSpPr txBox="1"/>
          <p:nvPr/>
        </p:nvSpPr>
        <p:spPr>
          <a:xfrm>
            <a:off x="5303951" y="2544912"/>
            <a:ext cx="1722266" cy="2862322"/>
          </a:xfrm>
          <a:prstGeom prst="rect">
            <a:avLst/>
          </a:prstGeom>
          <a:noFill/>
        </p:spPr>
        <p:txBody>
          <a:bodyPr wrap="none" rtlCol="0">
            <a:spAutoFit/>
          </a:bodyPr>
          <a:lstStyle/>
          <a:p>
            <a:r>
              <a:rPr lang="en-US" sz="3600" b="1" dirty="0">
                <a:solidFill>
                  <a:schemeClr val="bg1">
                    <a:lumMod val="75000"/>
                  </a:schemeClr>
                </a:solidFill>
                <a:latin typeface="+mj-lt"/>
                <a:cs typeface="Arial" panose="020B0604020202020204" pitchFamily="34" charset="0"/>
              </a:rPr>
              <a:t>Object</a:t>
            </a:r>
          </a:p>
          <a:p>
            <a:r>
              <a:rPr lang="en-US" sz="3600" b="1" dirty="0">
                <a:solidFill>
                  <a:schemeClr val="bg1">
                    <a:lumMod val="75000"/>
                  </a:schemeClr>
                </a:solidFill>
                <a:latin typeface="+mj-lt"/>
                <a:cs typeface="Arial" panose="020B0604020202020204" pitchFamily="34" charset="0"/>
              </a:rPr>
              <a:t>Class</a:t>
            </a:r>
          </a:p>
          <a:p>
            <a:r>
              <a:rPr lang="en-US" sz="3600" dirty="0">
                <a:solidFill>
                  <a:srgbClr val="0000FF"/>
                </a:solidFill>
                <a:cs typeface="Arial" panose="020B0604020202020204" pitchFamily="34" charset="0"/>
              </a:rPr>
              <a:t>System</a:t>
            </a:r>
          </a:p>
          <a:p>
            <a:r>
              <a:rPr lang="en-US" sz="3600" b="1" dirty="0">
                <a:solidFill>
                  <a:srgbClr val="0000FF"/>
                </a:solidFill>
                <a:latin typeface="+mj-lt"/>
                <a:cs typeface="Arial" panose="020B0604020202020204" pitchFamily="34" charset="0"/>
              </a:rPr>
              <a:t>Process</a:t>
            </a:r>
          </a:p>
          <a:p>
            <a:r>
              <a:rPr lang="en-US" sz="3600" b="1" dirty="0">
                <a:solidFill>
                  <a:srgbClr val="0000FF"/>
                </a:solidFill>
                <a:latin typeface="+mj-lt"/>
                <a:cs typeface="Arial" panose="020B0604020202020204" pitchFamily="34" charset="0"/>
              </a:rPr>
              <a:t>Runtime</a:t>
            </a:r>
          </a:p>
        </p:txBody>
      </p:sp>
      <p:sp>
        <p:nvSpPr>
          <p:cNvPr id="7" name="TextBox 6">
            <a:extLst>
              <a:ext uri="{FF2B5EF4-FFF2-40B4-BE49-F238E27FC236}">
                <a16:creationId xmlns:a16="http://schemas.microsoft.com/office/drawing/2014/main" id="{F5D8FB5B-C24B-F1C5-FC77-683175898EB3}"/>
              </a:ext>
            </a:extLst>
          </p:cNvPr>
          <p:cNvSpPr txBox="1"/>
          <p:nvPr/>
        </p:nvSpPr>
        <p:spPr>
          <a:xfrm>
            <a:off x="3291371" y="4965205"/>
            <a:ext cx="1246944" cy="646331"/>
          </a:xfrm>
          <a:prstGeom prst="rect">
            <a:avLst/>
          </a:prstGeom>
          <a:noFill/>
        </p:spPr>
        <p:txBody>
          <a:bodyPr wrap="none" rtlCol="0">
            <a:spAutoFit/>
          </a:bodyPr>
          <a:lstStyle/>
          <a:p>
            <a:r>
              <a:rPr lang="en-US" sz="3600" b="1" dirty="0">
                <a:solidFill>
                  <a:srgbClr val="0000FF"/>
                </a:solidFill>
                <a:latin typeface="+mj-lt"/>
                <a:cs typeface="Arial" panose="020B0604020202020204" pitchFamily="34" charset="0"/>
              </a:rPr>
              <a:t>Part II</a:t>
            </a:r>
          </a:p>
        </p:txBody>
      </p:sp>
      <p:sp>
        <p:nvSpPr>
          <p:cNvPr id="10" name="Footer Placeholder 9">
            <a:extLst>
              <a:ext uri="{FF2B5EF4-FFF2-40B4-BE49-F238E27FC236}">
                <a16:creationId xmlns:a16="http://schemas.microsoft.com/office/drawing/2014/main" id="{B8196A5F-D54D-4BC8-65AB-25AF6113F9A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55210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6" name="TextBox 5">
            <a:extLst>
              <a:ext uri="{FF2B5EF4-FFF2-40B4-BE49-F238E27FC236}">
                <a16:creationId xmlns:a16="http://schemas.microsoft.com/office/drawing/2014/main" id="{7815B87C-FC24-7BC1-15AF-F080E389862F}"/>
              </a:ext>
            </a:extLst>
          </p:cNvPr>
          <p:cNvSpPr txBox="1"/>
          <p:nvPr/>
        </p:nvSpPr>
        <p:spPr>
          <a:xfrm>
            <a:off x="895126" y="778332"/>
            <a:ext cx="3060005" cy="769441"/>
          </a:xfrm>
          <a:prstGeom prst="rect">
            <a:avLst/>
          </a:prstGeom>
          <a:noFill/>
        </p:spPr>
        <p:txBody>
          <a:bodyPr wrap="none" rtlCol="0">
            <a:spAutoFit/>
          </a:bodyPr>
          <a:lstStyle/>
          <a:p>
            <a:r>
              <a:rPr lang="en-US" sz="4400" b="1" dirty="0">
                <a:solidFill>
                  <a:srgbClr val="0000FF"/>
                </a:solidFill>
                <a:latin typeface="+mj-lt"/>
                <a:cs typeface="Arial" panose="020B0604020202020204" pitchFamily="34" charset="0"/>
              </a:rPr>
              <a:t>class System </a:t>
            </a:r>
          </a:p>
        </p:txBody>
      </p:sp>
      <p:sp>
        <p:nvSpPr>
          <p:cNvPr id="9" name="TextBox 8">
            <a:extLst>
              <a:ext uri="{FF2B5EF4-FFF2-40B4-BE49-F238E27FC236}">
                <a16:creationId xmlns:a16="http://schemas.microsoft.com/office/drawing/2014/main" id="{EB47F8DB-94EF-B182-609B-692B4CC300A3}"/>
              </a:ext>
            </a:extLst>
          </p:cNvPr>
          <p:cNvSpPr txBox="1"/>
          <p:nvPr/>
        </p:nvSpPr>
        <p:spPr>
          <a:xfrm>
            <a:off x="999747" y="1386409"/>
            <a:ext cx="8569560" cy="5062924"/>
          </a:xfrm>
          <a:prstGeom prst="rect">
            <a:avLst/>
          </a:prstGeom>
          <a:noFill/>
        </p:spPr>
        <p:txBody>
          <a:bodyPr wrap="square" rtlCol="0">
            <a:spAutoFit/>
          </a:bodyPr>
          <a:lstStyle/>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InputStream</a:t>
            </a:r>
            <a:r>
              <a:rPr lang="en-US" sz="1700" b="1" dirty="0">
                <a:solidFill>
                  <a:srgbClr val="0000FF"/>
                </a:solidFill>
                <a:latin typeface="+mj-lt"/>
                <a:cs typeface="Arial" panose="020B0604020202020204" pitchFamily="34" charset="0"/>
              </a:rPr>
              <a:t> in;</a:t>
            </a:r>
          </a:p>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PrintStream</a:t>
            </a:r>
            <a:r>
              <a:rPr lang="en-US" sz="1700" b="1" dirty="0">
                <a:solidFill>
                  <a:srgbClr val="0000FF"/>
                </a:solidFill>
                <a:latin typeface="+mj-lt"/>
                <a:cs typeface="Arial" panose="020B0604020202020204" pitchFamily="34" charset="0"/>
              </a:rPr>
              <a:t> out;</a:t>
            </a:r>
          </a:p>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PrintStream</a:t>
            </a:r>
            <a:r>
              <a:rPr lang="en-US" sz="1700" b="1" dirty="0">
                <a:solidFill>
                  <a:srgbClr val="0000FF"/>
                </a:solidFill>
                <a:latin typeface="+mj-lt"/>
                <a:cs typeface="Arial" panose="020B0604020202020204" pitchFamily="34" charset="0"/>
              </a:rPr>
              <a:t> err;</a:t>
            </a:r>
          </a:p>
          <a:p>
            <a:endParaRPr lang="en-US" sz="1700" b="1" dirty="0">
              <a:solidFill>
                <a:srgbClr val="0000FF"/>
              </a:solidFill>
              <a:latin typeface="+mj-lt"/>
              <a:cs typeface="Arial" panose="020B0604020202020204" pitchFamily="34" charset="0"/>
            </a:endParaRP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arrayCopy</a:t>
            </a:r>
            <a:r>
              <a:rPr lang="en-US" sz="1700" b="1" dirty="0">
                <a:solidFill>
                  <a:srgbClr val="0000FF"/>
                </a:solidFill>
                <a:latin typeface="+mj-lt"/>
                <a:cs typeface="Arial" panose="020B0604020202020204" pitchFamily="34" charset="0"/>
              </a:rPr>
              <a:t>(Object </a:t>
            </a:r>
            <a:r>
              <a:rPr lang="en-US" sz="1700" b="1" dirty="0" err="1">
                <a:solidFill>
                  <a:srgbClr val="0000FF"/>
                </a:solidFill>
                <a:latin typeface="+mj-lt"/>
                <a:cs typeface="Arial" panose="020B0604020202020204" pitchFamily="34" charset="0"/>
              </a:rPr>
              <a:t>srcArray</a:t>
            </a:r>
            <a:r>
              <a:rPr lang="en-US" sz="1700" b="1" dirty="0">
                <a:solidFill>
                  <a:srgbClr val="0000FF"/>
                </a:solidFill>
                <a:latin typeface="+mj-lt"/>
                <a:cs typeface="Arial" panose="020B0604020202020204" pitchFamily="34" charset="0"/>
              </a:rPr>
              <a:t>, int </a:t>
            </a:r>
            <a:r>
              <a:rPr lang="en-US" sz="1700" b="1" dirty="0" err="1">
                <a:solidFill>
                  <a:srgbClr val="0000FF"/>
                </a:solidFill>
                <a:latin typeface="+mj-lt"/>
                <a:cs typeface="Arial" panose="020B0604020202020204" pitchFamily="34" charset="0"/>
              </a:rPr>
              <a:t>srcIndex</a:t>
            </a:r>
            <a:r>
              <a:rPr lang="en-US" sz="1700" b="1" dirty="0">
                <a:solidFill>
                  <a:srgbClr val="0000FF"/>
                </a:solidFill>
                <a:latin typeface="+mj-lt"/>
                <a:cs typeface="Arial" panose="020B0604020202020204" pitchFamily="34" charset="0"/>
              </a:rPr>
              <a:t>, Object </a:t>
            </a:r>
            <a:r>
              <a:rPr lang="en-US" sz="1700" b="1" dirty="0" err="1">
                <a:solidFill>
                  <a:srgbClr val="0000FF"/>
                </a:solidFill>
                <a:latin typeface="+mj-lt"/>
                <a:cs typeface="Arial" panose="020B0604020202020204" pitchFamily="34" charset="0"/>
              </a:rPr>
              <a:t>destArray</a:t>
            </a:r>
            <a:r>
              <a:rPr lang="en-US" sz="1700" b="1" dirty="0">
                <a:solidFill>
                  <a:srgbClr val="0000FF"/>
                </a:solidFill>
                <a:latin typeface="+mj-lt"/>
                <a:cs typeface="Arial" panose="020B0604020202020204" pitchFamily="34" charset="0"/>
              </a:rPr>
              <a:t>, int </a:t>
            </a:r>
            <a:r>
              <a:rPr lang="en-US" sz="1700" b="1" dirty="0" err="1">
                <a:solidFill>
                  <a:srgbClr val="0000FF"/>
                </a:solidFill>
                <a:latin typeface="+mj-lt"/>
                <a:cs typeface="Arial" panose="020B0604020202020204" pitchFamily="34" charset="0"/>
              </a:rPr>
              <a:t>destIndex</a:t>
            </a:r>
            <a:r>
              <a:rPr lang="en-US" sz="1700" b="1" dirty="0">
                <a:solidFill>
                  <a:srgbClr val="0000FF"/>
                </a:solidFill>
                <a:latin typeface="+mj-lt"/>
                <a:cs typeface="Arial" panose="020B0604020202020204" pitchFamily="34" charset="0"/>
              </a:rPr>
              <a:t>, int length)</a:t>
            </a:r>
          </a:p>
          <a:p>
            <a:r>
              <a:rPr lang="en-US" sz="1700" b="1" dirty="0">
                <a:solidFill>
                  <a:srgbClr val="0000FF"/>
                </a:solidFill>
                <a:latin typeface="+mj-lt"/>
                <a:cs typeface="Arial" panose="020B0604020202020204" pitchFamily="34" charset="0"/>
              </a:rPr>
              <a:t>public static long </a:t>
            </a:r>
            <a:r>
              <a:rPr lang="en-US" sz="1700" b="1" dirty="0" err="1">
                <a:solidFill>
                  <a:srgbClr val="0000FF"/>
                </a:solidFill>
                <a:latin typeface="+mj-lt"/>
                <a:cs typeface="Arial" panose="020B0604020202020204" pitchFamily="34" charset="0"/>
              </a:rPr>
              <a:t>currentTimeMillis</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void exit(int status)</a:t>
            </a: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gc</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Properties </a:t>
            </a:r>
            <a:r>
              <a:rPr lang="en-US" sz="1700" b="1" dirty="0" err="1">
                <a:solidFill>
                  <a:srgbClr val="0000FF"/>
                </a:solidFill>
                <a:latin typeface="+mj-lt"/>
                <a:cs typeface="Arial" panose="020B0604020202020204" pitchFamily="34" charset="0"/>
              </a:rPr>
              <a:t>getProperties</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String </a:t>
            </a:r>
            <a:r>
              <a:rPr lang="en-US" sz="1700" b="1" dirty="0" err="1">
                <a:solidFill>
                  <a:srgbClr val="0000FF"/>
                </a:solidFill>
                <a:latin typeface="+mj-lt"/>
                <a:cs typeface="Arial" panose="020B0604020202020204" pitchFamily="34" charset="0"/>
              </a:rPr>
              <a:t>getProperty</a:t>
            </a:r>
            <a:r>
              <a:rPr lang="en-US" sz="1700" b="1" dirty="0">
                <a:solidFill>
                  <a:srgbClr val="0000FF"/>
                </a:solidFill>
                <a:latin typeface="+mj-lt"/>
                <a:cs typeface="Arial" panose="020B0604020202020204" pitchFamily="34" charset="0"/>
              </a:rPr>
              <a:t>(String </a:t>
            </a:r>
            <a:r>
              <a:rPr lang="en-US" sz="1700" b="1" dirty="0" err="1">
                <a:solidFill>
                  <a:srgbClr val="0000FF"/>
                </a:solidFill>
                <a:latin typeface="+mj-lt"/>
                <a:cs typeface="Arial" panose="020B0604020202020204" pitchFamily="34" charset="0"/>
              </a:rPr>
              <a:t>propertyName</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Map&lt;</a:t>
            </a:r>
            <a:r>
              <a:rPr lang="en-US" sz="1700" b="1" dirty="0" err="1">
                <a:solidFill>
                  <a:srgbClr val="0000FF"/>
                </a:solidFill>
                <a:latin typeface="+mj-lt"/>
                <a:cs typeface="Arial" panose="020B0604020202020204" pitchFamily="34" charset="0"/>
              </a:rPr>
              <a:t>String,String</a:t>
            </a:r>
            <a:r>
              <a:rPr lang="en-US" sz="1700" b="1" dirty="0">
                <a:solidFill>
                  <a:srgbClr val="0000FF"/>
                </a:solidFill>
                <a:latin typeface="+mj-lt"/>
                <a:cs typeface="Arial" panose="020B0604020202020204" pitchFamily="34" charset="0"/>
              </a:rPr>
              <a:t>&gt; </a:t>
            </a:r>
            <a:r>
              <a:rPr lang="en-US" sz="1700" b="1" dirty="0" err="1">
                <a:solidFill>
                  <a:srgbClr val="0000FF"/>
                </a:solidFill>
                <a:latin typeface="+mj-lt"/>
                <a:cs typeface="Arial" panose="020B0604020202020204" pitchFamily="34" charset="0"/>
              </a:rPr>
              <a:t>getenv</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SecurityManager</a:t>
            </a:r>
            <a:r>
              <a:rPr lang="en-US" sz="1700" b="1" dirty="0">
                <a:solidFill>
                  <a:srgbClr val="0000FF"/>
                </a:solidFill>
                <a:latin typeface="+mj-lt"/>
                <a:cs typeface="Arial" panose="020B0604020202020204" pitchFamily="34" charset="0"/>
              </a:rPr>
              <a:t> </a:t>
            </a:r>
            <a:r>
              <a:rPr lang="en-US" sz="1700" b="1" dirty="0" err="1">
                <a:solidFill>
                  <a:srgbClr val="0000FF"/>
                </a:solidFill>
                <a:latin typeface="+mj-lt"/>
                <a:cs typeface="Arial" panose="020B0604020202020204" pitchFamily="34" charset="0"/>
              </a:rPr>
              <a:t>getSecurityManager</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void load(String </a:t>
            </a:r>
            <a:r>
              <a:rPr lang="en-US" sz="1700" b="1" dirty="0" err="1">
                <a:solidFill>
                  <a:srgbClr val="0000FF"/>
                </a:solidFill>
                <a:latin typeface="+mj-lt"/>
                <a:cs typeface="Arial" panose="020B0604020202020204" pitchFamily="34" charset="0"/>
              </a:rPr>
              <a:t>fileName</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loadLibrary</a:t>
            </a:r>
            <a:r>
              <a:rPr lang="en-US" sz="1700" b="1" dirty="0">
                <a:solidFill>
                  <a:srgbClr val="0000FF"/>
                </a:solidFill>
                <a:latin typeface="+mj-lt"/>
                <a:cs typeface="Arial" panose="020B0604020202020204" pitchFamily="34" charset="0"/>
              </a:rPr>
              <a:t>(String </a:t>
            </a:r>
            <a:r>
              <a:rPr lang="en-US" sz="1700" b="1" dirty="0" err="1">
                <a:solidFill>
                  <a:srgbClr val="0000FF"/>
                </a:solidFill>
                <a:latin typeface="+mj-lt"/>
                <a:cs typeface="Arial" panose="020B0604020202020204" pitchFamily="34" charset="0"/>
              </a:rPr>
              <a:t>libName</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setIn</a:t>
            </a:r>
            <a:r>
              <a:rPr lang="en-US" sz="1700" b="1" dirty="0">
                <a:solidFill>
                  <a:srgbClr val="0000FF"/>
                </a:solidFill>
                <a:latin typeface="+mj-lt"/>
                <a:cs typeface="Arial" panose="020B0604020202020204" pitchFamily="34" charset="0"/>
              </a:rPr>
              <a:t>(</a:t>
            </a:r>
            <a:r>
              <a:rPr lang="en-US" sz="1700" b="1" dirty="0" err="1">
                <a:solidFill>
                  <a:srgbClr val="0000FF"/>
                </a:solidFill>
                <a:latin typeface="+mj-lt"/>
                <a:cs typeface="Arial" panose="020B0604020202020204" pitchFamily="34" charset="0"/>
              </a:rPr>
              <a:t>InputStream</a:t>
            </a:r>
            <a:r>
              <a:rPr lang="en-US" sz="1700" b="1" dirty="0">
                <a:solidFill>
                  <a:srgbClr val="0000FF"/>
                </a:solidFill>
                <a:latin typeface="+mj-lt"/>
                <a:cs typeface="Arial" panose="020B0604020202020204" pitchFamily="34" charset="0"/>
              </a:rPr>
              <a:t> is)</a:t>
            </a: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setOut</a:t>
            </a:r>
            <a:r>
              <a:rPr lang="en-US" sz="1700" b="1" dirty="0">
                <a:solidFill>
                  <a:srgbClr val="0000FF"/>
                </a:solidFill>
                <a:latin typeface="+mj-lt"/>
                <a:cs typeface="Arial" panose="020B0604020202020204" pitchFamily="34" charset="0"/>
              </a:rPr>
              <a:t>(</a:t>
            </a:r>
            <a:r>
              <a:rPr lang="en-US" sz="1700" b="1" dirty="0" err="1">
                <a:solidFill>
                  <a:srgbClr val="0000FF"/>
                </a:solidFill>
                <a:latin typeface="+mj-lt"/>
                <a:cs typeface="Arial" panose="020B0604020202020204" pitchFamily="34" charset="0"/>
              </a:rPr>
              <a:t>OutputStream</a:t>
            </a:r>
            <a:r>
              <a:rPr lang="en-US" sz="1700" b="1" dirty="0">
                <a:solidFill>
                  <a:srgbClr val="0000FF"/>
                </a:solidFill>
                <a:latin typeface="+mj-lt"/>
                <a:cs typeface="Arial" panose="020B0604020202020204" pitchFamily="34" charset="0"/>
              </a:rPr>
              <a:t> </a:t>
            </a:r>
            <a:r>
              <a:rPr lang="en-US" sz="1700" b="1" dirty="0" err="1">
                <a:solidFill>
                  <a:srgbClr val="0000FF"/>
                </a:solidFill>
                <a:latin typeface="+mj-lt"/>
                <a:cs typeface="Arial" panose="020B0604020202020204" pitchFamily="34" charset="0"/>
              </a:rPr>
              <a:t>os</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void </a:t>
            </a:r>
            <a:r>
              <a:rPr lang="en-US" sz="1700" b="1" dirty="0" err="1">
                <a:solidFill>
                  <a:srgbClr val="0000FF"/>
                </a:solidFill>
                <a:latin typeface="+mj-lt"/>
                <a:cs typeface="Arial" panose="020B0604020202020204" pitchFamily="34" charset="0"/>
              </a:rPr>
              <a:t>setErr</a:t>
            </a:r>
            <a:r>
              <a:rPr lang="en-US" sz="1700" b="1" dirty="0">
                <a:solidFill>
                  <a:srgbClr val="0000FF"/>
                </a:solidFill>
                <a:latin typeface="+mj-lt"/>
                <a:cs typeface="Arial" panose="020B0604020202020204" pitchFamily="34" charset="0"/>
              </a:rPr>
              <a:t>(</a:t>
            </a:r>
            <a:r>
              <a:rPr lang="en-US" sz="1700" b="1" dirty="0" err="1">
                <a:solidFill>
                  <a:srgbClr val="0000FF"/>
                </a:solidFill>
                <a:latin typeface="+mj-lt"/>
                <a:cs typeface="Arial" panose="020B0604020202020204" pitchFamily="34" charset="0"/>
              </a:rPr>
              <a:t>OutputStream</a:t>
            </a:r>
            <a:r>
              <a:rPr lang="en-US" sz="1700" b="1" dirty="0">
                <a:solidFill>
                  <a:srgbClr val="0000FF"/>
                </a:solidFill>
                <a:latin typeface="+mj-lt"/>
                <a:cs typeface="Arial" panose="020B0604020202020204" pitchFamily="34" charset="0"/>
              </a:rPr>
              <a:t> </a:t>
            </a:r>
            <a:r>
              <a:rPr lang="en-US" sz="1700" b="1" dirty="0" err="1">
                <a:solidFill>
                  <a:srgbClr val="0000FF"/>
                </a:solidFill>
                <a:latin typeface="+mj-lt"/>
                <a:cs typeface="Arial" panose="020B0604020202020204" pitchFamily="34" charset="0"/>
              </a:rPr>
              <a:t>os</a:t>
            </a:r>
            <a:r>
              <a:rPr lang="en-US" sz="1700" b="1" dirty="0">
                <a:solidFill>
                  <a:srgbClr val="0000FF"/>
                </a:solidFill>
                <a:latin typeface="+mj-lt"/>
                <a:cs typeface="Arial" panose="020B0604020202020204" pitchFamily="34" charset="0"/>
              </a:rPr>
              <a:t>)</a:t>
            </a:r>
          </a:p>
          <a:p>
            <a:r>
              <a:rPr lang="en-US" sz="1700" b="1" dirty="0">
                <a:solidFill>
                  <a:srgbClr val="0000FF"/>
                </a:solidFill>
                <a:latin typeface="+mj-lt"/>
                <a:cs typeface="Arial" panose="020B0604020202020204" pitchFamily="34" charset="0"/>
              </a:rPr>
              <a:t>public static Console </a:t>
            </a:r>
            <a:r>
              <a:rPr lang="en-US" sz="1700" b="1" dirty="0" err="1">
                <a:solidFill>
                  <a:srgbClr val="0000FF"/>
                </a:solidFill>
                <a:latin typeface="+mj-lt"/>
                <a:cs typeface="Arial" panose="020B0604020202020204" pitchFamily="34" charset="0"/>
              </a:rPr>
              <a:t>getConsole</a:t>
            </a:r>
            <a:r>
              <a:rPr lang="en-US" sz="1700" b="1" dirty="0">
                <a:solidFill>
                  <a:srgbClr val="0000FF"/>
                </a:solidFill>
                <a:latin typeface="+mj-lt"/>
                <a:cs typeface="Arial" panose="020B0604020202020204" pitchFamily="34" charset="0"/>
              </a:rPr>
              <a:t>()</a:t>
            </a:r>
          </a:p>
        </p:txBody>
      </p:sp>
      <p:sp>
        <p:nvSpPr>
          <p:cNvPr id="7" name="Footer Placeholder 6">
            <a:extLst>
              <a:ext uri="{FF2B5EF4-FFF2-40B4-BE49-F238E27FC236}">
                <a16:creationId xmlns:a16="http://schemas.microsoft.com/office/drawing/2014/main" id="{5FA7D735-6549-E940-D256-191D708C9C9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93195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6" name="TextBox 5">
            <a:extLst>
              <a:ext uri="{FF2B5EF4-FFF2-40B4-BE49-F238E27FC236}">
                <a16:creationId xmlns:a16="http://schemas.microsoft.com/office/drawing/2014/main" id="{7815B87C-FC24-7BC1-15AF-F080E389862F}"/>
              </a:ext>
            </a:extLst>
          </p:cNvPr>
          <p:cNvSpPr txBox="1"/>
          <p:nvPr/>
        </p:nvSpPr>
        <p:spPr>
          <a:xfrm>
            <a:off x="895126" y="778332"/>
            <a:ext cx="3060005" cy="769441"/>
          </a:xfrm>
          <a:prstGeom prst="rect">
            <a:avLst/>
          </a:prstGeom>
          <a:noFill/>
        </p:spPr>
        <p:txBody>
          <a:bodyPr wrap="none" rtlCol="0">
            <a:spAutoFit/>
          </a:bodyPr>
          <a:lstStyle/>
          <a:p>
            <a:r>
              <a:rPr lang="en-US" sz="4400" b="1" dirty="0">
                <a:solidFill>
                  <a:srgbClr val="0000FF"/>
                </a:solidFill>
                <a:latin typeface="+mj-lt"/>
                <a:cs typeface="Arial" panose="020B0604020202020204" pitchFamily="34" charset="0"/>
              </a:rPr>
              <a:t>class System </a:t>
            </a:r>
          </a:p>
        </p:txBody>
      </p:sp>
      <p:sp>
        <p:nvSpPr>
          <p:cNvPr id="9" name="TextBox 8">
            <a:extLst>
              <a:ext uri="{FF2B5EF4-FFF2-40B4-BE49-F238E27FC236}">
                <a16:creationId xmlns:a16="http://schemas.microsoft.com/office/drawing/2014/main" id="{EB47F8DB-94EF-B182-609B-692B4CC300A3}"/>
              </a:ext>
            </a:extLst>
          </p:cNvPr>
          <p:cNvSpPr txBox="1"/>
          <p:nvPr/>
        </p:nvSpPr>
        <p:spPr>
          <a:xfrm>
            <a:off x="999747" y="1386409"/>
            <a:ext cx="8569560" cy="3754874"/>
          </a:xfrm>
          <a:prstGeom prst="rect">
            <a:avLst/>
          </a:prstGeom>
          <a:noFill/>
        </p:spPr>
        <p:txBody>
          <a:bodyPr wrap="square" rtlCol="0">
            <a:spAutoFit/>
          </a:bodyPr>
          <a:lstStyle/>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InputStream</a:t>
            </a:r>
            <a:r>
              <a:rPr lang="en-US" sz="1700" b="1" dirty="0">
                <a:solidFill>
                  <a:srgbClr val="0000FF"/>
                </a:solidFill>
                <a:latin typeface="+mj-lt"/>
                <a:cs typeface="Arial" panose="020B0604020202020204" pitchFamily="34" charset="0"/>
              </a:rPr>
              <a:t> in;</a:t>
            </a:r>
          </a:p>
          <a:p>
            <a:pPr algn="just"/>
            <a:r>
              <a:rPr lang="en-US" sz="1700" dirty="0">
                <a:solidFill>
                  <a:srgbClr val="0000FF"/>
                </a:solidFill>
                <a:latin typeface="+mj-lt"/>
                <a:cs typeface="Arial" panose="020B0604020202020204" pitchFamily="34" charset="0"/>
              </a:rPr>
              <a:t>Also called as standard input stream STDIN. This stream is already open and ready to supply user input. This stream by default points to STDIN keyboard. Through </a:t>
            </a:r>
            <a:r>
              <a:rPr lang="en-US" sz="1700" dirty="0" err="1">
                <a:solidFill>
                  <a:srgbClr val="0000FF"/>
                </a:solidFill>
                <a:latin typeface="+mj-lt"/>
                <a:cs typeface="Arial" panose="020B0604020202020204" pitchFamily="34" charset="0"/>
              </a:rPr>
              <a:t>setIn</a:t>
            </a:r>
            <a:r>
              <a:rPr lang="en-US" sz="1700" dirty="0">
                <a:solidFill>
                  <a:srgbClr val="0000FF"/>
                </a:solidFill>
                <a:latin typeface="+mj-lt"/>
                <a:cs typeface="Arial" panose="020B0604020202020204" pitchFamily="34" charset="0"/>
              </a:rPr>
              <a:t>(</a:t>
            </a:r>
            <a:r>
              <a:rPr lang="en-US" sz="1700" dirty="0" err="1">
                <a:solidFill>
                  <a:srgbClr val="0000FF"/>
                </a:solidFill>
                <a:latin typeface="+mj-lt"/>
                <a:cs typeface="Arial" panose="020B0604020202020204" pitchFamily="34" charset="0"/>
              </a:rPr>
              <a:t>InputStream</a:t>
            </a:r>
            <a:r>
              <a:rPr lang="en-US" sz="1700" dirty="0">
                <a:solidFill>
                  <a:srgbClr val="0000FF"/>
                </a:solidFill>
                <a:latin typeface="+mj-lt"/>
                <a:cs typeface="Arial" panose="020B0604020202020204" pitchFamily="34" charset="0"/>
              </a:rPr>
              <a:t> is) function we can change the input stream object pointing by System.in.</a:t>
            </a:r>
          </a:p>
          <a:p>
            <a:endParaRPr lang="en-US" sz="1700" b="1" dirty="0">
              <a:solidFill>
                <a:srgbClr val="0000FF"/>
              </a:solidFill>
              <a:latin typeface="+mj-lt"/>
              <a:cs typeface="Arial" panose="020B0604020202020204" pitchFamily="34" charset="0"/>
            </a:endParaRPr>
          </a:p>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PrintStream</a:t>
            </a:r>
            <a:r>
              <a:rPr lang="en-US" sz="1700" b="1" dirty="0">
                <a:solidFill>
                  <a:srgbClr val="0000FF"/>
                </a:solidFill>
                <a:latin typeface="+mj-lt"/>
                <a:cs typeface="Arial" panose="020B0604020202020204" pitchFamily="34" charset="0"/>
              </a:rPr>
              <a:t> out;</a:t>
            </a:r>
          </a:p>
          <a:p>
            <a:r>
              <a:rPr lang="en-US" sz="1700" dirty="0">
                <a:solidFill>
                  <a:srgbClr val="0000FF"/>
                </a:solidFill>
                <a:latin typeface="+mj-lt"/>
                <a:cs typeface="Arial" panose="020B0604020202020204" pitchFamily="34" charset="0"/>
              </a:rPr>
              <a:t>Also called as standard output stream STDOUT. This stream is already opened to ready to write data onto any standard output device monitor. Through </a:t>
            </a:r>
            <a:r>
              <a:rPr lang="en-US" sz="1700" dirty="0" err="1">
                <a:solidFill>
                  <a:srgbClr val="0000FF"/>
                </a:solidFill>
                <a:latin typeface="+mj-lt"/>
                <a:cs typeface="Arial" panose="020B0604020202020204" pitchFamily="34" charset="0"/>
              </a:rPr>
              <a:t>setOut</a:t>
            </a:r>
            <a:r>
              <a:rPr lang="en-US" sz="1700" dirty="0">
                <a:solidFill>
                  <a:srgbClr val="0000FF"/>
                </a:solidFill>
                <a:latin typeface="+mj-lt"/>
                <a:cs typeface="Arial" panose="020B0604020202020204" pitchFamily="34" charset="0"/>
              </a:rPr>
              <a:t>(</a:t>
            </a:r>
            <a:r>
              <a:rPr lang="en-US" sz="1700" dirty="0" err="1">
                <a:solidFill>
                  <a:srgbClr val="0000FF"/>
                </a:solidFill>
                <a:latin typeface="+mj-lt"/>
                <a:cs typeface="Arial" panose="020B0604020202020204" pitchFamily="34" charset="0"/>
              </a:rPr>
              <a:t>OutputStream</a:t>
            </a:r>
            <a:r>
              <a:rPr lang="en-US" sz="1700" dirty="0">
                <a:solidFill>
                  <a:srgbClr val="0000FF"/>
                </a:solidFill>
                <a:latin typeface="+mj-lt"/>
                <a:cs typeface="Arial" panose="020B0604020202020204" pitchFamily="34" charset="0"/>
              </a:rPr>
              <a:t> </a:t>
            </a:r>
            <a:r>
              <a:rPr lang="en-US" sz="1700" dirty="0" err="1">
                <a:solidFill>
                  <a:srgbClr val="0000FF"/>
                </a:solidFill>
                <a:latin typeface="+mj-lt"/>
                <a:cs typeface="Arial" panose="020B0604020202020204" pitchFamily="34" charset="0"/>
              </a:rPr>
              <a:t>os</a:t>
            </a:r>
            <a:r>
              <a:rPr lang="en-US" sz="1700" dirty="0">
                <a:solidFill>
                  <a:srgbClr val="0000FF"/>
                </a:solidFill>
                <a:latin typeface="+mj-lt"/>
                <a:cs typeface="Arial" panose="020B0604020202020204" pitchFamily="34" charset="0"/>
              </a:rPr>
              <a:t>) function we can change the </a:t>
            </a:r>
            <a:r>
              <a:rPr lang="en-US" sz="1700" dirty="0" err="1">
                <a:solidFill>
                  <a:srgbClr val="0000FF"/>
                </a:solidFill>
                <a:latin typeface="+mj-lt"/>
                <a:cs typeface="Arial" panose="020B0604020202020204" pitchFamily="34" charset="0"/>
              </a:rPr>
              <a:t>outputstream</a:t>
            </a:r>
            <a:r>
              <a:rPr lang="en-US" sz="1700" dirty="0">
                <a:solidFill>
                  <a:srgbClr val="0000FF"/>
                </a:solidFill>
                <a:latin typeface="+mj-lt"/>
                <a:cs typeface="Arial" panose="020B0604020202020204" pitchFamily="34" charset="0"/>
              </a:rPr>
              <a:t> object pointing by </a:t>
            </a:r>
            <a:r>
              <a:rPr lang="en-US" sz="1700" dirty="0" err="1">
                <a:solidFill>
                  <a:srgbClr val="0000FF"/>
                </a:solidFill>
                <a:latin typeface="+mj-lt"/>
                <a:cs typeface="Arial" panose="020B0604020202020204" pitchFamily="34" charset="0"/>
              </a:rPr>
              <a:t>System.out</a:t>
            </a:r>
            <a:r>
              <a:rPr lang="en-US" sz="1700" dirty="0">
                <a:solidFill>
                  <a:srgbClr val="0000FF"/>
                </a:solidFill>
                <a:latin typeface="+mj-lt"/>
                <a:cs typeface="Arial" panose="020B0604020202020204" pitchFamily="34" charset="0"/>
              </a:rPr>
              <a:t>.</a:t>
            </a:r>
          </a:p>
          <a:p>
            <a:endParaRPr lang="en-US" sz="1700" dirty="0">
              <a:solidFill>
                <a:srgbClr val="0000FF"/>
              </a:solidFill>
              <a:latin typeface="+mj-lt"/>
              <a:cs typeface="Arial" panose="020B0604020202020204" pitchFamily="34" charset="0"/>
            </a:endParaRPr>
          </a:p>
          <a:p>
            <a:r>
              <a:rPr lang="en-US" sz="1700" b="1" dirty="0">
                <a:solidFill>
                  <a:srgbClr val="0000FF"/>
                </a:solidFill>
                <a:latin typeface="+mj-lt"/>
                <a:cs typeface="Arial" panose="020B0604020202020204" pitchFamily="34" charset="0"/>
              </a:rPr>
              <a:t>public static </a:t>
            </a:r>
            <a:r>
              <a:rPr lang="en-US" sz="1700" b="1" dirty="0" err="1">
                <a:solidFill>
                  <a:srgbClr val="0000FF"/>
                </a:solidFill>
                <a:latin typeface="+mj-lt"/>
                <a:cs typeface="Arial" panose="020B0604020202020204" pitchFamily="34" charset="0"/>
              </a:rPr>
              <a:t>PrintStream</a:t>
            </a:r>
            <a:r>
              <a:rPr lang="en-US" sz="1700" b="1" dirty="0">
                <a:solidFill>
                  <a:srgbClr val="0000FF"/>
                </a:solidFill>
                <a:latin typeface="+mj-lt"/>
                <a:cs typeface="Arial" panose="020B0604020202020204" pitchFamily="34" charset="0"/>
              </a:rPr>
              <a:t> err;</a:t>
            </a:r>
          </a:p>
          <a:p>
            <a:r>
              <a:rPr lang="en-US" sz="1700" dirty="0">
                <a:solidFill>
                  <a:srgbClr val="0000FF"/>
                </a:solidFill>
                <a:latin typeface="+mj-lt"/>
                <a:cs typeface="Arial" panose="020B0604020202020204" pitchFamily="34" charset="0"/>
              </a:rPr>
              <a:t>This stream is used to display error messages on STDERR device typical our system monitor by default. using </a:t>
            </a:r>
            <a:r>
              <a:rPr lang="en-US" sz="1700" dirty="0" err="1">
                <a:solidFill>
                  <a:srgbClr val="0000FF"/>
                </a:solidFill>
                <a:latin typeface="+mj-lt"/>
                <a:cs typeface="Arial" panose="020B0604020202020204" pitchFamily="34" charset="0"/>
              </a:rPr>
              <a:t>setErr</a:t>
            </a:r>
            <a:r>
              <a:rPr lang="en-US" sz="1700" dirty="0">
                <a:solidFill>
                  <a:srgbClr val="0000FF"/>
                </a:solidFill>
                <a:latin typeface="+mj-lt"/>
                <a:cs typeface="Arial" panose="020B0604020202020204" pitchFamily="34" charset="0"/>
              </a:rPr>
              <a:t>(</a:t>
            </a:r>
            <a:r>
              <a:rPr lang="en-US" sz="1700" dirty="0" err="1">
                <a:solidFill>
                  <a:srgbClr val="0000FF"/>
                </a:solidFill>
                <a:latin typeface="+mj-lt"/>
                <a:cs typeface="Arial" panose="020B0604020202020204" pitchFamily="34" charset="0"/>
              </a:rPr>
              <a:t>OutputStream</a:t>
            </a:r>
            <a:r>
              <a:rPr lang="en-US" sz="1700" dirty="0">
                <a:solidFill>
                  <a:srgbClr val="0000FF"/>
                </a:solidFill>
                <a:latin typeface="+mj-lt"/>
                <a:cs typeface="Arial" panose="020B0604020202020204" pitchFamily="34" charset="0"/>
              </a:rPr>
              <a:t> </a:t>
            </a:r>
            <a:r>
              <a:rPr lang="en-US" sz="1700" dirty="0" err="1">
                <a:solidFill>
                  <a:srgbClr val="0000FF"/>
                </a:solidFill>
                <a:latin typeface="+mj-lt"/>
                <a:cs typeface="Arial" panose="020B0604020202020204" pitchFamily="34" charset="0"/>
              </a:rPr>
              <a:t>os</a:t>
            </a:r>
            <a:r>
              <a:rPr lang="en-US" sz="1700" dirty="0">
                <a:solidFill>
                  <a:srgbClr val="0000FF"/>
                </a:solidFill>
                <a:latin typeface="+mj-lt"/>
                <a:cs typeface="Arial" panose="020B0604020202020204" pitchFamily="34" charset="0"/>
              </a:rPr>
              <a:t>) function we can change STDERR device pointing to error log file onto any output device.</a:t>
            </a:r>
          </a:p>
        </p:txBody>
      </p:sp>
      <p:sp>
        <p:nvSpPr>
          <p:cNvPr id="7" name="Footer Placeholder 6">
            <a:extLst>
              <a:ext uri="{FF2B5EF4-FFF2-40B4-BE49-F238E27FC236}">
                <a16:creationId xmlns:a16="http://schemas.microsoft.com/office/drawing/2014/main" id="{81642F80-CABD-B11F-F5F0-3AED7A8F81F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12612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6" name="TextBox 5">
            <a:extLst>
              <a:ext uri="{FF2B5EF4-FFF2-40B4-BE49-F238E27FC236}">
                <a16:creationId xmlns:a16="http://schemas.microsoft.com/office/drawing/2014/main" id="{7815B87C-FC24-7BC1-15AF-F080E389862F}"/>
              </a:ext>
            </a:extLst>
          </p:cNvPr>
          <p:cNvSpPr txBox="1"/>
          <p:nvPr/>
        </p:nvSpPr>
        <p:spPr>
          <a:xfrm>
            <a:off x="895126" y="603521"/>
            <a:ext cx="3060005" cy="769441"/>
          </a:xfrm>
          <a:prstGeom prst="rect">
            <a:avLst/>
          </a:prstGeom>
          <a:noFill/>
        </p:spPr>
        <p:txBody>
          <a:bodyPr wrap="none" rtlCol="0">
            <a:spAutoFit/>
          </a:bodyPr>
          <a:lstStyle/>
          <a:p>
            <a:r>
              <a:rPr lang="en-US" sz="4400" b="1" dirty="0">
                <a:solidFill>
                  <a:srgbClr val="0000FF"/>
                </a:solidFill>
                <a:latin typeface="+mj-lt"/>
                <a:cs typeface="Arial" panose="020B0604020202020204" pitchFamily="34" charset="0"/>
              </a:rPr>
              <a:t>class System </a:t>
            </a:r>
          </a:p>
        </p:txBody>
      </p:sp>
      <p:sp>
        <p:nvSpPr>
          <p:cNvPr id="9" name="TextBox 8">
            <a:extLst>
              <a:ext uri="{FF2B5EF4-FFF2-40B4-BE49-F238E27FC236}">
                <a16:creationId xmlns:a16="http://schemas.microsoft.com/office/drawing/2014/main" id="{EB47F8DB-94EF-B182-609B-692B4CC300A3}"/>
              </a:ext>
            </a:extLst>
          </p:cNvPr>
          <p:cNvSpPr txBox="1"/>
          <p:nvPr/>
        </p:nvSpPr>
        <p:spPr>
          <a:xfrm>
            <a:off x="441563" y="1292973"/>
            <a:ext cx="5096253" cy="4770537"/>
          </a:xfrm>
          <a:prstGeom prst="rect">
            <a:avLst/>
          </a:prstGeom>
          <a:noFill/>
        </p:spPr>
        <p:txBody>
          <a:bodyPr wrap="square" rtlCol="0">
            <a:spAutoFit/>
          </a:bodyPr>
          <a:lstStyle/>
          <a:p>
            <a:r>
              <a:rPr lang="en-US" sz="1600" b="1" dirty="0">
                <a:solidFill>
                  <a:srgbClr val="0000FF"/>
                </a:solidFill>
                <a:latin typeface="+mj-lt"/>
                <a:cs typeface="Arial" panose="020B0604020202020204" pitchFamily="34" charset="0"/>
              </a:rPr>
              <a:t>// DisplaySystemPropertiesEnvVars.java</a:t>
            </a:r>
          </a:p>
          <a:p>
            <a:r>
              <a:rPr lang="en-US" sz="1600" b="1" dirty="0">
                <a:solidFill>
                  <a:srgbClr val="0000FF"/>
                </a:solidFill>
                <a:latin typeface="+mj-lt"/>
                <a:cs typeface="Arial" panose="020B0604020202020204" pitchFamily="34" charset="0"/>
              </a:rPr>
              <a:t>import </a:t>
            </a:r>
            <a:r>
              <a:rPr lang="en-US" sz="1600" b="1" dirty="0" err="1">
                <a:solidFill>
                  <a:srgbClr val="0000FF"/>
                </a:solidFill>
                <a:latin typeface="+mj-lt"/>
                <a:cs typeface="Arial" panose="020B0604020202020204" pitchFamily="34" charset="0"/>
              </a:rPr>
              <a:t>java.util</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import java.io.*;</a:t>
            </a:r>
          </a:p>
          <a:p>
            <a:r>
              <a:rPr lang="en-US" sz="1600" b="1" dirty="0">
                <a:solidFill>
                  <a:srgbClr val="0000FF"/>
                </a:solidFill>
                <a:latin typeface="+mj-lt"/>
                <a:cs typeface="Arial" panose="020B0604020202020204" pitchFamily="34" charset="0"/>
              </a:rPr>
              <a:t>public class </a:t>
            </a:r>
            <a:r>
              <a:rPr lang="en-US" sz="1600" b="1" dirty="0" err="1">
                <a:solidFill>
                  <a:srgbClr val="0000FF"/>
                </a:solidFill>
                <a:latin typeface="+mj-lt"/>
                <a:cs typeface="Arial" panose="020B0604020202020204" pitchFamily="34" charset="0"/>
              </a:rPr>
              <a:t>DisplaySystemPropertiesEnvVars</a:t>
            </a:r>
            <a:r>
              <a:rPr lang="en-US" sz="1600" b="1" dirty="0">
                <a:solidFill>
                  <a:srgbClr val="0000FF"/>
                </a:solidFill>
                <a:latin typeface="+mj-lt"/>
                <a:cs typeface="Arial" panose="020B0604020202020204" pitchFamily="34" charset="0"/>
              </a:rPr>
              <a:t> {</a:t>
            </a:r>
          </a:p>
          <a:p>
            <a:r>
              <a:rPr lang="en-US" sz="1600" b="1" dirty="0">
                <a:solidFill>
                  <a:srgbClr val="0000FF"/>
                </a:solidFill>
                <a:latin typeface="+mj-lt"/>
                <a:cs typeface="Arial" panose="020B0604020202020204" pitchFamily="34" charset="0"/>
              </a:rPr>
              <a:t>  public static void main(String rags[]) throws Exception {</a:t>
            </a:r>
          </a:p>
          <a:p>
            <a:r>
              <a:rPr lang="en-US" sz="1600" b="1" dirty="0">
                <a:solidFill>
                  <a:srgbClr val="0000FF"/>
                </a:solidFill>
                <a:latin typeface="+mj-lt"/>
                <a:cs typeface="Arial" panose="020B0604020202020204" pitchFamily="34" charset="0"/>
              </a:rPr>
              <a:t>    Properties p=</a:t>
            </a:r>
            <a:r>
              <a:rPr lang="en-US" sz="1600" b="1" dirty="0" err="1">
                <a:solidFill>
                  <a:srgbClr val="0000FF"/>
                </a:solidFill>
                <a:latin typeface="+mj-lt"/>
                <a:cs typeface="Arial" panose="020B0604020202020204" pitchFamily="34" charset="0"/>
              </a:rPr>
              <a:t>System.getProperties</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Enumeration </a:t>
            </a:r>
            <a:r>
              <a:rPr lang="en-US" sz="1600" b="1" dirty="0" err="1">
                <a:solidFill>
                  <a:srgbClr val="0000FF"/>
                </a:solidFill>
                <a:latin typeface="+mj-lt"/>
                <a:cs typeface="Arial" panose="020B0604020202020204" pitchFamily="34" charset="0"/>
              </a:rPr>
              <a:t>en</a:t>
            </a:r>
            <a:r>
              <a:rPr lang="en-US" sz="1600" b="1" dirty="0">
                <a:solidFill>
                  <a:srgbClr val="0000FF"/>
                </a:solidFill>
                <a:latin typeface="+mj-lt"/>
                <a:cs typeface="Arial" panose="020B0604020202020204" pitchFamily="34" charset="0"/>
              </a:rPr>
              <a:t>=</a:t>
            </a:r>
            <a:r>
              <a:rPr lang="en-US" sz="1600" b="1" dirty="0" err="1">
                <a:solidFill>
                  <a:srgbClr val="0000FF"/>
                </a:solidFill>
                <a:latin typeface="+mj-lt"/>
                <a:cs typeface="Arial" panose="020B0604020202020204" pitchFamily="34" charset="0"/>
              </a:rPr>
              <a:t>p.propertyNames</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while(</a:t>
            </a:r>
            <a:r>
              <a:rPr lang="en-US" sz="1600" b="1" dirty="0" err="1">
                <a:solidFill>
                  <a:srgbClr val="0000FF"/>
                </a:solidFill>
                <a:latin typeface="+mj-lt"/>
                <a:cs typeface="Arial" panose="020B0604020202020204" pitchFamily="34" charset="0"/>
              </a:rPr>
              <a:t>en.hasMoreElements</a:t>
            </a:r>
            <a:r>
              <a:rPr lang="en-US" sz="1600" b="1" dirty="0">
                <a:solidFill>
                  <a:srgbClr val="0000FF"/>
                </a:solidFill>
                <a:latin typeface="+mj-lt"/>
                <a:cs typeface="Arial" panose="020B0604020202020204" pitchFamily="34" charset="0"/>
              </a:rPr>
              <a:t>()) {</a:t>
            </a:r>
          </a:p>
          <a:p>
            <a:r>
              <a:rPr lang="en-US" sz="1600" b="1" dirty="0">
                <a:solidFill>
                  <a:srgbClr val="0000FF"/>
                </a:solidFill>
                <a:latin typeface="+mj-lt"/>
                <a:cs typeface="Arial" panose="020B0604020202020204" pitchFamily="34" charset="0"/>
              </a:rPr>
              <a:t>       String name=</a:t>
            </a:r>
            <a:r>
              <a:rPr lang="en-US" sz="1600" b="1" dirty="0" err="1">
                <a:solidFill>
                  <a:srgbClr val="0000FF"/>
                </a:solidFill>
                <a:latin typeface="+mj-lt"/>
                <a:cs typeface="Arial" panose="020B0604020202020204" pitchFamily="34" charset="0"/>
              </a:rPr>
              <a:t>en.nextElement</a:t>
            </a:r>
            <a:r>
              <a:rPr lang="en-US" sz="1600" b="1" dirty="0">
                <a:solidFill>
                  <a:srgbClr val="0000FF"/>
                </a:solidFill>
                <a:latin typeface="+mj-lt"/>
                <a:cs typeface="Arial" panose="020B0604020202020204" pitchFamily="34" charset="0"/>
              </a:rPr>
              <a:t>().</a:t>
            </a:r>
            <a:r>
              <a:rPr lang="en-US" sz="1600" b="1" dirty="0" err="1">
                <a:solidFill>
                  <a:srgbClr val="0000FF"/>
                </a:solidFill>
                <a:latin typeface="+mj-lt"/>
                <a:cs typeface="Arial" panose="020B0604020202020204" pitchFamily="34" charset="0"/>
              </a:rPr>
              <a:t>toString</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String value=</a:t>
            </a:r>
            <a:r>
              <a:rPr lang="en-US" sz="1600" b="1" dirty="0" err="1">
                <a:solidFill>
                  <a:srgbClr val="0000FF"/>
                </a:solidFill>
                <a:latin typeface="+mj-lt"/>
                <a:cs typeface="Arial" panose="020B0604020202020204" pitchFamily="34" charset="0"/>
              </a:rPr>
              <a:t>p.getProperty</a:t>
            </a:r>
            <a:r>
              <a:rPr lang="en-US" sz="1600" b="1" dirty="0">
                <a:solidFill>
                  <a:srgbClr val="0000FF"/>
                </a:solidFill>
                <a:latin typeface="+mj-lt"/>
                <a:cs typeface="Arial" panose="020B0604020202020204" pitchFamily="34" charset="0"/>
              </a:rPr>
              <a:t>(name);</a:t>
            </a:r>
          </a:p>
          <a:p>
            <a:r>
              <a:rPr lang="en-US" sz="1600" b="1" dirty="0">
                <a:solidFill>
                  <a:srgbClr val="0000FF"/>
                </a:solidFill>
                <a:latin typeface="+mj-lt"/>
                <a:cs typeface="Arial" panose="020B0604020202020204" pitchFamily="34" charset="0"/>
              </a:rPr>
              <a:t>       </a:t>
            </a:r>
            <a:r>
              <a:rPr lang="en-US" sz="1600" b="1" dirty="0" err="1">
                <a:solidFill>
                  <a:srgbClr val="0000FF"/>
                </a:solidFill>
                <a:latin typeface="+mj-lt"/>
                <a:cs typeface="Arial" panose="020B0604020202020204" pitchFamily="34" charset="0"/>
              </a:rPr>
              <a:t>System.out.println</a:t>
            </a:r>
            <a:r>
              <a:rPr lang="en-US" sz="1600" b="1" dirty="0">
                <a:solidFill>
                  <a:srgbClr val="0000FF"/>
                </a:solidFill>
                <a:latin typeface="+mj-lt"/>
                <a:cs typeface="Arial" panose="020B0604020202020204" pitchFamily="34" charset="0"/>
              </a:rPr>
              <a:t>(name+"\t\t\</a:t>
            </a:r>
            <a:r>
              <a:rPr lang="en-US" sz="1600" b="1" dirty="0" err="1">
                <a:solidFill>
                  <a:srgbClr val="0000FF"/>
                </a:solidFill>
                <a:latin typeface="+mj-lt"/>
                <a:cs typeface="Arial" panose="020B0604020202020204" pitchFamily="34" charset="0"/>
              </a:rPr>
              <a:t>t"+value</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a:t>
            </a:r>
          </a:p>
          <a:p>
            <a:r>
              <a:rPr lang="en-US" sz="1600" b="1" dirty="0">
                <a:solidFill>
                  <a:srgbClr val="0000FF"/>
                </a:solidFill>
                <a:latin typeface="+mj-lt"/>
                <a:cs typeface="Arial" panose="020B0604020202020204" pitchFamily="34" charset="0"/>
              </a:rPr>
              <a:t>		</a:t>
            </a:r>
          </a:p>
          <a:p>
            <a:r>
              <a:rPr lang="en-US" sz="1600" b="1" dirty="0">
                <a:solidFill>
                  <a:srgbClr val="0000FF"/>
                </a:solidFill>
                <a:latin typeface="+mj-lt"/>
                <a:cs typeface="Arial" panose="020B0604020202020204" pitchFamily="34" charset="0"/>
              </a:rPr>
              <a:t>    </a:t>
            </a:r>
            <a:r>
              <a:rPr lang="en-US" sz="1600" b="1" dirty="0" err="1">
                <a:solidFill>
                  <a:srgbClr val="0000FF"/>
                </a:solidFill>
                <a:latin typeface="+mj-lt"/>
                <a:cs typeface="Arial" panose="020B0604020202020204" pitchFamily="34" charset="0"/>
              </a:rPr>
              <a:t>System.out.println</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Map&lt;</a:t>
            </a:r>
            <a:r>
              <a:rPr lang="en-US" sz="1600" b="1" dirty="0" err="1">
                <a:solidFill>
                  <a:srgbClr val="0000FF"/>
                </a:solidFill>
                <a:latin typeface="+mj-lt"/>
                <a:cs typeface="Arial" panose="020B0604020202020204" pitchFamily="34" charset="0"/>
              </a:rPr>
              <a:t>String,String</a:t>
            </a:r>
            <a:r>
              <a:rPr lang="en-US" sz="1600" b="1" dirty="0">
                <a:solidFill>
                  <a:srgbClr val="0000FF"/>
                </a:solidFill>
                <a:latin typeface="+mj-lt"/>
                <a:cs typeface="Arial" panose="020B0604020202020204" pitchFamily="34" charset="0"/>
              </a:rPr>
              <a:t>&gt; map=</a:t>
            </a:r>
            <a:r>
              <a:rPr lang="en-US" sz="1600" b="1" dirty="0" err="1">
                <a:solidFill>
                  <a:srgbClr val="0000FF"/>
                </a:solidFill>
                <a:latin typeface="+mj-lt"/>
                <a:cs typeface="Arial" panose="020B0604020202020204" pitchFamily="34" charset="0"/>
              </a:rPr>
              <a:t>System.getenv</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Set&lt;String&gt; set=</a:t>
            </a:r>
            <a:r>
              <a:rPr lang="en-US" sz="1600" b="1" dirty="0" err="1">
                <a:solidFill>
                  <a:srgbClr val="0000FF"/>
                </a:solidFill>
                <a:latin typeface="+mj-lt"/>
                <a:cs typeface="Arial" panose="020B0604020202020204" pitchFamily="34" charset="0"/>
              </a:rPr>
              <a:t>map.keySet</a:t>
            </a:r>
            <a:r>
              <a:rPr lang="en-US" sz="1600" b="1" dirty="0">
                <a:solidFill>
                  <a:srgbClr val="0000FF"/>
                </a:solidFill>
                <a:latin typeface="+mj-lt"/>
                <a:cs typeface="Arial" panose="020B0604020202020204" pitchFamily="34" charset="0"/>
              </a:rPr>
              <a:t>();</a:t>
            </a:r>
          </a:p>
          <a:p>
            <a:r>
              <a:rPr lang="en-US" sz="1600" b="1" dirty="0">
                <a:solidFill>
                  <a:srgbClr val="0000FF"/>
                </a:solidFill>
                <a:latin typeface="+mj-lt"/>
                <a:cs typeface="Arial" panose="020B0604020202020204" pitchFamily="34" charset="0"/>
              </a:rPr>
              <a:t>    for(String </a:t>
            </a:r>
            <a:r>
              <a:rPr lang="en-US" sz="1600" b="1" dirty="0" err="1">
                <a:solidFill>
                  <a:srgbClr val="0000FF"/>
                </a:solidFill>
                <a:latin typeface="+mj-lt"/>
                <a:cs typeface="Arial" panose="020B0604020202020204" pitchFamily="34" charset="0"/>
              </a:rPr>
              <a:t>key:set</a:t>
            </a:r>
            <a:r>
              <a:rPr lang="en-US" sz="1600" b="1" dirty="0">
                <a:solidFill>
                  <a:srgbClr val="0000FF"/>
                </a:solidFill>
                <a:latin typeface="+mj-lt"/>
                <a:cs typeface="Arial" panose="020B0604020202020204" pitchFamily="34" charset="0"/>
              </a:rPr>
              <a:t>) {</a:t>
            </a:r>
          </a:p>
          <a:p>
            <a:r>
              <a:rPr lang="en-US" sz="1600" b="1" dirty="0">
                <a:solidFill>
                  <a:srgbClr val="0000FF"/>
                </a:solidFill>
                <a:latin typeface="+mj-lt"/>
                <a:cs typeface="Arial" panose="020B0604020202020204" pitchFamily="34" charset="0"/>
              </a:rPr>
              <a:t>       </a:t>
            </a:r>
            <a:r>
              <a:rPr lang="en-US" sz="1600" b="1" dirty="0" err="1">
                <a:solidFill>
                  <a:srgbClr val="0000FF"/>
                </a:solidFill>
                <a:latin typeface="+mj-lt"/>
                <a:cs typeface="Arial" panose="020B0604020202020204" pitchFamily="34" charset="0"/>
              </a:rPr>
              <a:t>System.out.println</a:t>
            </a:r>
            <a:r>
              <a:rPr lang="en-US" sz="1600" b="1" dirty="0">
                <a:solidFill>
                  <a:srgbClr val="0000FF"/>
                </a:solidFill>
                <a:latin typeface="+mj-lt"/>
                <a:cs typeface="Arial" panose="020B0604020202020204" pitchFamily="34" charset="0"/>
              </a:rPr>
              <a:t>(key+"\t\t\t"+</a:t>
            </a:r>
            <a:r>
              <a:rPr lang="en-US" sz="1600" b="1" dirty="0" err="1">
                <a:solidFill>
                  <a:srgbClr val="0000FF"/>
                </a:solidFill>
                <a:latin typeface="+mj-lt"/>
                <a:cs typeface="Arial" panose="020B0604020202020204" pitchFamily="34" charset="0"/>
              </a:rPr>
              <a:t>map.get</a:t>
            </a:r>
            <a:r>
              <a:rPr lang="en-US" sz="1600" b="1" dirty="0">
                <a:solidFill>
                  <a:srgbClr val="0000FF"/>
                </a:solidFill>
                <a:latin typeface="+mj-lt"/>
                <a:cs typeface="Arial" panose="020B0604020202020204" pitchFamily="34" charset="0"/>
              </a:rPr>
              <a:t>(key));</a:t>
            </a:r>
          </a:p>
          <a:p>
            <a:r>
              <a:rPr lang="en-US" sz="1600" b="1" dirty="0">
                <a:solidFill>
                  <a:srgbClr val="0000FF"/>
                </a:solidFill>
                <a:latin typeface="+mj-lt"/>
                <a:cs typeface="Arial" panose="020B0604020202020204" pitchFamily="34" charset="0"/>
              </a:rPr>
              <a:t>    }</a:t>
            </a:r>
          </a:p>
        </p:txBody>
      </p:sp>
      <p:sp>
        <p:nvSpPr>
          <p:cNvPr id="10" name="TextBox 9">
            <a:extLst>
              <a:ext uri="{FF2B5EF4-FFF2-40B4-BE49-F238E27FC236}">
                <a16:creationId xmlns:a16="http://schemas.microsoft.com/office/drawing/2014/main" id="{3447B0C0-8963-70F8-1EBE-3C1A39948F1F}"/>
              </a:ext>
            </a:extLst>
          </p:cNvPr>
          <p:cNvSpPr txBox="1"/>
          <p:nvPr/>
        </p:nvSpPr>
        <p:spPr>
          <a:xfrm>
            <a:off x="5213143" y="846469"/>
            <a:ext cx="4653942" cy="4247317"/>
          </a:xfrm>
          <a:prstGeom prst="rect">
            <a:avLst/>
          </a:prstGeom>
          <a:noFill/>
        </p:spPr>
        <p:txBody>
          <a:bodyPr wrap="square">
            <a:spAutoFit/>
          </a:bodyPr>
          <a:lstStyle/>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("Current Time in Millisecond "+</a:t>
            </a:r>
            <a:r>
              <a:rPr lang="en-US" sz="1800" b="1" dirty="0" err="1">
                <a:solidFill>
                  <a:srgbClr val="0000FF"/>
                </a:solidFill>
                <a:latin typeface="+mj-lt"/>
                <a:cs typeface="Arial" panose="020B0604020202020204" pitchFamily="34" charset="0"/>
              </a:rPr>
              <a:t>System.currentTimeMillis</a:t>
            </a:r>
            <a:r>
              <a:rPr lang="en-US" sz="1800" b="1" dirty="0">
                <a:solidFill>
                  <a:srgbClr val="0000FF"/>
                </a:solidFill>
                <a:latin typeface="+mj-lt"/>
                <a:cs typeface="Arial" panose="020B0604020202020204" pitchFamily="34" charset="0"/>
              </a:rPr>
              <a:t>());</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("date and Time "+new </a:t>
            </a:r>
            <a:r>
              <a:rPr lang="en-US" sz="1800" b="1" dirty="0" err="1">
                <a:solidFill>
                  <a:srgbClr val="0000FF"/>
                </a:solidFill>
                <a:latin typeface="+mj-lt"/>
                <a:cs typeface="Arial" panose="020B0604020202020204" pitchFamily="34" charset="0"/>
              </a:rPr>
              <a:t>java.util.Date</a:t>
            </a:r>
            <a:r>
              <a:rPr lang="en-US" sz="1800" b="1" dirty="0">
                <a:solidFill>
                  <a:srgbClr val="0000FF"/>
                </a:solidFill>
                <a:latin typeface="+mj-lt"/>
                <a:cs typeface="Arial" panose="020B0604020202020204" pitchFamily="34" charset="0"/>
              </a:rPr>
              <a:t>(</a:t>
            </a:r>
            <a:r>
              <a:rPr lang="en-US" sz="1800" b="1" dirty="0" err="1">
                <a:solidFill>
                  <a:srgbClr val="0000FF"/>
                </a:solidFill>
                <a:latin typeface="+mj-lt"/>
                <a:cs typeface="Arial" panose="020B0604020202020204" pitchFamily="34" charset="0"/>
              </a:rPr>
              <a:t>System.currentTimeMillis</a:t>
            </a:r>
            <a:r>
              <a:rPr lang="en-US" sz="1800" b="1" dirty="0">
                <a:solidFill>
                  <a:srgbClr val="0000FF"/>
                </a:solidFill>
                <a:latin typeface="+mj-lt"/>
                <a:cs typeface="Arial" panose="020B0604020202020204" pitchFamily="34" charset="0"/>
              </a:rPr>
              <a:t>()));</a:t>
            </a:r>
          </a:p>
          <a:p>
            <a:r>
              <a:rPr lang="en-US" sz="1800" b="1" dirty="0">
                <a:solidFill>
                  <a:srgbClr val="0000FF"/>
                </a:solidFill>
                <a:latin typeface="+mj-lt"/>
                <a:cs typeface="Arial" panose="020B0604020202020204" pitchFamily="34" charset="0"/>
              </a:rPr>
              <a:t>				</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PrintStream</a:t>
            </a:r>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ps</a:t>
            </a:r>
            <a:r>
              <a:rPr lang="en-US" sz="1800" b="1" dirty="0">
                <a:solidFill>
                  <a:srgbClr val="0000FF"/>
                </a:solidFill>
                <a:latin typeface="+mj-lt"/>
                <a:cs typeface="Arial" panose="020B0604020202020204" pitchFamily="34" charset="0"/>
              </a:rPr>
              <a:t>=new </a:t>
            </a:r>
            <a:r>
              <a:rPr lang="en-US" sz="1800" b="1" dirty="0" err="1">
                <a:solidFill>
                  <a:srgbClr val="0000FF"/>
                </a:solidFill>
                <a:latin typeface="+mj-lt"/>
                <a:cs typeface="Arial" panose="020B0604020202020204" pitchFamily="34" charset="0"/>
              </a:rPr>
              <a:t>PrintStream</a:t>
            </a:r>
            <a:r>
              <a:rPr lang="en-US" sz="1800" b="1" dirty="0">
                <a:solidFill>
                  <a:srgbClr val="0000FF"/>
                </a:solidFill>
                <a:latin typeface="+mj-lt"/>
                <a:cs typeface="Arial" panose="020B0604020202020204" pitchFamily="34" charset="0"/>
              </a:rPr>
              <a:t>(new </a:t>
            </a:r>
            <a:r>
              <a:rPr lang="en-US" sz="1800" b="1" dirty="0" err="1">
                <a:solidFill>
                  <a:srgbClr val="0000FF"/>
                </a:solidFill>
                <a:latin typeface="+mj-lt"/>
                <a:cs typeface="Arial" panose="020B0604020202020204" pitchFamily="34" charset="0"/>
              </a:rPr>
              <a:t>FileOutputStream</a:t>
            </a:r>
            <a:r>
              <a:rPr lang="en-US" sz="1800" b="1" dirty="0">
                <a:solidFill>
                  <a:srgbClr val="0000FF"/>
                </a:solidFill>
                <a:latin typeface="+mj-lt"/>
                <a:cs typeface="Arial" panose="020B0604020202020204" pitchFamily="34" charset="0"/>
              </a:rPr>
              <a:t>("STDOUT.txt"));</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System.setOut</a:t>
            </a:r>
            <a:r>
              <a:rPr lang="en-US" sz="1800" b="1" dirty="0">
                <a:solidFill>
                  <a:srgbClr val="0000FF"/>
                </a:solidFill>
                <a:latin typeface="+mj-lt"/>
                <a:cs typeface="Arial" panose="020B0604020202020204" pitchFamily="34" charset="0"/>
              </a:rPr>
              <a:t>(</a:t>
            </a:r>
            <a:r>
              <a:rPr lang="en-US" sz="1800" b="1" dirty="0" err="1">
                <a:solidFill>
                  <a:srgbClr val="0000FF"/>
                </a:solidFill>
                <a:latin typeface="+mj-lt"/>
                <a:cs typeface="Arial" panose="020B0604020202020204" pitchFamily="34" charset="0"/>
              </a:rPr>
              <a:t>ps</a:t>
            </a:r>
            <a:r>
              <a:rPr lang="en-US" sz="1800" b="1" dirty="0">
                <a:solidFill>
                  <a:srgbClr val="0000FF"/>
                </a:solidFill>
                <a:latin typeface="+mj-lt"/>
                <a:cs typeface="Arial" panose="020B0604020202020204" pitchFamily="34" charset="0"/>
              </a:rPr>
              <a:t>);</a:t>
            </a:r>
          </a:p>
          <a:p>
            <a:endParaRPr lang="en-US" sz="1800" b="1" dirty="0">
              <a:solidFill>
                <a:srgbClr val="0000FF"/>
              </a:solidFill>
              <a:latin typeface="+mj-lt"/>
              <a:cs typeface="Arial" panose="020B0604020202020204" pitchFamily="34" charset="0"/>
            </a:endParaRP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("Hello");</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("Hai");</a:t>
            </a:r>
          </a:p>
          <a:p>
            <a:r>
              <a:rPr lang="en-US" sz="1800" b="1" dirty="0">
                <a:solidFill>
                  <a:srgbClr val="0000FF"/>
                </a:solidFill>
                <a:latin typeface="+mj-lt"/>
                <a:cs typeface="Arial" panose="020B0604020202020204" pitchFamily="34" charset="0"/>
              </a:rPr>
              <a:t>  </a:t>
            </a:r>
            <a:r>
              <a:rPr lang="en-US" sz="1800" b="1" dirty="0" err="1">
                <a:solidFill>
                  <a:srgbClr val="0000FF"/>
                </a:solidFill>
                <a:latin typeface="+mj-lt"/>
                <a:cs typeface="Arial" panose="020B0604020202020204" pitchFamily="34" charset="0"/>
              </a:rPr>
              <a:t>System.out.println</a:t>
            </a:r>
            <a:r>
              <a:rPr lang="en-US" sz="1800" b="1" dirty="0">
                <a:solidFill>
                  <a:srgbClr val="0000FF"/>
                </a:solidFill>
                <a:latin typeface="+mj-lt"/>
                <a:cs typeface="Arial" panose="020B0604020202020204" pitchFamily="34" charset="0"/>
              </a:rPr>
              <a:t>("Bye");</a:t>
            </a:r>
          </a:p>
          <a:p>
            <a:r>
              <a:rPr lang="en-US" sz="1800" b="1" dirty="0">
                <a:solidFill>
                  <a:srgbClr val="0000FF"/>
                </a:solidFill>
                <a:latin typeface="+mj-lt"/>
                <a:cs typeface="Arial" panose="020B0604020202020204" pitchFamily="34" charset="0"/>
              </a:rPr>
              <a:t> }</a:t>
            </a:r>
          </a:p>
          <a:p>
            <a:r>
              <a:rPr lang="en-US" sz="1800" b="1" dirty="0">
                <a:solidFill>
                  <a:srgbClr val="0000FF"/>
                </a:solidFill>
                <a:latin typeface="+mj-lt"/>
                <a:cs typeface="Arial" panose="020B0604020202020204" pitchFamily="34" charset="0"/>
              </a:rPr>
              <a:t>}</a:t>
            </a:r>
            <a:endParaRPr lang="en-IN" dirty="0"/>
          </a:p>
        </p:txBody>
      </p:sp>
      <p:sp>
        <p:nvSpPr>
          <p:cNvPr id="7" name="Footer Placeholder 6">
            <a:extLst>
              <a:ext uri="{FF2B5EF4-FFF2-40B4-BE49-F238E27FC236}">
                <a16:creationId xmlns:a16="http://schemas.microsoft.com/office/drawing/2014/main" id="{BF8AE67B-F7E7-F5DA-2A13-4BA533BBF9C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26969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pic>
        <p:nvPicPr>
          <p:cNvPr id="14" name="Picture 13">
            <a:extLst>
              <a:ext uri="{FF2B5EF4-FFF2-40B4-BE49-F238E27FC236}">
                <a16:creationId xmlns:a16="http://schemas.microsoft.com/office/drawing/2014/main" id="{2BF56714-AF55-A88B-7C37-379B8F12160E}"/>
              </a:ext>
            </a:extLst>
          </p:cNvPr>
          <p:cNvPicPr>
            <a:picLocks noChangeAspect="1"/>
          </p:cNvPicPr>
          <p:nvPr/>
        </p:nvPicPr>
        <p:blipFill>
          <a:blip r:embed="rId3"/>
          <a:stretch>
            <a:fillRect/>
          </a:stretch>
        </p:blipFill>
        <p:spPr>
          <a:xfrm>
            <a:off x="0" y="1673"/>
            <a:ext cx="12192000" cy="6854653"/>
          </a:xfrm>
          <a:prstGeom prst="rect">
            <a:avLst/>
          </a:prstGeom>
        </p:spPr>
      </p:pic>
      <p:sp>
        <p:nvSpPr>
          <p:cNvPr id="6" name="Footer Placeholder 5">
            <a:extLst>
              <a:ext uri="{FF2B5EF4-FFF2-40B4-BE49-F238E27FC236}">
                <a16:creationId xmlns:a16="http://schemas.microsoft.com/office/drawing/2014/main" id="{A717889D-3009-265D-D11F-FD5EE2357A1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42597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453839" y="842779"/>
            <a:ext cx="9093571" cy="5632311"/>
          </a:xfrm>
          <a:prstGeom prst="rect">
            <a:avLst/>
          </a:prstGeom>
          <a:noFill/>
        </p:spPr>
        <p:txBody>
          <a:bodyPr wrap="square">
            <a:spAutoFit/>
          </a:bodyPr>
          <a:lstStyle/>
          <a:p>
            <a:pPr algn="just"/>
            <a:r>
              <a:rPr lang="en-IN" b="1" dirty="0"/>
              <a:t>Process and Runtime classes</a:t>
            </a:r>
            <a:endParaRPr lang="en-IN" dirty="0"/>
          </a:p>
          <a:p>
            <a:pPr algn="just"/>
            <a:r>
              <a:rPr lang="en-IN" dirty="0"/>
              <a:t>Process class is a abstract class which cannot be directly instantiated, instead this class object is returned to Runtime class exec() method.</a:t>
            </a:r>
          </a:p>
          <a:p>
            <a:pPr algn="just"/>
            <a:endParaRPr lang="en-IN" dirty="0"/>
          </a:p>
          <a:p>
            <a:pPr algn="just"/>
            <a:r>
              <a:rPr lang="en-IN" dirty="0"/>
              <a:t>Runtime class also cannot be directly instantiated because there is no public constructor exist in this class. The constructor is made as private. </a:t>
            </a:r>
          </a:p>
          <a:p>
            <a:pPr algn="just"/>
            <a:endParaRPr lang="en-IN" dirty="0"/>
          </a:p>
          <a:p>
            <a:pPr algn="just"/>
            <a:r>
              <a:rPr lang="en-IN" dirty="0"/>
              <a:t>Then how Runtime class can be instantiated and why is its constructor is made as private?</a:t>
            </a:r>
          </a:p>
          <a:p>
            <a:pPr algn="just"/>
            <a:r>
              <a:rPr lang="en-IN" dirty="0"/>
              <a:t>The actual purpose of Runtime class is to access the current JVM runtime environment. The current JVM env is nothing but from command prompt we will start java </a:t>
            </a:r>
            <a:r>
              <a:rPr lang="en-IN" dirty="0" err="1"/>
              <a:t>ClassName</a:t>
            </a:r>
            <a:r>
              <a:rPr lang="en-IN" dirty="0"/>
              <a:t>. JVM starts and </a:t>
            </a:r>
            <a:r>
              <a:rPr lang="en-IN" dirty="0" err="1"/>
              <a:t>ClassName</a:t>
            </a:r>
            <a:r>
              <a:rPr lang="en-IN" dirty="0"/>
              <a:t> will run in the JVM, in whichever JVM the </a:t>
            </a:r>
            <a:r>
              <a:rPr lang="en-IN" dirty="0" err="1"/>
              <a:t>ClassName</a:t>
            </a:r>
            <a:r>
              <a:rPr lang="en-IN" dirty="0"/>
              <a:t> is running in that class if we write </a:t>
            </a:r>
            <a:r>
              <a:rPr lang="en-IN" dirty="0" err="1"/>
              <a:t>Runtime.getRuntime</a:t>
            </a:r>
            <a:r>
              <a:rPr lang="en-IN" dirty="0"/>
              <a:t>() that corresponding JVM reference will be returned into java program.</a:t>
            </a:r>
          </a:p>
          <a:p>
            <a:pPr algn="just"/>
            <a:endParaRPr lang="en-IN" dirty="0"/>
          </a:p>
          <a:p>
            <a:pPr algn="just"/>
            <a:r>
              <a:rPr lang="en-IN" dirty="0"/>
              <a:t>class </a:t>
            </a:r>
            <a:r>
              <a:rPr lang="en-IN" dirty="0" err="1"/>
              <a:t>SomeClass</a:t>
            </a:r>
            <a:r>
              <a:rPr lang="en-IN" dirty="0"/>
              <a:t> {</a:t>
            </a:r>
          </a:p>
          <a:p>
            <a:pPr algn="just"/>
            <a:r>
              <a:rPr lang="en-IN" dirty="0"/>
              <a:t>   public static void main(String rags[]) {</a:t>
            </a:r>
          </a:p>
          <a:p>
            <a:pPr algn="just"/>
            <a:r>
              <a:rPr lang="en-IN" dirty="0"/>
              <a:t>     Runtime rt=</a:t>
            </a:r>
            <a:r>
              <a:rPr lang="en-IN" dirty="0" err="1"/>
              <a:t>Runtime.getRuntime</a:t>
            </a:r>
            <a:r>
              <a:rPr lang="en-IN" dirty="0"/>
              <a:t>();</a:t>
            </a:r>
          </a:p>
          <a:p>
            <a:pPr algn="just"/>
            <a:endParaRPr lang="en-IN" dirty="0"/>
          </a:p>
          <a:p>
            <a:pPr algn="just"/>
            <a:r>
              <a:rPr lang="en-IN" dirty="0"/>
              <a:t>   }</a:t>
            </a:r>
          </a:p>
          <a:p>
            <a:pPr algn="just"/>
            <a:r>
              <a:rPr lang="en-IN" dirty="0"/>
              <a:t>}</a:t>
            </a:r>
          </a:p>
        </p:txBody>
      </p:sp>
      <p:sp>
        <p:nvSpPr>
          <p:cNvPr id="15" name="TextBox 14">
            <a:extLst>
              <a:ext uri="{FF2B5EF4-FFF2-40B4-BE49-F238E27FC236}">
                <a16:creationId xmlns:a16="http://schemas.microsoft.com/office/drawing/2014/main" id="{DA797271-7150-EB5C-10A7-DC20C21EA29D}"/>
              </a:ext>
            </a:extLst>
          </p:cNvPr>
          <p:cNvSpPr txBox="1"/>
          <p:nvPr/>
        </p:nvSpPr>
        <p:spPr>
          <a:xfrm>
            <a:off x="4580705" y="4918371"/>
            <a:ext cx="2411766" cy="646331"/>
          </a:xfrm>
          <a:prstGeom prst="rect">
            <a:avLst/>
          </a:prstGeom>
          <a:noFill/>
        </p:spPr>
        <p:txBody>
          <a:bodyPr wrap="square">
            <a:spAutoFit/>
          </a:bodyPr>
          <a:lstStyle/>
          <a:p>
            <a:pPr algn="just"/>
            <a:r>
              <a:rPr lang="en-IN" dirty="0" err="1"/>
              <a:t>javac</a:t>
            </a:r>
            <a:r>
              <a:rPr lang="en-IN" dirty="0"/>
              <a:t> SomeClass.java</a:t>
            </a:r>
          </a:p>
          <a:p>
            <a:pPr algn="just"/>
            <a:r>
              <a:rPr lang="en-IN" dirty="0"/>
              <a:t>java </a:t>
            </a:r>
            <a:r>
              <a:rPr lang="en-IN" dirty="0" err="1"/>
              <a:t>SomeClass</a:t>
            </a:r>
            <a:endParaRPr lang="en-IN" dirty="0"/>
          </a:p>
        </p:txBody>
      </p:sp>
      <p:sp>
        <p:nvSpPr>
          <p:cNvPr id="6" name="Footer Placeholder 5">
            <a:extLst>
              <a:ext uri="{FF2B5EF4-FFF2-40B4-BE49-F238E27FC236}">
                <a16:creationId xmlns:a16="http://schemas.microsoft.com/office/drawing/2014/main" id="{269E4C2D-D0CF-38A9-BDEE-034D395B3FC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8057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453839" y="842779"/>
            <a:ext cx="9093571" cy="3416320"/>
          </a:xfrm>
          <a:prstGeom prst="rect">
            <a:avLst/>
          </a:prstGeom>
          <a:noFill/>
        </p:spPr>
        <p:txBody>
          <a:bodyPr wrap="square">
            <a:spAutoFit/>
          </a:bodyPr>
          <a:lstStyle/>
          <a:p>
            <a:pPr algn="just"/>
            <a:r>
              <a:rPr lang="en-US" b="1" dirty="0"/>
              <a:t>Because we </a:t>
            </a:r>
            <a:r>
              <a:rPr lang="en-US" b="1" dirty="0" err="1"/>
              <a:t>donot</a:t>
            </a:r>
            <a:r>
              <a:rPr lang="en-US" b="1" dirty="0"/>
              <a:t> want  a new JVM instead in whichever JVM our Java program is running if that JVM want to be fetched instead of creating Runtime class object using new operator and constructor, its static method must be used. </a:t>
            </a:r>
          </a:p>
          <a:p>
            <a:pPr algn="just"/>
            <a:r>
              <a:rPr lang="en-US" b="1" dirty="0"/>
              <a:t>Runtime rt=</a:t>
            </a:r>
            <a:r>
              <a:rPr lang="en-US" b="1" dirty="0" err="1"/>
              <a:t>Runtime.getRuntime</a:t>
            </a:r>
            <a:r>
              <a:rPr lang="en-US" b="1" dirty="0"/>
              <a:t>();</a:t>
            </a:r>
          </a:p>
          <a:p>
            <a:pPr algn="just"/>
            <a:endParaRPr lang="en-US" b="1" dirty="0"/>
          </a:p>
          <a:p>
            <a:pPr algn="just"/>
            <a:r>
              <a:rPr lang="en-US" b="1" dirty="0"/>
              <a:t>The purpose of getting current JVM reference is to invoke the native components of the current OS from java program.</a:t>
            </a:r>
          </a:p>
          <a:p>
            <a:pPr algn="just"/>
            <a:endParaRPr lang="en-US" b="1" dirty="0"/>
          </a:p>
          <a:p>
            <a:pPr algn="just"/>
            <a:r>
              <a:rPr lang="en-US" b="1" dirty="0"/>
              <a:t>In Windows .exe, </a:t>
            </a:r>
            <a:r>
              <a:rPr lang="en-US" b="1" dirty="0" err="1"/>
              <a:t>cmd</a:t>
            </a:r>
            <a:r>
              <a:rPr lang="en-US" b="1" dirty="0"/>
              <a:t>, .bat are self executable files. In Unix and Linux .</a:t>
            </a:r>
            <a:r>
              <a:rPr lang="en-US" b="1" dirty="0" err="1"/>
              <a:t>sh</a:t>
            </a:r>
            <a:r>
              <a:rPr lang="en-US" b="1" dirty="0"/>
              <a:t> files, in Solaris .so files are OS native files. These files can run from the command prompt of Windows OS, shell prompt of Unix and Linux OSs. But if these programs want to run from java program we need current JVM object reference.</a:t>
            </a:r>
          </a:p>
        </p:txBody>
      </p:sp>
      <p:sp>
        <p:nvSpPr>
          <p:cNvPr id="6" name="Footer Placeholder 5">
            <a:extLst>
              <a:ext uri="{FF2B5EF4-FFF2-40B4-BE49-F238E27FC236}">
                <a16:creationId xmlns:a16="http://schemas.microsoft.com/office/drawing/2014/main" id="{E358E93D-C93F-F8D9-45B7-F90772B722E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831823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453839" y="896567"/>
            <a:ext cx="9093571" cy="5355312"/>
          </a:xfrm>
          <a:prstGeom prst="rect">
            <a:avLst/>
          </a:prstGeom>
          <a:noFill/>
        </p:spPr>
        <p:txBody>
          <a:bodyPr wrap="square">
            <a:spAutoFit/>
          </a:bodyPr>
          <a:lstStyle/>
          <a:p>
            <a:pPr algn="just"/>
            <a:r>
              <a:rPr lang="en-US" b="1" dirty="0"/>
              <a:t>Important methods of Runtime class:</a:t>
            </a:r>
          </a:p>
          <a:p>
            <a:pPr algn="just"/>
            <a:r>
              <a:rPr lang="en-US" b="1" dirty="0"/>
              <a:t>Runtime </a:t>
            </a:r>
            <a:r>
              <a:rPr lang="en-US" b="1" dirty="0" err="1"/>
              <a:t>getRuntime</a:t>
            </a:r>
            <a:r>
              <a:rPr lang="en-US" b="1" dirty="0"/>
              <a:t>()</a:t>
            </a:r>
          </a:p>
          <a:p>
            <a:pPr algn="just"/>
            <a:endParaRPr lang="en-US" b="1" dirty="0"/>
          </a:p>
          <a:p>
            <a:pPr algn="just"/>
            <a:r>
              <a:rPr lang="en-US" b="1" dirty="0"/>
              <a:t>void exit(int status)</a:t>
            </a:r>
          </a:p>
          <a:p>
            <a:pPr algn="just"/>
            <a:r>
              <a:rPr lang="en-US" b="1" dirty="0"/>
              <a:t>void halt(int status)</a:t>
            </a:r>
          </a:p>
          <a:p>
            <a:pPr algn="just"/>
            <a:endParaRPr lang="en-US" b="1" dirty="0"/>
          </a:p>
          <a:p>
            <a:pPr algn="just"/>
            <a:r>
              <a:rPr lang="en-US" b="1" dirty="0"/>
              <a:t>exec(String file) - will take .exe filename if its directory is updated in the PATH, if .exe containing directory is not updated in the PATH then the entire .exe file path including filename must be passed as argument into exec() method.</a:t>
            </a:r>
          </a:p>
          <a:p>
            <a:pPr algn="just"/>
            <a:endParaRPr lang="en-US" b="1" dirty="0"/>
          </a:p>
          <a:p>
            <a:pPr algn="just"/>
            <a:r>
              <a:rPr lang="en-US" b="1" dirty="0"/>
              <a:t>int </a:t>
            </a:r>
            <a:r>
              <a:rPr lang="en-US" b="1" dirty="0" err="1"/>
              <a:t>availableProcessors</a:t>
            </a:r>
            <a:r>
              <a:rPr lang="en-US" b="1" dirty="0"/>
              <a:t>()</a:t>
            </a:r>
          </a:p>
          <a:p>
            <a:pPr algn="just"/>
            <a:r>
              <a:rPr lang="en-US" b="1" dirty="0"/>
              <a:t>long </a:t>
            </a:r>
            <a:r>
              <a:rPr lang="en-US" b="1" dirty="0" err="1"/>
              <a:t>freeMemnory</a:t>
            </a:r>
            <a:r>
              <a:rPr lang="en-US" b="1" dirty="0"/>
              <a:t>()</a:t>
            </a:r>
          </a:p>
          <a:p>
            <a:pPr algn="just"/>
            <a:r>
              <a:rPr lang="en-US" b="1" dirty="0"/>
              <a:t>long </a:t>
            </a:r>
            <a:r>
              <a:rPr lang="en-US" b="1" dirty="0" err="1"/>
              <a:t>maxMemory</a:t>
            </a:r>
            <a:r>
              <a:rPr lang="en-US" b="1" dirty="0"/>
              <a:t>()</a:t>
            </a:r>
          </a:p>
          <a:p>
            <a:pPr algn="just"/>
            <a:r>
              <a:rPr lang="en-US" b="1" dirty="0"/>
              <a:t>long </a:t>
            </a:r>
            <a:r>
              <a:rPr lang="en-US" b="1" dirty="0" err="1"/>
              <a:t>totalMemory</a:t>
            </a:r>
            <a:r>
              <a:rPr lang="en-US" b="1" dirty="0"/>
              <a:t>()</a:t>
            </a:r>
          </a:p>
          <a:p>
            <a:pPr algn="just"/>
            <a:endParaRPr lang="en-US" b="1" dirty="0"/>
          </a:p>
          <a:p>
            <a:pPr algn="just"/>
            <a:r>
              <a:rPr lang="en-US" b="1" dirty="0"/>
              <a:t>void </a:t>
            </a:r>
            <a:r>
              <a:rPr lang="en-US" b="1" dirty="0" err="1"/>
              <a:t>gc</a:t>
            </a:r>
            <a:r>
              <a:rPr lang="en-US" b="1" dirty="0"/>
              <a:t>() - calls garbage collector explicitly</a:t>
            </a:r>
          </a:p>
          <a:p>
            <a:pPr algn="just"/>
            <a:endParaRPr lang="en-US" b="1" dirty="0"/>
          </a:p>
          <a:p>
            <a:pPr algn="just"/>
            <a:r>
              <a:rPr lang="en-US" b="1" dirty="0" err="1"/>
              <a:t>traceInstructions</a:t>
            </a:r>
            <a:r>
              <a:rPr lang="en-US" b="1" dirty="0"/>
              <a:t>(</a:t>
            </a:r>
            <a:r>
              <a:rPr lang="en-US" b="1" dirty="0" err="1"/>
              <a:t>boolean</a:t>
            </a:r>
            <a:r>
              <a:rPr lang="en-US" b="1" dirty="0"/>
              <a:t> on)</a:t>
            </a:r>
          </a:p>
          <a:p>
            <a:pPr algn="just"/>
            <a:r>
              <a:rPr lang="en-US" b="1" dirty="0" err="1"/>
              <a:t>traceMethodCalls</a:t>
            </a:r>
            <a:r>
              <a:rPr lang="en-US" b="1" dirty="0"/>
              <a:t>(</a:t>
            </a:r>
            <a:r>
              <a:rPr lang="en-US" b="1" dirty="0" err="1"/>
              <a:t>boolean</a:t>
            </a:r>
            <a:r>
              <a:rPr lang="en-US" b="1" dirty="0"/>
              <a:t> on)</a:t>
            </a:r>
          </a:p>
        </p:txBody>
      </p:sp>
      <p:sp>
        <p:nvSpPr>
          <p:cNvPr id="6" name="Footer Placeholder 5">
            <a:extLst>
              <a:ext uri="{FF2B5EF4-FFF2-40B4-BE49-F238E27FC236}">
                <a16:creationId xmlns:a16="http://schemas.microsoft.com/office/drawing/2014/main" id="{C68952C6-8CBD-41BA-DFE9-3D4490B0C6C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63823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1166533" y="846469"/>
            <a:ext cx="6753785" cy="4801314"/>
          </a:xfrm>
          <a:prstGeom prst="rect">
            <a:avLst/>
          </a:prstGeom>
          <a:noFill/>
        </p:spPr>
        <p:txBody>
          <a:bodyPr wrap="square">
            <a:spAutoFit/>
          </a:bodyPr>
          <a:lstStyle/>
          <a:p>
            <a:pPr algn="just"/>
            <a:r>
              <a:rPr lang="en-US" b="1" dirty="0"/>
              <a:t>// RuntimeDemo.java</a:t>
            </a:r>
          </a:p>
          <a:p>
            <a:pPr algn="just"/>
            <a:r>
              <a:rPr lang="en-US" b="1" dirty="0"/>
              <a:t>public class </a:t>
            </a:r>
            <a:r>
              <a:rPr lang="en-US" b="1" dirty="0" err="1"/>
              <a:t>RuntimeDemo</a:t>
            </a:r>
            <a:r>
              <a:rPr lang="en-US" b="1" dirty="0"/>
              <a:t> {</a:t>
            </a:r>
          </a:p>
          <a:p>
            <a:pPr algn="just"/>
            <a:r>
              <a:rPr lang="en-US" b="1" dirty="0"/>
              <a:t>    public static void main(String rags[]) throws Exception {</a:t>
            </a:r>
          </a:p>
          <a:p>
            <a:pPr algn="just"/>
            <a:r>
              <a:rPr lang="en-US" b="1" dirty="0"/>
              <a:t>           Runtime rt=</a:t>
            </a:r>
            <a:r>
              <a:rPr lang="en-US" b="1" dirty="0" err="1"/>
              <a:t>Runtime.getRuntime</a:t>
            </a:r>
            <a:r>
              <a:rPr lang="en-US" b="1" dirty="0"/>
              <a:t>();</a:t>
            </a:r>
          </a:p>
          <a:p>
            <a:pPr algn="just"/>
            <a:endParaRPr lang="en-US" b="1" dirty="0"/>
          </a:p>
          <a:p>
            <a:pPr algn="just"/>
            <a:r>
              <a:rPr lang="en-US" b="1" dirty="0"/>
              <a:t>            </a:t>
            </a:r>
            <a:r>
              <a:rPr lang="en-US" b="1" dirty="0" err="1"/>
              <a:t>rt.traceInstructions</a:t>
            </a:r>
            <a:r>
              <a:rPr lang="en-US" b="1" dirty="0"/>
              <a:t>(true);</a:t>
            </a:r>
          </a:p>
          <a:p>
            <a:pPr algn="just"/>
            <a:r>
              <a:rPr lang="en-US" b="1" dirty="0"/>
              <a:t>            </a:t>
            </a:r>
            <a:r>
              <a:rPr lang="en-US" b="1" dirty="0" err="1"/>
              <a:t>rt.traceMethodCalls</a:t>
            </a:r>
            <a:r>
              <a:rPr lang="en-US" b="1" dirty="0"/>
              <a:t>(true);</a:t>
            </a:r>
          </a:p>
          <a:p>
            <a:pPr algn="just"/>
            <a:endParaRPr lang="en-US" b="1" dirty="0"/>
          </a:p>
          <a:p>
            <a:pPr algn="just"/>
            <a:r>
              <a:rPr lang="en-US" b="1" dirty="0"/>
              <a:t>            </a:t>
            </a:r>
            <a:r>
              <a:rPr lang="en-US" b="1" dirty="0" err="1"/>
              <a:t>System.out.println</a:t>
            </a:r>
            <a:r>
              <a:rPr lang="en-US" b="1" dirty="0"/>
              <a:t>(</a:t>
            </a:r>
            <a:r>
              <a:rPr lang="en-US" b="1" dirty="0" err="1"/>
              <a:t>rt.availableProcessors</a:t>
            </a:r>
            <a:r>
              <a:rPr lang="en-US" b="1" dirty="0"/>
              <a:t>());</a:t>
            </a:r>
          </a:p>
          <a:p>
            <a:pPr algn="just"/>
            <a:r>
              <a:rPr lang="en-US" b="1" dirty="0"/>
              <a:t>           </a:t>
            </a:r>
            <a:r>
              <a:rPr lang="en-US" b="1" dirty="0" err="1"/>
              <a:t>System.out.println</a:t>
            </a:r>
            <a:r>
              <a:rPr lang="en-US" b="1" dirty="0"/>
              <a:t>(</a:t>
            </a:r>
            <a:r>
              <a:rPr lang="en-US" b="1" dirty="0" err="1"/>
              <a:t>rt.freeMemnory</a:t>
            </a:r>
            <a:r>
              <a:rPr lang="en-US" b="1" dirty="0"/>
              <a:t>());</a:t>
            </a:r>
          </a:p>
          <a:p>
            <a:pPr algn="just"/>
            <a:r>
              <a:rPr lang="en-US" b="1" dirty="0"/>
              <a:t>           </a:t>
            </a:r>
            <a:r>
              <a:rPr lang="en-US" b="1" dirty="0" err="1"/>
              <a:t>System.out.println</a:t>
            </a:r>
            <a:r>
              <a:rPr lang="en-US" b="1" dirty="0"/>
              <a:t>(</a:t>
            </a:r>
            <a:r>
              <a:rPr lang="en-US" b="1" dirty="0" err="1"/>
              <a:t>rt.maxMemory</a:t>
            </a:r>
            <a:r>
              <a:rPr lang="en-US" b="1" dirty="0"/>
              <a:t>());</a:t>
            </a:r>
          </a:p>
          <a:p>
            <a:pPr algn="just"/>
            <a:r>
              <a:rPr lang="en-US" b="1" dirty="0"/>
              <a:t>           </a:t>
            </a:r>
            <a:r>
              <a:rPr lang="en-US" b="1" dirty="0" err="1"/>
              <a:t>System.out.println</a:t>
            </a:r>
            <a:r>
              <a:rPr lang="en-US" b="1" dirty="0"/>
              <a:t>(</a:t>
            </a:r>
            <a:r>
              <a:rPr lang="en-US" b="1" dirty="0" err="1"/>
              <a:t>rt.totalMemory</a:t>
            </a:r>
            <a:r>
              <a:rPr lang="en-US" b="1" dirty="0"/>
              <a:t>());</a:t>
            </a:r>
          </a:p>
          <a:p>
            <a:pPr algn="just"/>
            <a:r>
              <a:rPr lang="en-US" b="1" dirty="0"/>
              <a:t>		</a:t>
            </a:r>
          </a:p>
          <a:p>
            <a:pPr algn="just"/>
            <a:r>
              <a:rPr lang="en-US" b="1" dirty="0"/>
              <a:t>           Process p=</a:t>
            </a:r>
            <a:r>
              <a:rPr lang="en-US" b="1" dirty="0" err="1"/>
              <a:t>rt.exec</a:t>
            </a:r>
            <a:r>
              <a:rPr lang="en-US" b="1" dirty="0"/>
              <a:t>(rags[0]);</a:t>
            </a:r>
          </a:p>
          <a:p>
            <a:pPr algn="just"/>
            <a:r>
              <a:rPr lang="en-US" b="1" dirty="0"/>
              <a:t>           </a:t>
            </a:r>
            <a:r>
              <a:rPr lang="en-US" b="1" dirty="0" err="1"/>
              <a:t>rt.exit</a:t>
            </a:r>
            <a:r>
              <a:rPr lang="en-US" b="1" dirty="0"/>
              <a:t>(0);</a:t>
            </a:r>
          </a:p>
          <a:p>
            <a:pPr algn="just"/>
            <a:r>
              <a:rPr lang="en-US" b="1" dirty="0"/>
              <a:t>    }</a:t>
            </a:r>
          </a:p>
          <a:p>
            <a:pPr algn="just"/>
            <a:r>
              <a:rPr lang="en-US" b="1" dirty="0"/>
              <a:t>}</a:t>
            </a:r>
          </a:p>
        </p:txBody>
      </p:sp>
      <p:sp>
        <p:nvSpPr>
          <p:cNvPr id="6" name="Footer Placeholder 5">
            <a:extLst>
              <a:ext uri="{FF2B5EF4-FFF2-40B4-BE49-F238E27FC236}">
                <a16:creationId xmlns:a16="http://schemas.microsoft.com/office/drawing/2014/main" id="{467F00C6-8471-6D40-3476-1EA506A0221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71300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763123" y="994386"/>
            <a:ext cx="8528796" cy="5109091"/>
          </a:xfrm>
          <a:prstGeom prst="rect">
            <a:avLst/>
          </a:prstGeom>
          <a:noFill/>
        </p:spPr>
        <p:txBody>
          <a:bodyPr wrap="square">
            <a:spAutoFit/>
          </a:bodyPr>
          <a:lstStyle/>
          <a:p>
            <a:pPr algn="just"/>
            <a:r>
              <a:rPr lang="en-US" sz="1600" b="1" dirty="0"/>
              <a:t>JVM starts, in that JVM the given class will be loaded and executed from main() method. In that program if we want to access current JVM we must get the instance/object of Runtime class.</a:t>
            </a:r>
          </a:p>
          <a:p>
            <a:pPr algn="just"/>
            <a:endParaRPr lang="en-US" sz="1600" b="1" dirty="0"/>
          </a:p>
          <a:p>
            <a:pPr algn="just"/>
            <a:r>
              <a:rPr lang="en-US" sz="1600" b="1" dirty="0"/>
              <a:t>How to get the JVM/ Runtime object?</a:t>
            </a:r>
          </a:p>
          <a:p>
            <a:pPr algn="just"/>
            <a:r>
              <a:rPr lang="en-US" sz="1600" b="1" dirty="0"/>
              <a:t>Runtime rt=</a:t>
            </a:r>
            <a:r>
              <a:rPr lang="en-US" sz="1600" b="1" dirty="0" err="1"/>
              <a:t>Runtime.getRuntime</a:t>
            </a:r>
            <a:r>
              <a:rPr lang="en-US" sz="1600" b="1" dirty="0"/>
              <a:t>();</a:t>
            </a:r>
          </a:p>
          <a:p>
            <a:pPr algn="just"/>
            <a:endParaRPr lang="en-US" sz="1600" b="1" dirty="0"/>
          </a:p>
          <a:p>
            <a:pPr algn="just"/>
            <a:r>
              <a:rPr lang="en-US" sz="1600" b="1" dirty="0"/>
              <a:t>Runtime class is a singleton class, no public constructor exist in this class. One static method/factory method is provided in the same class called </a:t>
            </a:r>
            <a:r>
              <a:rPr lang="en-US" sz="1600" b="1" dirty="0" err="1"/>
              <a:t>getRuntime</a:t>
            </a:r>
            <a:r>
              <a:rPr lang="en-US" sz="1600" b="1" dirty="0"/>
              <a:t>() that returns the same Runtime class object.</a:t>
            </a:r>
          </a:p>
          <a:p>
            <a:pPr algn="just"/>
            <a:endParaRPr lang="en-US" sz="1600" b="1" dirty="0"/>
          </a:p>
          <a:p>
            <a:pPr algn="just"/>
            <a:r>
              <a:rPr lang="en-US" sz="1600" b="1" dirty="0"/>
              <a:t>Why Runtime class is singleton?</a:t>
            </a:r>
          </a:p>
          <a:p>
            <a:pPr algn="just"/>
            <a:r>
              <a:rPr lang="en-US" sz="1600" b="1" dirty="0"/>
              <a:t>Because the classes running in one JVM wants to access the same currently running JVM object but not new object. Hence no public constructor is give, instead factory method is given to obtain the object.</a:t>
            </a:r>
          </a:p>
          <a:p>
            <a:pPr algn="just"/>
            <a:endParaRPr lang="en-US" sz="1600" b="1" dirty="0"/>
          </a:p>
          <a:p>
            <a:pPr algn="just"/>
            <a:r>
              <a:rPr lang="en-US" sz="1600" b="1" dirty="0"/>
              <a:t>What is the purpose of Runtime class?</a:t>
            </a:r>
          </a:p>
          <a:p>
            <a:pPr algn="just"/>
            <a:r>
              <a:rPr lang="en-US" sz="1600" b="1" dirty="0" err="1"/>
              <a:t>i</a:t>
            </a:r>
            <a:r>
              <a:rPr lang="en-US" sz="1600" b="1" dirty="0"/>
              <a:t>) To access the available memory, allotted memory, consumed memory, left over memory</a:t>
            </a:r>
          </a:p>
          <a:p>
            <a:pPr algn="just"/>
            <a:r>
              <a:rPr lang="en-US" sz="1600" b="1" dirty="0"/>
              <a:t>long tm=</a:t>
            </a:r>
            <a:r>
              <a:rPr lang="en-US" sz="1600" b="1" dirty="0" err="1"/>
              <a:t>rt.totalMemory</a:t>
            </a:r>
            <a:r>
              <a:rPr lang="en-US" sz="1600" b="1" dirty="0"/>
              <a:t>();</a:t>
            </a:r>
          </a:p>
          <a:p>
            <a:pPr algn="just"/>
            <a:r>
              <a:rPr lang="en-US" sz="1600" b="1" dirty="0"/>
              <a:t>long mm=</a:t>
            </a:r>
            <a:r>
              <a:rPr lang="en-US" sz="1600" b="1" dirty="0" err="1"/>
              <a:t>rt.maxMemory</a:t>
            </a:r>
            <a:r>
              <a:rPr lang="en-US" sz="1600" b="1" dirty="0"/>
              <a:t>();</a:t>
            </a:r>
          </a:p>
          <a:p>
            <a:pPr algn="just"/>
            <a:r>
              <a:rPr lang="en-US" sz="1600" b="1" dirty="0"/>
              <a:t>long </a:t>
            </a:r>
            <a:r>
              <a:rPr lang="en-US" sz="1600" b="1" dirty="0" err="1"/>
              <a:t>fm</a:t>
            </a:r>
            <a:r>
              <a:rPr lang="en-US" sz="1600" b="1" dirty="0"/>
              <a:t>=</a:t>
            </a:r>
            <a:r>
              <a:rPr lang="en-US" sz="1600" b="1" dirty="0" err="1"/>
              <a:t>rt.freeMemory</a:t>
            </a:r>
            <a:r>
              <a:rPr lang="en-US" sz="1600" b="1" dirty="0"/>
              <a:t>();</a:t>
            </a:r>
          </a:p>
        </p:txBody>
      </p:sp>
      <p:sp>
        <p:nvSpPr>
          <p:cNvPr id="6" name="Footer Placeholder 5">
            <a:extLst>
              <a:ext uri="{FF2B5EF4-FFF2-40B4-BE49-F238E27FC236}">
                <a16:creationId xmlns:a16="http://schemas.microsoft.com/office/drawing/2014/main" id="{E115F36B-53A1-13BB-DD51-16FB06FBD61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22288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err="1">
                  <a:solidFill>
                    <a:schemeClr val="bg1"/>
                  </a:solidFill>
                  <a:latin typeface="Bookman Old Style" panose="02050604050505020204" pitchFamily="18" charset="0"/>
                </a:rPr>
                <a:t>java.lang</a:t>
              </a:r>
              <a:r>
                <a:rPr lang="en-US" sz="2800" b="1" dirty="0">
                  <a:solidFill>
                    <a:schemeClr val="bg1"/>
                  </a:solidFill>
                  <a:latin typeface="Bookman Old Style" panose="02050604050505020204" pitchFamily="18" charset="0"/>
                </a:rPr>
                <a:t> package classes</a:t>
              </a:r>
              <a:endParaRPr lang="en-US" b="1" dirty="0">
                <a:solidFill>
                  <a:schemeClr val="bg1"/>
                </a:solidFill>
                <a:latin typeface="Bookman Old Style" panose="02050604050505020204" pitchFamily="18" charset="0"/>
              </a:endParaRPr>
            </a:p>
          </p:txBody>
        </p:sp>
      </p:grpSp>
      <p:sp>
        <p:nvSpPr>
          <p:cNvPr id="12" name="TextBox 11">
            <a:extLst>
              <a:ext uri="{FF2B5EF4-FFF2-40B4-BE49-F238E27FC236}">
                <a16:creationId xmlns:a16="http://schemas.microsoft.com/office/drawing/2014/main" id="{C901563B-5AD2-F6B9-F6D8-EB5D54349525}"/>
              </a:ext>
            </a:extLst>
          </p:cNvPr>
          <p:cNvSpPr txBox="1"/>
          <p:nvPr/>
        </p:nvSpPr>
        <p:spPr>
          <a:xfrm>
            <a:off x="763123" y="994386"/>
            <a:ext cx="8528796" cy="5016758"/>
          </a:xfrm>
          <a:prstGeom prst="rect">
            <a:avLst/>
          </a:prstGeom>
          <a:noFill/>
        </p:spPr>
        <p:txBody>
          <a:bodyPr wrap="square">
            <a:spAutoFit/>
          </a:bodyPr>
          <a:lstStyle/>
          <a:p>
            <a:pPr algn="just"/>
            <a:r>
              <a:rPr lang="en-US" sz="1600" b="1" dirty="0"/>
              <a:t>ii) To call the garbage collector</a:t>
            </a:r>
          </a:p>
          <a:p>
            <a:pPr algn="just"/>
            <a:r>
              <a:rPr lang="en-US" sz="1600" b="1" dirty="0" err="1"/>
              <a:t>rt.gc</a:t>
            </a:r>
            <a:r>
              <a:rPr lang="en-US" sz="1600" b="1" dirty="0"/>
              <a:t>()</a:t>
            </a:r>
          </a:p>
          <a:p>
            <a:pPr algn="just"/>
            <a:endParaRPr lang="en-US" sz="1600" b="1" dirty="0"/>
          </a:p>
          <a:p>
            <a:pPr algn="just"/>
            <a:r>
              <a:rPr lang="en-US" sz="1600" b="1" dirty="0"/>
              <a:t>iii) We can run OS native components also</a:t>
            </a:r>
          </a:p>
          <a:p>
            <a:pPr algn="just"/>
            <a:r>
              <a:rPr lang="en-US" sz="1600" b="1" dirty="0"/>
              <a:t>Process p1=</a:t>
            </a:r>
            <a:r>
              <a:rPr lang="en-US" sz="1600" b="1" dirty="0" err="1"/>
              <a:t>rt.exec</a:t>
            </a:r>
            <a:r>
              <a:rPr lang="en-US" sz="1600" b="1" dirty="0"/>
              <a:t>("notepad");</a:t>
            </a:r>
          </a:p>
          <a:p>
            <a:pPr algn="just"/>
            <a:r>
              <a:rPr lang="en-US" sz="1600" b="1" dirty="0" err="1"/>
              <a:t>System.out.println</a:t>
            </a:r>
            <a:r>
              <a:rPr lang="en-US" sz="1600" b="1" dirty="0"/>
              <a:t>(p1.getClass().</a:t>
            </a:r>
            <a:r>
              <a:rPr lang="en-US" sz="1600" b="1" dirty="0" err="1"/>
              <a:t>getName</a:t>
            </a:r>
            <a:r>
              <a:rPr lang="en-US" sz="1600" b="1" dirty="0"/>
              <a:t>());</a:t>
            </a:r>
          </a:p>
          <a:p>
            <a:pPr algn="just"/>
            <a:r>
              <a:rPr lang="en-US" sz="1600" b="1" dirty="0"/>
              <a:t>Process p2=</a:t>
            </a:r>
            <a:r>
              <a:rPr lang="en-US" sz="1600" b="1" dirty="0" err="1"/>
              <a:t>rt.exec</a:t>
            </a:r>
            <a:r>
              <a:rPr lang="en-US" sz="1600" b="1" dirty="0"/>
              <a:t>("calc");</a:t>
            </a:r>
          </a:p>
          <a:p>
            <a:pPr algn="just"/>
            <a:r>
              <a:rPr lang="en-US" sz="1600" b="1" dirty="0"/>
              <a:t>Process p3=</a:t>
            </a:r>
            <a:r>
              <a:rPr lang="en-US" sz="1600" b="1" dirty="0" err="1"/>
              <a:t>rt.exec</a:t>
            </a:r>
            <a:r>
              <a:rPr lang="en-US" sz="1600" b="1" dirty="0"/>
              <a:t>("</a:t>
            </a:r>
            <a:r>
              <a:rPr lang="en-US" sz="1600" b="1" dirty="0" err="1"/>
              <a:t>mspaint</a:t>
            </a:r>
            <a:r>
              <a:rPr lang="en-US" sz="1600" b="1" dirty="0"/>
              <a:t>");</a:t>
            </a:r>
          </a:p>
          <a:p>
            <a:pPr algn="just"/>
            <a:endParaRPr lang="en-US" sz="1600" b="1" dirty="0"/>
          </a:p>
          <a:p>
            <a:pPr algn="just"/>
            <a:r>
              <a:rPr lang="en-US" sz="1600" b="1" dirty="0" err="1"/>
              <a:t>InputStream</a:t>
            </a:r>
            <a:r>
              <a:rPr lang="en-US" sz="1600" b="1" dirty="0"/>
              <a:t> is=p1.getInputStream();</a:t>
            </a:r>
          </a:p>
          <a:p>
            <a:pPr algn="just"/>
            <a:r>
              <a:rPr lang="en-US" sz="1600" b="1" dirty="0"/>
              <a:t>is object is used to get the output </a:t>
            </a:r>
            <a:r>
              <a:rPr lang="en-US" sz="1600" b="1" dirty="0" err="1"/>
              <a:t>gerenerated</a:t>
            </a:r>
            <a:r>
              <a:rPr lang="en-US" sz="1600" b="1" dirty="0"/>
              <a:t> by notepad process. is object is having read() method.</a:t>
            </a:r>
          </a:p>
          <a:p>
            <a:pPr algn="just"/>
            <a:r>
              <a:rPr lang="en-US" sz="1600" b="1" dirty="0"/>
              <a:t>	String output=new </a:t>
            </a:r>
            <a:r>
              <a:rPr lang="en-US" sz="1600" b="1" dirty="0" err="1"/>
              <a:t>DataInputStream</a:t>
            </a:r>
            <a:r>
              <a:rPr lang="en-US" sz="1600" b="1" dirty="0"/>
              <a:t>(is).</a:t>
            </a:r>
            <a:r>
              <a:rPr lang="en-US" sz="1600" b="1" dirty="0" err="1"/>
              <a:t>readLine</a:t>
            </a:r>
            <a:r>
              <a:rPr lang="en-US" sz="1600" b="1" dirty="0"/>
              <a:t>();</a:t>
            </a:r>
          </a:p>
          <a:p>
            <a:pPr algn="just"/>
            <a:r>
              <a:rPr lang="en-US" sz="1600" b="1" dirty="0"/>
              <a:t>	</a:t>
            </a:r>
          </a:p>
          <a:p>
            <a:pPr algn="just"/>
            <a:r>
              <a:rPr lang="en-US" sz="1600" b="1" dirty="0" err="1"/>
              <a:t>OutputStream</a:t>
            </a:r>
            <a:r>
              <a:rPr lang="en-US" sz="1600" b="1" dirty="0"/>
              <a:t> </a:t>
            </a:r>
            <a:r>
              <a:rPr lang="en-US" sz="1600" b="1" dirty="0" err="1"/>
              <a:t>os</a:t>
            </a:r>
            <a:r>
              <a:rPr lang="en-US" sz="1600" b="1" dirty="0"/>
              <a:t>=p1.getOutputStream();</a:t>
            </a:r>
          </a:p>
          <a:p>
            <a:pPr algn="just"/>
            <a:r>
              <a:rPr lang="en-US" sz="1600" b="1" dirty="0" err="1"/>
              <a:t>os</a:t>
            </a:r>
            <a:r>
              <a:rPr lang="en-US" sz="1600" b="1" dirty="0"/>
              <a:t> object is used to write some input into process. </a:t>
            </a:r>
            <a:r>
              <a:rPr lang="en-US" sz="1600" b="1" dirty="0" err="1"/>
              <a:t>OutputStream</a:t>
            </a:r>
            <a:r>
              <a:rPr lang="en-US" sz="1600" b="1" dirty="0"/>
              <a:t> class is having write() method.</a:t>
            </a:r>
          </a:p>
          <a:p>
            <a:pPr algn="just"/>
            <a:r>
              <a:rPr lang="en-US" sz="1600" b="1" dirty="0"/>
              <a:t>	new </a:t>
            </a:r>
            <a:r>
              <a:rPr lang="en-US" sz="1600" b="1" dirty="0" err="1"/>
              <a:t>DataOutputStream</a:t>
            </a:r>
            <a:r>
              <a:rPr lang="en-US" sz="1600" b="1" dirty="0"/>
              <a:t>(</a:t>
            </a:r>
            <a:r>
              <a:rPr lang="en-US" sz="1600" b="1" dirty="0" err="1"/>
              <a:t>os</a:t>
            </a:r>
            <a:r>
              <a:rPr lang="en-US" sz="1600" b="1" dirty="0"/>
              <a:t>).</a:t>
            </a:r>
            <a:r>
              <a:rPr lang="en-US" sz="1600" b="1" dirty="0" err="1"/>
              <a:t>writeBytes</a:t>
            </a:r>
            <a:r>
              <a:rPr lang="en-US" sz="1600" b="1" dirty="0"/>
              <a:t>("mylog.log");</a:t>
            </a:r>
          </a:p>
          <a:p>
            <a:pPr algn="just"/>
            <a:r>
              <a:rPr lang="en-US" sz="1600" b="1" dirty="0"/>
              <a:t>	</a:t>
            </a:r>
          </a:p>
          <a:p>
            <a:pPr algn="just"/>
            <a:r>
              <a:rPr lang="en-US" sz="1600" b="1" dirty="0" err="1"/>
              <a:t>InputStream</a:t>
            </a:r>
            <a:r>
              <a:rPr lang="en-US" sz="1600" b="1" dirty="0"/>
              <a:t> es=p1.getErrorStream();</a:t>
            </a:r>
          </a:p>
          <a:p>
            <a:pPr algn="just"/>
            <a:r>
              <a:rPr lang="en-US" sz="1600" b="1" dirty="0"/>
              <a:t>	String error=new </a:t>
            </a:r>
            <a:r>
              <a:rPr lang="en-US" sz="1600" b="1" dirty="0" err="1"/>
              <a:t>DataInputStream</a:t>
            </a:r>
            <a:r>
              <a:rPr lang="en-US" sz="1600" b="1" dirty="0"/>
              <a:t>(es).</a:t>
            </a:r>
            <a:r>
              <a:rPr lang="en-US" sz="1600" b="1" dirty="0" err="1"/>
              <a:t>readLine</a:t>
            </a:r>
            <a:r>
              <a:rPr lang="en-US" sz="1600" b="1" dirty="0"/>
              <a:t>();</a:t>
            </a:r>
          </a:p>
        </p:txBody>
      </p:sp>
      <p:sp>
        <p:nvSpPr>
          <p:cNvPr id="6" name="Footer Placeholder 5">
            <a:extLst>
              <a:ext uri="{FF2B5EF4-FFF2-40B4-BE49-F238E27FC236}">
                <a16:creationId xmlns:a16="http://schemas.microsoft.com/office/drawing/2014/main" id="{EA3AED2C-4B8B-0485-C14A-122CCBE4C00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0221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3947</Words>
  <Application>Microsoft Office PowerPoint</Application>
  <PresentationFormat>Widescreen</PresentationFormat>
  <Paragraphs>522</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32</cp:revision>
  <dcterms:created xsi:type="dcterms:W3CDTF">2021-09-13T09:22:41Z</dcterms:created>
  <dcterms:modified xsi:type="dcterms:W3CDTF">2023-08-24T05:59:50Z</dcterms:modified>
</cp:coreProperties>
</file>