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338" r:id="rId3"/>
    <p:sldId id="272" r:id="rId4"/>
    <p:sldId id="273" r:id="rId5"/>
    <p:sldId id="337" r:id="rId6"/>
    <p:sldId id="276" r:id="rId7"/>
    <p:sldId id="274" r:id="rId8"/>
    <p:sldId id="27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F8917-4A78-4848-CA71-DD9DCBC83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EF374F-CD7A-F84F-3836-74BB866E25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935A66-E7EF-7EA9-06B5-0E92EF75C663}"/>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5" name="Footer Placeholder 4">
            <a:extLst>
              <a:ext uri="{FF2B5EF4-FFF2-40B4-BE49-F238E27FC236}">
                <a16:creationId xmlns:a16="http://schemas.microsoft.com/office/drawing/2014/main" id="{CAFFEB86-9F9D-F0BF-A9E0-1001C8C031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0F22DF-3639-D853-B6BD-E5BEA8920F50}"/>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414359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6F36-0CAB-79EC-3274-135F8EFE8D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29BA70-C572-6DCA-B5AE-D102CDF845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31D9F2-4146-D460-D166-FC19B5D974F7}"/>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5" name="Footer Placeholder 4">
            <a:extLst>
              <a:ext uri="{FF2B5EF4-FFF2-40B4-BE49-F238E27FC236}">
                <a16:creationId xmlns:a16="http://schemas.microsoft.com/office/drawing/2014/main" id="{F00B0F1A-223D-AEFD-E0D3-C0103DD5C9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AC3E9E-26C4-5872-32BC-3E21A15FE0C2}"/>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173600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50C7-83B1-34C1-9F97-43D6214B81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E7F88F-AEF4-B354-A648-8245D12950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6A4EDD-C501-B767-733D-0B1A7217726E}"/>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5" name="Footer Placeholder 4">
            <a:extLst>
              <a:ext uri="{FF2B5EF4-FFF2-40B4-BE49-F238E27FC236}">
                <a16:creationId xmlns:a16="http://schemas.microsoft.com/office/drawing/2014/main" id="{259F5CCC-53D2-0D2D-DB08-AB3724C67E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8C1826-0763-B6DC-D6EE-A1EADF1FFBD9}"/>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1244623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E7B2-26BD-7546-5360-ECEAC9EAFE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3C7B53-9631-7E20-1783-62F3D91FA8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A79E4D-FF96-0400-A700-FBF8E6FEC9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8B72DD8-CF00-2454-C531-25B7BC66F094}"/>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6" name="Footer Placeholder 5">
            <a:extLst>
              <a:ext uri="{FF2B5EF4-FFF2-40B4-BE49-F238E27FC236}">
                <a16:creationId xmlns:a16="http://schemas.microsoft.com/office/drawing/2014/main" id="{0AE3E26E-0024-BB74-CF7F-7A9E645C7F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36D65C-780E-F89E-966C-E7CED9975F42}"/>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4181573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78068-EEAB-DC60-34F3-65F051F791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C1DF1D-911A-942F-35D8-7902C4C00F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69A1CD-832A-7867-4018-806D7666B9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6E7CC99-03F2-62E6-496E-2A921CA67D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222AA6-50E2-585E-A26E-44875E3F5A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AD9A1A-474F-45DC-1C8E-1B5689D7CA33}"/>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8" name="Footer Placeholder 7">
            <a:extLst>
              <a:ext uri="{FF2B5EF4-FFF2-40B4-BE49-F238E27FC236}">
                <a16:creationId xmlns:a16="http://schemas.microsoft.com/office/drawing/2014/main" id="{6FCFF837-864A-4458-CB9E-3A8047DF6A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06B643-75C2-2BEF-F8E1-6AE077352BF8}"/>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3592634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21F63-578B-ABD6-291F-03F3B571FE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9EAE73-1192-ED51-4779-9DC16CBC668D}"/>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4" name="Footer Placeholder 3">
            <a:extLst>
              <a:ext uri="{FF2B5EF4-FFF2-40B4-BE49-F238E27FC236}">
                <a16:creationId xmlns:a16="http://schemas.microsoft.com/office/drawing/2014/main" id="{4648AB92-803D-D98A-4DEC-F7C9BFB458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B25B2A-64A3-BD39-7DE9-7EEF8594BE46}"/>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96404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58F3F-7036-CD25-C249-0B2C4D0D21E4}"/>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3" name="Footer Placeholder 2">
            <a:extLst>
              <a:ext uri="{FF2B5EF4-FFF2-40B4-BE49-F238E27FC236}">
                <a16:creationId xmlns:a16="http://schemas.microsoft.com/office/drawing/2014/main" id="{9CEA55C9-57D9-D1FC-635B-FF8D661317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07C858-0175-46C3-7BAC-F8F5B4030173}"/>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2573668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2F3E8-34C0-F880-F8A1-256D971741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532740-81CD-18DD-0FAA-AF1323603B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A704ED-2099-6109-73D1-4807C1C398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F0E6F-3809-0FE1-CB49-BE500D75838E}"/>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6" name="Footer Placeholder 5">
            <a:extLst>
              <a:ext uri="{FF2B5EF4-FFF2-40B4-BE49-F238E27FC236}">
                <a16:creationId xmlns:a16="http://schemas.microsoft.com/office/drawing/2014/main" id="{8F90B24D-3A16-4336-AB0C-127FDF840A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623ECF-6160-92E5-482F-385D0361FC38}"/>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3769720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F0D3-D895-5A82-A8F7-513D6A49FA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A27579-DE4F-3F73-24B4-8BF0BA4FDF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1DBE31B-EAA9-6B6F-C608-56F438F218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1C8F86-36DC-97F9-B1FD-B75A97C7A57F}"/>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6" name="Footer Placeholder 5">
            <a:extLst>
              <a:ext uri="{FF2B5EF4-FFF2-40B4-BE49-F238E27FC236}">
                <a16:creationId xmlns:a16="http://schemas.microsoft.com/office/drawing/2014/main" id="{99E1E716-9A7E-7CB0-4DF9-588870C873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037940-18A6-7830-5DED-BFDAA9983D89}"/>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3160019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24B2E-7F17-C14B-1C6B-4770710D07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E67B51-C4B1-A74A-283C-8B0E8F35A3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1369D3-BC75-53ED-9895-E863107C8E61}"/>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5" name="Footer Placeholder 4">
            <a:extLst>
              <a:ext uri="{FF2B5EF4-FFF2-40B4-BE49-F238E27FC236}">
                <a16:creationId xmlns:a16="http://schemas.microsoft.com/office/drawing/2014/main" id="{3FE12CA7-1CA2-D34E-8F3E-B5BC81D576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2420CD-B24D-D83D-866B-D164B0854855}"/>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254442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09313E-E246-A3F6-853C-88D59DE3E2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F5674D-ED04-E104-7A62-0135C339BB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EA7CB8-12FA-C4B8-C11B-976302BE1AF2}"/>
              </a:ext>
            </a:extLst>
          </p:cNvPr>
          <p:cNvSpPr>
            <a:spLocks noGrp="1"/>
          </p:cNvSpPr>
          <p:nvPr>
            <p:ph type="dt" sz="half" idx="10"/>
          </p:nvPr>
        </p:nvSpPr>
        <p:spPr/>
        <p:txBody>
          <a:bodyPr/>
          <a:lstStyle/>
          <a:p>
            <a:fld id="{BBA04839-4E22-4F2A-8B00-3641A5ADAA92}" type="datetimeFigureOut">
              <a:rPr lang="en-IN" smtClean="0"/>
              <a:t>21-09-2022</a:t>
            </a:fld>
            <a:endParaRPr lang="en-IN"/>
          </a:p>
        </p:txBody>
      </p:sp>
      <p:sp>
        <p:nvSpPr>
          <p:cNvPr id="5" name="Footer Placeholder 4">
            <a:extLst>
              <a:ext uri="{FF2B5EF4-FFF2-40B4-BE49-F238E27FC236}">
                <a16:creationId xmlns:a16="http://schemas.microsoft.com/office/drawing/2014/main" id="{D5BA02E1-F341-B82B-D506-810AE13F01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339314-7A66-355D-7802-06A4BB6BDC4F}"/>
              </a:ext>
            </a:extLst>
          </p:cNvPr>
          <p:cNvSpPr>
            <a:spLocks noGrp="1"/>
          </p:cNvSpPr>
          <p:nvPr>
            <p:ph type="sldNum" sz="quarter" idx="12"/>
          </p:nvPr>
        </p:nvSpPr>
        <p:spPr/>
        <p:txBody>
          <a:bodyPr/>
          <a:lstStyle/>
          <a:p>
            <a:fld id="{21694F37-B4F5-4796-A8FA-05FC32E9B024}" type="slidenum">
              <a:rPr lang="en-IN" smtClean="0"/>
              <a:t>‹#›</a:t>
            </a:fld>
            <a:endParaRPr lang="en-IN"/>
          </a:p>
        </p:txBody>
      </p:sp>
    </p:spTree>
    <p:extLst>
      <p:ext uri="{BB962C8B-B14F-4D97-AF65-F5344CB8AC3E}">
        <p14:creationId xmlns:p14="http://schemas.microsoft.com/office/powerpoint/2010/main" val="1586435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A75AD-4083-6596-34E4-2F2FD38BC9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E74ABE-4777-1309-4F7D-2A4EC9AE0F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606E08-FC06-AA94-5A97-F515FA75D9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04839-4E22-4F2A-8B00-3641A5ADAA92}" type="datetimeFigureOut">
              <a:rPr lang="en-IN" smtClean="0"/>
              <a:t>21-09-2022</a:t>
            </a:fld>
            <a:endParaRPr lang="en-IN"/>
          </a:p>
        </p:txBody>
      </p:sp>
      <p:sp>
        <p:nvSpPr>
          <p:cNvPr id="5" name="Footer Placeholder 4">
            <a:extLst>
              <a:ext uri="{FF2B5EF4-FFF2-40B4-BE49-F238E27FC236}">
                <a16:creationId xmlns:a16="http://schemas.microsoft.com/office/drawing/2014/main" id="{601C656E-2AE1-CD9F-9743-7B20B65FC0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8757AA4-0CD1-65C5-E8A7-A8BA87CE20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694F37-B4F5-4796-A8FA-05FC32E9B024}" type="slidenum">
              <a:rPr lang="en-IN" smtClean="0"/>
              <a:t>‹#›</a:t>
            </a:fld>
            <a:endParaRPr lang="en-IN"/>
          </a:p>
        </p:txBody>
      </p:sp>
    </p:spTree>
    <p:extLst>
      <p:ext uri="{BB962C8B-B14F-4D97-AF65-F5344CB8AC3E}">
        <p14:creationId xmlns:p14="http://schemas.microsoft.com/office/powerpoint/2010/main" val="929020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mailto:abc@gmail.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7" name="TextBox 6">
            <a:extLst>
              <a:ext uri="{FF2B5EF4-FFF2-40B4-BE49-F238E27FC236}">
                <a16:creationId xmlns:a16="http://schemas.microsoft.com/office/drawing/2014/main" id="{4E125E03-80A5-4CB9-B092-97C7DCBDED6A}"/>
              </a:ext>
            </a:extLst>
          </p:cNvPr>
          <p:cNvSpPr txBox="1"/>
          <p:nvPr/>
        </p:nvSpPr>
        <p:spPr>
          <a:xfrm>
            <a:off x="450436" y="902597"/>
            <a:ext cx="8587754" cy="5478423"/>
          </a:xfrm>
          <a:prstGeom prst="rect">
            <a:avLst/>
          </a:prstGeom>
          <a:noFill/>
        </p:spPr>
        <p:txBody>
          <a:bodyPr wrap="square" rtlCol="0">
            <a:spAutoFit/>
          </a:bodyPr>
          <a:lstStyle/>
          <a:p>
            <a:pPr algn="ctr"/>
            <a:r>
              <a:rPr lang="en-US" sz="6000" b="1" dirty="0">
                <a:solidFill>
                  <a:srgbClr val="0000FF"/>
                </a:solidFill>
                <a:cs typeface="Arial" panose="020B0604020202020204" pitchFamily="34" charset="0"/>
              </a:rPr>
              <a:t>OOPs in</a:t>
            </a:r>
            <a:r>
              <a:rPr lang="en-US" sz="8000" b="1" dirty="0">
                <a:solidFill>
                  <a:srgbClr val="0000FF"/>
                </a:solidFill>
                <a:cs typeface="Arial" panose="020B0604020202020204" pitchFamily="34" charset="0"/>
              </a:rPr>
              <a:t> </a:t>
            </a:r>
            <a:endParaRPr lang="en-US" sz="6600" b="1" dirty="0">
              <a:solidFill>
                <a:srgbClr val="0000FF"/>
              </a:solidFill>
              <a:cs typeface="Arial" panose="020B0604020202020204" pitchFamily="34" charset="0"/>
            </a:endParaRPr>
          </a:p>
          <a:p>
            <a:pPr algn="ctr"/>
            <a:r>
              <a:rPr lang="en-US" sz="13800" b="1" dirty="0">
                <a:solidFill>
                  <a:srgbClr val="0000FF"/>
                </a:solidFill>
                <a:cs typeface="Arial" panose="020B0604020202020204" pitchFamily="34" charset="0"/>
              </a:rPr>
              <a:t>Java</a:t>
            </a:r>
            <a:endParaRPr lang="en-US" sz="6600" b="1" dirty="0">
              <a:solidFill>
                <a:srgbClr val="0000FF"/>
              </a:solidFill>
              <a:cs typeface="Arial" panose="020B0604020202020204" pitchFamily="34" charset="0"/>
            </a:endParaRPr>
          </a:p>
          <a:p>
            <a:pPr algn="ctr"/>
            <a:r>
              <a:rPr lang="en-US" sz="4400" b="1" dirty="0">
                <a:solidFill>
                  <a:srgbClr val="0000FF"/>
                </a:solidFill>
                <a:cs typeface="Arial" panose="020B0604020202020204" pitchFamily="34" charset="0"/>
              </a:rPr>
              <a:t>(Abstraction)</a:t>
            </a:r>
          </a:p>
          <a:p>
            <a:pPr algn="ctr"/>
            <a:r>
              <a:rPr lang="en-US" sz="4400" b="1" dirty="0">
                <a:solidFill>
                  <a:srgbClr val="0000FF"/>
                </a:solidFill>
                <a:cs typeface="Arial" panose="020B0604020202020204" pitchFamily="34" charset="0"/>
              </a:rPr>
              <a:t>-</a:t>
            </a:r>
          </a:p>
          <a:p>
            <a:pPr algn="ctr"/>
            <a:r>
              <a:rPr lang="en-US" sz="4400" b="1" dirty="0">
                <a:solidFill>
                  <a:srgbClr val="0000FF"/>
                </a:solidFill>
                <a:cs typeface="Arial" panose="020B0604020202020204" pitchFamily="34" charset="0"/>
              </a:rPr>
              <a:t>Part - II</a:t>
            </a:r>
          </a:p>
        </p:txBody>
      </p:sp>
    </p:spTree>
    <p:extLst>
      <p:ext uri="{BB962C8B-B14F-4D97-AF65-F5344CB8AC3E}">
        <p14:creationId xmlns:p14="http://schemas.microsoft.com/office/powerpoint/2010/main" val="903423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id="{9EF1F68D-DE27-4235-8FC6-DECDFF00AEEE}"/>
              </a:ext>
            </a:extLst>
          </p:cNvPr>
          <p:cNvSpPr txBox="1"/>
          <p:nvPr/>
        </p:nvSpPr>
        <p:spPr>
          <a:xfrm>
            <a:off x="264164" y="650985"/>
            <a:ext cx="9150542" cy="5909310"/>
          </a:xfrm>
          <a:prstGeom prst="rect">
            <a:avLst/>
          </a:prstGeom>
          <a:noFill/>
        </p:spPr>
        <p:txBody>
          <a:bodyPr wrap="square">
            <a:spAutoFit/>
          </a:bodyPr>
          <a:lstStyle/>
          <a:p>
            <a:pPr marL="285750" indent="-285750" algn="just">
              <a:buFont typeface="Wingdings" panose="05000000000000000000" pitchFamily="2" charset="2"/>
              <a:buChar char="v"/>
            </a:pPr>
            <a:r>
              <a:rPr lang="en-US" b="1" i="0" dirty="0">
                <a:solidFill>
                  <a:srgbClr val="202124"/>
                </a:solidFill>
                <a:effectLst/>
              </a:rPr>
              <a:t>Hiding the method unnecessary details from the users</a:t>
            </a:r>
          </a:p>
          <a:p>
            <a:pPr marL="285750" indent="-285750" algn="just">
              <a:buFont typeface="Wingdings" panose="05000000000000000000" pitchFamily="2" charset="2"/>
              <a:buChar char="v"/>
            </a:pPr>
            <a:r>
              <a:rPr lang="en-US" b="1" dirty="0"/>
              <a:t>Exposing only functionality/method signature and hiding the method implementation.</a:t>
            </a:r>
          </a:p>
          <a:p>
            <a:pPr marL="285750" indent="-285750" algn="just">
              <a:buFont typeface="Wingdings" panose="05000000000000000000" pitchFamily="2" charset="2"/>
              <a:buChar char="v"/>
            </a:pPr>
            <a:r>
              <a:rPr lang="en-US" b="1" dirty="0"/>
              <a:t>Hiding behavior implementation from behavior.</a:t>
            </a:r>
          </a:p>
          <a:p>
            <a:pPr marL="285750" indent="-285750" algn="just">
              <a:buFont typeface="Wingdings" panose="05000000000000000000" pitchFamily="2" charset="2"/>
              <a:buChar char="v"/>
            </a:pPr>
            <a:r>
              <a:rPr lang="en-US" b="1" dirty="0"/>
              <a:t>Hiding method implementation from method name and signature.</a:t>
            </a:r>
          </a:p>
          <a:p>
            <a:pPr marL="285750" indent="-285750" algn="just">
              <a:buFont typeface="Wingdings" panose="05000000000000000000" pitchFamily="2" charset="2"/>
              <a:buChar char="v"/>
            </a:pPr>
            <a:r>
              <a:rPr lang="en-US" b="1" dirty="0"/>
              <a:t>Hiding method implementation from method declaration is called as Abstraction.</a:t>
            </a:r>
          </a:p>
          <a:p>
            <a:pPr algn="just"/>
            <a:endParaRPr lang="en-US" b="1" dirty="0"/>
          </a:p>
          <a:p>
            <a:pPr algn="just"/>
            <a:r>
              <a:rPr lang="en-US" b="1" dirty="0"/>
              <a:t>Client need not have to know </a:t>
            </a:r>
          </a:p>
          <a:p>
            <a:pPr marL="742950" lvl="1" indent="-285750" algn="just">
              <a:buFont typeface="Wingdings" panose="05000000000000000000" pitchFamily="2" charset="2"/>
              <a:buChar char="q"/>
            </a:pPr>
            <a:r>
              <a:rPr lang="en-US" b="1" dirty="0"/>
              <a:t>how method is implemented </a:t>
            </a:r>
          </a:p>
          <a:p>
            <a:pPr marL="742950" lvl="1" indent="-285750" algn="just">
              <a:buFont typeface="Wingdings" panose="05000000000000000000" pitchFamily="2" charset="2"/>
              <a:buChar char="q"/>
            </a:pPr>
            <a:r>
              <a:rPr lang="en-US" b="1" dirty="0"/>
              <a:t>and in which (sub) class the method is implemented</a:t>
            </a:r>
          </a:p>
          <a:p>
            <a:pPr algn="just"/>
            <a:endParaRPr lang="en-US" b="1" dirty="0"/>
          </a:p>
          <a:p>
            <a:pPr algn="just"/>
            <a:r>
              <a:rPr lang="en-US" b="1" dirty="0"/>
              <a:t>Why Abstraction? Why hiding method implementation?</a:t>
            </a:r>
          </a:p>
          <a:p>
            <a:pPr algn="just"/>
            <a:r>
              <a:rPr lang="en-US" b="1" dirty="0"/>
              <a:t>Ex:1 </a:t>
            </a:r>
            <a:r>
              <a:rPr lang="en-US" dirty="0"/>
              <a:t>For example if developer wants to store application data into various data sources like plain text file (.txt), Excel (.xlsx), XML (.xml), JSON (.json), RDBMSs (Oracle, MySQL, </a:t>
            </a:r>
            <a:r>
              <a:rPr lang="en-US" dirty="0" err="1"/>
              <a:t>MSSQLServer</a:t>
            </a:r>
            <a:r>
              <a:rPr lang="en-US" dirty="0"/>
              <a:t>), NoSQL DBs (MongoDB, Cassandra), </a:t>
            </a:r>
            <a:r>
              <a:rPr lang="en-US" dirty="0" err="1"/>
              <a:t>CloudDB</a:t>
            </a:r>
            <a:r>
              <a:rPr lang="en-US" dirty="0"/>
              <a:t> (Amazon RDS, </a:t>
            </a:r>
            <a:r>
              <a:rPr lang="en-US" dirty="0" err="1"/>
              <a:t>Firestore</a:t>
            </a:r>
            <a:r>
              <a:rPr lang="en-US" dirty="0"/>
              <a:t>) irrespective of </a:t>
            </a:r>
            <a:r>
              <a:rPr lang="en-US" dirty="0" err="1"/>
              <a:t>DataSource</a:t>
            </a:r>
            <a:r>
              <a:rPr lang="en-US" dirty="0"/>
              <a:t> a common method should be provided to the client.</a:t>
            </a:r>
          </a:p>
          <a:p>
            <a:pPr algn="just"/>
            <a:endParaRPr lang="en-US" b="1" dirty="0"/>
          </a:p>
          <a:p>
            <a:pPr algn="just"/>
            <a:r>
              <a:rPr lang="en-US" b="1" dirty="0"/>
              <a:t>class </a:t>
            </a:r>
            <a:r>
              <a:rPr lang="en-US" b="1" dirty="0" err="1"/>
              <a:t>EmpService</a:t>
            </a:r>
            <a:r>
              <a:rPr lang="en-US" b="1" dirty="0"/>
              <a:t> {</a:t>
            </a:r>
          </a:p>
          <a:p>
            <a:pPr algn="just"/>
            <a:r>
              <a:rPr lang="en-US" b="1" dirty="0"/>
              <a:t>	public int </a:t>
            </a:r>
            <a:r>
              <a:rPr lang="en-US" b="1" dirty="0" err="1"/>
              <a:t>saveEmp</a:t>
            </a:r>
            <a:r>
              <a:rPr lang="en-US" b="1" dirty="0"/>
              <a:t>(Emp e) {</a:t>
            </a:r>
          </a:p>
          <a:p>
            <a:pPr algn="just"/>
            <a:r>
              <a:rPr lang="en-US" b="1" dirty="0"/>
              <a:t>		// which datasource API we have to use to store the data</a:t>
            </a:r>
          </a:p>
          <a:p>
            <a:pPr algn="just"/>
            <a:r>
              <a:rPr lang="en-US" b="1" dirty="0"/>
              <a:t>	}</a:t>
            </a:r>
          </a:p>
          <a:p>
            <a:pPr algn="just"/>
            <a:r>
              <a:rPr lang="en-US" b="1" dirty="0"/>
              <a:t>}</a:t>
            </a:r>
          </a:p>
        </p:txBody>
      </p:sp>
    </p:spTree>
    <p:extLst>
      <p:ext uri="{BB962C8B-B14F-4D97-AF65-F5344CB8AC3E}">
        <p14:creationId xmlns:p14="http://schemas.microsoft.com/office/powerpoint/2010/main" val="162233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5" name="TextBox 24">
            <a:extLst>
              <a:ext uri="{FF2B5EF4-FFF2-40B4-BE49-F238E27FC236}">
                <a16:creationId xmlns:a16="http://schemas.microsoft.com/office/drawing/2014/main" id="{9EF1F68D-DE27-4235-8FC6-DECDFF00AEEE}"/>
              </a:ext>
            </a:extLst>
          </p:cNvPr>
          <p:cNvSpPr txBox="1"/>
          <p:nvPr/>
        </p:nvSpPr>
        <p:spPr>
          <a:xfrm>
            <a:off x="690768" y="1023409"/>
            <a:ext cx="8479822" cy="3139321"/>
          </a:xfrm>
          <a:prstGeom prst="rect">
            <a:avLst/>
          </a:prstGeom>
          <a:noFill/>
        </p:spPr>
        <p:txBody>
          <a:bodyPr wrap="square">
            <a:spAutoFit/>
          </a:bodyPr>
          <a:lstStyle/>
          <a:p>
            <a:pPr algn="just"/>
            <a:r>
              <a:rPr lang="en-US" b="1" dirty="0"/>
              <a:t>Ex:2 </a:t>
            </a:r>
            <a:r>
              <a:rPr lang="en-US" dirty="0"/>
              <a:t>If company is having various depts &amp; designation employees (Admin, Accounts, HR, Production, R</a:t>
            </a:r>
            <a:r>
              <a:rPr lang="en-US" sz="1400" dirty="0"/>
              <a:t>&amp;</a:t>
            </a:r>
            <a:r>
              <a:rPr lang="en-US" dirty="0"/>
              <a:t>D, Marketing, Sales </a:t>
            </a:r>
            <a:r>
              <a:rPr lang="en-US" dirty="0" err="1"/>
              <a:t>etc</a:t>
            </a:r>
            <a:r>
              <a:rPr lang="en-US" dirty="0"/>
              <a:t>). How to implement calculate salary method implementation for such various employees?</a:t>
            </a:r>
          </a:p>
          <a:p>
            <a:pPr algn="just"/>
            <a:endParaRPr lang="en-US" b="1" dirty="0"/>
          </a:p>
          <a:p>
            <a:pPr algn="just"/>
            <a:r>
              <a:rPr lang="en-US" b="1" dirty="0"/>
              <a:t>class </a:t>
            </a:r>
            <a:r>
              <a:rPr lang="en-US" b="1" dirty="0" err="1"/>
              <a:t>SalService</a:t>
            </a:r>
            <a:r>
              <a:rPr lang="en-US" b="1" dirty="0"/>
              <a:t> {</a:t>
            </a:r>
          </a:p>
          <a:p>
            <a:pPr algn="just"/>
            <a:r>
              <a:rPr lang="en-US" b="1" dirty="0"/>
              <a:t>	public double </a:t>
            </a:r>
            <a:r>
              <a:rPr lang="en-US" b="1" dirty="0" err="1"/>
              <a:t>calSal</a:t>
            </a:r>
            <a:r>
              <a:rPr lang="en-US" b="1" dirty="0"/>
              <a:t>(int </a:t>
            </a:r>
            <a:r>
              <a:rPr lang="en-US" b="1" dirty="0" err="1"/>
              <a:t>eid</a:t>
            </a:r>
            <a:r>
              <a:rPr lang="en-US" b="1" dirty="0"/>
              <a:t>) {</a:t>
            </a:r>
          </a:p>
          <a:p>
            <a:pPr algn="just"/>
            <a:r>
              <a:rPr lang="en-US" b="1" dirty="0"/>
              <a:t>		// Admin: </a:t>
            </a:r>
            <a:r>
              <a:rPr lang="en-US" b="1" dirty="0" err="1"/>
              <a:t>nowd</a:t>
            </a:r>
            <a:r>
              <a:rPr lang="en-US" b="1" dirty="0"/>
              <a:t>*</a:t>
            </a:r>
            <a:r>
              <a:rPr lang="en-US" b="1" dirty="0" err="1"/>
              <a:t>pds</a:t>
            </a:r>
            <a:endParaRPr lang="en-US" b="1" dirty="0"/>
          </a:p>
          <a:p>
            <a:pPr algn="just"/>
            <a:r>
              <a:rPr lang="en-US" b="1" dirty="0"/>
              <a:t>		// Production:  </a:t>
            </a:r>
            <a:r>
              <a:rPr lang="en-US" b="1" dirty="0" err="1"/>
              <a:t>nowd</a:t>
            </a:r>
            <a:r>
              <a:rPr lang="en-US" b="1" dirty="0"/>
              <a:t>*</a:t>
            </a:r>
            <a:r>
              <a:rPr lang="en-US" b="1" dirty="0" err="1"/>
              <a:t>pds</a:t>
            </a:r>
            <a:r>
              <a:rPr lang="en-US" b="1" dirty="0"/>
              <a:t> + </a:t>
            </a:r>
            <a:r>
              <a:rPr lang="en-US" b="1" dirty="0" err="1"/>
              <a:t>ot</a:t>
            </a:r>
            <a:r>
              <a:rPr lang="en-US" b="1" dirty="0"/>
              <a:t>*</a:t>
            </a:r>
            <a:r>
              <a:rPr lang="en-US" b="1" dirty="0" err="1"/>
              <a:t>otperhour</a:t>
            </a:r>
            <a:endParaRPr lang="en-US" b="1" dirty="0"/>
          </a:p>
          <a:p>
            <a:pPr algn="just"/>
            <a:r>
              <a:rPr lang="en-US" b="1" dirty="0"/>
              <a:t>		// Sales:  </a:t>
            </a:r>
            <a:r>
              <a:rPr lang="en-US" b="1" dirty="0" err="1"/>
              <a:t>nowd</a:t>
            </a:r>
            <a:r>
              <a:rPr lang="en-US" b="1" dirty="0"/>
              <a:t>*</a:t>
            </a:r>
            <a:r>
              <a:rPr lang="en-US" b="1" dirty="0" err="1"/>
              <a:t>pds+salesamount</a:t>
            </a:r>
            <a:r>
              <a:rPr lang="en-US" b="1" dirty="0"/>
              <a:t>*commission</a:t>
            </a:r>
          </a:p>
          <a:p>
            <a:pPr algn="just"/>
            <a:r>
              <a:rPr lang="en-US" b="1" dirty="0"/>
              <a:t>	}</a:t>
            </a:r>
          </a:p>
          <a:p>
            <a:pPr algn="just"/>
            <a:r>
              <a:rPr lang="en-US" b="1" dirty="0"/>
              <a:t>}</a:t>
            </a:r>
          </a:p>
        </p:txBody>
      </p:sp>
    </p:spTree>
    <p:extLst>
      <p:ext uri="{BB962C8B-B14F-4D97-AF65-F5344CB8AC3E}">
        <p14:creationId xmlns:p14="http://schemas.microsoft.com/office/powerpoint/2010/main" val="3293504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73A1BD51-39CD-4020-B912-0E68E98BCA6D}"/>
              </a:ext>
            </a:extLst>
          </p:cNvPr>
          <p:cNvSpPr txBox="1"/>
          <p:nvPr/>
        </p:nvSpPr>
        <p:spPr>
          <a:xfrm>
            <a:off x="314540" y="660831"/>
            <a:ext cx="10205718" cy="830997"/>
          </a:xfrm>
          <a:prstGeom prst="rect">
            <a:avLst/>
          </a:prstGeom>
          <a:noFill/>
        </p:spPr>
        <p:txBody>
          <a:bodyPr wrap="square">
            <a:spAutoFit/>
          </a:bodyPr>
          <a:lstStyle/>
          <a:p>
            <a:r>
              <a:rPr lang="en-US" sz="1600" b="1" dirty="0"/>
              <a:t>Ex:2 For example in college </a:t>
            </a:r>
            <a:r>
              <a:rPr lang="en-IN" sz="1600" dirty="0"/>
              <a:t>previously, college is having only </a:t>
            </a:r>
            <a:r>
              <a:rPr lang="en-IN" sz="1600" b="1" dirty="0"/>
              <a:t>day scholar </a:t>
            </a:r>
            <a:r>
              <a:rPr lang="en-IN" sz="1600" dirty="0"/>
              <a:t>admissions</a:t>
            </a:r>
            <a:r>
              <a:rPr lang="en-IN" sz="1600" b="1" dirty="0"/>
              <a:t>.</a:t>
            </a:r>
          </a:p>
          <a:p>
            <a:r>
              <a:rPr lang="en-IN" sz="1600" dirty="0"/>
              <a:t>Now college has started </a:t>
            </a:r>
            <a:r>
              <a:rPr lang="en-IN" sz="1600" b="1" dirty="0"/>
              <a:t>Residential &amp; NRI </a:t>
            </a:r>
            <a:r>
              <a:rPr lang="en-IN" sz="1600" dirty="0"/>
              <a:t>student admissions also. But the input we take and give outputs remains same for any type of student admission, only logic differs from admission to admission.</a:t>
            </a:r>
            <a:endParaRPr lang="en-IN" sz="1600" b="1" dirty="0"/>
          </a:p>
        </p:txBody>
      </p:sp>
      <p:sp>
        <p:nvSpPr>
          <p:cNvPr id="24" name="TextBox 23">
            <a:extLst>
              <a:ext uri="{FF2B5EF4-FFF2-40B4-BE49-F238E27FC236}">
                <a16:creationId xmlns:a16="http://schemas.microsoft.com/office/drawing/2014/main" id="{5E3C5200-D0DC-402E-A965-6D74284BC65B}"/>
              </a:ext>
            </a:extLst>
          </p:cNvPr>
          <p:cNvSpPr txBox="1"/>
          <p:nvPr/>
        </p:nvSpPr>
        <p:spPr>
          <a:xfrm>
            <a:off x="477078" y="1432820"/>
            <a:ext cx="8680369" cy="5262979"/>
          </a:xfrm>
          <a:prstGeom prst="rect">
            <a:avLst/>
          </a:prstGeom>
          <a:noFill/>
        </p:spPr>
        <p:txBody>
          <a:bodyPr wrap="square">
            <a:spAutoFit/>
          </a:bodyPr>
          <a:lstStyle/>
          <a:p>
            <a:r>
              <a:rPr lang="en-IN" sz="1400" b="1" dirty="0"/>
              <a:t>// StudentAdmission.java</a:t>
            </a:r>
          </a:p>
          <a:p>
            <a:r>
              <a:rPr lang="en-IN" sz="1400" b="1" dirty="0"/>
              <a:t>class </a:t>
            </a:r>
            <a:r>
              <a:rPr lang="en-IN" sz="1400" b="1" dirty="0" err="1"/>
              <a:t>StudentAdmission</a:t>
            </a:r>
            <a:r>
              <a:rPr lang="en-IN" sz="1400" b="1" dirty="0"/>
              <a:t> {</a:t>
            </a:r>
          </a:p>
          <a:p>
            <a:r>
              <a:rPr lang="en-IN" sz="1400" b="1" dirty="0"/>
              <a:t>  void </a:t>
            </a:r>
            <a:r>
              <a:rPr lang="en-IN" sz="1400" b="1" dirty="0" err="1"/>
              <a:t>admitStudent</a:t>
            </a:r>
            <a:r>
              <a:rPr lang="en-IN" sz="1400" b="1" dirty="0"/>
              <a:t>(String </a:t>
            </a:r>
            <a:r>
              <a:rPr lang="en-IN" sz="1400" b="1" dirty="0" err="1"/>
              <a:t>sname</a:t>
            </a:r>
            <a:r>
              <a:rPr lang="en-IN" sz="1400" b="1" dirty="0"/>
              <a:t>, String qual, String dob, String group, String </a:t>
            </a:r>
            <a:r>
              <a:rPr lang="en-IN" sz="1400" b="1" dirty="0" err="1"/>
              <a:t>admType</a:t>
            </a:r>
            <a:r>
              <a:rPr lang="en-IN" sz="1400" b="1" dirty="0"/>
              <a:t>) {</a:t>
            </a:r>
          </a:p>
          <a:p>
            <a:endParaRPr lang="en-IN" sz="1400" b="1" dirty="0"/>
          </a:p>
          <a:p>
            <a:r>
              <a:rPr lang="en-IN" sz="1400" b="1" dirty="0"/>
              <a:t>     if(</a:t>
            </a:r>
            <a:r>
              <a:rPr lang="en-IN" sz="1400" b="1" dirty="0" err="1"/>
              <a:t>admType.equals</a:t>
            </a:r>
            <a:r>
              <a:rPr lang="en-IN" sz="1400" b="1" dirty="0"/>
              <a:t>("Day Scholar")) {</a:t>
            </a:r>
          </a:p>
          <a:p>
            <a:r>
              <a:rPr lang="en-IN" sz="1400" dirty="0"/>
              <a:t>         // validate the data</a:t>
            </a:r>
          </a:p>
          <a:p>
            <a:r>
              <a:rPr lang="en-IN" sz="1400" dirty="0"/>
              <a:t>         // store the admission details</a:t>
            </a:r>
          </a:p>
          <a:p>
            <a:r>
              <a:rPr lang="en-IN" sz="1400" dirty="0"/>
              <a:t>         // return </a:t>
            </a:r>
            <a:r>
              <a:rPr lang="en-IN" sz="1400" dirty="0" err="1"/>
              <a:t>admissionid</a:t>
            </a:r>
            <a:endParaRPr lang="en-IN" sz="1400" dirty="0"/>
          </a:p>
          <a:p>
            <a:r>
              <a:rPr lang="en-IN" sz="1400" b="1" dirty="0"/>
              <a:t>     } else if (</a:t>
            </a:r>
            <a:r>
              <a:rPr lang="en-IN" sz="1400" b="1" dirty="0" err="1"/>
              <a:t>admType.equals</a:t>
            </a:r>
            <a:r>
              <a:rPr lang="en-IN" sz="1400" b="1" dirty="0"/>
              <a:t>("Residential")) {</a:t>
            </a:r>
          </a:p>
          <a:p>
            <a:r>
              <a:rPr lang="en-IN" sz="1400" dirty="0"/>
              <a:t>         // validate the data</a:t>
            </a:r>
          </a:p>
          <a:p>
            <a:r>
              <a:rPr lang="en-IN" sz="1400" dirty="0"/>
              <a:t>         // which type of hostel / mess</a:t>
            </a:r>
          </a:p>
          <a:p>
            <a:r>
              <a:rPr lang="en-IN" sz="1400" dirty="0"/>
              <a:t>         // store the admission details, hostel &amp; mess details</a:t>
            </a:r>
          </a:p>
          <a:p>
            <a:r>
              <a:rPr lang="en-IN" sz="1400" dirty="0"/>
              <a:t>         // return </a:t>
            </a:r>
            <a:r>
              <a:rPr lang="en-IN" sz="1400" dirty="0" err="1"/>
              <a:t>admissionid</a:t>
            </a:r>
            <a:endParaRPr lang="en-IN" sz="1400" dirty="0"/>
          </a:p>
          <a:p>
            <a:r>
              <a:rPr lang="en-IN" sz="1400" b="1" dirty="0"/>
              <a:t>     } else if (</a:t>
            </a:r>
            <a:r>
              <a:rPr lang="en-IN" sz="1400" b="1" dirty="0" err="1"/>
              <a:t>admType.equals</a:t>
            </a:r>
            <a:r>
              <a:rPr lang="en-IN" sz="1400" b="1" dirty="0"/>
              <a:t>("NRI")) {</a:t>
            </a:r>
          </a:p>
          <a:p>
            <a:r>
              <a:rPr lang="en-IN" sz="1400" b="1" dirty="0"/>
              <a:t>         </a:t>
            </a:r>
            <a:r>
              <a:rPr lang="en-IN" sz="1400" dirty="0"/>
              <a:t>// validate the data</a:t>
            </a:r>
          </a:p>
          <a:p>
            <a:r>
              <a:rPr lang="en-IN" sz="1400" dirty="0"/>
              <a:t>         // which type of hostel / mess</a:t>
            </a:r>
          </a:p>
          <a:p>
            <a:r>
              <a:rPr lang="en-IN" sz="1400" dirty="0"/>
              <a:t>         // store the admission details, hostel &amp; mess details</a:t>
            </a:r>
          </a:p>
          <a:p>
            <a:r>
              <a:rPr lang="en-IN" sz="1400" dirty="0"/>
              <a:t>         // validate passport, visa, immigration certification and store those details</a:t>
            </a:r>
          </a:p>
          <a:p>
            <a:r>
              <a:rPr lang="en-IN" sz="1400" dirty="0"/>
              <a:t>         // return </a:t>
            </a:r>
            <a:r>
              <a:rPr lang="en-IN" sz="1400" dirty="0" err="1"/>
              <a:t>admissionid</a:t>
            </a:r>
            <a:r>
              <a:rPr lang="en-IN" sz="1400" b="1" dirty="0"/>
              <a:t>	</a:t>
            </a:r>
          </a:p>
          <a:p>
            <a:r>
              <a:rPr lang="en-IN" sz="1400" b="1" dirty="0"/>
              <a:t>     } else {</a:t>
            </a:r>
          </a:p>
          <a:p>
            <a:pPr lvl="1"/>
            <a:r>
              <a:rPr lang="en-IN" sz="1400" b="1" dirty="0"/>
              <a:t>   // do nothing/raise error</a:t>
            </a:r>
          </a:p>
          <a:p>
            <a:pPr lvl="1"/>
            <a:r>
              <a:rPr lang="en-IN" sz="1400" b="1" dirty="0"/>
              <a:t>}</a:t>
            </a:r>
          </a:p>
          <a:p>
            <a:r>
              <a:rPr lang="en-IN" sz="1400" b="1" dirty="0"/>
              <a:t>     } </a:t>
            </a:r>
          </a:p>
          <a:p>
            <a:r>
              <a:rPr lang="en-IN" sz="1400" b="1" dirty="0"/>
              <a:t>}</a:t>
            </a:r>
          </a:p>
        </p:txBody>
      </p:sp>
    </p:spTree>
    <p:extLst>
      <p:ext uri="{BB962C8B-B14F-4D97-AF65-F5344CB8AC3E}">
        <p14:creationId xmlns:p14="http://schemas.microsoft.com/office/powerpoint/2010/main" val="3040294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19" name="TextBox 18">
            <a:extLst>
              <a:ext uri="{FF2B5EF4-FFF2-40B4-BE49-F238E27FC236}">
                <a16:creationId xmlns:a16="http://schemas.microsoft.com/office/drawing/2014/main" id="{73A1BD51-39CD-4020-B912-0E68E98BCA6D}"/>
              </a:ext>
            </a:extLst>
          </p:cNvPr>
          <p:cNvSpPr txBox="1"/>
          <p:nvPr/>
        </p:nvSpPr>
        <p:spPr>
          <a:xfrm>
            <a:off x="314540" y="754960"/>
            <a:ext cx="8966467" cy="5016758"/>
          </a:xfrm>
          <a:prstGeom prst="rect">
            <a:avLst/>
          </a:prstGeom>
          <a:noFill/>
        </p:spPr>
        <p:txBody>
          <a:bodyPr wrap="square">
            <a:spAutoFit/>
          </a:bodyPr>
          <a:lstStyle/>
          <a:p>
            <a:pPr algn="just"/>
            <a:r>
              <a:rPr lang="en-IN" sz="2000" b="1" dirty="0"/>
              <a:t>As we might have noticed for every admission type we have written logic in a single method, the size of the method increases, secondly if new type of admission comes the method modifies again and thirdly if the logic for an existing admission want to be changed the method modifies again. This causes a recompilation of a class which is again an another development time constraint.</a:t>
            </a:r>
          </a:p>
          <a:p>
            <a:pPr algn="just"/>
            <a:endParaRPr lang="en-IN" sz="2000" b="1" dirty="0"/>
          </a:p>
          <a:p>
            <a:pPr algn="just"/>
            <a:r>
              <a:rPr lang="en-IN" sz="2000" b="1" dirty="0"/>
              <a:t>How to do you ensure that once implemented method remains same for any </a:t>
            </a:r>
          </a:p>
          <a:p>
            <a:pPr marL="342900" indent="-342900" algn="just">
              <a:buFont typeface="Wingdings" panose="05000000000000000000" pitchFamily="2" charset="2"/>
              <a:buChar char="Ø"/>
            </a:pPr>
            <a:r>
              <a:rPr lang="en-IN" sz="2000" b="1" dirty="0"/>
              <a:t>new admission comes in future </a:t>
            </a:r>
          </a:p>
          <a:p>
            <a:pPr marL="342900" indent="-342900" algn="just">
              <a:buFont typeface="Wingdings" panose="05000000000000000000" pitchFamily="2" charset="2"/>
              <a:buChar char="Ø"/>
            </a:pPr>
            <a:r>
              <a:rPr lang="en-IN" sz="2000" b="1" dirty="0"/>
              <a:t>or existing admission logic requires changes</a:t>
            </a:r>
          </a:p>
          <a:p>
            <a:pPr algn="just"/>
            <a:endParaRPr lang="en-IN" sz="2000" b="1" dirty="0"/>
          </a:p>
          <a:p>
            <a:pPr algn="just"/>
            <a:r>
              <a:rPr lang="en-IN" sz="2000" b="1" dirty="0"/>
              <a:t>For that don’t implement such all admissions logic in a single method in a single class. </a:t>
            </a:r>
          </a:p>
          <a:p>
            <a:pPr algn="just"/>
            <a:endParaRPr lang="en-IN" sz="2000" b="1" dirty="0"/>
          </a:p>
          <a:p>
            <a:pPr algn="just"/>
            <a:r>
              <a:rPr lang="en-IN" sz="2000" b="1" dirty="0"/>
              <a:t>Instead implement different admissions logic in different classes. </a:t>
            </a:r>
          </a:p>
          <a:p>
            <a:pPr marL="342900" indent="-342900" algn="just">
              <a:buFont typeface="Wingdings" panose="05000000000000000000" pitchFamily="2" charset="2"/>
              <a:buChar char="Ø"/>
            </a:pPr>
            <a:r>
              <a:rPr lang="en-IN" sz="2000" b="1" dirty="0"/>
              <a:t>If do so new classes comes in future if new admission types comes </a:t>
            </a:r>
          </a:p>
          <a:p>
            <a:pPr marL="342900" indent="-342900" algn="just">
              <a:buFont typeface="Wingdings" panose="05000000000000000000" pitchFamily="2" charset="2"/>
              <a:buChar char="Ø"/>
            </a:pPr>
            <a:r>
              <a:rPr lang="en-IN" sz="2000" b="1" dirty="0"/>
              <a:t>or the respective class logic changes whenever changes are required</a:t>
            </a:r>
          </a:p>
        </p:txBody>
      </p:sp>
    </p:spTree>
    <p:extLst>
      <p:ext uri="{BB962C8B-B14F-4D97-AF65-F5344CB8AC3E}">
        <p14:creationId xmlns:p14="http://schemas.microsoft.com/office/powerpoint/2010/main" val="2328342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5E3C5200-D0DC-402E-A965-6D74284BC65B}"/>
              </a:ext>
            </a:extLst>
          </p:cNvPr>
          <p:cNvSpPr txBox="1"/>
          <p:nvPr/>
        </p:nvSpPr>
        <p:spPr>
          <a:xfrm>
            <a:off x="272900" y="746969"/>
            <a:ext cx="5022575" cy="1169551"/>
          </a:xfrm>
          <a:prstGeom prst="rect">
            <a:avLst/>
          </a:prstGeom>
          <a:noFill/>
        </p:spPr>
        <p:txBody>
          <a:bodyPr wrap="square">
            <a:spAutoFit/>
          </a:bodyPr>
          <a:lstStyle/>
          <a:p>
            <a:r>
              <a:rPr lang="en-IN" sz="1400" b="1" dirty="0"/>
              <a:t>// StudentAdmission.java</a:t>
            </a:r>
          </a:p>
          <a:p>
            <a:r>
              <a:rPr lang="en-IN" sz="1400" b="1" dirty="0">
                <a:solidFill>
                  <a:srgbClr val="FF0000"/>
                </a:solidFill>
              </a:rPr>
              <a:t>abstract</a:t>
            </a:r>
            <a:r>
              <a:rPr lang="en-IN" sz="1400" b="1" dirty="0"/>
              <a:t> class </a:t>
            </a:r>
            <a:r>
              <a:rPr lang="en-IN" sz="1400" b="1" dirty="0" err="1"/>
              <a:t>StudentAdmission</a:t>
            </a:r>
            <a:r>
              <a:rPr lang="en-IN" sz="1400" b="1" dirty="0"/>
              <a:t> {</a:t>
            </a:r>
          </a:p>
          <a:p>
            <a:r>
              <a:rPr lang="en-IN" sz="1400" b="1" dirty="0"/>
              <a:t> </a:t>
            </a:r>
            <a:r>
              <a:rPr lang="en-IN" sz="1400" b="1" dirty="0">
                <a:solidFill>
                  <a:srgbClr val="FF0000"/>
                </a:solidFill>
              </a:rPr>
              <a:t> abstract </a:t>
            </a:r>
            <a:r>
              <a:rPr lang="en-IN" sz="1400" b="1" dirty="0"/>
              <a:t>void </a:t>
            </a:r>
            <a:r>
              <a:rPr lang="en-IN" sz="1400" b="1" dirty="0" err="1"/>
              <a:t>admitStudent</a:t>
            </a:r>
            <a:r>
              <a:rPr lang="en-IN" sz="1400" b="1" dirty="0"/>
              <a:t>(String </a:t>
            </a:r>
            <a:r>
              <a:rPr lang="en-IN" sz="1400" b="1" dirty="0" err="1"/>
              <a:t>sname</a:t>
            </a:r>
            <a:r>
              <a:rPr lang="en-IN" sz="1400" b="1" dirty="0"/>
              <a:t>, String qual, String dob, String group);</a:t>
            </a:r>
          </a:p>
          <a:p>
            <a:r>
              <a:rPr lang="en-IN" sz="1400" b="1" dirty="0"/>
              <a:t>}</a:t>
            </a:r>
          </a:p>
        </p:txBody>
      </p:sp>
      <p:sp>
        <p:nvSpPr>
          <p:cNvPr id="26" name="TextBox 25">
            <a:extLst>
              <a:ext uri="{FF2B5EF4-FFF2-40B4-BE49-F238E27FC236}">
                <a16:creationId xmlns:a16="http://schemas.microsoft.com/office/drawing/2014/main" id="{48722837-AD64-475A-A1EB-808BDBCE60A2}"/>
              </a:ext>
            </a:extLst>
          </p:cNvPr>
          <p:cNvSpPr txBox="1"/>
          <p:nvPr/>
        </p:nvSpPr>
        <p:spPr>
          <a:xfrm>
            <a:off x="188158" y="1946192"/>
            <a:ext cx="5907841" cy="1569660"/>
          </a:xfrm>
          <a:prstGeom prst="rect">
            <a:avLst/>
          </a:prstGeom>
          <a:noFill/>
        </p:spPr>
        <p:txBody>
          <a:bodyPr wrap="square">
            <a:spAutoFit/>
          </a:bodyPr>
          <a:lstStyle/>
          <a:p>
            <a:r>
              <a:rPr lang="en-IN" sz="1200" b="1" dirty="0"/>
              <a:t>// DayScholarSA.java</a:t>
            </a:r>
          </a:p>
          <a:p>
            <a:r>
              <a:rPr lang="en-IN" sz="1200" b="1" dirty="0"/>
              <a:t>class </a:t>
            </a:r>
            <a:r>
              <a:rPr lang="en-IN" sz="1200" b="1" dirty="0" err="1"/>
              <a:t>DayScholarSA</a:t>
            </a:r>
            <a:r>
              <a:rPr lang="en-IN" sz="1200" b="1" dirty="0"/>
              <a:t>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dirty="0"/>
              <a:t>         // validate the data</a:t>
            </a:r>
          </a:p>
          <a:p>
            <a:r>
              <a:rPr lang="en-IN" sz="1200" dirty="0"/>
              <a:t>         // store the admission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7" name="TextBox 26">
            <a:extLst>
              <a:ext uri="{FF2B5EF4-FFF2-40B4-BE49-F238E27FC236}">
                <a16:creationId xmlns:a16="http://schemas.microsoft.com/office/drawing/2014/main" id="{457BC9CC-D567-4C6D-AC8C-05E7C546B038}"/>
              </a:ext>
            </a:extLst>
          </p:cNvPr>
          <p:cNvSpPr txBox="1"/>
          <p:nvPr/>
        </p:nvSpPr>
        <p:spPr>
          <a:xfrm>
            <a:off x="217286" y="3567854"/>
            <a:ext cx="5149843" cy="1754326"/>
          </a:xfrm>
          <a:prstGeom prst="rect">
            <a:avLst/>
          </a:prstGeom>
          <a:noFill/>
        </p:spPr>
        <p:txBody>
          <a:bodyPr wrap="square">
            <a:spAutoFit/>
          </a:bodyPr>
          <a:lstStyle/>
          <a:p>
            <a:r>
              <a:rPr lang="en-IN" sz="1200" b="1" dirty="0"/>
              <a:t>// ResidentialSA.java</a:t>
            </a:r>
          </a:p>
          <a:p>
            <a:r>
              <a:rPr lang="en-IN" sz="1200" b="1" dirty="0"/>
              <a:t>class </a:t>
            </a:r>
            <a:r>
              <a:rPr lang="en-IN" sz="1200" b="1" dirty="0" err="1"/>
              <a:t>ResidentialSA</a:t>
            </a:r>
            <a:r>
              <a:rPr lang="en-IN" sz="1200" b="1" dirty="0"/>
              <a:t>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dirty="0"/>
              <a:t>          // validate the data</a:t>
            </a:r>
          </a:p>
          <a:p>
            <a:r>
              <a:rPr lang="en-IN" sz="1200" dirty="0"/>
              <a:t>         // which type of hostel / mess</a:t>
            </a:r>
          </a:p>
          <a:p>
            <a:r>
              <a:rPr lang="en-IN" sz="1200" dirty="0"/>
              <a:t>         // store the admission details, hostel &amp; mess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8" name="TextBox 27">
            <a:extLst>
              <a:ext uri="{FF2B5EF4-FFF2-40B4-BE49-F238E27FC236}">
                <a16:creationId xmlns:a16="http://schemas.microsoft.com/office/drawing/2014/main" id="{F04925D5-329F-46D7-BCED-D58A17231D70}"/>
              </a:ext>
            </a:extLst>
          </p:cNvPr>
          <p:cNvSpPr txBox="1"/>
          <p:nvPr/>
        </p:nvSpPr>
        <p:spPr>
          <a:xfrm>
            <a:off x="5538013" y="683010"/>
            <a:ext cx="5404259" cy="1938992"/>
          </a:xfrm>
          <a:prstGeom prst="rect">
            <a:avLst/>
          </a:prstGeom>
          <a:noFill/>
        </p:spPr>
        <p:txBody>
          <a:bodyPr wrap="square">
            <a:spAutoFit/>
          </a:bodyPr>
          <a:lstStyle/>
          <a:p>
            <a:r>
              <a:rPr lang="en-IN" sz="1200" b="1" dirty="0"/>
              <a:t>// NRISA.java</a:t>
            </a:r>
          </a:p>
          <a:p>
            <a:r>
              <a:rPr lang="en-IN" sz="1200" b="1" dirty="0"/>
              <a:t>class NRISA extends </a:t>
            </a:r>
            <a:r>
              <a:rPr lang="en-IN" sz="1200" b="1" dirty="0" err="1"/>
              <a:t>StudentAdmission</a:t>
            </a:r>
            <a:r>
              <a:rPr lang="en-IN" sz="1200" b="1" dirty="0"/>
              <a:t> {</a:t>
            </a:r>
          </a:p>
          <a:p>
            <a:r>
              <a:rPr lang="en-IN" sz="1200" b="1" dirty="0"/>
              <a:t>  void </a:t>
            </a:r>
            <a:r>
              <a:rPr lang="en-IN" sz="1200" b="1" dirty="0" err="1"/>
              <a:t>admitStudent</a:t>
            </a:r>
            <a:r>
              <a:rPr lang="en-IN" sz="1200" b="1" dirty="0"/>
              <a:t>(String </a:t>
            </a:r>
            <a:r>
              <a:rPr lang="en-IN" sz="1200" b="1" dirty="0" err="1"/>
              <a:t>sname</a:t>
            </a:r>
            <a:r>
              <a:rPr lang="en-IN" sz="1200" b="1" dirty="0"/>
              <a:t>, String qual, String dob, String group) {</a:t>
            </a:r>
          </a:p>
          <a:p>
            <a:r>
              <a:rPr lang="en-IN" sz="1200" b="1" dirty="0"/>
              <a:t>          </a:t>
            </a:r>
            <a:r>
              <a:rPr lang="en-IN" sz="1200" dirty="0"/>
              <a:t>// validate the data</a:t>
            </a:r>
          </a:p>
          <a:p>
            <a:r>
              <a:rPr lang="en-IN" sz="1200" dirty="0"/>
              <a:t>          // which type of hostel / mess</a:t>
            </a:r>
          </a:p>
          <a:p>
            <a:r>
              <a:rPr lang="en-IN" sz="1200" dirty="0"/>
              <a:t>          // validate passport, visa, immigration certification and store those details</a:t>
            </a:r>
          </a:p>
          <a:p>
            <a:r>
              <a:rPr lang="en-IN" sz="1200" dirty="0"/>
              <a:t>          // store the admission details, hostel &amp; mess details</a:t>
            </a:r>
          </a:p>
          <a:p>
            <a:r>
              <a:rPr lang="en-IN" sz="1200" dirty="0"/>
              <a:t>         // return </a:t>
            </a:r>
            <a:r>
              <a:rPr lang="en-IN" sz="1200" dirty="0" err="1"/>
              <a:t>admissionid</a:t>
            </a:r>
            <a:endParaRPr lang="en-IN" sz="1200" b="1" dirty="0"/>
          </a:p>
          <a:p>
            <a:r>
              <a:rPr lang="en-IN" sz="1200" b="1" dirty="0"/>
              <a:t>  }</a:t>
            </a:r>
          </a:p>
          <a:p>
            <a:r>
              <a:rPr lang="en-IN" sz="1200" b="1" dirty="0"/>
              <a:t>}</a:t>
            </a:r>
          </a:p>
        </p:txBody>
      </p:sp>
      <p:sp>
        <p:nvSpPr>
          <p:cNvPr id="29" name="TextBox 28">
            <a:extLst>
              <a:ext uri="{FF2B5EF4-FFF2-40B4-BE49-F238E27FC236}">
                <a16:creationId xmlns:a16="http://schemas.microsoft.com/office/drawing/2014/main" id="{379AFFAA-0612-4FBF-B720-ADBA7ED0D88F}"/>
              </a:ext>
            </a:extLst>
          </p:cNvPr>
          <p:cNvSpPr txBox="1"/>
          <p:nvPr/>
        </p:nvSpPr>
        <p:spPr>
          <a:xfrm>
            <a:off x="5052937" y="2560520"/>
            <a:ext cx="6306192" cy="2677656"/>
          </a:xfrm>
          <a:prstGeom prst="rect">
            <a:avLst/>
          </a:prstGeom>
          <a:noFill/>
        </p:spPr>
        <p:txBody>
          <a:bodyPr wrap="square">
            <a:spAutoFit/>
          </a:bodyPr>
          <a:lstStyle/>
          <a:p>
            <a:pPr algn="just"/>
            <a:r>
              <a:rPr lang="en-US" sz="1400" b="1" dirty="0"/>
              <a:t>class </a:t>
            </a:r>
            <a:r>
              <a:rPr lang="en-US" sz="1400" b="1" dirty="0" err="1"/>
              <a:t>StudentAdmisssionFactory</a:t>
            </a:r>
            <a:r>
              <a:rPr lang="en-US" sz="1400" b="1" dirty="0"/>
              <a:t> {</a:t>
            </a:r>
          </a:p>
          <a:p>
            <a:pPr algn="just"/>
            <a:r>
              <a:rPr lang="en-US" sz="1400" b="1" dirty="0"/>
              <a:t>   public static </a:t>
            </a:r>
            <a:r>
              <a:rPr lang="en-US" sz="1400" b="1" dirty="0" err="1"/>
              <a:t>StudentAdmission</a:t>
            </a:r>
            <a:r>
              <a:rPr lang="en-US" sz="1400" b="1" dirty="0"/>
              <a:t> </a:t>
            </a:r>
            <a:r>
              <a:rPr lang="en-US" sz="1400" b="1" dirty="0" err="1"/>
              <a:t>getStudentAdmission</a:t>
            </a:r>
            <a:r>
              <a:rPr lang="en-US" sz="1400" b="1" dirty="0"/>
              <a:t>(String </a:t>
            </a:r>
            <a:r>
              <a:rPr lang="en-US" sz="1400" b="1" dirty="0" err="1"/>
              <a:t>saType</a:t>
            </a:r>
            <a:r>
              <a:rPr lang="en-US" sz="1400" b="1" dirty="0"/>
              <a:t>) {</a:t>
            </a:r>
          </a:p>
          <a:p>
            <a:pPr algn="just"/>
            <a:r>
              <a:rPr lang="en-US" sz="1400" b="1" dirty="0"/>
              <a:t>      if(</a:t>
            </a:r>
            <a:r>
              <a:rPr lang="en-US" sz="1400" b="1" dirty="0" err="1"/>
              <a:t>saType.equals</a:t>
            </a:r>
            <a:r>
              <a:rPr lang="en-US" sz="1400" b="1" dirty="0"/>
              <a:t>(“</a:t>
            </a:r>
            <a:r>
              <a:rPr lang="en-US" sz="1400" b="1" dirty="0" err="1"/>
              <a:t>DayScholar</a:t>
            </a:r>
            <a:r>
              <a:rPr lang="en-US" sz="1400" b="1" dirty="0"/>
              <a:t>”)</a:t>
            </a:r>
          </a:p>
          <a:p>
            <a:pPr algn="just"/>
            <a:r>
              <a:rPr lang="en-US" sz="1400" b="1" dirty="0"/>
              <a:t>        return new </a:t>
            </a:r>
            <a:r>
              <a:rPr lang="en-US" sz="1400" b="1" dirty="0" err="1"/>
              <a:t>DayScholarSA</a:t>
            </a:r>
            <a:r>
              <a:rPr lang="en-US" sz="1400" b="1" dirty="0"/>
              <a:t>();</a:t>
            </a:r>
          </a:p>
          <a:p>
            <a:pPr algn="just"/>
            <a:r>
              <a:rPr lang="en-US" sz="1400" b="1" dirty="0"/>
              <a:t>      else if(</a:t>
            </a:r>
            <a:r>
              <a:rPr lang="en-US" sz="1400" b="1" dirty="0" err="1"/>
              <a:t>saType.equals</a:t>
            </a:r>
            <a:r>
              <a:rPr lang="en-US" sz="1400" b="1" dirty="0"/>
              <a:t>(“Residential”)</a:t>
            </a:r>
          </a:p>
          <a:p>
            <a:pPr algn="just"/>
            <a:r>
              <a:rPr lang="en-US" sz="1400" b="1" dirty="0"/>
              <a:t>        return new </a:t>
            </a:r>
            <a:r>
              <a:rPr lang="en-US" sz="1400" b="1" dirty="0" err="1"/>
              <a:t>ResidentialSA</a:t>
            </a:r>
            <a:r>
              <a:rPr lang="en-US" sz="1400" b="1" dirty="0"/>
              <a:t>(); </a:t>
            </a:r>
          </a:p>
          <a:p>
            <a:pPr algn="just"/>
            <a:r>
              <a:rPr lang="en-US" sz="1400" b="1" dirty="0"/>
              <a:t>      else if(</a:t>
            </a:r>
            <a:r>
              <a:rPr lang="en-US" sz="1400" b="1" dirty="0" err="1"/>
              <a:t>saType.equals</a:t>
            </a:r>
            <a:r>
              <a:rPr lang="en-US" sz="1400" b="1" dirty="0"/>
              <a:t>(“NRI”)</a:t>
            </a:r>
          </a:p>
          <a:p>
            <a:pPr algn="just"/>
            <a:r>
              <a:rPr lang="en-US" sz="1400" b="1" dirty="0"/>
              <a:t>        return new NRISA();</a:t>
            </a:r>
          </a:p>
          <a:p>
            <a:pPr algn="just"/>
            <a:r>
              <a:rPr lang="en-US" sz="1400" b="1"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0" name="TextBox 29">
            <a:extLst>
              <a:ext uri="{FF2B5EF4-FFF2-40B4-BE49-F238E27FC236}">
                <a16:creationId xmlns:a16="http://schemas.microsoft.com/office/drawing/2014/main" id="{9F015844-7041-4FC3-9982-6FFD3A1E2904}"/>
              </a:ext>
            </a:extLst>
          </p:cNvPr>
          <p:cNvSpPr txBox="1"/>
          <p:nvPr/>
        </p:nvSpPr>
        <p:spPr>
          <a:xfrm>
            <a:off x="832870" y="4949461"/>
            <a:ext cx="7530260" cy="1569660"/>
          </a:xfrm>
          <a:prstGeom prst="rect">
            <a:avLst/>
          </a:prstGeom>
          <a:noFill/>
        </p:spPr>
        <p:txBody>
          <a:bodyPr wrap="square">
            <a:spAutoFit/>
          </a:bodyPr>
          <a:lstStyle/>
          <a:p>
            <a:r>
              <a:rPr lang="en-US" sz="1600" b="1" dirty="0"/>
              <a:t>class </a:t>
            </a:r>
            <a:r>
              <a:rPr lang="en-US" sz="1600" b="1" dirty="0" err="1"/>
              <a:t>SAClient</a:t>
            </a:r>
            <a:r>
              <a:rPr lang="en-US" sz="1600" b="1" dirty="0"/>
              <a:t> {</a:t>
            </a:r>
          </a:p>
          <a:p>
            <a:r>
              <a:rPr lang="en-US" sz="1600" b="1" dirty="0"/>
              <a:t>   public static void main(String rags[]) {</a:t>
            </a:r>
          </a:p>
          <a:p>
            <a:r>
              <a:rPr lang="en-US" sz="1600" b="1" dirty="0"/>
              <a:t>       </a:t>
            </a:r>
            <a:r>
              <a:rPr lang="en-US" sz="1600" dirty="0" err="1"/>
              <a:t>StudentAdmission</a:t>
            </a:r>
            <a:r>
              <a:rPr lang="en-US" sz="1600" dirty="0"/>
              <a:t> </a:t>
            </a:r>
            <a:r>
              <a:rPr lang="en-US" sz="1600" dirty="0" err="1"/>
              <a:t>sa</a:t>
            </a:r>
            <a:r>
              <a:rPr lang="en-US" sz="1600" dirty="0"/>
              <a:t>= </a:t>
            </a:r>
            <a:r>
              <a:rPr lang="en-US" sz="1600" dirty="0" err="1"/>
              <a:t>StudentAdmissionFactory.getStudentAdmission</a:t>
            </a:r>
            <a:r>
              <a:rPr lang="en-US" sz="1600" dirty="0"/>
              <a:t>(rags[0]);</a:t>
            </a:r>
          </a:p>
          <a:p>
            <a:r>
              <a:rPr lang="en-US" sz="1600" dirty="0"/>
              <a:t>       </a:t>
            </a:r>
            <a:r>
              <a:rPr lang="en-US" sz="1600" dirty="0" err="1"/>
              <a:t>sa.admitStudent</a:t>
            </a:r>
            <a:r>
              <a:rPr lang="en-US" sz="1600" dirty="0"/>
              <a:t>(“ABC”, “</a:t>
            </a:r>
            <a:r>
              <a:rPr lang="en-US" sz="1600" dirty="0" err="1"/>
              <a:t>Btech</a:t>
            </a:r>
            <a:r>
              <a:rPr lang="en-US" sz="1600" dirty="0"/>
              <a:t>”, “17-5-2003”, “CSE”, “</a:t>
            </a:r>
            <a:r>
              <a:rPr lang="en-US" sz="1600" dirty="0" err="1"/>
              <a:t>DayScholar</a:t>
            </a:r>
            <a:r>
              <a:rPr lang="en-US" sz="1600" dirty="0"/>
              <a:t>”);</a:t>
            </a:r>
          </a:p>
          <a:p>
            <a:r>
              <a:rPr lang="en-US" sz="1600" b="1" dirty="0"/>
              <a:t>   }</a:t>
            </a:r>
          </a:p>
          <a:p>
            <a:r>
              <a:rPr lang="en-US" sz="1600" b="1" dirty="0"/>
              <a:t>}</a:t>
            </a:r>
            <a:endParaRPr lang="en-IN" sz="1600" b="1" dirty="0"/>
          </a:p>
        </p:txBody>
      </p:sp>
      <p:sp>
        <p:nvSpPr>
          <p:cNvPr id="8" name="TextBox 7">
            <a:extLst>
              <a:ext uri="{FF2B5EF4-FFF2-40B4-BE49-F238E27FC236}">
                <a16:creationId xmlns:a16="http://schemas.microsoft.com/office/drawing/2014/main" id="{5E82932C-EE06-438E-B67C-1996785F8DC8}"/>
              </a:ext>
            </a:extLst>
          </p:cNvPr>
          <p:cNvSpPr txBox="1"/>
          <p:nvPr/>
        </p:nvSpPr>
        <p:spPr>
          <a:xfrm>
            <a:off x="7025661" y="5798420"/>
            <a:ext cx="2253566" cy="830997"/>
          </a:xfrm>
          <a:prstGeom prst="rect">
            <a:avLst/>
          </a:prstGeom>
          <a:noFill/>
        </p:spPr>
        <p:txBody>
          <a:bodyPr wrap="none" rtlCol="0">
            <a:spAutoFit/>
          </a:bodyPr>
          <a:lstStyle/>
          <a:p>
            <a:r>
              <a:rPr lang="en-US" sz="1600" dirty="0">
                <a:highlight>
                  <a:srgbClr val="FFFF00"/>
                </a:highlight>
              </a:rPr>
              <a:t>java </a:t>
            </a:r>
            <a:r>
              <a:rPr lang="en-US" sz="1600" dirty="0" err="1">
                <a:highlight>
                  <a:srgbClr val="FFFF00"/>
                </a:highlight>
              </a:rPr>
              <a:t>SAClient</a:t>
            </a:r>
            <a:r>
              <a:rPr lang="en-US" sz="1600" dirty="0">
                <a:highlight>
                  <a:srgbClr val="FFFF00"/>
                </a:highlight>
              </a:rPr>
              <a:t> </a:t>
            </a:r>
            <a:r>
              <a:rPr lang="en-US" sz="1600" b="1" dirty="0" err="1">
                <a:highlight>
                  <a:srgbClr val="FFFF00"/>
                </a:highlight>
              </a:rPr>
              <a:t>DayScholar</a:t>
            </a:r>
            <a:endParaRPr lang="en-US" sz="1600" b="1" dirty="0">
              <a:highlight>
                <a:srgbClr val="FFFF00"/>
              </a:highlight>
            </a:endParaRPr>
          </a:p>
          <a:p>
            <a:r>
              <a:rPr lang="en-US" sz="1600" b="1" dirty="0">
                <a:highlight>
                  <a:srgbClr val="FFFF00"/>
                </a:highlight>
              </a:rPr>
              <a:t>                        Residential</a:t>
            </a:r>
          </a:p>
          <a:p>
            <a:r>
              <a:rPr lang="en-US" sz="1600" b="1" dirty="0">
                <a:highlight>
                  <a:srgbClr val="FFFF00"/>
                </a:highlight>
              </a:rPr>
              <a:t>                        NRI</a:t>
            </a:r>
            <a:endParaRPr lang="en-IN" sz="1600" b="1" dirty="0">
              <a:highlight>
                <a:srgbClr val="FFFF00"/>
              </a:highlight>
            </a:endParaRPr>
          </a:p>
        </p:txBody>
      </p:sp>
    </p:spTree>
    <p:extLst>
      <p:ext uri="{BB962C8B-B14F-4D97-AF65-F5344CB8AC3E}">
        <p14:creationId xmlns:p14="http://schemas.microsoft.com/office/powerpoint/2010/main" val="4113432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5E3C5200-D0DC-402E-A965-6D74284BC65B}"/>
              </a:ext>
            </a:extLst>
          </p:cNvPr>
          <p:cNvSpPr txBox="1"/>
          <p:nvPr/>
        </p:nvSpPr>
        <p:spPr>
          <a:xfrm>
            <a:off x="522240" y="1069566"/>
            <a:ext cx="3095603" cy="738664"/>
          </a:xfrm>
          <a:prstGeom prst="rect">
            <a:avLst/>
          </a:prstGeom>
          <a:noFill/>
        </p:spPr>
        <p:txBody>
          <a:bodyPr wrap="square">
            <a:spAutoFit/>
          </a:bodyPr>
          <a:lstStyle/>
          <a:p>
            <a:pPr algn="just"/>
            <a:r>
              <a:rPr lang="en-US" sz="1400" b="1" dirty="0"/>
              <a:t>abstract class </a:t>
            </a:r>
            <a:r>
              <a:rPr lang="en-US" sz="1400" b="1" dirty="0" err="1"/>
              <a:t>EmpService</a:t>
            </a:r>
            <a:r>
              <a:rPr lang="en-US" sz="1400" b="1" dirty="0"/>
              <a:t> {</a:t>
            </a:r>
          </a:p>
          <a:p>
            <a:pPr algn="just"/>
            <a:r>
              <a:rPr lang="en-US" sz="1400" b="1" dirty="0"/>
              <a:t>	public int </a:t>
            </a:r>
            <a:r>
              <a:rPr lang="en-US" sz="1400" b="1" dirty="0" err="1"/>
              <a:t>saveEmp</a:t>
            </a:r>
            <a:r>
              <a:rPr lang="en-US" sz="1400" b="1" dirty="0"/>
              <a:t>(Emp e)</a:t>
            </a:r>
          </a:p>
          <a:p>
            <a:pPr algn="just"/>
            <a:r>
              <a:rPr lang="en-US" sz="1400" b="1" dirty="0"/>
              <a:t>}</a:t>
            </a:r>
            <a:endParaRPr lang="en-IN" sz="1400" b="1" dirty="0"/>
          </a:p>
        </p:txBody>
      </p:sp>
      <p:sp>
        <p:nvSpPr>
          <p:cNvPr id="25" name="TextBox 24">
            <a:extLst>
              <a:ext uri="{FF2B5EF4-FFF2-40B4-BE49-F238E27FC236}">
                <a16:creationId xmlns:a16="http://schemas.microsoft.com/office/drawing/2014/main" id="{C30D1B8E-62E9-4F04-AC5F-CDAAD5BE573F}"/>
              </a:ext>
            </a:extLst>
          </p:cNvPr>
          <p:cNvSpPr txBox="1"/>
          <p:nvPr/>
        </p:nvSpPr>
        <p:spPr>
          <a:xfrm>
            <a:off x="546870" y="1843371"/>
            <a:ext cx="3892608" cy="1169551"/>
          </a:xfrm>
          <a:prstGeom prst="rect">
            <a:avLst/>
          </a:prstGeom>
          <a:noFill/>
        </p:spPr>
        <p:txBody>
          <a:bodyPr wrap="square">
            <a:spAutoFit/>
          </a:bodyPr>
          <a:lstStyle/>
          <a:p>
            <a:pPr algn="just"/>
            <a:r>
              <a:rPr lang="en-US" sz="1400" b="1" dirty="0"/>
              <a:t>class </a:t>
            </a:r>
            <a:r>
              <a:rPr lang="en-US" sz="1400" b="1" dirty="0" err="1"/>
              <a:t>EmpFileService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a:t>
            </a:r>
            <a:r>
              <a:rPr lang="en-US" sz="1400" dirty="0" err="1"/>
              <a:t>RandomAccessFile</a:t>
            </a:r>
            <a:r>
              <a:rPr lang="en-US" sz="1400" dirty="0"/>
              <a:t> API to store it into file</a:t>
            </a:r>
          </a:p>
          <a:p>
            <a:pPr algn="just"/>
            <a:r>
              <a:rPr lang="en-US" sz="1400" b="1" dirty="0"/>
              <a:t>   }</a:t>
            </a:r>
          </a:p>
          <a:p>
            <a:pPr algn="just"/>
            <a:r>
              <a:rPr lang="en-US" sz="1400" b="1" dirty="0"/>
              <a:t>}</a:t>
            </a:r>
            <a:endParaRPr lang="en-IN" sz="1400" b="1" dirty="0"/>
          </a:p>
        </p:txBody>
      </p:sp>
      <p:sp>
        <p:nvSpPr>
          <p:cNvPr id="26" name="TextBox 25">
            <a:extLst>
              <a:ext uri="{FF2B5EF4-FFF2-40B4-BE49-F238E27FC236}">
                <a16:creationId xmlns:a16="http://schemas.microsoft.com/office/drawing/2014/main" id="{9D1F70DA-0C4D-4DCA-A919-B5F79359B623}"/>
              </a:ext>
            </a:extLst>
          </p:cNvPr>
          <p:cNvSpPr txBox="1"/>
          <p:nvPr/>
        </p:nvSpPr>
        <p:spPr>
          <a:xfrm>
            <a:off x="559185" y="2964540"/>
            <a:ext cx="3373894" cy="1169551"/>
          </a:xfrm>
          <a:prstGeom prst="rect">
            <a:avLst/>
          </a:prstGeom>
          <a:noFill/>
        </p:spPr>
        <p:txBody>
          <a:bodyPr wrap="square">
            <a:spAutoFit/>
          </a:bodyPr>
          <a:lstStyle/>
          <a:p>
            <a:pPr algn="just"/>
            <a:r>
              <a:rPr lang="en-US" sz="1400" b="1" dirty="0"/>
              <a:t>class </a:t>
            </a:r>
            <a:r>
              <a:rPr lang="en-US" sz="1400" b="1" dirty="0" err="1"/>
              <a:t>EmpDBService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JDBC API to store it into DB</a:t>
            </a:r>
          </a:p>
          <a:p>
            <a:pPr algn="just"/>
            <a:r>
              <a:rPr lang="en-US" sz="1400" b="1" dirty="0"/>
              <a:t>   }</a:t>
            </a:r>
          </a:p>
          <a:p>
            <a:pPr algn="just"/>
            <a:r>
              <a:rPr lang="en-US" sz="1400" b="1" dirty="0"/>
              <a:t>}</a:t>
            </a:r>
            <a:endParaRPr lang="en-IN" sz="1400" b="1" dirty="0"/>
          </a:p>
        </p:txBody>
      </p:sp>
      <p:sp>
        <p:nvSpPr>
          <p:cNvPr id="27" name="TextBox 26">
            <a:extLst>
              <a:ext uri="{FF2B5EF4-FFF2-40B4-BE49-F238E27FC236}">
                <a16:creationId xmlns:a16="http://schemas.microsoft.com/office/drawing/2014/main" id="{D9B54F92-58C3-47C7-ACB6-4B8704BC87E9}"/>
              </a:ext>
            </a:extLst>
          </p:cNvPr>
          <p:cNvSpPr txBox="1"/>
          <p:nvPr/>
        </p:nvSpPr>
        <p:spPr>
          <a:xfrm>
            <a:off x="522240" y="4094910"/>
            <a:ext cx="3373894" cy="1169551"/>
          </a:xfrm>
          <a:prstGeom prst="rect">
            <a:avLst/>
          </a:prstGeom>
          <a:noFill/>
        </p:spPr>
        <p:txBody>
          <a:bodyPr wrap="square">
            <a:spAutoFit/>
          </a:bodyPr>
          <a:lstStyle/>
          <a:p>
            <a:pPr algn="just"/>
            <a:r>
              <a:rPr lang="en-US" sz="1400" b="1" dirty="0"/>
              <a:t>class </a:t>
            </a:r>
            <a:r>
              <a:rPr lang="en-US" sz="1400" b="1" dirty="0" err="1"/>
              <a:t>EmpXMLService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JAXP API to store it into XML</a:t>
            </a:r>
          </a:p>
          <a:p>
            <a:pPr algn="just"/>
            <a:r>
              <a:rPr lang="en-US" sz="1400" b="1" dirty="0"/>
              <a:t>   }</a:t>
            </a:r>
          </a:p>
          <a:p>
            <a:pPr algn="just"/>
            <a:r>
              <a:rPr lang="en-US" sz="1400" b="1" dirty="0"/>
              <a:t>}</a:t>
            </a:r>
            <a:endParaRPr lang="en-IN" sz="1400" b="1" dirty="0"/>
          </a:p>
        </p:txBody>
      </p:sp>
      <p:sp>
        <p:nvSpPr>
          <p:cNvPr id="28" name="TextBox 27">
            <a:extLst>
              <a:ext uri="{FF2B5EF4-FFF2-40B4-BE49-F238E27FC236}">
                <a16:creationId xmlns:a16="http://schemas.microsoft.com/office/drawing/2014/main" id="{0FA2CA54-0D55-443D-9F5D-D01F68BD4108}"/>
              </a:ext>
            </a:extLst>
          </p:cNvPr>
          <p:cNvSpPr txBox="1"/>
          <p:nvPr/>
        </p:nvSpPr>
        <p:spPr>
          <a:xfrm>
            <a:off x="546870" y="5255260"/>
            <a:ext cx="3619882" cy="1169551"/>
          </a:xfrm>
          <a:prstGeom prst="rect">
            <a:avLst/>
          </a:prstGeom>
          <a:noFill/>
        </p:spPr>
        <p:txBody>
          <a:bodyPr wrap="square">
            <a:spAutoFit/>
          </a:bodyPr>
          <a:lstStyle/>
          <a:p>
            <a:pPr algn="just"/>
            <a:r>
              <a:rPr lang="en-US" sz="1400" b="1" dirty="0"/>
              <a:t>class </a:t>
            </a:r>
            <a:r>
              <a:rPr lang="en-US" sz="1400" b="1" dirty="0" err="1"/>
              <a:t>EmpJSONService</a:t>
            </a:r>
            <a:r>
              <a:rPr lang="en-US" sz="1400" b="1" dirty="0"/>
              <a:t> extends </a:t>
            </a:r>
            <a:r>
              <a:rPr lang="en-US" sz="1400" b="1" dirty="0" err="1"/>
              <a:t>EmpService</a:t>
            </a:r>
            <a:r>
              <a:rPr lang="en-US" sz="1400" b="1" dirty="0"/>
              <a:t> {</a:t>
            </a:r>
          </a:p>
          <a:p>
            <a:pPr algn="just"/>
            <a:r>
              <a:rPr lang="en-US" sz="1400" b="1" dirty="0"/>
              <a:t>   public int </a:t>
            </a:r>
            <a:r>
              <a:rPr lang="en-US" sz="1400" b="1" dirty="0" err="1"/>
              <a:t>saveEmp</a:t>
            </a:r>
            <a:r>
              <a:rPr lang="en-US" sz="1400" b="1" dirty="0"/>
              <a:t>(Emp e) {</a:t>
            </a:r>
          </a:p>
          <a:p>
            <a:pPr algn="just"/>
            <a:r>
              <a:rPr lang="en-US" sz="1400" b="1" dirty="0"/>
              <a:t>      </a:t>
            </a:r>
            <a:r>
              <a:rPr lang="en-US" sz="1400" dirty="0"/>
              <a:t>// use JSON API to store it into JSON</a:t>
            </a:r>
          </a:p>
          <a:p>
            <a:pPr algn="just"/>
            <a:r>
              <a:rPr lang="en-US" sz="1400" b="1" dirty="0"/>
              <a:t>   }</a:t>
            </a:r>
          </a:p>
          <a:p>
            <a:pPr algn="just"/>
            <a:r>
              <a:rPr lang="en-US" sz="1400" b="1" dirty="0"/>
              <a:t>}</a:t>
            </a:r>
            <a:endParaRPr lang="en-IN" sz="1400" b="1" dirty="0"/>
          </a:p>
        </p:txBody>
      </p:sp>
      <p:sp>
        <p:nvSpPr>
          <p:cNvPr id="29" name="TextBox 28">
            <a:extLst>
              <a:ext uri="{FF2B5EF4-FFF2-40B4-BE49-F238E27FC236}">
                <a16:creationId xmlns:a16="http://schemas.microsoft.com/office/drawing/2014/main" id="{DCFFAF46-E2BA-4522-B6E8-3807586FC6C2}"/>
              </a:ext>
            </a:extLst>
          </p:cNvPr>
          <p:cNvSpPr txBox="1"/>
          <p:nvPr/>
        </p:nvSpPr>
        <p:spPr>
          <a:xfrm>
            <a:off x="4584381" y="945210"/>
            <a:ext cx="5591875" cy="3108543"/>
          </a:xfrm>
          <a:prstGeom prst="rect">
            <a:avLst/>
          </a:prstGeom>
          <a:noFill/>
        </p:spPr>
        <p:txBody>
          <a:bodyPr wrap="square">
            <a:spAutoFit/>
          </a:bodyPr>
          <a:lstStyle/>
          <a:p>
            <a:pPr algn="just"/>
            <a:r>
              <a:rPr lang="en-US" sz="1400" b="1" dirty="0"/>
              <a:t>class </a:t>
            </a:r>
            <a:r>
              <a:rPr lang="en-US" sz="1400" b="1" dirty="0" err="1"/>
              <a:t>EmpServiceFactory</a:t>
            </a:r>
            <a:r>
              <a:rPr lang="en-US" sz="1400" b="1" dirty="0"/>
              <a:t> {</a:t>
            </a:r>
          </a:p>
          <a:p>
            <a:pPr algn="just"/>
            <a:r>
              <a:rPr lang="en-US" sz="1400" b="1" dirty="0"/>
              <a:t>   public static </a:t>
            </a:r>
            <a:r>
              <a:rPr lang="en-US" sz="1400" b="1" dirty="0" err="1"/>
              <a:t>EmpService</a:t>
            </a:r>
            <a:r>
              <a:rPr lang="en-US" sz="1400" b="1" dirty="0"/>
              <a:t> </a:t>
            </a:r>
            <a:r>
              <a:rPr lang="en-US" sz="1400" b="1" dirty="0" err="1"/>
              <a:t>getEmpService</a:t>
            </a:r>
            <a:r>
              <a:rPr lang="en-US" sz="1400" b="1" dirty="0"/>
              <a:t>(String </a:t>
            </a:r>
            <a:r>
              <a:rPr lang="en-US" sz="1400" b="1" dirty="0" err="1"/>
              <a:t>empType</a:t>
            </a:r>
            <a:r>
              <a:rPr lang="en-US" sz="1400" b="1" dirty="0"/>
              <a:t>) {</a:t>
            </a:r>
          </a:p>
          <a:p>
            <a:pPr algn="just"/>
            <a:r>
              <a:rPr lang="en-US" sz="1400" dirty="0"/>
              <a:t>      if(</a:t>
            </a:r>
            <a:r>
              <a:rPr lang="en-US" sz="1400" dirty="0" err="1"/>
              <a:t>empType.equals</a:t>
            </a:r>
            <a:r>
              <a:rPr lang="en-US" sz="1400" dirty="0"/>
              <a:t>(“File”)</a:t>
            </a:r>
          </a:p>
          <a:p>
            <a:pPr algn="just"/>
            <a:r>
              <a:rPr lang="en-US" sz="1400" b="1" dirty="0"/>
              <a:t>        return new </a:t>
            </a:r>
            <a:r>
              <a:rPr lang="en-US" sz="1400" b="1" dirty="0" err="1"/>
              <a:t>EmpFileService</a:t>
            </a:r>
            <a:r>
              <a:rPr lang="en-US" sz="1400" b="1" dirty="0"/>
              <a:t>();</a:t>
            </a:r>
          </a:p>
          <a:p>
            <a:pPr algn="just"/>
            <a:r>
              <a:rPr lang="en-US" sz="1400" dirty="0"/>
              <a:t>      else if(</a:t>
            </a:r>
            <a:r>
              <a:rPr lang="en-US" sz="1400" dirty="0" err="1"/>
              <a:t>empType.equals</a:t>
            </a:r>
            <a:r>
              <a:rPr lang="en-US" sz="1400" dirty="0"/>
              <a:t>(“DB”)</a:t>
            </a:r>
          </a:p>
          <a:p>
            <a:pPr algn="just"/>
            <a:r>
              <a:rPr lang="en-US" sz="1400" b="1" dirty="0"/>
              <a:t>        return new </a:t>
            </a:r>
            <a:r>
              <a:rPr lang="en-US" sz="1400" b="1" dirty="0" err="1"/>
              <a:t>EmpDBService</a:t>
            </a:r>
            <a:r>
              <a:rPr lang="en-US" sz="1400" b="1" dirty="0"/>
              <a:t>(); </a:t>
            </a:r>
          </a:p>
          <a:p>
            <a:pPr algn="just"/>
            <a:r>
              <a:rPr lang="en-US" sz="1400" dirty="0"/>
              <a:t>      else if(</a:t>
            </a:r>
            <a:r>
              <a:rPr lang="en-US" sz="1400" dirty="0" err="1"/>
              <a:t>empType.equals</a:t>
            </a:r>
            <a:r>
              <a:rPr lang="en-US" sz="1400" dirty="0"/>
              <a:t>(“XML”)</a:t>
            </a:r>
          </a:p>
          <a:p>
            <a:pPr algn="just"/>
            <a:r>
              <a:rPr lang="en-US" sz="1400" b="1" dirty="0"/>
              <a:t>        return new </a:t>
            </a:r>
            <a:r>
              <a:rPr lang="en-US" sz="1400" b="1" dirty="0" err="1"/>
              <a:t>EmpXMLService</a:t>
            </a:r>
            <a:r>
              <a:rPr lang="en-US" sz="1400" b="1" dirty="0"/>
              <a:t>();</a:t>
            </a:r>
            <a:endParaRPr lang="en-US" sz="1400" dirty="0"/>
          </a:p>
          <a:p>
            <a:pPr algn="just"/>
            <a:r>
              <a:rPr lang="en-US" sz="1400" dirty="0"/>
              <a:t>      else if(</a:t>
            </a:r>
            <a:r>
              <a:rPr lang="en-US" sz="1400" dirty="0" err="1"/>
              <a:t>empType.equals</a:t>
            </a:r>
            <a:r>
              <a:rPr lang="en-US" sz="1400" dirty="0"/>
              <a:t>(“JSON”)</a:t>
            </a:r>
          </a:p>
          <a:p>
            <a:pPr algn="just"/>
            <a:r>
              <a:rPr lang="en-US" sz="1400" b="1" dirty="0"/>
              <a:t>        return new </a:t>
            </a:r>
            <a:r>
              <a:rPr lang="en-US" sz="1400" b="1" dirty="0" err="1"/>
              <a:t>EmpJSONService</a:t>
            </a:r>
            <a:r>
              <a:rPr lang="en-US" sz="1400" b="1" dirty="0"/>
              <a:t>();</a:t>
            </a:r>
          </a:p>
          <a:p>
            <a:pPr algn="just"/>
            <a:r>
              <a:rPr lang="en-US" sz="1400"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1" name="TextBox 30">
            <a:extLst>
              <a:ext uri="{FF2B5EF4-FFF2-40B4-BE49-F238E27FC236}">
                <a16:creationId xmlns:a16="http://schemas.microsoft.com/office/drawing/2014/main" id="{4BB7051E-185C-42B0-A39F-5C8F779DE4B1}"/>
              </a:ext>
            </a:extLst>
          </p:cNvPr>
          <p:cNvSpPr txBox="1"/>
          <p:nvPr/>
        </p:nvSpPr>
        <p:spPr>
          <a:xfrm>
            <a:off x="4211790" y="4157247"/>
            <a:ext cx="5056534" cy="1600438"/>
          </a:xfrm>
          <a:prstGeom prst="rect">
            <a:avLst/>
          </a:prstGeom>
          <a:noFill/>
        </p:spPr>
        <p:txBody>
          <a:bodyPr wrap="square">
            <a:spAutoFit/>
          </a:bodyPr>
          <a:lstStyle/>
          <a:p>
            <a:pPr algn="just"/>
            <a:r>
              <a:rPr lang="en-US" sz="1400" b="1" dirty="0"/>
              <a:t>class </a:t>
            </a:r>
            <a:r>
              <a:rPr lang="en-US" sz="1400" b="1" dirty="0" err="1"/>
              <a:t>ESFClient</a:t>
            </a:r>
            <a:r>
              <a:rPr lang="en-US" sz="1400" b="1" dirty="0"/>
              <a:t> {</a:t>
            </a:r>
          </a:p>
          <a:p>
            <a:pPr algn="just"/>
            <a:r>
              <a:rPr lang="en-US" sz="1400" b="1" dirty="0"/>
              <a:t>   public static void main(String rags[]) {</a:t>
            </a:r>
          </a:p>
          <a:p>
            <a:pPr algn="just"/>
            <a:r>
              <a:rPr lang="en-US" sz="1400" b="1" dirty="0"/>
              <a:t>       </a:t>
            </a:r>
            <a:r>
              <a:rPr lang="en-US" sz="1400" dirty="0" err="1"/>
              <a:t>EmpService</a:t>
            </a:r>
            <a:r>
              <a:rPr lang="en-US" sz="1400" dirty="0"/>
              <a:t> es= </a:t>
            </a:r>
            <a:r>
              <a:rPr lang="en-US" sz="1400" dirty="0" err="1"/>
              <a:t>EmpServiceFactory.getEmpService</a:t>
            </a:r>
            <a:r>
              <a:rPr lang="en-US" sz="1400" dirty="0"/>
              <a:t>(rags[0]);</a:t>
            </a:r>
          </a:p>
          <a:p>
            <a:pPr algn="just"/>
            <a:r>
              <a:rPr lang="en-US" sz="1400" dirty="0"/>
              <a:t>       Emp emp=new Emp(1, “ABC”, </a:t>
            </a:r>
            <a:r>
              <a:rPr lang="en-US" sz="1400" dirty="0">
                <a:hlinkClick r:id="rId3"/>
              </a:rPr>
              <a:t>“abc@gmail.com</a:t>
            </a:r>
            <a:r>
              <a:rPr lang="en-US" sz="1400" dirty="0"/>
              <a:t>”, 9848012345);</a:t>
            </a:r>
          </a:p>
          <a:p>
            <a:pPr algn="just"/>
            <a:r>
              <a:rPr lang="en-US" sz="1400" dirty="0"/>
              <a:t>       </a:t>
            </a:r>
            <a:r>
              <a:rPr lang="en-US" sz="1400" dirty="0" err="1"/>
              <a:t>es.saveEmp</a:t>
            </a:r>
            <a:r>
              <a:rPr lang="en-US" sz="1400" dirty="0"/>
              <a:t>(emp);</a:t>
            </a:r>
          </a:p>
          <a:p>
            <a:pPr algn="just"/>
            <a:r>
              <a:rPr lang="en-US" sz="1400" b="1" dirty="0"/>
              <a:t>   }</a:t>
            </a:r>
          </a:p>
          <a:p>
            <a:pPr algn="just"/>
            <a:r>
              <a:rPr lang="en-US" sz="1400" b="1" dirty="0"/>
              <a:t>}</a:t>
            </a:r>
            <a:endParaRPr lang="en-IN" sz="1400" b="1" dirty="0"/>
          </a:p>
        </p:txBody>
      </p:sp>
      <p:sp>
        <p:nvSpPr>
          <p:cNvPr id="8" name="TextBox 7">
            <a:extLst>
              <a:ext uri="{FF2B5EF4-FFF2-40B4-BE49-F238E27FC236}">
                <a16:creationId xmlns:a16="http://schemas.microsoft.com/office/drawing/2014/main" id="{CF52B888-02A6-4070-8A92-D108DB851672}"/>
              </a:ext>
            </a:extLst>
          </p:cNvPr>
          <p:cNvSpPr txBox="1"/>
          <p:nvPr/>
        </p:nvSpPr>
        <p:spPr>
          <a:xfrm>
            <a:off x="7400351" y="5550956"/>
            <a:ext cx="1822935" cy="1077218"/>
          </a:xfrm>
          <a:prstGeom prst="rect">
            <a:avLst/>
          </a:prstGeom>
          <a:noFill/>
        </p:spPr>
        <p:txBody>
          <a:bodyPr wrap="none" rtlCol="0">
            <a:spAutoFit/>
          </a:bodyPr>
          <a:lstStyle/>
          <a:p>
            <a:r>
              <a:rPr lang="en-US" sz="1600" dirty="0"/>
              <a:t>java </a:t>
            </a:r>
            <a:r>
              <a:rPr lang="en-US" sz="1600" dirty="0" err="1"/>
              <a:t>ESFClient</a:t>
            </a:r>
            <a:r>
              <a:rPr lang="en-US" sz="1600" dirty="0"/>
              <a:t> </a:t>
            </a:r>
            <a:r>
              <a:rPr lang="en-US" sz="1600" b="1" dirty="0"/>
              <a:t>File</a:t>
            </a:r>
          </a:p>
          <a:p>
            <a:r>
              <a:rPr lang="en-US" sz="1600" dirty="0"/>
              <a:t>                          </a:t>
            </a:r>
            <a:r>
              <a:rPr lang="en-US" sz="1600" b="1" dirty="0"/>
              <a:t>DB</a:t>
            </a:r>
          </a:p>
          <a:p>
            <a:r>
              <a:rPr lang="en-US" sz="1600" dirty="0"/>
              <a:t>                          </a:t>
            </a:r>
            <a:r>
              <a:rPr lang="en-US" sz="1600" b="1" dirty="0"/>
              <a:t>XML</a:t>
            </a:r>
          </a:p>
          <a:p>
            <a:r>
              <a:rPr lang="en-US" sz="1600" dirty="0"/>
              <a:t>                          </a:t>
            </a:r>
            <a:r>
              <a:rPr lang="en-US" sz="1600" b="1" dirty="0"/>
              <a:t>JSON</a:t>
            </a:r>
            <a:endParaRPr lang="en-IN" b="1" dirty="0"/>
          </a:p>
        </p:txBody>
      </p:sp>
      <p:sp>
        <p:nvSpPr>
          <p:cNvPr id="9" name="TextBox 8">
            <a:extLst>
              <a:ext uri="{FF2B5EF4-FFF2-40B4-BE49-F238E27FC236}">
                <a16:creationId xmlns:a16="http://schemas.microsoft.com/office/drawing/2014/main" id="{4724187F-2DFA-40EC-BCD2-29DBD27003F6}"/>
              </a:ext>
            </a:extLst>
          </p:cNvPr>
          <p:cNvSpPr txBox="1"/>
          <p:nvPr/>
        </p:nvSpPr>
        <p:spPr>
          <a:xfrm>
            <a:off x="4705652" y="5551872"/>
            <a:ext cx="2052955" cy="646331"/>
          </a:xfrm>
          <a:prstGeom prst="rect">
            <a:avLst/>
          </a:prstGeom>
          <a:noFill/>
        </p:spPr>
        <p:txBody>
          <a:bodyPr wrap="square" rtlCol="0">
            <a:spAutoFit/>
          </a:bodyPr>
          <a:lstStyle/>
          <a:p>
            <a:pPr algn="just"/>
            <a:r>
              <a:rPr lang="en-US" sz="1200" b="1" dirty="0"/>
              <a:t>tell me on which </a:t>
            </a:r>
            <a:r>
              <a:rPr lang="en-US" sz="1200" b="1" dirty="0" err="1"/>
              <a:t>EmpService</a:t>
            </a:r>
            <a:r>
              <a:rPr lang="en-US" sz="1200" b="1" dirty="0"/>
              <a:t> the </a:t>
            </a:r>
            <a:r>
              <a:rPr lang="en-US" sz="1200" b="1" dirty="0" err="1"/>
              <a:t>saveEmp</a:t>
            </a:r>
            <a:r>
              <a:rPr lang="en-US" sz="1200" b="1" dirty="0"/>
              <a:t>() method is called?</a:t>
            </a:r>
            <a:endParaRPr lang="en-IN" b="1" dirty="0"/>
          </a:p>
        </p:txBody>
      </p:sp>
      <p:cxnSp>
        <p:nvCxnSpPr>
          <p:cNvPr id="11" name="Straight Arrow Connector 10">
            <a:extLst>
              <a:ext uri="{FF2B5EF4-FFF2-40B4-BE49-F238E27FC236}">
                <a16:creationId xmlns:a16="http://schemas.microsoft.com/office/drawing/2014/main" id="{1AB0D418-23DE-4DBB-A002-A01EC9DDCB42}"/>
              </a:ext>
            </a:extLst>
          </p:cNvPr>
          <p:cNvCxnSpPr/>
          <p:nvPr/>
        </p:nvCxnSpPr>
        <p:spPr>
          <a:xfrm flipV="1">
            <a:off x="5151147" y="5308269"/>
            <a:ext cx="0" cy="2657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442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D8F137-DAC0-45A6-8018-20BFC1D3C41B}"/>
              </a:ext>
            </a:extLst>
          </p:cNvPr>
          <p:cNvGrpSpPr/>
          <p:nvPr/>
        </p:nvGrpSpPr>
        <p:grpSpPr>
          <a:xfrm>
            <a:off x="0" y="-6016"/>
            <a:ext cx="12192001" cy="6864016"/>
            <a:chOff x="0" y="-6016"/>
            <a:chExt cx="12192001" cy="6864016"/>
          </a:xfrm>
        </p:grpSpPr>
        <p:sp>
          <p:nvSpPr>
            <p:cNvPr id="4" name="Half Frame 3">
              <a:extLst>
                <a:ext uri="{FF2B5EF4-FFF2-40B4-BE49-F238E27FC236}">
                  <a16:creationId xmlns:a16="http://schemas.microsoft.com/office/drawing/2014/main" id="{4A50334D-EFFE-490A-A4B2-DBFF18B49D37}"/>
                </a:ext>
              </a:extLst>
            </p:cNvPr>
            <p:cNvSpPr/>
            <p:nvPr/>
          </p:nvSpPr>
          <p:spPr>
            <a:xfrm>
              <a:off x="0" y="0"/>
              <a:ext cx="571500" cy="3374858"/>
            </a:xfrm>
            <a:prstGeom prst="halfFrame">
              <a:avLst>
                <a:gd name="adj1" fmla="val 21754"/>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5" name="Half Frame 4">
              <a:extLst>
                <a:ext uri="{FF2B5EF4-FFF2-40B4-BE49-F238E27FC236}">
                  <a16:creationId xmlns:a16="http://schemas.microsoft.com/office/drawing/2014/main" id="{19E3DEFD-912C-4784-B415-0FCF6B69EE26}"/>
                </a:ext>
              </a:extLst>
            </p:cNvPr>
            <p:cNvSpPr/>
            <p:nvPr/>
          </p:nvSpPr>
          <p:spPr>
            <a:xfrm flipH="1">
              <a:off x="11620500" y="0"/>
              <a:ext cx="571499" cy="3188368"/>
            </a:xfrm>
            <a:prstGeom prst="halfFrame">
              <a:avLst>
                <a:gd name="adj1" fmla="val 22807"/>
                <a:gd name="adj2" fmla="val 23860"/>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6" name="Half Frame 5">
              <a:extLst>
                <a:ext uri="{FF2B5EF4-FFF2-40B4-BE49-F238E27FC236}">
                  <a16:creationId xmlns:a16="http://schemas.microsoft.com/office/drawing/2014/main" id="{1FADA394-9CE6-47B8-9423-22A6A7E6042F}"/>
                </a:ext>
              </a:extLst>
            </p:cNvPr>
            <p:cNvSpPr/>
            <p:nvPr/>
          </p:nvSpPr>
          <p:spPr>
            <a:xfrm rot="10800000" flipH="1">
              <a:off x="1" y="3429000"/>
              <a:ext cx="571499" cy="3429000"/>
            </a:xfrm>
            <a:prstGeom prst="halfFrame">
              <a:avLst>
                <a:gd name="adj1" fmla="val 23859"/>
                <a:gd name="adj2" fmla="val 22807"/>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20" name="Rectangle 19">
              <a:extLst>
                <a:ext uri="{FF2B5EF4-FFF2-40B4-BE49-F238E27FC236}">
                  <a16:creationId xmlns:a16="http://schemas.microsoft.com/office/drawing/2014/main" id="{9F592831-48C2-4F5E-BCE8-029CAF5E3037}"/>
                </a:ext>
              </a:extLst>
            </p:cNvPr>
            <p:cNvSpPr/>
            <p:nvPr/>
          </p:nvSpPr>
          <p:spPr>
            <a:xfrm>
              <a:off x="0" y="-6016"/>
              <a:ext cx="12191996"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nvGrpSpPr>
            <p:cNvPr id="21" name="Group 20">
              <a:extLst>
                <a:ext uri="{FF2B5EF4-FFF2-40B4-BE49-F238E27FC236}">
                  <a16:creationId xmlns:a16="http://schemas.microsoft.com/office/drawing/2014/main" id="{D21DA5EE-6165-4B04-9F39-9A8BF7F705AD}"/>
                </a:ext>
              </a:extLst>
            </p:cNvPr>
            <p:cNvGrpSpPr/>
            <p:nvPr/>
          </p:nvGrpSpPr>
          <p:grpSpPr>
            <a:xfrm>
              <a:off x="2931693" y="0"/>
              <a:ext cx="6436895" cy="648690"/>
              <a:chOff x="2877550" y="55045"/>
              <a:chExt cx="6436895" cy="648690"/>
            </a:xfrm>
          </p:grpSpPr>
          <p:sp>
            <p:nvSpPr>
              <p:cNvPr id="22" name="Flowchart: Terminator 21">
                <a:extLst>
                  <a:ext uri="{FF2B5EF4-FFF2-40B4-BE49-F238E27FC236}">
                    <a16:creationId xmlns:a16="http://schemas.microsoft.com/office/drawing/2014/main" id="{EC09E713-EDB5-4C72-9BF3-C3CCEC62B0A3}"/>
                  </a:ext>
                </a:extLst>
              </p:cNvPr>
              <p:cNvSpPr/>
              <p:nvPr/>
            </p:nvSpPr>
            <p:spPr>
              <a:xfrm>
                <a:off x="2877550" y="55045"/>
                <a:ext cx="6436895" cy="648690"/>
              </a:xfrm>
              <a:prstGeom prst="flowChartTerminator">
                <a:avLst/>
              </a:prstGeom>
              <a:solidFill>
                <a:srgbClr val="8725FE"/>
              </a:solidFill>
              <a:ln w="12700">
                <a:miter lim="400000"/>
              </a:ln>
              <a:scene3d>
                <a:camera prst="orthographicFront"/>
                <a:lightRig rig="threePt" dir="t"/>
              </a:scene3d>
              <a:sp3d>
                <a:bevelT prst="slope"/>
              </a:sp3d>
            </p:spPr>
            <p:txBody>
              <a:bodyPr lIns="45719" rIns="45719" anchor="ctr">
                <a:scene3d>
                  <a:camera prst="orthographicFront"/>
                  <a:lightRig rig="soft" dir="t">
                    <a:rot lat="0" lon="0" rev="15600000"/>
                  </a:lightRig>
                </a:scene3d>
                <a:sp3d extrusionH="57150" prstMaterial="softEdge">
                  <a:bevelT w="25400" h="38100"/>
                </a:sp3d>
              </a:bodyPr>
              <a:lstStyle/>
              <a:p>
                <a:pPr algn="ctr"/>
                <a:endParaRPr lang="en-US" sz="1600" dirty="0">
                  <a:latin typeface="Bookman Old Style" panose="02050604050505020204" pitchFamily="18" charset="0"/>
                </a:endParaRPr>
              </a:p>
            </p:txBody>
          </p:sp>
          <p:sp>
            <p:nvSpPr>
              <p:cNvPr id="23" name="TextBox 22">
                <a:extLst>
                  <a:ext uri="{FF2B5EF4-FFF2-40B4-BE49-F238E27FC236}">
                    <a16:creationId xmlns:a16="http://schemas.microsoft.com/office/drawing/2014/main" id="{BB13E557-7C61-4001-8226-000F4916CFF2}"/>
                  </a:ext>
                </a:extLst>
              </p:cNvPr>
              <p:cNvSpPr txBox="1"/>
              <p:nvPr/>
            </p:nvSpPr>
            <p:spPr>
              <a:xfrm>
                <a:off x="2977813" y="210113"/>
                <a:ext cx="6236368" cy="369332"/>
              </a:xfrm>
              <a:prstGeom prst="rect">
                <a:avLst/>
              </a:prstGeom>
              <a:noFill/>
            </p:spPr>
            <p:txBody>
              <a:bodyPr wrap="square">
                <a:spAutoFit/>
              </a:bodyPr>
              <a:lstStyle/>
              <a:p>
                <a:pPr algn="ctr"/>
                <a:r>
                  <a:rPr lang="en-US" b="1" dirty="0">
                    <a:solidFill>
                      <a:schemeClr val="bg1"/>
                    </a:solidFill>
                    <a:latin typeface="Bookman Old Style" panose="02050604050505020204" pitchFamily="18" charset="0"/>
                  </a:rPr>
                  <a:t>OOPs (Abstraction)</a:t>
                </a:r>
              </a:p>
            </p:txBody>
          </p:sp>
        </p:grpSp>
        <p:sp>
          <p:nvSpPr>
            <p:cNvPr id="15" name="Flowchart: Multidocument 14">
              <a:extLst>
                <a:ext uri="{FF2B5EF4-FFF2-40B4-BE49-F238E27FC236}">
                  <a16:creationId xmlns:a16="http://schemas.microsoft.com/office/drawing/2014/main" id="{EEF90758-BA58-49AE-B5D1-3023148A8D8D}"/>
                </a:ext>
              </a:extLst>
            </p:cNvPr>
            <p:cNvSpPr/>
            <p:nvPr/>
          </p:nvSpPr>
          <p:spPr>
            <a:xfrm>
              <a:off x="10653962" y="137426"/>
              <a:ext cx="1410335" cy="1086967"/>
            </a:xfrm>
            <a:prstGeom prst="flowChartMultidocument">
              <a:avLst/>
            </a:prstGeom>
            <a:solidFill>
              <a:srgbClr val="A50021"/>
            </a:solidFill>
            <a:ln>
              <a:solidFill>
                <a:srgbClr val="FFFF00"/>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5A11C925-F9FE-4A17-99BD-C9170152C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9414" y="366421"/>
              <a:ext cx="577382" cy="631957"/>
            </a:xfrm>
            <a:prstGeom prst="roundRect">
              <a:avLst>
                <a:gd name="adj" fmla="val 16667"/>
              </a:avLst>
            </a:prstGeom>
            <a:ln>
              <a:solidFill>
                <a:srgbClr val="FFFF00"/>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Rectangle 1">
              <a:extLst>
                <a:ext uri="{FF2B5EF4-FFF2-40B4-BE49-F238E27FC236}">
                  <a16:creationId xmlns:a16="http://schemas.microsoft.com/office/drawing/2014/main" id="{C7B95A3F-3779-4B9A-90EF-86114F5D4E50}"/>
                </a:ext>
              </a:extLst>
            </p:cNvPr>
            <p:cNvSpPr/>
            <p:nvPr/>
          </p:nvSpPr>
          <p:spPr>
            <a:xfrm>
              <a:off x="9414711" y="4048625"/>
              <a:ext cx="2649586" cy="26830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Don’t write or place any image in this area </a:t>
              </a:r>
            </a:p>
          </p:txBody>
        </p:sp>
        <p:sp>
          <p:nvSpPr>
            <p:cNvPr id="17" name="Half Frame 16">
              <a:extLst>
                <a:ext uri="{FF2B5EF4-FFF2-40B4-BE49-F238E27FC236}">
                  <a16:creationId xmlns:a16="http://schemas.microsoft.com/office/drawing/2014/main" id="{457E8BC2-FE67-470A-B461-43D1BB07A778}"/>
                </a:ext>
              </a:extLst>
            </p:cNvPr>
            <p:cNvSpPr/>
            <p:nvPr/>
          </p:nvSpPr>
          <p:spPr>
            <a:xfrm rot="10800000">
              <a:off x="11620497" y="3302668"/>
              <a:ext cx="571499" cy="3555332"/>
            </a:xfrm>
            <a:prstGeom prst="halfFrame">
              <a:avLst>
                <a:gd name="adj1" fmla="val 22807"/>
                <a:gd name="adj2" fmla="val 23859"/>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sp>
          <p:nvSpPr>
            <p:cNvPr id="18" name="Rectangle 17">
              <a:extLst>
                <a:ext uri="{FF2B5EF4-FFF2-40B4-BE49-F238E27FC236}">
                  <a16:creationId xmlns:a16="http://schemas.microsoft.com/office/drawing/2014/main" id="{BE9D28D4-0E0A-46F5-BE01-538824D4D675}"/>
                </a:ext>
              </a:extLst>
            </p:cNvPr>
            <p:cNvSpPr/>
            <p:nvPr/>
          </p:nvSpPr>
          <p:spPr>
            <a:xfrm>
              <a:off x="1" y="6731668"/>
              <a:ext cx="12192000" cy="126332"/>
            </a:xfrm>
            <a:prstGeom prst="rect">
              <a:avLst/>
            </a:prstGeom>
            <a:solidFill>
              <a:srgbClr val="902BFF"/>
            </a:solidFill>
            <a:ln>
              <a:solidFill>
                <a:srgbClr val="902BFF"/>
              </a:solid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902BFF"/>
                  </a:solidFill>
                </a:ln>
                <a:solidFill>
                  <a:srgbClr val="902BFF"/>
                </a:solidFill>
              </a:endParaRPr>
            </a:p>
          </p:txBody>
        </p:sp>
      </p:grpSp>
      <p:sp>
        <p:nvSpPr>
          <p:cNvPr id="24" name="TextBox 23">
            <a:extLst>
              <a:ext uri="{FF2B5EF4-FFF2-40B4-BE49-F238E27FC236}">
                <a16:creationId xmlns:a16="http://schemas.microsoft.com/office/drawing/2014/main" id="{5E3C5200-D0DC-402E-A965-6D74284BC65B}"/>
              </a:ext>
            </a:extLst>
          </p:cNvPr>
          <p:cNvSpPr txBox="1"/>
          <p:nvPr/>
        </p:nvSpPr>
        <p:spPr>
          <a:xfrm>
            <a:off x="522240" y="1069566"/>
            <a:ext cx="3095603" cy="738664"/>
          </a:xfrm>
          <a:prstGeom prst="rect">
            <a:avLst/>
          </a:prstGeom>
          <a:noFill/>
        </p:spPr>
        <p:txBody>
          <a:bodyPr wrap="square">
            <a:spAutoFit/>
          </a:bodyPr>
          <a:lstStyle/>
          <a:p>
            <a:pPr algn="just"/>
            <a:r>
              <a:rPr lang="en-US" sz="1400" b="1" dirty="0"/>
              <a:t>abstract class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a:t>
            </a:r>
          </a:p>
          <a:p>
            <a:pPr algn="just"/>
            <a:r>
              <a:rPr lang="en-US" sz="1400" b="1" dirty="0"/>
              <a:t>}</a:t>
            </a:r>
            <a:endParaRPr lang="en-IN" sz="1400" b="1" dirty="0"/>
          </a:p>
        </p:txBody>
      </p:sp>
      <p:sp>
        <p:nvSpPr>
          <p:cNvPr id="29" name="TextBox 28">
            <a:extLst>
              <a:ext uri="{FF2B5EF4-FFF2-40B4-BE49-F238E27FC236}">
                <a16:creationId xmlns:a16="http://schemas.microsoft.com/office/drawing/2014/main" id="{DCFFAF46-E2BA-4522-B6E8-3807586FC6C2}"/>
              </a:ext>
            </a:extLst>
          </p:cNvPr>
          <p:cNvSpPr txBox="1"/>
          <p:nvPr/>
        </p:nvSpPr>
        <p:spPr>
          <a:xfrm>
            <a:off x="5911056" y="837487"/>
            <a:ext cx="4515089" cy="3108543"/>
          </a:xfrm>
          <a:prstGeom prst="rect">
            <a:avLst/>
          </a:prstGeom>
          <a:noFill/>
        </p:spPr>
        <p:txBody>
          <a:bodyPr wrap="square">
            <a:spAutoFit/>
          </a:bodyPr>
          <a:lstStyle/>
          <a:p>
            <a:pPr algn="just"/>
            <a:r>
              <a:rPr lang="en-US" sz="1400" b="1" dirty="0"/>
              <a:t>class </a:t>
            </a:r>
            <a:r>
              <a:rPr lang="en-US" sz="1400" b="1" dirty="0" err="1"/>
              <a:t>SalServiceFactory</a:t>
            </a:r>
            <a:r>
              <a:rPr lang="en-US" sz="1400" b="1" dirty="0"/>
              <a:t> {</a:t>
            </a:r>
          </a:p>
          <a:p>
            <a:pPr algn="just"/>
            <a:r>
              <a:rPr lang="en-US" sz="1400" b="1" dirty="0"/>
              <a:t>   public static </a:t>
            </a:r>
            <a:r>
              <a:rPr lang="en-US" sz="1400" b="1" dirty="0" err="1"/>
              <a:t>SalService</a:t>
            </a:r>
            <a:r>
              <a:rPr lang="en-US" sz="1400" b="1" dirty="0"/>
              <a:t> </a:t>
            </a:r>
            <a:r>
              <a:rPr lang="en-US" sz="1400" b="1" dirty="0" err="1"/>
              <a:t>getSalService</a:t>
            </a:r>
            <a:r>
              <a:rPr lang="en-US" sz="1400" b="1" dirty="0"/>
              <a:t>(String </a:t>
            </a:r>
            <a:r>
              <a:rPr lang="en-US" sz="1400" b="1" dirty="0" err="1"/>
              <a:t>empType</a:t>
            </a:r>
            <a:r>
              <a:rPr lang="en-US" sz="1400" b="1" dirty="0"/>
              <a:t>) {</a:t>
            </a:r>
          </a:p>
          <a:p>
            <a:pPr algn="just"/>
            <a:r>
              <a:rPr lang="en-US" sz="1400" dirty="0"/>
              <a:t>      if(</a:t>
            </a:r>
            <a:r>
              <a:rPr lang="en-US" sz="1400" dirty="0" err="1"/>
              <a:t>empType.equals</a:t>
            </a:r>
            <a:r>
              <a:rPr lang="en-US" sz="1400" dirty="0"/>
              <a:t>(“Admin”)</a:t>
            </a:r>
          </a:p>
          <a:p>
            <a:pPr algn="just"/>
            <a:r>
              <a:rPr lang="en-US" sz="1400" b="1" dirty="0"/>
              <a:t>        return new </a:t>
            </a:r>
            <a:r>
              <a:rPr lang="en-US" sz="1400" b="1" dirty="0" err="1"/>
              <a:t>AdminSalService</a:t>
            </a:r>
            <a:r>
              <a:rPr lang="en-US" sz="1400" b="1" dirty="0"/>
              <a:t>();</a:t>
            </a:r>
          </a:p>
          <a:p>
            <a:pPr algn="just"/>
            <a:r>
              <a:rPr lang="en-US" sz="1400" dirty="0"/>
              <a:t>      else if(</a:t>
            </a:r>
            <a:r>
              <a:rPr lang="en-US" sz="1400" dirty="0" err="1"/>
              <a:t>empType.equals</a:t>
            </a:r>
            <a:r>
              <a:rPr lang="en-US" sz="1400" dirty="0"/>
              <a:t>(“Prod”)</a:t>
            </a:r>
          </a:p>
          <a:p>
            <a:pPr algn="just"/>
            <a:r>
              <a:rPr lang="en-US" sz="1400" b="1" dirty="0"/>
              <a:t>        return new </a:t>
            </a:r>
            <a:r>
              <a:rPr lang="en-US" sz="1400" b="1" dirty="0" err="1"/>
              <a:t>ProdSalService</a:t>
            </a:r>
            <a:r>
              <a:rPr lang="en-US" sz="1400" b="1" dirty="0"/>
              <a:t>(); </a:t>
            </a:r>
          </a:p>
          <a:p>
            <a:pPr algn="just"/>
            <a:r>
              <a:rPr lang="en-US" sz="1400" dirty="0"/>
              <a:t>      else if(</a:t>
            </a:r>
            <a:r>
              <a:rPr lang="en-US" sz="1400" dirty="0" err="1"/>
              <a:t>empType.equals</a:t>
            </a:r>
            <a:r>
              <a:rPr lang="en-US" sz="1400" dirty="0"/>
              <a:t>(“Sales”)</a:t>
            </a:r>
          </a:p>
          <a:p>
            <a:pPr algn="just"/>
            <a:r>
              <a:rPr lang="en-US" sz="1400" b="1" dirty="0"/>
              <a:t>        return new </a:t>
            </a:r>
            <a:r>
              <a:rPr lang="en-US" sz="1400" b="1" dirty="0" err="1"/>
              <a:t>SalesSalService</a:t>
            </a:r>
            <a:r>
              <a:rPr lang="en-US" sz="1400" b="1" dirty="0"/>
              <a:t>();</a:t>
            </a:r>
            <a:endParaRPr lang="en-US" sz="1400" dirty="0"/>
          </a:p>
          <a:p>
            <a:pPr algn="just"/>
            <a:r>
              <a:rPr lang="en-US" sz="1400" dirty="0"/>
              <a:t>      else if(</a:t>
            </a:r>
            <a:r>
              <a:rPr lang="en-US" sz="1400" dirty="0" err="1"/>
              <a:t>empType.equals</a:t>
            </a:r>
            <a:r>
              <a:rPr lang="en-US" sz="1400" dirty="0"/>
              <a:t>(“HR”)</a:t>
            </a:r>
          </a:p>
          <a:p>
            <a:pPr algn="just"/>
            <a:r>
              <a:rPr lang="en-US" sz="1400" b="1" dirty="0"/>
              <a:t>        return new </a:t>
            </a:r>
            <a:r>
              <a:rPr lang="en-US" sz="1400" b="1" dirty="0" err="1"/>
              <a:t>HRSalService</a:t>
            </a:r>
            <a:r>
              <a:rPr lang="en-US" sz="1400" b="1" dirty="0"/>
              <a:t>();</a:t>
            </a:r>
          </a:p>
          <a:p>
            <a:pPr algn="just"/>
            <a:r>
              <a:rPr lang="en-US" sz="1400" dirty="0"/>
              <a:t>       else</a:t>
            </a:r>
          </a:p>
          <a:p>
            <a:pPr algn="just"/>
            <a:r>
              <a:rPr lang="en-US" sz="1400" b="1" dirty="0"/>
              <a:t>         throw null;</a:t>
            </a:r>
          </a:p>
          <a:p>
            <a:pPr algn="just"/>
            <a:r>
              <a:rPr lang="en-US" sz="1400" b="1" dirty="0"/>
              <a:t>   }</a:t>
            </a:r>
          </a:p>
          <a:p>
            <a:pPr algn="just"/>
            <a:r>
              <a:rPr lang="en-US" sz="1400" b="1" dirty="0"/>
              <a:t>}</a:t>
            </a:r>
            <a:endParaRPr lang="en-IN" sz="1400" b="1" dirty="0"/>
          </a:p>
        </p:txBody>
      </p:sp>
      <p:sp>
        <p:nvSpPr>
          <p:cNvPr id="31" name="TextBox 30">
            <a:extLst>
              <a:ext uri="{FF2B5EF4-FFF2-40B4-BE49-F238E27FC236}">
                <a16:creationId xmlns:a16="http://schemas.microsoft.com/office/drawing/2014/main" id="{4BB7051E-185C-42B0-A39F-5C8F779DE4B1}"/>
              </a:ext>
            </a:extLst>
          </p:cNvPr>
          <p:cNvSpPr txBox="1"/>
          <p:nvPr/>
        </p:nvSpPr>
        <p:spPr>
          <a:xfrm>
            <a:off x="3933084" y="4088894"/>
            <a:ext cx="5793886" cy="1477328"/>
          </a:xfrm>
          <a:prstGeom prst="rect">
            <a:avLst/>
          </a:prstGeom>
          <a:noFill/>
        </p:spPr>
        <p:txBody>
          <a:bodyPr wrap="square">
            <a:spAutoFit/>
          </a:bodyPr>
          <a:lstStyle/>
          <a:p>
            <a:pPr algn="just"/>
            <a:r>
              <a:rPr lang="en-US" sz="1500" b="1" dirty="0"/>
              <a:t>class </a:t>
            </a:r>
            <a:r>
              <a:rPr lang="en-US" sz="1500" b="1" dirty="0" err="1"/>
              <a:t>SSFClient</a:t>
            </a:r>
            <a:r>
              <a:rPr lang="en-US" sz="1500" b="1" dirty="0"/>
              <a:t> {</a:t>
            </a:r>
          </a:p>
          <a:p>
            <a:pPr algn="just"/>
            <a:r>
              <a:rPr lang="en-US" sz="1500" b="1" dirty="0"/>
              <a:t>   public static void main(String rags[]) {</a:t>
            </a:r>
          </a:p>
          <a:p>
            <a:pPr algn="just"/>
            <a:r>
              <a:rPr lang="en-US" sz="1500" b="1" dirty="0"/>
              <a:t>       </a:t>
            </a:r>
            <a:r>
              <a:rPr lang="en-US" sz="1500" b="1" dirty="0" err="1"/>
              <a:t>SalService</a:t>
            </a:r>
            <a:r>
              <a:rPr lang="en-US" sz="1500" b="1" dirty="0"/>
              <a:t> ss= </a:t>
            </a:r>
            <a:r>
              <a:rPr lang="en-US" sz="1500" b="1" dirty="0" err="1"/>
              <a:t>SalServiceFactory.getSalService</a:t>
            </a:r>
            <a:r>
              <a:rPr lang="en-US" sz="1500" b="1" dirty="0"/>
              <a:t>(rags[0]);</a:t>
            </a:r>
          </a:p>
          <a:p>
            <a:pPr algn="just"/>
            <a:r>
              <a:rPr lang="en-US" sz="1500" b="1" dirty="0"/>
              <a:t>       </a:t>
            </a:r>
            <a:r>
              <a:rPr lang="en-US" sz="1500" b="1" dirty="0" err="1"/>
              <a:t>ss.calSal</a:t>
            </a:r>
            <a:r>
              <a:rPr lang="en-US" sz="1500" b="1" dirty="0"/>
              <a:t>(</a:t>
            </a:r>
            <a:r>
              <a:rPr lang="en-US" sz="1500" b="1" dirty="0" err="1"/>
              <a:t>Integer.parseInt</a:t>
            </a:r>
            <a:r>
              <a:rPr lang="en-US" sz="1500" b="1" dirty="0"/>
              <a:t>(rags[1]));</a:t>
            </a:r>
          </a:p>
          <a:p>
            <a:pPr algn="just"/>
            <a:r>
              <a:rPr lang="en-US" sz="1500" b="1" dirty="0"/>
              <a:t>   }</a:t>
            </a:r>
          </a:p>
          <a:p>
            <a:pPr algn="just"/>
            <a:r>
              <a:rPr lang="en-US" sz="1500" b="1" dirty="0"/>
              <a:t>}</a:t>
            </a:r>
            <a:endParaRPr lang="en-IN" sz="1500" b="1" dirty="0"/>
          </a:p>
        </p:txBody>
      </p:sp>
      <p:sp>
        <p:nvSpPr>
          <p:cNvPr id="8" name="TextBox 7">
            <a:extLst>
              <a:ext uri="{FF2B5EF4-FFF2-40B4-BE49-F238E27FC236}">
                <a16:creationId xmlns:a16="http://schemas.microsoft.com/office/drawing/2014/main" id="{CF52B888-02A6-4070-8A92-D108DB851672}"/>
              </a:ext>
            </a:extLst>
          </p:cNvPr>
          <p:cNvSpPr txBox="1"/>
          <p:nvPr/>
        </p:nvSpPr>
        <p:spPr>
          <a:xfrm>
            <a:off x="6852849" y="5374217"/>
            <a:ext cx="2083712" cy="1077218"/>
          </a:xfrm>
          <a:prstGeom prst="rect">
            <a:avLst/>
          </a:prstGeom>
          <a:noFill/>
        </p:spPr>
        <p:txBody>
          <a:bodyPr wrap="none" rtlCol="0">
            <a:spAutoFit/>
          </a:bodyPr>
          <a:lstStyle/>
          <a:p>
            <a:r>
              <a:rPr lang="en-US" sz="1600" dirty="0"/>
              <a:t>java </a:t>
            </a:r>
            <a:r>
              <a:rPr lang="en-US" sz="1600" dirty="0" err="1"/>
              <a:t>SSFClient</a:t>
            </a:r>
            <a:r>
              <a:rPr lang="en-US" sz="1600" dirty="0"/>
              <a:t> </a:t>
            </a:r>
            <a:r>
              <a:rPr lang="en-US" sz="1600" b="1" dirty="0"/>
              <a:t>Admin 1</a:t>
            </a:r>
          </a:p>
          <a:p>
            <a:r>
              <a:rPr lang="en-US" sz="1600" dirty="0"/>
              <a:t>                          </a:t>
            </a:r>
            <a:r>
              <a:rPr lang="en-US" sz="1600" b="1" dirty="0"/>
              <a:t>Prod</a:t>
            </a:r>
          </a:p>
          <a:p>
            <a:r>
              <a:rPr lang="en-US" sz="1600" dirty="0"/>
              <a:t>                          </a:t>
            </a:r>
            <a:r>
              <a:rPr lang="en-US" sz="1600" b="1" dirty="0"/>
              <a:t>Sales</a:t>
            </a:r>
          </a:p>
          <a:p>
            <a:r>
              <a:rPr lang="en-US" sz="1600" dirty="0"/>
              <a:t>                          </a:t>
            </a:r>
            <a:r>
              <a:rPr lang="en-US" sz="1600" b="1" dirty="0"/>
              <a:t>HR</a:t>
            </a:r>
            <a:endParaRPr lang="en-IN" b="1" dirty="0"/>
          </a:p>
        </p:txBody>
      </p:sp>
      <p:sp>
        <p:nvSpPr>
          <p:cNvPr id="30" name="TextBox 29">
            <a:extLst>
              <a:ext uri="{FF2B5EF4-FFF2-40B4-BE49-F238E27FC236}">
                <a16:creationId xmlns:a16="http://schemas.microsoft.com/office/drawing/2014/main" id="{05DD8766-48F9-46D0-BAEA-21C829B66AFF}"/>
              </a:ext>
            </a:extLst>
          </p:cNvPr>
          <p:cNvSpPr txBox="1"/>
          <p:nvPr/>
        </p:nvSpPr>
        <p:spPr>
          <a:xfrm>
            <a:off x="522240" y="1879951"/>
            <a:ext cx="3410844" cy="954107"/>
          </a:xfrm>
          <a:prstGeom prst="rect">
            <a:avLst/>
          </a:prstGeom>
          <a:noFill/>
        </p:spPr>
        <p:txBody>
          <a:bodyPr wrap="square">
            <a:spAutoFit/>
          </a:bodyPr>
          <a:lstStyle/>
          <a:p>
            <a:pPr algn="just"/>
            <a:r>
              <a:rPr lang="en-US" sz="1400" b="1" dirty="0"/>
              <a:t>class </a:t>
            </a:r>
            <a:r>
              <a:rPr lang="en-US" sz="1400" b="1" dirty="0" err="1"/>
              <a:t>AdminSalService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2" name="TextBox 31">
            <a:extLst>
              <a:ext uri="{FF2B5EF4-FFF2-40B4-BE49-F238E27FC236}">
                <a16:creationId xmlns:a16="http://schemas.microsoft.com/office/drawing/2014/main" id="{3E768CCC-CD73-46D1-B719-FB1434CBDAAB}"/>
              </a:ext>
            </a:extLst>
          </p:cNvPr>
          <p:cNvSpPr txBox="1"/>
          <p:nvPr/>
        </p:nvSpPr>
        <p:spPr>
          <a:xfrm>
            <a:off x="546870" y="2802927"/>
            <a:ext cx="3410844" cy="954107"/>
          </a:xfrm>
          <a:prstGeom prst="rect">
            <a:avLst/>
          </a:prstGeom>
          <a:noFill/>
        </p:spPr>
        <p:txBody>
          <a:bodyPr wrap="square">
            <a:spAutoFit/>
          </a:bodyPr>
          <a:lstStyle/>
          <a:p>
            <a:pPr algn="just"/>
            <a:r>
              <a:rPr lang="en-US" sz="1400" b="1" dirty="0"/>
              <a:t>class </a:t>
            </a:r>
            <a:r>
              <a:rPr lang="en-US" sz="1400" b="1" dirty="0" err="1"/>
              <a:t>ProdSalService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3" name="TextBox 32">
            <a:extLst>
              <a:ext uri="{FF2B5EF4-FFF2-40B4-BE49-F238E27FC236}">
                <a16:creationId xmlns:a16="http://schemas.microsoft.com/office/drawing/2014/main" id="{D03ECFF6-61FB-4B0B-8361-0E76E8E41230}"/>
              </a:ext>
            </a:extLst>
          </p:cNvPr>
          <p:cNvSpPr txBox="1"/>
          <p:nvPr/>
        </p:nvSpPr>
        <p:spPr>
          <a:xfrm>
            <a:off x="540246" y="3657695"/>
            <a:ext cx="3410844" cy="954107"/>
          </a:xfrm>
          <a:prstGeom prst="rect">
            <a:avLst/>
          </a:prstGeom>
          <a:noFill/>
        </p:spPr>
        <p:txBody>
          <a:bodyPr wrap="square">
            <a:spAutoFit/>
          </a:bodyPr>
          <a:lstStyle/>
          <a:p>
            <a:pPr algn="just"/>
            <a:r>
              <a:rPr lang="en-US" sz="1400" b="1" dirty="0"/>
              <a:t>class </a:t>
            </a:r>
            <a:r>
              <a:rPr lang="en-US" sz="1400" b="1" dirty="0" err="1"/>
              <a:t>SalesSalService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4" name="TextBox 33">
            <a:extLst>
              <a:ext uri="{FF2B5EF4-FFF2-40B4-BE49-F238E27FC236}">
                <a16:creationId xmlns:a16="http://schemas.microsoft.com/office/drawing/2014/main" id="{16AD908A-D165-440A-82EB-6231065E50DE}"/>
              </a:ext>
            </a:extLst>
          </p:cNvPr>
          <p:cNvSpPr txBox="1"/>
          <p:nvPr/>
        </p:nvSpPr>
        <p:spPr>
          <a:xfrm>
            <a:off x="553498" y="4519085"/>
            <a:ext cx="3410844" cy="954107"/>
          </a:xfrm>
          <a:prstGeom prst="rect">
            <a:avLst/>
          </a:prstGeom>
          <a:noFill/>
        </p:spPr>
        <p:txBody>
          <a:bodyPr wrap="square">
            <a:spAutoFit/>
          </a:bodyPr>
          <a:lstStyle/>
          <a:p>
            <a:pPr algn="just"/>
            <a:r>
              <a:rPr lang="en-US" sz="1400" b="1" dirty="0"/>
              <a:t>class </a:t>
            </a:r>
            <a:r>
              <a:rPr lang="en-US" sz="1400" b="1" dirty="0" err="1"/>
              <a:t>HRSalService</a:t>
            </a:r>
            <a:r>
              <a:rPr lang="en-US" sz="1400" b="1" dirty="0"/>
              <a:t> extends </a:t>
            </a:r>
            <a:r>
              <a:rPr lang="en-US" sz="1400" b="1" dirty="0" err="1"/>
              <a:t>SalService</a:t>
            </a:r>
            <a:r>
              <a:rPr lang="en-US" sz="1400" b="1" dirty="0"/>
              <a:t> {</a:t>
            </a:r>
          </a:p>
          <a:p>
            <a:pPr algn="just"/>
            <a:r>
              <a:rPr lang="en-US" sz="1400" b="1" dirty="0"/>
              <a:t>   </a:t>
            </a:r>
            <a:r>
              <a:rPr lang="en-US" sz="1400" dirty="0"/>
              <a:t>public double </a:t>
            </a:r>
            <a:r>
              <a:rPr lang="en-US" sz="1400" dirty="0" err="1"/>
              <a:t>calSal</a:t>
            </a:r>
            <a:r>
              <a:rPr lang="en-US" sz="1400" dirty="0"/>
              <a:t>(int </a:t>
            </a:r>
            <a:r>
              <a:rPr lang="en-US" sz="1400" dirty="0" err="1"/>
              <a:t>eid</a:t>
            </a:r>
            <a:r>
              <a:rPr lang="en-US" sz="1400" dirty="0"/>
              <a:t>) {</a:t>
            </a:r>
          </a:p>
          <a:p>
            <a:pPr algn="just"/>
            <a:r>
              <a:rPr lang="en-US" sz="1400" dirty="0"/>
              <a:t>   }</a:t>
            </a:r>
          </a:p>
          <a:p>
            <a:pPr algn="just"/>
            <a:r>
              <a:rPr lang="en-US" sz="1400" b="1" dirty="0"/>
              <a:t>}</a:t>
            </a:r>
            <a:endParaRPr lang="en-IN" sz="1400" b="1" dirty="0"/>
          </a:p>
        </p:txBody>
      </p:sp>
      <p:sp>
        <p:nvSpPr>
          <p:cNvPr id="35" name="TextBox 34">
            <a:extLst>
              <a:ext uri="{FF2B5EF4-FFF2-40B4-BE49-F238E27FC236}">
                <a16:creationId xmlns:a16="http://schemas.microsoft.com/office/drawing/2014/main" id="{5DB22BD4-1582-4DCB-93E8-389843FE2179}"/>
              </a:ext>
            </a:extLst>
          </p:cNvPr>
          <p:cNvSpPr txBox="1"/>
          <p:nvPr/>
        </p:nvSpPr>
        <p:spPr>
          <a:xfrm>
            <a:off x="4321744" y="5348570"/>
            <a:ext cx="2052955" cy="461665"/>
          </a:xfrm>
          <a:prstGeom prst="rect">
            <a:avLst/>
          </a:prstGeom>
          <a:noFill/>
        </p:spPr>
        <p:txBody>
          <a:bodyPr wrap="square" rtlCol="0">
            <a:spAutoFit/>
          </a:bodyPr>
          <a:lstStyle/>
          <a:p>
            <a:pPr algn="just"/>
            <a:r>
              <a:rPr lang="en-US" sz="1200" b="1" dirty="0"/>
              <a:t>tell me on which </a:t>
            </a:r>
            <a:r>
              <a:rPr lang="en-US" sz="1200" b="1" dirty="0" err="1"/>
              <a:t>SalService</a:t>
            </a:r>
            <a:r>
              <a:rPr lang="en-US" sz="1200" b="1" dirty="0"/>
              <a:t> the </a:t>
            </a:r>
            <a:r>
              <a:rPr lang="en-US" sz="1200" b="1" dirty="0" err="1"/>
              <a:t>calSal</a:t>
            </a:r>
            <a:r>
              <a:rPr lang="en-US" sz="1200" b="1" dirty="0"/>
              <a:t>() method is called?</a:t>
            </a:r>
            <a:endParaRPr lang="en-IN" b="1" dirty="0"/>
          </a:p>
        </p:txBody>
      </p:sp>
      <p:cxnSp>
        <p:nvCxnSpPr>
          <p:cNvPr id="36" name="Straight Arrow Connector 35">
            <a:extLst>
              <a:ext uri="{FF2B5EF4-FFF2-40B4-BE49-F238E27FC236}">
                <a16:creationId xmlns:a16="http://schemas.microsoft.com/office/drawing/2014/main" id="{A0EE5451-E0AC-4F6A-BD0E-B01E0A12F30D}"/>
              </a:ext>
            </a:extLst>
          </p:cNvPr>
          <p:cNvCxnSpPr/>
          <p:nvPr/>
        </p:nvCxnSpPr>
        <p:spPr>
          <a:xfrm flipV="1">
            <a:off x="4767239" y="5104967"/>
            <a:ext cx="0" cy="2657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695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1556</Words>
  <Application>Microsoft Office PowerPoint</Application>
  <PresentationFormat>Widescreen</PresentationFormat>
  <Paragraphs>230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Bookman Old Style</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nivas .</dc:creator>
  <cp:lastModifiedBy>nivas .</cp:lastModifiedBy>
  <cp:revision>3</cp:revision>
  <dcterms:created xsi:type="dcterms:W3CDTF">2022-09-21T09:06:24Z</dcterms:created>
  <dcterms:modified xsi:type="dcterms:W3CDTF">2022-09-21T09:34:00Z</dcterms:modified>
</cp:coreProperties>
</file>