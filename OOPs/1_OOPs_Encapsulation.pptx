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338" r:id="rId5"/>
    <p:sldId id="267" r:id="rId6"/>
    <p:sldId id="268" r:id="rId7"/>
    <p:sldId id="269"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33"/>
    <a:srgbClr val="003F66"/>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7D4F8FD7-6664-4EC7-B781-79F419E034EE}" type="datetimeFigureOut">
              <a:rPr lang="en-US" smtClean="0"/>
              <a:t>9/21/2022</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4F8FD7-6664-4EC7-B781-79F419E034EE}" type="datetimeFigureOut">
              <a:rPr lang="en-US" smtClean="0"/>
              <a:t>9/21/2022</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4E125E03-80A5-4CB9-B092-97C7DCBDED6A}"/>
              </a:ext>
            </a:extLst>
          </p:cNvPr>
          <p:cNvSpPr txBox="1"/>
          <p:nvPr/>
        </p:nvSpPr>
        <p:spPr>
          <a:xfrm>
            <a:off x="578443" y="797365"/>
            <a:ext cx="8587754" cy="547842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6000" b="1" dirty="0">
                <a:solidFill>
                  <a:srgbClr val="0000FF"/>
                </a:solidFill>
                <a:cs typeface="Arial" panose="020B0604020202020204" pitchFamily="34" charset="0"/>
              </a:rPr>
              <a:t>OOPs in</a:t>
            </a:r>
            <a:r>
              <a:rPr lang="en-US" sz="8000" b="1" dirty="0">
                <a:solidFill>
                  <a:srgbClr val="0000FF"/>
                </a:solidFill>
                <a:cs typeface="Arial" panose="020B0604020202020204" pitchFamily="34" charset="0"/>
              </a:rPr>
              <a:t> </a:t>
            </a:r>
            <a:endParaRPr lang="en-US" sz="6600" b="1" dirty="0">
              <a:solidFill>
                <a:srgbClr val="0000FF"/>
              </a:solidFill>
              <a:cs typeface="Arial" panose="020B0604020202020204" pitchFamily="34" charset="0"/>
            </a:endParaRPr>
          </a:p>
          <a:p>
            <a:pPr algn="ctr"/>
            <a:r>
              <a:rPr lang="en-US" sz="13800" b="1" dirty="0">
                <a:solidFill>
                  <a:srgbClr val="0000FF"/>
                </a:solidFill>
                <a:cs typeface="Arial" panose="020B0604020202020204" pitchFamily="34" charset="0"/>
              </a:rPr>
              <a:t>Java</a:t>
            </a:r>
            <a:endParaRPr lang="en-US" sz="6600" b="1" dirty="0">
              <a:solidFill>
                <a:srgbClr val="0000FF"/>
              </a:solidFill>
              <a:cs typeface="Arial" panose="020B0604020202020204" pitchFamily="34" charset="0"/>
            </a:endParaRPr>
          </a:p>
          <a:p>
            <a:pPr algn="ctr"/>
            <a:r>
              <a:rPr lang="en-US" sz="4400" b="1" dirty="0">
                <a:solidFill>
                  <a:srgbClr val="0000FF"/>
                </a:solidFill>
                <a:cs typeface="Arial" panose="020B0604020202020204" pitchFamily="34" charset="0"/>
              </a:rPr>
              <a:t>(Encapsulation)</a:t>
            </a:r>
          </a:p>
          <a:p>
            <a:pPr algn="ctr"/>
            <a:r>
              <a:rPr lang="en-US" sz="4400" b="1" dirty="0">
                <a:solidFill>
                  <a:srgbClr val="0000FF"/>
                </a:solidFill>
                <a:cs typeface="Arial" panose="020B0604020202020204" pitchFamily="34" charset="0"/>
              </a:rPr>
              <a:t>-</a:t>
            </a:r>
          </a:p>
          <a:p>
            <a:pPr algn="ctr"/>
            <a:r>
              <a:rPr lang="en-US" sz="4400" b="1" dirty="0">
                <a:solidFill>
                  <a:srgbClr val="0000FF"/>
                </a:solidFill>
                <a:cs typeface="Arial" panose="020B0604020202020204" pitchFamily="34" charset="0"/>
              </a:rPr>
              <a:t>Part - II</a:t>
            </a:r>
          </a:p>
        </p:txBody>
      </p:sp>
    </p:spTree>
    <p:extLst>
      <p:ext uri="{BB962C8B-B14F-4D97-AF65-F5344CB8AC3E}">
        <p14:creationId xmlns:p14="http://schemas.microsoft.com/office/powerpoint/2010/main" val="135343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522982" y="1135516"/>
            <a:ext cx="8647912" cy="4708981"/>
          </a:xfrm>
          <a:prstGeom prst="rect">
            <a:avLst/>
          </a:prstGeom>
          <a:noFill/>
        </p:spPr>
        <p:txBody>
          <a:bodyPr wrap="square" rtlCol="0">
            <a:spAutoFit/>
          </a:bodyPr>
          <a:lstStyle/>
          <a:p>
            <a:pPr algn="just"/>
            <a:r>
              <a:rPr lang="en-US" sz="4800" b="1" dirty="0">
                <a:solidFill>
                  <a:srgbClr val="0000FF"/>
                </a:solidFill>
                <a:cs typeface="Arial" panose="020B0604020202020204" pitchFamily="34" charset="0"/>
              </a:rPr>
              <a:t>OOP Principles are:</a:t>
            </a:r>
            <a:endParaRPr lang="en-US" sz="40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Encapsulation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(Data Abstraction/Hiding data/variables)</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Abstraction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(Process Abstraction/Hiding method implementation from declaration)</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Inheritance </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(Reusability of code/once written class)</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Polymorphism</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(Many implementation to the same method)</a:t>
            </a:r>
            <a:endParaRPr lang="en-US" sz="2800" b="1" dirty="0">
              <a:solidFill>
                <a:srgbClr val="0000FF"/>
              </a:solidFill>
              <a:cs typeface="Arial" panose="020B0604020202020204" pitchFamily="34" charset="0"/>
            </a:endParaRPr>
          </a:p>
          <a:p>
            <a:pPr marL="457200" indent="-457200" algn="just">
              <a:buFont typeface="Wingdings" panose="05000000000000000000" pitchFamily="2" charset="2"/>
              <a:buChar char="v"/>
            </a:pPr>
            <a:r>
              <a:rPr lang="en-US" sz="2800" b="1" dirty="0">
                <a:solidFill>
                  <a:srgbClr val="0000FF"/>
                </a:solidFill>
                <a:cs typeface="Arial" panose="020B0604020202020204" pitchFamily="34" charset="0"/>
              </a:rPr>
              <a:t>Message Passing</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(Passing primitive variables</a:t>
            </a:r>
          </a:p>
          <a:p>
            <a:pPr marL="914400" lvl="1" indent="-457200" algn="just">
              <a:buFont typeface="Wingdings" panose="05000000000000000000" pitchFamily="2" charset="2"/>
              <a:buChar char="Ø"/>
            </a:pPr>
            <a:r>
              <a:rPr lang="en-US" b="1" dirty="0">
                <a:solidFill>
                  <a:srgbClr val="0000FF"/>
                </a:solidFill>
                <a:cs typeface="Arial" panose="020B0604020202020204" pitchFamily="34" charset="0"/>
              </a:rPr>
              <a:t>Passing objects and arrays as arguments to method)</a:t>
            </a:r>
          </a:p>
        </p:txBody>
      </p:sp>
    </p:spTree>
    <p:extLst>
      <p:ext uri="{BB962C8B-B14F-4D97-AF65-F5344CB8AC3E}">
        <p14:creationId xmlns:p14="http://schemas.microsoft.com/office/powerpoint/2010/main" val="68562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0"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377518" y="1182091"/>
            <a:ext cx="3301866" cy="707886"/>
          </a:xfrm>
          <a:prstGeom prst="rect">
            <a:avLst/>
          </a:prstGeom>
          <a:noFill/>
        </p:spPr>
        <p:txBody>
          <a:bodyPr wrap="none" rtlCol="0">
            <a:spAutoFit/>
          </a:bodyPr>
          <a:lstStyle/>
          <a:p>
            <a:pPr algn="just"/>
            <a:r>
              <a:rPr lang="en-US" sz="4000" b="1" dirty="0">
                <a:solidFill>
                  <a:srgbClr val="0000FF"/>
                </a:solidFill>
                <a:cs typeface="Arial" panose="020B0604020202020204" pitchFamily="34" charset="0"/>
              </a:rPr>
              <a:t>Encapsulation:</a:t>
            </a:r>
          </a:p>
        </p:txBody>
      </p:sp>
      <p:sp>
        <p:nvSpPr>
          <p:cNvPr id="19" name="TextBox 18">
            <a:extLst>
              <a:ext uri="{FF2B5EF4-FFF2-40B4-BE49-F238E27FC236}">
                <a16:creationId xmlns:a16="http://schemas.microsoft.com/office/drawing/2014/main" id="{CA2BCE78-71D8-4B06-A4B1-7A02BF318FE7}"/>
              </a:ext>
            </a:extLst>
          </p:cNvPr>
          <p:cNvSpPr txBox="1"/>
          <p:nvPr/>
        </p:nvSpPr>
        <p:spPr>
          <a:xfrm>
            <a:off x="745210" y="1772453"/>
            <a:ext cx="8523114" cy="646331"/>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Hiding </a:t>
            </a:r>
            <a:r>
              <a:rPr lang="en-US" sz="1800" b="1" i="1" dirty="0">
                <a:solidFill>
                  <a:srgbClr val="0000FF"/>
                </a:solidFill>
                <a:cs typeface="Arial" panose="020B0604020202020204" pitchFamily="34" charset="0"/>
              </a:rPr>
              <a:t>variables</a:t>
            </a:r>
            <a:r>
              <a:rPr lang="en-US" sz="1800" b="1" dirty="0">
                <a:solidFill>
                  <a:srgbClr val="0000FF"/>
                </a:solidFill>
                <a:cs typeface="Arial" panose="020B0604020202020204" pitchFamily="34" charset="0"/>
              </a:rPr>
              <a:t> </a:t>
            </a:r>
            <a:r>
              <a:rPr lang="en-US" sz="1800" b="1" i="1" dirty="0">
                <a:solidFill>
                  <a:srgbClr val="C00000"/>
                </a:solidFill>
                <a:cs typeface="Arial" panose="020B0604020202020204" pitchFamily="34" charset="0"/>
              </a:rPr>
              <a:t>(declare class instance variables as private)</a:t>
            </a:r>
            <a:r>
              <a:rPr lang="en-US" sz="1800" b="1" dirty="0">
                <a:solidFill>
                  <a:srgbClr val="0000FF"/>
                </a:solidFill>
                <a:cs typeface="Arial" panose="020B0604020202020204" pitchFamily="34" charset="0"/>
              </a:rPr>
              <a:t> </a:t>
            </a:r>
          </a:p>
          <a:p>
            <a:pPr algn="just"/>
            <a:r>
              <a:rPr lang="en-US" b="1" dirty="0">
                <a:solidFill>
                  <a:srgbClr val="0000FF"/>
                </a:solidFill>
                <a:cs typeface="Arial" panose="020B0604020202020204" pitchFamily="34" charset="0"/>
              </a:rPr>
              <a:t>	</a:t>
            </a:r>
            <a:r>
              <a:rPr lang="en-US" sz="1800" b="1" dirty="0">
                <a:solidFill>
                  <a:srgbClr val="0000FF"/>
                </a:solidFill>
                <a:cs typeface="Arial" panose="020B0604020202020204" pitchFamily="34" charset="0"/>
              </a:rPr>
              <a:t>of a class and expose them through setter and getter methods. </a:t>
            </a:r>
          </a:p>
        </p:txBody>
      </p:sp>
      <p:sp>
        <p:nvSpPr>
          <p:cNvPr id="24" name="TextBox 23">
            <a:extLst>
              <a:ext uri="{FF2B5EF4-FFF2-40B4-BE49-F238E27FC236}">
                <a16:creationId xmlns:a16="http://schemas.microsoft.com/office/drawing/2014/main" id="{A79B8992-32B3-4EC9-A8F3-7AEF9CE24CDE}"/>
              </a:ext>
            </a:extLst>
          </p:cNvPr>
          <p:cNvSpPr txBox="1"/>
          <p:nvPr/>
        </p:nvSpPr>
        <p:spPr>
          <a:xfrm>
            <a:off x="300592" y="2405671"/>
            <a:ext cx="8870301" cy="2677656"/>
          </a:xfrm>
          <a:prstGeom prst="rect">
            <a:avLst/>
          </a:prstGeom>
          <a:noFill/>
        </p:spPr>
        <p:txBody>
          <a:bodyPr wrap="square">
            <a:spAutoFit/>
          </a:bodyPr>
          <a:lstStyle/>
          <a:p>
            <a:pPr algn="just"/>
            <a:r>
              <a:rPr lang="en-IN" sz="2800" dirty="0">
                <a:solidFill>
                  <a:srgbClr val="0000FF"/>
                </a:solidFill>
              </a:rPr>
              <a:t>Encapsulation encapsulates data/variables under a single unit/class. It combines the data </a:t>
            </a:r>
            <a:r>
              <a:rPr lang="en-IN" b="1" dirty="0">
                <a:solidFill>
                  <a:srgbClr val="FF0000"/>
                </a:solidFill>
              </a:rPr>
              <a:t>(private variables)</a:t>
            </a:r>
            <a:r>
              <a:rPr lang="en-IN" sz="2800" dirty="0">
                <a:solidFill>
                  <a:srgbClr val="0000FF"/>
                </a:solidFill>
              </a:rPr>
              <a:t> and behaviour </a:t>
            </a:r>
            <a:r>
              <a:rPr lang="en-IN" b="1" dirty="0">
                <a:solidFill>
                  <a:srgbClr val="FF0000"/>
                </a:solidFill>
              </a:rPr>
              <a:t>(setter &amp; getter methods –</a:t>
            </a:r>
            <a:r>
              <a:rPr lang="en-IN" sz="1800" dirty="0">
                <a:solidFill>
                  <a:srgbClr val="FF0000"/>
                </a:solidFill>
              </a:rPr>
              <a:t> manipulates data</a:t>
            </a:r>
            <a:r>
              <a:rPr lang="en-IN" b="1" dirty="0">
                <a:solidFill>
                  <a:srgbClr val="FF0000"/>
                </a:solidFill>
              </a:rPr>
              <a:t>)</a:t>
            </a:r>
            <a:r>
              <a:rPr lang="en-IN" sz="2800" dirty="0">
                <a:solidFill>
                  <a:srgbClr val="0000FF"/>
                </a:solidFill>
              </a:rPr>
              <a:t> together.</a:t>
            </a:r>
          </a:p>
          <a:p>
            <a:pPr algn="just"/>
            <a:endParaRPr lang="en-IN" sz="2800" dirty="0">
              <a:solidFill>
                <a:srgbClr val="0000FF"/>
              </a:solidFill>
            </a:endParaRPr>
          </a:p>
          <a:p>
            <a:pPr algn="just"/>
            <a:r>
              <a:rPr lang="en-IN" sz="2800" dirty="0">
                <a:solidFill>
                  <a:srgbClr val="0000FF"/>
                </a:solidFill>
              </a:rPr>
              <a:t>It is a way of restricting the access of our data members by other classes.</a:t>
            </a:r>
          </a:p>
        </p:txBody>
      </p:sp>
    </p:spTree>
    <p:extLst>
      <p:ext uri="{BB962C8B-B14F-4D97-AF65-F5344CB8AC3E}">
        <p14:creationId xmlns:p14="http://schemas.microsoft.com/office/powerpoint/2010/main" val="173944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377518" y="1182091"/>
            <a:ext cx="3301866" cy="707886"/>
          </a:xfrm>
          <a:prstGeom prst="rect">
            <a:avLst/>
          </a:prstGeom>
          <a:noFill/>
        </p:spPr>
        <p:txBody>
          <a:bodyPr wrap="none" rtlCol="0">
            <a:spAutoFit/>
          </a:bodyPr>
          <a:lstStyle/>
          <a:p>
            <a:pPr algn="just"/>
            <a:r>
              <a:rPr lang="en-US" sz="4000" b="1" dirty="0">
                <a:solidFill>
                  <a:srgbClr val="0000FF"/>
                </a:solidFill>
                <a:cs typeface="Arial" panose="020B0604020202020204" pitchFamily="34" charset="0"/>
              </a:rPr>
              <a:t>Encapsulation:</a:t>
            </a:r>
          </a:p>
        </p:txBody>
      </p:sp>
      <p:sp>
        <p:nvSpPr>
          <p:cNvPr id="19" name="TextBox 18">
            <a:extLst>
              <a:ext uri="{FF2B5EF4-FFF2-40B4-BE49-F238E27FC236}">
                <a16:creationId xmlns:a16="http://schemas.microsoft.com/office/drawing/2014/main" id="{CA2BCE78-71D8-4B06-A4B1-7A02BF318FE7}"/>
              </a:ext>
            </a:extLst>
          </p:cNvPr>
          <p:cNvSpPr txBox="1"/>
          <p:nvPr/>
        </p:nvSpPr>
        <p:spPr>
          <a:xfrm>
            <a:off x="745210" y="1772453"/>
            <a:ext cx="8523114" cy="646331"/>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Hiding </a:t>
            </a:r>
            <a:r>
              <a:rPr lang="en-US" sz="1800" b="1" i="1" dirty="0">
                <a:solidFill>
                  <a:srgbClr val="0000FF"/>
                </a:solidFill>
                <a:cs typeface="Arial" panose="020B0604020202020204" pitchFamily="34" charset="0"/>
              </a:rPr>
              <a:t>variables</a:t>
            </a:r>
            <a:r>
              <a:rPr lang="en-US" sz="1800" b="1" dirty="0">
                <a:solidFill>
                  <a:srgbClr val="0000FF"/>
                </a:solidFill>
                <a:cs typeface="Arial" panose="020B0604020202020204" pitchFamily="34" charset="0"/>
              </a:rPr>
              <a:t> </a:t>
            </a:r>
            <a:r>
              <a:rPr lang="en-US" sz="1800" b="1" i="1" dirty="0">
                <a:solidFill>
                  <a:srgbClr val="C00000"/>
                </a:solidFill>
                <a:cs typeface="Arial" panose="020B0604020202020204" pitchFamily="34" charset="0"/>
              </a:rPr>
              <a:t>(declare class instance variables as private)</a:t>
            </a:r>
            <a:r>
              <a:rPr lang="en-US" sz="1800" b="1" dirty="0">
                <a:solidFill>
                  <a:srgbClr val="0000FF"/>
                </a:solidFill>
                <a:cs typeface="Arial" panose="020B0604020202020204" pitchFamily="34" charset="0"/>
              </a:rPr>
              <a:t> </a:t>
            </a:r>
          </a:p>
          <a:p>
            <a:pPr algn="just"/>
            <a:r>
              <a:rPr lang="en-US" b="1" dirty="0">
                <a:solidFill>
                  <a:srgbClr val="0000FF"/>
                </a:solidFill>
                <a:cs typeface="Arial" panose="020B0604020202020204" pitchFamily="34" charset="0"/>
              </a:rPr>
              <a:t>	</a:t>
            </a:r>
            <a:r>
              <a:rPr lang="en-US" sz="1800" b="1" dirty="0">
                <a:solidFill>
                  <a:srgbClr val="0000FF"/>
                </a:solidFill>
                <a:cs typeface="Arial" panose="020B0604020202020204" pitchFamily="34" charset="0"/>
              </a:rPr>
              <a:t>of a class and expose them through setter and getter methods. </a:t>
            </a:r>
          </a:p>
        </p:txBody>
      </p:sp>
      <p:sp>
        <p:nvSpPr>
          <p:cNvPr id="24" name="TextBox 23">
            <a:extLst>
              <a:ext uri="{FF2B5EF4-FFF2-40B4-BE49-F238E27FC236}">
                <a16:creationId xmlns:a16="http://schemas.microsoft.com/office/drawing/2014/main" id="{A79B8992-32B3-4EC9-A8F3-7AEF9CE24CDE}"/>
              </a:ext>
            </a:extLst>
          </p:cNvPr>
          <p:cNvSpPr txBox="1"/>
          <p:nvPr/>
        </p:nvSpPr>
        <p:spPr>
          <a:xfrm>
            <a:off x="300592" y="2405671"/>
            <a:ext cx="8870301" cy="3847207"/>
          </a:xfrm>
          <a:prstGeom prst="rect">
            <a:avLst/>
          </a:prstGeom>
          <a:noFill/>
        </p:spPr>
        <p:txBody>
          <a:bodyPr wrap="square">
            <a:spAutoFit/>
          </a:bodyPr>
          <a:lstStyle/>
          <a:p>
            <a:pPr marL="285750" indent="-285750" algn="just">
              <a:buFont typeface="Wingdings" panose="05000000000000000000" pitchFamily="2" charset="2"/>
              <a:buChar char="v"/>
            </a:pPr>
            <a:r>
              <a:rPr lang="en-IN" sz="2800" dirty="0">
                <a:solidFill>
                  <a:srgbClr val="0000FF"/>
                </a:solidFill>
              </a:rPr>
              <a:t>Declare class as “public”</a:t>
            </a:r>
          </a:p>
          <a:p>
            <a:pPr marL="285750" indent="-285750" algn="just">
              <a:buFont typeface="Wingdings" panose="05000000000000000000" pitchFamily="2" charset="2"/>
              <a:buChar char="v"/>
            </a:pPr>
            <a:r>
              <a:rPr lang="en-IN" sz="2800" dirty="0">
                <a:solidFill>
                  <a:srgbClr val="0000FF"/>
                </a:solidFill>
              </a:rPr>
              <a:t>Implement class from Serializable interface </a:t>
            </a:r>
            <a:r>
              <a:rPr lang="en-IN" sz="2000" dirty="0">
                <a:solidFill>
                  <a:srgbClr val="0000FF"/>
                </a:solidFill>
              </a:rPr>
              <a:t>(not compulsory)</a:t>
            </a:r>
            <a:endParaRPr lang="en-IN" sz="2800" dirty="0">
              <a:solidFill>
                <a:srgbClr val="0000FF"/>
              </a:solidFill>
            </a:endParaRPr>
          </a:p>
          <a:p>
            <a:pPr marL="285750" indent="-285750" algn="just">
              <a:buFont typeface="Wingdings" panose="05000000000000000000" pitchFamily="2" charset="2"/>
              <a:buChar char="v"/>
            </a:pPr>
            <a:r>
              <a:rPr lang="en-IN" sz="2800" dirty="0">
                <a:solidFill>
                  <a:srgbClr val="0000FF"/>
                </a:solidFill>
              </a:rPr>
              <a:t>Declare variables as private</a:t>
            </a:r>
          </a:p>
          <a:p>
            <a:pPr marL="285750" indent="-285750" algn="just">
              <a:buFont typeface="Wingdings" panose="05000000000000000000" pitchFamily="2" charset="2"/>
              <a:buChar char="v"/>
            </a:pPr>
            <a:r>
              <a:rPr lang="en-IN" sz="2800" dirty="0">
                <a:solidFill>
                  <a:srgbClr val="0000FF"/>
                </a:solidFill>
              </a:rPr>
              <a:t>Write one no parameter constructor</a:t>
            </a:r>
          </a:p>
          <a:p>
            <a:pPr marL="285750" indent="-285750" algn="just">
              <a:buFont typeface="Wingdings" panose="05000000000000000000" pitchFamily="2" charset="2"/>
              <a:buChar char="v"/>
            </a:pPr>
            <a:r>
              <a:rPr lang="en-IN" sz="2800" dirty="0">
                <a:solidFill>
                  <a:srgbClr val="0000FF"/>
                </a:solidFill>
              </a:rPr>
              <a:t>One parameterized constructor </a:t>
            </a:r>
            <a:r>
              <a:rPr lang="en-IN" sz="2000" dirty="0">
                <a:solidFill>
                  <a:srgbClr val="0000FF"/>
                </a:solidFill>
              </a:rPr>
              <a:t>(not compulsory)</a:t>
            </a:r>
            <a:endParaRPr lang="en-IN" sz="2800" dirty="0">
              <a:solidFill>
                <a:srgbClr val="0000FF"/>
              </a:solidFill>
            </a:endParaRPr>
          </a:p>
          <a:p>
            <a:pPr marL="285750" indent="-285750" algn="just">
              <a:buFont typeface="Wingdings" panose="05000000000000000000" pitchFamily="2" charset="2"/>
              <a:buChar char="v"/>
            </a:pPr>
            <a:r>
              <a:rPr lang="en-IN" sz="2800" dirty="0">
                <a:solidFill>
                  <a:srgbClr val="0000FF"/>
                </a:solidFill>
              </a:rPr>
              <a:t>One pair of setter and getter methods</a:t>
            </a:r>
          </a:p>
          <a:p>
            <a:pPr marL="285750" indent="-285750" algn="just">
              <a:buFont typeface="Wingdings" panose="05000000000000000000" pitchFamily="2" charset="2"/>
              <a:buChar char="v"/>
            </a:pPr>
            <a:r>
              <a:rPr lang="en-IN" sz="2800" dirty="0">
                <a:solidFill>
                  <a:srgbClr val="0000FF"/>
                </a:solidFill>
              </a:rPr>
              <a:t>Write user defined methods that manipulate the data</a:t>
            </a:r>
          </a:p>
          <a:p>
            <a:pPr marL="285750" indent="-285750" algn="just">
              <a:buFont typeface="Wingdings" panose="05000000000000000000" pitchFamily="2" charset="2"/>
              <a:buChar char="v"/>
            </a:pPr>
            <a:r>
              <a:rPr lang="en-IN" sz="2800" dirty="0">
                <a:solidFill>
                  <a:srgbClr val="0000FF"/>
                </a:solidFill>
              </a:rPr>
              <a:t>Override equals(), </a:t>
            </a:r>
            <a:r>
              <a:rPr lang="en-IN" sz="2800" dirty="0" err="1">
                <a:solidFill>
                  <a:srgbClr val="0000FF"/>
                </a:solidFill>
              </a:rPr>
              <a:t>hashCode</a:t>
            </a:r>
            <a:r>
              <a:rPr lang="en-IN" sz="2800" dirty="0">
                <a:solidFill>
                  <a:srgbClr val="0000FF"/>
                </a:solidFill>
              </a:rPr>
              <a:t>() and </a:t>
            </a:r>
            <a:r>
              <a:rPr lang="en-IN" sz="2800" dirty="0" err="1">
                <a:solidFill>
                  <a:srgbClr val="0000FF"/>
                </a:solidFill>
              </a:rPr>
              <a:t>toString</a:t>
            </a:r>
            <a:r>
              <a:rPr lang="en-IN" sz="2800" dirty="0">
                <a:solidFill>
                  <a:srgbClr val="0000FF"/>
                </a:solidFill>
              </a:rPr>
              <a:t>() methods </a:t>
            </a:r>
            <a:r>
              <a:rPr lang="en-IN" sz="2000" dirty="0">
                <a:solidFill>
                  <a:srgbClr val="0000FF"/>
                </a:solidFill>
              </a:rPr>
              <a:t>(not compulsory)</a:t>
            </a:r>
            <a:endParaRPr lang="en-IN" sz="2800" dirty="0">
              <a:solidFill>
                <a:srgbClr val="0000FF"/>
              </a:solidFill>
            </a:endParaRPr>
          </a:p>
        </p:txBody>
      </p:sp>
    </p:spTree>
    <p:extLst>
      <p:ext uri="{BB962C8B-B14F-4D97-AF65-F5344CB8AC3E}">
        <p14:creationId xmlns:p14="http://schemas.microsoft.com/office/powerpoint/2010/main" val="195801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339357" y="1261603"/>
            <a:ext cx="4464877" cy="523220"/>
          </a:xfrm>
          <a:prstGeom prst="rect">
            <a:avLst/>
          </a:prstGeom>
          <a:noFill/>
        </p:spPr>
        <p:txBody>
          <a:bodyPr wrap="none" rtlCol="0">
            <a:spAutoFit/>
          </a:bodyPr>
          <a:lstStyle/>
          <a:p>
            <a:pPr algn="just"/>
            <a:r>
              <a:rPr lang="en-US" sz="2800" b="1" dirty="0">
                <a:solidFill>
                  <a:srgbClr val="0000FF"/>
                </a:solidFill>
                <a:cs typeface="Arial" panose="020B0604020202020204" pitchFamily="34" charset="0"/>
              </a:rPr>
              <a:t>What if you don’t Encapsule:</a:t>
            </a:r>
          </a:p>
        </p:txBody>
      </p:sp>
      <p:sp>
        <p:nvSpPr>
          <p:cNvPr id="19" name="TextBox 18">
            <a:extLst>
              <a:ext uri="{FF2B5EF4-FFF2-40B4-BE49-F238E27FC236}">
                <a16:creationId xmlns:a16="http://schemas.microsoft.com/office/drawing/2014/main" id="{CA2BCE78-71D8-4B06-A4B1-7A02BF318FE7}"/>
              </a:ext>
            </a:extLst>
          </p:cNvPr>
          <p:cNvSpPr txBox="1"/>
          <p:nvPr/>
        </p:nvSpPr>
        <p:spPr>
          <a:xfrm>
            <a:off x="347650" y="1880029"/>
            <a:ext cx="2965399" cy="1477328"/>
          </a:xfrm>
          <a:prstGeom prst="rect">
            <a:avLst/>
          </a:prstGeom>
          <a:noFill/>
        </p:spPr>
        <p:txBody>
          <a:bodyPr wrap="square">
            <a:spAutoFit/>
          </a:bodyPr>
          <a:lstStyle/>
          <a:p>
            <a:pPr algn="just"/>
            <a:r>
              <a:rPr lang="en-US" sz="1800" b="1" dirty="0">
                <a:solidFill>
                  <a:srgbClr val="0000FF"/>
                </a:solidFill>
                <a:cs typeface="Arial" panose="020B0604020202020204" pitchFamily="34" charset="0"/>
              </a:rPr>
              <a:t>Emp.txt / </a:t>
            </a:r>
            <a:r>
              <a:rPr lang="en-US" sz="1800" b="1" dirty="0" err="1">
                <a:solidFill>
                  <a:srgbClr val="0000FF"/>
                </a:solidFill>
                <a:cs typeface="Arial" panose="020B0604020202020204" pitchFamily="34" charset="0"/>
              </a:rPr>
              <a:t>table:emp</a:t>
            </a:r>
            <a:endParaRPr lang="en-US" sz="1800" b="1" dirty="0">
              <a:solidFill>
                <a:srgbClr val="0000FF"/>
              </a:solidFill>
              <a:cs typeface="Arial" panose="020B0604020202020204" pitchFamily="34" charset="0"/>
            </a:endParaRPr>
          </a:p>
          <a:p>
            <a:pPr algn="just"/>
            <a:r>
              <a:rPr lang="en-US" sz="1800" dirty="0">
                <a:solidFill>
                  <a:srgbClr val="0000FF"/>
                </a:solidFill>
                <a:cs typeface="Arial" panose="020B0604020202020204" pitchFamily="34" charset="0"/>
              </a:rPr>
              <a:t>1&amp;ABC&amp;10000.00&amp;Designer</a:t>
            </a:r>
          </a:p>
          <a:p>
            <a:pPr algn="just"/>
            <a:r>
              <a:rPr lang="en-US" sz="1800" dirty="0">
                <a:solidFill>
                  <a:srgbClr val="0000FF"/>
                </a:solidFill>
                <a:cs typeface="Arial" panose="020B0604020202020204" pitchFamily="34" charset="0"/>
              </a:rPr>
              <a:t>2&amp;XYZ&amp;20000.00&amp;Developer</a:t>
            </a:r>
          </a:p>
          <a:p>
            <a:pPr algn="just"/>
            <a:r>
              <a:rPr lang="en-US" sz="1800" dirty="0">
                <a:solidFill>
                  <a:srgbClr val="0000FF"/>
                </a:solidFill>
                <a:cs typeface="Arial" panose="020B0604020202020204" pitchFamily="34" charset="0"/>
              </a:rPr>
              <a:t>3&amp;LMN&amp;30000.00&amp;Tester</a:t>
            </a:r>
          </a:p>
          <a:p>
            <a:pPr algn="just"/>
            <a:r>
              <a:rPr lang="en-US" sz="1800" dirty="0">
                <a:solidFill>
                  <a:srgbClr val="0000FF"/>
                </a:solidFill>
                <a:cs typeface="Arial" panose="020B0604020202020204" pitchFamily="34" charset="0"/>
              </a:rPr>
              <a:t>4&amp;PQR&amp;40000.00&amp;Analyst</a:t>
            </a:r>
          </a:p>
        </p:txBody>
      </p:sp>
      <p:sp>
        <p:nvSpPr>
          <p:cNvPr id="24" name="TextBox 23">
            <a:extLst>
              <a:ext uri="{FF2B5EF4-FFF2-40B4-BE49-F238E27FC236}">
                <a16:creationId xmlns:a16="http://schemas.microsoft.com/office/drawing/2014/main" id="{A79B8992-32B3-4EC9-A8F3-7AEF9CE24CDE}"/>
              </a:ext>
            </a:extLst>
          </p:cNvPr>
          <p:cNvSpPr txBox="1"/>
          <p:nvPr/>
        </p:nvSpPr>
        <p:spPr>
          <a:xfrm>
            <a:off x="285750" y="3404508"/>
            <a:ext cx="2062887" cy="2031325"/>
          </a:xfrm>
          <a:prstGeom prst="rect">
            <a:avLst/>
          </a:prstGeom>
          <a:noFill/>
        </p:spPr>
        <p:txBody>
          <a:bodyPr wrap="square">
            <a:spAutoFit/>
          </a:bodyPr>
          <a:lstStyle/>
          <a:p>
            <a:pPr algn="just"/>
            <a:r>
              <a:rPr lang="en-IN" b="1" dirty="0">
                <a:solidFill>
                  <a:srgbClr val="0000FF"/>
                </a:solidFill>
              </a:rPr>
              <a:t>// Emp.java</a:t>
            </a:r>
          </a:p>
          <a:p>
            <a:pPr algn="just"/>
            <a:r>
              <a:rPr lang="en-IN" dirty="0">
                <a:solidFill>
                  <a:srgbClr val="0000FF"/>
                </a:solidFill>
              </a:rPr>
              <a:t>public class Emp {</a:t>
            </a:r>
          </a:p>
          <a:p>
            <a:pPr algn="just"/>
            <a:r>
              <a:rPr lang="en-IN" dirty="0">
                <a:solidFill>
                  <a:srgbClr val="0000FF"/>
                </a:solidFill>
              </a:rPr>
              <a:t>  int </a:t>
            </a:r>
            <a:r>
              <a:rPr lang="en-IN" dirty="0" err="1">
                <a:solidFill>
                  <a:srgbClr val="0000FF"/>
                </a:solidFill>
              </a:rPr>
              <a:t>eid</a:t>
            </a:r>
            <a:r>
              <a:rPr lang="en-IN" dirty="0">
                <a:solidFill>
                  <a:srgbClr val="0000FF"/>
                </a:solidFill>
              </a:rPr>
              <a:t>;</a:t>
            </a:r>
          </a:p>
          <a:p>
            <a:pPr algn="just"/>
            <a:r>
              <a:rPr lang="en-IN" dirty="0">
                <a:solidFill>
                  <a:srgbClr val="0000FF"/>
                </a:solidFill>
              </a:rPr>
              <a:t>  String </a:t>
            </a:r>
            <a:r>
              <a:rPr lang="en-IN" dirty="0" err="1">
                <a:solidFill>
                  <a:srgbClr val="0000FF"/>
                </a:solidFill>
              </a:rPr>
              <a:t>ename</a:t>
            </a:r>
            <a:r>
              <a:rPr lang="en-IN" dirty="0">
                <a:solidFill>
                  <a:srgbClr val="0000FF"/>
                </a:solidFill>
              </a:rPr>
              <a:t>;</a:t>
            </a:r>
          </a:p>
          <a:p>
            <a:pPr algn="just"/>
            <a:r>
              <a:rPr lang="en-IN" dirty="0">
                <a:solidFill>
                  <a:srgbClr val="0000FF"/>
                </a:solidFill>
              </a:rPr>
              <a:t>  double </a:t>
            </a:r>
            <a:r>
              <a:rPr lang="en-IN" dirty="0" err="1">
                <a:solidFill>
                  <a:srgbClr val="0000FF"/>
                </a:solidFill>
              </a:rPr>
              <a:t>sal</a:t>
            </a:r>
            <a:r>
              <a:rPr lang="en-IN" dirty="0">
                <a:solidFill>
                  <a:srgbClr val="0000FF"/>
                </a:solidFill>
              </a:rPr>
              <a:t>;</a:t>
            </a:r>
          </a:p>
          <a:p>
            <a:pPr algn="just"/>
            <a:r>
              <a:rPr lang="en-IN" dirty="0">
                <a:solidFill>
                  <a:srgbClr val="0000FF"/>
                </a:solidFill>
              </a:rPr>
              <a:t>  String </a:t>
            </a:r>
            <a:r>
              <a:rPr lang="en-IN" dirty="0" err="1">
                <a:solidFill>
                  <a:srgbClr val="0000FF"/>
                </a:solidFill>
              </a:rPr>
              <a:t>desig</a:t>
            </a:r>
            <a:r>
              <a:rPr lang="en-IN" dirty="0">
                <a:solidFill>
                  <a:srgbClr val="0000FF"/>
                </a:solidFill>
              </a:rPr>
              <a:t>;</a:t>
            </a:r>
          </a:p>
          <a:p>
            <a:pPr algn="just"/>
            <a:r>
              <a:rPr lang="en-IN" dirty="0">
                <a:solidFill>
                  <a:srgbClr val="0000FF"/>
                </a:solidFill>
              </a:rPr>
              <a:t>}</a:t>
            </a:r>
          </a:p>
        </p:txBody>
      </p:sp>
      <p:sp>
        <p:nvSpPr>
          <p:cNvPr id="25" name="TextBox 24">
            <a:extLst>
              <a:ext uri="{FF2B5EF4-FFF2-40B4-BE49-F238E27FC236}">
                <a16:creationId xmlns:a16="http://schemas.microsoft.com/office/drawing/2014/main" id="{C0371CED-2773-4D28-B6B8-77C0A4C6ACD9}"/>
              </a:ext>
            </a:extLst>
          </p:cNvPr>
          <p:cNvSpPr txBox="1"/>
          <p:nvPr/>
        </p:nvSpPr>
        <p:spPr>
          <a:xfrm>
            <a:off x="4287946" y="1858233"/>
            <a:ext cx="6135756" cy="1200329"/>
          </a:xfrm>
          <a:prstGeom prst="rect">
            <a:avLst/>
          </a:prstGeom>
          <a:noFill/>
        </p:spPr>
        <p:txBody>
          <a:bodyPr wrap="square">
            <a:spAutoFit/>
          </a:bodyPr>
          <a:lstStyle/>
          <a:p>
            <a:pPr algn="just"/>
            <a:r>
              <a:rPr lang="en-IN" dirty="0">
                <a:solidFill>
                  <a:srgbClr val="990033"/>
                </a:solidFill>
              </a:rPr>
              <a:t>If we don’t declare variables as private, anybody who instantiates Emp class can modify and access all its instance variables which is not a safe from user storing data in our objects.</a:t>
            </a:r>
          </a:p>
        </p:txBody>
      </p:sp>
      <p:sp>
        <p:nvSpPr>
          <p:cNvPr id="26" name="TextBox 25">
            <a:extLst>
              <a:ext uri="{FF2B5EF4-FFF2-40B4-BE49-F238E27FC236}">
                <a16:creationId xmlns:a16="http://schemas.microsoft.com/office/drawing/2014/main" id="{AFE1F706-3F45-4ABB-A037-B6F4F966494C}"/>
              </a:ext>
            </a:extLst>
          </p:cNvPr>
          <p:cNvSpPr txBox="1"/>
          <p:nvPr/>
        </p:nvSpPr>
        <p:spPr>
          <a:xfrm>
            <a:off x="3483711" y="3235974"/>
            <a:ext cx="5102923" cy="3139321"/>
          </a:xfrm>
          <a:prstGeom prst="rect">
            <a:avLst/>
          </a:prstGeom>
          <a:noFill/>
        </p:spPr>
        <p:txBody>
          <a:bodyPr wrap="square">
            <a:spAutoFit/>
          </a:bodyPr>
          <a:lstStyle/>
          <a:p>
            <a:pPr algn="just"/>
            <a:r>
              <a:rPr lang="en-IN" b="1" dirty="0">
                <a:solidFill>
                  <a:srgbClr val="0000FF"/>
                </a:solidFill>
              </a:rPr>
              <a:t>// EmpClient.java</a:t>
            </a:r>
          </a:p>
          <a:p>
            <a:pPr algn="just"/>
            <a:r>
              <a:rPr lang="en-IN" dirty="0">
                <a:solidFill>
                  <a:srgbClr val="0000FF"/>
                </a:solidFill>
              </a:rPr>
              <a:t>public class </a:t>
            </a:r>
            <a:r>
              <a:rPr lang="en-IN" dirty="0" err="1">
                <a:solidFill>
                  <a:srgbClr val="0000FF"/>
                </a:solidFill>
              </a:rPr>
              <a:t>EmpClient</a:t>
            </a:r>
            <a:r>
              <a:rPr lang="en-IN" dirty="0">
                <a:solidFill>
                  <a:srgbClr val="0000FF"/>
                </a:solidFill>
              </a:rPr>
              <a:t> {</a:t>
            </a:r>
          </a:p>
          <a:p>
            <a:pPr algn="just"/>
            <a:r>
              <a:rPr lang="en-IN" dirty="0">
                <a:solidFill>
                  <a:srgbClr val="0000FF"/>
                </a:solidFill>
              </a:rPr>
              <a:t>   public static void main(String rags[]) {</a:t>
            </a:r>
          </a:p>
          <a:p>
            <a:pPr algn="just"/>
            <a:r>
              <a:rPr lang="en-IN" dirty="0">
                <a:solidFill>
                  <a:srgbClr val="0000FF"/>
                </a:solidFill>
              </a:rPr>
              <a:t>     Emp e=new Emp();</a:t>
            </a:r>
          </a:p>
          <a:p>
            <a:pPr algn="just"/>
            <a:r>
              <a:rPr lang="en-IN" dirty="0">
                <a:solidFill>
                  <a:srgbClr val="0000FF"/>
                </a:solidFill>
              </a:rPr>
              <a:t>     </a:t>
            </a:r>
            <a:r>
              <a:rPr lang="en-IN" dirty="0" err="1">
                <a:solidFill>
                  <a:srgbClr val="0000FF"/>
                </a:solidFill>
              </a:rPr>
              <a:t>e.eid</a:t>
            </a:r>
            <a:r>
              <a:rPr lang="en-IN" dirty="0">
                <a:solidFill>
                  <a:srgbClr val="0000FF"/>
                </a:solidFill>
              </a:rPr>
              <a:t>=1; </a:t>
            </a:r>
            <a:r>
              <a:rPr lang="en-IN" sz="1600" dirty="0">
                <a:solidFill>
                  <a:srgbClr val="990033"/>
                </a:solidFill>
              </a:rPr>
              <a:t>// can modify variables</a:t>
            </a:r>
            <a:endParaRPr lang="en-IN" dirty="0">
              <a:solidFill>
                <a:srgbClr val="990033"/>
              </a:solidFill>
            </a:endParaRPr>
          </a:p>
          <a:p>
            <a:pPr algn="just"/>
            <a:r>
              <a:rPr lang="en-IN" dirty="0">
                <a:solidFill>
                  <a:srgbClr val="0000FF"/>
                </a:solidFill>
              </a:rPr>
              <a:t>     </a:t>
            </a:r>
            <a:r>
              <a:rPr lang="en-IN" dirty="0" err="1">
                <a:solidFill>
                  <a:srgbClr val="0000FF"/>
                </a:solidFill>
              </a:rPr>
              <a:t>e.ename</a:t>
            </a:r>
            <a:r>
              <a:rPr lang="en-IN" dirty="0">
                <a:solidFill>
                  <a:srgbClr val="0000FF"/>
                </a:solidFill>
              </a:rPr>
              <a:t>="ABC";</a:t>
            </a:r>
          </a:p>
          <a:p>
            <a:pPr algn="just"/>
            <a:r>
              <a:rPr lang="en-IN" dirty="0">
                <a:solidFill>
                  <a:srgbClr val="0000FF"/>
                </a:solidFill>
              </a:rPr>
              <a:t>     </a:t>
            </a:r>
            <a:r>
              <a:rPr lang="en-IN" dirty="0" err="1">
                <a:solidFill>
                  <a:srgbClr val="0000FF"/>
                </a:solidFill>
              </a:rPr>
              <a:t>e.sal</a:t>
            </a:r>
            <a:r>
              <a:rPr lang="en-IN" dirty="0">
                <a:solidFill>
                  <a:srgbClr val="0000FF"/>
                </a:solidFill>
              </a:rPr>
              <a:t>=100000.00;</a:t>
            </a:r>
          </a:p>
          <a:p>
            <a:pPr algn="just"/>
            <a:r>
              <a:rPr lang="en-IN" dirty="0">
                <a:solidFill>
                  <a:srgbClr val="0000FF"/>
                </a:solidFill>
              </a:rPr>
              <a:t>     </a:t>
            </a:r>
            <a:r>
              <a:rPr lang="en-IN" dirty="0" err="1">
                <a:solidFill>
                  <a:srgbClr val="0000FF"/>
                </a:solidFill>
              </a:rPr>
              <a:t>e.desig</a:t>
            </a:r>
            <a:r>
              <a:rPr lang="en-IN" dirty="0">
                <a:solidFill>
                  <a:srgbClr val="0000FF"/>
                </a:solidFill>
              </a:rPr>
              <a:t>="Developer";</a:t>
            </a:r>
          </a:p>
          <a:p>
            <a:pPr algn="just"/>
            <a:r>
              <a:rPr lang="en-IN" dirty="0">
                <a:solidFill>
                  <a:srgbClr val="0000FF"/>
                </a:solidFill>
              </a:rPr>
              <a:t>     System.out.println(</a:t>
            </a:r>
            <a:r>
              <a:rPr lang="en-IN" dirty="0" err="1">
                <a:solidFill>
                  <a:srgbClr val="0000FF"/>
                </a:solidFill>
              </a:rPr>
              <a:t>e.ename</a:t>
            </a:r>
            <a:r>
              <a:rPr lang="en-IN" dirty="0">
                <a:solidFill>
                  <a:srgbClr val="0000FF"/>
                </a:solidFill>
              </a:rPr>
              <a:t>); </a:t>
            </a:r>
            <a:r>
              <a:rPr lang="en-IN" sz="1600" dirty="0">
                <a:solidFill>
                  <a:srgbClr val="990033"/>
                </a:solidFill>
              </a:rPr>
              <a:t>// can access variables</a:t>
            </a:r>
            <a:endParaRPr lang="en-IN" dirty="0">
              <a:solidFill>
                <a:srgbClr val="990033"/>
              </a:solidFill>
            </a:endParaRPr>
          </a:p>
          <a:p>
            <a:pPr algn="just"/>
            <a:r>
              <a:rPr lang="en-IN" dirty="0">
                <a:solidFill>
                  <a:srgbClr val="0000FF"/>
                </a:solidFill>
              </a:rPr>
              <a:t>   }</a:t>
            </a:r>
          </a:p>
          <a:p>
            <a:pPr algn="just"/>
            <a:r>
              <a:rPr lang="en-IN" dirty="0">
                <a:solidFill>
                  <a:srgbClr val="0000FF"/>
                </a:solidFill>
              </a:rPr>
              <a:t>}</a:t>
            </a:r>
          </a:p>
        </p:txBody>
      </p:sp>
    </p:spTree>
    <p:extLst>
      <p:ext uri="{BB962C8B-B14F-4D97-AF65-F5344CB8AC3E}">
        <p14:creationId xmlns:p14="http://schemas.microsoft.com/office/powerpoint/2010/main" val="270163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id="{C0371CED-2773-4D28-B6B8-77C0A4C6ACD9}"/>
              </a:ext>
            </a:extLst>
          </p:cNvPr>
          <p:cNvSpPr txBox="1"/>
          <p:nvPr/>
        </p:nvSpPr>
        <p:spPr>
          <a:xfrm>
            <a:off x="334576" y="4359903"/>
            <a:ext cx="7470953" cy="2062103"/>
          </a:xfrm>
          <a:prstGeom prst="rect">
            <a:avLst/>
          </a:prstGeom>
          <a:noFill/>
        </p:spPr>
        <p:txBody>
          <a:bodyPr wrap="square">
            <a:spAutoFit/>
          </a:bodyPr>
          <a:lstStyle/>
          <a:p>
            <a:pPr algn="just"/>
            <a:r>
              <a:rPr lang="en-IN" sz="1600" dirty="0">
                <a:solidFill>
                  <a:srgbClr val="990033"/>
                </a:solidFill>
              </a:rPr>
              <a:t>To access data from the .txt file into Java Bean, in the bean/class variables are declared as private, to the required member variables setter and getter methods are provided (</a:t>
            </a:r>
            <a:r>
              <a:rPr lang="en-IN" sz="1600" dirty="0" err="1">
                <a:solidFill>
                  <a:srgbClr val="990033"/>
                </a:solidFill>
              </a:rPr>
              <a:t>setEid</a:t>
            </a:r>
            <a:r>
              <a:rPr lang="en-IN" sz="1600" dirty="0">
                <a:solidFill>
                  <a:srgbClr val="990033"/>
                </a:solidFill>
              </a:rPr>
              <a:t>(int </a:t>
            </a:r>
            <a:r>
              <a:rPr lang="en-IN" sz="1600" dirty="0" err="1">
                <a:solidFill>
                  <a:srgbClr val="990033"/>
                </a:solidFill>
              </a:rPr>
              <a:t>eid</a:t>
            </a:r>
            <a:r>
              <a:rPr lang="en-IN" sz="1600" dirty="0">
                <a:solidFill>
                  <a:srgbClr val="990033"/>
                </a:solidFill>
              </a:rPr>
              <a:t>), </a:t>
            </a:r>
            <a:r>
              <a:rPr lang="en-IN" sz="1600" dirty="0" err="1">
                <a:solidFill>
                  <a:srgbClr val="990033"/>
                </a:solidFill>
              </a:rPr>
              <a:t>getEname</a:t>
            </a:r>
            <a:r>
              <a:rPr lang="en-IN" sz="1600" dirty="0">
                <a:solidFill>
                  <a:srgbClr val="990033"/>
                </a:solidFill>
              </a:rPr>
              <a:t>(), </a:t>
            </a:r>
            <a:r>
              <a:rPr lang="en-IN" sz="1600" dirty="0" err="1">
                <a:solidFill>
                  <a:srgbClr val="990033"/>
                </a:solidFill>
              </a:rPr>
              <a:t>getSal</a:t>
            </a:r>
            <a:r>
              <a:rPr lang="en-IN" sz="1600" dirty="0">
                <a:solidFill>
                  <a:srgbClr val="990033"/>
                </a:solidFill>
              </a:rPr>
              <a:t>(), </a:t>
            </a:r>
            <a:r>
              <a:rPr lang="en-IN" sz="1600" dirty="0" err="1">
                <a:solidFill>
                  <a:srgbClr val="990033"/>
                </a:solidFill>
              </a:rPr>
              <a:t>getDesig</a:t>
            </a:r>
            <a:r>
              <a:rPr lang="en-IN" sz="1600" dirty="0">
                <a:solidFill>
                  <a:srgbClr val="990033"/>
                </a:solidFill>
              </a:rPr>
              <a:t>()) and also one more method implemented in the class named </a:t>
            </a:r>
            <a:r>
              <a:rPr lang="en-IN" sz="1600" dirty="0" err="1">
                <a:solidFill>
                  <a:srgbClr val="990033"/>
                </a:solidFill>
              </a:rPr>
              <a:t>retrieveEmp</a:t>
            </a:r>
            <a:r>
              <a:rPr lang="en-IN" sz="1600" dirty="0">
                <a:solidFill>
                  <a:srgbClr val="990033"/>
                </a:solidFill>
              </a:rPr>
              <a:t>(). Once after setting </a:t>
            </a:r>
            <a:r>
              <a:rPr lang="en-IN" sz="1600" dirty="0" err="1">
                <a:solidFill>
                  <a:srgbClr val="990033"/>
                </a:solidFill>
              </a:rPr>
              <a:t>eid</a:t>
            </a:r>
            <a:r>
              <a:rPr lang="en-IN" sz="1600" dirty="0">
                <a:solidFill>
                  <a:srgbClr val="990033"/>
                </a:solidFill>
              </a:rPr>
              <a:t> through setter method in the client program we must call </a:t>
            </a:r>
            <a:r>
              <a:rPr lang="en-IN" sz="1600" dirty="0" err="1">
                <a:solidFill>
                  <a:srgbClr val="990033"/>
                </a:solidFill>
              </a:rPr>
              <a:t>retrieveEmp</a:t>
            </a:r>
            <a:r>
              <a:rPr lang="en-IN" sz="1600" dirty="0">
                <a:solidFill>
                  <a:srgbClr val="990033"/>
                </a:solidFill>
              </a:rPr>
              <a:t>() method which retrieves requested emp details from file/</a:t>
            </a:r>
            <a:r>
              <a:rPr lang="en-IN" sz="1600" dirty="0" err="1">
                <a:solidFill>
                  <a:srgbClr val="990033"/>
                </a:solidFill>
              </a:rPr>
              <a:t>db</a:t>
            </a:r>
            <a:r>
              <a:rPr lang="en-IN" sz="1600" dirty="0">
                <a:solidFill>
                  <a:srgbClr val="990033"/>
                </a:solidFill>
              </a:rPr>
              <a:t>/network/cloud and through getter methods we can access </a:t>
            </a:r>
            <a:r>
              <a:rPr lang="en-IN" sz="1600" dirty="0" err="1">
                <a:solidFill>
                  <a:srgbClr val="990033"/>
                </a:solidFill>
              </a:rPr>
              <a:t>ename</a:t>
            </a:r>
            <a:r>
              <a:rPr lang="en-IN" sz="1600" dirty="0">
                <a:solidFill>
                  <a:srgbClr val="990033"/>
                </a:solidFill>
              </a:rPr>
              <a:t>, </a:t>
            </a:r>
            <a:r>
              <a:rPr lang="en-IN" sz="1600" dirty="0" err="1">
                <a:solidFill>
                  <a:srgbClr val="990033"/>
                </a:solidFill>
              </a:rPr>
              <a:t>sal</a:t>
            </a:r>
            <a:r>
              <a:rPr lang="en-IN" sz="1600" dirty="0">
                <a:solidFill>
                  <a:srgbClr val="990033"/>
                </a:solidFill>
              </a:rPr>
              <a:t> &amp; </a:t>
            </a:r>
            <a:r>
              <a:rPr lang="en-IN" sz="1600" dirty="0" err="1">
                <a:solidFill>
                  <a:srgbClr val="990033"/>
                </a:solidFill>
              </a:rPr>
              <a:t>desig</a:t>
            </a:r>
            <a:r>
              <a:rPr lang="en-IN" sz="1600" dirty="0">
                <a:solidFill>
                  <a:srgbClr val="990033"/>
                </a:solidFill>
              </a:rPr>
              <a:t>. The bean is encapsulated in such a way that others cannot modify </a:t>
            </a:r>
            <a:r>
              <a:rPr lang="en-IN" sz="1600" dirty="0" err="1">
                <a:solidFill>
                  <a:srgbClr val="990033"/>
                </a:solidFill>
              </a:rPr>
              <a:t>ename</a:t>
            </a:r>
            <a:r>
              <a:rPr lang="en-IN" sz="1600" dirty="0">
                <a:solidFill>
                  <a:srgbClr val="990033"/>
                </a:solidFill>
              </a:rPr>
              <a:t>, </a:t>
            </a:r>
            <a:r>
              <a:rPr lang="en-IN" sz="1600" dirty="0" err="1">
                <a:solidFill>
                  <a:srgbClr val="990033"/>
                </a:solidFill>
              </a:rPr>
              <a:t>sal</a:t>
            </a:r>
            <a:r>
              <a:rPr lang="en-IN" sz="1600" dirty="0">
                <a:solidFill>
                  <a:srgbClr val="990033"/>
                </a:solidFill>
              </a:rPr>
              <a:t>, and </a:t>
            </a:r>
            <a:r>
              <a:rPr lang="en-IN" sz="1600" dirty="0" err="1">
                <a:solidFill>
                  <a:srgbClr val="990033"/>
                </a:solidFill>
              </a:rPr>
              <a:t>desig</a:t>
            </a:r>
            <a:r>
              <a:rPr lang="en-IN" sz="1600" dirty="0">
                <a:solidFill>
                  <a:srgbClr val="990033"/>
                </a:solidFill>
              </a:rPr>
              <a:t>. Now Data is safe from outside modifications.</a:t>
            </a:r>
          </a:p>
        </p:txBody>
      </p:sp>
      <p:sp>
        <p:nvSpPr>
          <p:cNvPr id="27" name="TextBox 26">
            <a:extLst>
              <a:ext uri="{FF2B5EF4-FFF2-40B4-BE49-F238E27FC236}">
                <a16:creationId xmlns:a16="http://schemas.microsoft.com/office/drawing/2014/main" id="{EFFDCCE0-35FC-4712-8692-A942508EB34B}"/>
              </a:ext>
            </a:extLst>
          </p:cNvPr>
          <p:cNvSpPr txBox="1"/>
          <p:nvPr/>
        </p:nvSpPr>
        <p:spPr>
          <a:xfrm>
            <a:off x="324371" y="825428"/>
            <a:ext cx="9090339" cy="1200329"/>
          </a:xfrm>
          <a:prstGeom prst="rect">
            <a:avLst/>
          </a:prstGeom>
          <a:noFill/>
        </p:spPr>
        <p:txBody>
          <a:bodyPr wrap="square">
            <a:spAutoFit/>
          </a:bodyPr>
          <a:lstStyle/>
          <a:p>
            <a:pPr algn="just"/>
            <a:r>
              <a:rPr lang="en-IN" dirty="0">
                <a:solidFill>
                  <a:srgbClr val="990033"/>
                </a:solidFill>
              </a:rPr>
              <a:t>If variables are declared as private after instantiating Emp object </a:t>
            </a:r>
          </a:p>
          <a:p>
            <a:pPr algn="just"/>
            <a:r>
              <a:rPr lang="en-IN" dirty="0">
                <a:solidFill>
                  <a:srgbClr val="990033"/>
                </a:solidFill>
              </a:rPr>
              <a:t>	Emp e=new Emp();</a:t>
            </a:r>
          </a:p>
          <a:p>
            <a:pPr algn="just"/>
            <a:r>
              <a:rPr lang="en-IN" dirty="0">
                <a:solidFill>
                  <a:srgbClr val="990033"/>
                </a:solidFill>
              </a:rPr>
              <a:t>if outside class tries to access using </a:t>
            </a:r>
            <a:r>
              <a:rPr lang="en-IN" dirty="0" err="1">
                <a:solidFill>
                  <a:srgbClr val="990033"/>
                </a:solidFill>
              </a:rPr>
              <a:t>e.eid</a:t>
            </a:r>
            <a:r>
              <a:rPr lang="en-IN" dirty="0">
                <a:solidFill>
                  <a:srgbClr val="990033"/>
                </a:solidFill>
              </a:rPr>
              <a:t>=1; or </a:t>
            </a:r>
            <a:r>
              <a:rPr lang="en-IN" dirty="0" err="1">
                <a:solidFill>
                  <a:srgbClr val="990033"/>
                </a:solidFill>
              </a:rPr>
              <a:t>e.ename</a:t>
            </a:r>
            <a:r>
              <a:rPr lang="en-IN" dirty="0">
                <a:solidFill>
                  <a:srgbClr val="990033"/>
                </a:solidFill>
              </a:rPr>
              <a:t>="ABC"; then compiler immediately raises error saying private variables cannot be accessed outside the class.</a:t>
            </a:r>
          </a:p>
        </p:txBody>
      </p:sp>
      <p:sp>
        <p:nvSpPr>
          <p:cNvPr id="28" name="TextBox 27">
            <a:extLst>
              <a:ext uri="{FF2B5EF4-FFF2-40B4-BE49-F238E27FC236}">
                <a16:creationId xmlns:a16="http://schemas.microsoft.com/office/drawing/2014/main" id="{42F5FBFF-881C-4E1D-B6F6-21B47ADAAC13}"/>
              </a:ext>
            </a:extLst>
          </p:cNvPr>
          <p:cNvSpPr txBox="1"/>
          <p:nvPr/>
        </p:nvSpPr>
        <p:spPr>
          <a:xfrm>
            <a:off x="3525954" y="2128119"/>
            <a:ext cx="6135756" cy="2062103"/>
          </a:xfrm>
          <a:prstGeom prst="rect">
            <a:avLst/>
          </a:prstGeom>
          <a:noFill/>
        </p:spPr>
        <p:txBody>
          <a:bodyPr wrap="square">
            <a:spAutoFit/>
          </a:bodyPr>
          <a:lstStyle/>
          <a:p>
            <a:pPr algn="just"/>
            <a:r>
              <a:rPr lang="en-IN" sz="1600" dirty="0">
                <a:solidFill>
                  <a:srgbClr val="0070C0"/>
                </a:solidFill>
              </a:rPr>
              <a:t>Hence we provide required setter() and getter() methods. write setter() &amp; getter() method to </a:t>
            </a:r>
            <a:r>
              <a:rPr lang="en-IN" sz="1600" dirty="0" err="1">
                <a:solidFill>
                  <a:srgbClr val="0070C0"/>
                </a:solidFill>
              </a:rPr>
              <a:t>eid</a:t>
            </a:r>
            <a:r>
              <a:rPr lang="en-IN" sz="1600" dirty="0">
                <a:solidFill>
                  <a:srgbClr val="0070C0"/>
                </a:solidFill>
              </a:rPr>
              <a:t> and provide only getter methods to </a:t>
            </a:r>
            <a:r>
              <a:rPr lang="en-IN" sz="1600" dirty="0" err="1">
                <a:solidFill>
                  <a:srgbClr val="0070C0"/>
                </a:solidFill>
              </a:rPr>
              <a:t>ename</a:t>
            </a:r>
            <a:r>
              <a:rPr lang="en-IN" sz="1600" dirty="0">
                <a:solidFill>
                  <a:srgbClr val="0070C0"/>
                </a:solidFill>
              </a:rPr>
              <a:t>, </a:t>
            </a:r>
            <a:r>
              <a:rPr lang="en-IN" sz="1600" dirty="0" err="1">
                <a:solidFill>
                  <a:srgbClr val="0070C0"/>
                </a:solidFill>
              </a:rPr>
              <a:t>sal</a:t>
            </a:r>
            <a:r>
              <a:rPr lang="en-IN" sz="1600" dirty="0">
                <a:solidFill>
                  <a:srgbClr val="0070C0"/>
                </a:solidFill>
              </a:rPr>
              <a:t> and </a:t>
            </a:r>
            <a:r>
              <a:rPr lang="en-IN" sz="1600" dirty="0" err="1">
                <a:solidFill>
                  <a:srgbClr val="0070C0"/>
                </a:solidFill>
              </a:rPr>
              <a:t>desig</a:t>
            </a:r>
            <a:r>
              <a:rPr lang="en-IN" sz="1600" dirty="0">
                <a:solidFill>
                  <a:srgbClr val="0070C0"/>
                </a:solidFill>
              </a:rPr>
              <a:t>. Then those variables cannot be modified. Cannot be modified by even authorized members of our org. If modification privileges want to be provided only to authorized members of our org, then in each </a:t>
            </a:r>
            <a:r>
              <a:rPr lang="en-IN" sz="1600" dirty="0" err="1">
                <a:solidFill>
                  <a:srgbClr val="0070C0"/>
                </a:solidFill>
              </a:rPr>
              <a:t>setEname</a:t>
            </a:r>
            <a:r>
              <a:rPr lang="en-IN" sz="1600" dirty="0">
                <a:solidFill>
                  <a:srgbClr val="0070C0"/>
                </a:solidFill>
              </a:rPr>
              <a:t>() along with String we must also ask for auth pass, similarly in </a:t>
            </a:r>
            <a:r>
              <a:rPr lang="en-IN" sz="1600" dirty="0" err="1">
                <a:solidFill>
                  <a:srgbClr val="0070C0"/>
                </a:solidFill>
              </a:rPr>
              <a:t>setSal</a:t>
            </a:r>
            <a:r>
              <a:rPr lang="en-IN" sz="1600" dirty="0">
                <a:solidFill>
                  <a:srgbClr val="0070C0"/>
                </a:solidFill>
              </a:rPr>
              <a:t>() and </a:t>
            </a:r>
            <a:r>
              <a:rPr lang="en-IN" sz="1600" dirty="0" err="1">
                <a:solidFill>
                  <a:srgbClr val="0070C0"/>
                </a:solidFill>
              </a:rPr>
              <a:t>setDesig</a:t>
            </a:r>
            <a:r>
              <a:rPr lang="en-IN" sz="1600" dirty="0">
                <a:solidFill>
                  <a:srgbClr val="0070C0"/>
                </a:solidFill>
              </a:rPr>
              <a:t>() also. Unless if the member is authorized they cannot modify </a:t>
            </a:r>
            <a:r>
              <a:rPr lang="en-IN" sz="1600" dirty="0" err="1">
                <a:solidFill>
                  <a:srgbClr val="0070C0"/>
                </a:solidFill>
              </a:rPr>
              <a:t>ename</a:t>
            </a:r>
            <a:r>
              <a:rPr lang="en-IN" sz="1600" dirty="0">
                <a:solidFill>
                  <a:srgbClr val="0070C0"/>
                </a:solidFill>
              </a:rPr>
              <a:t>, </a:t>
            </a:r>
            <a:r>
              <a:rPr lang="en-IN" sz="1600" dirty="0" err="1">
                <a:solidFill>
                  <a:srgbClr val="0070C0"/>
                </a:solidFill>
              </a:rPr>
              <a:t>sal</a:t>
            </a:r>
            <a:r>
              <a:rPr lang="en-IN" sz="1600" dirty="0">
                <a:solidFill>
                  <a:srgbClr val="0070C0"/>
                </a:solidFill>
              </a:rPr>
              <a:t>, </a:t>
            </a:r>
            <a:r>
              <a:rPr lang="en-IN" sz="1600" dirty="0" err="1">
                <a:solidFill>
                  <a:srgbClr val="0070C0"/>
                </a:solidFill>
              </a:rPr>
              <a:t>desig</a:t>
            </a:r>
            <a:r>
              <a:rPr lang="en-IN" sz="1600" dirty="0">
                <a:solidFill>
                  <a:srgbClr val="0070C0"/>
                </a:solidFill>
              </a:rPr>
              <a:t>.</a:t>
            </a:r>
          </a:p>
        </p:txBody>
      </p:sp>
    </p:spTree>
    <p:extLst>
      <p:ext uri="{BB962C8B-B14F-4D97-AF65-F5344CB8AC3E}">
        <p14:creationId xmlns:p14="http://schemas.microsoft.com/office/powerpoint/2010/main" val="104051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21C86F86-EBED-4233-98C6-77F204DED50F}"/>
              </a:ext>
            </a:extLst>
          </p:cNvPr>
          <p:cNvSpPr txBox="1"/>
          <p:nvPr/>
        </p:nvSpPr>
        <p:spPr>
          <a:xfrm>
            <a:off x="151396" y="706190"/>
            <a:ext cx="3200402" cy="6001643"/>
          </a:xfrm>
          <a:prstGeom prst="rect">
            <a:avLst/>
          </a:prstGeom>
          <a:noFill/>
        </p:spPr>
        <p:txBody>
          <a:bodyPr wrap="square">
            <a:spAutoFit/>
          </a:bodyPr>
          <a:lstStyle/>
          <a:p>
            <a:r>
              <a:rPr lang="en-IN" sz="1200" b="1" dirty="0"/>
              <a:t>// Emp.java</a:t>
            </a:r>
          </a:p>
          <a:p>
            <a:r>
              <a:rPr lang="en-IN" sz="1200" dirty="0"/>
              <a:t>import java.io.*;</a:t>
            </a:r>
          </a:p>
          <a:p>
            <a:r>
              <a:rPr lang="en-IN" sz="1200" dirty="0"/>
              <a:t>import </a:t>
            </a:r>
            <a:r>
              <a:rPr lang="en-IN" sz="1200" dirty="0" err="1"/>
              <a:t>java.util</a:t>
            </a:r>
            <a:r>
              <a:rPr lang="en-IN" sz="1200" dirty="0"/>
              <a:t>.*;</a:t>
            </a:r>
          </a:p>
          <a:p>
            <a:r>
              <a:rPr lang="en-IN" sz="1200" dirty="0"/>
              <a:t>public class Emp {</a:t>
            </a:r>
          </a:p>
          <a:p>
            <a:endParaRPr lang="en-IN" sz="1200" dirty="0"/>
          </a:p>
          <a:p>
            <a:r>
              <a:rPr lang="en-IN" sz="1200" dirty="0"/>
              <a:t>  private int </a:t>
            </a:r>
            <a:r>
              <a:rPr lang="en-IN" sz="1200" dirty="0" err="1"/>
              <a:t>eid</a:t>
            </a:r>
            <a:r>
              <a:rPr lang="en-IN" sz="1200" dirty="0"/>
              <a:t>;</a:t>
            </a:r>
          </a:p>
          <a:p>
            <a:r>
              <a:rPr lang="en-IN" sz="1200" dirty="0"/>
              <a:t>  private String </a:t>
            </a:r>
            <a:r>
              <a:rPr lang="en-IN" sz="1200" dirty="0" err="1"/>
              <a:t>ename</a:t>
            </a:r>
            <a:r>
              <a:rPr lang="en-IN" sz="1200" dirty="0"/>
              <a:t>;</a:t>
            </a:r>
          </a:p>
          <a:p>
            <a:r>
              <a:rPr lang="en-IN" sz="1200" dirty="0"/>
              <a:t>  private double </a:t>
            </a:r>
            <a:r>
              <a:rPr lang="en-IN" sz="1200" dirty="0" err="1"/>
              <a:t>sal</a:t>
            </a:r>
            <a:r>
              <a:rPr lang="en-IN" sz="1200" dirty="0"/>
              <a:t>;</a:t>
            </a:r>
          </a:p>
          <a:p>
            <a:r>
              <a:rPr lang="en-IN" sz="1200" dirty="0"/>
              <a:t>  private String </a:t>
            </a:r>
            <a:r>
              <a:rPr lang="en-IN" sz="1200" dirty="0" err="1"/>
              <a:t>desig</a:t>
            </a:r>
            <a:r>
              <a:rPr lang="en-IN" sz="1200" dirty="0"/>
              <a:t>;</a:t>
            </a:r>
          </a:p>
          <a:p>
            <a:r>
              <a:rPr lang="en-IN" sz="1200" dirty="0"/>
              <a:t>  </a:t>
            </a:r>
          </a:p>
          <a:p>
            <a:r>
              <a:rPr lang="en-IN" sz="1200" dirty="0"/>
              <a:t>  public Emp() {</a:t>
            </a:r>
          </a:p>
          <a:p>
            <a:r>
              <a:rPr lang="en-IN" sz="1200" dirty="0"/>
              <a:t>  }</a:t>
            </a:r>
          </a:p>
          <a:p>
            <a:endParaRPr lang="en-IN" sz="1200" dirty="0"/>
          </a:p>
          <a:p>
            <a:r>
              <a:rPr lang="en-IN" sz="1200" dirty="0"/>
              <a:t>  public Emp(int </a:t>
            </a:r>
            <a:r>
              <a:rPr lang="en-IN" sz="1200" dirty="0" err="1"/>
              <a:t>eid</a:t>
            </a:r>
            <a:r>
              <a:rPr lang="en-IN" sz="1200" dirty="0"/>
              <a:t>, String </a:t>
            </a:r>
            <a:r>
              <a:rPr lang="en-IN" sz="1200" dirty="0" err="1"/>
              <a:t>ename</a:t>
            </a:r>
            <a:r>
              <a:rPr lang="en-IN" sz="1200" dirty="0"/>
              <a:t>, double </a:t>
            </a:r>
            <a:r>
              <a:rPr lang="en-IN" sz="1200" dirty="0" err="1"/>
              <a:t>sal</a:t>
            </a:r>
            <a:r>
              <a:rPr lang="en-IN" sz="1200" dirty="0"/>
              <a:t>, String </a:t>
            </a:r>
            <a:r>
              <a:rPr lang="en-IN" sz="1200" dirty="0" err="1"/>
              <a:t>desig</a:t>
            </a:r>
            <a:r>
              <a:rPr lang="en-IN" sz="1200" dirty="0"/>
              <a:t>) {</a:t>
            </a:r>
          </a:p>
          <a:p>
            <a:r>
              <a:rPr lang="en-IN" sz="1200" dirty="0"/>
              <a:t>    </a:t>
            </a:r>
            <a:r>
              <a:rPr lang="en-IN" sz="1200" dirty="0" err="1"/>
              <a:t>this.eid</a:t>
            </a:r>
            <a:r>
              <a:rPr lang="en-IN" sz="1200" dirty="0"/>
              <a:t>=</a:t>
            </a:r>
            <a:r>
              <a:rPr lang="en-IN" sz="1200" dirty="0" err="1"/>
              <a:t>eid</a:t>
            </a:r>
            <a:r>
              <a:rPr lang="en-IN" sz="1200" dirty="0"/>
              <a:t>;</a:t>
            </a:r>
          </a:p>
          <a:p>
            <a:r>
              <a:rPr lang="en-IN" sz="1200" dirty="0"/>
              <a:t>    </a:t>
            </a:r>
            <a:r>
              <a:rPr lang="en-IN" sz="1200" dirty="0" err="1"/>
              <a:t>this.ename</a:t>
            </a:r>
            <a:r>
              <a:rPr lang="en-IN" sz="1200" dirty="0"/>
              <a:t>=</a:t>
            </a:r>
            <a:r>
              <a:rPr lang="en-IN" sz="1200" dirty="0" err="1"/>
              <a:t>ename</a:t>
            </a:r>
            <a:r>
              <a:rPr lang="en-IN" sz="1200" dirty="0"/>
              <a:t>;</a:t>
            </a:r>
          </a:p>
          <a:p>
            <a:r>
              <a:rPr lang="en-IN" sz="1200" dirty="0"/>
              <a:t>    </a:t>
            </a:r>
            <a:r>
              <a:rPr lang="en-IN" sz="1200" dirty="0" err="1"/>
              <a:t>this.sal</a:t>
            </a:r>
            <a:r>
              <a:rPr lang="en-IN" sz="1200" dirty="0"/>
              <a:t>=</a:t>
            </a:r>
            <a:r>
              <a:rPr lang="en-IN" sz="1200" dirty="0" err="1"/>
              <a:t>sal</a:t>
            </a:r>
            <a:r>
              <a:rPr lang="en-IN" sz="1200" dirty="0"/>
              <a:t>;</a:t>
            </a:r>
          </a:p>
          <a:p>
            <a:r>
              <a:rPr lang="en-IN" sz="1200" dirty="0"/>
              <a:t>    </a:t>
            </a:r>
            <a:r>
              <a:rPr lang="en-IN" sz="1200" dirty="0" err="1"/>
              <a:t>this.desig</a:t>
            </a:r>
            <a:r>
              <a:rPr lang="en-IN" sz="1200" dirty="0"/>
              <a:t>=</a:t>
            </a:r>
            <a:r>
              <a:rPr lang="en-IN" sz="1200" dirty="0" err="1"/>
              <a:t>desig</a:t>
            </a:r>
            <a:r>
              <a:rPr lang="en-IN" sz="1200" dirty="0"/>
              <a:t>;</a:t>
            </a:r>
          </a:p>
          <a:p>
            <a:r>
              <a:rPr lang="en-IN" sz="1200" dirty="0"/>
              <a:t>  }</a:t>
            </a:r>
          </a:p>
          <a:p>
            <a:endParaRPr lang="en-IN" sz="1200" dirty="0"/>
          </a:p>
          <a:p>
            <a:r>
              <a:rPr lang="en-IN" sz="1200" dirty="0"/>
              <a:t>  public void </a:t>
            </a:r>
            <a:r>
              <a:rPr lang="en-IN" sz="1200" dirty="0" err="1"/>
              <a:t>setEid</a:t>
            </a:r>
            <a:r>
              <a:rPr lang="en-IN" sz="1200" dirty="0"/>
              <a:t>(int </a:t>
            </a:r>
            <a:r>
              <a:rPr lang="en-IN" sz="1200" dirty="0" err="1"/>
              <a:t>eid</a:t>
            </a:r>
            <a:r>
              <a:rPr lang="en-IN" sz="1200" dirty="0"/>
              <a:t>) {</a:t>
            </a:r>
          </a:p>
          <a:p>
            <a:r>
              <a:rPr lang="en-IN" sz="1200" dirty="0"/>
              <a:t>    </a:t>
            </a:r>
            <a:r>
              <a:rPr lang="en-IN" sz="1200" dirty="0" err="1"/>
              <a:t>this.eid</a:t>
            </a:r>
            <a:r>
              <a:rPr lang="en-IN" sz="1200" dirty="0"/>
              <a:t>=</a:t>
            </a:r>
            <a:r>
              <a:rPr lang="en-IN" sz="1200" dirty="0" err="1"/>
              <a:t>eid</a:t>
            </a:r>
            <a:r>
              <a:rPr lang="en-IN" sz="1200" dirty="0"/>
              <a:t>;</a:t>
            </a:r>
          </a:p>
          <a:p>
            <a:r>
              <a:rPr lang="en-IN" sz="1200" dirty="0"/>
              <a:t>  }</a:t>
            </a:r>
          </a:p>
          <a:p>
            <a:r>
              <a:rPr lang="en-IN" sz="1200" dirty="0"/>
              <a:t>  public int </a:t>
            </a:r>
            <a:r>
              <a:rPr lang="en-IN" sz="1200" dirty="0" err="1"/>
              <a:t>getEid</a:t>
            </a:r>
            <a:r>
              <a:rPr lang="en-IN" sz="1200" dirty="0"/>
              <a:t>() {</a:t>
            </a:r>
          </a:p>
          <a:p>
            <a:r>
              <a:rPr lang="en-IN" sz="1200" dirty="0"/>
              <a:t>    return </a:t>
            </a:r>
            <a:r>
              <a:rPr lang="en-IN" sz="1200" dirty="0" err="1"/>
              <a:t>eid</a:t>
            </a:r>
            <a:r>
              <a:rPr lang="en-IN" sz="1200" dirty="0"/>
              <a:t>;</a:t>
            </a:r>
          </a:p>
          <a:p>
            <a:r>
              <a:rPr lang="en-IN" sz="1200" dirty="0"/>
              <a:t>  }</a:t>
            </a:r>
          </a:p>
          <a:p>
            <a:endParaRPr lang="en-IN" sz="1200" dirty="0"/>
          </a:p>
          <a:p>
            <a:r>
              <a:rPr lang="en-IN" sz="1200" dirty="0"/>
              <a:t> public String </a:t>
            </a:r>
            <a:r>
              <a:rPr lang="en-IN" sz="1200" dirty="0" err="1"/>
              <a:t>getEname</a:t>
            </a:r>
            <a:r>
              <a:rPr lang="en-IN" sz="1200" dirty="0"/>
              <a:t>() {</a:t>
            </a:r>
          </a:p>
          <a:p>
            <a:r>
              <a:rPr lang="en-IN" sz="1200" dirty="0"/>
              <a:t>    return </a:t>
            </a:r>
            <a:r>
              <a:rPr lang="en-IN" sz="1200" dirty="0" err="1"/>
              <a:t>ename</a:t>
            </a:r>
            <a:r>
              <a:rPr lang="en-IN" sz="1200" dirty="0"/>
              <a:t>;</a:t>
            </a:r>
          </a:p>
          <a:p>
            <a:r>
              <a:rPr lang="en-IN" sz="1200" dirty="0"/>
              <a:t> }</a:t>
            </a:r>
          </a:p>
        </p:txBody>
      </p:sp>
      <p:sp>
        <p:nvSpPr>
          <p:cNvPr id="24" name="TextBox 23">
            <a:extLst>
              <a:ext uri="{FF2B5EF4-FFF2-40B4-BE49-F238E27FC236}">
                <a16:creationId xmlns:a16="http://schemas.microsoft.com/office/drawing/2014/main" id="{5D4F99CF-D695-4760-8E2F-8D6217E42725}"/>
              </a:ext>
            </a:extLst>
          </p:cNvPr>
          <p:cNvSpPr txBox="1"/>
          <p:nvPr/>
        </p:nvSpPr>
        <p:spPr>
          <a:xfrm>
            <a:off x="4066245" y="695067"/>
            <a:ext cx="5148469" cy="6124754"/>
          </a:xfrm>
          <a:prstGeom prst="rect">
            <a:avLst/>
          </a:prstGeom>
          <a:noFill/>
        </p:spPr>
        <p:txBody>
          <a:bodyPr wrap="square">
            <a:spAutoFit/>
          </a:bodyPr>
          <a:lstStyle/>
          <a:p>
            <a:r>
              <a:rPr lang="en-IN" sz="1400" dirty="0"/>
              <a:t>public boolean </a:t>
            </a:r>
            <a:r>
              <a:rPr lang="en-IN" sz="1400" dirty="0" err="1"/>
              <a:t>retrieveEmp</a:t>
            </a:r>
            <a:r>
              <a:rPr lang="en-IN" sz="1400" dirty="0"/>
              <a:t>() {</a:t>
            </a:r>
          </a:p>
          <a:p>
            <a:r>
              <a:rPr lang="en-IN" sz="1400" dirty="0"/>
              <a:t>    boolean flag=false;  </a:t>
            </a:r>
          </a:p>
          <a:p>
            <a:r>
              <a:rPr lang="en-IN" sz="1400" dirty="0"/>
              <a:t>    try {</a:t>
            </a:r>
          </a:p>
          <a:p>
            <a:r>
              <a:rPr lang="en-IN" sz="1400" dirty="0"/>
              <a:t>      </a:t>
            </a:r>
            <a:r>
              <a:rPr lang="en-IN" sz="1400" dirty="0" err="1"/>
              <a:t>RandomAccessFile</a:t>
            </a:r>
            <a:r>
              <a:rPr lang="en-IN" sz="1400" dirty="0"/>
              <a:t> </a:t>
            </a:r>
            <a:r>
              <a:rPr lang="en-IN" sz="1400" dirty="0" err="1"/>
              <a:t>raf</a:t>
            </a:r>
            <a:r>
              <a:rPr lang="en-IN" sz="1400" dirty="0"/>
              <a:t>=new </a:t>
            </a:r>
            <a:r>
              <a:rPr lang="en-IN" sz="1400" dirty="0" err="1"/>
              <a:t>RandomAccessFile</a:t>
            </a:r>
            <a:r>
              <a:rPr lang="en-IN" sz="1400" dirty="0"/>
              <a:t>("Emp.txt", "r");</a:t>
            </a:r>
          </a:p>
          <a:p>
            <a:r>
              <a:rPr lang="en-IN" sz="1400" dirty="0"/>
              <a:t>      String line=</a:t>
            </a:r>
            <a:r>
              <a:rPr lang="en-IN" sz="1400" dirty="0" err="1"/>
              <a:t>raf.readLine</a:t>
            </a:r>
            <a:r>
              <a:rPr lang="en-IN" sz="1400" dirty="0"/>
              <a:t>();</a:t>
            </a:r>
          </a:p>
          <a:p>
            <a:endParaRPr lang="en-IN" sz="1400" dirty="0"/>
          </a:p>
          <a:p>
            <a:r>
              <a:rPr lang="en-IN" sz="1400" dirty="0"/>
              <a:t>      while(line!=null) {</a:t>
            </a:r>
          </a:p>
          <a:p>
            <a:r>
              <a:rPr lang="en-IN" sz="1400" dirty="0"/>
              <a:t>        </a:t>
            </a:r>
            <a:r>
              <a:rPr lang="en-IN" sz="1400" dirty="0" err="1"/>
              <a:t>StringTokenizer</a:t>
            </a:r>
            <a:r>
              <a:rPr lang="en-IN" sz="1400" dirty="0"/>
              <a:t> </a:t>
            </a:r>
            <a:r>
              <a:rPr lang="en-IN" sz="1400" dirty="0" err="1"/>
              <a:t>st</a:t>
            </a:r>
            <a:r>
              <a:rPr lang="en-IN" sz="1400" dirty="0"/>
              <a:t>=new </a:t>
            </a:r>
            <a:r>
              <a:rPr lang="en-IN" sz="1400" dirty="0" err="1"/>
              <a:t>StringTokenizer</a:t>
            </a:r>
            <a:r>
              <a:rPr lang="en-IN" sz="1400" dirty="0"/>
              <a:t>(line,"&amp;");</a:t>
            </a:r>
          </a:p>
          <a:p>
            <a:r>
              <a:rPr lang="en-IN" sz="1400" dirty="0"/>
              <a:t>        int </a:t>
            </a:r>
            <a:r>
              <a:rPr lang="en-IN" sz="1400" dirty="0" err="1"/>
              <a:t>tempeid</a:t>
            </a:r>
            <a:r>
              <a:rPr lang="en-IN" sz="1400" dirty="0"/>
              <a:t>=</a:t>
            </a:r>
            <a:r>
              <a:rPr lang="en-IN" sz="1400" dirty="0" err="1"/>
              <a:t>Integer.parseInt</a:t>
            </a:r>
            <a:r>
              <a:rPr lang="en-IN" sz="1400" dirty="0"/>
              <a:t>(</a:t>
            </a:r>
            <a:r>
              <a:rPr lang="en-IN" sz="1400" dirty="0" err="1"/>
              <a:t>st.nextToken</a:t>
            </a:r>
            <a:r>
              <a:rPr lang="en-IN" sz="1400" dirty="0"/>
              <a:t>());</a:t>
            </a:r>
          </a:p>
          <a:p>
            <a:r>
              <a:rPr lang="en-IN" sz="1400" dirty="0"/>
              <a:t>		</a:t>
            </a:r>
          </a:p>
          <a:p>
            <a:r>
              <a:rPr lang="en-IN" sz="1400" dirty="0"/>
              <a:t>        if(</a:t>
            </a:r>
            <a:r>
              <a:rPr lang="en-IN" sz="1400" dirty="0" err="1"/>
              <a:t>this.eid</a:t>
            </a:r>
            <a:r>
              <a:rPr lang="en-IN" sz="1400" dirty="0"/>
              <a:t>==</a:t>
            </a:r>
            <a:r>
              <a:rPr lang="en-IN" sz="1400" dirty="0" err="1"/>
              <a:t>tempeid</a:t>
            </a:r>
            <a:r>
              <a:rPr lang="en-IN" sz="1400" dirty="0"/>
              <a:t>) {</a:t>
            </a:r>
          </a:p>
          <a:p>
            <a:r>
              <a:rPr lang="en-IN" sz="1400" dirty="0"/>
              <a:t>          </a:t>
            </a:r>
            <a:r>
              <a:rPr lang="en-IN" sz="1400" dirty="0" err="1"/>
              <a:t>ename</a:t>
            </a:r>
            <a:r>
              <a:rPr lang="en-IN" sz="1400" dirty="0"/>
              <a:t>=</a:t>
            </a:r>
            <a:r>
              <a:rPr lang="en-IN" sz="1400" dirty="0" err="1"/>
              <a:t>st.nextToken</a:t>
            </a:r>
            <a:r>
              <a:rPr lang="en-IN" sz="1400" dirty="0"/>
              <a:t>();</a:t>
            </a:r>
          </a:p>
          <a:p>
            <a:r>
              <a:rPr lang="en-IN" sz="1400" dirty="0"/>
              <a:t>          </a:t>
            </a:r>
            <a:r>
              <a:rPr lang="en-IN" sz="1400" dirty="0" err="1"/>
              <a:t>sal</a:t>
            </a:r>
            <a:r>
              <a:rPr lang="en-IN" sz="1400" dirty="0"/>
              <a:t>=</a:t>
            </a:r>
            <a:r>
              <a:rPr lang="en-IN" sz="1400" dirty="0" err="1"/>
              <a:t>Double.parseDouble</a:t>
            </a:r>
            <a:r>
              <a:rPr lang="en-IN" sz="1400" dirty="0"/>
              <a:t>(</a:t>
            </a:r>
            <a:r>
              <a:rPr lang="en-IN" sz="1400" dirty="0" err="1"/>
              <a:t>st.nextToken</a:t>
            </a:r>
            <a:r>
              <a:rPr lang="en-IN" sz="1400" dirty="0"/>
              <a:t>());</a:t>
            </a:r>
          </a:p>
          <a:p>
            <a:r>
              <a:rPr lang="en-IN" sz="1400" dirty="0"/>
              <a:t>          </a:t>
            </a:r>
            <a:r>
              <a:rPr lang="en-IN" sz="1400" dirty="0" err="1"/>
              <a:t>desig</a:t>
            </a:r>
            <a:r>
              <a:rPr lang="en-IN" sz="1400" dirty="0"/>
              <a:t>=</a:t>
            </a:r>
            <a:r>
              <a:rPr lang="en-IN" sz="1400" dirty="0" err="1"/>
              <a:t>st.nextToken</a:t>
            </a:r>
            <a:r>
              <a:rPr lang="en-IN" sz="1400" dirty="0"/>
              <a:t>();</a:t>
            </a:r>
          </a:p>
          <a:p>
            <a:r>
              <a:rPr lang="en-IN" sz="1400" dirty="0"/>
              <a:t>           flag=true;</a:t>
            </a:r>
          </a:p>
          <a:p>
            <a:r>
              <a:rPr lang="en-IN" sz="1400" dirty="0"/>
              <a:t>           break;</a:t>
            </a:r>
          </a:p>
          <a:p>
            <a:r>
              <a:rPr lang="en-IN" sz="1400" dirty="0"/>
              <a:t>        }// if()</a:t>
            </a:r>
          </a:p>
          <a:p>
            <a:r>
              <a:rPr lang="en-IN" sz="1400" dirty="0"/>
              <a:t>        line=</a:t>
            </a:r>
            <a:r>
              <a:rPr lang="en-IN" sz="1400" dirty="0" err="1"/>
              <a:t>raf.readLine</a:t>
            </a:r>
            <a:r>
              <a:rPr lang="en-IN" sz="1400" dirty="0"/>
              <a:t>();</a:t>
            </a:r>
          </a:p>
          <a:p>
            <a:r>
              <a:rPr lang="en-IN" sz="1400" dirty="0"/>
              <a:t>      }// while()</a:t>
            </a:r>
          </a:p>
          <a:p>
            <a:r>
              <a:rPr lang="en-IN" sz="1400" dirty="0"/>
              <a:t>	  </a:t>
            </a:r>
          </a:p>
          <a:p>
            <a:r>
              <a:rPr lang="en-IN" sz="1400" dirty="0"/>
              <a:t>      if(flag==false)</a:t>
            </a:r>
          </a:p>
          <a:p>
            <a:r>
              <a:rPr lang="en-IN" sz="1400" dirty="0"/>
              <a:t>        System.out.println("Emp record "+</a:t>
            </a:r>
            <a:r>
              <a:rPr lang="en-IN" sz="1400" dirty="0" err="1"/>
              <a:t>eid</a:t>
            </a:r>
            <a:r>
              <a:rPr lang="en-IN" sz="1400" dirty="0"/>
              <a:t>+" not found");</a:t>
            </a:r>
          </a:p>
          <a:p>
            <a:r>
              <a:rPr lang="en-IN" sz="1400" dirty="0"/>
              <a:t>   }// try</a:t>
            </a:r>
          </a:p>
          <a:p>
            <a:r>
              <a:rPr lang="en-IN" sz="1400" dirty="0"/>
              <a:t>   catch(Exception e) {} </a:t>
            </a:r>
          </a:p>
          <a:p>
            <a:r>
              <a:rPr lang="en-IN" sz="1400" dirty="0"/>
              <a:t>   return flag;</a:t>
            </a:r>
          </a:p>
          <a:p>
            <a:r>
              <a:rPr lang="en-IN" sz="1400" dirty="0"/>
              <a:t>  } // </a:t>
            </a:r>
            <a:r>
              <a:rPr lang="en-IN" sz="1400" dirty="0" err="1"/>
              <a:t>retrieveEmp</a:t>
            </a:r>
            <a:r>
              <a:rPr lang="en-IN" sz="1400" dirty="0"/>
              <a:t>()</a:t>
            </a:r>
          </a:p>
          <a:p>
            <a:r>
              <a:rPr lang="en-IN" sz="1400" dirty="0"/>
              <a:t>}// class</a:t>
            </a:r>
          </a:p>
        </p:txBody>
      </p:sp>
      <p:sp>
        <p:nvSpPr>
          <p:cNvPr id="26" name="TextBox 25">
            <a:extLst>
              <a:ext uri="{FF2B5EF4-FFF2-40B4-BE49-F238E27FC236}">
                <a16:creationId xmlns:a16="http://schemas.microsoft.com/office/drawing/2014/main" id="{3295C36E-395C-4E83-BE93-9314341AFB9D}"/>
              </a:ext>
            </a:extLst>
          </p:cNvPr>
          <p:cNvSpPr txBox="1"/>
          <p:nvPr/>
        </p:nvSpPr>
        <p:spPr>
          <a:xfrm>
            <a:off x="8729370" y="1572486"/>
            <a:ext cx="3200403" cy="2246769"/>
          </a:xfrm>
          <a:prstGeom prst="rect">
            <a:avLst/>
          </a:prstGeom>
          <a:noFill/>
        </p:spPr>
        <p:txBody>
          <a:bodyPr wrap="square">
            <a:spAutoFit/>
          </a:bodyPr>
          <a:lstStyle/>
          <a:p>
            <a:r>
              <a:rPr lang="en-IN" sz="1400" b="1" dirty="0"/>
              <a:t>We can also implement:</a:t>
            </a:r>
          </a:p>
          <a:p>
            <a:pPr marL="285750" indent="-285750">
              <a:buFont typeface="Wingdings" panose="05000000000000000000" pitchFamily="2" charset="2"/>
              <a:buChar char="v"/>
            </a:pPr>
            <a:r>
              <a:rPr lang="en-IN" sz="1400" dirty="0"/>
              <a:t>int </a:t>
            </a:r>
            <a:r>
              <a:rPr lang="en-IN" sz="1400" dirty="0" err="1"/>
              <a:t>saveEmp</a:t>
            </a:r>
            <a:r>
              <a:rPr lang="en-IN" sz="1400" dirty="0"/>
              <a:t>(Emp e)</a:t>
            </a:r>
          </a:p>
          <a:p>
            <a:pPr marL="285750" indent="-285750">
              <a:buFont typeface="Wingdings" panose="05000000000000000000" pitchFamily="2" charset="2"/>
              <a:buChar char="v"/>
            </a:pPr>
            <a:r>
              <a:rPr lang="en-IN" sz="1400" dirty="0"/>
              <a:t>boolean </a:t>
            </a:r>
            <a:r>
              <a:rPr lang="en-IN" sz="1400" dirty="0" err="1"/>
              <a:t>updateEmp</a:t>
            </a:r>
            <a:r>
              <a:rPr lang="en-IN" sz="1400" dirty="0"/>
              <a:t>(Emp e)</a:t>
            </a:r>
          </a:p>
          <a:p>
            <a:pPr marL="285750" indent="-285750">
              <a:buFont typeface="Wingdings" panose="05000000000000000000" pitchFamily="2" charset="2"/>
              <a:buChar char="v"/>
            </a:pPr>
            <a:r>
              <a:rPr lang="en-IN" sz="1400" dirty="0"/>
              <a:t>boolean </a:t>
            </a:r>
            <a:r>
              <a:rPr lang="en-IN" sz="1400" dirty="0" err="1"/>
              <a:t>deleteEmp</a:t>
            </a:r>
            <a:r>
              <a:rPr lang="en-IN" sz="1400" dirty="0"/>
              <a:t>(int </a:t>
            </a:r>
            <a:r>
              <a:rPr lang="en-IN" sz="1400" dirty="0" err="1"/>
              <a:t>eid</a:t>
            </a:r>
            <a:r>
              <a:rPr lang="en-IN" sz="1400" dirty="0"/>
              <a:t>)</a:t>
            </a:r>
          </a:p>
          <a:p>
            <a:pPr marL="285750" indent="-285750">
              <a:buFont typeface="Wingdings" panose="05000000000000000000" pitchFamily="2" charset="2"/>
              <a:buChar char="v"/>
            </a:pPr>
            <a:r>
              <a:rPr lang="en-IN" sz="1400" dirty="0"/>
              <a:t>Emp </a:t>
            </a:r>
            <a:r>
              <a:rPr lang="en-IN" sz="1400" dirty="0" err="1"/>
              <a:t>findEmp</a:t>
            </a:r>
            <a:r>
              <a:rPr lang="en-IN" sz="1400" dirty="0"/>
              <a:t>(int </a:t>
            </a:r>
            <a:r>
              <a:rPr lang="en-IN" sz="1400" dirty="0" err="1"/>
              <a:t>eid</a:t>
            </a:r>
            <a:r>
              <a:rPr lang="en-IN" sz="1400" dirty="0"/>
              <a:t>)</a:t>
            </a:r>
          </a:p>
          <a:p>
            <a:pPr marL="285750" indent="-285750">
              <a:buFont typeface="Wingdings" panose="05000000000000000000" pitchFamily="2" charset="2"/>
              <a:buChar char="v"/>
            </a:pPr>
            <a:r>
              <a:rPr lang="en-IN" sz="1400" dirty="0"/>
              <a:t>List&lt;Emp&gt; </a:t>
            </a:r>
            <a:r>
              <a:rPr lang="en-IN" sz="1400" dirty="0" err="1"/>
              <a:t>findAllEmps</a:t>
            </a:r>
            <a:r>
              <a:rPr lang="en-IN" sz="1400" dirty="0"/>
              <a:t>()</a:t>
            </a:r>
          </a:p>
          <a:p>
            <a:pPr marL="285750" indent="-285750">
              <a:buFont typeface="Wingdings" panose="05000000000000000000" pitchFamily="2" charset="2"/>
              <a:buChar char="v"/>
            </a:pPr>
            <a:r>
              <a:rPr lang="en-IN" sz="1400" dirty="0"/>
              <a:t>Emp </a:t>
            </a:r>
            <a:r>
              <a:rPr lang="en-IN" sz="1400" dirty="0" err="1"/>
              <a:t>findEmpByName</a:t>
            </a:r>
            <a:r>
              <a:rPr lang="en-IN" sz="1400" dirty="0"/>
              <a:t>(String </a:t>
            </a:r>
            <a:r>
              <a:rPr lang="en-IN" sz="1400" dirty="0" err="1"/>
              <a:t>ename</a:t>
            </a:r>
            <a:r>
              <a:rPr lang="en-IN" sz="1400" dirty="0"/>
              <a:t>)</a:t>
            </a:r>
          </a:p>
          <a:p>
            <a:pPr marL="285750" indent="-285750">
              <a:buFont typeface="Wingdings" panose="05000000000000000000" pitchFamily="2" charset="2"/>
              <a:buChar char="v"/>
            </a:pPr>
            <a:r>
              <a:rPr lang="en-IN" sz="1400" dirty="0"/>
              <a:t>Emp[] </a:t>
            </a:r>
            <a:r>
              <a:rPr lang="en-IN" sz="1400" dirty="0" err="1"/>
              <a:t>findEmpsByDesig</a:t>
            </a:r>
            <a:r>
              <a:rPr lang="en-IN" sz="1400" dirty="0"/>
              <a:t>(String </a:t>
            </a:r>
            <a:r>
              <a:rPr lang="en-IN" sz="1400" dirty="0" err="1"/>
              <a:t>desig</a:t>
            </a:r>
            <a:r>
              <a:rPr lang="en-IN" sz="1400" dirty="0"/>
              <a:t>) </a:t>
            </a:r>
          </a:p>
          <a:p>
            <a:pPr marL="285750" indent="-285750">
              <a:buFont typeface="Wingdings" panose="05000000000000000000" pitchFamily="2" charset="2"/>
              <a:buChar char="v"/>
            </a:pPr>
            <a:r>
              <a:rPr lang="en-IN" sz="1400" dirty="0"/>
              <a:t>Emp[] </a:t>
            </a:r>
            <a:r>
              <a:rPr lang="en-IN" sz="1400" dirty="0" err="1"/>
              <a:t>findAllEmps</a:t>
            </a:r>
            <a:r>
              <a:rPr lang="en-IN" sz="1400" dirty="0"/>
              <a:t>()</a:t>
            </a:r>
          </a:p>
          <a:p>
            <a:pPr marL="285750" indent="-285750">
              <a:buFont typeface="Wingdings" panose="05000000000000000000" pitchFamily="2" charset="2"/>
              <a:buChar char="v"/>
            </a:pPr>
            <a:r>
              <a:rPr lang="en-IN" sz="1400" dirty="0"/>
              <a:t>boolean </a:t>
            </a:r>
            <a:r>
              <a:rPr lang="en-IN" sz="1400" dirty="0" err="1"/>
              <a:t>deleteEmp</a:t>
            </a:r>
            <a:r>
              <a:rPr lang="en-IN" sz="1400" dirty="0"/>
              <a:t>(int </a:t>
            </a:r>
            <a:r>
              <a:rPr lang="en-IN" sz="1400" dirty="0" err="1"/>
              <a:t>eid</a:t>
            </a:r>
            <a:r>
              <a:rPr lang="en-IN" sz="1400" dirty="0"/>
              <a:t>)</a:t>
            </a:r>
          </a:p>
        </p:txBody>
      </p:sp>
      <p:sp>
        <p:nvSpPr>
          <p:cNvPr id="8" name="TextBox 7">
            <a:extLst>
              <a:ext uri="{FF2B5EF4-FFF2-40B4-BE49-F238E27FC236}">
                <a16:creationId xmlns:a16="http://schemas.microsoft.com/office/drawing/2014/main" id="{C83146EE-6879-32CE-00EC-A73EBE48FF1D}"/>
              </a:ext>
            </a:extLst>
          </p:cNvPr>
          <p:cNvSpPr txBox="1"/>
          <p:nvPr/>
        </p:nvSpPr>
        <p:spPr>
          <a:xfrm>
            <a:off x="1969685" y="4632586"/>
            <a:ext cx="2085380" cy="1769715"/>
          </a:xfrm>
          <a:prstGeom prst="rect">
            <a:avLst/>
          </a:prstGeom>
          <a:noFill/>
        </p:spPr>
        <p:txBody>
          <a:bodyPr wrap="square">
            <a:spAutoFit/>
          </a:bodyPr>
          <a:lstStyle/>
          <a:p>
            <a:endParaRPr lang="en-IN" sz="1100" dirty="0"/>
          </a:p>
          <a:p>
            <a:r>
              <a:rPr lang="en-IN" sz="1400" dirty="0"/>
              <a:t>public double </a:t>
            </a:r>
            <a:r>
              <a:rPr lang="en-IN" sz="1400" dirty="0" err="1"/>
              <a:t>getSal</a:t>
            </a:r>
            <a:r>
              <a:rPr lang="en-IN" sz="1400" dirty="0"/>
              <a:t>() {</a:t>
            </a:r>
          </a:p>
          <a:p>
            <a:r>
              <a:rPr lang="en-IN" sz="1400" dirty="0"/>
              <a:t>    return </a:t>
            </a:r>
            <a:r>
              <a:rPr lang="en-IN" sz="1400" dirty="0" err="1"/>
              <a:t>sal</a:t>
            </a:r>
            <a:r>
              <a:rPr lang="en-IN" sz="1400" dirty="0"/>
              <a:t>;</a:t>
            </a:r>
          </a:p>
          <a:p>
            <a:r>
              <a:rPr lang="en-IN" sz="1400" dirty="0"/>
              <a:t> }</a:t>
            </a:r>
          </a:p>
          <a:p>
            <a:endParaRPr lang="en-IN" sz="1400" dirty="0"/>
          </a:p>
          <a:p>
            <a:r>
              <a:rPr lang="en-IN" sz="1400" dirty="0"/>
              <a:t>public String </a:t>
            </a:r>
            <a:r>
              <a:rPr lang="en-IN" sz="1400" dirty="0" err="1"/>
              <a:t>getDesig</a:t>
            </a:r>
            <a:r>
              <a:rPr lang="en-IN" sz="1400" dirty="0"/>
              <a:t>() {</a:t>
            </a:r>
          </a:p>
          <a:p>
            <a:r>
              <a:rPr lang="en-IN" sz="1400" dirty="0"/>
              <a:t>    return </a:t>
            </a:r>
            <a:r>
              <a:rPr lang="en-IN" sz="1400" dirty="0" err="1"/>
              <a:t>desig</a:t>
            </a:r>
            <a:r>
              <a:rPr lang="en-IN" sz="1400" dirty="0"/>
              <a:t>;</a:t>
            </a:r>
          </a:p>
          <a:p>
            <a:r>
              <a:rPr lang="en-IN" sz="1400" dirty="0"/>
              <a:t> }</a:t>
            </a:r>
          </a:p>
        </p:txBody>
      </p:sp>
    </p:spTree>
    <p:extLst>
      <p:ext uri="{BB962C8B-B14F-4D97-AF65-F5344CB8AC3E}">
        <p14:creationId xmlns:p14="http://schemas.microsoft.com/office/powerpoint/2010/main" val="325019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(Encapsulation)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id="{9EF1F68D-DE27-4235-8FC6-DECDFF00AEEE}"/>
              </a:ext>
            </a:extLst>
          </p:cNvPr>
          <p:cNvSpPr txBox="1"/>
          <p:nvPr/>
        </p:nvSpPr>
        <p:spPr>
          <a:xfrm>
            <a:off x="788502" y="886530"/>
            <a:ext cx="7613375" cy="5078313"/>
          </a:xfrm>
          <a:prstGeom prst="rect">
            <a:avLst/>
          </a:prstGeom>
          <a:noFill/>
        </p:spPr>
        <p:txBody>
          <a:bodyPr wrap="square">
            <a:spAutoFit/>
          </a:bodyPr>
          <a:lstStyle/>
          <a:p>
            <a:r>
              <a:rPr lang="en-IN" b="1" dirty="0"/>
              <a:t>// EmpClient.java</a:t>
            </a:r>
          </a:p>
          <a:p>
            <a:r>
              <a:rPr lang="en-IN" dirty="0"/>
              <a:t>import </a:t>
            </a:r>
            <a:r>
              <a:rPr lang="en-IN" dirty="0" err="1"/>
              <a:t>java.util</a:t>
            </a:r>
            <a:r>
              <a:rPr lang="en-IN" dirty="0"/>
              <a:t>.*;</a:t>
            </a:r>
          </a:p>
          <a:p>
            <a:r>
              <a:rPr lang="en-IN" dirty="0"/>
              <a:t>public class </a:t>
            </a:r>
            <a:r>
              <a:rPr lang="en-IN" dirty="0" err="1"/>
              <a:t>EmpClient</a:t>
            </a:r>
            <a:r>
              <a:rPr lang="en-IN" dirty="0"/>
              <a:t> {</a:t>
            </a:r>
          </a:p>
          <a:p>
            <a:r>
              <a:rPr lang="en-IN" dirty="0"/>
              <a:t>  public static void main(String rags[]) throws Exception {</a:t>
            </a:r>
          </a:p>
          <a:p>
            <a:r>
              <a:rPr lang="en-IN" dirty="0"/>
              <a:t>    Emp e=new Emp();</a:t>
            </a:r>
          </a:p>
          <a:p>
            <a:r>
              <a:rPr lang="en-IN" dirty="0"/>
              <a:t>    Scanner </a:t>
            </a:r>
            <a:r>
              <a:rPr lang="en-IN" dirty="0" err="1"/>
              <a:t>sc</a:t>
            </a:r>
            <a:r>
              <a:rPr lang="en-IN" dirty="0"/>
              <a:t>=new Scanner(System.in);</a:t>
            </a:r>
          </a:p>
          <a:p>
            <a:r>
              <a:rPr lang="en-IN" dirty="0"/>
              <a:t>    System.out.println("Please enter EID");</a:t>
            </a:r>
          </a:p>
          <a:p>
            <a:r>
              <a:rPr lang="en-IN" dirty="0"/>
              <a:t>    int </a:t>
            </a:r>
            <a:r>
              <a:rPr lang="en-IN" dirty="0" err="1"/>
              <a:t>eid</a:t>
            </a:r>
            <a:r>
              <a:rPr lang="en-IN" dirty="0"/>
              <a:t>=</a:t>
            </a:r>
            <a:r>
              <a:rPr lang="en-IN" dirty="0" err="1"/>
              <a:t>sc.nextInt</a:t>
            </a:r>
            <a:r>
              <a:rPr lang="en-IN" dirty="0"/>
              <a:t>();</a:t>
            </a:r>
          </a:p>
          <a:p>
            <a:r>
              <a:rPr lang="en-IN" dirty="0"/>
              <a:t>    </a:t>
            </a:r>
            <a:r>
              <a:rPr lang="en-IN" dirty="0" err="1"/>
              <a:t>e.setEid</a:t>
            </a:r>
            <a:r>
              <a:rPr lang="en-IN" dirty="0"/>
              <a:t>(</a:t>
            </a:r>
            <a:r>
              <a:rPr lang="en-IN" dirty="0" err="1"/>
              <a:t>eid</a:t>
            </a:r>
            <a:r>
              <a:rPr lang="en-IN" dirty="0"/>
              <a:t>);</a:t>
            </a:r>
          </a:p>
          <a:p>
            <a:r>
              <a:rPr lang="en-IN" dirty="0"/>
              <a:t>    boolean found=</a:t>
            </a:r>
            <a:r>
              <a:rPr lang="en-IN" dirty="0" err="1"/>
              <a:t>e.retrieveEmp</a:t>
            </a:r>
            <a:r>
              <a:rPr lang="en-IN" dirty="0"/>
              <a:t>();</a:t>
            </a:r>
          </a:p>
          <a:p>
            <a:r>
              <a:rPr lang="en-IN" dirty="0"/>
              <a:t>    if(found==true)	{</a:t>
            </a:r>
          </a:p>
          <a:p>
            <a:r>
              <a:rPr lang="en-IN" dirty="0"/>
              <a:t>      System.out.println(</a:t>
            </a:r>
            <a:r>
              <a:rPr lang="en-IN" dirty="0" err="1"/>
              <a:t>e.getEid</a:t>
            </a:r>
            <a:r>
              <a:rPr lang="en-IN" dirty="0"/>
              <a:t>());</a:t>
            </a:r>
          </a:p>
          <a:p>
            <a:r>
              <a:rPr lang="en-IN" dirty="0"/>
              <a:t>      System.out.println(</a:t>
            </a:r>
            <a:r>
              <a:rPr lang="en-IN" dirty="0" err="1"/>
              <a:t>e.getEname</a:t>
            </a:r>
            <a:r>
              <a:rPr lang="en-IN" dirty="0"/>
              <a:t>());</a:t>
            </a:r>
          </a:p>
          <a:p>
            <a:r>
              <a:rPr lang="en-IN" dirty="0"/>
              <a:t>      System.out.println(</a:t>
            </a:r>
            <a:r>
              <a:rPr lang="en-IN" dirty="0" err="1"/>
              <a:t>e.getSal</a:t>
            </a:r>
            <a:r>
              <a:rPr lang="en-IN" dirty="0"/>
              <a:t>());</a:t>
            </a:r>
          </a:p>
          <a:p>
            <a:r>
              <a:rPr lang="en-IN" dirty="0"/>
              <a:t>      System.out.println(</a:t>
            </a:r>
            <a:r>
              <a:rPr lang="en-IN" dirty="0" err="1"/>
              <a:t>e.getDesig</a:t>
            </a:r>
            <a:r>
              <a:rPr lang="en-IN" dirty="0"/>
              <a:t>());</a:t>
            </a:r>
          </a:p>
          <a:p>
            <a:r>
              <a:rPr lang="en-IN" dirty="0"/>
              <a:t>    }</a:t>
            </a:r>
          </a:p>
          <a:p>
            <a:r>
              <a:rPr lang="en-IN" dirty="0"/>
              <a:t>  }</a:t>
            </a:r>
          </a:p>
          <a:p>
            <a:r>
              <a:rPr lang="en-IN" dirty="0"/>
              <a:t>}</a:t>
            </a:r>
          </a:p>
        </p:txBody>
      </p:sp>
    </p:spTree>
    <p:extLst>
      <p:ext uri="{BB962C8B-B14F-4D97-AF65-F5344CB8AC3E}">
        <p14:creationId xmlns:p14="http://schemas.microsoft.com/office/powerpoint/2010/main" val="2794039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1900</TotalTime>
  <Words>1305</Words>
  <Application>Microsoft Office PowerPoint</Application>
  <PresentationFormat>Widescreen</PresentationFormat>
  <Paragraphs>173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104</cp:revision>
  <dcterms:created xsi:type="dcterms:W3CDTF">2021-09-13T09:22:41Z</dcterms:created>
  <dcterms:modified xsi:type="dcterms:W3CDTF">2022-09-21T09:24:27Z</dcterms:modified>
</cp:coreProperties>
</file>