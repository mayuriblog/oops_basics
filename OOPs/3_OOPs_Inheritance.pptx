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337" r:id="rId3"/>
    <p:sldId id="278" r:id="rId4"/>
    <p:sldId id="279" r:id="rId5"/>
    <p:sldId id="280" r:id="rId6"/>
    <p:sldId id="281" r:id="rId7"/>
    <p:sldId id="282" r:id="rId8"/>
    <p:sldId id="283" r:id="rId9"/>
    <p:sldId id="284" r:id="rId10"/>
    <p:sldId id="285" r:id="rId11"/>
    <p:sldId id="286" r:id="rId12"/>
    <p:sldId id="287" r:id="rId13"/>
    <p:sldId id="338" r:id="rId14"/>
    <p:sldId id="288" r:id="rId15"/>
    <p:sldId id="294" r:id="rId16"/>
    <p:sldId id="289" r:id="rId17"/>
    <p:sldId id="290" r:id="rId18"/>
    <p:sldId id="291" r:id="rId19"/>
    <p:sldId id="292" r:id="rId20"/>
    <p:sldId id="293" r:id="rId21"/>
    <p:sldId id="295" r:id="rId22"/>
    <p:sldId id="296" r:id="rId23"/>
    <p:sldId id="297" r:id="rId24"/>
    <p:sldId id="298" r:id="rId25"/>
    <p:sldId id="299" r:id="rId26"/>
    <p:sldId id="300" r:id="rId27"/>
    <p:sldId id="301" r:id="rId28"/>
    <p:sldId id="302" r:id="rId29"/>
    <p:sldId id="303" r:id="rId30"/>
    <p:sldId id="304" r:id="rId31"/>
    <p:sldId id="305" r:id="rId32"/>
    <p:sldId id="306" r:id="rId33"/>
    <p:sldId id="307" r:id="rId34"/>
    <p:sldId id="308" r:id="rId35"/>
    <p:sldId id="313" r:id="rId36"/>
    <p:sldId id="309" r:id="rId37"/>
    <p:sldId id="310" r:id="rId38"/>
    <p:sldId id="311" r:id="rId39"/>
    <p:sldId id="312" r:id="rId40"/>
    <p:sldId id="314" r:id="rId41"/>
    <p:sldId id="339" r:id="rId42"/>
    <p:sldId id="315" r:id="rId43"/>
    <p:sldId id="316" r:id="rId44"/>
    <p:sldId id="340" r:id="rId45"/>
    <p:sldId id="317" r:id="rId46"/>
    <p:sldId id="318" r:id="rId47"/>
    <p:sldId id="319"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EBEAD-CE7A-B43A-A3F8-D6988F5CB5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AC6C4ED-D836-0263-0340-8B3395699F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0EABA5D-0678-B7A3-D442-B8F3E001CB05}"/>
              </a:ext>
            </a:extLst>
          </p:cNvPr>
          <p:cNvSpPr>
            <a:spLocks noGrp="1"/>
          </p:cNvSpPr>
          <p:nvPr>
            <p:ph type="dt" sz="half" idx="10"/>
          </p:nvPr>
        </p:nvSpPr>
        <p:spPr/>
        <p:txBody>
          <a:bodyPr/>
          <a:lstStyle/>
          <a:p>
            <a:fld id="{B111FDB2-1D99-4B6F-B1B0-2EEDB16D8E70}" type="datetimeFigureOut">
              <a:rPr lang="en-IN" smtClean="0"/>
              <a:t>03-10-2022</a:t>
            </a:fld>
            <a:endParaRPr lang="en-IN"/>
          </a:p>
        </p:txBody>
      </p:sp>
      <p:sp>
        <p:nvSpPr>
          <p:cNvPr id="5" name="Footer Placeholder 4">
            <a:extLst>
              <a:ext uri="{FF2B5EF4-FFF2-40B4-BE49-F238E27FC236}">
                <a16:creationId xmlns:a16="http://schemas.microsoft.com/office/drawing/2014/main" id="{2B2457B6-6029-F5E0-7B05-A0C6859B3E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585C29-8DEC-6B07-4178-556A6B99B664}"/>
              </a:ext>
            </a:extLst>
          </p:cNvPr>
          <p:cNvSpPr>
            <a:spLocks noGrp="1"/>
          </p:cNvSpPr>
          <p:nvPr>
            <p:ph type="sldNum" sz="quarter" idx="12"/>
          </p:nvPr>
        </p:nvSpPr>
        <p:spPr/>
        <p:txBody>
          <a:bodyPr/>
          <a:lstStyle/>
          <a:p>
            <a:fld id="{2112C218-6888-40C1-8B67-F9FF87B48484}" type="slidenum">
              <a:rPr lang="en-IN" smtClean="0"/>
              <a:t>‹#›</a:t>
            </a:fld>
            <a:endParaRPr lang="en-IN"/>
          </a:p>
        </p:txBody>
      </p:sp>
    </p:spTree>
    <p:extLst>
      <p:ext uri="{BB962C8B-B14F-4D97-AF65-F5344CB8AC3E}">
        <p14:creationId xmlns:p14="http://schemas.microsoft.com/office/powerpoint/2010/main" val="232448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F862E-905E-2A88-C0E4-26A9BC447E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4EE627-CAA2-6852-0EFA-6EA6844C25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4FE72D-D9CB-2BD6-1549-442F675EF32C}"/>
              </a:ext>
            </a:extLst>
          </p:cNvPr>
          <p:cNvSpPr>
            <a:spLocks noGrp="1"/>
          </p:cNvSpPr>
          <p:nvPr>
            <p:ph type="dt" sz="half" idx="10"/>
          </p:nvPr>
        </p:nvSpPr>
        <p:spPr/>
        <p:txBody>
          <a:bodyPr/>
          <a:lstStyle/>
          <a:p>
            <a:fld id="{B111FDB2-1D99-4B6F-B1B0-2EEDB16D8E70}" type="datetimeFigureOut">
              <a:rPr lang="en-IN" smtClean="0"/>
              <a:t>03-10-2022</a:t>
            </a:fld>
            <a:endParaRPr lang="en-IN"/>
          </a:p>
        </p:txBody>
      </p:sp>
      <p:sp>
        <p:nvSpPr>
          <p:cNvPr id="5" name="Footer Placeholder 4">
            <a:extLst>
              <a:ext uri="{FF2B5EF4-FFF2-40B4-BE49-F238E27FC236}">
                <a16:creationId xmlns:a16="http://schemas.microsoft.com/office/drawing/2014/main" id="{BD85F690-B6EA-17B9-0B7A-0A26827F34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1191EB-E34E-F7B8-9BFF-58E6F99F0041}"/>
              </a:ext>
            </a:extLst>
          </p:cNvPr>
          <p:cNvSpPr>
            <a:spLocks noGrp="1"/>
          </p:cNvSpPr>
          <p:nvPr>
            <p:ph type="sldNum" sz="quarter" idx="12"/>
          </p:nvPr>
        </p:nvSpPr>
        <p:spPr/>
        <p:txBody>
          <a:bodyPr/>
          <a:lstStyle/>
          <a:p>
            <a:fld id="{2112C218-6888-40C1-8B67-F9FF87B48484}" type="slidenum">
              <a:rPr lang="en-IN" smtClean="0"/>
              <a:t>‹#›</a:t>
            </a:fld>
            <a:endParaRPr lang="en-IN"/>
          </a:p>
        </p:txBody>
      </p:sp>
    </p:spTree>
    <p:extLst>
      <p:ext uri="{BB962C8B-B14F-4D97-AF65-F5344CB8AC3E}">
        <p14:creationId xmlns:p14="http://schemas.microsoft.com/office/powerpoint/2010/main" val="3587526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03CEC-344A-BFD8-64F5-C24172762E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1DA9E8F-D3E2-DC96-69ED-91EAFC49F4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A27264-52CF-D814-8EA6-46865A55A12A}"/>
              </a:ext>
            </a:extLst>
          </p:cNvPr>
          <p:cNvSpPr>
            <a:spLocks noGrp="1"/>
          </p:cNvSpPr>
          <p:nvPr>
            <p:ph type="dt" sz="half" idx="10"/>
          </p:nvPr>
        </p:nvSpPr>
        <p:spPr/>
        <p:txBody>
          <a:bodyPr/>
          <a:lstStyle/>
          <a:p>
            <a:fld id="{B111FDB2-1D99-4B6F-B1B0-2EEDB16D8E70}" type="datetimeFigureOut">
              <a:rPr lang="en-IN" smtClean="0"/>
              <a:t>03-10-2022</a:t>
            </a:fld>
            <a:endParaRPr lang="en-IN"/>
          </a:p>
        </p:txBody>
      </p:sp>
      <p:sp>
        <p:nvSpPr>
          <p:cNvPr id="5" name="Footer Placeholder 4">
            <a:extLst>
              <a:ext uri="{FF2B5EF4-FFF2-40B4-BE49-F238E27FC236}">
                <a16:creationId xmlns:a16="http://schemas.microsoft.com/office/drawing/2014/main" id="{066E1EAB-30BE-BAF3-92EB-F6EC46B232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A12CE4-AF42-EC66-D766-C1AB5194F2BF}"/>
              </a:ext>
            </a:extLst>
          </p:cNvPr>
          <p:cNvSpPr>
            <a:spLocks noGrp="1"/>
          </p:cNvSpPr>
          <p:nvPr>
            <p:ph type="sldNum" sz="quarter" idx="12"/>
          </p:nvPr>
        </p:nvSpPr>
        <p:spPr/>
        <p:txBody>
          <a:bodyPr/>
          <a:lstStyle/>
          <a:p>
            <a:fld id="{2112C218-6888-40C1-8B67-F9FF87B48484}" type="slidenum">
              <a:rPr lang="en-IN" smtClean="0"/>
              <a:t>‹#›</a:t>
            </a:fld>
            <a:endParaRPr lang="en-IN"/>
          </a:p>
        </p:txBody>
      </p:sp>
    </p:spTree>
    <p:extLst>
      <p:ext uri="{BB962C8B-B14F-4D97-AF65-F5344CB8AC3E}">
        <p14:creationId xmlns:p14="http://schemas.microsoft.com/office/powerpoint/2010/main" val="217175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35D6E-E553-2213-658B-3A93E133AD2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D1B9D8-492F-A3BB-90C2-97389E92D1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2B9E13E-7FAD-22F6-7484-C78D328F12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898AD70-BC1C-281A-FF1D-9C97AA2BBE09}"/>
              </a:ext>
            </a:extLst>
          </p:cNvPr>
          <p:cNvSpPr>
            <a:spLocks noGrp="1"/>
          </p:cNvSpPr>
          <p:nvPr>
            <p:ph type="dt" sz="half" idx="10"/>
          </p:nvPr>
        </p:nvSpPr>
        <p:spPr/>
        <p:txBody>
          <a:bodyPr/>
          <a:lstStyle/>
          <a:p>
            <a:fld id="{B111FDB2-1D99-4B6F-B1B0-2EEDB16D8E70}" type="datetimeFigureOut">
              <a:rPr lang="en-IN" smtClean="0"/>
              <a:t>03-10-2022</a:t>
            </a:fld>
            <a:endParaRPr lang="en-IN"/>
          </a:p>
        </p:txBody>
      </p:sp>
      <p:sp>
        <p:nvSpPr>
          <p:cNvPr id="6" name="Footer Placeholder 5">
            <a:extLst>
              <a:ext uri="{FF2B5EF4-FFF2-40B4-BE49-F238E27FC236}">
                <a16:creationId xmlns:a16="http://schemas.microsoft.com/office/drawing/2014/main" id="{20C6EFE7-DCF0-E617-4C01-01692E8EFE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223247-0746-0E01-AD37-456E01D3385F}"/>
              </a:ext>
            </a:extLst>
          </p:cNvPr>
          <p:cNvSpPr>
            <a:spLocks noGrp="1"/>
          </p:cNvSpPr>
          <p:nvPr>
            <p:ph type="sldNum" sz="quarter" idx="12"/>
          </p:nvPr>
        </p:nvSpPr>
        <p:spPr/>
        <p:txBody>
          <a:bodyPr/>
          <a:lstStyle/>
          <a:p>
            <a:fld id="{2112C218-6888-40C1-8B67-F9FF87B48484}" type="slidenum">
              <a:rPr lang="en-IN" smtClean="0"/>
              <a:t>‹#›</a:t>
            </a:fld>
            <a:endParaRPr lang="en-IN"/>
          </a:p>
        </p:txBody>
      </p:sp>
    </p:spTree>
    <p:extLst>
      <p:ext uri="{BB962C8B-B14F-4D97-AF65-F5344CB8AC3E}">
        <p14:creationId xmlns:p14="http://schemas.microsoft.com/office/powerpoint/2010/main" val="1563999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29301-69F4-9C32-776E-48242B154F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B1BF2D-506A-4CE6-C83A-5C8C15FE99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91C5F0-F39A-31A4-C794-4C44646EA8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D59E239-4825-5FDA-5AC0-09E4844BD9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9DE673-4CB2-0EE7-E791-8868908AF3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C156EF9-6785-AAF7-FA87-581C026D2ACE}"/>
              </a:ext>
            </a:extLst>
          </p:cNvPr>
          <p:cNvSpPr>
            <a:spLocks noGrp="1"/>
          </p:cNvSpPr>
          <p:nvPr>
            <p:ph type="dt" sz="half" idx="10"/>
          </p:nvPr>
        </p:nvSpPr>
        <p:spPr/>
        <p:txBody>
          <a:bodyPr/>
          <a:lstStyle/>
          <a:p>
            <a:fld id="{B111FDB2-1D99-4B6F-B1B0-2EEDB16D8E70}" type="datetimeFigureOut">
              <a:rPr lang="en-IN" smtClean="0"/>
              <a:t>03-10-2022</a:t>
            </a:fld>
            <a:endParaRPr lang="en-IN"/>
          </a:p>
        </p:txBody>
      </p:sp>
      <p:sp>
        <p:nvSpPr>
          <p:cNvPr id="8" name="Footer Placeholder 7">
            <a:extLst>
              <a:ext uri="{FF2B5EF4-FFF2-40B4-BE49-F238E27FC236}">
                <a16:creationId xmlns:a16="http://schemas.microsoft.com/office/drawing/2014/main" id="{8DE586B3-C946-9E59-8829-70E9912F3F5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F809921-77BC-380C-498E-8067EBCCC94A}"/>
              </a:ext>
            </a:extLst>
          </p:cNvPr>
          <p:cNvSpPr>
            <a:spLocks noGrp="1"/>
          </p:cNvSpPr>
          <p:nvPr>
            <p:ph type="sldNum" sz="quarter" idx="12"/>
          </p:nvPr>
        </p:nvSpPr>
        <p:spPr/>
        <p:txBody>
          <a:bodyPr/>
          <a:lstStyle/>
          <a:p>
            <a:fld id="{2112C218-6888-40C1-8B67-F9FF87B48484}" type="slidenum">
              <a:rPr lang="en-IN" smtClean="0"/>
              <a:t>‹#›</a:t>
            </a:fld>
            <a:endParaRPr lang="en-IN"/>
          </a:p>
        </p:txBody>
      </p:sp>
    </p:spTree>
    <p:extLst>
      <p:ext uri="{BB962C8B-B14F-4D97-AF65-F5344CB8AC3E}">
        <p14:creationId xmlns:p14="http://schemas.microsoft.com/office/powerpoint/2010/main" val="3919322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69373-FD7A-232A-FAC2-C8303443990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3E68F6C-3B40-8378-78F0-F4CD1D2CB8BC}"/>
              </a:ext>
            </a:extLst>
          </p:cNvPr>
          <p:cNvSpPr>
            <a:spLocks noGrp="1"/>
          </p:cNvSpPr>
          <p:nvPr>
            <p:ph type="dt" sz="half" idx="10"/>
          </p:nvPr>
        </p:nvSpPr>
        <p:spPr/>
        <p:txBody>
          <a:bodyPr/>
          <a:lstStyle/>
          <a:p>
            <a:fld id="{B111FDB2-1D99-4B6F-B1B0-2EEDB16D8E70}" type="datetimeFigureOut">
              <a:rPr lang="en-IN" smtClean="0"/>
              <a:t>03-10-2022</a:t>
            </a:fld>
            <a:endParaRPr lang="en-IN"/>
          </a:p>
        </p:txBody>
      </p:sp>
      <p:sp>
        <p:nvSpPr>
          <p:cNvPr id="4" name="Footer Placeholder 3">
            <a:extLst>
              <a:ext uri="{FF2B5EF4-FFF2-40B4-BE49-F238E27FC236}">
                <a16:creationId xmlns:a16="http://schemas.microsoft.com/office/drawing/2014/main" id="{7929BAD3-4634-33EC-C61A-31860020554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9D9359B-43AC-3C0C-4F65-F217673A00A3}"/>
              </a:ext>
            </a:extLst>
          </p:cNvPr>
          <p:cNvSpPr>
            <a:spLocks noGrp="1"/>
          </p:cNvSpPr>
          <p:nvPr>
            <p:ph type="sldNum" sz="quarter" idx="12"/>
          </p:nvPr>
        </p:nvSpPr>
        <p:spPr/>
        <p:txBody>
          <a:bodyPr/>
          <a:lstStyle/>
          <a:p>
            <a:fld id="{2112C218-6888-40C1-8B67-F9FF87B48484}" type="slidenum">
              <a:rPr lang="en-IN" smtClean="0"/>
              <a:t>‹#›</a:t>
            </a:fld>
            <a:endParaRPr lang="en-IN"/>
          </a:p>
        </p:txBody>
      </p:sp>
    </p:spTree>
    <p:extLst>
      <p:ext uri="{BB962C8B-B14F-4D97-AF65-F5344CB8AC3E}">
        <p14:creationId xmlns:p14="http://schemas.microsoft.com/office/powerpoint/2010/main" val="3317256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FA18FC-D2D2-8235-8653-CD70202BDA73}"/>
              </a:ext>
            </a:extLst>
          </p:cNvPr>
          <p:cNvSpPr>
            <a:spLocks noGrp="1"/>
          </p:cNvSpPr>
          <p:nvPr>
            <p:ph type="dt" sz="half" idx="10"/>
          </p:nvPr>
        </p:nvSpPr>
        <p:spPr/>
        <p:txBody>
          <a:bodyPr/>
          <a:lstStyle/>
          <a:p>
            <a:fld id="{B111FDB2-1D99-4B6F-B1B0-2EEDB16D8E70}" type="datetimeFigureOut">
              <a:rPr lang="en-IN" smtClean="0"/>
              <a:t>03-10-2022</a:t>
            </a:fld>
            <a:endParaRPr lang="en-IN"/>
          </a:p>
        </p:txBody>
      </p:sp>
      <p:sp>
        <p:nvSpPr>
          <p:cNvPr id="3" name="Footer Placeholder 2">
            <a:extLst>
              <a:ext uri="{FF2B5EF4-FFF2-40B4-BE49-F238E27FC236}">
                <a16:creationId xmlns:a16="http://schemas.microsoft.com/office/drawing/2014/main" id="{64C575D4-2C28-83FF-CB29-C5C4F9BE709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D848E4-0B8B-254C-6D7E-93E8866DAFFE}"/>
              </a:ext>
            </a:extLst>
          </p:cNvPr>
          <p:cNvSpPr>
            <a:spLocks noGrp="1"/>
          </p:cNvSpPr>
          <p:nvPr>
            <p:ph type="sldNum" sz="quarter" idx="12"/>
          </p:nvPr>
        </p:nvSpPr>
        <p:spPr/>
        <p:txBody>
          <a:bodyPr/>
          <a:lstStyle/>
          <a:p>
            <a:fld id="{2112C218-6888-40C1-8B67-F9FF87B48484}" type="slidenum">
              <a:rPr lang="en-IN" smtClean="0"/>
              <a:t>‹#›</a:t>
            </a:fld>
            <a:endParaRPr lang="en-IN"/>
          </a:p>
        </p:txBody>
      </p:sp>
    </p:spTree>
    <p:extLst>
      <p:ext uri="{BB962C8B-B14F-4D97-AF65-F5344CB8AC3E}">
        <p14:creationId xmlns:p14="http://schemas.microsoft.com/office/powerpoint/2010/main" val="494366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81C48-EE43-8C2E-DCF9-5088FF4C1C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5E44C1A-FA6B-D60C-8E7F-CE7DFCEADE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8128E05-88CD-F449-16FE-4BF91B5ABD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6B7F23-1F7E-019C-14FA-456A1DE2AE96}"/>
              </a:ext>
            </a:extLst>
          </p:cNvPr>
          <p:cNvSpPr>
            <a:spLocks noGrp="1"/>
          </p:cNvSpPr>
          <p:nvPr>
            <p:ph type="dt" sz="half" idx="10"/>
          </p:nvPr>
        </p:nvSpPr>
        <p:spPr/>
        <p:txBody>
          <a:bodyPr/>
          <a:lstStyle/>
          <a:p>
            <a:fld id="{B111FDB2-1D99-4B6F-B1B0-2EEDB16D8E70}" type="datetimeFigureOut">
              <a:rPr lang="en-IN" smtClean="0"/>
              <a:t>03-10-2022</a:t>
            </a:fld>
            <a:endParaRPr lang="en-IN"/>
          </a:p>
        </p:txBody>
      </p:sp>
      <p:sp>
        <p:nvSpPr>
          <p:cNvPr id="6" name="Footer Placeholder 5">
            <a:extLst>
              <a:ext uri="{FF2B5EF4-FFF2-40B4-BE49-F238E27FC236}">
                <a16:creationId xmlns:a16="http://schemas.microsoft.com/office/drawing/2014/main" id="{38A26091-895B-93A2-1392-1124DA0245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36CE08-D306-F523-DE86-31984C061BD8}"/>
              </a:ext>
            </a:extLst>
          </p:cNvPr>
          <p:cNvSpPr>
            <a:spLocks noGrp="1"/>
          </p:cNvSpPr>
          <p:nvPr>
            <p:ph type="sldNum" sz="quarter" idx="12"/>
          </p:nvPr>
        </p:nvSpPr>
        <p:spPr/>
        <p:txBody>
          <a:bodyPr/>
          <a:lstStyle/>
          <a:p>
            <a:fld id="{2112C218-6888-40C1-8B67-F9FF87B48484}" type="slidenum">
              <a:rPr lang="en-IN" smtClean="0"/>
              <a:t>‹#›</a:t>
            </a:fld>
            <a:endParaRPr lang="en-IN"/>
          </a:p>
        </p:txBody>
      </p:sp>
    </p:spTree>
    <p:extLst>
      <p:ext uri="{BB962C8B-B14F-4D97-AF65-F5344CB8AC3E}">
        <p14:creationId xmlns:p14="http://schemas.microsoft.com/office/powerpoint/2010/main" val="1644175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2BE95-1787-F498-A132-10C05D3FE7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68279C8-5E2B-A3F4-A767-68AE916FCA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FC571F4-EC6B-E378-7CBB-16A534E1BC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66F42C-450C-BEC1-9B70-45C35489A0BE}"/>
              </a:ext>
            </a:extLst>
          </p:cNvPr>
          <p:cNvSpPr>
            <a:spLocks noGrp="1"/>
          </p:cNvSpPr>
          <p:nvPr>
            <p:ph type="dt" sz="half" idx="10"/>
          </p:nvPr>
        </p:nvSpPr>
        <p:spPr/>
        <p:txBody>
          <a:bodyPr/>
          <a:lstStyle/>
          <a:p>
            <a:fld id="{B111FDB2-1D99-4B6F-B1B0-2EEDB16D8E70}" type="datetimeFigureOut">
              <a:rPr lang="en-IN" smtClean="0"/>
              <a:t>03-10-2022</a:t>
            </a:fld>
            <a:endParaRPr lang="en-IN"/>
          </a:p>
        </p:txBody>
      </p:sp>
      <p:sp>
        <p:nvSpPr>
          <p:cNvPr id="6" name="Footer Placeholder 5">
            <a:extLst>
              <a:ext uri="{FF2B5EF4-FFF2-40B4-BE49-F238E27FC236}">
                <a16:creationId xmlns:a16="http://schemas.microsoft.com/office/drawing/2014/main" id="{D3A9CDD6-3E99-FBC4-3554-B8BA026C64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080144-BB32-4EB5-4255-9EF05E87449B}"/>
              </a:ext>
            </a:extLst>
          </p:cNvPr>
          <p:cNvSpPr>
            <a:spLocks noGrp="1"/>
          </p:cNvSpPr>
          <p:nvPr>
            <p:ph type="sldNum" sz="quarter" idx="12"/>
          </p:nvPr>
        </p:nvSpPr>
        <p:spPr/>
        <p:txBody>
          <a:bodyPr/>
          <a:lstStyle/>
          <a:p>
            <a:fld id="{2112C218-6888-40C1-8B67-F9FF87B48484}" type="slidenum">
              <a:rPr lang="en-IN" smtClean="0"/>
              <a:t>‹#›</a:t>
            </a:fld>
            <a:endParaRPr lang="en-IN"/>
          </a:p>
        </p:txBody>
      </p:sp>
    </p:spTree>
    <p:extLst>
      <p:ext uri="{BB962C8B-B14F-4D97-AF65-F5344CB8AC3E}">
        <p14:creationId xmlns:p14="http://schemas.microsoft.com/office/powerpoint/2010/main" val="1869823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DD764-1721-0CE9-4E55-9F85EB30A72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0F9CF8-B174-343F-4F9A-FE97EFF622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149C26-5DB9-1B52-9FA6-0C473764C7A2}"/>
              </a:ext>
            </a:extLst>
          </p:cNvPr>
          <p:cNvSpPr>
            <a:spLocks noGrp="1"/>
          </p:cNvSpPr>
          <p:nvPr>
            <p:ph type="dt" sz="half" idx="10"/>
          </p:nvPr>
        </p:nvSpPr>
        <p:spPr/>
        <p:txBody>
          <a:bodyPr/>
          <a:lstStyle/>
          <a:p>
            <a:fld id="{B111FDB2-1D99-4B6F-B1B0-2EEDB16D8E70}" type="datetimeFigureOut">
              <a:rPr lang="en-IN" smtClean="0"/>
              <a:t>03-10-2022</a:t>
            </a:fld>
            <a:endParaRPr lang="en-IN"/>
          </a:p>
        </p:txBody>
      </p:sp>
      <p:sp>
        <p:nvSpPr>
          <p:cNvPr id="5" name="Footer Placeholder 4">
            <a:extLst>
              <a:ext uri="{FF2B5EF4-FFF2-40B4-BE49-F238E27FC236}">
                <a16:creationId xmlns:a16="http://schemas.microsoft.com/office/drawing/2014/main" id="{DF436EFD-D87B-7DC9-A930-DE553BCB31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602CEF-6CD6-8A3C-3BBC-CFFE3D993191}"/>
              </a:ext>
            </a:extLst>
          </p:cNvPr>
          <p:cNvSpPr>
            <a:spLocks noGrp="1"/>
          </p:cNvSpPr>
          <p:nvPr>
            <p:ph type="sldNum" sz="quarter" idx="12"/>
          </p:nvPr>
        </p:nvSpPr>
        <p:spPr/>
        <p:txBody>
          <a:bodyPr/>
          <a:lstStyle/>
          <a:p>
            <a:fld id="{2112C218-6888-40C1-8B67-F9FF87B48484}" type="slidenum">
              <a:rPr lang="en-IN" smtClean="0"/>
              <a:t>‹#›</a:t>
            </a:fld>
            <a:endParaRPr lang="en-IN"/>
          </a:p>
        </p:txBody>
      </p:sp>
    </p:spTree>
    <p:extLst>
      <p:ext uri="{BB962C8B-B14F-4D97-AF65-F5344CB8AC3E}">
        <p14:creationId xmlns:p14="http://schemas.microsoft.com/office/powerpoint/2010/main" val="3748126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D113D6-2460-E044-EE6A-3D4DA9F4BD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949529-63B5-D4DF-FDEA-B3257F6F87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B07479-4DFD-F943-7470-6D3D61F426C3}"/>
              </a:ext>
            </a:extLst>
          </p:cNvPr>
          <p:cNvSpPr>
            <a:spLocks noGrp="1"/>
          </p:cNvSpPr>
          <p:nvPr>
            <p:ph type="dt" sz="half" idx="10"/>
          </p:nvPr>
        </p:nvSpPr>
        <p:spPr/>
        <p:txBody>
          <a:bodyPr/>
          <a:lstStyle/>
          <a:p>
            <a:fld id="{B111FDB2-1D99-4B6F-B1B0-2EEDB16D8E70}" type="datetimeFigureOut">
              <a:rPr lang="en-IN" smtClean="0"/>
              <a:t>03-10-2022</a:t>
            </a:fld>
            <a:endParaRPr lang="en-IN"/>
          </a:p>
        </p:txBody>
      </p:sp>
      <p:sp>
        <p:nvSpPr>
          <p:cNvPr id="5" name="Footer Placeholder 4">
            <a:extLst>
              <a:ext uri="{FF2B5EF4-FFF2-40B4-BE49-F238E27FC236}">
                <a16:creationId xmlns:a16="http://schemas.microsoft.com/office/drawing/2014/main" id="{618C9326-B705-8F49-2070-54B58C3413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440762-CBE1-4C9F-2BA5-795F9FD556FB}"/>
              </a:ext>
            </a:extLst>
          </p:cNvPr>
          <p:cNvSpPr>
            <a:spLocks noGrp="1"/>
          </p:cNvSpPr>
          <p:nvPr>
            <p:ph type="sldNum" sz="quarter" idx="12"/>
          </p:nvPr>
        </p:nvSpPr>
        <p:spPr/>
        <p:txBody>
          <a:bodyPr/>
          <a:lstStyle/>
          <a:p>
            <a:fld id="{2112C218-6888-40C1-8B67-F9FF87B48484}" type="slidenum">
              <a:rPr lang="en-IN" smtClean="0"/>
              <a:t>‹#›</a:t>
            </a:fld>
            <a:endParaRPr lang="en-IN"/>
          </a:p>
        </p:txBody>
      </p:sp>
    </p:spTree>
    <p:extLst>
      <p:ext uri="{BB962C8B-B14F-4D97-AF65-F5344CB8AC3E}">
        <p14:creationId xmlns:p14="http://schemas.microsoft.com/office/powerpoint/2010/main" val="1200717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50C444-A1C7-A978-FED5-8C01C4CED0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8838E5-96BD-4EFF-4593-D03123CBEC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B482D5-0CD3-39F7-B171-D488B46E47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11FDB2-1D99-4B6F-B1B0-2EEDB16D8E70}" type="datetimeFigureOut">
              <a:rPr lang="en-IN" smtClean="0"/>
              <a:t>03-10-2022</a:t>
            </a:fld>
            <a:endParaRPr lang="en-IN"/>
          </a:p>
        </p:txBody>
      </p:sp>
      <p:sp>
        <p:nvSpPr>
          <p:cNvPr id="5" name="Footer Placeholder 4">
            <a:extLst>
              <a:ext uri="{FF2B5EF4-FFF2-40B4-BE49-F238E27FC236}">
                <a16:creationId xmlns:a16="http://schemas.microsoft.com/office/drawing/2014/main" id="{8CAB325E-14E3-DDC2-1773-6BA3D5C77E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9659D91-40C1-D292-275F-BB9D54DB38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12C218-6888-40C1-8B67-F9FF87B48484}" type="slidenum">
              <a:rPr lang="en-IN" smtClean="0"/>
              <a:t>‹#›</a:t>
            </a:fld>
            <a:endParaRPr lang="en-IN"/>
          </a:p>
        </p:txBody>
      </p:sp>
    </p:spTree>
    <p:extLst>
      <p:ext uri="{BB962C8B-B14F-4D97-AF65-F5344CB8AC3E}">
        <p14:creationId xmlns:p14="http://schemas.microsoft.com/office/powerpoint/2010/main" val="29398782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 IS-A Relationship)</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902BFF"/>
                  </a:solidFill>
                </a:ln>
                <a:solidFill>
                  <a:srgbClr val="902BFF"/>
                </a:solidFill>
              </a:endParaRPr>
            </a:p>
          </p:txBody>
        </p:sp>
      </p:grpSp>
      <p:sp>
        <p:nvSpPr>
          <p:cNvPr id="7" name="TextBox 6">
            <a:extLst>
              <a:ext uri="{FF2B5EF4-FFF2-40B4-BE49-F238E27FC236}">
                <a16:creationId xmlns:a16="http://schemas.microsoft.com/office/drawing/2014/main" id="{CBD6C507-FA05-D26A-6C47-AB7931940B05}"/>
              </a:ext>
            </a:extLst>
          </p:cNvPr>
          <p:cNvSpPr txBox="1"/>
          <p:nvPr/>
        </p:nvSpPr>
        <p:spPr>
          <a:xfrm>
            <a:off x="450436" y="902597"/>
            <a:ext cx="8587754" cy="5478423"/>
          </a:xfrm>
          <a:prstGeom prst="rect">
            <a:avLst/>
          </a:prstGeom>
          <a:noFill/>
        </p:spPr>
        <p:txBody>
          <a:bodyPr wrap="square" rtlCol="0">
            <a:spAutoFit/>
          </a:bodyPr>
          <a:lstStyle/>
          <a:p>
            <a:pPr algn="ctr"/>
            <a:r>
              <a:rPr lang="en-US" sz="6000" b="1" dirty="0">
                <a:solidFill>
                  <a:srgbClr val="0000FF"/>
                </a:solidFill>
                <a:cs typeface="Arial" panose="020B0604020202020204" pitchFamily="34" charset="0"/>
              </a:rPr>
              <a:t>OOPs in</a:t>
            </a:r>
            <a:r>
              <a:rPr lang="en-US" sz="8000" b="1" dirty="0">
                <a:solidFill>
                  <a:srgbClr val="0000FF"/>
                </a:solidFill>
                <a:cs typeface="Arial" panose="020B0604020202020204" pitchFamily="34" charset="0"/>
              </a:rPr>
              <a:t> </a:t>
            </a:r>
            <a:endParaRPr lang="en-US" sz="6600" b="1" dirty="0">
              <a:solidFill>
                <a:srgbClr val="0000FF"/>
              </a:solidFill>
              <a:cs typeface="Arial" panose="020B0604020202020204" pitchFamily="34" charset="0"/>
            </a:endParaRPr>
          </a:p>
          <a:p>
            <a:pPr algn="ctr"/>
            <a:r>
              <a:rPr lang="en-US" sz="13800" b="1" dirty="0">
                <a:solidFill>
                  <a:srgbClr val="0000FF"/>
                </a:solidFill>
                <a:cs typeface="Arial" panose="020B0604020202020204" pitchFamily="34" charset="0"/>
              </a:rPr>
              <a:t>Java</a:t>
            </a:r>
            <a:endParaRPr lang="en-US" sz="6600" b="1" dirty="0">
              <a:solidFill>
                <a:srgbClr val="0000FF"/>
              </a:solidFill>
              <a:cs typeface="Arial" panose="020B0604020202020204" pitchFamily="34" charset="0"/>
            </a:endParaRPr>
          </a:p>
          <a:p>
            <a:pPr algn="ctr"/>
            <a:r>
              <a:rPr lang="en-US" sz="4400" b="1" dirty="0">
                <a:solidFill>
                  <a:srgbClr val="0000FF"/>
                </a:solidFill>
                <a:cs typeface="Arial" panose="020B0604020202020204" pitchFamily="34" charset="0"/>
              </a:rPr>
              <a:t>(Inheritance)</a:t>
            </a:r>
          </a:p>
          <a:p>
            <a:pPr algn="ctr"/>
            <a:r>
              <a:rPr lang="en-US" sz="4400" b="1" dirty="0">
                <a:solidFill>
                  <a:srgbClr val="0000FF"/>
                </a:solidFill>
                <a:cs typeface="Arial" panose="020B0604020202020204" pitchFamily="34" charset="0"/>
              </a:rPr>
              <a:t>-</a:t>
            </a:r>
          </a:p>
          <a:p>
            <a:pPr algn="ctr"/>
            <a:r>
              <a:rPr lang="en-US" sz="4400" b="1" dirty="0">
                <a:solidFill>
                  <a:srgbClr val="0000FF"/>
                </a:solidFill>
                <a:cs typeface="Arial" panose="020B0604020202020204" pitchFamily="34" charset="0"/>
              </a:rPr>
              <a:t>Part - III</a:t>
            </a:r>
          </a:p>
        </p:txBody>
      </p:sp>
    </p:spTree>
    <p:extLst>
      <p:ext uri="{BB962C8B-B14F-4D97-AF65-F5344CB8AC3E}">
        <p14:creationId xmlns:p14="http://schemas.microsoft.com/office/powerpoint/2010/main" val="1965086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 IS-A Relationship)</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5FBD4B87-8EA2-4146-A710-810B3E1A68E3}"/>
              </a:ext>
            </a:extLst>
          </p:cNvPr>
          <p:cNvSpPr txBox="1"/>
          <p:nvPr/>
        </p:nvSpPr>
        <p:spPr>
          <a:xfrm>
            <a:off x="324371" y="690394"/>
            <a:ext cx="9999071" cy="1200329"/>
          </a:xfrm>
          <a:prstGeom prst="rect">
            <a:avLst/>
          </a:prstGeom>
          <a:noFill/>
        </p:spPr>
        <p:txBody>
          <a:bodyPr wrap="square">
            <a:spAutoFit/>
          </a:bodyPr>
          <a:lstStyle/>
          <a:p>
            <a:r>
              <a:rPr lang="en-IN" b="1" dirty="0"/>
              <a:t>Definition:</a:t>
            </a:r>
          </a:p>
          <a:p>
            <a:r>
              <a:rPr lang="en-IN" dirty="0"/>
              <a:t>	Inheritance mechanism deals with deriving one class from another class.</a:t>
            </a:r>
          </a:p>
          <a:p>
            <a:r>
              <a:rPr lang="en-IN" b="1" dirty="0"/>
              <a:t>Purpose:</a:t>
            </a:r>
          </a:p>
          <a:p>
            <a:r>
              <a:rPr lang="en-IN" dirty="0"/>
              <a:t>	To mainly achieve reusability of code, extendibility</a:t>
            </a:r>
          </a:p>
        </p:txBody>
      </p:sp>
      <p:sp>
        <p:nvSpPr>
          <p:cNvPr id="19" name="TextBox 18">
            <a:extLst>
              <a:ext uri="{FF2B5EF4-FFF2-40B4-BE49-F238E27FC236}">
                <a16:creationId xmlns:a16="http://schemas.microsoft.com/office/drawing/2014/main" id="{51EB5AD7-A576-4FA9-8101-8540249B0554}"/>
              </a:ext>
            </a:extLst>
          </p:cNvPr>
          <p:cNvSpPr txBox="1"/>
          <p:nvPr/>
        </p:nvSpPr>
        <p:spPr>
          <a:xfrm>
            <a:off x="371062" y="1803531"/>
            <a:ext cx="9043644" cy="4801314"/>
          </a:xfrm>
          <a:prstGeom prst="rect">
            <a:avLst/>
          </a:prstGeom>
          <a:noFill/>
        </p:spPr>
        <p:txBody>
          <a:bodyPr wrap="square">
            <a:spAutoFit/>
          </a:bodyPr>
          <a:lstStyle/>
          <a:p>
            <a:pPr algn="just"/>
            <a:r>
              <a:rPr lang="en-IN" b="1" dirty="0"/>
              <a:t>When to use:</a:t>
            </a:r>
          </a:p>
          <a:p>
            <a:pPr algn="just"/>
            <a:r>
              <a:rPr lang="en-IN" dirty="0"/>
              <a:t>	- If we want to write our own wrapper class, the class must extend from Number super class.</a:t>
            </a:r>
          </a:p>
          <a:p>
            <a:pPr algn="just"/>
            <a:r>
              <a:rPr lang="en-IN" dirty="0"/>
              <a:t>	- If we want to write my our Thread classes, then the class must extend from Thread class or implements from Runnable interface</a:t>
            </a:r>
          </a:p>
          <a:p>
            <a:pPr algn="just"/>
            <a:r>
              <a:rPr lang="en-IN" dirty="0"/>
              <a:t>	- If we want to write our own exception class, then the class must extend from Exception or </a:t>
            </a:r>
            <a:r>
              <a:rPr lang="en-IN" dirty="0" err="1"/>
              <a:t>RuntimeException</a:t>
            </a:r>
            <a:endParaRPr lang="en-IN" dirty="0"/>
          </a:p>
          <a:p>
            <a:pPr algn="just"/>
            <a:r>
              <a:rPr lang="en-IN" dirty="0"/>
              <a:t>	- If we want to write our own Collection classes like </a:t>
            </a:r>
            <a:r>
              <a:rPr lang="en-IN" dirty="0" err="1"/>
              <a:t>ArrayList</a:t>
            </a:r>
            <a:r>
              <a:rPr lang="en-IN" dirty="0"/>
              <a:t>, HashSet, </a:t>
            </a:r>
            <a:r>
              <a:rPr lang="en-IN" dirty="0" err="1"/>
              <a:t>TreeSet</a:t>
            </a:r>
            <a:r>
              <a:rPr lang="en-IN" dirty="0"/>
              <a:t>, </a:t>
            </a:r>
            <a:r>
              <a:rPr lang="en-IN" dirty="0" err="1"/>
              <a:t>TreeMap</a:t>
            </a:r>
            <a:r>
              <a:rPr lang="en-IN" dirty="0"/>
              <a:t>, HashMap, then my class must implement from Collection interface or must extend from </a:t>
            </a:r>
            <a:r>
              <a:rPr lang="en-IN" dirty="0" err="1"/>
              <a:t>AbstractCollection</a:t>
            </a:r>
            <a:endParaRPr lang="en-IN" dirty="0"/>
          </a:p>
          <a:p>
            <a:pPr algn="just"/>
            <a:r>
              <a:rPr lang="en-IN" dirty="0"/>
              <a:t>	- If we want to develop our own UI Component class like Label, </a:t>
            </a:r>
            <a:r>
              <a:rPr lang="en-IN" dirty="0" err="1"/>
              <a:t>TextField</a:t>
            </a:r>
            <a:r>
              <a:rPr lang="en-IN" dirty="0"/>
              <a:t>, </a:t>
            </a:r>
            <a:r>
              <a:rPr lang="en-IN" dirty="0" err="1"/>
              <a:t>TextArea</a:t>
            </a:r>
            <a:r>
              <a:rPr lang="en-IN" dirty="0"/>
              <a:t>, Checkbox, List, Scrollbar, Menu, </a:t>
            </a:r>
            <a:r>
              <a:rPr lang="en-IN" dirty="0" err="1"/>
              <a:t>MenuItem</a:t>
            </a:r>
            <a:r>
              <a:rPr lang="en-IN" dirty="0"/>
              <a:t>, </a:t>
            </a:r>
            <a:r>
              <a:rPr lang="en-IN" dirty="0" err="1"/>
              <a:t>MenuBar</a:t>
            </a:r>
            <a:r>
              <a:rPr lang="en-IN" dirty="0"/>
              <a:t>, then my class extend from Component class</a:t>
            </a:r>
          </a:p>
          <a:p>
            <a:pPr algn="just"/>
            <a:r>
              <a:rPr lang="en-IN" dirty="0"/>
              <a:t>	- If we want to create UI application then write a class that extend from Frame or </a:t>
            </a:r>
            <a:r>
              <a:rPr lang="en-IN" dirty="0" err="1"/>
              <a:t>JFrame</a:t>
            </a:r>
            <a:endParaRPr lang="en-IN" dirty="0"/>
          </a:p>
          <a:p>
            <a:pPr algn="just"/>
            <a:r>
              <a:rPr lang="en-IN" dirty="0"/>
              <a:t>	- Write user defined JDBC driver class, user defined Servlet class etc</a:t>
            </a:r>
          </a:p>
          <a:p>
            <a:pPr algn="just"/>
            <a:r>
              <a:rPr lang="en-IN" dirty="0"/>
              <a:t>	- To write user defined Servlet then derive a class from </a:t>
            </a:r>
            <a:r>
              <a:rPr lang="en-IN" dirty="0" err="1"/>
              <a:t>GenericServlet</a:t>
            </a:r>
            <a:r>
              <a:rPr lang="en-IN" dirty="0"/>
              <a:t> or </a:t>
            </a:r>
            <a:r>
              <a:rPr lang="en-IN" dirty="0" err="1"/>
              <a:t>HttpServlet</a:t>
            </a:r>
            <a:endParaRPr lang="en-IN" dirty="0"/>
          </a:p>
        </p:txBody>
      </p:sp>
    </p:spTree>
    <p:extLst>
      <p:ext uri="{BB962C8B-B14F-4D97-AF65-F5344CB8AC3E}">
        <p14:creationId xmlns:p14="http://schemas.microsoft.com/office/powerpoint/2010/main" val="1619496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 IS-A Relationship)</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9B3C9C64-B210-421D-99F2-008EB6439697}"/>
              </a:ext>
            </a:extLst>
          </p:cNvPr>
          <p:cNvSpPr txBox="1"/>
          <p:nvPr/>
        </p:nvSpPr>
        <p:spPr>
          <a:xfrm>
            <a:off x="705203" y="1224393"/>
            <a:ext cx="8663385" cy="5078313"/>
          </a:xfrm>
          <a:prstGeom prst="rect">
            <a:avLst/>
          </a:prstGeom>
          <a:noFill/>
        </p:spPr>
        <p:txBody>
          <a:bodyPr wrap="square">
            <a:spAutoFit/>
          </a:bodyPr>
          <a:lstStyle/>
          <a:p>
            <a:pPr marL="342900" indent="-342900" algn="just">
              <a:buFont typeface="Wingdings" panose="05000000000000000000" pitchFamily="2" charset="2"/>
              <a:buChar char="v"/>
            </a:pPr>
            <a:r>
              <a:rPr lang="en-IN" sz="2400" dirty="0"/>
              <a:t>If a class methods want to be available as our class methods to outside classes, then we go inheritance.</a:t>
            </a:r>
          </a:p>
          <a:p>
            <a:pPr marL="342900" indent="-342900" algn="just">
              <a:buFont typeface="Wingdings" panose="05000000000000000000" pitchFamily="2" charset="2"/>
              <a:buChar char="v"/>
            </a:pPr>
            <a:r>
              <a:rPr lang="en-IN" sz="2400" dirty="0"/>
              <a:t>If we want to </a:t>
            </a:r>
            <a:r>
              <a:rPr lang="en-IN" sz="3200" b="1" dirty="0"/>
              <a:t>rewrite the functionality of super class methods in sub class (method overriding)</a:t>
            </a:r>
            <a:r>
              <a:rPr lang="en-IN" sz="2400" dirty="0"/>
              <a:t>, then also we will go for inheritance.</a:t>
            </a:r>
          </a:p>
          <a:p>
            <a:pPr marL="342900" indent="-342900" algn="just">
              <a:buFont typeface="Wingdings" panose="05000000000000000000" pitchFamily="2" charset="2"/>
              <a:buChar char="v"/>
            </a:pPr>
            <a:r>
              <a:rPr lang="en-IN" sz="2400" dirty="0"/>
              <a:t>If we want to </a:t>
            </a:r>
            <a:r>
              <a:rPr lang="en-IN" sz="3200" b="1" dirty="0"/>
              <a:t>add additional functionality to the existing super class methods </a:t>
            </a:r>
            <a:r>
              <a:rPr lang="en-IN" sz="2400" dirty="0"/>
              <a:t>then also we will go for inheritance.</a:t>
            </a:r>
          </a:p>
          <a:p>
            <a:pPr marL="342900" indent="-342900" algn="just">
              <a:buFont typeface="Wingdings" panose="05000000000000000000" pitchFamily="2" charset="2"/>
              <a:buChar char="v"/>
            </a:pPr>
            <a:r>
              <a:rPr lang="en-IN" sz="2000" dirty="0"/>
              <a:t>In Inheritance a super class  properties (variables) and behaviours (methods) are available as our class variables and methods (of course if there is any </a:t>
            </a:r>
            <a:r>
              <a:rPr lang="en-IN" sz="2000" b="1" dirty="0"/>
              <a:t>redundancy of props and methods </a:t>
            </a:r>
            <a:r>
              <a:rPr lang="en-IN" sz="2000" dirty="0"/>
              <a:t>then we can call super class vars and methods as </a:t>
            </a:r>
            <a:r>
              <a:rPr lang="en-IN" sz="2000" b="1" dirty="0" err="1"/>
              <a:t>super.var_name</a:t>
            </a:r>
            <a:r>
              <a:rPr lang="en-IN" sz="2000" b="1" dirty="0"/>
              <a:t> and </a:t>
            </a:r>
            <a:r>
              <a:rPr lang="en-IN" sz="2000" b="1" dirty="0" err="1"/>
              <a:t>super.method_name</a:t>
            </a:r>
            <a:r>
              <a:rPr lang="en-IN" sz="2000" b="1" dirty="0"/>
              <a:t>()</a:t>
            </a:r>
            <a:r>
              <a:rPr lang="en-IN" sz="2000" dirty="0"/>
              <a:t> and our class vars and methods as </a:t>
            </a:r>
            <a:r>
              <a:rPr lang="en-IN" sz="2000" b="1" dirty="0" err="1"/>
              <a:t>this.var_name</a:t>
            </a:r>
            <a:r>
              <a:rPr lang="en-IN" sz="2000" b="1" dirty="0"/>
              <a:t> and </a:t>
            </a:r>
            <a:r>
              <a:rPr lang="en-IN" sz="2000" b="1" dirty="0" err="1"/>
              <a:t>this.method_name</a:t>
            </a:r>
            <a:r>
              <a:rPr lang="en-IN" sz="2000" b="1" dirty="0"/>
              <a:t>()</a:t>
            </a:r>
            <a:r>
              <a:rPr lang="en-IN" sz="2000" dirty="0"/>
              <a:t>.</a:t>
            </a:r>
            <a:endParaRPr lang="en-IN" sz="2400" dirty="0"/>
          </a:p>
        </p:txBody>
      </p:sp>
    </p:spTree>
    <p:extLst>
      <p:ext uri="{BB962C8B-B14F-4D97-AF65-F5344CB8AC3E}">
        <p14:creationId xmlns:p14="http://schemas.microsoft.com/office/powerpoint/2010/main" val="1680823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id="{9769DFA9-DA96-497A-B83B-3DDA75136979}"/>
              </a:ext>
            </a:extLst>
          </p:cNvPr>
          <p:cNvSpPr txBox="1"/>
          <p:nvPr/>
        </p:nvSpPr>
        <p:spPr>
          <a:xfrm>
            <a:off x="1538038" y="1687429"/>
            <a:ext cx="6135756" cy="3046988"/>
          </a:xfrm>
          <a:prstGeom prst="rect">
            <a:avLst/>
          </a:prstGeom>
          <a:noFill/>
        </p:spPr>
        <p:txBody>
          <a:bodyPr wrap="square">
            <a:spAutoFit/>
          </a:bodyPr>
          <a:lstStyle/>
          <a:p>
            <a:r>
              <a:rPr lang="en-IN" sz="3200" u="sng" dirty="0"/>
              <a:t>Types of Inheritance:</a:t>
            </a:r>
          </a:p>
          <a:p>
            <a:pPr marL="514350" indent="-514350">
              <a:buFont typeface="+mj-lt"/>
              <a:buAutoNum type="arabicParenR"/>
            </a:pPr>
            <a:r>
              <a:rPr lang="en-IN" sz="3200" dirty="0"/>
              <a:t>Single Inheritance</a:t>
            </a:r>
          </a:p>
          <a:p>
            <a:pPr marL="514350" indent="-514350">
              <a:buFont typeface="+mj-lt"/>
              <a:buAutoNum type="arabicParenR"/>
            </a:pPr>
            <a:r>
              <a:rPr lang="en-IN" sz="3200" dirty="0"/>
              <a:t>Multi-Level Inheritance</a:t>
            </a:r>
          </a:p>
          <a:p>
            <a:pPr marL="514350" indent="-514350">
              <a:buFont typeface="+mj-lt"/>
              <a:buAutoNum type="arabicParenR"/>
            </a:pPr>
            <a:r>
              <a:rPr lang="en-IN" sz="3200" dirty="0"/>
              <a:t>Multiple Inheritance</a:t>
            </a:r>
          </a:p>
          <a:p>
            <a:pPr marL="514350" indent="-514350">
              <a:buFont typeface="+mj-lt"/>
              <a:buAutoNum type="arabicParenR"/>
            </a:pPr>
            <a:r>
              <a:rPr lang="en-IN" sz="3200" dirty="0"/>
              <a:t>Hierarchical Inheritance</a:t>
            </a:r>
          </a:p>
          <a:p>
            <a:pPr marL="514350" indent="-514350">
              <a:buFont typeface="+mj-lt"/>
              <a:buAutoNum type="arabicParenR"/>
            </a:pPr>
            <a:r>
              <a:rPr lang="en-IN" sz="3200" dirty="0"/>
              <a:t>Hybrid Inheritance</a:t>
            </a:r>
          </a:p>
        </p:txBody>
      </p:sp>
    </p:spTree>
    <p:extLst>
      <p:ext uri="{BB962C8B-B14F-4D97-AF65-F5344CB8AC3E}">
        <p14:creationId xmlns:p14="http://schemas.microsoft.com/office/powerpoint/2010/main" val="994281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A37B16E7-BD26-4F56-8A28-D23792C62133}"/>
              </a:ext>
            </a:extLst>
          </p:cNvPr>
          <p:cNvSpPr txBox="1"/>
          <p:nvPr/>
        </p:nvSpPr>
        <p:spPr>
          <a:xfrm>
            <a:off x="285750" y="1224393"/>
            <a:ext cx="8845826" cy="2031325"/>
          </a:xfrm>
          <a:prstGeom prst="rect">
            <a:avLst/>
          </a:prstGeom>
          <a:noFill/>
        </p:spPr>
        <p:txBody>
          <a:bodyPr wrap="square">
            <a:spAutoFit/>
          </a:bodyPr>
          <a:lstStyle/>
          <a:p>
            <a:pPr marL="400050" indent="-400050" algn="just">
              <a:buFont typeface="+mj-lt"/>
              <a:buAutoNum type="romanLcPeriod"/>
            </a:pPr>
            <a:r>
              <a:rPr lang="en-IN" b="1" u="sng" dirty="0"/>
              <a:t>Single Inheritance</a:t>
            </a:r>
          </a:p>
          <a:p>
            <a:pPr marL="285750" indent="-285750" algn="just">
              <a:buFont typeface="Wingdings" panose="05000000000000000000" pitchFamily="2" charset="2"/>
              <a:buChar char="v"/>
            </a:pPr>
            <a:r>
              <a:rPr lang="en-IN" dirty="0"/>
              <a:t>In Single Inheritance sub class/child class/derived class inherits "only one" parent class properties/variables and behaviours/methods thus </a:t>
            </a:r>
            <a:r>
              <a:rPr lang="en-IN" b="1" dirty="0"/>
              <a:t>enable reusability and as well adding new behaviours or modifying existing behaviour</a:t>
            </a:r>
            <a:r>
              <a:rPr lang="en-IN" dirty="0"/>
              <a:t>s.</a:t>
            </a:r>
          </a:p>
          <a:p>
            <a:pPr marL="285750" indent="-285750">
              <a:buFont typeface="Wingdings" panose="05000000000000000000" pitchFamily="2" charset="2"/>
              <a:buChar char="v"/>
            </a:pPr>
            <a:endParaRPr lang="en-IN" dirty="0"/>
          </a:p>
          <a:p>
            <a:pPr marL="285750" indent="-285750">
              <a:buFont typeface="Wingdings" panose="05000000000000000000" pitchFamily="2" charset="2"/>
              <a:buChar char="v"/>
            </a:pPr>
            <a:r>
              <a:rPr lang="en-IN" dirty="0"/>
              <a:t>In inheritance child class must point to parent class, but not parent class to sub class. We must say Sub Class B is derived from Parent Class A.</a:t>
            </a:r>
          </a:p>
        </p:txBody>
      </p:sp>
      <p:sp>
        <p:nvSpPr>
          <p:cNvPr id="7" name="TextBox 6">
            <a:extLst>
              <a:ext uri="{FF2B5EF4-FFF2-40B4-BE49-F238E27FC236}">
                <a16:creationId xmlns:a16="http://schemas.microsoft.com/office/drawing/2014/main" id="{9A1B0384-AAAE-4C6D-B722-20E180D072CB}"/>
              </a:ext>
            </a:extLst>
          </p:cNvPr>
          <p:cNvSpPr txBox="1"/>
          <p:nvPr/>
        </p:nvSpPr>
        <p:spPr>
          <a:xfrm>
            <a:off x="2438399" y="3549316"/>
            <a:ext cx="4084195" cy="1754326"/>
          </a:xfrm>
          <a:prstGeom prst="rect">
            <a:avLst/>
          </a:prstGeom>
          <a:noFill/>
        </p:spPr>
        <p:txBody>
          <a:bodyPr wrap="none" rtlCol="0">
            <a:spAutoFit/>
          </a:bodyPr>
          <a:lstStyle/>
          <a:p>
            <a:r>
              <a:rPr lang="en-US" dirty="0"/>
              <a:t>class A {</a:t>
            </a:r>
          </a:p>
          <a:p>
            <a:r>
              <a:rPr lang="en-US" dirty="0"/>
              <a:t>	// super class vars and methods</a:t>
            </a:r>
          </a:p>
          <a:p>
            <a:r>
              <a:rPr lang="en-US" dirty="0"/>
              <a:t>}</a:t>
            </a:r>
          </a:p>
          <a:p>
            <a:r>
              <a:rPr lang="en-US" dirty="0"/>
              <a:t>class B extends A {</a:t>
            </a:r>
          </a:p>
          <a:p>
            <a:r>
              <a:rPr lang="en-US" dirty="0"/>
              <a:t>	// sub class vars and methods</a:t>
            </a:r>
          </a:p>
          <a:p>
            <a:r>
              <a:rPr lang="en-US" dirty="0"/>
              <a:t>}</a:t>
            </a:r>
            <a:endParaRPr lang="en-IN" dirty="0"/>
          </a:p>
        </p:txBody>
      </p:sp>
      <p:grpSp>
        <p:nvGrpSpPr>
          <p:cNvPr id="10" name="Group 9">
            <a:extLst>
              <a:ext uri="{FF2B5EF4-FFF2-40B4-BE49-F238E27FC236}">
                <a16:creationId xmlns:a16="http://schemas.microsoft.com/office/drawing/2014/main" id="{54F3630B-B944-4683-BE8C-E9BABFDD32A8}"/>
              </a:ext>
            </a:extLst>
          </p:cNvPr>
          <p:cNvGrpSpPr/>
          <p:nvPr/>
        </p:nvGrpSpPr>
        <p:grpSpPr>
          <a:xfrm>
            <a:off x="9762754" y="1567173"/>
            <a:ext cx="1782415" cy="1830021"/>
            <a:chOff x="4313585" y="2478156"/>
            <a:chExt cx="1782415" cy="1830021"/>
          </a:xfrm>
        </p:grpSpPr>
        <p:sp>
          <p:nvSpPr>
            <p:cNvPr id="26" name="Rectangle 25">
              <a:extLst>
                <a:ext uri="{FF2B5EF4-FFF2-40B4-BE49-F238E27FC236}">
                  <a16:creationId xmlns:a16="http://schemas.microsoft.com/office/drawing/2014/main" id="{E5BBB0E5-93E2-4649-B382-F2C1CCC23B08}"/>
                </a:ext>
              </a:extLst>
            </p:cNvPr>
            <p:cNvSpPr/>
            <p:nvPr/>
          </p:nvSpPr>
          <p:spPr>
            <a:xfrm>
              <a:off x="4320209" y="2478156"/>
              <a:ext cx="1775791" cy="5246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a:t>A</a:t>
              </a:r>
              <a:endParaRPr lang="en-IN" sz="3200" b="1" dirty="0"/>
            </a:p>
          </p:txBody>
        </p:sp>
        <p:sp>
          <p:nvSpPr>
            <p:cNvPr id="27" name="Rectangle 26">
              <a:extLst>
                <a:ext uri="{FF2B5EF4-FFF2-40B4-BE49-F238E27FC236}">
                  <a16:creationId xmlns:a16="http://schemas.microsoft.com/office/drawing/2014/main" id="{E9EE151F-256E-4152-BC4F-8BBF503735C0}"/>
                </a:ext>
              </a:extLst>
            </p:cNvPr>
            <p:cNvSpPr/>
            <p:nvPr/>
          </p:nvSpPr>
          <p:spPr>
            <a:xfrm>
              <a:off x="4313585" y="3783496"/>
              <a:ext cx="1775791" cy="5246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a:t>B</a:t>
              </a:r>
              <a:endParaRPr lang="en-IN" sz="3200" b="1" dirty="0"/>
            </a:p>
          </p:txBody>
        </p:sp>
        <p:sp>
          <p:nvSpPr>
            <p:cNvPr id="28" name="Arrow: Up 27">
              <a:extLst>
                <a:ext uri="{FF2B5EF4-FFF2-40B4-BE49-F238E27FC236}">
                  <a16:creationId xmlns:a16="http://schemas.microsoft.com/office/drawing/2014/main" id="{24B8DD6D-730B-4EF0-9A48-90FB80345D2A}"/>
                </a:ext>
              </a:extLst>
            </p:cNvPr>
            <p:cNvSpPr/>
            <p:nvPr/>
          </p:nvSpPr>
          <p:spPr>
            <a:xfrm>
              <a:off x="4891709" y="3069100"/>
              <a:ext cx="571500" cy="6387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2651550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856BE88E-5CBA-4E86-B811-544D6E25B082}"/>
              </a:ext>
            </a:extLst>
          </p:cNvPr>
          <p:cNvSpPr txBox="1"/>
          <p:nvPr/>
        </p:nvSpPr>
        <p:spPr>
          <a:xfrm>
            <a:off x="378536" y="1118118"/>
            <a:ext cx="10147724" cy="923330"/>
          </a:xfrm>
          <a:prstGeom prst="rect">
            <a:avLst/>
          </a:prstGeom>
          <a:noFill/>
        </p:spPr>
        <p:txBody>
          <a:bodyPr wrap="square">
            <a:spAutoFit/>
          </a:bodyPr>
          <a:lstStyle/>
          <a:p>
            <a:pPr marL="400050" indent="-400050" algn="just">
              <a:buFont typeface="+mj-lt"/>
              <a:buAutoNum type="romanLcPeriod" startAt="2"/>
            </a:pPr>
            <a:r>
              <a:rPr lang="en-IN" b="1" u="sng" dirty="0"/>
              <a:t>Multi-Level Inheritance</a:t>
            </a:r>
          </a:p>
          <a:p>
            <a:pPr algn="just"/>
            <a:r>
              <a:rPr lang="en-IN" b="1" dirty="0"/>
              <a:t>In Multi-Level Inheritance each sub class derives from only one super class at a time, that super class again derives from only one more super class at a time.</a:t>
            </a:r>
          </a:p>
        </p:txBody>
      </p:sp>
      <p:grpSp>
        <p:nvGrpSpPr>
          <p:cNvPr id="10" name="Group 9">
            <a:extLst>
              <a:ext uri="{FF2B5EF4-FFF2-40B4-BE49-F238E27FC236}">
                <a16:creationId xmlns:a16="http://schemas.microsoft.com/office/drawing/2014/main" id="{82EEFC41-FEEC-4085-ACEA-78BA1DF5B808}"/>
              </a:ext>
            </a:extLst>
          </p:cNvPr>
          <p:cNvGrpSpPr/>
          <p:nvPr/>
        </p:nvGrpSpPr>
        <p:grpSpPr>
          <a:xfrm>
            <a:off x="7099325" y="2041448"/>
            <a:ext cx="1832117" cy="3974778"/>
            <a:chOff x="4263883" y="2090661"/>
            <a:chExt cx="1832117" cy="3974778"/>
          </a:xfrm>
        </p:grpSpPr>
        <p:sp>
          <p:nvSpPr>
            <p:cNvPr id="8" name="Rectangle 7">
              <a:extLst>
                <a:ext uri="{FF2B5EF4-FFF2-40B4-BE49-F238E27FC236}">
                  <a16:creationId xmlns:a16="http://schemas.microsoft.com/office/drawing/2014/main" id="{032C9DF2-6E2E-484F-B6E2-6087BE36F5AB}"/>
                </a:ext>
              </a:extLst>
            </p:cNvPr>
            <p:cNvSpPr/>
            <p:nvPr/>
          </p:nvSpPr>
          <p:spPr>
            <a:xfrm>
              <a:off x="4320209" y="2090661"/>
              <a:ext cx="1775791" cy="5246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a:t>A</a:t>
              </a:r>
              <a:endParaRPr lang="en-IN" sz="3200" b="1" dirty="0"/>
            </a:p>
          </p:txBody>
        </p:sp>
        <p:sp>
          <p:nvSpPr>
            <p:cNvPr id="25" name="Rectangle 24">
              <a:extLst>
                <a:ext uri="{FF2B5EF4-FFF2-40B4-BE49-F238E27FC236}">
                  <a16:creationId xmlns:a16="http://schemas.microsoft.com/office/drawing/2014/main" id="{FD0B7311-0DBE-4B4E-91BD-382561D00283}"/>
                </a:ext>
              </a:extLst>
            </p:cNvPr>
            <p:cNvSpPr/>
            <p:nvPr/>
          </p:nvSpPr>
          <p:spPr>
            <a:xfrm>
              <a:off x="4313585" y="3303237"/>
              <a:ext cx="1775791" cy="5246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a:t>B</a:t>
              </a:r>
              <a:endParaRPr lang="en-IN" sz="3200" b="1" dirty="0"/>
            </a:p>
          </p:txBody>
        </p:sp>
        <p:sp>
          <p:nvSpPr>
            <p:cNvPr id="9" name="Arrow: Up 8">
              <a:extLst>
                <a:ext uri="{FF2B5EF4-FFF2-40B4-BE49-F238E27FC236}">
                  <a16:creationId xmlns:a16="http://schemas.microsoft.com/office/drawing/2014/main" id="{5012B210-5911-44FE-8166-A6A1980E95F0}"/>
                </a:ext>
              </a:extLst>
            </p:cNvPr>
            <p:cNvSpPr/>
            <p:nvPr/>
          </p:nvSpPr>
          <p:spPr>
            <a:xfrm>
              <a:off x="4891709" y="2761117"/>
              <a:ext cx="571500" cy="38326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AC36AAC8-E1C8-432A-939F-EBD2C515148C}"/>
                </a:ext>
              </a:extLst>
            </p:cNvPr>
            <p:cNvSpPr/>
            <p:nvPr/>
          </p:nvSpPr>
          <p:spPr>
            <a:xfrm>
              <a:off x="4263883" y="4427360"/>
              <a:ext cx="1775791" cy="5246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a:t>C</a:t>
              </a:r>
              <a:endParaRPr lang="en-IN" sz="3200" b="1" dirty="0"/>
            </a:p>
          </p:txBody>
        </p:sp>
        <p:sp>
          <p:nvSpPr>
            <p:cNvPr id="28" name="Rectangle 27">
              <a:extLst>
                <a:ext uri="{FF2B5EF4-FFF2-40B4-BE49-F238E27FC236}">
                  <a16:creationId xmlns:a16="http://schemas.microsoft.com/office/drawing/2014/main" id="{492A7FC1-02B0-407B-AA75-89D9EA86E7BA}"/>
                </a:ext>
              </a:extLst>
            </p:cNvPr>
            <p:cNvSpPr/>
            <p:nvPr/>
          </p:nvSpPr>
          <p:spPr>
            <a:xfrm>
              <a:off x="4289562" y="5540758"/>
              <a:ext cx="1775791" cy="5246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a:t>D</a:t>
              </a:r>
              <a:endParaRPr lang="en-IN" sz="3200" b="1" dirty="0"/>
            </a:p>
          </p:txBody>
        </p:sp>
        <p:sp>
          <p:nvSpPr>
            <p:cNvPr id="29" name="Arrow: Up 28">
              <a:extLst>
                <a:ext uri="{FF2B5EF4-FFF2-40B4-BE49-F238E27FC236}">
                  <a16:creationId xmlns:a16="http://schemas.microsoft.com/office/drawing/2014/main" id="{13982B45-F012-4E55-9BFF-BBF974E9B982}"/>
                </a:ext>
              </a:extLst>
            </p:cNvPr>
            <p:cNvSpPr/>
            <p:nvPr/>
          </p:nvSpPr>
          <p:spPr>
            <a:xfrm>
              <a:off x="4885083" y="3920682"/>
              <a:ext cx="571500" cy="38326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Arrow: Up 29">
              <a:extLst>
                <a:ext uri="{FF2B5EF4-FFF2-40B4-BE49-F238E27FC236}">
                  <a16:creationId xmlns:a16="http://schemas.microsoft.com/office/drawing/2014/main" id="{51BBC5B0-A405-4095-A44A-35EFB0906D36}"/>
                </a:ext>
              </a:extLst>
            </p:cNvPr>
            <p:cNvSpPr/>
            <p:nvPr/>
          </p:nvSpPr>
          <p:spPr>
            <a:xfrm>
              <a:off x="4898334" y="5060371"/>
              <a:ext cx="571500" cy="38326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4" name="TextBox 23">
            <a:extLst>
              <a:ext uri="{FF2B5EF4-FFF2-40B4-BE49-F238E27FC236}">
                <a16:creationId xmlns:a16="http://schemas.microsoft.com/office/drawing/2014/main" id="{E416CF8D-404C-423C-A5B9-4CEFD722CB26}"/>
              </a:ext>
            </a:extLst>
          </p:cNvPr>
          <p:cNvSpPr txBox="1"/>
          <p:nvPr/>
        </p:nvSpPr>
        <p:spPr>
          <a:xfrm>
            <a:off x="889595" y="2251174"/>
            <a:ext cx="4084195" cy="3416320"/>
          </a:xfrm>
          <a:prstGeom prst="rect">
            <a:avLst/>
          </a:prstGeom>
          <a:noFill/>
        </p:spPr>
        <p:txBody>
          <a:bodyPr wrap="none" rtlCol="0">
            <a:spAutoFit/>
          </a:bodyPr>
          <a:lstStyle/>
          <a:p>
            <a:r>
              <a:rPr lang="en-US" dirty="0"/>
              <a:t>class A {</a:t>
            </a:r>
          </a:p>
          <a:p>
            <a:r>
              <a:rPr lang="en-US" dirty="0"/>
              <a:t>	// super class vars and methods</a:t>
            </a:r>
          </a:p>
          <a:p>
            <a:r>
              <a:rPr lang="en-US" dirty="0"/>
              <a:t>}</a:t>
            </a:r>
          </a:p>
          <a:p>
            <a:r>
              <a:rPr lang="en-US" dirty="0"/>
              <a:t>class B extends A {</a:t>
            </a:r>
          </a:p>
          <a:p>
            <a:r>
              <a:rPr lang="en-US" dirty="0"/>
              <a:t>	// sub class vars and methods</a:t>
            </a:r>
          </a:p>
          <a:p>
            <a:r>
              <a:rPr lang="en-US" dirty="0"/>
              <a:t>}</a:t>
            </a:r>
          </a:p>
          <a:p>
            <a:r>
              <a:rPr lang="en-US" dirty="0"/>
              <a:t>class C extends B {</a:t>
            </a:r>
          </a:p>
          <a:p>
            <a:r>
              <a:rPr lang="en-US" dirty="0"/>
              <a:t>	// sub class vars and methods</a:t>
            </a:r>
          </a:p>
          <a:p>
            <a:r>
              <a:rPr lang="en-US" dirty="0"/>
              <a:t>}</a:t>
            </a:r>
          </a:p>
          <a:p>
            <a:r>
              <a:rPr lang="en-US" dirty="0"/>
              <a:t>class D extends C {</a:t>
            </a:r>
          </a:p>
          <a:p>
            <a:r>
              <a:rPr lang="en-US" dirty="0"/>
              <a:t>	// sub class vars and methods</a:t>
            </a:r>
          </a:p>
          <a:p>
            <a:r>
              <a:rPr lang="en-US" dirty="0"/>
              <a:t>}</a:t>
            </a:r>
          </a:p>
        </p:txBody>
      </p:sp>
    </p:spTree>
    <p:extLst>
      <p:ext uri="{BB962C8B-B14F-4D97-AF65-F5344CB8AC3E}">
        <p14:creationId xmlns:p14="http://schemas.microsoft.com/office/powerpoint/2010/main" val="3092457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31" name="TextBox 30">
            <a:extLst>
              <a:ext uri="{FF2B5EF4-FFF2-40B4-BE49-F238E27FC236}">
                <a16:creationId xmlns:a16="http://schemas.microsoft.com/office/drawing/2014/main" id="{AF9055A5-65D3-4AB8-A9BC-242DBFC97C85}"/>
              </a:ext>
            </a:extLst>
          </p:cNvPr>
          <p:cNvSpPr txBox="1"/>
          <p:nvPr/>
        </p:nvSpPr>
        <p:spPr>
          <a:xfrm>
            <a:off x="347435" y="842597"/>
            <a:ext cx="7604573" cy="3139321"/>
          </a:xfrm>
          <a:prstGeom prst="rect">
            <a:avLst/>
          </a:prstGeom>
          <a:noFill/>
        </p:spPr>
        <p:txBody>
          <a:bodyPr wrap="square">
            <a:spAutoFit/>
          </a:bodyPr>
          <a:lstStyle/>
          <a:p>
            <a:pPr marL="285750" indent="-285750">
              <a:buFont typeface="+mj-lt"/>
              <a:buAutoNum type="romanLcPeriod" startAt="3"/>
            </a:pPr>
            <a:r>
              <a:rPr lang="en-IN" b="1" u="sng" dirty="0"/>
              <a:t>Multiple Inheritance</a:t>
            </a:r>
          </a:p>
          <a:p>
            <a:r>
              <a:rPr lang="en-IN" dirty="0"/>
              <a:t>In Multiple Inheritance a sub class can derive from any number of super classes, such super classes each can again derive from any number of super classes.</a:t>
            </a:r>
          </a:p>
          <a:p>
            <a:endParaRPr lang="en-IN" dirty="0"/>
          </a:p>
          <a:p>
            <a:r>
              <a:rPr lang="en-IN" b="1" dirty="0"/>
              <a:t>Advantages:</a:t>
            </a:r>
            <a:r>
              <a:rPr lang="en-IN" dirty="0"/>
              <a:t>	</a:t>
            </a:r>
          </a:p>
          <a:p>
            <a:pPr marL="285750" indent="-285750">
              <a:buFont typeface="Arial" panose="020B0604020202020204" pitchFamily="34" charset="0"/>
              <a:buChar char="•"/>
            </a:pPr>
            <a:r>
              <a:rPr lang="en-IN" dirty="0"/>
              <a:t>More inheritance, more vars &amp; methods in a short time</a:t>
            </a:r>
          </a:p>
          <a:p>
            <a:r>
              <a:rPr lang="en-IN" dirty="0"/>
              <a:t>	</a:t>
            </a:r>
          </a:p>
          <a:p>
            <a:r>
              <a:rPr lang="en-IN" b="1" dirty="0"/>
              <a:t>Disadvantages:</a:t>
            </a:r>
          </a:p>
          <a:p>
            <a:pPr marL="285750" indent="-285750">
              <a:buFont typeface="Arial" panose="020B0604020202020204" pitchFamily="34" charset="0"/>
              <a:buChar char="•"/>
            </a:pPr>
            <a:r>
              <a:rPr lang="en-IN" dirty="0"/>
              <a:t>more complex hierarchy</a:t>
            </a:r>
          </a:p>
          <a:p>
            <a:pPr marL="285750" indent="-285750">
              <a:buFont typeface="Arial" panose="020B0604020202020204" pitchFamily="34" charset="0"/>
              <a:buChar char="•"/>
            </a:pPr>
            <a:r>
              <a:rPr lang="en-IN" dirty="0"/>
              <a:t>more un-necessary memory wastage</a:t>
            </a:r>
          </a:p>
          <a:p>
            <a:pPr marL="285750" indent="-285750">
              <a:buFont typeface="Arial" panose="020B0604020202020204" pitchFamily="34" charset="0"/>
              <a:buChar char="•"/>
            </a:pPr>
            <a:r>
              <a:rPr lang="en-IN" dirty="0"/>
              <a:t>super class var/method ambiguity problem</a:t>
            </a:r>
          </a:p>
        </p:txBody>
      </p:sp>
      <p:grpSp>
        <p:nvGrpSpPr>
          <p:cNvPr id="7" name="Group 6">
            <a:extLst>
              <a:ext uri="{FF2B5EF4-FFF2-40B4-BE49-F238E27FC236}">
                <a16:creationId xmlns:a16="http://schemas.microsoft.com/office/drawing/2014/main" id="{23547B06-3642-4800-8646-FBEAD598592F}"/>
              </a:ext>
            </a:extLst>
          </p:cNvPr>
          <p:cNvGrpSpPr/>
          <p:nvPr/>
        </p:nvGrpSpPr>
        <p:grpSpPr>
          <a:xfrm>
            <a:off x="1938589" y="4306957"/>
            <a:ext cx="6013419" cy="2056000"/>
            <a:chOff x="1938589" y="4306957"/>
            <a:chExt cx="6013419" cy="2056000"/>
          </a:xfrm>
        </p:grpSpPr>
        <p:sp>
          <p:nvSpPr>
            <p:cNvPr id="11" name="Rectangle 10">
              <a:extLst>
                <a:ext uri="{FF2B5EF4-FFF2-40B4-BE49-F238E27FC236}">
                  <a16:creationId xmlns:a16="http://schemas.microsoft.com/office/drawing/2014/main" id="{99803452-4FBE-4841-B53E-2F2091FEFA31}"/>
                </a:ext>
              </a:extLst>
            </p:cNvPr>
            <p:cNvSpPr/>
            <p:nvPr/>
          </p:nvSpPr>
          <p:spPr>
            <a:xfrm>
              <a:off x="4386468" y="6070133"/>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endParaRPr lang="en-IN" b="1" dirty="0"/>
            </a:p>
          </p:txBody>
        </p:sp>
        <p:sp>
          <p:nvSpPr>
            <p:cNvPr id="32" name="Rectangle 31">
              <a:extLst>
                <a:ext uri="{FF2B5EF4-FFF2-40B4-BE49-F238E27FC236}">
                  <a16:creationId xmlns:a16="http://schemas.microsoft.com/office/drawing/2014/main" id="{32A534E6-BEC9-4707-9208-6A4CC72BBFB7}"/>
                </a:ext>
              </a:extLst>
            </p:cNvPr>
            <p:cNvSpPr/>
            <p:nvPr/>
          </p:nvSpPr>
          <p:spPr>
            <a:xfrm>
              <a:off x="3011206" y="5157189"/>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endParaRPr lang="en-IN" b="1" dirty="0"/>
            </a:p>
          </p:txBody>
        </p:sp>
        <p:sp>
          <p:nvSpPr>
            <p:cNvPr id="33" name="Rectangle 32">
              <a:extLst>
                <a:ext uri="{FF2B5EF4-FFF2-40B4-BE49-F238E27FC236}">
                  <a16:creationId xmlns:a16="http://schemas.microsoft.com/office/drawing/2014/main" id="{2D39F44C-C350-4460-A395-045EB991234B}"/>
                </a:ext>
              </a:extLst>
            </p:cNvPr>
            <p:cNvSpPr/>
            <p:nvPr/>
          </p:nvSpPr>
          <p:spPr>
            <a:xfrm>
              <a:off x="4386468" y="5157189"/>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endParaRPr lang="en-IN" b="1" dirty="0"/>
            </a:p>
          </p:txBody>
        </p:sp>
        <p:sp>
          <p:nvSpPr>
            <p:cNvPr id="34" name="Rectangle 33">
              <a:extLst>
                <a:ext uri="{FF2B5EF4-FFF2-40B4-BE49-F238E27FC236}">
                  <a16:creationId xmlns:a16="http://schemas.microsoft.com/office/drawing/2014/main" id="{E16C35F1-C9F6-427C-8969-75B6C1E8B00F}"/>
                </a:ext>
              </a:extLst>
            </p:cNvPr>
            <p:cNvSpPr/>
            <p:nvPr/>
          </p:nvSpPr>
          <p:spPr>
            <a:xfrm>
              <a:off x="5786835" y="5138357"/>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endParaRPr lang="en-IN" b="1" dirty="0"/>
            </a:p>
          </p:txBody>
        </p:sp>
        <p:sp>
          <p:nvSpPr>
            <p:cNvPr id="35" name="Rectangle 34">
              <a:extLst>
                <a:ext uri="{FF2B5EF4-FFF2-40B4-BE49-F238E27FC236}">
                  <a16:creationId xmlns:a16="http://schemas.microsoft.com/office/drawing/2014/main" id="{3D4FE352-BE47-4AE2-A493-08A54F450DA8}"/>
                </a:ext>
              </a:extLst>
            </p:cNvPr>
            <p:cNvSpPr/>
            <p:nvPr/>
          </p:nvSpPr>
          <p:spPr>
            <a:xfrm>
              <a:off x="1938589" y="4306957"/>
              <a:ext cx="571501" cy="2280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A1</a:t>
              </a:r>
              <a:endParaRPr lang="en-IN" b="1" dirty="0"/>
            </a:p>
          </p:txBody>
        </p:sp>
        <p:sp>
          <p:nvSpPr>
            <p:cNvPr id="37" name="Rectangle 36">
              <a:extLst>
                <a:ext uri="{FF2B5EF4-FFF2-40B4-BE49-F238E27FC236}">
                  <a16:creationId xmlns:a16="http://schemas.microsoft.com/office/drawing/2014/main" id="{AF30D9C5-2778-4AB0-BF33-F09523216926}"/>
                </a:ext>
              </a:extLst>
            </p:cNvPr>
            <p:cNvSpPr/>
            <p:nvPr/>
          </p:nvSpPr>
          <p:spPr>
            <a:xfrm>
              <a:off x="2645942" y="4317412"/>
              <a:ext cx="571501" cy="2280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A2</a:t>
              </a:r>
              <a:endParaRPr lang="en-IN" b="1" dirty="0"/>
            </a:p>
          </p:txBody>
        </p:sp>
        <p:sp>
          <p:nvSpPr>
            <p:cNvPr id="38" name="Rectangle 37">
              <a:extLst>
                <a:ext uri="{FF2B5EF4-FFF2-40B4-BE49-F238E27FC236}">
                  <a16:creationId xmlns:a16="http://schemas.microsoft.com/office/drawing/2014/main" id="{FC38766A-51E0-47B7-AEB6-C787578AAC56}"/>
                </a:ext>
              </a:extLst>
            </p:cNvPr>
            <p:cNvSpPr/>
            <p:nvPr/>
          </p:nvSpPr>
          <p:spPr>
            <a:xfrm>
              <a:off x="3318711" y="4330065"/>
              <a:ext cx="571501" cy="258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A3</a:t>
              </a:r>
              <a:endParaRPr lang="en-IN" b="1" dirty="0"/>
            </a:p>
          </p:txBody>
        </p:sp>
        <p:sp>
          <p:nvSpPr>
            <p:cNvPr id="39" name="Rectangle 38">
              <a:extLst>
                <a:ext uri="{FF2B5EF4-FFF2-40B4-BE49-F238E27FC236}">
                  <a16:creationId xmlns:a16="http://schemas.microsoft.com/office/drawing/2014/main" id="{91771986-C5A0-4BBE-8367-F889FAB0B93D}"/>
                </a:ext>
              </a:extLst>
            </p:cNvPr>
            <p:cNvSpPr/>
            <p:nvPr/>
          </p:nvSpPr>
          <p:spPr>
            <a:xfrm>
              <a:off x="4284227" y="4306957"/>
              <a:ext cx="571501" cy="258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B1</a:t>
              </a:r>
              <a:endParaRPr lang="en-IN" b="1" dirty="0"/>
            </a:p>
          </p:txBody>
        </p:sp>
        <p:sp>
          <p:nvSpPr>
            <p:cNvPr id="40" name="Rectangle 39">
              <a:extLst>
                <a:ext uri="{FF2B5EF4-FFF2-40B4-BE49-F238E27FC236}">
                  <a16:creationId xmlns:a16="http://schemas.microsoft.com/office/drawing/2014/main" id="{B6853803-8F06-4C05-BC11-FD8F541A6729}"/>
                </a:ext>
              </a:extLst>
            </p:cNvPr>
            <p:cNvSpPr/>
            <p:nvPr/>
          </p:nvSpPr>
          <p:spPr>
            <a:xfrm>
              <a:off x="4991580" y="4317412"/>
              <a:ext cx="571501" cy="258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B2</a:t>
              </a:r>
              <a:endParaRPr lang="en-IN" b="1" dirty="0"/>
            </a:p>
          </p:txBody>
        </p:sp>
        <p:sp>
          <p:nvSpPr>
            <p:cNvPr id="41" name="Rectangle 40">
              <a:extLst>
                <a:ext uri="{FF2B5EF4-FFF2-40B4-BE49-F238E27FC236}">
                  <a16:creationId xmlns:a16="http://schemas.microsoft.com/office/drawing/2014/main" id="{AA7EE4A1-8832-4A67-908C-CBEA6CC2A20F}"/>
                </a:ext>
              </a:extLst>
            </p:cNvPr>
            <p:cNvSpPr/>
            <p:nvPr/>
          </p:nvSpPr>
          <p:spPr>
            <a:xfrm>
              <a:off x="6000385" y="4313585"/>
              <a:ext cx="571501" cy="2280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C1</a:t>
              </a:r>
              <a:endParaRPr lang="en-IN" b="1" dirty="0"/>
            </a:p>
          </p:txBody>
        </p:sp>
        <p:sp>
          <p:nvSpPr>
            <p:cNvPr id="42" name="Rectangle 41">
              <a:extLst>
                <a:ext uri="{FF2B5EF4-FFF2-40B4-BE49-F238E27FC236}">
                  <a16:creationId xmlns:a16="http://schemas.microsoft.com/office/drawing/2014/main" id="{CB5F814E-F68F-47A8-B227-7CFE794AA5D4}"/>
                </a:ext>
              </a:extLst>
            </p:cNvPr>
            <p:cNvSpPr/>
            <p:nvPr/>
          </p:nvSpPr>
          <p:spPr>
            <a:xfrm>
              <a:off x="6707738" y="4324040"/>
              <a:ext cx="571501" cy="2280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C2</a:t>
              </a:r>
              <a:endParaRPr lang="en-IN" b="1" dirty="0"/>
            </a:p>
          </p:txBody>
        </p:sp>
        <p:sp>
          <p:nvSpPr>
            <p:cNvPr id="43" name="Rectangle 42">
              <a:extLst>
                <a:ext uri="{FF2B5EF4-FFF2-40B4-BE49-F238E27FC236}">
                  <a16:creationId xmlns:a16="http://schemas.microsoft.com/office/drawing/2014/main" id="{1B49653F-96D0-4FFD-8970-A20873CDEC21}"/>
                </a:ext>
              </a:extLst>
            </p:cNvPr>
            <p:cNvSpPr/>
            <p:nvPr/>
          </p:nvSpPr>
          <p:spPr>
            <a:xfrm>
              <a:off x="7380507" y="4336693"/>
              <a:ext cx="571501" cy="258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C3</a:t>
              </a:r>
              <a:endParaRPr lang="en-IN" b="1" dirty="0"/>
            </a:p>
          </p:txBody>
        </p:sp>
        <p:sp>
          <p:nvSpPr>
            <p:cNvPr id="12" name="Arrow: Up 11">
              <a:extLst>
                <a:ext uri="{FF2B5EF4-FFF2-40B4-BE49-F238E27FC236}">
                  <a16:creationId xmlns:a16="http://schemas.microsoft.com/office/drawing/2014/main" id="{376D5AA4-4818-4DCE-A02D-E29054C3FDA7}"/>
                </a:ext>
              </a:extLst>
            </p:cNvPr>
            <p:cNvSpPr/>
            <p:nvPr/>
          </p:nvSpPr>
          <p:spPr>
            <a:xfrm>
              <a:off x="2225184" y="4626461"/>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Arrow: Up 43">
              <a:extLst>
                <a:ext uri="{FF2B5EF4-FFF2-40B4-BE49-F238E27FC236}">
                  <a16:creationId xmlns:a16="http://schemas.microsoft.com/office/drawing/2014/main" id="{B5A5360B-4CDD-42F1-B741-C05D54A83B1B}"/>
                </a:ext>
              </a:extLst>
            </p:cNvPr>
            <p:cNvSpPr/>
            <p:nvPr/>
          </p:nvSpPr>
          <p:spPr>
            <a:xfrm>
              <a:off x="2828204" y="4605043"/>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Arrow: Up 44">
              <a:extLst>
                <a:ext uri="{FF2B5EF4-FFF2-40B4-BE49-F238E27FC236}">
                  <a16:creationId xmlns:a16="http://schemas.microsoft.com/office/drawing/2014/main" id="{43F01C97-632D-4765-A679-0DFECC9021EA}"/>
                </a:ext>
              </a:extLst>
            </p:cNvPr>
            <p:cNvSpPr/>
            <p:nvPr/>
          </p:nvSpPr>
          <p:spPr>
            <a:xfrm>
              <a:off x="3445812" y="4641051"/>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Arrow: Up 45">
              <a:extLst>
                <a:ext uri="{FF2B5EF4-FFF2-40B4-BE49-F238E27FC236}">
                  <a16:creationId xmlns:a16="http://schemas.microsoft.com/office/drawing/2014/main" id="{3B0385DC-A78A-4F95-8E2B-603712159B09}"/>
                </a:ext>
              </a:extLst>
            </p:cNvPr>
            <p:cNvSpPr/>
            <p:nvPr/>
          </p:nvSpPr>
          <p:spPr>
            <a:xfrm>
              <a:off x="4395967" y="4641051"/>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Arrow: Up 46">
              <a:extLst>
                <a:ext uri="{FF2B5EF4-FFF2-40B4-BE49-F238E27FC236}">
                  <a16:creationId xmlns:a16="http://schemas.microsoft.com/office/drawing/2014/main" id="{7A246DBC-3CB0-4CA9-830A-52B53F3B3CA4}"/>
                </a:ext>
              </a:extLst>
            </p:cNvPr>
            <p:cNvSpPr/>
            <p:nvPr/>
          </p:nvSpPr>
          <p:spPr>
            <a:xfrm>
              <a:off x="5142696" y="4629062"/>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Arrow: Up 47">
              <a:extLst>
                <a:ext uri="{FF2B5EF4-FFF2-40B4-BE49-F238E27FC236}">
                  <a16:creationId xmlns:a16="http://schemas.microsoft.com/office/drawing/2014/main" id="{C185C819-0DA1-4AF7-B5F5-A380180B2A61}"/>
                </a:ext>
              </a:extLst>
            </p:cNvPr>
            <p:cNvSpPr/>
            <p:nvPr/>
          </p:nvSpPr>
          <p:spPr>
            <a:xfrm>
              <a:off x="6129143" y="4635569"/>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Arrow: Up 48">
              <a:extLst>
                <a:ext uri="{FF2B5EF4-FFF2-40B4-BE49-F238E27FC236}">
                  <a16:creationId xmlns:a16="http://schemas.microsoft.com/office/drawing/2014/main" id="{B50C965A-ACB8-4AEF-BE33-FA432797EFB0}"/>
                </a:ext>
              </a:extLst>
            </p:cNvPr>
            <p:cNvSpPr/>
            <p:nvPr/>
          </p:nvSpPr>
          <p:spPr>
            <a:xfrm>
              <a:off x="6845117" y="4647520"/>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Arrow: Up 49">
              <a:extLst>
                <a:ext uri="{FF2B5EF4-FFF2-40B4-BE49-F238E27FC236}">
                  <a16:creationId xmlns:a16="http://schemas.microsoft.com/office/drawing/2014/main" id="{4D77B39B-D5A8-4048-A053-A1121F7E4B94}"/>
                </a:ext>
              </a:extLst>
            </p:cNvPr>
            <p:cNvSpPr/>
            <p:nvPr/>
          </p:nvSpPr>
          <p:spPr>
            <a:xfrm>
              <a:off x="7547949" y="4704199"/>
              <a:ext cx="217808" cy="37363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Arrow: Up 50">
              <a:extLst>
                <a:ext uri="{FF2B5EF4-FFF2-40B4-BE49-F238E27FC236}">
                  <a16:creationId xmlns:a16="http://schemas.microsoft.com/office/drawing/2014/main" id="{3020E73C-E53E-4C60-B145-07994888A4C0}"/>
                </a:ext>
              </a:extLst>
            </p:cNvPr>
            <p:cNvSpPr/>
            <p:nvPr/>
          </p:nvSpPr>
          <p:spPr>
            <a:xfrm>
              <a:off x="3447301" y="5503778"/>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Arrow: Up 51">
              <a:extLst>
                <a:ext uri="{FF2B5EF4-FFF2-40B4-BE49-F238E27FC236}">
                  <a16:creationId xmlns:a16="http://schemas.microsoft.com/office/drawing/2014/main" id="{D186B272-06BF-4750-888A-898B8BEF2967}"/>
                </a:ext>
              </a:extLst>
            </p:cNvPr>
            <p:cNvSpPr/>
            <p:nvPr/>
          </p:nvSpPr>
          <p:spPr>
            <a:xfrm>
              <a:off x="4821074" y="5496963"/>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Arrow: Up 52">
              <a:extLst>
                <a:ext uri="{FF2B5EF4-FFF2-40B4-BE49-F238E27FC236}">
                  <a16:creationId xmlns:a16="http://schemas.microsoft.com/office/drawing/2014/main" id="{94970906-9286-4DFA-B180-B1B136674F03}"/>
                </a:ext>
              </a:extLst>
            </p:cNvPr>
            <p:cNvSpPr/>
            <p:nvPr/>
          </p:nvSpPr>
          <p:spPr>
            <a:xfrm>
              <a:off x="6172954" y="5510374"/>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4" name="TextBox 53">
            <a:extLst>
              <a:ext uri="{FF2B5EF4-FFF2-40B4-BE49-F238E27FC236}">
                <a16:creationId xmlns:a16="http://schemas.microsoft.com/office/drawing/2014/main" id="{F291DEF9-EE97-4999-BCBC-B9423D875A66}"/>
              </a:ext>
            </a:extLst>
          </p:cNvPr>
          <p:cNvSpPr txBox="1"/>
          <p:nvPr/>
        </p:nvSpPr>
        <p:spPr>
          <a:xfrm>
            <a:off x="7822051" y="1379544"/>
            <a:ext cx="1125629" cy="369332"/>
          </a:xfrm>
          <a:prstGeom prst="rect">
            <a:avLst/>
          </a:prstGeom>
          <a:noFill/>
        </p:spPr>
        <p:txBody>
          <a:bodyPr wrap="none" rtlCol="0">
            <a:spAutoFit/>
          </a:bodyPr>
          <a:lstStyle/>
          <a:p>
            <a:r>
              <a:rPr lang="en-US" dirty="0"/>
              <a:t>class A1 {}</a:t>
            </a:r>
          </a:p>
        </p:txBody>
      </p:sp>
      <p:sp>
        <p:nvSpPr>
          <p:cNvPr id="55" name="TextBox 54">
            <a:extLst>
              <a:ext uri="{FF2B5EF4-FFF2-40B4-BE49-F238E27FC236}">
                <a16:creationId xmlns:a16="http://schemas.microsoft.com/office/drawing/2014/main" id="{CE9AEFDC-FE99-4754-B047-A165CF4290B4}"/>
              </a:ext>
            </a:extLst>
          </p:cNvPr>
          <p:cNvSpPr txBox="1"/>
          <p:nvPr/>
        </p:nvSpPr>
        <p:spPr>
          <a:xfrm>
            <a:off x="8915358" y="1399424"/>
            <a:ext cx="1125629" cy="369332"/>
          </a:xfrm>
          <a:prstGeom prst="rect">
            <a:avLst/>
          </a:prstGeom>
          <a:noFill/>
        </p:spPr>
        <p:txBody>
          <a:bodyPr wrap="none" rtlCol="0">
            <a:spAutoFit/>
          </a:bodyPr>
          <a:lstStyle/>
          <a:p>
            <a:r>
              <a:rPr lang="en-US" dirty="0"/>
              <a:t>class A2 {}</a:t>
            </a:r>
          </a:p>
        </p:txBody>
      </p:sp>
      <p:sp>
        <p:nvSpPr>
          <p:cNvPr id="56" name="TextBox 55">
            <a:extLst>
              <a:ext uri="{FF2B5EF4-FFF2-40B4-BE49-F238E27FC236}">
                <a16:creationId xmlns:a16="http://schemas.microsoft.com/office/drawing/2014/main" id="{C0937DD9-E08E-46B4-8F50-068F81DAC814}"/>
              </a:ext>
            </a:extLst>
          </p:cNvPr>
          <p:cNvSpPr txBox="1"/>
          <p:nvPr/>
        </p:nvSpPr>
        <p:spPr>
          <a:xfrm>
            <a:off x="10041791" y="1399424"/>
            <a:ext cx="1125629" cy="369332"/>
          </a:xfrm>
          <a:prstGeom prst="rect">
            <a:avLst/>
          </a:prstGeom>
          <a:noFill/>
        </p:spPr>
        <p:txBody>
          <a:bodyPr wrap="none" rtlCol="0">
            <a:spAutoFit/>
          </a:bodyPr>
          <a:lstStyle/>
          <a:p>
            <a:r>
              <a:rPr lang="en-US" dirty="0"/>
              <a:t>class A3 {}</a:t>
            </a:r>
          </a:p>
        </p:txBody>
      </p:sp>
      <p:sp>
        <p:nvSpPr>
          <p:cNvPr id="57" name="TextBox 56">
            <a:extLst>
              <a:ext uri="{FF2B5EF4-FFF2-40B4-BE49-F238E27FC236}">
                <a16:creationId xmlns:a16="http://schemas.microsoft.com/office/drawing/2014/main" id="{5142ABA7-4DA1-464E-93A7-362AE5E99F56}"/>
              </a:ext>
            </a:extLst>
          </p:cNvPr>
          <p:cNvSpPr txBox="1"/>
          <p:nvPr/>
        </p:nvSpPr>
        <p:spPr>
          <a:xfrm>
            <a:off x="5923965" y="1928452"/>
            <a:ext cx="2821157" cy="369332"/>
          </a:xfrm>
          <a:prstGeom prst="rect">
            <a:avLst/>
          </a:prstGeom>
          <a:noFill/>
        </p:spPr>
        <p:txBody>
          <a:bodyPr wrap="none" rtlCol="0">
            <a:spAutoFit/>
          </a:bodyPr>
          <a:lstStyle/>
          <a:p>
            <a:r>
              <a:rPr lang="en-US" dirty="0"/>
              <a:t>class A extends A1, A2, A3 {}</a:t>
            </a:r>
          </a:p>
        </p:txBody>
      </p:sp>
      <p:sp>
        <p:nvSpPr>
          <p:cNvPr id="58" name="TextBox 57">
            <a:extLst>
              <a:ext uri="{FF2B5EF4-FFF2-40B4-BE49-F238E27FC236}">
                <a16:creationId xmlns:a16="http://schemas.microsoft.com/office/drawing/2014/main" id="{A8ED212D-6B3C-4458-AD2C-67A42867C729}"/>
              </a:ext>
            </a:extLst>
          </p:cNvPr>
          <p:cNvSpPr txBox="1"/>
          <p:nvPr/>
        </p:nvSpPr>
        <p:spPr>
          <a:xfrm>
            <a:off x="7898994" y="2292390"/>
            <a:ext cx="2436436" cy="369332"/>
          </a:xfrm>
          <a:prstGeom prst="rect">
            <a:avLst/>
          </a:prstGeom>
          <a:noFill/>
        </p:spPr>
        <p:txBody>
          <a:bodyPr wrap="none" rtlCol="0">
            <a:spAutoFit/>
          </a:bodyPr>
          <a:lstStyle/>
          <a:p>
            <a:r>
              <a:rPr lang="en-US" dirty="0"/>
              <a:t>class B extends B1, B2 {}</a:t>
            </a:r>
          </a:p>
        </p:txBody>
      </p:sp>
      <p:sp>
        <p:nvSpPr>
          <p:cNvPr id="59" name="TextBox 58">
            <a:extLst>
              <a:ext uri="{FF2B5EF4-FFF2-40B4-BE49-F238E27FC236}">
                <a16:creationId xmlns:a16="http://schemas.microsoft.com/office/drawing/2014/main" id="{403AACE7-714B-4323-89DC-D6433DF77AF2}"/>
              </a:ext>
            </a:extLst>
          </p:cNvPr>
          <p:cNvSpPr txBox="1"/>
          <p:nvPr/>
        </p:nvSpPr>
        <p:spPr>
          <a:xfrm>
            <a:off x="9077474" y="1907546"/>
            <a:ext cx="2782685" cy="369332"/>
          </a:xfrm>
          <a:prstGeom prst="rect">
            <a:avLst/>
          </a:prstGeom>
          <a:noFill/>
        </p:spPr>
        <p:txBody>
          <a:bodyPr wrap="none" rtlCol="0">
            <a:spAutoFit/>
          </a:bodyPr>
          <a:lstStyle/>
          <a:p>
            <a:r>
              <a:rPr lang="en-US" dirty="0"/>
              <a:t>class C extends C1, C2, C3 {}</a:t>
            </a:r>
          </a:p>
        </p:txBody>
      </p:sp>
      <p:sp>
        <p:nvSpPr>
          <p:cNvPr id="60" name="TextBox 59">
            <a:extLst>
              <a:ext uri="{FF2B5EF4-FFF2-40B4-BE49-F238E27FC236}">
                <a16:creationId xmlns:a16="http://schemas.microsoft.com/office/drawing/2014/main" id="{B1F268DC-40EA-4A27-86FA-3E6ED95E5585}"/>
              </a:ext>
            </a:extLst>
          </p:cNvPr>
          <p:cNvSpPr txBox="1"/>
          <p:nvPr/>
        </p:nvSpPr>
        <p:spPr>
          <a:xfrm>
            <a:off x="8140222" y="2962401"/>
            <a:ext cx="2354812" cy="369332"/>
          </a:xfrm>
          <a:prstGeom prst="rect">
            <a:avLst/>
          </a:prstGeom>
          <a:noFill/>
        </p:spPr>
        <p:txBody>
          <a:bodyPr wrap="none" rtlCol="0">
            <a:spAutoFit/>
          </a:bodyPr>
          <a:lstStyle/>
          <a:p>
            <a:r>
              <a:rPr lang="en-US" dirty="0"/>
              <a:t>class D extends A,B,C {}</a:t>
            </a:r>
          </a:p>
        </p:txBody>
      </p:sp>
      <p:cxnSp>
        <p:nvCxnSpPr>
          <p:cNvPr id="9" name="Straight Arrow Connector 8">
            <a:extLst>
              <a:ext uri="{FF2B5EF4-FFF2-40B4-BE49-F238E27FC236}">
                <a16:creationId xmlns:a16="http://schemas.microsoft.com/office/drawing/2014/main" id="{99C68818-3520-49D6-B210-A479593FA6EF}"/>
              </a:ext>
            </a:extLst>
          </p:cNvPr>
          <p:cNvCxnSpPr>
            <a:endCxn id="57" idx="2"/>
          </p:cNvCxnSpPr>
          <p:nvPr/>
        </p:nvCxnSpPr>
        <p:spPr>
          <a:xfrm flipH="1" flipV="1">
            <a:off x="7334543" y="2292390"/>
            <a:ext cx="1050322" cy="6700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05E5BD7-8E99-4E11-8359-79D5BCE4A4EB}"/>
              </a:ext>
            </a:extLst>
          </p:cNvPr>
          <p:cNvCxnSpPr/>
          <p:nvPr/>
        </p:nvCxnSpPr>
        <p:spPr>
          <a:xfrm flipV="1">
            <a:off x="8745122" y="2680072"/>
            <a:ext cx="32702" cy="282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3B68BC4-DA2A-49C7-A9AE-13EE5ACF2C1F}"/>
              </a:ext>
            </a:extLst>
          </p:cNvPr>
          <p:cNvCxnSpPr/>
          <p:nvPr/>
        </p:nvCxnSpPr>
        <p:spPr>
          <a:xfrm flipV="1">
            <a:off x="8947680" y="2256707"/>
            <a:ext cx="847763" cy="7056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7206D7A-7629-4639-84B2-995F35889AC3}"/>
              </a:ext>
            </a:extLst>
          </p:cNvPr>
          <p:cNvCxnSpPr/>
          <p:nvPr/>
        </p:nvCxnSpPr>
        <p:spPr>
          <a:xfrm flipV="1">
            <a:off x="7153608" y="1687429"/>
            <a:ext cx="932104" cy="261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3CE291D-3E09-45A0-9F9A-7A9CB8D822B6}"/>
              </a:ext>
            </a:extLst>
          </p:cNvPr>
          <p:cNvCxnSpPr/>
          <p:nvPr/>
        </p:nvCxnSpPr>
        <p:spPr>
          <a:xfrm flipV="1">
            <a:off x="7189823" y="1734545"/>
            <a:ext cx="1902647" cy="2426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68F3D7B-08A7-4464-8D2D-C0C9584EEFE5}"/>
              </a:ext>
            </a:extLst>
          </p:cNvPr>
          <p:cNvCxnSpPr>
            <a:cxnSpLocks/>
          </p:cNvCxnSpPr>
          <p:nvPr/>
        </p:nvCxnSpPr>
        <p:spPr>
          <a:xfrm flipV="1">
            <a:off x="7334543" y="1838846"/>
            <a:ext cx="3047473" cy="1555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3026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54" name="TextBox 53">
            <a:extLst>
              <a:ext uri="{FF2B5EF4-FFF2-40B4-BE49-F238E27FC236}">
                <a16:creationId xmlns:a16="http://schemas.microsoft.com/office/drawing/2014/main" id="{7B544CBD-4995-46DA-9C75-A1277DC6A31C}"/>
              </a:ext>
            </a:extLst>
          </p:cNvPr>
          <p:cNvSpPr txBox="1"/>
          <p:nvPr/>
        </p:nvSpPr>
        <p:spPr>
          <a:xfrm>
            <a:off x="675946" y="1224393"/>
            <a:ext cx="8592378" cy="646331"/>
          </a:xfrm>
          <a:prstGeom prst="rect">
            <a:avLst/>
          </a:prstGeom>
          <a:noFill/>
        </p:spPr>
        <p:txBody>
          <a:bodyPr wrap="square">
            <a:spAutoFit/>
          </a:bodyPr>
          <a:lstStyle/>
          <a:p>
            <a:pPr marL="400050" indent="-400050">
              <a:buFont typeface="+mj-lt"/>
              <a:buAutoNum type="romanLcPeriod" startAt="4"/>
            </a:pPr>
            <a:r>
              <a:rPr lang="en-IN" b="1" dirty="0"/>
              <a:t>Hierarchical Inheritance</a:t>
            </a:r>
          </a:p>
          <a:p>
            <a:r>
              <a:rPr lang="en-IN" dirty="0"/>
              <a:t>In Hierarchical Inheritance a class can be derived into any number of sub classes.</a:t>
            </a:r>
          </a:p>
        </p:txBody>
      </p:sp>
      <p:grpSp>
        <p:nvGrpSpPr>
          <p:cNvPr id="14" name="Group 13">
            <a:extLst>
              <a:ext uri="{FF2B5EF4-FFF2-40B4-BE49-F238E27FC236}">
                <a16:creationId xmlns:a16="http://schemas.microsoft.com/office/drawing/2014/main" id="{2A687A37-BB4D-4CD9-92B7-53F2E454E8F9}"/>
              </a:ext>
            </a:extLst>
          </p:cNvPr>
          <p:cNvGrpSpPr/>
          <p:nvPr/>
        </p:nvGrpSpPr>
        <p:grpSpPr>
          <a:xfrm>
            <a:off x="874869" y="2657149"/>
            <a:ext cx="8466649" cy="2740927"/>
            <a:chOff x="874869" y="2657149"/>
            <a:chExt cx="8466649" cy="2740927"/>
          </a:xfrm>
        </p:grpSpPr>
        <p:sp>
          <p:nvSpPr>
            <p:cNvPr id="19" name="Rectangle 18">
              <a:extLst>
                <a:ext uri="{FF2B5EF4-FFF2-40B4-BE49-F238E27FC236}">
                  <a16:creationId xmlns:a16="http://schemas.microsoft.com/office/drawing/2014/main" id="{74D2C66F-8D48-47B9-8D45-A896F06D6A01}"/>
                </a:ext>
              </a:extLst>
            </p:cNvPr>
            <p:cNvSpPr/>
            <p:nvPr/>
          </p:nvSpPr>
          <p:spPr>
            <a:xfrm>
              <a:off x="4680980" y="2657149"/>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endParaRPr lang="en-IN" b="1" dirty="0"/>
            </a:p>
          </p:txBody>
        </p:sp>
        <p:sp>
          <p:nvSpPr>
            <p:cNvPr id="24" name="Rectangle 23">
              <a:extLst>
                <a:ext uri="{FF2B5EF4-FFF2-40B4-BE49-F238E27FC236}">
                  <a16:creationId xmlns:a16="http://schemas.microsoft.com/office/drawing/2014/main" id="{2344A714-D043-4C4E-B6E3-55D630CC331B}"/>
                </a:ext>
              </a:extLst>
            </p:cNvPr>
            <p:cNvSpPr/>
            <p:nvPr/>
          </p:nvSpPr>
          <p:spPr>
            <a:xfrm>
              <a:off x="2923674" y="3941829"/>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endParaRPr lang="en-IN" b="1" dirty="0"/>
            </a:p>
          </p:txBody>
        </p:sp>
        <p:sp>
          <p:nvSpPr>
            <p:cNvPr id="25" name="Rectangle 24">
              <a:extLst>
                <a:ext uri="{FF2B5EF4-FFF2-40B4-BE49-F238E27FC236}">
                  <a16:creationId xmlns:a16="http://schemas.microsoft.com/office/drawing/2014/main" id="{E3288405-E436-4B0A-9471-2E8BF3EE43BA}"/>
                </a:ext>
              </a:extLst>
            </p:cNvPr>
            <p:cNvSpPr/>
            <p:nvPr/>
          </p:nvSpPr>
          <p:spPr>
            <a:xfrm>
              <a:off x="4680980" y="3941829"/>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endParaRPr lang="en-IN" b="1" dirty="0"/>
            </a:p>
          </p:txBody>
        </p:sp>
        <p:sp>
          <p:nvSpPr>
            <p:cNvPr id="26" name="Rectangle 25">
              <a:extLst>
                <a:ext uri="{FF2B5EF4-FFF2-40B4-BE49-F238E27FC236}">
                  <a16:creationId xmlns:a16="http://schemas.microsoft.com/office/drawing/2014/main" id="{1D215D04-776B-4AAD-8B2C-DB4F8065531E}"/>
                </a:ext>
              </a:extLst>
            </p:cNvPr>
            <p:cNvSpPr/>
            <p:nvPr/>
          </p:nvSpPr>
          <p:spPr>
            <a:xfrm>
              <a:off x="6602288" y="3943620"/>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endParaRPr lang="en-IN" b="1" dirty="0"/>
            </a:p>
          </p:txBody>
        </p:sp>
        <p:sp>
          <p:nvSpPr>
            <p:cNvPr id="27" name="Rectangle 26">
              <a:extLst>
                <a:ext uri="{FF2B5EF4-FFF2-40B4-BE49-F238E27FC236}">
                  <a16:creationId xmlns:a16="http://schemas.microsoft.com/office/drawing/2014/main" id="{09C9C4BC-5F5F-437B-A64A-432EFE5F61CF}"/>
                </a:ext>
              </a:extLst>
            </p:cNvPr>
            <p:cNvSpPr/>
            <p:nvPr/>
          </p:nvSpPr>
          <p:spPr>
            <a:xfrm>
              <a:off x="874869" y="5101435"/>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B1</a:t>
              </a:r>
              <a:endParaRPr lang="en-IN" b="1" dirty="0"/>
            </a:p>
          </p:txBody>
        </p:sp>
        <p:sp>
          <p:nvSpPr>
            <p:cNvPr id="28" name="Rectangle 27">
              <a:extLst>
                <a:ext uri="{FF2B5EF4-FFF2-40B4-BE49-F238E27FC236}">
                  <a16:creationId xmlns:a16="http://schemas.microsoft.com/office/drawing/2014/main" id="{D8A090BF-4853-41CB-8E9B-E3EF4A0377CE}"/>
                </a:ext>
              </a:extLst>
            </p:cNvPr>
            <p:cNvSpPr/>
            <p:nvPr/>
          </p:nvSpPr>
          <p:spPr>
            <a:xfrm>
              <a:off x="1703126" y="5108063"/>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B2</a:t>
              </a:r>
              <a:endParaRPr lang="en-IN" b="1" dirty="0"/>
            </a:p>
          </p:txBody>
        </p:sp>
        <p:sp>
          <p:nvSpPr>
            <p:cNvPr id="29" name="Rectangle 28">
              <a:extLst>
                <a:ext uri="{FF2B5EF4-FFF2-40B4-BE49-F238E27FC236}">
                  <a16:creationId xmlns:a16="http://schemas.microsoft.com/office/drawing/2014/main" id="{087D2236-42FA-4FCE-BD4C-C09009CE5EB0}"/>
                </a:ext>
              </a:extLst>
            </p:cNvPr>
            <p:cNvSpPr/>
            <p:nvPr/>
          </p:nvSpPr>
          <p:spPr>
            <a:xfrm>
              <a:off x="2531388" y="5114690"/>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B3</a:t>
              </a:r>
              <a:endParaRPr lang="en-IN" b="1" dirty="0"/>
            </a:p>
          </p:txBody>
        </p:sp>
        <p:sp>
          <p:nvSpPr>
            <p:cNvPr id="30" name="Rectangle 29">
              <a:extLst>
                <a:ext uri="{FF2B5EF4-FFF2-40B4-BE49-F238E27FC236}">
                  <a16:creationId xmlns:a16="http://schemas.microsoft.com/office/drawing/2014/main" id="{DFC4CC5C-43E1-4724-A52A-DFC169E7EBB2}"/>
                </a:ext>
              </a:extLst>
            </p:cNvPr>
            <p:cNvSpPr/>
            <p:nvPr/>
          </p:nvSpPr>
          <p:spPr>
            <a:xfrm>
              <a:off x="3359647" y="5121318"/>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B4</a:t>
              </a:r>
              <a:endParaRPr lang="en-IN" b="1" dirty="0"/>
            </a:p>
          </p:txBody>
        </p:sp>
        <p:sp>
          <p:nvSpPr>
            <p:cNvPr id="31" name="Rectangle 30">
              <a:extLst>
                <a:ext uri="{FF2B5EF4-FFF2-40B4-BE49-F238E27FC236}">
                  <a16:creationId xmlns:a16="http://schemas.microsoft.com/office/drawing/2014/main" id="{B923C542-24D0-468C-9F19-CF549A3985AF}"/>
                </a:ext>
              </a:extLst>
            </p:cNvPr>
            <p:cNvSpPr/>
            <p:nvPr/>
          </p:nvSpPr>
          <p:spPr>
            <a:xfrm>
              <a:off x="4428176" y="5100934"/>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C1</a:t>
              </a:r>
              <a:endParaRPr lang="en-IN" b="1" dirty="0"/>
            </a:p>
          </p:txBody>
        </p:sp>
        <p:sp>
          <p:nvSpPr>
            <p:cNvPr id="32" name="Rectangle 31">
              <a:extLst>
                <a:ext uri="{FF2B5EF4-FFF2-40B4-BE49-F238E27FC236}">
                  <a16:creationId xmlns:a16="http://schemas.microsoft.com/office/drawing/2014/main" id="{25795193-7C64-4E33-A3A0-CE9B8454FFF9}"/>
                </a:ext>
              </a:extLst>
            </p:cNvPr>
            <p:cNvSpPr/>
            <p:nvPr/>
          </p:nvSpPr>
          <p:spPr>
            <a:xfrm>
              <a:off x="5243187" y="5107562"/>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C2</a:t>
              </a:r>
              <a:endParaRPr lang="en-IN" b="1" dirty="0"/>
            </a:p>
          </p:txBody>
        </p:sp>
        <p:sp>
          <p:nvSpPr>
            <p:cNvPr id="33" name="Rectangle 32">
              <a:extLst>
                <a:ext uri="{FF2B5EF4-FFF2-40B4-BE49-F238E27FC236}">
                  <a16:creationId xmlns:a16="http://schemas.microsoft.com/office/drawing/2014/main" id="{8E2041C2-E4CA-4B93-925E-3384698BDA43}"/>
                </a:ext>
              </a:extLst>
            </p:cNvPr>
            <p:cNvSpPr/>
            <p:nvPr/>
          </p:nvSpPr>
          <p:spPr>
            <a:xfrm>
              <a:off x="6257990" y="5125755"/>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D1</a:t>
              </a:r>
              <a:endParaRPr lang="en-IN" b="1" dirty="0"/>
            </a:p>
          </p:txBody>
        </p:sp>
        <p:sp>
          <p:nvSpPr>
            <p:cNvPr id="34" name="Rectangle 33">
              <a:extLst>
                <a:ext uri="{FF2B5EF4-FFF2-40B4-BE49-F238E27FC236}">
                  <a16:creationId xmlns:a16="http://schemas.microsoft.com/office/drawing/2014/main" id="{D902950C-08AC-4464-8E20-F4744A787291}"/>
                </a:ext>
              </a:extLst>
            </p:cNvPr>
            <p:cNvSpPr/>
            <p:nvPr/>
          </p:nvSpPr>
          <p:spPr>
            <a:xfrm>
              <a:off x="7060045" y="5132381"/>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D2</a:t>
              </a:r>
              <a:endParaRPr lang="en-IN" b="1" dirty="0"/>
            </a:p>
          </p:txBody>
        </p:sp>
        <p:sp>
          <p:nvSpPr>
            <p:cNvPr id="35" name="Rectangle 34">
              <a:extLst>
                <a:ext uri="{FF2B5EF4-FFF2-40B4-BE49-F238E27FC236}">
                  <a16:creationId xmlns:a16="http://schemas.microsoft.com/office/drawing/2014/main" id="{07B81B59-5498-481D-88A2-602243509EC2}"/>
                </a:ext>
              </a:extLst>
            </p:cNvPr>
            <p:cNvSpPr/>
            <p:nvPr/>
          </p:nvSpPr>
          <p:spPr>
            <a:xfrm>
              <a:off x="7864295" y="5114689"/>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D3</a:t>
              </a:r>
              <a:endParaRPr lang="en-IN" b="1" dirty="0"/>
            </a:p>
          </p:txBody>
        </p:sp>
        <p:sp>
          <p:nvSpPr>
            <p:cNvPr id="36" name="Rectangle 35">
              <a:extLst>
                <a:ext uri="{FF2B5EF4-FFF2-40B4-BE49-F238E27FC236}">
                  <a16:creationId xmlns:a16="http://schemas.microsoft.com/office/drawing/2014/main" id="{F48C1BDB-999A-47AF-9C41-D8261C172DDC}"/>
                </a:ext>
              </a:extLst>
            </p:cNvPr>
            <p:cNvSpPr/>
            <p:nvPr/>
          </p:nvSpPr>
          <p:spPr>
            <a:xfrm>
              <a:off x="8627470" y="5114689"/>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D4</a:t>
              </a:r>
              <a:endParaRPr lang="en-IN" b="1" dirty="0"/>
            </a:p>
          </p:txBody>
        </p:sp>
        <p:sp>
          <p:nvSpPr>
            <p:cNvPr id="7" name="Arrow: Down 6">
              <a:extLst>
                <a:ext uri="{FF2B5EF4-FFF2-40B4-BE49-F238E27FC236}">
                  <a16:creationId xmlns:a16="http://schemas.microsoft.com/office/drawing/2014/main" id="{35A8E9FD-500A-4206-A0DD-79A651D1BBAD}"/>
                </a:ext>
              </a:extLst>
            </p:cNvPr>
            <p:cNvSpPr/>
            <p:nvPr/>
          </p:nvSpPr>
          <p:spPr>
            <a:xfrm>
              <a:off x="3359647" y="3495260"/>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Arrow: Down 36">
              <a:extLst>
                <a:ext uri="{FF2B5EF4-FFF2-40B4-BE49-F238E27FC236}">
                  <a16:creationId xmlns:a16="http://schemas.microsoft.com/office/drawing/2014/main" id="{74E30957-C599-42A9-9A7F-9433954789B0}"/>
                </a:ext>
              </a:extLst>
            </p:cNvPr>
            <p:cNvSpPr/>
            <p:nvPr/>
          </p:nvSpPr>
          <p:spPr>
            <a:xfrm>
              <a:off x="5115561" y="3475384"/>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Arrow: Down 37">
              <a:extLst>
                <a:ext uri="{FF2B5EF4-FFF2-40B4-BE49-F238E27FC236}">
                  <a16:creationId xmlns:a16="http://schemas.microsoft.com/office/drawing/2014/main" id="{095C21E7-8898-40E4-B028-0632DFE9B586}"/>
                </a:ext>
              </a:extLst>
            </p:cNvPr>
            <p:cNvSpPr/>
            <p:nvPr/>
          </p:nvSpPr>
          <p:spPr>
            <a:xfrm>
              <a:off x="6844971" y="3482009"/>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id="{C20EE8B3-4DA2-4A5A-AC19-8A826FEF761E}"/>
                </a:ext>
              </a:extLst>
            </p:cNvPr>
            <p:cNvCxnSpPr/>
            <p:nvPr/>
          </p:nvCxnSpPr>
          <p:spPr>
            <a:xfrm>
              <a:off x="3359647" y="3429000"/>
              <a:ext cx="382303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9" name="Arrow: Down 38">
              <a:extLst>
                <a:ext uri="{FF2B5EF4-FFF2-40B4-BE49-F238E27FC236}">
                  <a16:creationId xmlns:a16="http://schemas.microsoft.com/office/drawing/2014/main" id="{5B4678A0-5095-4BE0-BAA8-CAB8B782A2B3}"/>
                </a:ext>
              </a:extLst>
            </p:cNvPr>
            <p:cNvSpPr/>
            <p:nvPr/>
          </p:nvSpPr>
          <p:spPr>
            <a:xfrm>
              <a:off x="1100150" y="4668078"/>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Arrow: Down 39">
              <a:extLst>
                <a:ext uri="{FF2B5EF4-FFF2-40B4-BE49-F238E27FC236}">
                  <a16:creationId xmlns:a16="http://schemas.microsoft.com/office/drawing/2014/main" id="{C413E2ED-2ED0-4ED8-B046-2E13B80519FC}"/>
                </a:ext>
              </a:extLst>
            </p:cNvPr>
            <p:cNvSpPr/>
            <p:nvPr/>
          </p:nvSpPr>
          <p:spPr>
            <a:xfrm>
              <a:off x="1915159" y="4661450"/>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Arrow: Down 40">
              <a:extLst>
                <a:ext uri="{FF2B5EF4-FFF2-40B4-BE49-F238E27FC236}">
                  <a16:creationId xmlns:a16="http://schemas.microsoft.com/office/drawing/2014/main" id="{2AECDA2B-C39E-4346-A535-11DB0EBEACE7}"/>
                </a:ext>
              </a:extLst>
            </p:cNvPr>
            <p:cNvSpPr/>
            <p:nvPr/>
          </p:nvSpPr>
          <p:spPr>
            <a:xfrm>
              <a:off x="2716917" y="4681331"/>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Arrow: Down 41">
              <a:extLst>
                <a:ext uri="{FF2B5EF4-FFF2-40B4-BE49-F238E27FC236}">
                  <a16:creationId xmlns:a16="http://schemas.microsoft.com/office/drawing/2014/main" id="{C2492753-9EBC-4332-B914-CB78662E6856}"/>
                </a:ext>
              </a:extLst>
            </p:cNvPr>
            <p:cNvSpPr/>
            <p:nvPr/>
          </p:nvSpPr>
          <p:spPr>
            <a:xfrm>
              <a:off x="3571685" y="4687958"/>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3" name="Straight Connector 42">
              <a:extLst>
                <a:ext uri="{FF2B5EF4-FFF2-40B4-BE49-F238E27FC236}">
                  <a16:creationId xmlns:a16="http://schemas.microsoft.com/office/drawing/2014/main" id="{E43EB302-D5BF-461D-9398-995CA38B6029}"/>
                </a:ext>
              </a:extLst>
            </p:cNvPr>
            <p:cNvCxnSpPr>
              <a:cxnSpLocks/>
            </p:cNvCxnSpPr>
            <p:nvPr/>
          </p:nvCxnSpPr>
          <p:spPr>
            <a:xfrm>
              <a:off x="1153157" y="4628319"/>
              <a:ext cx="275623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4" name="Arrow: Down 43">
              <a:extLst>
                <a:ext uri="{FF2B5EF4-FFF2-40B4-BE49-F238E27FC236}">
                  <a16:creationId xmlns:a16="http://schemas.microsoft.com/office/drawing/2014/main" id="{BF198972-BAC0-45E2-BE55-43634F4FDDCA}"/>
                </a:ext>
              </a:extLst>
            </p:cNvPr>
            <p:cNvSpPr/>
            <p:nvPr/>
          </p:nvSpPr>
          <p:spPr>
            <a:xfrm>
              <a:off x="4578850" y="4714463"/>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Arrow: Down 44">
              <a:extLst>
                <a:ext uri="{FF2B5EF4-FFF2-40B4-BE49-F238E27FC236}">
                  <a16:creationId xmlns:a16="http://schemas.microsoft.com/office/drawing/2014/main" id="{563F2315-3143-47E7-89D4-E6B166C17BA3}"/>
                </a:ext>
              </a:extLst>
            </p:cNvPr>
            <p:cNvSpPr/>
            <p:nvPr/>
          </p:nvSpPr>
          <p:spPr>
            <a:xfrm>
              <a:off x="5433618" y="4721090"/>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Arrow: Down 45">
              <a:extLst>
                <a:ext uri="{FF2B5EF4-FFF2-40B4-BE49-F238E27FC236}">
                  <a16:creationId xmlns:a16="http://schemas.microsoft.com/office/drawing/2014/main" id="{B6B249C5-9376-4D5B-890A-755DAF957996}"/>
                </a:ext>
              </a:extLst>
            </p:cNvPr>
            <p:cNvSpPr/>
            <p:nvPr/>
          </p:nvSpPr>
          <p:spPr>
            <a:xfrm>
              <a:off x="6427528" y="4747595"/>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Arrow: Down 46">
              <a:extLst>
                <a:ext uri="{FF2B5EF4-FFF2-40B4-BE49-F238E27FC236}">
                  <a16:creationId xmlns:a16="http://schemas.microsoft.com/office/drawing/2014/main" id="{32ADE3AD-4252-4C68-8E83-2DFB90D9E8B8}"/>
                </a:ext>
              </a:extLst>
            </p:cNvPr>
            <p:cNvSpPr/>
            <p:nvPr/>
          </p:nvSpPr>
          <p:spPr>
            <a:xfrm>
              <a:off x="7282296" y="4754222"/>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Arrow: Down 47">
              <a:extLst>
                <a:ext uri="{FF2B5EF4-FFF2-40B4-BE49-F238E27FC236}">
                  <a16:creationId xmlns:a16="http://schemas.microsoft.com/office/drawing/2014/main" id="{BD6FA061-D3E3-43A6-878D-0753C3D6BE2A}"/>
                </a:ext>
              </a:extLst>
            </p:cNvPr>
            <p:cNvSpPr/>
            <p:nvPr/>
          </p:nvSpPr>
          <p:spPr>
            <a:xfrm>
              <a:off x="8011166" y="4740967"/>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Arrow: Down 48">
              <a:extLst>
                <a:ext uri="{FF2B5EF4-FFF2-40B4-BE49-F238E27FC236}">
                  <a16:creationId xmlns:a16="http://schemas.microsoft.com/office/drawing/2014/main" id="{FBA66104-807D-4E09-90C6-AC138F8B17A4}"/>
                </a:ext>
              </a:extLst>
            </p:cNvPr>
            <p:cNvSpPr/>
            <p:nvPr/>
          </p:nvSpPr>
          <p:spPr>
            <a:xfrm>
              <a:off x="8865934" y="4747594"/>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0" name="Straight Connector 49">
              <a:extLst>
                <a:ext uri="{FF2B5EF4-FFF2-40B4-BE49-F238E27FC236}">
                  <a16:creationId xmlns:a16="http://schemas.microsoft.com/office/drawing/2014/main" id="{CFB21666-C2D6-4456-B018-CE71BA8A5077}"/>
                </a:ext>
              </a:extLst>
            </p:cNvPr>
            <p:cNvCxnSpPr>
              <a:cxnSpLocks/>
            </p:cNvCxnSpPr>
            <p:nvPr/>
          </p:nvCxnSpPr>
          <p:spPr>
            <a:xfrm>
              <a:off x="6460661" y="4687955"/>
              <a:ext cx="275623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F55E7B1-42FC-4EB6-8D03-1ACF7DE90A1F}"/>
                </a:ext>
              </a:extLst>
            </p:cNvPr>
            <p:cNvCxnSpPr>
              <a:cxnSpLocks/>
            </p:cNvCxnSpPr>
            <p:nvPr/>
          </p:nvCxnSpPr>
          <p:spPr>
            <a:xfrm>
              <a:off x="4651741" y="4668079"/>
              <a:ext cx="105860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2" name="Arrow: Down 51">
              <a:extLst>
                <a:ext uri="{FF2B5EF4-FFF2-40B4-BE49-F238E27FC236}">
                  <a16:creationId xmlns:a16="http://schemas.microsoft.com/office/drawing/2014/main" id="{0BCD0EC6-A5CE-44F3-BA4E-530E60803377}"/>
                </a:ext>
              </a:extLst>
            </p:cNvPr>
            <p:cNvSpPr/>
            <p:nvPr/>
          </p:nvSpPr>
          <p:spPr>
            <a:xfrm>
              <a:off x="5108935" y="3004934"/>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3" name="TextBox 52">
            <a:extLst>
              <a:ext uri="{FF2B5EF4-FFF2-40B4-BE49-F238E27FC236}">
                <a16:creationId xmlns:a16="http://schemas.microsoft.com/office/drawing/2014/main" id="{A036FE7E-2C28-4F64-8F7A-B87FF761CBDE}"/>
              </a:ext>
            </a:extLst>
          </p:cNvPr>
          <p:cNvSpPr txBox="1"/>
          <p:nvPr/>
        </p:nvSpPr>
        <p:spPr>
          <a:xfrm>
            <a:off x="8627470" y="1643270"/>
            <a:ext cx="1008609" cy="369332"/>
          </a:xfrm>
          <a:prstGeom prst="rect">
            <a:avLst/>
          </a:prstGeom>
          <a:noFill/>
        </p:spPr>
        <p:txBody>
          <a:bodyPr wrap="none" rtlCol="0">
            <a:spAutoFit/>
          </a:bodyPr>
          <a:lstStyle/>
          <a:p>
            <a:r>
              <a:rPr lang="en-US" dirty="0"/>
              <a:t>class A {}</a:t>
            </a:r>
            <a:endParaRPr lang="en-IN" dirty="0"/>
          </a:p>
        </p:txBody>
      </p:sp>
      <p:sp>
        <p:nvSpPr>
          <p:cNvPr id="55" name="TextBox 54">
            <a:extLst>
              <a:ext uri="{FF2B5EF4-FFF2-40B4-BE49-F238E27FC236}">
                <a16:creationId xmlns:a16="http://schemas.microsoft.com/office/drawing/2014/main" id="{2F7E6E9A-22DE-47B7-A98C-630392216291}"/>
              </a:ext>
            </a:extLst>
          </p:cNvPr>
          <p:cNvSpPr txBox="1"/>
          <p:nvPr/>
        </p:nvSpPr>
        <p:spPr>
          <a:xfrm>
            <a:off x="6275128" y="2153255"/>
            <a:ext cx="1974771" cy="369332"/>
          </a:xfrm>
          <a:prstGeom prst="rect">
            <a:avLst/>
          </a:prstGeom>
          <a:noFill/>
        </p:spPr>
        <p:txBody>
          <a:bodyPr wrap="none" rtlCol="0">
            <a:spAutoFit/>
          </a:bodyPr>
          <a:lstStyle/>
          <a:p>
            <a:r>
              <a:rPr lang="en-US" dirty="0"/>
              <a:t>class B extends A {}</a:t>
            </a:r>
            <a:endParaRPr lang="en-IN" dirty="0"/>
          </a:p>
        </p:txBody>
      </p:sp>
      <p:sp>
        <p:nvSpPr>
          <p:cNvPr id="58" name="TextBox 57">
            <a:extLst>
              <a:ext uri="{FF2B5EF4-FFF2-40B4-BE49-F238E27FC236}">
                <a16:creationId xmlns:a16="http://schemas.microsoft.com/office/drawing/2014/main" id="{E433F559-9077-447D-BD60-277131DC9F30}"/>
              </a:ext>
            </a:extLst>
          </p:cNvPr>
          <p:cNvSpPr txBox="1"/>
          <p:nvPr/>
        </p:nvSpPr>
        <p:spPr>
          <a:xfrm>
            <a:off x="8229826" y="2159880"/>
            <a:ext cx="1974771" cy="369332"/>
          </a:xfrm>
          <a:prstGeom prst="rect">
            <a:avLst/>
          </a:prstGeom>
          <a:noFill/>
        </p:spPr>
        <p:txBody>
          <a:bodyPr wrap="none" rtlCol="0">
            <a:spAutoFit/>
          </a:bodyPr>
          <a:lstStyle/>
          <a:p>
            <a:r>
              <a:rPr lang="en-US" dirty="0"/>
              <a:t>class C extends A {}</a:t>
            </a:r>
            <a:endParaRPr lang="en-IN" dirty="0"/>
          </a:p>
        </p:txBody>
      </p:sp>
      <p:sp>
        <p:nvSpPr>
          <p:cNvPr id="59" name="TextBox 58">
            <a:extLst>
              <a:ext uri="{FF2B5EF4-FFF2-40B4-BE49-F238E27FC236}">
                <a16:creationId xmlns:a16="http://schemas.microsoft.com/office/drawing/2014/main" id="{187072EA-A517-49A7-92F9-59DA2BAE70D7}"/>
              </a:ext>
            </a:extLst>
          </p:cNvPr>
          <p:cNvSpPr txBox="1"/>
          <p:nvPr/>
        </p:nvSpPr>
        <p:spPr>
          <a:xfrm>
            <a:off x="10089526" y="2133459"/>
            <a:ext cx="1974771" cy="369332"/>
          </a:xfrm>
          <a:prstGeom prst="rect">
            <a:avLst/>
          </a:prstGeom>
          <a:noFill/>
        </p:spPr>
        <p:txBody>
          <a:bodyPr wrap="none" rtlCol="0">
            <a:spAutoFit/>
          </a:bodyPr>
          <a:lstStyle/>
          <a:p>
            <a:r>
              <a:rPr lang="en-US" dirty="0"/>
              <a:t>class D extends A {}</a:t>
            </a:r>
            <a:endParaRPr lang="en-IN" dirty="0"/>
          </a:p>
        </p:txBody>
      </p:sp>
      <p:sp>
        <p:nvSpPr>
          <p:cNvPr id="60" name="TextBox 59">
            <a:extLst>
              <a:ext uri="{FF2B5EF4-FFF2-40B4-BE49-F238E27FC236}">
                <a16:creationId xmlns:a16="http://schemas.microsoft.com/office/drawing/2014/main" id="{8A846734-727F-47E1-8C3B-A8F6E5A38040}"/>
              </a:ext>
            </a:extLst>
          </p:cNvPr>
          <p:cNvSpPr txBox="1"/>
          <p:nvPr/>
        </p:nvSpPr>
        <p:spPr>
          <a:xfrm>
            <a:off x="6122729" y="2729724"/>
            <a:ext cx="2091791" cy="369332"/>
          </a:xfrm>
          <a:prstGeom prst="rect">
            <a:avLst/>
          </a:prstGeom>
          <a:noFill/>
        </p:spPr>
        <p:txBody>
          <a:bodyPr wrap="none" rtlCol="0">
            <a:spAutoFit/>
          </a:bodyPr>
          <a:lstStyle/>
          <a:p>
            <a:r>
              <a:rPr lang="en-US" dirty="0"/>
              <a:t>class B1 extends B {}</a:t>
            </a:r>
            <a:endParaRPr lang="en-IN" dirty="0"/>
          </a:p>
        </p:txBody>
      </p:sp>
      <p:sp>
        <p:nvSpPr>
          <p:cNvPr id="61" name="TextBox 60">
            <a:extLst>
              <a:ext uri="{FF2B5EF4-FFF2-40B4-BE49-F238E27FC236}">
                <a16:creationId xmlns:a16="http://schemas.microsoft.com/office/drawing/2014/main" id="{2C2E0D25-4601-4D33-8940-CDC5E8589366}"/>
              </a:ext>
            </a:extLst>
          </p:cNvPr>
          <p:cNvSpPr txBox="1"/>
          <p:nvPr/>
        </p:nvSpPr>
        <p:spPr>
          <a:xfrm>
            <a:off x="7322054" y="3107408"/>
            <a:ext cx="2091791" cy="369332"/>
          </a:xfrm>
          <a:prstGeom prst="rect">
            <a:avLst/>
          </a:prstGeom>
          <a:noFill/>
        </p:spPr>
        <p:txBody>
          <a:bodyPr wrap="none" rtlCol="0">
            <a:spAutoFit/>
          </a:bodyPr>
          <a:lstStyle/>
          <a:p>
            <a:r>
              <a:rPr lang="en-US" dirty="0"/>
              <a:t>class B2 extends B {}</a:t>
            </a:r>
            <a:endParaRPr lang="en-IN" dirty="0"/>
          </a:p>
        </p:txBody>
      </p:sp>
      <p:sp>
        <p:nvSpPr>
          <p:cNvPr id="62" name="TextBox 61">
            <a:extLst>
              <a:ext uri="{FF2B5EF4-FFF2-40B4-BE49-F238E27FC236}">
                <a16:creationId xmlns:a16="http://schemas.microsoft.com/office/drawing/2014/main" id="{227CB206-4460-477F-ADFD-519FF98FEC83}"/>
              </a:ext>
            </a:extLst>
          </p:cNvPr>
          <p:cNvSpPr txBox="1"/>
          <p:nvPr/>
        </p:nvSpPr>
        <p:spPr>
          <a:xfrm>
            <a:off x="9687564" y="3114036"/>
            <a:ext cx="2091791" cy="369332"/>
          </a:xfrm>
          <a:prstGeom prst="rect">
            <a:avLst/>
          </a:prstGeom>
          <a:noFill/>
        </p:spPr>
        <p:txBody>
          <a:bodyPr wrap="none" rtlCol="0">
            <a:spAutoFit/>
          </a:bodyPr>
          <a:lstStyle/>
          <a:p>
            <a:r>
              <a:rPr lang="en-US" dirty="0"/>
              <a:t>class B3 extends B {}</a:t>
            </a:r>
            <a:endParaRPr lang="en-IN" dirty="0"/>
          </a:p>
        </p:txBody>
      </p:sp>
      <p:sp>
        <p:nvSpPr>
          <p:cNvPr id="63" name="TextBox 62">
            <a:extLst>
              <a:ext uri="{FF2B5EF4-FFF2-40B4-BE49-F238E27FC236}">
                <a16:creationId xmlns:a16="http://schemas.microsoft.com/office/drawing/2014/main" id="{2A341B70-ACDE-43BA-9C3D-28C200F08C34}"/>
              </a:ext>
            </a:extLst>
          </p:cNvPr>
          <p:cNvSpPr txBox="1"/>
          <p:nvPr/>
        </p:nvSpPr>
        <p:spPr>
          <a:xfrm>
            <a:off x="9839963" y="2723101"/>
            <a:ext cx="2091791" cy="369332"/>
          </a:xfrm>
          <a:prstGeom prst="rect">
            <a:avLst/>
          </a:prstGeom>
          <a:noFill/>
        </p:spPr>
        <p:txBody>
          <a:bodyPr wrap="none" rtlCol="0">
            <a:spAutoFit/>
          </a:bodyPr>
          <a:lstStyle/>
          <a:p>
            <a:r>
              <a:rPr lang="en-US" dirty="0"/>
              <a:t>class B4 extends B {}</a:t>
            </a:r>
            <a:endParaRPr lang="en-IN" dirty="0"/>
          </a:p>
        </p:txBody>
      </p:sp>
    </p:spTree>
    <p:extLst>
      <p:ext uri="{BB962C8B-B14F-4D97-AF65-F5344CB8AC3E}">
        <p14:creationId xmlns:p14="http://schemas.microsoft.com/office/powerpoint/2010/main" val="3723783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id="{249DC052-88AF-45A1-BE84-3E671734F005}"/>
              </a:ext>
            </a:extLst>
          </p:cNvPr>
          <p:cNvSpPr txBox="1"/>
          <p:nvPr/>
        </p:nvSpPr>
        <p:spPr>
          <a:xfrm>
            <a:off x="463826" y="796357"/>
            <a:ext cx="8700052" cy="646331"/>
          </a:xfrm>
          <a:prstGeom prst="rect">
            <a:avLst/>
          </a:prstGeom>
          <a:noFill/>
        </p:spPr>
        <p:txBody>
          <a:bodyPr wrap="square">
            <a:spAutoFit/>
          </a:bodyPr>
          <a:lstStyle/>
          <a:p>
            <a:pPr marL="400050" indent="-400050">
              <a:buFont typeface="+mj-lt"/>
              <a:buAutoNum type="romanLcPeriod" startAt="5"/>
            </a:pPr>
            <a:r>
              <a:rPr lang="en-IN" b="1" u="sng" dirty="0"/>
              <a:t>Hybrid Inheritance</a:t>
            </a:r>
          </a:p>
          <a:p>
            <a:r>
              <a:rPr lang="en-IN" dirty="0"/>
              <a:t>Hybrid Inheritance is a combination of hierarchical and multiple inheritance.</a:t>
            </a:r>
          </a:p>
        </p:txBody>
      </p:sp>
      <p:grpSp>
        <p:nvGrpSpPr>
          <p:cNvPr id="11" name="Group 10">
            <a:extLst>
              <a:ext uri="{FF2B5EF4-FFF2-40B4-BE49-F238E27FC236}">
                <a16:creationId xmlns:a16="http://schemas.microsoft.com/office/drawing/2014/main" id="{CA71341B-7CA1-41D7-84F7-272D1D935613}"/>
              </a:ext>
            </a:extLst>
          </p:cNvPr>
          <p:cNvGrpSpPr/>
          <p:nvPr/>
        </p:nvGrpSpPr>
        <p:grpSpPr>
          <a:xfrm>
            <a:off x="2744156" y="1815548"/>
            <a:ext cx="4293004" cy="2602375"/>
            <a:chOff x="2744156" y="1815548"/>
            <a:chExt cx="4293004" cy="2602375"/>
          </a:xfrm>
        </p:grpSpPr>
        <p:sp>
          <p:nvSpPr>
            <p:cNvPr id="7" name="Rectangle 6">
              <a:extLst>
                <a:ext uri="{FF2B5EF4-FFF2-40B4-BE49-F238E27FC236}">
                  <a16:creationId xmlns:a16="http://schemas.microsoft.com/office/drawing/2014/main" id="{6BB6AA36-3930-494E-A595-113717E07923}"/>
                </a:ext>
              </a:extLst>
            </p:cNvPr>
            <p:cNvSpPr/>
            <p:nvPr/>
          </p:nvSpPr>
          <p:spPr>
            <a:xfrm>
              <a:off x="4399722" y="1815548"/>
              <a:ext cx="1060174" cy="5300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A</a:t>
              </a:r>
              <a:endParaRPr lang="en-IN" b="1" dirty="0"/>
            </a:p>
          </p:txBody>
        </p:sp>
        <p:sp>
          <p:nvSpPr>
            <p:cNvPr id="24" name="Rectangle 23">
              <a:extLst>
                <a:ext uri="{FF2B5EF4-FFF2-40B4-BE49-F238E27FC236}">
                  <a16:creationId xmlns:a16="http://schemas.microsoft.com/office/drawing/2014/main" id="{B16BEB09-F6AD-4107-A9FE-7F2BD77623A4}"/>
                </a:ext>
              </a:extLst>
            </p:cNvPr>
            <p:cNvSpPr/>
            <p:nvPr/>
          </p:nvSpPr>
          <p:spPr>
            <a:xfrm>
              <a:off x="4399722" y="3887836"/>
              <a:ext cx="1060174" cy="5300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D</a:t>
              </a:r>
              <a:endParaRPr lang="en-IN" b="1" dirty="0"/>
            </a:p>
          </p:txBody>
        </p:sp>
        <p:sp>
          <p:nvSpPr>
            <p:cNvPr id="25" name="Rectangle 24">
              <a:extLst>
                <a:ext uri="{FF2B5EF4-FFF2-40B4-BE49-F238E27FC236}">
                  <a16:creationId xmlns:a16="http://schemas.microsoft.com/office/drawing/2014/main" id="{6F69CEE2-998E-40A4-A31B-106E73962024}"/>
                </a:ext>
              </a:extLst>
            </p:cNvPr>
            <p:cNvSpPr/>
            <p:nvPr/>
          </p:nvSpPr>
          <p:spPr>
            <a:xfrm>
              <a:off x="5976986" y="2838145"/>
              <a:ext cx="1060174" cy="5300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C</a:t>
              </a:r>
              <a:endParaRPr lang="en-IN" b="1" dirty="0"/>
            </a:p>
          </p:txBody>
        </p:sp>
        <p:sp>
          <p:nvSpPr>
            <p:cNvPr id="26" name="Rectangle 25">
              <a:extLst>
                <a:ext uri="{FF2B5EF4-FFF2-40B4-BE49-F238E27FC236}">
                  <a16:creationId xmlns:a16="http://schemas.microsoft.com/office/drawing/2014/main" id="{D0A15388-DAD8-4231-BFA1-DA263926669E}"/>
                </a:ext>
              </a:extLst>
            </p:cNvPr>
            <p:cNvSpPr/>
            <p:nvPr/>
          </p:nvSpPr>
          <p:spPr>
            <a:xfrm>
              <a:off x="2744156" y="2844771"/>
              <a:ext cx="1060174" cy="5300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B</a:t>
              </a:r>
              <a:endParaRPr lang="en-IN" b="1" dirty="0"/>
            </a:p>
          </p:txBody>
        </p:sp>
        <p:cxnSp>
          <p:nvCxnSpPr>
            <p:cNvPr id="9" name="Straight Connector 8">
              <a:extLst>
                <a:ext uri="{FF2B5EF4-FFF2-40B4-BE49-F238E27FC236}">
                  <a16:creationId xmlns:a16="http://schemas.microsoft.com/office/drawing/2014/main" id="{9EA18FED-59D2-44D2-AA61-803152FBA26F}"/>
                </a:ext>
              </a:extLst>
            </p:cNvPr>
            <p:cNvCxnSpPr/>
            <p:nvPr/>
          </p:nvCxnSpPr>
          <p:spPr>
            <a:xfrm>
              <a:off x="3274243" y="2584175"/>
              <a:ext cx="323283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5D65A4C-A7F6-4F09-A7C0-8197BAD6EB9A}"/>
                </a:ext>
              </a:extLst>
            </p:cNvPr>
            <p:cNvCxnSpPr/>
            <p:nvPr/>
          </p:nvCxnSpPr>
          <p:spPr>
            <a:xfrm>
              <a:off x="3267619" y="3624473"/>
              <a:ext cx="323283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 name="Arrow: Down 9">
              <a:extLst>
                <a:ext uri="{FF2B5EF4-FFF2-40B4-BE49-F238E27FC236}">
                  <a16:creationId xmlns:a16="http://schemas.microsoft.com/office/drawing/2014/main" id="{779F31D1-4340-40B7-9990-5E3E8DC371F5}"/>
                </a:ext>
              </a:extLst>
            </p:cNvPr>
            <p:cNvSpPr/>
            <p:nvPr/>
          </p:nvSpPr>
          <p:spPr>
            <a:xfrm>
              <a:off x="4747592" y="2345635"/>
              <a:ext cx="340988" cy="1890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Arrow: Down 27">
              <a:extLst>
                <a:ext uri="{FF2B5EF4-FFF2-40B4-BE49-F238E27FC236}">
                  <a16:creationId xmlns:a16="http://schemas.microsoft.com/office/drawing/2014/main" id="{8FBC3C8F-282E-4A87-9B0B-A308599A225D}"/>
                </a:ext>
              </a:extLst>
            </p:cNvPr>
            <p:cNvSpPr/>
            <p:nvPr/>
          </p:nvSpPr>
          <p:spPr>
            <a:xfrm>
              <a:off x="3150705" y="2617303"/>
              <a:ext cx="340988" cy="1890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Arrow: Down 28">
              <a:extLst>
                <a:ext uri="{FF2B5EF4-FFF2-40B4-BE49-F238E27FC236}">
                  <a16:creationId xmlns:a16="http://schemas.microsoft.com/office/drawing/2014/main" id="{5B348C15-FCFB-48D8-88B1-435C29BF2569}"/>
                </a:ext>
              </a:extLst>
            </p:cNvPr>
            <p:cNvSpPr/>
            <p:nvPr/>
          </p:nvSpPr>
          <p:spPr>
            <a:xfrm>
              <a:off x="6337853" y="2610679"/>
              <a:ext cx="340988" cy="1890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Arrow: Down 29">
              <a:extLst>
                <a:ext uri="{FF2B5EF4-FFF2-40B4-BE49-F238E27FC236}">
                  <a16:creationId xmlns:a16="http://schemas.microsoft.com/office/drawing/2014/main" id="{A52D8A40-70FD-4002-B82E-7AA135FD96F8}"/>
                </a:ext>
              </a:extLst>
            </p:cNvPr>
            <p:cNvSpPr/>
            <p:nvPr/>
          </p:nvSpPr>
          <p:spPr>
            <a:xfrm>
              <a:off x="4780723" y="3677478"/>
              <a:ext cx="340988" cy="1890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Arrow: Down 30">
              <a:extLst>
                <a:ext uri="{FF2B5EF4-FFF2-40B4-BE49-F238E27FC236}">
                  <a16:creationId xmlns:a16="http://schemas.microsoft.com/office/drawing/2014/main" id="{6B5795D1-E4A7-42BD-87E4-3A61C44A1919}"/>
                </a:ext>
              </a:extLst>
            </p:cNvPr>
            <p:cNvSpPr/>
            <p:nvPr/>
          </p:nvSpPr>
          <p:spPr>
            <a:xfrm>
              <a:off x="3144081" y="3405804"/>
              <a:ext cx="340988" cy="1890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Arrow: Down 31">
              <a:extLst>
                <a:ext uri="{FF2B5EF4-FFF2-40B4-BE49-F238E27FC236}">
                  <a16:creationId xmlns:a16="http://schemas.microsoft.com/office/drawing/2014/main" id="{CC258054-440D-4129-9816-D806FA4C2207}"/>
                </a:ext>
              </a:extLst>
            </p:cNvPr>
            <p:cNvSpPr/>
            <p:nvPr/>
          </p:nvSpPr>
          <p:spPr>
            <a:xfrm>
              <a:off x="6331229" y="3399180"/>
              <a:ext cx="340988" cy="1890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3" name="TextBox 32">
            <a:extLst>
              <a:ext uri="{FF2B5EF4-FFF2-40B4-BE49-F238E27FC236}">
                <a16:creationId xmlns:a16="http://schemas.microsoft.com/office/drawing/2014/main" id="{5DF3070D-D837-450B-BC15-B5566875A81C}"/>
              </a:ext>
            </a:extLst>
          </p:cNvPr>
          <p:cNvSpPr txBox="1"/>
          <p:nvPr/>
        </p:nvSpPr>
        <p:spPr>
          <a:xfrm>
            <a:off x="616226" y="4798799"/>
            <a:ext cx="8547652" cy="646331"/>
          </a:xfrm>
          <a:prstGeom prst="rect">
            <a:avLst/>
          </a:prstGeom>
          <a:noFill/>
        </p:spPr>
        <p:txBody>
          <a:bodyPr wrap="square">
            <a:spAutoFit/>
          </a:bodyPr>
          <a:lstStyle/>
          <a:p>
            <a:pPr algn="just"/>
            <a:r>
              <a:rPr lang="en-IN" b="1" dirty="0"/>
              <a:t>Imp Point:</a:t>
            </a:r>
            <a:r>
              <a:rPr lang="en-IN" dirty="0"/>
              <a:t> Java supports only multi-level inheritance. Hence in Java each class can derive from only one super class at a time.</a:t>
            </a:r>
          </a:p>
        </p:txBody>
      </p:sp>
      <p:sp>
        <p:nvSpPr>
          <p:cNvPr id="13" name="TextBox 12">
            <a:extLst>
              <a:ext uri="{FF2B5EF4-FFF2-40B4-BE49-F238E27FC236}">
                <a16:creationId xmlns:a16="http://schemas.microsoft.com/office/drawing/2014/main" id="{F20E4E67-8A91-4226-B606-4FC9A17758E5}"/>
              </a:ext>
            </a:extLst>
          </p:cNvPr>
          <p:cNvSpPr txBox="1"/>
          <p:nvPr/>
        </p:nvSpPr>
        <p:spPr>
          <a:xfrm>
            <a:off x="8719931" y="1948070"/>
            <a:ext cx="1008609" cy="369332"/>
          </a:xfrm>
          <a:prstGeom prst="rect">
            <a:avLst/>
          </a:prstGeom>
          <a:noFill/>
        </p:spPr>
        <p:txBody>
          <a:bodyPr wrap="none" rtlCol="0">
            <a:spAutoFit/>
          </a:bodyPr>
          <a:lstStyle/>
          <a:p>
            <a:r>
              <a:rPr lang="en-US" dirty="0"/>
              <a:t>class A {}</a:t>
            </a:r>
            <a:endParaRPr lang="en-IN" dirty="0"/>
          </a:p>
        </p:txBody>
      </p:sp>
      <p:sp>
        <p:nvSpPr>
          <p:cNvPr id="34" name="TextBox 33">
            <a:extLst>
              <a:ext uri="{FF2B5EF4-FFF2-40B4-BE49-F238E27FC236}">
                <a16:creationId xmlns:a16="http://schemas.microsoft.com/office/drawing/2014/main" id="{2123CFB1-EF9A-4322-BDA5-DD18382F86C6}"/>
              </a:ext>
            </a:extLst>
          </p:cNvPr>
          <p:cNvSpPr txBox="1"/>
          <p:nvPr/>
        </p:nvSpPr>
        <p:spPr>
          <a:xfrm>
            <a:off x="6891355" y="2464679"/>
            <a:ext cx="1966757" cy="369332"/>
          </a:xfrm>
          <a:prstGeom prst="rect">
            <a:avLst/>
          </a:prstGeom>
          <a:noFill/>
        </p:spPr>
        <p:txBody>
          <a:bodyPr wrap="none" rtlCol="0">
            <a:spAutoFit/>
          </a:bodyPr>
          <a:lstStyle/>
          <a:p>
            <a:r>
              <a:rPr lang="en-US" dirty="0"/>
              <a:t>class B extends A {}</a:t>
            </a:r>
            <a:endParaRPr lang="en-IN" dirty="0"/>
          </a:p>
        </p:txBody>
      </p:sp>
      <p:sp>
        <p:nvSpPr>
          <p:cNvPr id="35" name="TextBox 34">
            <a:extLst>
              <a:ext uri="{FF2B5EF4-FFF2-40B4-BE49-F238E27FC236}">
                <a16:creationId xmlns:a16="http://schemas.microsoft.com/office/drawing/2014/main" id="{1630829A-FBDB-4465-B684-7FED07654D78}"/>
              </a:ext>
            </a:extLst>
          </p:cNvPr>
          <p:cNvSpPr txBox="1"/>
          <p:nvPr/>
        </p:nvSpPr>
        <p:spPr>
          <a:xfrm>
            <a:off x="9389391" y="2458055"/>
            <a:ext cx="1966757" cy="369332"/>
          </a:xfrm>
          <a:prstGeom prst="rect">
            <a:avLst/>
          </a:prstGeom>
          <a:noFill/>
        </p:spPr>
        <p:txBody>
          <a:bodyPr wrap="none" rtlCol="0">
            <a:spAutoFit/>
          </a:bodyPr>
          <a:lstStyle/>
          <a:p>
            <a:r>
              <a:rPr lang="en-US" dirty="0"/>
              <a:t>class C extends A {}</a:t>
            </a:r>
            <a:endParaRPr lang="en-IN" dirty="0"/>
          </a:p>
        </p:txBody>
      </p:sp>
      <p:sp>
        <p:nvSpPr>
          <p:cNvPr id="36" name="TextBox 35">
            <a:extLst>
              <a:ext uri="{FF2B5EF4-FFF2-40B4-BE49-F238E27FC236}">
                <a16:creationId xmlns:a16="http://schemas.microsoft.com/office/drawing/2014/main" id="{EC921102-F2E0-4522-A9F6-8CC76555A61C}"/>
              </a:ext>
            </a:extLst>
          </p:cNvPr>
          <p:cNvSpPr txBox="1"/>
          <p:nvPr/>
        </p:nvSpPr>
        <p:spPr>
          <a:xfrm>
            <a:off x="8256332" y="3034524"/>
            <a:ext cx="2215286" cy="369332"/>
          </a:xfrm>
          <a:prstGeom prst="rect">
            <a:avLst/>
          </a:prstGeom>
          <a:noFill/>
        </p:spPr>
        <p:txBody>
          <a:bodyPr wrap="none" rtlCol="0">
            <a:spAutoFit/>
          </a:bodyPr>
          <a:lstStyle/>
          <a:p>
            <a:r>
              <a:rPr lang="en-US" dirty="0"/>
              <a:t>class D extends B, C {}</a:t>
            </a:r>
            <a:endParaRPr lang="en-IN" dirty="0"/>
          </a:p>
        </p:txBody>
      </p:sp>
    </p:spTree>
    <p:extLst>
      <p:ext uri="{BB962C8B-B14F-4D97-AF65-F5344CB8AC3E}">
        <p14:creationId xmlns:p14="http://schemas.microsoft.com/office/powerpoint/2010/main" val="620849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37" name="TextBox 36">
            <a:extLst>
              <a:ext uri="{FF2B5EF4-FFF2-40B4-BE49-F238E27FC236}">
                <a16:creationId xmlns:a16="http://schemas.microsoft.com/office/drawing/2014/main" id="{CF2482C2-1711-466E-B0D3-78EAD90AFCFE}"/>
              </a:ext>
            </a:extLst>
          </p:cNvPr>
          <p:cNvSpPr txBox="1"/>
          <p:nvPr/>
        </p:nvSpPr>
        <p:spPr>
          <a:xfrm>
            <a:off x="324680" y="920306"/>
            <a:ext cx="4870172" cy="3970318"/>
          </a:xfrm>
          <a:prstGeom prst="rect">
            <a:avLst/>
          </a:prstGeom>
          <a:noFill/>
        </p:spPr>
        <p:txBody>
          <a:bodyPr wrap="square">
            <a:spAutoFit/>
          </a:bodyPr>
          <a:lstStyle/>
          <a:p>
            <a:r>
              <a:rPr lang="en-IN" sz="1400" b="1" u="sng" dirty="0"/>
              <a:t>Example on Multi-level Inheritance:</a:t>
            </a:r>
            <a:endParaRPr lang="en-IN" sz="1400" u="sng" dirty="0"/>
          </a:p>
          <a:p>
            <a:r>
              <a:rPr lang="en-IN" sz="1400" dirty="0"/>
              <a:t>class A {</a:t>
            </a:r>
          </a:p>
          <a:p>
            <a:r>
              <a:rPr lang="en-IN" sz="1400" dirty="0"/>
              <a:t>	void m1() {</a:t>
            </a:r>
          </a:p>
          <a:p>
            <a:r>
              <a:rPr lang="en-IN" sz="1400" dirty="0"/>
              <a:t>		System.out.println("m1() of A called ");</a:t>
            </a:r>
          </a:p>
          <a:p>
            <a:r>
              <a:rPr lang="en-IN" sz="1400" dirty="0"/>
              <a:t>	}</a:t>
            </a:r>
          </a:p>
          <a:p>
            <a:r>
              <a:rPr lang="en-IN" sz="1400" dirty="0"/>
              <a:t>}</a:t>
            </a:r>
          </a:p>
          <a:p>
            <a:endParaRPr lang="en-IN" sz="1400" dirty="0"/>
          </a:p>
          <a:p>
            <a:r>
              <a:rPr lang="en-IN" sz="1400" dirty="0"/>
              <a:t>class B extends A {</a:t>
            </a:r>
          </a:p>
          <a:p>
            <a:r>
              <a:rPr lang="en-IN" sz="1400" dirty="0"/>
              <a:t>	void m2() {</a:t>
            </a:r>
          </a:p>
          <a:p>
            <a:r>
              <a:rPr lang="en-IN" sz="1400" dirty="0"/>
              <a:t>		System.out.println("m2() of B called ");</a:t>
            </a:r>
          </a:p>
          <a:p>
            <a:r>
              <a:rPr lang="en-IN" sz="1400" dirty="0"/>
              <a:t>	}</a:t>
            </a:r>
          </a:p>
          <a:p>
            <a:r>
              <a:rPr lang="en-IN" sz="1400" dirty="0"/>
              <a:t>}</a:t>
            </a:r>
          </a:p>
          <a:p>
            <a:endParaRPr lang="en-IN" sz="1400" dirty="0"/>
          </a:p>
          <a:p>
            <a:r>
              <a:rPr lang="en-IN" sz="1400" dirty="0"/>
              <a:t>class C extends B {</a:t>
            </a:r>
          </a:p>
          <a:p>
            <a:r>
              <a:rPr lang="en-IN" sz="1400" dirty="0"/>
              <a:t>	void m3() {</a:t>
            </a:r>
          </a:p>
          <a:p>
            <a:r>
              <a:rPr lang="en-IN" sz="1400" dirty="0"/>
              <a:t>		System.out.println("m3() of C called ");</a:t>
            </a:r>
          </a:p>
          <a:p>
            <a:r>
              <a:rPr lang="en-IN" sz="1400" dirty="0"/>
              <a:t>	}</a:t>
            </a:r>
          </a:p>
          <a:p>
            <a:r>
              <a:rPr lang="en-IN" sz="1400" dirty="0"/>
              <a:t>}</a:t>
            </a:r>
          </a:p>
        </p:txBody>
      </p:sp>
      <p:sp>
        <p:nvSpPr>
          <p:cNvPr id="38" name="TextBox 37">
            <a:extLst>
              <a:ext uri="{FF2B5EF4-FFF2-40B4-BE49-F238E27FC236}">
                <a16:creationId xmlns:a16="http://schemas.microsoft.com/office/drawing/2014/main" id="{82EBA2A8-D75B-4078-ABD8-AA158534A94B}"/>
              </a:ext>
            </a:extLst>
          </p:cNvPr>
          <p:cNvSpPr txBox="1"/>
          <p:nvPr/>
        </p:nvSpPr>
        <p:spPr>
          <a:xfrm>
            <a:off x="5322439" y="686255"/>
            <a:ext cx="4092267" cy="6017032"/>
          </a:xfrm>
          <a:prstGeom prst="rect">
            <a:avLst/>
          </a:prstGeom>
          <a:noFill/>
        </p:spPr>
        <p:txBody>
          <a:bodyPr wrap="square">
            <a:spAutoFit/>
          </a:bodyPr>
          <a:lstStyle/>
          <a:p>
            <a:r>
              <a:rPr lang="en-IN" sz="1100" dirty="0"/>
              <a:t>class D {</a:t>
            </a:r>
          </a:p>
          <a:p>
            <a:r>
              <a:rPr lang="en-IN" sz="1100" dirty="0"/>
              <a:t>  public static void main(String rags[]) {</a:t>
            </a:r>
          </a:p>
          <a:p>
            <a:r>
              <a:rPr lang="en-IN" sz="1100" dirty="0"/>
              <a:t>    A a=new A();</a:t>
            </a:r>
          </a:p>
          <a:p>
            <a:r>
              <a:rPr lang="en-IN" sz="1100" dirty="0"/>
              <a:t>    a.m1();</a:t>
            </a:r>
          </a:p>
          <a:p>
            <a:endParaRPr lang="en-IN" sz="1100" dirty="0"/>
          </a:p>
          <a:p>
            <a:r>
              <a:rPr lang="en-IN" sz="1100" dirty="0"/>
              <a:t>    B b=new B();</a:t>
            </a:r>
          </a:p>
          <a:p>
            <a:r>
              <a:rPr lang="en-IN" sz="1100" dirty="0"/>
              <a:t>    b.m1();</a:t>
            </a:r>
          </a:p>
          <a:p>
            <a:r>
              <a:rPr lang="en-IN" sz="1100" dirty="0"/>
              <a:t>    b.m2();</a:t>
            </a:r>
          </a:p>
          <a:p>
            <a:endParaRPr lang="en-IN" sz="1100" dirty="0"/>
          </a:p>
          <a:p>
            <a:r>
              <a:rPr lang="en-IN" sz="1100" dirty="0"/>
              <a:t>    C c=new C();</a:t>
            </a:r>
          </a:p>
          <a:p>
            <a:r>
              <a:rPr lang="en-IN" sz="1100" dirty="0"/>
              <a:t>    c.m1();</a:t>
            </a:r>
          </a:p>
          <a:p>
            <a:r>
              <a:rPr lang="en-IN" sz="1100" dirty="0"/>
              <a:t>    c.m2();</a:t>
            </a:r>
          </a:p>
          <a:p>
            <a:r>
              <a:rPr lang="en-IN" sz="1100" dirty="0"/>
              <a:t>    c.m3();</a:t>
            </a:r>
          </a:p>
          <a:p>
            <a:r>
              <a:rPr lang="en-IN" sz="1100" dirty="0"/>
              <a:t>		</a:t>
            </a:r>
          </a:p>
          <a:p>
            <a:r>
              <a:rPr lang="en-IN" sz="1100" dirty="0"/>
              <a:t>    // super class object reference assigned to sub class reference</a:t>
            </a:r>
          </a:p>
          <a:p>
            <a:r>
              <a:rPr lang="en-IN" sz="1100" dirty="0"/>
              <a:t>    // B b=new A(); // gives error</a:t>
            </a:r>
          </a:p>
          <a:p>
            <a:r>
              <a:rPr lang="en-IN" sz="1100" dirty="0"/>
              <a:t>		</a:t>
            </a:r>
          </a:p>
          <a:p>
            <a:r>
              <a:rPr lang="en-IN" sz="1100" dirty="0"/>
              <a:t>    // sub class object assigned to super class reference</a:t>
            </a:r>
          </a:p>
          <a:p>
            <a:r>
              <a:rPr lang="en-IN" sz="1100" dirty="0"/>
              <a:t>    A ab=new B();</a:t>
            </a:r>
          </a:p>
          <a:p>
            <a:r>
              <a:rPr lang="en-IN" sz="1100" dirty="0"/>
              <a:t>    ab.m1();</a:t>
            </a:r>
          </a:p>
          <a:p>
            <a:r>
              <a:rPr lang="en-IN" sz="1100" dirty="0"/>
              <a:t>    // ab.m2(); </a:t>
            </a:r>
          </a:p>
          <a:p>
            <a:r>
              <a:rPr lang="en-IN" sz="1100" dirty="0"/>
              <a:t>    // cannot be called, only B and A class common methods can only be called</a:t>
            </a:r>
          </a:p>
          <a:p>
            <a:r>
              <a:rPr lang="en-IN" sz="1100" dirty="0"/>
              <a:t>		</a:t>
            </a:r>
          </a:p>
          <a:p>
            <a:r>
              <a:rPr lang="en-IN" sz="1100" dirty="0"/>
              <a:t>    A ac=new C();</a:t>
            </a:r>
          </a:p>
          <a:p>
            <a:r>
              <a:rPr lang="en-IN" sz="1100" dirty="0"/>
              <a:t>    ac.m1();</a:t>
            </a:r>
          </a:p>
          <a:p>
            <a:r>
              <a:rPr lang="en-IN" sz="1100" dirty="0"/>
              <a:t>    // ac.m2(); // error</a:t>
            </a:r>
          </a:p>
          <a:p>
            <a:r>
              <a:rPr lang="en-IN" sz="1100" dirty="0"/>
              <a:t>    // ac.m3(); // error</a:t>
            </a:r>
          </a:p>
          <a:p>
            <a:r>
              <a:rPr lang="en-IN" sz="1100" dirty="0"/>
              <a:t>		</a:t>
            </a:r>
          </a:p>
          <a:p>
            <a:r>
              <a:rPr lang="en-IN" sz="1100" dirty="0"/>
              <a:t>    B </a:t>
            </a:r>
            <a:r>
              <a:rPr lang="en-IN" sz="1100" dirty="0" err="1"/>
              <a:t>bc</a:t>
            </a:r>
            <a:r>
              <a:rPr lang="en-IN" sz="1100" dirty="0"/>
              <a:t>=new C();</a:t>
            </a:r>
          </a:p>
          <a:p>
            <a:r>
              <a:rPr lang="en-IN" sz="1100" dirty="0"/>
              <a:t>    bc.m1();</a:t>
            </a:r>
          </a:p>
          <a:p>
            <a:r>
              <a:rPr lang="en-IN" sz="1100" dirty="0"/>
              <a:t>    bc.m2();</a:t>
            </a:r>
          </a:p>
          <a:p>
            <a:r>
              <a:rPr lang="en-IN" sz="1100" dirty="0"/>
              <a:t>    // bc.m3(); // error</a:t>
            </a:r>
          </a:p>
          <a:p>
            <a:r>
              <a:rPr lang="en-IN" sz="1100" dirty="0"/>
              <a:t>  }</a:t>
            </a:r>
          </a:p>
          <a:p>
            <a:r>
              <a:rPr lang="en-IN" sz="1100" dirty="0"/>
              <a:t>}</a:t>
            </a:r>
          </a:p>
        </p:txBody>
      </p:sp>
    </p:spTree>
    <p:extLst>
      <p:ext uri="{BB962C8B-B14F-4D97-AF65-F5344CB8AC3E}">
        <p14:creationId xmlns:p14="http://schemas.microsoft.com/office/powerpoint/2010/main" val="1539962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FF65ACA-F80A-4907-99E2-CBA6C1BC71D3}"/>
              </a:ext>
            </a:extLst>
          </p:cNvPr>
          <p:cNvSpPr txBox="1"/>
          <p:nvPr/>
        </p:nvSpPr>
        <p:spPr>
          <a:xfrm>
            <a:off x="571500" y="1514286"/>
            <a:ext cx="10467561" cy="2585323"/>
          </a:xfrm>
          <a:prstGeom prst="rect">
            <a:avLst/>
          </a:prstGeom>
          <a:noFill/>
        </p:spPr>
        <p:txBody>
          <a:bodyPr wrap="square">
            <a:spAutoFit/>
          </a:bodyPr>
          <a:lstStyle/>
          <a:p>
            <a:pPr algn="just"/>
            <a:r>
              <a:rPr lang="en-IN" dirty="0"/>
              <a:t>Examples on assigning sub class objects to super class references. Remember only common functions can be called:</a:t>
            </a:r>
          </a:p>
          <a:p>
            <a:pPr algn="just"/>
            <a:endParaRPr lang="en-IN" dirty="0"/>
          </a:p>
          <a:p>
            <a:pPr algn="just"/>
            <a:r>
              <a:rPr lang="en-IN" dirty="0"/>
              <a:t>	Frame f =new </a:t>
            </a:r>
            <a:r>
              <a:rPr lang="en-IN" dirty="0" err="1"/>
              <a:t>MyFrame</a:t>
            </a:r>
            <a:r>
              <a:rPr lang="en-IN" dirty="0"/>
              <a:t>();</a:t>
            </a:r>
          </a:p>
          <a:p>
            <a:pPr algn="just"/>
            <a:r>
              <a:rPr lang="en-IN" dirty="0"/>
              <a:t>	Thread t=new </a:t>
            </a:r>
            <a:r>
              <a:rPr lang="en-IN" dirty="0" err="1"/>
              <a:t>MyThread</a:t>
            </a:r>
            <a:r>
              <a:rPr lang="en-IN" dirty="0"/>
              <a:t>();</a:t>
            </a:r>
          </a:p>
          <a:p>
            <a:pPr algn="just"/>
            <a:r>
              <a:rPr lang="en-IN" dirty="0"/>
              <a:t>	Panel p=new </a:t>
            </a:r>
            <a:r>
              <a:rPr lang="en-IN" dirty="0" err="1"/>
              <a:t>MyPanel</a:t>
            </a:r>
            <a:r>
              <a:rPr lang="en-IN" dirty="0"/>
              <a:t>();</a:t>
            </a:r>
          </a:p>
          <a:p>
            <a:pPr algn="just"/>
            <a:r>
              <a:rPr lang="en-IN" dirty="0"/>
              <a:t>	Emp e=new </a:t>
            </a:r>
            <a:r>
              <a:rPr lang="en-IN" dirty="0" err="1"/>
              <a:t>PermanentEmp</a:t>
            </a:r>
            <a:r>
              <a:rPr lang="en-IN" dirty="0"/>
              <a:t>();</a:t>
            </a:r>
          </a:p>
          <a:p>
            <a:pPr algn="just"/>
            <a:r>
              <a:rPr lang="en-IN" dirty="0"/>
              <a:t>	Student s=new </a:t>
            </a:r>
            <a:r>
              <a:rPr lang="en-IN" dirty="0" err="1"/>
              <a:t>DayScholarStudent</a:t>
            </a:r>
            <a:r>
              <a:rPr lang="en-IN" dirty="0"/>
              <a:t>();</a:t>
            </a:r>
          </a:p>
          <a:p>
            <a:pPr algn="just"/>
            <a:r>
              <a:rPr lang="en-IN" dirty="0"/>
              <a:t>	Customer c=new </a:t>
            </a:r>
            <a:r>
              <a:rPr lang="en-IN" dirty="0" err="1"/>
              <a:t>GoldCardCustomer</a:t>
            </a:r>
            <a:r>
              <a:rPr lang="en-IN" dirty="0"/>
              <a:t>();</a:t>
            </a:r>
          </a:p>
        </p:txBody>
      </p:sp>
    </p:spTree>
    <p:extLst>
      <p:ext uri="{BB962C8B-B14F-4D97-AF65-F5344CB8AC3E}">
        <p14:creationId xmlns:p14="http://schemas.microsoft.com/office/powerpoint/2010/main" val="2579140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id="{F6684FA0-3CAC-43A2-B665-686DB9A9B9B8}"/>
              </a:ext>
            </a:extLst>
          </p:cNvPr>
          <p:cNvSpPr txBox="1"/>
          <p:nvPr/>
        </p:nvSpPr>
        <p:spPr>
          <a:xfrm>
            <a:off x="691952" y="1453945"/>
            <a:ext cx="8595060" cy="3693319"/>
          </a:xfrm>
          <a:prstGeom prst="rect">
            <a:avLst/>
          </a:prstGeom>
          <a:noFill/>
        </p:spPr>
        <p:txBody>
          <a:bodyPr wrap="square">
            <a:spAutoFit/>
          </a:bodyPr>
          <a:lstStyle/>
          <a:p>
            <a:pPr algn="ctr"/>
            <a:r>
              <a:rPr lang="en-US" sz="4000" b="1" dirty="0">
                <a:solidFill>
                  <a:srgbClr val="0000FF"/>
                </a:solidFill>
                <a:cs typeface="Arial" panose="020B0604020202020204" pitchFamily="34" charset="0"/>
              </a:rPr>
              <a:t>OOPs in</a:t>
            </a:r>
            <a:r>
              <a:rPr lang="en-US" sz="5400" b="1" dirty="0">
                <a:solidFill>
                  <a:srgbClr val="0000FF"/>
                </a:solidFill>
                <a:cs typeface="Arial" panose="020B0604020202020204" pitchFamily="34" charset="0"/>
              </a:rPr>
              <a:t> </a:t>
            </a:r>
            <a:endParaRPr lang="en-US" sz="4400" b="1" dirty="0">
              <a:solidFill>
                <a:srgbClr val="0000FF"/>
              </a:solidFill>
              <a:cs typeface="Arial" panose="020B0604020202020204" pitchFamily="34" charset="0"/>
            </a:endParaRPr>
          </a:p>
          <a:p>
            <a:pPr algn="ctr"/>
            <a:r>
              <a:rPr lang="en-US" sz="9600" b="1" dirty="0">
                <a:solidFill>
                  <a:srgbClr val="0000FF"/>
                </a:solidFill>
                <a:cs typeface="Arial" panose="020B0604020202020204" pitchFamily="34" charset="0"/>
              </a:rPr>
              <a:t>Java</a:t>
            </a:r>
            <a:endParaRPr lang="en-US" sz="4400" b="1" dirty="0">
              <a:solidFill>
                <a:srgbClr val="0000FF"/>
              </a:solidFill>
              <a:cs typeface="Arial" panose="020B0604020202020204" pitchFamily="34" charset="0"/>
            </a:endParaRPr>
          </a:p>
          <a:p>
            <a:pPr algn="ctr"/>
            <a:r>
              <a:rPr lang="en-US" sz="2800" b="1" dirty="0">
                <a:solidFill>
                  <a:srgbClr val="0000FF"/>
                </a:solidFill>
                <a:cs typeface="Arial" panose="020B0604020202020204" pitchFamily="34" charset="0"/>
              </a:rPr>
              <a:t>(Inheritance)</a:t>
            </a:r>
          </a:p>
          <a:p>
            <a:pPr algn="ctr"/>
            <a:r>
              <a:rPr lang="en-US" sz="2800" b="1" dirty="0">
                <a:solidFill>
                  <a:srgbClr val="0000FF"/>
                </a:solidFill>
                <a:cs typeface="Arial" panose="020B0604020202020204" pitchFamily="34" charset="0"/>
              </a:rPr>
              <a:t>-</a:t>
            </a:r>
          </a:p>
          <a:p>
            <a:pPr algn="ctr"/>
            <a:r>
              <a:rPr lang="en-US" sz="2800" b="1" dirty="0">
                <a:solidFill>
                  <a:srgbClr val="0000FF"/>
                </a:solidFill>
                <a:cs typeface="Arial" panose="020B0604020202020204" pitchFamily="34" charset="0"/>
              </a:rPr>
              <a:t>Part – III-II</a:t>
            </a:r>
            <a:endParaRPr lang="en-IN" sz="2800" dirty="0"/>
          </a:p>
        </p:txBody>
      </p:sp>
    </p:spTree>
    <p:extLst>
      <p:ext uri="{BB962C8B-B14F-4D97-AF65-F5344CB8AC3E}">
        <p14:creationId xmlns:p14="http://schemas.microsoft.com/office/powerpoint/2010/main" val="159111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id="{F6684FA0-3CAC-43A2-B665-686DB9A9B9B8}"/>
              </a:ext>
            </a:extLst>
          </p:cNvPr>
          <p:cNvSpPr txBox="1"/>
          <p:nvPr/>
        </p:nvSpPr>
        <p:spPr>
          <a:xfrm>
            <a:off x="691952" y="1453945"/>
            <a:ext cx="8595060" cy="4832092"/>
          </a:xfrm>
          <a:prstGeom prst="rect">
            <a:avLst/>
          </a:prstGeom>
          <a:noFill/>
        </p:spPr>
        <p:txBody>
          <a:bodyPr wrap="square">
            <a:spAutoFit/>
          </a:bodyPr>
          <a:lstStyle/>
          <a:p>
            <a:pPr algn="just"/>
            <a:r>
              <a:rPr lang="en-IN" sz="2800" b="1" u="sng" dirty="0"/>
              <a:t>Types of classes in Java:</a:t>
            </a:r>
          </a:p>
          <a:p>
            <a:pPr marL="400050" indent="-400050" algn="just">
              <a:buFont typeface="+mj-lt"/>
              <a:buAutoNum type="romanLcPeriod"/>
            </a:pPr>
            <a:r>
              <a:rPr lang="en-IN" sz="2800" b="1" dirty="0"/>
              <a:t>interface </a:t>
            </a:r>
            <a:r>
              <a:rPr lang="en-IN" sz="2800" dirty="0"/>
              <a:t>(pure abstract class) – contains only abstract methods</a:t>
            </a:r>
          </a:p>
          <a:p>
            <a:pPr marL="400050" indent="-400050" algn="just">
              <a:buFont typeface="+mj-lt"/>
              <a:buAutoNum type="romanLcPeriod"/>
            </a:pPr>
            <a:r>
              <a:rPr lang="en-IN" sz="2800" b="1" dirty="0"/>
              <a:t>Abstract class </a:t>
            </a:r>
            <a:r>
              <a:rPr lang="en-IN" sz="2800" dirty="0"/>
              <a:t>– contains both abstract and implemented methods</a:t>
            </a:r>
          </a:p>
          <a:p>
            <a:pPr marL="400050" indent="-400050" algn="just">
              <a:buFont typeface="+mj-lt"/>
              <a:buAutoNum type="romanLcPeriod"/>
            </a:pPr>
            <a:r>
              <a:rPr lang="en-IN" sz="2800" b="1" dirty="0"/>
              <a:t>Class </a:t>
            </a:r>
            <a:r>
              <a:rPr lang="en-IN" sz="2800" dirty="0"/>
              <a:t>– contains only implemented methods</a:t>
            </a:r>
          </a:p>
          <a:p>
            <a:pPr marL="400050" indent="-400050" algn="just">
              <a:buFont typeface="+mj-lt"/>
              <a:buAutoNum type="romanLcPeriod"/>
            </a:pPr>
            <a:r>
              <a:rPr lang="en-IN" sz="2800" b="1" dirty="0"/>
              <a:t>Final class </a:t>
            </a:r>
            <a:r>
              <a:rPr lang="en-IN" sz="2800" dirty="0"/>
              <a:t>– class cannot derive</a:t>
            </a:r>
          </a:p>
          <a:p>
            <a:pPr marL="400050" indent="-400050" algn="just">
              <a:buFont typeface="+mj-lt"/>
              <a:buAutoNum type="romanLcPeriod"/>
            </a:pPr>
            <a:r>
              <a:rPr lang="en-IN" sz="2800" b="1" dirty="0"/>
              <a:t>Inner class </a:t>
            </a:r>
            <a:r>
              <a:rPr lang="en-IN" sz="2800" dirty="0"/>
              <a:t>– class inside another class</a:t>
            </a:r>
          </a:p>
          <a:p>
            <a:pPr marL="400050" indent="-400050" algn="just">
              <a:buFont typeface="+mj-lt"/>
              <a:buAutoNum type="romanLcPeriod"/>
            </a:pPr>
            <a:r>
              <a:rPr lang="en-IN" sz="2800" b="1" dirty="0"/>
              <a:t>Anonymous class </a:t>
            </a:r>
            <a:r>
              <a:rPr lang="en-IN" sz="2800" dirty="0"/>
              <a:t>– unnamed class/class body written with no class declaration</a:t>
            </a:r>
          </a:p>
          <a:p>
            <a:pPr marL="400050" indent="-400050" algn="just">
              <a:buFont typeface="+mj-lt"/>
              <a:buAutoNum type="romanLcPeriod"/>
            </a:pPr>
            <a:r>
              <a:rPr lang="en-IN" sz="2800" b="1" dirty="0"/>
              <a:t>Enum </a:t>
            </a:r>
            <a:r>
              <a:rPr lang="en-IN" sz="2800" dirty="0"/>
              <a:t>– pool of constants</a:t>
            </a:r>
          </a:p>
        </p:txBody>
      </p:sp>
    </p:spTree>
    <p:extLst>
      <p:ext uri="{BB962C8B-B14F-4D97-AF65-F5344CB8AC3E}">
        <p14:creationId xmlns:p14="http://schemas.microsoft.com/office/powerpoint/2010/main" val="2026496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72AD3C2A-8CCF-46C5-A31F-446B00DF3C24}"/>
              </a:ext>
            </a:extLst>
          </p:cNvPr>
          <p:cNvSpPr txBox="1"/>
          <p:nvPr/>
        </p:nvSpPr>
        <p:spPr>
          <a:xfrm>
            <a:off x="285750" y="2555647"/>
            <a:ext cx="9082838" cy="1107996"/>
          </a:xfrm>
          <a:prstGeom prst="rect">
            <a:avLst/>
          </a:prstGeom>
          <a:noFill/>
        </p:spPr>
        <p:txBody>
          <a:bodyPr wrap="square">
            <a:spAutoFit/>
          </a:bodyPr>
          <a:lstStyle/>
          <a:p>
            <a:pPr algn="ctr"/>
            <a:r>
              <a:rPr lang="en-IN" sz="6600" b="1" dirty="0"/>
              <a:t>interface</a:t>
            </a:r>
            <a:endParaRPr lang="en-IN" b="1" dirty="0"/>
          </a:p>
        </p:txBody>
      </p:sp>
    </p:spTree>
    <p:extLst>
      <p:ext uri="{BB962C8B-B14F-4D97-AF65-F5344CB8AC3E}">
        <p14:creationId xmlns:p14="http://schemas.microsoft.com/office/powerpoint/2010/main" val="67017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72AD3C2A-8CCF-46C5-A31F-446B00DF3C24}"/>
              </a:ext>
            </a:extLst>
          </p:cNvPr>
          <p:cNvSpPr txBox="1"/>
          <p:nvPr/>
        </p:nvSpPr>
        <p:spPr>
          <a:xfrm>
            <a:off x="285750" y="1224393"/>
            <a:ext cx="9082838" cy="3693319"/>
          </a:xfrm>
          <a:prstGeom prst="rect">
            <a:avLst/>
          </a:prstGeom>
          <a:noFill/>
        </p:spPr>
        <p:txBody>
          <a:bodyPr wrap="square">
            <a:spAutoFit/>
          </a:bodyPr>
          <a:lstStyle/>
          <a:p>
            <a:r>
              <a:rPr lang="en-IN" b="1" u="sng" dirty="0"/>
              <a:t>interface:</a:t>
            </a:r>
          </a:p>
          <a:p>
            <a:r>
              <a:rPr lang="en-IN" dirty="0"/>
              <a:t>interface is a default abstract class, pure abstract class.</a:t>
            </a:r>
          </a:p>
          <a:p>
            <a:endParaRPr lang="en-IN" dirty="0"/>
          </a:p>
          <a:p>
            <a:r>
              <a:rPr lang="en-IN" dirty="0"/>
              <a:t>interface is also similar to a class except in interface all the methods are abstract. No implemented method is found in interface.</a:t>
            </a:r>
          </a:p>
          <a:p>
            <a:endParaRPr lang="en-IN" dirty="0"/>
          </a:p>
          <a:p>
            <a:r>
              <a:rPr lang="en-IN" dirty="0"/>
              <a:t>interface must be created using 'interface' keyword at the beginning followed by interface name. interface must be enclosed in flower braces.</a:t>
            </a:r>
          </a:p>
          <a:p>
            <a:endParaRPr lang="en-IN" dirty="0"/>
          </a:p>
          <a:p>
            <a:r>
              <a:rPr lang="en-IN" b="1" u="sng" dirty="0"/>
              <a:t>Two imp points:</a:t>
            </a:r>
          </a:p>
          <a:p>
            <a:pPr marL="285750" indent="-285750">
              <a:buFont typeface="Wingdings" panose="05000000000000000000" pitchFamily="2" charset="2"/>
              <a:buChar char="q"/>
            </a:pPr>
            <a:r>
              <a:rPr lang="en-IN" b="1" dirty="0"/>
              <a:t>In interface all variables are </a:t>
            </a:r>
            <a:r>
              <a:rPr lang="en-IN" b="1" i="1" u="sng" dirty="0"/>
              <a:t>public, static, final </a:t>
            </a:r>
            <a:r>
              <a:rPr lang="en-IN" b="1" dirty="0"/>
              <a:t>by default.</a:t>
            </a:r>
          </a:p>
          <a:p>
            <a:pPr marL="285750" indent="-285750">
              <a:buFont typeface="Wingdings" panose="05000000000000000000" pitchFamily="2" charset="2"/>
              <a:buChar char="q"/>
            </a:pPr>
            <a:r>
              <a:rPr lang="en-IN" b="1" dirty="0"/>
              <a:t>and all methods are </a:t>
            </a:r>
            <a:r>
              <a:rPr lang="en-IN" b="1" i="1" u="sng" dirty="0"/>
              <a:t>public abstract </a:t>
            </a:r>
            <a:r>
              <a:rPr lang="en-IN" b="1" dirty="0"/>
              <a:t>by default.</a:t>
            </a:r>
          </a:p>
          <a:p>
            <a:pPr marL="285750" indent="-285750">
              <a:buFont typeface="Wingdings" panose="05000000000000000000" pitchFamily="2" charset="2"/>
              <a:buChar char="q"/>
            </a:pPr>
            <a:r>
              <a:rPr lang="en-IN" b="1" dirty="0"/>
              <a:t>interfaces are implicitly prefixed with </a:t>
            </a:r>
            <a:r>
              <a:rPr lang="en-IN" b="1" i="1" u="sng" dirty="0"/>
              <a:t>abstract </a:t>
            </a:r>
            <a:r>
              <a:rPr lang="en-IN" b="1" dirty="0"/>
              <a:t>modifier.</a:t>
            </a:r>
          </a:p>
        </p:txBody>
      </p:sp>
    </p:spTree>
    <p:extLst>
      <p:ext uri="{BB962C8B-B14F-4D97-AF65-F5344CB8AC3E}">
        <p14:creationId xmlns:p14="http://schemas.microsoft.com/office/powerpoint/2010/main" val="344060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id="{A4D83504-A741-43D8-9E2F-62667C06C09D}"/>
              </a:ext>
            </a:extLst>
          </p:cNvPr>
          <p:cNvSpPr txBox="1"/>
          <p:nvPr/>
        </p:nvSpPr>
        <p:spPr>
          <a:xfrm>
            <a:off x="298172" y="680979"/>
            <a:ext cx="5914957" cy="5355312"/>
          </a:xfrm>
          <a:prstGeom prst="rect">
            <a:avLst/>
          </a:prstGeom>
          <a:noFill/>
        </p:spPr>
        <p:txBody>
          <a:bodyPr wrap="square">
            <a:spAutoFit/>
          </a:bodyPr>
          <a:lstStyle/>
          <a:p>
            <a:pPr algn="just"/>
            <a:r>
              <a:rPr lang="en-IN" b="1" dirty="0"/>
              <a:t>// MyInterface.java</a:t>
            </a:r>
          </a:p>
          <a:p>
            <a:pPr algn="just"/>
            <a:r>
              <a:rPr lang="en-IN" dirty="0"/>
              <a:t>abstract interface </a:t>
            </a:r>
            <a:r>
              <a:rPr lang="en-IN" dirty="0" err="1"/>
              <a:t>MyInterface</a:t>
            </a:r>
            <a:r>
              <a:rPr lang="en-IN" dirty="0"/>
              <a:t> {</a:t>
            </a:r>
          </a:p>
          <a:p>
            <a:pPr algn="just"/>
            <a:r>
              <a:rPr lang="en-IN" dirty="0"/>
              <a:t>   int </a:t>
            </a:r>
            <a:r>
              <a:rPr lang="en-IN" dirty="0" err="1"/>
              <a:t>min_age</a:t>
            </a:r>
            <a:r>
              <a:rPr lang="en-IN" dirty="0"/>
              <a:t>;</a:t>
            </a:r>
          </a:p>
          <a:p>
            <a:pPr algn="just"/>
            <a:r>
              <a:rPr lang="en-IN" dirty="0"/>
              <a:t>   void method1() {}</a:t>
            </a:r>
          </a:p>
          <a:p>
            <a:pPr algn="just"/>
            <a:r>
              <a:rPr lang="en-IN" dirty="0"/>
              <a:t>}</a:t>
            </a:r>
          </a:p>
          <a:p>
            <a:pPr algn="just"/>
            <a:endParaRPr lang="en-IN" dirty="0"/>
          </a:p>
          <a:p>
            <a:pPr algn="just"/>
            <a:r>
              <a:rPr lang="en-IN" dirty="0" err="1"/>
              <a:t>javac</a:t>
            </a:r>
            <a:r>
              <a:rPr lang="en-IN" dirty="0"/>
              <a:t> MyInterface.java</a:t>
            </a:r>
          </a:p>
          <a:p>
            <a:pPr algn="just"/>
            <a:endParaRPr lang="en-IN" dirty="0"/>
          </a:p>
          <a:p>
            <a:pPr algn="just"/>
            <a:r>
              <a:rPr lang="en-IN" dirty="0"/>
              <a:t>compilation error comes saying that interface variables are final so that </a:t>
            </a:r>
            <a:r>
              <a:rPr lang="en-IN" dirty="0" err="1"/>
              <a:t>min_age</a:t>
            </a:r>
            <a:r>
              <a:rPr lang="en-IN" dirty="0"/>
              <a:t> variable must be initialized and also says interface cannot contain implemented methods.</a:t>
            </a:r>
          </a:p>
          <a:p>
            <a:pPr algn="just"/>
            <a:endParaRPr lang="en-IN" dirty="0"/>
          </a:p>
          <a:p>
            <a:pPr algn="just"/>
            <a:r>
              <a:rPr lang="en-IN" b="1" dirty="0"/>
              <a:t>// MyInterface.java</a:t>
            </a:r>
          </a:p>
          <a:p>
            <a:pPr algn="just"/>
            <a:r>
              <a:rPr lang="en-IN" dirty="0"/>
              <a:t>interface </a:t>
            </a:r>
            <a:r>
              <a:rPr lang="en-IN" dirty="0" err="1"/>
              <a:t>MyInterface</a:t>
            </a:r>
            <a:r>
              <a:rPr lang="en-IN" dirty="0"/>
              <a:t> {</a:t>
            </a:r>
          </a:p>
          <a:p>
            <a:pPr algn="just"/>
            <a:r>
              <a:rPr lang="en-IN" dirty="0"/>
              <a:t>   int MIN_AGE=18;</a:t>
            </a:r>
          </a:p>
          <a:p>
            <a:pPr algn="just"/>
            <a:r>
              <a:rPr lang="en-IN" dirty="0"/>
              <a:t>   void method1();</a:t>
            </a:r>
          </a:p>
          <a:p>
            <a:pPr algn="just"/>
            <a:r>
              <a:rPr lang="en-IN" dirty="0"/>
              <a:t>}</a:t>
            </a:r>
          </a:p>
          <a:p>
            <a:pPr algn="just"/>
            <a:endParaRPr lang="en-IN" dirty="0"/>
          </a:p>
          <a:p>
            <a:pPr algn="just"/>
            <a:r>
              <a:rPr lang="en-IN" dirty="0" err="1"/>
              <a:t>javac</a:t>
            </a:r>
            <a:r>
              <a:rPr lang="en-IN" dirty="0"/>
              <a:t> MyInterface.java</a:t>
            </a:r>
          </a:p>
        </p:txBody>
      </p:sp>
      <p:sp>
        <p:nvSpPr>
          <p:cNvPr id="25" name="TextBox 24">
            <a:extLst>
              <a:ext uri="{FF2B5EF4-FFF2-40B4-BE49-F238E27FC236}">
                <a16:creationId xmlns:a16="http://schemas.microsoft.com/office/drawing/2014/main" id="{4596737E-E073-4A2C-B0D3-578A9EF66F2A}"/>
              </a:ext>
            </a:extLst>
          </p:cNvPr>
          <p:cNvSpPr txBox="1"/>
          <p:nvPr/>
        </p:nvSpPr>
        <p:spPr>
          <a:xfrm>
            <a:off x="3322500" y="3951358"/>
            <a:ext cx="5808248" cy="2308324"/>
          </a:xfrm>
          <a:prstGeom prst="rect">
            <a:avLst/>
          </a:prstGeom>
          <a:noFill/>
        </p:spPr>
        <p:txBody>
          <a:bodyPr wrap="square">
            <a:spAutoFit/>
          </a:bodyPr>
          <a:lstStyle/>
          <a:p>
            <a:pPr algn="just"/>
            <a:r>
              <a:rPr lang="en-IN" sz="1800" dirty="0"/>
              <a:t>The .java file is compiled and .class file is produced. In that .class file we will notice.</a:t>
            </a:r>
          </a:p>
          <a:p>
            <a:pPr algn="just"/>
            <a:endParaRPr lang="en-IN" sz="1800" dirty="0"/>
          </a:p>
          <a:p>
            <a:pPr algn="just"/>
            <a:r>
              <a:rPr lang="en-IN" sz="1800" dirty="0"/>
              <a:t>// MyInterface.java</a:t>
            </a:r>
          </a:p>
          <a:p>
            <a:pPr algn="just"/>
            <a:r>
              <a:rPr lang="en-IN" sz="1800" dirty="0"/>
              <a:t>abstract interface </a:t>
            </a:r>
            <a:r>
              <a:rPr lang="en-IN" sz="1800" dirty="0" err="1"/>
              <a:t>MyInterface</a:t>
            </a:r>
            <a:r>
              <a:rPr lang="en-IN" sz="1800" dirty="0"/>
              <a:t> {</a:t>
            </a:r>
          </a:p>
          <a:p>
            <a:pPr algn="just"/>
            <a:r>
              <a:rPr lang="en-IN" sz="1800" dirty="0"/>
              <a:t>   </a:t>
            </a:r>
            <a:r>
              <a:rPr lang="en-IN" sz="1800" b="1" dirty="0"/>
              <a:t>public static final </a:t>
            </a:r>
            <a:r>
              <a:rPr lang="en-IN" sz="1800" dirty="0"/>
              <a:t>int MIN_AGE=18;</a:t>
            </a:r>
          </a:p>
          <a:p>
            <a:pPr algn="just"/>
            <a:r>
              <a:rPr lang="en-IN" sz="1800" dirty="0"/>
              <a:t>   </a:t>
            </a:r>
            <a:r>
              <a:rPr lang="en-IN" sz="1800" b="1" dirty="0"/>
              <a:t>public abstract </a:t>
            </a:r>
            <a:r>
              <a:rPr lang="en-IN" sz="1800" dirty="0"/>
              <a:t>void method1();</a:t>
            </a:r>
          </a:p>
          <a:p>
            <a:pPr algn="just"/>
            <a:r>
              <a:rPr lang="en-IN" sz="1800" dirty="0"/>
              <a:t>}</a:t>
            </a:r>
          </a:p>
        </p:txBody>
      </p:sp>
      <p:sp>
        <p:nvSpPr>
          <p:cNvPr id="26" name="TextBox 25">
            <a:extLst>
              <a:ext uri="{FF2B5EF4-FFF2-40B4-BE49-F238E27FC236}">
                <a16:creationId xmlns:a16="http://schemas.microsoft.com/office/drawing/2014/main" id="{08DC7EA6-4338-4291-9B54-B14F1D6390AA}"/>
              </a:ext>
            </a:extLst>
          </p:cNvPr>
          <p:cNvSpPr txBox="1"/>
          <p:nvPr/>
        </p:nvSpPr>
        <p:spPr>
          <a:xfrm>
            <a:off x="6511301" y="1714456"/>
            <a:ext cx="5109191" cy="1477328"/>
          </a:xfrm>
          <a:prstGeom prst="rect">
            <a:avLst/>
          </a:prstGeom>
          <a:noFill/>
        </p:spPr>
        <p:txBody>
          <a:bodyPr wrap="square">
            <a:spAutoFit/>
          </a:bodyPr>
          <a:lstStyle/>
          <a:p>
            <a:pPr algn="just"/>
            <a:r>
              <a:rPr lang="en-IN" dirty="0"/>
              <a:t>In interface </a:t>
            </a:r>
          </a:p>
          <a:p>
            <a:pPr marL="285750" indent="-285750" algn="just">
              <a:buFont typeface="Wingdings" panose="05000000000000000000" pitchFamily="2" charset="2"/>
              <a:buChar char="Ø"/>
            </a:pPr>
            <a:r>
              <a:rPr lang="en-IN" dirty="0"/>
              <a:t>all variables are by default public static final </a:t>
            </a:r>
          </a:p>
          <a:p>
            <a:pPr marL="285750" indent="-285750" algn="just">
              <a:buFont typeface="Wingdings" panose="05000000000000000000" pitchFamily="2" charset="2"/>
              <a:buChar char="Ø"/>
            </a:pPr>
            <a:r>
              <a:rPr lang="en-IN" dirty="0"/>
              <a:t>and all methods are public abstract by default.</a:t>
            </a:r>
          </a:p>
          <a:p>
            <a:pPr algn="just"/>
            <a:r>
              <a:rPr lang="en-IN" dirty="0"/>
              <a:t> Because interface is pure abstract class, it cannot be instantiated, it can be only inherited.</a:t>
            </a:r>
          </a:p>
        </p:txBody>
      </p:sp>
    </p:spTree>
    <p:extLst>
      <p:ext uri="{BB962C8B-B14F-4D97-AF65-F5344CB8AC3E}">
        <p14:creationId xmlns:p14="http://schemas.microsoft.com/office/powerpoint/2010/main" val="3636495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327497" y="696771"/>
            <a:ext cx="7756329" cy="2477601"/>
          </a:xfrm>
          <a:prstGeom prst="rect">
            <a:avLst/>
          </a:prstGeom>
          <a:noFill/>
        </p:spPr>
        <p:txBody>
          <a:bodyPr wrap="square">
            <a:spAutoFit/>
          </a:bodyPr>
          <a:lstStyle/>
          <a:p>
            <a:pPr algn="just"/>
            <a:r>
              <a:rPr lang="en-IN" b="1" dirty="0"/>
              <a:t>point #1</a:t>
            </a:r>
          </a:p>
          <a:p>
            <a:pPr algn="just"/>
            <a:r>
              <a:rPr lang="en-IN" b="1" dirty="0"/>
              <a:t>why interface variables are static?</a:t>
            </a:r>
          </a:p>
          <a:p>
            <a:pPr algn="just"/>
            <a:r>
              <a:rPr lang="en-IN" dirty="0"/>
              <a:t>Because interface cannot be instantiated, if its variables want to be accessed they must be static. They can be called using </a:t>
            </a:r>
            <a:r>
              <a:rPr lang="en-IN" dirty="0" err="1"/>
              <a:t>interface_name.var_name</a:t>
            </a:r>
            <a:endParaRPr lang="en-IN" dirty="0"/>
          </a:p>
          <a:p>
            <a:pPr algn="just"/>
            <a:endParaRPr lang="en-IN" sz="1000" dirty="0"/>
          </a:p>
          <a:p>
            <a:pPr algn="just"/>
            <a:r>
              <a:rPr lang="en-IN" b="1" dirty="0"/>
              <a:t>point #2</a:t>
            </a:r>
          </a:p>
          <a:p>
            <a:pPr algn="just"/>
            <a:r>
              <a:rPr lang="en-IN" b="1" dirty="0"/>
              <a:t>why interface variables are final?</a:t>
            </a:r>
          </a:p>
          <a:p>
            <a:pPr algn="just"/>
            <a:r>
              <a:rPr lang="en-IN" dirty="0"/>
              <a:t>Why interface variables are final by default because in multiple inheritance super class variable ambiguity problem arises. How?</a:t>
            </a:r>
          </a:p>
        </p:txBody>
      </p:sp>
      <p:sp>
        <p:nvSpPr>
          <p:cNvPr id="27" name="TextBox 26">
            <a:extLst>
              <a:ext uri="{FF2B5EF4-FFF2-40B4-BE49-F238E27FC236}">
                <a16:creationId xmlns:a16="http://schemas.microsoft.com/office/drawing/2014/main" id="{B1B8E3CE-5267-4222-B21F-76652915C557}"/>
              </a:ext>
            </a:extLst>
          </p:cNvPr>
          <p:cNvSpPr txBox="1"/>
          <p:nvPr/>
        </p:nvSpPr>
        <p:spPr>
          <a:xfrm>
            <a:off x="400253" y="3044701"/>
            <a:ext cx="3489959" cy="2308324"/>
          </a:xfrm>
          <a:prstGeom prst="rect">
            <a:avLst/>
          </a:prstGeom>
          <a:noFill/>
        </p:spPr>
        <p:txBody>
          <a:bodyPr wrap="square">
            <a:spAutoFit/>
          </a:bodyPr>
          <a:lstStyle/>
          <a:p>
            <a:r>
              <a:rPr lang="en-IN" sz="1600" b="1" dirty="0"/>
              <a:t>class A {</a:t>
            </a:r>
          </a:p>
          <a:p>
            <a:r>
              <a:rPr lang="en-IN" sz="1600" b="1" dirty="0"/>
              <a:t>	int x=10;</a:t>
            </a:r>
          </a:p>
          <a:p>
            <a:r>
              <a:rPr lang="en-IN" sz="1600" b="1" dirty="0"/>
              <a:t>	public void m1() {}</a:t>
            </a:r>
          </a:p>
          <a:p>
            <a:r>
              <a:rPr lang="en-IN" sz="1600" b="1" dirty="0"/>
              <a:t>}</a:t>
            </a:r>
          </a:p>
          <a:p>
            <a:endParaRPr lang="en-IN" sz="1600" b="1" dirty="0"/>
          </a:p>
          <a:p>
            <a:r>
              <a:rPr lang="en-IN" sz="1600" b="1" dirty="0"/>
              <a:t>interface B {</a:t>
            </a:r>
          </a:p>
          <a:p>
            <a:r>
              <a:rPr lang="en-IN" sz="1600" b="1" dirty="0"/>
              <a:t>	public static final int x=11;</a:t>
            </a:r>
          </a:p>
          <a:p>
            <a:r>
              <a:rPr lang="en-IN" sz="1600" b="1" dirty="0"/>
              <a:t>	public abstract void m1();</a:t>
            </a:r>
          </a:p>
          <a:p>
            <a:r>
              <a:rPr lang="en-IN" sz="1600" b="1" dirty="0"/>
              <a:t>}</a:t>
            </a:r>
          </a:p>
        </p:txBody>
      </p:sp>
      <p:sp>
        <p:nvSpPr>
          <p:cNvPr id="28" name="TextBox 27">
            <a:extLst>
              <a:ext uri="{FF2B5EF4-FFF2-40B4-BE49-F238E27FC236}">
                <a16:creationId xmlns:a16="http://schemas.microsoft.com/office/drawing/2014/main" id="{36793723-9BC9-4EE4-8D92-BEA042BC4ED9}"/>
              </a:ext>
            </a:extLst>
          </p:cNvPr>
          <p:cNvSpPr txBox="1"/>
          <p:nvPr/>
        </p:nvSpPr>
        <p:spPr>
          <a:xfrm>
            <a:off x="379353" y="5326792"/>
            <a:ext cx="2576327" cy="1323439"/>
          </a:xfrm>
          <a:prstGeom prst="rect">
            <a:avLst/>
          </a:prstGeom>
          <a:noFill/>
        </p:spPr>
        <p:txBody>
          <a:bodyPr wrap="square">
            <a:spAutoFit/>
          </a:bodyPr>
          <a:lstStyle/>
          <a:p>
            <a:r>
              <a:rPr lang="en-IN" sz="1600" b="1" dirty="0"/>
              <a:t>interface C {</a:t>
            </a:r>
          </a:p>
          <a:p>
            <a:r>
              <a:rPr lang="en-IN" sz="1600" b="1" dirty="0"/>
              <a:t>   public static final int x=12;</a:t>
            </a:r>
          </a:p>
          <a:p>
            <a:r>
              <a:rPr lang="en-IN" sz="1600" b="1" dirty="0"/>
              <a:t>   public abstract void m1();</a:t>
            </a:r>
          </a:p>
          <a:p>
            <a:r>
              <a:rPr lang="en-IN" sz="1600" b="1" dirty="0"/>
              <a:t>   public abstract void m2();</a:t>
            </a:r>
          </a:p>
          <a:p>
            <a:r>
              <a:rPr lang="en-IN" sz="1600" b="1" dirty="0"/>
              <a:t>}</a:t>
            </a:r>
          </a:p>
        </p:txBody>
      </p:sp>
      <p:sp>
        <p:nvSpPr>
          <p:cNvPr id="29" name="TextBox 28">
            <a:extLst>
              <a:ext uri="{FF2B5EF4-FFF2-40B4-BE49-F238E27FC236}">
                <a16:creationId xmlns:a16="http://schemas.microsoft.com/office/drawing/2014/main" id="{D6B9FB45-5C06-454E-B1B5-83AA26F6A29F}"/>
              </a:ext>
            </a:extLst>
          </p:cNvPr>
          <p:cNvSpPr txBox="1"/>
          <p:nvPr/>
        </p:nvSpPr>
        <p:spPr>
          <a:xfrm>
            <a:off x="4757329" y="2917280"/>
            <a:ext cx="3293619" cy="4031873"/>
          </a:xfrm>
          <a:prstGeom prst="rect">
            <a:avLst/>
          </a:prstGeom>
          <a:noFill/>
        </p:spPr>
        <p:txBody>
          <a:bodyPr wrap="square">
            <a:spAutoFit/>
          </a:bodyPr>
          <a:lstStyle/>
          <a:p>
            <a:pPr algn="just"/>
            <a:r>
              <a:rPr lang="en-IN" sz="1600" i="1" dirty="0"/>
              <a:t>// A class extending from multiple super classes is called as multiple inheritance like in C++. But Java doesn’t support multiple inheritance. Instead Java supports multi-level inheritance.</a:t>
            </a:r>
          </a:p>
          <a:p>
            <a:pPr algn="just"/>
            <a:r>
              <a:rPr lang="en-IN" sz="1600" b="1" dirty="0"/>
              <a:t>class D extends A implements B, C {</a:t>
            </a:r>
          </a:p>
          <a:p>
            <a:pPr algn="just"/>
            <a:r>
              <a:rPr lang="en-IN" sz="1600" b="1" dirty="0"/>
              <a:t>   int x=13;</a:t>
            </a:r>
          </a:p>
          <a:p>
            <a:pPr algn="just"/>
            <a:r>
              <a:rPr lang="en-IN" sz="1600" b="1" dirty="0"/>
              <a:t>   void </a:t>
            </a:r>
            <a:r>
              <a:rPr lang="en-IN" sz="1600" b="1" dirty="0" err="1"/>
              <a:t>printX</a:t>
            </a:r>
            <a:r>
              <a:rPr lang="en-IN" sz="1600" b="1" dirty="0"/>
              <a:t>() {</a:t>
            </a:r>
          </a:p>
          <a:p>
            <a:pPr algn="just"/>
            <a:r>
              <a:rPr lang="en-IN" sz="1600" b="1"/>
              <a:t>      </a:t>
            </a:r>
            <a:endParaRPr lang="en-IN" sz="1600" b="1" dirty="0"/>
          </a:p>
          <a:p>
            <a:pPr algn="just"/>
            <a:r>
              <a:rPr lang="en-IN" sz="1600" b="1" dirty="0"/>
              <a:t>      System.out.println(</a:t>
            </a:r>
            <a:r>
              <a:rPr lang="en-IN" sz="1600" b="1" dirty="0" err="1"/>
              <a:t>super.x</a:t>
            </a:r>
            <a:r>
              <a:rPr lang="en-IN" sz="1600" b="1" dirty="0"/>
              <a:t>); // 10</a:t>
            </a:r>
          </a:p>
          <a:p>
            <a:pPr algn="just"/>
            <a:r>
              <a:rPr lang="en-IN" sz="1600" b="1" dirty="0"/>
              <a:t>      System.out.println(</a:t>
            </a:r>
            <a:r>
              <a:rPr lang="en-IN" sz="1600" b="1" dirty="0" err="1"/>
              <a:t>B.x</a:t>
            </a:r>
            <a:r>
              <a:rPr lang="en-IN" sz="1600" b="1" dirty="0"/>
              <a:t>); // 11</a:t>
            </a:r>
          </a:p>
          <a:p>
            <a:pPr algn="just"/>
            <a:r>
              <a:rPr lang="en-IN" sz="1600" b="1" dirty="0"/>
              <a:t>      System.out.println(</a:t>
            </a:r>
            <a:r>
              <a:rPr lang="en-IN" sz="1600" b="1" dirty="0" err="1"/>
              <a:t>C.x</a:t>
            </a:r>
            <a:r>
              <a:rPr lang="en-IN" sz="1600" b="1" dirty="0"/>
              <a:t>); // 12</a:t>
            </a:r>
          </a:p>
          <a:p>
            <a:pPr algn="just"/>
            <a:r>
              <a:rPr lang="en-IN" sz="1600" b="1" dirty="0"/>
              <a:t>      System.out.println(</a:t>
            </a:r>
            <a:r>
              <a:rPr lang="en-IN" sz="1600" b="1" dirty="0" err="1"/>
              <a:t>this.x</a:t>
            </a:r>
            <a:r>
              <a:rPr lang="en-IN" sz="1600" b="1" dirty="0"/>
              <a:t>); // 13   </a:t>
            </a:r>
          </a:p>
          <a:p>
            <a:pPr algn="just"/>
            <a:r>
              <a:rPr lang="en-IN" sz="1600" b="1" dirty="0"/>
              <a:t>  }</a:t>
            </a:r>
          </a:p>
          <a:p>
            <a:pPr algn="just"/>
            <a:r>
              <a:rPr lang="en-IN" sz="1600" b="1" dirty="0"/>
              <a:t>}</a:t>
            </a:r>
          </a:p>
        </p:txBody>
      </p:sp>
      <p:sp>
        <p:nvSpPr>
          <p:cNvPr id="30" name="TextBox 29">
            <a:extLst>
              <a:ext uri="{FF2B5EF4-FFF2-40B4-BE49-F238E27FC236}">
                <a16:creationId xmlns:a16="http://schemas.microsoft.com/office/drawing/2014/main" id="{B649A2CD-67CE-448C-B748-81F22B37C684}"/>
              </a:ext>
            </a:extLst>
          </p:cNvPr>
          <p:cNvSpPr txBox="1"/>
          <p:nvPr/>
        </p:nvSpPr>
        <p:spPr>
          <a:xfrm>
            <a:off x="8116956" y="1414872"/>
            <a:ext cx="3823251" cy="1815882"/>
          </a:xfrm>
          <a:prstGeom prst="rect">
            <a:avLst/>
          </a:prstGeom>
          <a:noFill/>
        </p:spPr>
        <p:txBody>
          <a:bodyPr wrap="square">
            <a:spAutoFit/>
          </a:bodyPr>
          <a:lstStyle/>
          <a:p>
            <a:pPr marL="285750" indent="-285750" algn="just">
              <a:buFont typeface="Wingdings" panose="05000000000000000000" pitchFamily="2" charset="2"/>
              <a:buChar char="v"/>
            </a:pPr>
            <a:r>
              <a:rPr lang="en-IN" sz="1400" dirty="0"/>
              <a:t>In multiple inheritance, implemented methods are derived from multiple super classes</a:t>
            </a:r>
          </a:p>
          <a:p>
            <a:pPr marL="285750" indent="-285750" algn="just">
              <a:buFont typeface="Wingdings" panose="05000000000000000000" pitchFamily="2" charset="2"/>
              <a:buChar char="v"/>
            </a:pPr>
            <a:r>
              <a:rPr lang="en-IN" sz="1400" dirty="0"/>
              <a:t>In java we are getting implemented methods from only one super class and getting declared / abstract methods from multiple super interfaces. Hence java is multi-level inheritance.</a:t>
            </a:r>
          </a:p>
        </p:txBody>
      </p:sp>
    </p:spTree>
    <p:extLst>
      <p:ext uri="{BB962C8B-B14F-4D97-AF65-F5344CB8AC3E}">
        <p14:creationId xmlns:p14="http://schemas.microsoft.com/office/powerpoint/2010/main" val="1946264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327497" y="696771"/>
            <a:ext cx="7756329" cy="646331"/>
          </a:xfrm>
          <a:prstGeom prst="rect">
            <a:avLst/>
          </a:prstGeom>
          <a:noFill/>
        </p:spPr>
        <p:txBody>
          <a:bodyPr wrap="square">
            <a:spAutoFit/>
          </a:bodyPr>
          <a:lstStyle/>
          <a:p>
            <a:pPr algn="just"/>
            <a:r>
              <a:rPr lang="en-IN" b="1" dirty="0"/>
              <a:t>point #2</a:t>
            </a:r>
          </a:p>
          <a:p>
            <a:pPr algn="just"/>
            <a:r>
              <a:rPr lang="en-IN" b="1" dirty="0"/>
              <a:t>Why interface is named as interface?</a:t>
            </a:r>
          </a:p>
        </p:txBody>
      </p:sp>
      <p:sp>
        <p:nvSpPr>
          <p:cNvPr id="25" name="TextBox 24">
            <a:extLst>
              <a:ext uri="{FF2B5EF4-FFF2-40B4-BE49-F238E27FC236}">
                <a16:creationId xmlns:a16="http://schemas.microsoft.com/office/drawing/2014/main" id="{A16A3C46-9495-4588-A96D-53BD81B87900}"/>
              </a:ext>
            </a:extLst>
          </p:cNvPr>
          <p:cNvSpPr txBox="1"/>
          <p:nvPr/>
        </p:nvSpPr>
        <p:spPr>
          <a:xfrm>
            <a:off x="334125" y="1273238"/>
            <a:ext cx="5688991" cy="1569660"/>
          </a:xfrm>
          <a:prstGeom prst="rect">
            <a:avLst/>
          </a:prstGeom>
          <a:noFill/>
        </p:spPr>
        <p:txBody>
          <a:bodyPr wrap="square">
            <a:spAutoFit/>
          </a:bodyPr>
          <a:lstStyle/>
          <a:p>
            <a:pPr algn="just"/>
            <a:r>
              <a:rPr lang="en-US" sz="1600" b="1" dirty="0"/>
              <a:t>Why because of through interfaces class has many faces. A class can be viewed in different ways using interface. For example there is a class which has 5 methods, in which 3 methods want to be exposed to somebody and 2 methods want to be exposed to others. How 5 methods implemented in a class can be restricted as above.</a:t>
            </a:r>
            <a:endParaRPr lang="en-IN" sz="1600" b="1" dirty="0"/>
          </a:p>
        </p:txBody>
      </p:sp>
      <p:sp>
        <p:nvSpPr>
          <p:cNvPr id="26" name="TextBox 25">
            <a:extLst>
              <a:ext uri="{FF2B5EF4-FFF2-40B4-BE49-F238E27FC236}">
                <a16:creationId xmlns:a16="http://schemas.microsoft.com/office/drawing/2014/main" id="{7ADDF33C-60F6-4048-AC2B-8A80AB6F00E9}"/>
              </a:ext>
            </a:extLst>
          </p:cNvPr>
          <p:cNvSpPr txBox="1"/>
          <p:nvPr/>
        </p:nvSpPr>
        <p:spPr>
          <a:xfrm>
            <a:off x="321511" y="3254853"/>
            <a:ext cx="2113723" cy="1384995"/>
          </a:xfrm>
          <a:prstGeom prst="rect">
            <a:avLst/>
          </a:prstGeom>
          <a:noFill/>
        </p:spPr>
        <p:txBody>
          <a:bodyPr wrap="square">
            <a:spAutoFit/>
          </a:bodyPr>
          <a:lstStyle/>
          <a:p>
            <a:r>
              <a:rPr lang="en-IN" sz="1400" dirty="0"/>
              <a:t>// interface1.java</a:t>
            </a:r>
          </a:p>
          <a:p>
            <a:r>
              <a:rPr lang="en-IN" sz="1400" dirty="0"/>
              <a:t>interface interface1 {</a:t>
            </a:r>
          </a:p>
          <a:p>
            <a:r>
              <a:rPr lang="en-IN" sz="1400" dirty="0"/>
              <a:t>   public void method1();</a:t>
            </a:r>
          </a:p>
          <a:p>
            <a:r>
              <a:rPr lang="en-IN" sz="1400" dirty="0"/>
              <a:t>   public void method2();</a:t>
            </a:r>
          </a:p>
          <a:p>
            <a:r>
              <a:rPr lang="en-IN" sz="1400" dirty="0"/>
              <a:t>   public void method3();</a:t>
            </a:r>
          </a:p>
          <a:p>
            <a:r>
              <a:rPr lang="en-IN" sz="1400" dirty="0"/>
              <a:t>}</a:t>
            </a:r>
          </a:p>
        </p:txBody>
      </p:sp>
      <p:sp>
        <p:nvSpPr>
          <p:cNvPr id="31" name="TextBox 30">
            <a:extLst>
              <a:ext uri="{FF2B5EF4-FFF2-40B4-BE49-F238E27FC236}">
                <a16:creationId xmlns:a16="http://schemas.microsoft.com/office/drawing/2014/main" id="{C6020600-E9B7-45CA-A439-8AB48404D93C}"/>
              </a:ext>
            </a:extLst>
          </p:cNvPr>
          <p:cNvSpPr txBox="1"/>
          <p:nvPr/>
        </p:nvSpPr>
        <p:spPr>
          <a:xfrm>
            <a:off x="321511" y="4559542"/>
            <a:ext cx="1981202" cy="1169551"/>
          </a:xfrm>
          <a:prstGeom prst="rect">
            <a:avLst/>
          </a:prstGeom>
          <a:noFill/>
        </p:spPr>
        <p:txBody>
          <a:bodyPr wrap="square">
            <a:spAutoFit/>
          </a:bodyPr>
          <a:lstStyle/>
          <a:p>
            <a:r>
              <a:rPr lang="en-IN" sz="1400" dirty="0"/>
              <a:t>// interface2.java</a:t>
            </a:r>
          </a:p>
          <a:p>
            <a:r>
              <a:rPr lang="en-IN" sz="1400" dirty="0"/>
              <a:t>interface interface2 {</a:t>
            </a:r>
          </a:p>
          <a:p>
            <a:r>
              <a:rPr lang="en-IN" sz="1400" dirty="0"/>
              <a:t>   public void method4();</a:t>
            </a:r>
          </a:p>
          <a:p>
            <a:r>
              <a:rPr lang="en-IN" sz="1400" dirty="0"/>
              <a:t>   public void method5();</a:t>
            </a:r>
          </a:p>
          <a:p>
            <a:r>
              <a:rPr lang="en-IN" sz="1400" dirty="0"/>
              <a:t>}</a:t>
            </a:r>
          </a:p>
        </p:txBody>
      </p:sp>
      <p:sp>
        <p:nvSpPr>
          <p:cNvPr id="32" name="TextBox 31">
            <a:extLst>
              <a:ext uri="{FF2B5EF4-FFF2-40B4-BE49-F238E27FC236}">
                <a16:creationId xmlns:a16="http://schemas.microsoft.com/office/drawing/2014/main" id="{31E880FE-A62D-434B-A297-6A33BCDD4B05}"/>
              </a:ext>
            </a:extLst>
          </p:cNvPr>
          <p:cNvSpPr txBox="1"/>
          <p:nvPr/>
        </p:nvSpPr>
        <p:spPr>
          <a:xfrm>
            <a:off x="308262" y="5644918"/>
            <a:ext cx="2359842" cy="954107"/>
          </a:xfrm>
          <a:prstGeom prst="rect">
            <a:avLst/>
          </a:prstGeom>
          <a:noFill/>
        </p:spPr>
        <p:txBody>
          <a:bodyPr wrap="square">
            <a:spAutoFit/>
          </a:bodyPr>
          <a:lstStyle/>
          <a:p>
            <a:r>
              <a:rPr lang="en-IN" sz="1400" dirty="0"/>
              <a:t>// interface3.java</a:t>
            </a:r>
          </a:p>
          <a:p>
            <a:r>
              <a:rPr lang="en-IN" sz="1400" dirty="0"/>
              <a:t>interface interface3 extends interface1, interf`ace2 {</a:t>
            </a:r>
          </a:p>
          <a:p>
            <a:r>
              <a:rPr lang="en-IN" sz="1400" dirty="0"/>
              <a:t>}</a:t>
            </a:r>
          </a:p>
        </p:txBody>
      </p:sp>
      <p:sp>
        <p:nvSpPr>
          <p:cNvPr id="33" name="TextBox 32">
            <a:extLst>
              <a:ext uri="{FF2B5EF4-FFF2-40B4-BE49-F238E27FC236}">
                <a16:creationId xmlns:a16="http://schemas.microsoft.com/office/drawing/2014/main" id="{58B8B1CC-C1B1-4283-B1FA-D46B772ABBC6}"/>
              </a:ext>
            </a:extLst>
          </p:cNvPr>
          <p:cNvSpPr txBox="1"/>
          <p:nvPr/>
        </p:nvSpPr>
        <p:spPr>
          <a:xfrm>
            <a:off x="2362345" y="2695510"/>
            <a:ext cx="3609563" cy="4185761"/>
          </a:xfrm>
          <a:prstGeom prst="rect">
            <a:avLst/>
          </a:prstGeom>
          <a:noFill/>
        </p:spPr>
        <p:txBody>
          <a:bodyPr wrap="square">
            <a:spAutoFit/>
          </a:bodyPr>
          <a:lstStyle/>
          <a:p>
            <a:r>
              <a:rPr lang="en-IN" sz="1400" dirty="0"/>
              <a:t>// InterfaceImplementationClass.java</a:t>
            </a:r>
          </a:p>
          <a:p>
            <a:r>
              <a:rPr lang="en-IN" sz="1400" dirty="0"/>
              <a:t>class </a:t>
            </a:r>
            <a:r>
              <a:rPr lang="en-IN" sz="1400" dirty="0" err="1"/>
              <a:t>InterfaceImplementationClass</a:t>
            </a:r>
            <a:r>
              <a:rPr lang="en-IN" sz="1400" dirty="0"/>
              <a:t> implements interface1, interface2 {</a:t>
            </a:r>
          </a:p>
          <a:p>
            <a:r>
              <a:rPr lang="en-IN" sz="1400" dirty="0"/>
              <a:t>   public void method1() {</a:t>
            </a:r>
          </a:p>
          <a:p>
            <a:r>
              <a:rPr lang="en-IN" sz="1400" dirty="0"/>
              <a:t>      System.out.println("method1() called");</a:t>
            </a:r>
          </a:p>
          <a:p>
            <a:r>
              <a:rPr lang="en-IN" sz="1400" dirty="0"/>
              <a:t>   }</a:t>
            </a:r>
          </a:p>
          <a:p>
            <a:r>
              <a:rPr lang="en-IN" sz="1400" dirty="0"/>
              <a:t>   public void method2() {</a:t>
            </a:r>
          </a:p>
          <a:p>
            <a:r>
              <a:rPr lang="en-IN" sz="1400" dirty="0"/>
              <a:t>      System.out.println("method2() called");</a:t>
            </a:r>
          </a:p>
          <a:p>
            <a:r>
              <a:rPr lang="en-IN" sz="1400" dirty="0"/>
              <a:t>   }</a:t>
            </a:r>
          </a:p>
          <a:p>
            <a:r>
              <a:rPr lang="en-IN" sz="1400" dirty="0"/>
              <a:t>   public void method3() {</a:t>
            </a:r>
          </a:p>
          <a:p>
            <a:r>
              <a:rPr lang="en-IN" sz="1400" dirty="0"/>
              <a:t>      System.out.println("method3() called");</a:t>
            </a:r>
          </a:p>
          <a:p>
            <a:r>
              <a:rPr lang="en-IN" sz="1400" dirty="0"/>
              <a:t>   }</a:t>
            </a:r>
          </a:p>
          <a:p>
            <a:r>
              <a:rPr lang="en-IN" sz="1400" dirty="0"/>
              <a:t>   public void method4() {</a:t>
            </a:r>
          </a:p>
          <a:p>
            <a:r>
              <a:rPr lang="en-IN" sz="1400" dirty="0"/>
              <a:t>      System.out.println("method4() called");</a:t>
            </a:r>
          </a:p>
          <a:p>
            <a:r>
              <a:rPr lang="en-IN" sz="1400" dirty="0"/>
              <a:t>   }</a:t>
            </a:r>
          </a:p>
          <a:p>
            <a:r>
              <a:rPr lang="en-IN" sz="1400" dirty="0"/>
              <a:t>   public void method5() {</a:t>
            </a:r>
          </a:p>
          <a:p>
            <a:r>
              <a:rPr lang="en-IN" sz="1400" dirty="0"/>
              <a:t>      System.out.println("method5() called");</a:t>
            </a:r>
          </a:p>
          <a:p>
            <a:r>
              <a:rPr lang="en-IN" sz="1400" dirty="0"/>
              <a:t>   }</a:t>
            </a:r>
          </a:p>
          <a:p>
            <a:r>
              <a:rPr lang="en-IN" sz="1400" dirty="0"/>
              <a:t>}</a:t>
            </a:r>
          </a:p>
        </p:txBody>
      </p:sp>
      <p:sp>
        <p:nvSpPr>
          <p:cNvPr id="34" name="TextBox 33">
            <a:extLst>
              <a:ext uri="{FF2B5EF4-FFF2-40B4-BE49-F238E27FC236}">
                <a16:creationId xmlns:a16="http://schemas.microsoft.com/office/drawing/2014/main" id="{1ADBF180-D721-40B8-8A4E-CB9F4A835E85}"/>
              </a:ext>
            </a:extLst>
          </p:cNvPr>
          <p:cNvSpPr txBox="1"/>
          <p:nvPr/>
        </p:nvSpPr>
        <p:spPr>
          <a:xfrm>
            <a:off x="5832049" y="3472326"/>
            <a:ext cx="3352897" cy="3231654"/>
          </a:xfrm>
          <a:prstGeom prst="rect">
            <a:avLst/>
          </a:prstGeom>
          <a:noFill/>
        </p:spPr>
        <p:txBody>
          <a:bodyPr wrap="square">
            <a:spAutoFit/>
          </a:bodyPr>
          <a:lstStyle/>
          <a:p>
            <a:r>
              <a:rPr lang="en-IN" sz="1200" dirty="0"/>
              <a:t>// Client2.java</a:t>
            </a:r>
          </a:p>
          <a:p>
            <a:r>
              <a:rPr lang="en-IN" sz="1200" dirty="0"/>
              <a:t>public class Client2 {</a:t>
            </a:r>
          </a:p>
          <a:p>
            <a:r>
              <a:rPr lang="en-IN" sz="1200" dirty="0"/>
              <a:t>   public static void main(String rags[]) {</a:t>
            </a:r>
          </a:p>
          <a:p>
            <a:r>
              <a:rPr lang="en-IN" sz="1200" dirty="0"/>
              <a:t>       /* Though we are creating object of </a:t>
            </a:r>
            <a:r>
              <a:rPr lang="en-IN" sz="1200" dirty="0" err="1"/>
              <a:t>InterfaceImplementationClass</a:t>
            </a:r>
            <a:r>
              <a:rPr lang="en-IN" sz="1200" dirty="0"/>
              <a:t> if we take the reference into Interface2 we can access only the interface and implementation class common methods. */</a:t>
            </a:r>
          </a:p>
          <a:p>
            <a:r>
              <a:rPr lang="en-IN" sz="1200" dirty="0"/>
              <a:t>       interface2 i2=new </a:t>
            </a:r>
            <a:r>
              <a:rPr lang="en-IN" sz="1200" dirty="0" err="1"/>
              <a:t>InterfaceImplementationClass</a:t>
            </a:r>
            <a:r>
              <a:rPr lang="en-IN" sz="1200" dirty="0"/>
              <a:t>();</a:t>
            </a:r>
          </a:p>
          <a:p>
            <a:r>
              <a:rPr lang="en-IN" sz="1200" dirty="0"/>
              <a:t>       // i2.method1(); // cannot find symbol</a:t>
            </a:r>
          </a:p>
          <a:p>
            <a:r>
              <a:rPr lang="en-IN" sz="1200" dirty="0"/>
              <a:t>       // i2.method2(); // cannot find symbol</a:t>
            </a:r>
          </a:p>
          <a:p>
            <a:r>
              <a:rPr lang="en-IN" sz="1200" dirty="0"/>
              <a:t>       // i2.method3(); // cannot find symbol</a:t>
            </a:r>
          </a:p>
          <a:p>
            <a:r>
              <a:rPr lang="en-IN" sz="1200" dirty="0"/>
              <a:t>       i2.method4();</a:t>
            </a:r>
          </a:p>
          <a:p>
            <a:r>
              <a:rPr lang="en-IN" sz="1200" dirty="0"/>
              <a:t>       i2.method5();</a:t>
            </a:r>
          </a:p>
          <a:p>
            <a:r>
              <a:rPr lang="en-IN" sz="1200" dirty="0"/>
              <a:t>   }</a:t>
            </a:r>
          </a:p>
          <a:p>
            <a:r>
              <a:rPr lang="en-IN" sz="1200" dirty="0"/>
              <a:t>}</a:t>
            </a:r>
          </a:p>
        </p:txBody>
      </p:sp>
      <p:sp>
        <p:nvSpPr>
          <p:cNvPr id="35" name="TextBox 34">
            <a:extLst>
              <a:ext uri="{FF2B5EF4-FFF2-40B4-BE49-F238E27FC236}">
                <a16:creationId xmlns:a16="http://schemas.microsoft.com/office/drawing/2014/main" id="{8777DFAD-02B7-48CD-99D1-08F642EFEABA}"/>
              </a:ext>
            </a:extLst>
          </p:cNvPr>
          <p:cNvSpPr txBox="1"/>
          <p:nvPr/>
        </p:nvSpPr>
        <p:spPr>
          <a:xfrm>
            <a:off x="6195390" y="670185"/>
            <a:ext cx="4330870" cy="2862322"/>
          </a:xfrm>
          <a:prstGeom prst="rect">
            <a:avLst/>
          </a:prstGeom>
          <a:noFill/>
        </p:spPr>
        <p:txBody>
          <a:bodyPr wrap="square">
            <a:spAutoFit/>
          </a:bodyPr>
          <a:lstStyle/>
          <a:p>
            <a:r>
              <a:rPr lang="en-IN" sz="1200" dirty="0"/>
              <a:t>// Client1.java</a:t>
            </a:r>
          </a:p>
          <a:p>
            <a:r>
              <a:rPr lang="en-IN" sz="1200" dirty="0"/>
              <a:t>public class Client1 {</a:t>
            </a:r>
          </a:p>
          <a:p>
            <a:r>
              <a:rPr lang="en-IN" sz="1200" dirty="0"/>
              <a:t>   public static void main(String rags[]) {</a:t>
            </a:r>
          </a:p>
          <a:p>
            <a:r>
              <a:rPr lang="en-IN" sz="1200" dirty="0"/>
              <a:t>       /* Though we are creating object of </a:t>
            </a:r>
            <a:r>
              <a:rPr lang="en-IN" sz="1200" dirty="0" err="1"/>
              <a:t>InterfaceImplementationClass</a:t>
            </a:r>
            <a:r>
              <a:rPr lang="en-IN" sz="1200" dirty="0"/>
              <a:t> if we take the reference into Interface1 we can access only the interface and implementation class common methods. */</a:t>
            </a:r>
          </a:p>
          <a:p>
            <a:r>
              <a:rPr lang="en-IN" sz="1200" dirty="0"/>
              <a:t>       interface1 i1=new </a:t>
            </a:r>
            <a:r>
              <a:rPr lang="en-IN" sz="1200" dirty="0" err="1"/>
              <a:t>InterfaceImplementationClass</a:t>
            </a:r>
            <a:r>
              <a:rPr lang="en-IN" sz="1200" dirty="0"/>
              <a:t>();</a:t>
            </a:r>
          </a:p>
          <a:p>
            <a:r>
              <a:rPr lang="en-IN" sz="1200" dirty="0"/>
              <a:t>       i1.method1();</a:t>
            </a:r>
          </a:p>
          <a:p>
            <a:r>
              <a:rPr lang="en-IN" sz="1200" dirty="0"/>
              <a:t>       i1.method2();</a:t>
            </a:r>
          </a:p>
          <a:p>
            <a:r>
              <a:rPr lang="en-IN" sz="1200" dirty="0"/>
              <a:t>       i1.method3();</a:t>
            </a:r>
          </a:p>
          <a:p>
            <a:r>
              <a:rPr lang="en-IN" sz="1200" dirty="0"/>
              <a:t>       // i1.method4(); // cannot find symbol</a:t>
            </a:r>
          </a:p>
          <a:p>
            <a:r>
              <a:rPr lang="en-IN" sz="1200" dirty="0"/>
              <a:t>       // i1.method5(); // cannot find symbol</a:t>
            </a:r>
          </a:p>
          <a:p>
            <a:r>
              <a:rPr lang="en-IN" sz="1200" dirty="0"/>
              <a:t>   }</a:t>
            </a:r>
          </a:p>
          <a:p>
            <a:r>
              <a:rPr lang="en-IN" sz="1200" dirty="0"/>
              <a:t>}</a:t>
            </a:r>
          </a:p>
        </p:txBody>
      </p:sp>
    </p:spTree>
    <p:extLst>
      <p:ext uri="{BB962C8B-B14F-4D97-AF65-F5344CB8AC3E}">
        <p14:creationId xmlns:p14="http://schemas.microsoft.com/office/powerpoint/2010/main" val="4138431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327497" y="696771"/>
            <a:ext cx="10192761" cy="2308324"/>
          </a:xfrm>
          <a:prstGeom prst="rect">
            <a:avLst/>
          </a:prstGeom>
          <a:noFill/>
        </p:spPr>
        <p:txBody>
          <a:bodyPr wrap="square">
            <a:spAutoFit/>
          </a:bodyPr>
          <a:lstStyle/>
          <a:p>
            <a:pPr algn="just"/>
            <a:r>
              <a:rPr lang="en-IN" b="1" dirty="0"/>
              <a:t>point #3</a:t>
            </a:r>
          </a:p>
          <a:p>
            <a:pPr algn="just"/>
            <a:r>
              <a:rPr lang="en-IN" b="1" dirty="0"/>
              <a:t>why interface methods are abstract by default?</a:t>
            </a:r>
          </a:p>
          <a:p>
            <a:pPr marL="285750" indent="-285750" algn="just">
              <a:buFont typeface="Wingdings" panose="05000000000000000000" pitchFamily="2" charset="2"/>
              <a:buChar char="v"/>
            </a:pPr>
            <a:r>
              <a:rPr lang="en-IN" b="1" dirty="0"/>
              <a:t>With abstraction we can achieve </a:t>
            </a:r>
            <a:r>
              <a:rPr lang="en-IN" b="1" i="1" u="sng" dirty="0">
                <a:solidFill>
                  <a:srgbClr val="FF0000"/>
                </a:solidFill>
              </a:rPr>
              <a:t>“Run-Time Polymorphism (RTP)”</a:t>
            </a:r>
            <a:r>
              <a:rPr lang="en-IN" b="1" dirty="0"/>
              <a:t>. The same thing we can achieve with abstract class also. But single abstract class can be derived into subclass where many super interfaces can be derived into sub class. </a:t>
            </a:r>
          </a:p>
          <a:p>
            <a:pPr marL="285750" indent="-285750" algn="just">
              <a:buFont typeface="Wingdings" panose="05000000000000000000" pitchFamily="2" charset="2"/>
              <a:buChar char="v"/>
            </a:pPr>
            <a:r>
              <a:rPr lang="en-IN" b="1" dirty="0"/>
              <a:t>Another imp point is if class derives from one abstract super class the sub class will loose the chance of deriving from one more super class. Where if sub class inherits from super interface, a class can implement from any number of super interfaces.</a:t>
            </a:r>
          </a:p>
        </p:txBody>
      </p:sp>
      <p:sp>
        <p:nvSpPr>
          <p:cNvPr id="7" name="TextBox 6">
            <a:extLst>
              <a:ext uri="{FF2B5EF4-FFF2-40B4-BE49-F238E27FC236}">
                <a16:creationId xmlns:a16="http://schemas.microsoft.com/office/drawing/2014/main" id="{D2801C99-68E3-4FD2-B701-6637857BFA04}"/>
              </a:ext>
            </a:extLst>
          </p:cNvPr>
          <p:cNvSpPr txBox="1"/>
          <p:nvPr/>
        </p:nvSpPr>
        <p:spPr>
          <a:xfrm>
            <a:off x="545910" y="3033212"/>
            <a:ext cx="6455392" cy="923330"/>
          </a:xfrm>
          <a:prstGeom prst="rect">
            <a:avLst/>
          </a:prstGeom>
          <a:noFill/>
        </p:spPr>
        <p:txBody>
          <a:bodyPr wrap="square" rtlCol="0">
            <a:spAutoFit/>
          </a:bodyPr>
          <a:lstStyle/>
          <a:p>
            <a:r>
              <a:rPr lang="en-US" i="1" dirty="0"/>
              <a:t>Coming to the Runtime Polymorphism, RTP allows client to choose which sub class method implementation want to be invoked will be decided at runtime.</a:t>
            </a:r>
            <a:endParaRPr lang="en-IN" i="1" dirty="0"/>
          </a:p>
        </p:txBody>
      </p:sp>
      <p:sp>
        <p:nvSpPr>
          <p:cNvPr id="19" name="TextBox 18">
            <a:extLst>
              <a:ext uri="{FF2B5EF4-FFF2-40B4-BE49-F238E27FC236}">
                <a16:creationId xmlns:a16="http://schemas.microsoft.com/office/drawing/2014/main" id="{29575B93-D8F7-4A79-91BB-B1C44B610477}"/>
              </a:ext>
            </a:extLst>
          </p:cNvPr>
          <p:cNvSpPr txBox="1"/>
          <p:nvPr/>
        </p:nvSpPr>
        <p:spPr>
          <a:xfrm>
            <a:off x="556138" y="4001160"/>
            <a:ext cx="3115110" cy="1077218"/>
          </a:xfrm>
          <a:prstGeom prst="rect">
            <a:avLst/>
          </a:prstGeom>
          <a:noFill/>
        </p:spPr>
        <p:txBody>
          <a:bodyPr wrap="square">
            <a:spAutoFit/>
          </a:bodyPr>
          <a:lstStyle/>
          <a:p>
            <a:r>
              <a:rPr lang="en-IN" sz="1600" b="1" dirty="0" err="1"/>
              <a:t>EmpPayrolls</a:t>
            </a:r>
            <a:r>
              <a:rPr lang="en-IN" sz="1600" b="1" dirty="0"/>
              <a:t> are many such as:</a:t>
            </a:r>
          </a:p>
          <a:p>
            <a:pPr marL="285750" indent="-285750">
              <a:buFont typeface="Arial" panose="020B0604020202020204" pitchFamily="34" charset="0"/>
              <a:buChar char="•"/>
            </a:pPr>
            <a:r>
              <a:rPr lang="en-IN" sz="1600" i="1" dirty="0" err="1"/>
              <a:t>AdminEmpPayroll</a:t>
            </a:r>
            <a:endParaRPr lang="en-IN" sz="1600" i="1" dirty="0"/>
          </a:p>
          <a:p>
            <a:pPr marL="285750" indent="-285750">
              <a:buFont typeface="Arial" panose="020B0604020202020204" pitchFamily="34" charset="0"/>
              <a:buChar char="•"/>
            </a:pPr>
            <a:r>
              <a:rPr lang="en-IN" sz="1600" i="1" dirty="0" err="1"/>
              <a:t>SalesEmpPayroll</a:t>
            </a:r>
            <a:endParaRPr lang="en-IN" sz="1600" i="1" dirty="0"/>
          </a:p>
          <a:p>
            <a:pPr marL="285750" indent="-285750">
              <a:buFont typeface="Arial" panose="020B0604020202020204" pitchFamily="34" charset="0"/>
              <a:buChar char="•"/>
            </a:pPr>
            <a:r>
              <a:rPr lang="en-IN" sz="1600" i="1" dirty="0" err="1"/>
              <a:t>ProdEmpPayroll</a:t>
            </a:r>
            <a:endParaRPr lang="en-IN" sz="1600" i="1" dirty="0"/>
          </a:p>
        </p:txBody>
      </p:sp>
      <p:sp>
        <p:nvSpPr>
          <p:cNvPr id="25" name="TextBox 24">
            <a:extLst>
              <a:ext uri="{FF2B5EF4-FFF2-40B4-BE49-F238E27FC236}">
                <a16:creationId xmlns:a16="http://schemas.microsoft.com/office/drawing/2014/main" id="{0DF06342-5F9F-4610-8136-D46CC9969514}"/>
              </a:ext>
            </a:extLst>
          </p:cNvPr>
          <p:cNvSpPr txBox="1"/>
          <p:nvPr/>
        </p:nvSpPr>
        <p:spPr>
          <a:xfrm>
            <a:off x="3266375" y="4001155"/>
            <a:ext cx="2847815" cy="2616101"/>
          </a:xfrm>
          <a:prstGeom prst="rect">
            <a:avLst/>
          </a:prstGeom>
          <a:noFill/>
        </p:spPr>
        <p:txBody>
          <a:bodyPr wrap="square">
            <a:spAutoFit/>
          </a:bodyPr>
          <a:lstStyle/>
          <a:p>
            <a:r>
              <a:rPr lang="en-IN" sz="1600" b="1" dirty="0"/>
              <a:t>Printers are many such as:</a:t>
            </a:r>
          </a:p>
          <a:p>
            <a:pPr marL="285750" indent="-285750">
              <a:buFont typeface="Arial" panose="020B0604020202020204" pitchFamily="34" charset="0"/>
              <a:buChar char="•"/>
            </a:pPr>
            <a:r>
              <a:rPr lang="en-IN" sz="1600" dirty="0" err="1"/>
              <a:t>STDOUTPrinter</a:t>
            </a:r>
            <a:endParaRPr lang="en-IN" sz="1600" dirty="0"/>
          </a:p>
          <a:p>
            <a:pPr marL="285750" indent="-285750">
              <a:buFont typeface="Arial" panose="020B0604020202020204" pitchFamily="34" charset="0"/>
              <a:buChar char="•"/>
            </a:pPr>
            <a:r>
              <a:rPr lang="en-IN" sz="1600" dirty="0" err="1"/>
              <a:t>FilePrinter</a:t>
            </a:r>
            <a:endParaRPr lang="en-IN" sz="1600" dirty="0"/>
          </a:p>
          <a:p>
            <a:pPr marL="285750" indent="-285750">
              <a:buFont typeface="Arial" panose="020B0604020202020204" pitchFamily="34" charset="0"/>
              <a:buChar char="•"/>
            </a:pPr>
            <a:r>
              <a:rPr lang="en-IN" sz="1600" dirty="0" err="1"/>
              <a:t>SocketPrinter</a:t>
            </a:r>
            <a:endParaRPr lang="en-IN" sz="1600" dirty="0"/>
          </a:p>
          <a:p>
            <a:pPr marL="285750" indent="-285750">
              <a:buFont typeface="Arial" panose="020B0604020202020204" pitchFamily="34" charset="0"/>
              <a:buChar char="•"/>
            </a:pPr>
            <a:r>
              <a:rPr lang="en-IN" sz="1600" dirty="0" err="1"/>
              <a:t>MailPrinter</a:t>
            </a:r>
            <a:endParaRPr lang="en-IN" sz="1600" dirty="0"/>
          </a:p>
          <a:p>
            <a:pPr marL="285750" indent="-285750">
              <a:buFont typeface="Arial" panose="020B0604020202020204" pitchFamily="34" charset="0"/>
              <a:buChar char="•"/>
            </a:pPr>
            <a:r>
              <a:rPr lang="en-IN" sz="1600" dirty="0" err="1"/>
              <a:t>SMSPrinter</a:t>
            </a:r>
            <a:endParaRPr lang="en-IN" sz="1600" dirty="0"/>
          </a:p>
          <a:p>
            <a:pPr marL="285750" indent="-285750">
              <a:buFont typeface="Arial" panose="020B0604020202020204" pitchFamily="34" charset="0"/>
              <a:buChar char="•"/>
            </a:pPr>
            <a:r>
              <a:rPr lang="en-IN" sz="1600" dirty="0" err="1"/>
              <a:t>WhatsappPrinter</a:t>
            </a:r>
            <a:endParaRPr lang="en-IN" sz="1600" dirty="0"/>
          </a:p>
          <a:p>
            <a:pPr marL="285750" indent="-285750">
              <a:buFont typeface="Arial" panose="020B0604020202020204" pitchFamily="34" charset="0"/>
              <a:buChar char="•"/>
            </a:pPr>
            <a:r>
              <a:rPr lang="en-IN" sz="1600" dirty="0" err="1"/>
              <a:t>FacebookPrinter</a:t>
            </a:r>
            <a:endParaRPr lang="en-IN" sz="1600" dirty="0"/>
          </a:p>
          <a:p>
            <a:pPr marL="285750" indent="-285750">
              <a:buFont typeface="Arial" panose="020B0604020202020204" pitchFamily="34" charset="0"/>
              <a:buChar char="•"/>
            </a:pPr>
            <a:r>
              <a:rPr lang="en-IN" sz="1600" dirty="0" err="1"/>
              <a:t>TwitterPrinter</a:t>
            </a:r>
            <a:endParaRPr lang="en-IN" sz="1600" dirty="0"/>
          </a:p>
          <a:p>
            <a:pPr marL="285750" indent="-285750">
              <a:buFont typeface="Arial" panose="020B0604020202020204" pitchFamily="34" charset="0"/>
              <a:buChar char="•"/>
            </a:pPr>
            <a:r>
              <a:rPr lang="en-IN" sz="1600" dirty="0" err="1"/>
              <a:t>WebSitePrinter</a:t>
            </a:r>
            <a:endParaRPr lang="en-IN" sz="1600" dirty="0"/>
          </a:p>
        </p:txBody>
      </p:sp>
      <p:sp>
        <p:nvSpPr>
          <p:cNvPr id="26" name="TextBox 25">
            <a:extLst>
              <a:ext uri="{FF2B5EF4-FFF2-40B4-BE49-F238E27FC236}">
                <a16:creationId xmlns:a16="http://schemas.microsoft.com/office/drawing/2014/main" id="{2DA69CBF-E0A5-4133-8EA8-CB075F3D892D}"/>
              </a:ext>
            </a:extLst>
          </p:cNvPr>
          <p:cNvSpPr txBox="1"/>
          <p:nvPr/>
        </p:nvSpPr>
        <p:spPr>
          <a:xfrm>
            <a:off x="534268" y="5260304"/>
            <a:ext cx="2438685" cy="1077218"/>
          </a:xfrm>
          <a:prstGeom prst="rect">
            <a:avLst/>
          </a:prstGeom>
          <a:noFill/>
        </p:spPr>
        <p:txBody>
          <a:bodyPr wrap="square">
            <a:spAutoFit/>
          </a:bodyPr>
          <a:lstStyle/>
          <a:p>
            <a:r>
              <a:rPr lang="en-IN" sz="1600" b="1" dirty="0"/>
              <a:t>Emp are many such as:</a:t>
            </a:r>
            <a:r>
              <a:rPr lang="en-IN" sz="1600" dirty="0"/>
              <a:t> </a:t>
            </a:r>
          </a:p>
          <a:p>
            <a:pPr marL="285750" indent="-285750">
              <a:buFont typeface="Arial" panose="020B0604020202020204" pitchFamily="34" charset="0"/>
              <a:buChar char="•"/>
            </a:pPr>
            <a:r>
              <a:rPr lang="en-IN" sz="1600" dirty="0"/>
              <a:t>EmpV1</a:t>
            </a:r>
          </a:p>
          <a:p>
            <a:pPr marL="285750" indent="-285750">
              <a:buFont typeface="Arial" panose="020B0604020202020204" pitchFamily="34" charset="0"/>
              <a:buChar char="•"/>
            </a:pPr>
            <a:r>
              <a:rPr lang="en-IN" sz="1600" dirty="0"/>
              <a:t>EmpV2</a:t>
            </a:r>
          </a:p>
          <a:p>
            <a:pPr marL="285750" indent="-285750">
              <a:buFont typeface="Arial" panose="020B0604020202020204" pitchFamily="34" charset="0"/>
              <a:buChar char="•"/>
            </a:pPr>
            <a:r>
              <a:rPr lang="en-IN" sz="1600" dirty="0"/>
              <a:t>EmpV3</a:t>
            </a:r>
          </a:p>
        </p:txBody>
      </p:sp>
      <p:sp>
        <p:nvSpPr>
          <p:cNvPr id="27" name="TextBox 26">
            <a:extLst>
              <a:ext uri="{FF2B5EF4-FFF2-40B4-BE49-F238E27FC236}">
                <a16:creationId xmlns:a16="http://schemas.microsoft.com/office/drawing/2014/main" id="{D4A8EC72-E1F4-4497-90F5-0E9D8A8ACC3D}"/>
              </a:ext>
            </a:extLst>
          </p:cNvPr>
          <p:cNvSpPr txBox="1"/>
          <p:nvPr/>
        </p:nvSpPr>
        <p:spPr>
          <a:xfrm>
            <a:off x="5719290" y="3755496"/>
            <a:ext cx="3090618" cy="1846659"/>
          </a:xfrm>
          <a:prstGeom prst="rect">
            <a:avLst/>
          </a:prstGeom>
          <a:noFill/>
        </p:spPr>
        <p:txBody>
          <a:bodyPr wrap="square">
            <a:spAutoFit/>
          </a:bodyPr>
          <a:lstStyle/>
          <a:p>
            <a:r>
              <a:rPr lang="en-IN" sz="1600" b="1" dirty="0"/>
              <a:t>Students are many such as:</a:t>
            </a:r>
            <a:r>
              <a:rPr lang="en-IN" sz="1600" dirty="0"/>
              <a:t> </a:t>
            </a:r>
          </a:p>
          <a:p>
            <a:pPr marL="285750" indent="-285750">
              <a:buFont typeface="Arial" panose="020B0604020202020204" pitchFamily="34" charset="0"/>
              <a:buChar char="•"/>
            </a:pPr>
            <a:r>
              <a:rPr lang="en-IN" sz="1600" dirty="0" err="1"/>
              <a:t>DayScholarStudent</a:t>
            </a:r>
            <a:endParaRPr lang="en-IN" sz="1600" dirty="0"/>
          </a:p>
          <a:p>
            <a:pPr marL="285750" indent="-285750">
              <a:buFont typeface="Arial" panose="020B0604020202020204" pitchFamily="34" charset="0"/>
              <a:buChar char="•"/>
            </a:pPr>
            <a:r>
              <a:rPr lang="en-IN" sz="1600" dirty="0" err="1"/>
              <a:t>ResidentialStudent</a:t>
            </a:r>
            <a:endParaRPr lang="en-IN" sz="1600" dirty="0"/>
          </a:p>
          <a:p>
            <a:pPr marL="285750" indent="-285750">
              <a:buFont typeface="Arial" panose="020B0604020202020204" pitchFamily="34" charset="0"/>
              <a:buChar char="•"/>
            </a:pPr>
            <a:r>
              <a:rPr lang="en-IN" sz="1600" dirty="0" err="1"/>
              <a:t>NRIStudent</a:t>
            </a:r>
            <a:endParaRPr lang="en-IN" sz="1600" dirty="0"/>
          </a:p>
          <a:p>
            <a:pPr marL="285750" indent="-285750">
              <a:buFont typeface="Arial" panose="020B0604020202020204" pitchFamily="34" charset="0"/>
              <a:buChar char="•"/>
            </a:pPr>
            <a:r>
              <a:rPr lang="en-IN" sz="1600" dirty="0" err="1"/>
              <a:t>PhysicallChallangedPrinter</a:t>
            </a:r>
            <a:endParaRPr lang="en-IN" sz="1600" dirty="0"/>
          </a:p>
          <a:p>
            <a:pPr marL="285750" indent="-285750">
              <a:buFont typeface="Arial" panose="020B0604020202020204" pitchFamily="34" charset="0"/>
              <a:buChar char="•"/>
            </a:pPr>
            <a:r>
              <a:rPr lang="en-IN" sz="1600" dirty="0" err="1"/>
              <a:t>ExServicemanQuotaStudent</a:t>
            </a:r>
            <a:endParaRPr lang="en-IN" sz="1600" dirty="0"/>
          </a:p>
          <a:p>
            <a:pPr marL="285750" indent="-285750">
              <a:buFont typeface="Arial" panose="020B0604020202020204" pitchFamily="34" charset="0"/>
              <a:buChar char="•"/>
            </a:pPr>
            <a:r>
              <a:rPr lang="en-IN" sz="1600" dirty="0" err="1"/>
              <a:t>SportsQuotaStudent</a:t>
            </a:r>
            <a:endParaRPr lang="en-IN" sz="1600" dirty="0"/>
          </a:p>
        </p:txBody>
      </p:sp>
      <p:sp>
        <p:nvSpPr>
          <p:cNvPr id="28" name="TextBox 27">
            <a:extLst>
              <a:ext uri="{FF2B5EF4-FFF2-40B4-BE49-F238E27FC236}">
                <a16:creationId xmlns:a16="http://schemas.microsoft.com/office/drawing/2014/main" id="{B8E5F252-1456-4BD4-99E1-1805380A6F95}"/>
              </a:ext>
            </a:extLst>
          </p:cNvPr>
          <p:cNvSpPr txBox="1"/>
          <p:nvPr/>
        </p:nvSpPr>
        <p:spPr>
          <a:xfrm>
            <a:off x="8816459" y="2765026"/>
            <a:ext cx="2760265" cy="1077218"/>
          </a:xfrm>
          <a:prstGeom prst="rect">
            <a:avLst/>
          </a:prstGeom>
          <a:noFill/>
        </p:spPr>
        <p:txBody>
          <a:bodyPr wrap="square">
            <a:spAutoFit/>
          </a:bodyPr>
          <a:lstStyle/>
          <a:p>
            <a:r>
              <a:rPr lang="en-IN" sz="1600" b="1" dirty="0"/>
              <a:t>Customers are many such as:</a:t>
            </a:r>
            <a:r>
              <a:rPr lang="en-IN" sz="1600" dirty="0"/>
              <a:t> </a:t>
            </a:r>
          </a:p>
          <a:p>
            <a:pPr marL="285750" indent="-285750">
              <a:buFont typeface="Arial" panose="020B0604020202020204" pitchFamily="34" charset="0"/>
              <a:buChar char="•"/>
            </a:pPr>
            <a:r>
              <a:rPr lang="en-IN" sz="1600" dirty="0" err="1"/>
              <a:t>SilverCardCustomer</a:t>
            </a:r>
            <a:endParaRPr lang="en-IN" sz="1600" dirty="0"/>
          </a:p>
          <a:p>
            <a:pPr marL="285750" indent="-285750">
              <a:buFont typeface="Arial" panose="020B0604020202020204" pitchFamily="34" charset="0"/>
              <a:buChar char="•"/>
            </a:pPr>
            <a:r>
              <a:rPr lang="en-IN" sz="1600" dirty="0" err="1"/>
              <a:t>GoldCardCustomer</a:t>
            </a:r>
            <a:endParaRPr lang="en-IN" sz="1600" dirty="0"/>
          </a:p>
          <a:p>
            <a:pPr marL="285750" indent="-285750">
              <a:buFont typeface="Arial" panose="020B0604020202020204" pitchFamily="34" charset="0"/>
              <a:buChar char="•"/>
            </a:pPr>
            <a:r>
              <a:rPr lang="en-IN" sz="1600" dirty="0" err="1"/>
              <a:t>PlatinumCardCustomer</a:t>
            </a:r>
            <a:endParaRPr lang="en-IN" sz="1600" dirty="0"/>
          </a:p>
        </p:txBody>
      </p:sp>
    </p:spTree>
    <p:extLst>
      <p:ext uri="{BB962C8B-B14F-4D97-AF65-F5344CB8AC3E}">
        <p14:creationId xmlns:p14="http://schemas.microsoft.com/office/powerpoint/2010/main" val="24225351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751566" y="2005681"/>
            <a:ext cx="8617022" cy="2677656"/>
          </a:xfrm>
          <a:prstGeom prst="rect">
            <a:avLst/>
          </a:prstGeom>
          <a:noFill/>
        </p:spPr>
        <p:txBody>
          <a:bodyPr wrap="square">
            <a:spAutoFit/>
          </a:bodyPr>
          <a:lstStyle/>
          <a:p>
            <a:pPr algn="just"/>
            <a:r>
              <a:rPr lang="en-IN" sz="2800" b="1" dirty="0"/>
              <a:t>To implement Run-Time Polymorphism, we need to implement as minimum of 5 classes.</a:t>
            </a:r>
          </a:p>
          <a:p>
            <a:pPr marL="742950" lvl="1" indent="-285750" algn="just">
              <a:buFont typeface="Wingdings" panose="05000000000000000000" pitchFamily="2" charset="2"/>
              <a:buChar char="v"/>
            </a:pPr>
            <a:r>
              <a:rPr lang="en-IN" sz="2800" b="1" dirty="0"/>
              <a:t>One interface</a:t>
            </a:r>
          </a:p>
          <a:p>
            <a:pPr marL="742950" lvl="1" indent="-285750" algn="just">
              <a:buFont typeface="Wingdings" panose="05000000000000000000" pitchFamily="2" charset="2"/>
              <a:buChar char="v"/>
            </a:pPr>
            <a:r>
              <a:rPr lang="en-IN" sz="2800" b="1" dirty="0"/>
              <a:t>More than one sub class (two or many sub classes)</a:t>
            </a:r>
          </a:p>
          <a:p>
            <a:pPr marL="742950" lvl="1" indent="-285750" algn="just">
              <a:buFont typeface="Wingdings" panose="05000000000000000000" pitchFamily="2" charset="2"/>
              <a:buChar char="v"/>
            </a:pPr>
            <a:r>
              <a:rPr lang="en-IN" sz="2800" b="1" dirty="0"/>
              <a:t>One factory class with factory method</a:t>
            </a:r>
          </a:p>
          <a:p>
            <a:pPr marL="742950" lvl="1" indent="-285750" algn="just">
              <a:buFont typeface="Wingdings" panose="05000000000000000000" pitchFamily="2" charset="2"/>
              <a:buChar char="v"/>
            </a:pPr>
            <a:r>
              <a:rPr lang="en-IN" sz="2800" b="1" dirty="0"/>
              <a:t>One client</a:t>
            </a:r>
          </a:p>
        </p:txBody>
      </p:sp>
    </p:spTree>
    <p:extLst>
      <p:ext uri="{BB962C8B-B14F-4D97-AF65-F5344CB8AC3E}">
        <p14:creationId xmlns:p14="http://schemas.microsoft.com/office/powerpoint/2010/main" val="3729776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(Inheritance-abstract 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751566" y="812984"/>
            <a:ext cx="8617022" cy="5355312"/>
          </a:xfrm>
          <a:prstGeom prst="rect">
            <a:avLst/>
          </a:prstGeom>
          <a:noFill/>
        </p:spPr>
        <p:txBody>
          <a:bodyPr wrap="square">
            <a:spAutoFit/>
          </a:bodyPr>
          <a:lstStyle/>
          <a:p>
            <a:pPr algn="ctr"/>
            <a:r>
              <a:rPr lang="en-US" sz="6000" b="1" dirty="0">
                <a:solidFill>
                  <a:srgbClr val="0000FF"/>
                </a:solidFill>
                <a:cs typeface="Arial" panose="020B0604020202020204" pitchFamily="34" charset="0"/>
              </a:rPr>
              <a:t>OOPs in</a:t>
            </a:r>
            <a:r>
              <a:rPr lang="en-US" sz="6600" b="1" dirty="0">
                <a:solidFill>
                  <a:srgbClr val="0000FF"/>
                </a:solidFill>
                <a:cs typeface="Arial" panose="020B0604020202020204" pitchFamily="34" charset="0"/>
              </a:rPr>
              <a:t> </a:t>
            </a:r>
          </a:p>
          <a:p>
            <a:pPr algn="ctr"/>
            <a:r>
              <a:rPr lang="en-US" sz="10000" b="1" dirty="0">
                <a:solidFill>
                  <a:srgbClr val="0000FF"/>
                </a:solidFill>
                <a:cs typeface="Arial" panose="020B0604020202020204" pitchFamily="34" charset="0"/>
              </a:rPr>
              <a:t>Java</a:t>
            </a:r>
            <a:endParaRPr lang="en-US" sz="6600" b="1" dirty="0">
              <a:solidFill>
                <a:srgbClr val="0000FF"/>
              </a:solidFill>
              <a:cs typeface="Arial" panose="020B0604020202020204" pitchFamily="34" charset="0"/>
            </a:endParaRPr>
          </a:p>
          <a:p>
            <a:pPr algn="ctr"/>
            <a:r>
              <a:rPr lang="en-US" sz="4400" b="1" dirty="0">
                <a:solidFill>
                  <a:srgbClr val="0000FF"/>
                </a:solidFill>
                <a:cs typeface="Arial" panose="020B0604020202020204" pitchFamily="34" charset="0"/>
              </a:rPr>
              <a:t>(Inheritance)</a:t>
            </a:r>
          </a:p>
          <a:p>
            <a:pPr algn="ctr"/>
            <a:r>
              <a:rPr lang="en-US" sz="4400" b="1" dirty="0">
                <a:solidFill>
                  <a:srgbClr val="0000FF"/>
                </a:solidFill>
                <a:cs typeface="Arial" panose="020B0604020202020204" pitchFamily="34" charset="0"/>
              </a:rPr>
              <a:t>-</a:t>
            </a:r>
          </a:p>
          <a:p>
            <a:pPr algn="ctr"/>
            <a:r>
              <a:rPr lang="en-US" sz="4400" b="1" dirty="0">
                <a:solidFill>
                  <a:srgbClr val="0000FF"/>
                </a:solidFill>
                <a:cs typeface="Arial" panose="020B0604020202020204" pitchFamily="34" charset="0"/>
              </a:rPr>
              <a:t>Part – III-III </a:t>
            </a:r>
          </a:p>
          <a:p>
            <a:pPr algn="ctr"/>
            <a:r>
              <a:rPr lang="en-IN" sz="4400" b="1" dirty="0"/>
              <a:t>abstract class</a:t>
            </a:r>
            <a:endParaRPr lang="en-IN" sz="1600" b="1" dirty="0"/>
          </a:p>
        </p:txBody>
      </p:sp>
    </p:spTree>
    <p:extLst>
      <p:ext uri="{BB962C8B-B14F-4D97-AF65-F5344CB8AC3E}">
        <p14:creationId xmlns:p14="http://schemas.microsoft.com/office/powerpoint/2010/main" val="29348229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(Inheritance-abstract 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590202" y="1508142"/>
            <a:ext cx="8617022" cy="4832092"/>
          </a:xfrm>
          <a:prstGeom prst="rect">
            <a:avLst/>
          </a:prstGeom>
          <a:noFill/>
        </p:spPr>
        <p:txBody>
          <a:bodyPr wrap="square">
            <a:spAutoFit/>
          </a:bodyPr>
          <a:lstStyle/>
          <a:p>
            <a:pPr marL="457200" indent="-457200" algn="just">
              <a:buFont typeface="Arial" panose="020B0604020202020204" pitchFamily="34" charset="0"/>
              <a:buChar char="•"/>
            </a:pPr>
            <a:r>
              <a:rPr lang="en-US" sz="2800" b="1" dirty="0"/>
              <a:t>If class contains abstract methods then it must be declared as abstract.</a:t>
            </a:r>
          </a:p>
          <a:p>
            <a:pPr marL="457200" indent="-457200" algn="just">
              <a:buFont typeface="Arial" panose="020B0604020202020204" pitchFamily="34" charset="0"/>
              <a:buChar char="•"/>
            </a:pPr>
            <a:r>
              <a:rPr lang="en-US" sz="2800" b="1" dirty="0"/>
              <a:t>Abstract class may or may not contain abstract methods.</a:t>
            </a:r>
          </a:p>
          <a:p>
            <a:pPr algn="just"/>
            <a:endParaRPr lang="en-US" sz="2800" b="1" dirty="0"/>
          </a:p>
          <a:p>
            <a:pPr algn="just"/>
            <a:r>
              <a:rPr lang="en-US" sz="2800" b="1" dirty="0"/>
              <a:t>Without abstract methods why class is declared as abstract?</a:t>
            </a:r>
          </a:p>
          <a:p>
            <a:pPr algn="just"/>
            <a:r>
              <a:rPr lang="en-US" sz="2800" b="1" dirty="0"/>
              <a:t>If class don't want to be instantiated then it is declared as abstract class. Common methods containing class is declared as abstract. Abstract Class cannot be instantiated.</a:t>
            </a:r>
          </a:p>
        </p:txBody>
      </p:sp>
    </p:spTree>
    <p:extLst>
      <p:ext uri="{BB962C8B-B14F-4D97-AF65-F5344CB8AC3E}">
        <p14:creationId xmlns:p14="http://schemas.microsoft.com/office/powerpoint/2010/main" val="1300003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(Inheritance-abstract 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590202" y="1118179"/>
            <a:ext cx="8617022" cy="646331"/>
          </a:xfrm>
          <a:prstGeom prst="rect">
            <a:avLst/>
          </a:prstGeom>
          <a:noFill/>
        </p:spPr>
        <p:txBody>
          <a:bodyPr wrap="square">
            <a:spAutoFit/>
          </a:bodyPr>
          <a:lstStyle/>
          <a:p>
            <a:pPr algn="just"/>
            <a:r>
              <a:rPr lang="en-US" b="1" dirty="0"/>
              <a:t>Though generic method implementations coming from abstract super class, if child classes want to override they can override super class methods.</a:t>
            </a:r>
          </a:p>
        </p:txBody>
      </p:sp>
      <p:sp>
        <p:nvSpPr>
          <p:cNvPr id="19" name="TextBox 18">
            <a:extLst>
              <a:ext uri="{FF2B5EF4-FFF2-40B4-BE49-F238E27FC236}">
                <a16:creationId xmlns:a16="http://schemas.microsoft.com/office/drawing/2014/main" id="{D1ED6473-A776-4536-DE32-2D9915FEC0DF}"/>
              </a:ext>
            </a:extLst>
          </p:cNvPr>
          <p:cNvSpPr txBox="1"/>
          <p:nvPr/>
        </p:nvSpPr>
        <p:spPr>
          <a:xfrm>
            <a:off x="571499" y="1759234"/>
            <a:ext cx="6474759" cy="1384995"/>
          </a:xfrm>
          <a:prstGeom prst="rect">
            <a:avLst/>
          </a:prstGeom>
          <a:noFill/>
        </p:spPr>
        <p:txBody>
          <a:bodyPr wrap="square">
            <a:spAutoFit/>
          </a:bodyPr>
          <a:lstStyle/>
          <a:p>
            <a:r>
              <a:rPr lang="en-IN" sz="1400" b="1" dirty="0"/>
              <a:t>// AbstractClass.java</a:t>
            </a:r>
          </a:p>
          <a:p>
            <a:r>
              <a:rPr lang="en-IN" sz="1400" dirty="0"/>
              <a:t>public abstract class </a:t>
            </a:r>
            <a:r>
              <a:rPr lang="en-IN" sz="1400" dirty="0" err="1"/>
              <a:t>AbstractClass</a:t>
            </a:r>
            <a:r>
              <a:rPr lang="en-IN" sz="1400" dirty="0"/>
              <a:t> {</a:t>
            </a:r>
          </a:p>
          <a:p>
            <a:r>
              <a:rPr lang="en-IN" sz="1400" dirty="0"/>
              <a:t>    // private abstract void print(String name); </a:t>
            </a:r>
          </a:p>
          <a:p>
            <a:r>
              <a:rPr lang="en-IN" sz="1400" dirty="0"/>
              <a:t>	// illegal combination of modifiers: abstract and private</a:t>
            </a:r>
          </a:p>
          <a:p>
            <a:r>
              <a:rPr lang="en-IN" sz="1400" dirty="0"/>
              <a:t>    protected abstract void print(String name);</a:t>
            </a:r>
          </a:p>
          <a:p>
            <a:r>
              <a:rPr lang="en-IN" sz="1400" dirty="0"/>
              <a:t>}</a:t>
            </a:r>
          </a:p>
        </p:txBody>
      </p:sp>
      <p:sp>
        <p:nvSpPr>
          <p:cNvPr id="25" name="TextBox 24">
            <a:extLst>
              <a:ext uri="{FF2B5EF4-FFF2-40B4-BE49-F238E27FC236}">
                <a16:creationId xmlns:a16="http://schemas.microsoft.com/office/drawing/2014/main" id="{422266E5-AEAD-472E-9749-BFD3917A4C88}"/>
              </a:ext>
            </a:extLst>
          </p:cNvPr>
          <p:cNvSpPr txBox="1"/>
          <p:nvPr/>
        </p:nvSpPr>
        <p:spPr>
          <a:xfrm>
            <a:off x="837083" y="3045398"/>
            <a:ext cx="6138582" cy="3754874"/>
          </a:xfrm>
          <a:prstGeom prst="rect">
            <a:avLst/>
          </a:prstGeom>
          <a:noFill/>
        </p:spPr>
        <p:txBody>
          <a:bodyPr wrap="square">
            <a:spAutoFit/>
          </a:bodyPr>
          <a:lstStyle/>
          <a:p>
            <a:r>
              <a:rPr lang="en-IN" sz="1400" b="1" dirty="0"/>
              <a:t>// AbstractClassSubClass.java</a:t>
            </a:r>
          </a:p>
          <a:p>
            <a:r>
              <a:rPr lang="en-IN" sz="1400" dirty="0"/>
              <a:t>public class </a:t>
            </a:r>
            <a:r>
              <a:rPr lang="en-IN" sz="1400" dirty="0" err="1"/>
              <a:t>AbstractClassSubClass</a:t>
            </a:r>
            <a:r>
              <a:rPr lang="en-IN" sz="1400" dirty="0"/>
              <a:t> extends </a:t>
            </a:r>
            <a:r>
              <a:rPr lang="en-IN" sz="1400" dirty="0" err="1"/>
              <a:t>AbstractClass</a:t>
            </a:r>
            <a:r>
              <a:rPr lang="en-IN" sz="1400" dirty="0"/>
              <a:t> {</a:t>
            </a:r>
          </a:p>
          <a:p>
            <a:r>
              <a:rPr lang="en-IN" sz="1400" dirty="0"/>
              <a:t>   public void print(String name) {</a:t>
            </a:r>
          </a:p>
          <a:p>
            <a:r>
              <a:rPr lang="en-IN" sz="1400" dirty="0"/>
              <a:t>        System.out.println("print() method from </a:t>
            </a:r>
            <a:r>
              <a:rPr lang="en-IN" sz="1400" dirty="0" err="1"/>
              <a:t>AbstractClassSubClass</a:t>
            </a:r>
            <a:r>
              <a:rPr lang="en-IN" sz="1400" dirty="0"/>
              <a:t> name is "+name);</a:t>
            </a:r>
          </a:p>
          <a:p>
            <a:r>
              <a:rPr lang="en-IN" sz="1400" dirty="0"/>
              <a:t>    }</a:t>
            </a:r>
          </a:p>
          <a:p>
            <a:r>
              <a:rPr lang="en-IN" sz="1400" dirty="0"/>
              <a:t>   </a:t>
            </a:r>
          </a:p>
          <a:p>
            <a:r>
              <a:rPr lang="en-IN" sz="1400" dirty="0"/>
              <a:t>   /* weaker access privilege error comes because super class method is protected, hance it can be implemented/overridden as protected or public but not with default access specifier. Should not reduce the scope. */</a:t>
            </a:r>
          </a:p>
          <a:p>
            <a:r>
              <a:rPr lang="en-IN" sz="1400" dirty="0"/>
              <a:t>    /* </a:t>
            </a:r>
          </a:p>
          <a:p>
            <a:r>
              <a:rPr lang="en-IN" sz="1400" dirty="0"/>
              <a:t>    void print(String name) {</a:t>
            </a:r>
          </a:p>
          <a:p>
            <a:r>
              <a:rPr lang="en-IN" sz="1400" dirty="0"/>
              <a:t>       System.out.println("print() method from </a:t>
            </a:r>
            <a:r>
              <a:rPr lang="en-IN" sz="1400" dirty="0" err="1"/>
              <a:t>AbstractClassSubClass</a:t>
            </a:r>
            <a:r>
              <a:rPr lang="en-IN" sz="1400" dirty="0"/>
              <a:t> name is "+name);</a:t>
            </a:r>
          </a:p>
          <a:p>
            <a:r>
              <a:rPr lang="en-IN" sz="1400" dirty="0"/>
              <a:t>    }</a:t>
            </a:r>
          </a:p>
          <a:p>
            <a:r>
              <a:rPr lang="en-IN" sz="1400" dirty="0"/>
              <a:t>    */</a:t>
            </a:r>
          </a:p>
          <a:p>
            <a:r>
              <a:rPr lang="en-IN" sz="1400" dirty="0"/>
              <a:t>}</a:t>
            </a:r>
          </a:p>
        </p:txBody>
      </p:sp>
      <p:sp>
        <p:nvSpPr>
          <p:cNvPr id="26" name="TextBox 25">
            <a:extLst>
              <a:ext uri="{FF2B5EF4-FFF2-40B4-BE49-F238E27FC236}">
                <a16:creationId xmlns:a16="http://schemas.microsoft.com/office/drawing/2014/main" id="{289701A1-B27C-0F46-E842-8AE39F1F10F1}"/>
              </a:ext>
            </a:extLst>
          </p:cNvPr>
          <p:cNvSpPr txBox="1"/>
          <p:nvPr/>
        </p:nvSpPr>
        <p:spPr>
          <a:xfrm>
            <a:off x="6269692" y="1929246"/>
            <a:ext cx="5217104" cy="1600438"/>
          </a:xfrm>
          <a:prstGeom prst="rect">
            <a:avLst/>
          </a:prstGeom>
          <a:noFill/>
        </p:spPr>
        <p:txBody>
          <a:bodyPr wrap="square">
            <a:spAutoFit/>
          </a:bodyPr>
          <a:lstStyle/>
          <a:p>
            <a:r>
              <a:rPr lang="en-IN" sz="1400" b="1" dirty="0"/>
              <a:t>// AbstractClassClient.java</a:t>
            </a:r>
          </a:p>
          <a:p>
            <a:r>
              <a:rPr lang="en-IN" sz="1400" dirty="0"/>
              <a:t>public class </a:t>
            </a:r>
            <a:r>
              <a:rPr lang="en-IN" sz="1400" dirty="0" err="1"/>
              <a:t>AbstractClassClient</a:t>
            </a:r>
            <a:r>
              <a:rPr lang="en-IN" sz="1400" dirty="0"/>
              <a:t> {</a:t>
            </a:r>
          </a:p>
          <a:p>
            <a:r>
              <a:rPr lang="en-IN" sz="1400" dirty="0"/>
              <a:t>    public static void main(String rags[]) {</a:t>
            </a:r>
          </a:p>
          <a:p>
            <a:r>
              <a:rPr lang="en-IN" sz="1400" dirty="0"/>
              <a:t>	   </a:t>
            </a:r>
            <a:r>
              <a:rPr lang="en-IN" sz="1400" dirty="0" err="1"/>
              <a:t>AbstractClass</a:t>
            </a:r>
            <a:r>
              <a:rPr lang="en-IN" sz="1400" dirty="0"/>
              <a:t> ac=new </a:t>
            </a:r>
            <a:r>
              <a:rPr lang="en-IN" sz="1400" dirty="0" err="1"/>
              <a:t>AbstractClassSubClass</a:t>
            </a:r>
            <a:r>
              <a:rPr lang="en-IN" sz="1400" dirty="0"/>
              <a:t>();</a:t>
            </a:r>
          </a:p>
          <a:p>
            <a:r>
              <a:rPr lang="en-IN" sz="1400" dirty="0"/>
              <a:t>	   </a:t>
            </a:r>
            <a:r>
              <a:rPr lang="en-IN" sz="1400" dirty="0" err="1"/>
              <a:t>ac.print</a:t>
            </a:r>
            <a:r>
              <a:rPr lang="en-IN" sz="1400" dirty="0"/>
              <a:t>("Surya");</a:t>
            </a:r>
          </a:p>
          <a:p>
            <a:r>
              <a:rPr lang="en-IN" sz="1400" dirty="0"/>
              <a:t>     }</a:t>
            </a:r>
          </a:p>
          <a:p>
            <a:r>
              <a:rPr lang="en-IN" sz="1400" dirty="0"/>
              <a:t>}</a:t>
            </a:r>
          </a:p>
        </p:txBody>
      </p:sp>
    </p:spTree>
    <p:extLst>
      <p:ext uri="{BB962C8B-B14F-4D97-AF65-F5344CB8AC3E}">
        <p14:creationId xmlns:p14="http://schemas.microsoft.com/office/powerpoint/2010/main" val="2551008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(Inheritance-abstract 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751566" y="2005681"/>
            <a:ext cx="8617022" cy="1107996"/>
          </a:xfrm>
          <a:prstGeom prst="rect">
            <a:avLst/>
          </a:prstGeom>
          <a:noFill/>
        </p:spPr>
        <p:txBody>
          <a:bodyPr wrap="square">
            <a:spAutoFit/>
          </a:bodyPr>
          <a:lstStyle/>
          <a:p>
            <a:pPr algn="ctr"/>
            <a:r>
              <a:rPr lang="en-IN" sz="6600" b="1" dirty="0"/>
              <a:t>class</a:t>
            </a:r>
            <a:endParaRPr lang="en-IN" sz="2800" b="1" dirty="0"/>
          </a:p>
        </p:txBody>
      </p:sp>
    </p:spTree>
    <p:extLst>
      <p:ext uri="{BB962C8B-B14F-4D97-AF65-F5344CB8AC3E}">
        <p14:creationId xmlns:p14="http://schemas.microsoft.com/office/powerpoint/2010/main" val="3236139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751566" y="1091285"/>
            <a:ext cx="8617022" cy="4093428"/>
          </a:xfrm>
          <a:prstGeom prst="rect">
            <a:avLst/>
          </a:prstGeom>
          <a:noFill/>
        </p:spPr>
        <p:txBody>
          <a:bodyPr wrap="square">
            <a:spAutoFit/>
          </a:bodyPr>
          <a:lstStyle/>
          <a:p>
            <a:pPr marL="342900" indent="-342900" algn="just">
              <a:buFont typeface="Arial" panose="020B0604020202020204" pitchFamily="34" charset="0"/>
              <a:buChar char="•"/>
            </a:pPr>
            <a:r>
              <a:rPr lang="en-US" sz="2000" b="1" dirty="0"/>
              <a:t>To class we can apply default or public access specifier.</a:t>
            </a:r>
          </a:p>
          <a:p>
            <a:pPr marL="342900" indent="-342900" algn="just">
              <a:buFont typeface="Arial" panose="020B0604020202020204" pitchFamily="34" charset="0"/>
              <a:buChar char="•"/>
            </a:pPr>
            <a:r>
              <a:rPr lang="en-US" sz="2000" b="1" dirty="0"/>
              <a:t>No access modifier is applied by default to class.</a:t>
            </a:r>
          </a:p>
          <a:p>
            <a:pPr marL="342900" indent="-342900" algn="just">
              <a:buFont typeface="Arial" panose="020B0604020202020204" pitchFamily="34" charset="0"/>
              <a:buChar char="•"/>
            </a:pPr>
            <a:r>
              <a:rPr lang="en-US" sz="2000" b="1" dirty="0"/>
              <a:t>All methods are implemented in class.</a:t>
            </a:r>
          </a:p>
          <a:p>
            <a:pPr marL="342900" indent="-342900" algn="just">
              <a:buFont typeface="Arial" panose="020B0604020202020204" pitchFamily="34" charset="0"/>
              <a:buChar char="•"/>
            </a:pPr>
            <a:r>
              <a:rPr lang="en-US" sz="2000" b="1" dirty="0"/>
              <a:t>Class can be both inherited and as well as instantiated.</a:t>
            </a:r>
          </a:p>
          <a:p>
            <a:pPr algn="just"/>
            <a:endParaRPr lang="en-US" sz="2000" b="1" dirty="0"/>
          </a:p>
          <a:p>
            <a:pPr algn="just"/>
            <a:r>
              <a:rPr lang="en-US" sz="2000" b="1" dirty="0"/>
              <a:t>If class is written with default access specifier during compilation compiler will generate one default constructor in the class.</a:t>
            </a:r>
          </a:p>
          <a:p>
            <a:pPr algn="just"/>
            <a:endParaRPr lang="en-US" sz="2000" b="1" dirty="0"/>
          </a:p>
          <a:p>
            <a:pPr algn="just"/>
            <a:r>
              <a:rPr lang="en-US" sz="2000" b="1" dirty="0"/>
              <a:t>default constructor always generated with no parameters and its access specifier is as same as class access specifier that means if class declared with default access specifier constructor is also generated with default access specifier. If class is declared as public then its constructor is also generated with public access specifier.</a:t>
            </a:r>
            <a:endParaRPr lang="en-IN" sz="900" b="1" dirty="0"/>
          </a:p>
        </p:txBody>
      </p:sp>
    </p:spTree>
    <p:extLst>
      <p:ext uri="{BB962C8B-B14F-4D97-AF65-F5344CB8AC3E}">
        <p14:creationId xmlns:p14="http://schemas.microsoft.com/office/powerpoint/2010/main" val="16931582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751566" y="1091285"/>
            <a:ext cx="8617022" cy="4401205"/>
          </a:xfrm>
          <a:prstGeom prst="rect">
            <a:avLst/>
          </a:prstGeom>
          <a:noFill/>
        </p:spPr>
        <p:txBody>
          <a:bodyPr wrap="square">
            <a:spAutoFit/>
          </a:bodyPr>
          <a:lstStyle/>
          <a:p>
            <a:pPr algn="just"/>
            <a:r>
              <a:rPr lang="en-US" sz="2000" b="1" dirty="0"/>
              <a:t>// DefaultClass.java</a:t>
            </a:r>
          </a:p>
          <a:p>
            <a:pPr algn="just"/>
            <a:r>
              <a:rPr lang="en-US" sz="2000" b="1" dirty="0"/>
              <a:t>class </a:t>
            </a:r>
            <a:r>
              <a:rPr lang="en-US" sz="2000" b="1" dirty="0" err="1"/>
              <a:t>DefaultClass</a:t>
            </a:r>
            <a:r>
              <a:rPr lang="en-US" sz="2000" b="1" dirty="0"/>
              <a:t> {</a:t>
            </a:r>
          </a:p>
          <a:p>
            <a:pPr algn="just"/>
            <a:r>
              <a:rPr lang="en-US" sz="2000" b="1" dirty="0"/>
              <a:t>  int </a:t>
            </a:r>
            <a:r>
              <a:rPr lang="en-US" sz="2000" b="1" dirty="0" err="1"/>
              <a:t>i</a:t>
            </a:r>
            <a:r>
              <a:rPr lang="en-US" sz="2000" b="1" dirty="0"/>
              <a:t>, j;</a:t>
            </a:r>
          </a:p>
          <a:p>
            <a:pPr algn="just"/>
            <a:r>
              <a:rPr lang="en-US" sz="2000" b="1" dirty="0"/>
              <a:t> </a:t>
            </a:r>
          </a:p>
          <a:p>
            <a:pPr algn="just"/>
            <a:r>
              <a:rPr lang="en-US" sz="2000" b="1" dirty="0"/>
              <a:t>  // if we </a:t>
            </a:r>
            <a:r>
              <a:rPr lang="en-US" sz="2000" b="1" dirty="0" err="1"/>
              <a:t>dont</a:t>
            </a:r>
            <a:r>
              <a:rPr lang="en-US" sz="2000" b="1" dirty="0"/>
              <a:t> write any constructor; compiler by default generates constructor like below </a:t>
            </a:r>
          </a:p>
          <a:p>
            <a:pPr algn="just"/>
            <a:r>
              <a:rPr lang="en-US" sz="2000" b="1" dirty="0"/>
              <a:t>  /*</a:t>
            </a:r>
          </a:p>
          <a:p>
            <a:pPr algn="just"/>
            <a:r>
              <a:rPr lang="en-US" sz="2000" b="1" dirty="0"/>
              <a:t>  </a:t>
            </a:r>
            <a:r>
              <a:rPr lang="en-US" sz="2000" b="1" dirty="0" err="1"/>
              <a:t>DefaultClass</a:t>
            </a:r>
            <a:r>
              <a:rPr lang="en-US" sz="2000" b="1" dirty="0"/>
              <a:t>() {</a:t>
            </a:r>
          </a:p>
          <a:p>
            <a:pPr algn="just"/>
            <a:r>
              <a:rPr lang="en-US" sz="2000" b="1" dirty="0"/>
              <a:t>	super();</a:t>
            </a:r>
          </a:p>
          <a:p>
            <a:pPr algn="just"/>
            <a:r>
              <a:rPr lang="en-US" sz="2000" b="1" dirty="0"/>
              <a:t>	</a:t>
            </a:r>
            <a:r>
              <a:rPr lang="en-US" sz="2000" b="1" dirty="0" err="1"/>
              <a:t>i</a:t>
            </a:r>
            <a:r>
              <a:rPr lang="en-US" sz="2000" b="1" dirty="0"/>
              <a:t>=0;</a:t>
            </a:r>
          </a:p>
          <a:p>
            <a:pPr algn="just"/>
            <a:r>
              <a:rPr lang="en-US" sz="2000" b="1" dirty="0"/>
              <a:t>	j=0;</a:t>
            </a:r>
          </a:p>
          <a:p>
            <a:pPr algn="just"/>
            <a:r>
              <a:rPr lang="en-US" sz="2000" b="1" dirty="0"/>
              <a:t>  }</a:t>
            </a:r>
          </a:p>
          <a:p>
            <a:pPr algn="just"/>
            <a:r>
              <a:rPr lang="en-US" sz="2000" b="1" dirty="0"/>
              <a:t>  */</a:t>
            </a:r>
          </a:p>
          <a:p>
            <a:pPr algn="just"/>
            <a:r>
              <a:rPr lang="en-US" sz="2000" b="1" dirty="0"/>
              <a:t>}</a:t>
            </a:r>
            <a:endParaRPr lang="en-IN" sz="900" b="1" dirty="0"/>
          </a:p>
        </p:txBody>
      </p:sp>
    </p:spTree>
    <p:extLst>
      <p:ext uri="{BB962C8B-B14F-4D97-AF65-F5344CB8AC3E}">
        <p14:creationId xmlns:p14="http://schemas.microsoft.com/office/powerpoint/2010/main" val="32294222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751566" y="1091285"/>
            <a:ext cx="8617022" cy="4401205"/>
          </a:xfrm>
          <a:prstGeom prst="rect">
            <a:avLst/>
          </a:prstGeom>
          <a:noFill/>
        </p:spPr>
        <p:txBody>
          <a:bodyPr wrap="square">
            <a:spAutoFit/>
          </a:bodyPr>
          <a:lstStyle/>
          <a:p>
            <a:pPr algn="just"/>
            <a:r>
              <a:rPr lang="en-US" sz="2000" b="1" dirty="0"/>
              <a:t>// PublicClass.java</a:t>
            </a:r>
          </a:p>
          <a:p>
            <a:pPr algn="just"/>
            <a:r>
              <a:rPr lang="en-US" sz="2000" b="1" dirty="0"/>
              <a:t>public class </a:t>
            </a:r>
            <a:r>
              <a:rPr lang="en-US" sz="2000" b="1" dirty="0" err="1"/>
              <a:t>PublicClass</a:t>
            </a:r>
            <a:r>
              <a:rPr lang="en-US" sz="2000" b="1" dirty="0"/>
              <a:t> {</a:t>
            </a:r>
          </a:p>
          <a:p>
            <a:pPr algn="just"/>
            <a:r>
              <a:rPr lang="en-US" sz="2000" b="1" dirty="0"/>
              <a:t>  int </a:t>
            </a:r>
            <a:r>
              <a:rPr lang="en-US" sz="2000" b="1" dirty="0" err="1"/>
              <a:t>i</a:t>
            </a:r>
            <a:r>
              <a:rPr lang="en-US" sz="2000" b="1" dirty="0"/>
              <a:t>, j;</a:t>
            </a:r>
          </a:p>
          <a:p>
            <a:pPr algn="just"/>
            <a:r>
              <a:rPr lang="en-US" sz="2000" b="1" dirty="0"/>
              <a:t>  </a:t>
            </a:r>
          </a:p>
          <a:p>
            <a:pPr algn="just"/>
            <a:r>
              <a:rPr lang="en-US" sz="2000" b="1" dirty="0"/>
              <a:t>  // if we </a:t>
            </a:r>
            <a:r>
              <a:rPr lang="en-US" sz="2000" b="1" dirty="0" err="1"/>
              <a:t>dont</a:t>
            </a:r>
            <a:r>
              <a:rPr lang="en-US" sz="2000" b="1" dirty="0"/>
              <a:t> write any constructor; compiler by default generates constructor like below </a:t>
            </a:r>
          </a:p>
          <a:p>
            <a:pPr algn="just"/>
            <a:r>
              <a:rPr lang="en-US" sz="2000" b="1" dirty="0"/>
              <a:t>  /*</a:t>
            </a:r>
          </a:p>
          <a:p>
            <a:pPr algn="just"/>
            <a:r>
              <a:rPr lang="en-US" sz="2000" b="1" dirty="0"/>
              <a:t>  public </a:t>
            </a:r>
            <a:r>
              <a:rPr lang="en-US" sz="2000" b="1" dirty="0" err="1"/>
              <a:t>PublicClass</a:t>
            </a:r>
            <a:r>
              <a:rPr lang="en-US" sz="2000" b="1" dirty="0"/>
              <a:t>() {</a:t>
            </a:r>
          </a:p>
          <a:p>
            <a:pPr algn="just"/>
            <a:r>
              <a:rPr lang="en-US" sz="2000" b="1" dirty="0"/>
              <a:t>	super();</a:t>
            </a:r>
          </a:p>
          <a:p>
            <a:pPr algn="just"/>
            <a:r>
              <a:rPr lang="en-US" sz="2000" b="1" dirty="0"/>
              <a:t>	</a:t>
            </a:r>
            <a:r>
              <a:rPr lang="en-US" sz="2000" b="1" dirty="0" err="1"/>
              <a:t>i</a:t>
            </a:r>
            <a:r>
              <a:rPr lang="en-US" sz="2000" b="1" dirty="0"/>
              <a:t>=0;</a:t>
            </a:r>
          </a:p>
          <a:p>
            <a:pPr algn="just"/>
            <a:r>
              <a:rPr lang="en-US" sz="2000" b="1" dirty="0"/>
              <a:t>	j=0;</a:t>
            </a:r>
          </a:p>
          <a:p>
            <a:pPr algn="just"/>
            <a:r>
              <a:rPr lang="en-US" sz="2000" b="1" dirty="0"/>
              <a:t>  }</a:t>
            </a:r>
          </a:p>
          <a:p>
            <a:pPr algn="just"/>
            <a:r>
              <a:rPr lang="en-US" sz="2000" b="1" dirty="0"/>
              <a:t>  */</a:t>
            </a:r>
          </a:p>
          <a:p>
            <a:pPr algn="just"/>
            <a:r>
              <a:rPr lang="en-US" sz="2000" b="1" dirty="0"/>
              <a:t>}</a:t>
            </a:r>
            <a:endParaRPr lang="en-IN" sz="900" b="1" dirty="0"/>
          </a:p>
        </p:txBody>
      </p:sp>
    </p:spTree>
    <p:extLst>
      <p:ext uri="{BB962C8B-B14F-4D97-AF65-F5344CB8AC3E}">
        <p14:creationId xmlns:p14="http://schemas.microsoft.com/office/powerpoint/2010/main" val="38957769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751566" y="1091285"/>
            <a:ext cx="8617022" cy="5016758"/>
          </a:xfrm>
          <a:prstGeom prst="rect">
            <a:avLst/>
          </a:prstGeom>
          <a:noFill/>
        </p:spPr>
        <p:txBody>
          <a:bodyPr wrap="square">
            <a:spAutoFit/>
          </a:bodyPr>
          <a:lstStyle/>
          <a:p>
            <a:pPr algn="just"/>
            <a:r>
              <a:rPr lang="en-US" sz="2000" b="1" dirty="0"/>
              <a:t>// AnotherDefaultClass.java</a:t>
            </a:r>
          </a:p>
          <a:p>
            <a:pPr algn="just"/>
            <a:r>
              <a:rPr lang="en-US" sz="2000" b="1" dirty="0"/>
              <a:t>class </a:t>
            </a:r>
            <a:r>
              <a:rPr lang="en-US" sz="2000" b="1" dirty="0" err="1"/>
              <a:t>AnotherDefaultClass</a:t>
            </a:r>
            <a:r>
              <a:rPr lang="en-US" sz="2000" b="1" dirty="0"/>
              <a:t> {</a:t>
            </a:r>
          </a:p>
          <a:p>
            <a:pPr algn="just"/>
            <a:r>
              <a:rPr lang="en-US" sz="2000" b="1" dirty="0"/>
              <a:t>  int </a:t>
            </a:r>
            <a:r>
              <a:rPr lang="en-US" sz="2000" b="1" dirty="0" err="1"/>
              <a:t>i</a:t>
            </a:r>
            <a:r>
              <a:rPr lang="en-US" sz="2000" b="1" dirty="0"/>
              <a:t>, j;</a:t>
            </a:r>
          </a:p>
          <a:p>
            <a:pPr algn="just"/>
            <a:r>
              <a:rPr lang="en-US" sz="2000" b="1" dirty="0"/>
              <a:t>  </a:t>
            </a:r>
          </a:p>
          <a:p>
            <a:pPr algn="just"/>
            <a:r>
              <a:rPr lang="en-US" sz="2000" b="1" dirty="0"/>
              <a:t>  // no default constructor is generated by compiler</a:t>
            </a:r>
          </a:p>
          <a:p>
            <a:pPr algn="just"/>
            <a:r>
              <a:rPr lang="en-US" sz="2000" b="1" dirty="0"/>
              <a:t>  </a:t>
            </a:r>
          </a:p>
          <a:p>
            <a:pPr algn="just"/>
            <a:r>
              <a:rPr lang="en-US" sz="2000" b="1" dirty="0"/>
              <a:t>  // constructor with 2 parameters</a:t>
            </a:r>
          </a:p>
          <a:p>
            <a:pPr algn="just"/>
            <a:r>
              <a:rPr lang="en-US" sz="2000" b="1" dirty="0"/>
              <a:t>  </a:t>
            </a:r>
            <a:r>
              <a:rPr lang="en-US" sz="2000" b="1" dirty="0" err="1"/>
              <a:t>AnotherDefaultClass</a:t>
            </a:r>
            <a:r>
              <a:rPr lang="en-US" sz="2000" b="1" dirty="0"/>
              <a:t>(int a, int b)  {</a:t>
            </a:r>
          </a:p>
          <a:p>
            <a:pPr algn="just"/>
            <a:r>
              <a:rPr lang="en-US" sz="2000" b="1" dirty="0"/>
              <a:t>    </a:t>
            </a:r>
            <a:r>
              <a:rPr lang="en-US" sz="2000" b="1" dirty="0" err="1"/>
              <a:t>this.i</a:t>
            </a:r>
            <a:r>
              <a:rPr lang="en-US" sz="2000" b="1" dirty="0"/>
              <a:t>=a;</a:t>
            </a:r>
          </a:p>
          <a:p>
            <a:pPr algn="just"/>
            <a:r>
              <a:rPr lang="en-US" sz="2000" b="1" dirty="0"/>
              <a:t>    </a:t>
            </a:r>
            <a:r>
              <a:rPr lang="en-US" sz="2000" b="1" dirty="0" err="1"/>
              <a:t>this.j</a:t>
            </a:r>
            <a:r>
              <a:rPr lang="en-US" sz="2000" b="1" dirty="0"/>
              <a:t>=b;</a:t>
            </a:r>
          </a:p>
          <a:p>
            <a:pPr algn="just"/>
            <a:r>
              <a:rPr lang="en-US" sz="2000" b="1" dirty="0"/>
              <a:t>  }</a:t>
            </a:r>
          </a:p>
          <a:p>
            <a:pPr algn="just"/>
            <a:r>
              <a:rPr lang="en-US" sz="2000" b="1" dirty="0"/>
              <a:t>  </a:t>
            </a:r>
          </a:p>
          <a:p>
            <a:pPr algn="just"/>
            <a:r>
              <a:rPr lang="en-US" sz="2000" b="1" dirty="0"/>
              <a:t>  /* if we explicitly generate a no parameter constructor, then default constructor generation is possible in sub class. */</a:t>
            </a:r>
          </a:p>
          <a:p>
            <a:pPr algn="just"/>
            <a:r>
              <a:rPr lang="en-US" sz="2000" b="1" dirty="0"/>
              <a:t>  </a:t>
            </a:r>
            <a:r>
              <a:rPr lang="en-US" sz="2000" b="1" dirty="0" err="1"/>
              <a:t>AnotherDefaultClass</a:t>
            </a:r>
            <a:r>
              <a:rPr lang="en-US" sz="2000" b="1" dirty="0"/>
              <a:t>() {}</a:t>
            </a:r>
          </a:p>
          <a:p>
            <a:pPr algn="just"/>
            <a:r>
              <a:rPr lang="en-US" sz="2000" b="1" dirty="0"/>
              <a:t>}</a:t>
            </a:r>
          </a:p>
        </p:txBody>
      </p:sp>
    </p:spTree>
    <p:extLst>
      <p:ext uri="{BB962C8B-B14F-4D97-AF65-F5344CB8AC3E}">
        <p14:creationId xmlns:p14="http://schemas.microsoft.com/office/powerpoint/2010/main" val="4049468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751566" y="862686"/>
            <a:ext cx="8617022" cy="5693866"/>
          </a:xfrm>
          <a:prstGeom prst="rect">
            <a:avLst/>
          </a:prstGeom>
          <a:noFill/>
        </p:spPr>
        <p:txBody>
          <a:bodyPr wrap="square">
            <a:spAutoFit/>
          </a:bodyPr>
          <a:lstStyle/>
          <a:p>
            <a:pPr algn="just"/>
            <a:r>
              <a:rPr lang="en-US" sz="1400" b="1" dirty="0"/>
              <a:t>// AnotherDefaultClassSubClass.java</a:t>
            </a:r>
          </a:p>
          <a:p>
            <a:pPr algn="just"/>
            <a:r>
              <a:rPr lang="en-US" sz="1400" b="1" dirty="0"/>
              <a:t>class </a:t>
            </a:r>
            <a:r>
              <a:rPr lang="en-US" sz="1400" b="1" dirty="0" err="1"/>
              <a:t>AnotherDefaultClassSubClass</a:t>
            </a:r>
            <a:r>
              <a:rPr lang="en-US" sz="1400" b="1" dirty="0"/>
              <a:t> extends </a:t>
            </a:r>
            <a:r>
              <a:rPr lang="en-US" sz="1400" b="1" dirty="0" err="1"/>
              <a:t>AnotherDefaultClass</a:t>
            </a:r>
            <a:r>
              <a:rPr lang="en-US" sz="1400" b="1" dirty="0"/>
              <a:t> {</a:t>
            </a:r>
          </a:p>
          <a:p>
            <a:pPr algn="just"/>
            <a:endParaRPr lang="en-US" sz="1400" b="1" dirty="0"/>
          </a:p>
          <a:p>
            <a:pPr algn="just"/>
            <a:r>
              <a:rPr lang="en-US" sz="1400" b="1" dirty="0"/>
              <a:t>    int k, l;</a:t>
            </a:r>
          </a:p>
          <a:p>
            <a:pPr algn="just"/>
            <a:r>
              <a:rPr lang="en-US" sz="1400" b="1" dirty="0"/>
              <a:t>	</a:t>
            </a:r>
          </a:p>
          <a:p>
            <a:pPr algn="just"/>
            <a:r>
              <a:rPr lang="en-US" sz="1400" b="1" dirty="0"/>
              <a:t>   // before this if no parameter constructor doesn't exist in the super class</a:t>
            </a:r>
          </a:p>
          <a:p>
            <a:pPr algn="just"/>
            <a:r>
              <a:rPr lang="en-US" sz="1400" b="1" dirty="0"/>
              <a:t>   /* when we </a:t>
            </a:r>
            <a:r>
              <a:rPr lang="en-US" sz="1400" b="1" dirty="0" err="1"/>
              <a:t>dont</a:t>
            </a:r>
            <a:r>
              <a:rPr lang="en-US" sz="1400" b="1" dirty="0"/>
              <a:t> write any constructor, one default constructor is generated that will </a:t>
            </a:r>
            <a:r>
              <a:rPr lang="en-US" sz="1400" b="1" dirty="0" err="1"/>
              <a:t>implcitly</a:t>
            </a:r>
            <a:r>
              <a:rPr lang="en-US" sz="1400" b="1" dirty="0"/>
              <a:t> call super(), then during compilation compiler say cannot find symbol </a:t>
            </a:r>
            <a:r>
              <a:rPr lang="en-US" sz="1400" b="1" dirty="0" err="1"/>
              <a:t>AnotherDefaultClass</a:t>
            </a:r>
            <a:r>
              <a:rPr lang="en-US" sz="1400" b="1" dirty="0"/>
              <a:t>() */</a:t>
            </a:r>
          </a:p>
          <a:p>
            <a:pPr algn="just"/>
            <a:r>
              <a:rPr lang="en-US" sz="1400" b="1" dirty="0"/>
              <a:t>   </a:t>
            </a:r>
          </a:p>
          <a:p>
            <a:pPr algn="just"/>
            <a:r>
              <a:rPr lang="en-US" sz="1400" b="1" dirty="0"/>
              <a:t>   // no parameter constructor</a:t>
            </a:r>
          </a:p>
          <a:p>
            <a:pPr algn="just"/>
            <a:r>
              <a:rPr lang="en-US" sz="1400" b="1" dirty="0"/>
              <a:t>   </a:t>
            </a:r>
            <a:r>
              <a:rPr lang="en-US" sz="1400" b="1" dirty="0" err="1"/>
              <a:t>AnotherDefaultClassSubClass</a:t>
            </a:r>
            <a:r>
              <a:rPr lang="en-US" sz="1400" b="1" dirty="0"/>
              <a:t>() {</a:t>
            </a:r>
          </a:p>
          <a:p>
            <a:pPr algn="just"/>
            <a:r>
              <a:rPr lang="en-US" sz="1400" b="1" dirty="0"/>
              <a:t>      super();</a:t>
            </a:r>
          </a:p>
          <a:p>
            <a:pPr algn="just"/>
            <a:r>
              <a:rPr lang="en-US" sz="1400" b="1" dirty="0"/>
              <a:t>   }</a:t>
            </a:r>
          </a:p>
          <a:p>
            <a:pPr algn="just"/>
            <a:r>
              <a:rPr lang="en-US" sz="1400" b="1" dirty="0"/>
              <a:t>   </a:t>
            </a:r>
          </a:p>
          <a:p>
            <a:pPr algn="just"/>
            <a:r>
              <a:rPr lang="en-US" sz="1400" b="1" dirty="0"/>
              <a:t>   // two parameter constructor</a:t>
            </a:r>
          </a:p>
          <a:p>
            <a:pPr algn="just"/>
            <a:r>
              <a:rPr lang="en-US" sz="1400" b="1" dirty="0"/>
              <a:t>   </a:t>
            </a:r>
            <a:r>
              <a:rPr lang="en-US" sz="1400" b="1" dirty="0" err="1"/>
              <a:t>AnotherDefaultClassSubClass</a:t>
            </a:r>
            <a:r>
              <a:rPr lang="en-US" sz="1400" b="1" dirty="0"/>
              <a:t>(int a, int b) {</a:t>
            </a:r>
          </a:p>
          <a:p>
            <a:pPr algn="just"/>
            <a:r>
              <a:rPr lang="en-US" sz="1400" b="1" dirty="0"/>
              <a:t>      super(</a:t>
            </a:r>
            <a:r>
              <a:rPr lang="en-US" sz="1400" b="1" dirty="0" err="1"/>
              <a:t>a,b</a:t>
            </a:r>
            <a:r>
              <a:rPr lang="en-US" sz="1400" b="1" dirty="0"/>
              <a:t>);</a:t>
            </a:r>
          </a:p>
          <a:p>
            <a:pPr algn="just"/>
            <a:r>
              <a:rPr lang="en-US" sz="1400" b="1" dirty="0"/>
              <a:t>   }</a:t>
            </a:r>
          </a:p>
          <a:p>
            <a:pPr algn="just"/>
            <a:r>
              <a:rPr lang="en-US" sz="1400" b="1" dirty="0"/>
              <a:t>   </a:t>
            </a:r>
          </a:p>
          <a:p>
            <a:pPr algn="just"/>
            <a:r>
              <a:rPr lang="en-US" sz="1400" b="1" dirty="0"/>
              <a:t>   // four parameter constructor</a:t>
            </a:r>
          </a:p>
          <a:p>
            <a:pPr algn="just"/>
            <a:r>
              <a:rPr lang="en-US" sz="1400" b="1" dirty="0"/>
              <a:t>   </a:t>
            </a:r>
            <a:r>
              <a:rPr lang="en-US" sz="1400" b="1" dirty="0" err="1"/>
              <a:t>AnotherDefaultClassSubClass</a:t>
            </a:r>
            <a:r>
              <a:rPr lang="en-US" sz="1400" b="1" dirty="0"/>
              <a:t>(int a, int b, int c, int d) {</a:t>
            </a:r>
          </a:p>
          <a:p>
            <a:pPr algn="just"/>
            <a:r>
              <a:rPr lang="en-US" sz="1400" b="1" dirty="0"/>
              <a:t>      super(</a:t>
            </a:r>
            <a:r>
              <a:rPr lang="en-US" sz="1400" b="1" dirty="0" err="1"/>
              <a:t>a,b</a:t>
            </a:r>
            <a:r>
              <a:rPr lang="en-US" sz="1400" b="1" dirty="0"/>
              <a:t>);</a:t>
            </a:r>
          </a:p>
          <a:p>
            <a:pPr algn="just"/>
            <a:r>
              <a:rPr lang="en-US" sz="1400" b="1" dirty="0"/>
              <a:t>      k=c;</a:t>
            </a:r>
          </a:p>
          <a:p>
            <a:pPr algn="just"/>
            <a:r>
              <a:rPr lang="en-US" sz="1400" b="1" dirty="0"/>
              <a:t>      l=d;</a:t>
            </a:r>
          </a:p>
          <a:p>
            <a:pPr algn="just"/>
            <a:r>
              <a:rPr lang="en-US" sz="1400" b="1" dirty="0"/>
              <a:t>   }</a:t>
            </a:r>
          </a:p>
          <a:p>
            <a:pPr algn="just"/>
            <a:r>
              <a:rPr lang="en-US" sz="1400" b="1" dirty="0"/>
              <a:t>}</a:t>
            </a:r>
          </a:p>
        </p:txBody>
      </p:sp>
    </p:spTree>
    <p:extLst>
      <p:ext uri="{BB962C8B-B14F-4D97-AF65-F5344CB8AC3E}">
        <p14:creationId xmlns:p14="http://schemas.microsoft.com/office/powerpoint/2010/main" val="39575989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(Inheritance-abstract 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684331" y="956815"/>
            <a:ext cx="8617022" cy="5262979"/>
          </a:xfrm>
          <a:prstGeom prst="rect">
            <a:avLst/>
          </a:prstGeom>
          <a:noFill/>
        </p:spPr>
        <p:txBody>
          <a:bodyPr wrap="square">
            <a:spAutoFit/>
          </a:bodyPr>
          <a:lstStyle/>
          <a:p>
            <a:pPr algn="just"/>
            <a:r>
              <a:rPr lang="en-US" sz="1600" b="1" dirty="0"/>
              <a:t>class D extends </a:t>
            </a:r>
            <a:r>
              <a:rPr lang="en-US" sz="1600" b="1" dirty="0" err="1"/>
              <a:t>AnotherDefaultClassSubClass</a:t>
            </a:r>
            <a:r>
              <a:rPr lang="en-US" sz="1600" b="1" dirty="0"/>
              <a:t> {</a:t>
            </a:r>
          </a:p>
          <a:p>
            <a:pPr algn="just"/>
            <a:r>
              <a:rPr lang="en-US" sz="1600" b="1" dirty="0"/>
              <a:t>	int m, n;</a:t>
            </a:r>
          </a:p>
          <a:p>
            <a:pPr algn="just"/>
            <a:r>
              <a:rPr lang="en-US" sz="1600" b="1" dirty="0"/>
              <a:t>	</a:t>
            </a:r>
          </a:p>
          <a:p>
            <a:pPr algn="just"/>
            <a:r>
              <a:rPr lang="en-US" sz="1600" b="1" dirty="0"/>
              <a:t>	D() {</a:t>
            </a:r>
          </a:p>
          <a:p>
            <a:pPr algn="just"/>
            <a:r>
              <a:rPr lang="en-US" sz="1600" b="1" dirty="0"/>
              <a:t>		super();</a:t>
            </a:r>
          </a:p>
          <a:p>
            <a:pPr algn="just"/>
            <a:r>
              <a:rPr lang="en-US" sz="1600" b="1" dirty="0"/>
              <a:t>	}</a:t>
            </a:r>
          </a:p>
          <a:p>
            <a:pPr algn="just"/>
            <a:r>
              <a:rPr lang="en-US" sz="1600" b="1" dirty="0"/>
              <a:t>	</a:t>
            </a:r>
          </a:p>
          <a:p>
            <a:pPr algn="just"/>
            <a:r>
              <a:rPr lang="en-US" sz="1600" b="1" dirty="0"/>
              <a:t>	D(int a, int b) {</a:t>
            </a:r>
          </a:p>
          <a:p>
            <a:pPr algn="just"/>
            <a:r>
              <a:rPr lang="en-US" sz="1600" b="1" dirty="0"/>
              <a:t>		super(a, b);</a:t>
            </a:r>
          </a:p>
          <a:p>
            <a:pPr algn="just"/>
            <a:r>
              <a:rPr lang="en-US" sz="1600" b="1" dirty="0"/>
              <a:t>	}</a:t>
            </a:r>
          </a:p>
          <a:p>
            <a:pPr algn="just"/>
            <a:r>
              <a:rPr lang="en-US" sz="1600" b="1" dirty="0"/>
              <a:t>	</a:t>
            </a:r>
          </a:p>
          <a:p>
            <a:pPr algn="just"/>
            <a:r>
              <a:rPr lang="en-US" sz="1600" b="1" dirty="0"/>
              <a:t>	D(int a, int b, int c, int d) {</a:t>
            </a:r>
          </a:p>
          <a:p>
            <a:pPr algn="just"/>
            <a:r>
              <a:rPr lang="en-US" sz="1600" b="1" dirty="0"/>
              <a:t>		super(a, b, c, d);</a:t>
            </a:r>
          </a:p>
          <a:p>
            <a:pPr algn="just"/>
            <a:r>
              <a:rPr lang="en-US" sz="1600" b="1" dirty="0"/>
              <a:t>	}</a:t>
            </a:r>
          </a:p>
          <a:p>
            <a:pPr algn="just"/>
            <a:r>
              <a:rPr lang="en-US" sz="1600" b="1" dirty="0"/>
              <a:t>	</a:t>
            </a:r>
          </a:p>
          <a:p>
            <a:pPr algn="just"/>
            <a:r>
              <a:rPr lang="en-US" sz="1600" b="1" dirty="0"/>
              <a:t>	D(int a, int b, int c, int d, int e, int f) {</a:t>
            </a:r>
          </a:p>
          <a:p>
            <a:pPr algn="just"/>
            <a:r>
              <a:rPr lang="en-US" sz="1600" b="1" dirty="0"/>
              <a:t>		super(a, b, c, d);</a:t>
            </a:r>
          </a:p>
          <a:p>
            <a:pPr algn="just"/>
            <a:r>
              <a:rPr lang="en-US" sz="1600" b="1" dirty="0"/>
              <a:t>		m=e;</a:t>
            </a:r>
          </a:p>
          <a:p>
            <a:pPr algn="just"/>
            <a:r>
              <a:rPr lang="en-US" sz="1600" b="1" dirty="0"/>
              <a:t>		n=f;</a:t>
            </a:r>
          </a:p>
          <a:p>
            <a:pPr algn="just"/>
            <a:r>
              <a:rPr lang="en-US" sz="1600" b="1" dirty="0"/>
              <a:t>	}</a:t>
            </a:r>
          </a:p>
          <a:p>
            <a:pPr algn="just"/>
            <a:r>
              <a:rPr lang="en-US" sz="1600" b="1" dirty="0"/>
              <a:t>}</a:t>
            </a:r>
          </a:p>
        </p:txBody>
      </p:sp>
    </p:spTree>
    <p:extLst>
      <p:ext uri="{BB962C8B-B14F-4D97-AF65-F5344CB8AC3E}">
        <p14:creationId xmlns:p14="http://schemas.microsoft.com/office/powerpoint/2010/main" val="2121699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684331" y="956815"/>
            <a:ext cx="8617022" cy="5262979"/>
          </a:xfrm>
          <a:prstGeom prst="rect">
            <a:avLst/>
          </a:prstGeom>
          <a:noFill/>
        </p:spPr>
        <p:txBody>
          <a:bodyPr wrap="square">
            <a:spAutoFit/>
          </a:bodyPr>
          <a:lstStyle/>
          <a:p>
            <a:pPr algn="just"/>
            <a:r>
              <a:rPr lang="en-US" sz="1600" b="1" dirty="0"/>
              <a:t>class D extends </a:t>
            </a:r>
            <a:r>
              <a:rPr lang="en-US" sz="1600" b="1" dirty="0" err="1"/>
              <a:t>AnotherDefaultClassSubClass</a:t>
            </a:r>
            <a:r>
              <a:rPr lang="en-US" sz="1600" b="1" dirty="0"/>
              <a:t> {</a:t>
            </a:r>
          </a:p>
          <a:p>
            <a:pPr algn="just"/>
            <a:r>
              <a:rPr lang="en-US" sz="1600" b="1" dirty="0"/>
              <a:t>	int m, n;</a:t>
            </a:r>
          </a:p>
          <a:p>
            <a:pPr algn="just"/>
            <a:r>
              <a:rPr lang="en-US" sz="1600" b="1" dirty="0"/>
              <a:t>	</a:t>
            </a:r>
          </a:p>
          <a:p>
            <a:pPr algn="just"/>
            <a:r>
              <a:rPr lang="en-US" sz="1600" b="1" dirty="0"/>
              <a:t>	D() {</a:t>
            </a:r>
          </a:p>
          <a:p>
            <a:pPr algn="just"/>
            <a:r>
              <a:rPr lang="en-US" sz="1600" b="1" dirty="0"/>
              <a:t>		super();</a:t>
            </a:r>
          </a:p>
          <a:p>
            <a:pPr algn="just"/>
            <a:r>
              <a:rPr lang="en-US" sz="1600" b="1" dirty="0"/>
              <a:t>	}</a:t>
            </a:r>
          </a:p>
          <a:p>
            <a:pPr algn="just"/>
            <a:r>
              <a:rPr lang="en-US" sz="1600" b="1" dirty="0"/>
              <a:t>	</a:t>
            </a:r>
          </a:p>
          <a:p>
            <a:pPr algn="just"/>
            <a:r>
              <a:rPr lang="en-US" sz="1600" b="1" dirty="0"/>
              <a:t>	D(int a, int b) {</a:t>
            </a:r>
          </a:p>
          <a:p>
            <a:pPr algn="just"/>
            <a:r>
              <a:rPr lang="en-US" sz="1600" b="1" dirty="0"/>
              <a:t>		super(a, b);</a:t>
            </a:r>
          </a:p>
          <a:p>
            <a:pPr algn="just"/>
            <a:r>
              <a:rPr lang="en-US" sz="1600" b="1" dirty="0"/>
              <a:t>	}</a:t>
            </a:r>
          </a:p>
          <a:p>
            <a:pPr algn="just"/>
            <a:r>
              <a:rPr lang="en-US" sz="1600" b="1" dirty="0"/>
              <a:t>	</a:t>
            </a:r>
          </a:p>
          <a:p>
            <a:pPr algn="just"/>
            <a:r>
              <a:rPr lang="en-US" sz="1600" b="1" dirty="0"/>
              <a:t>	D(int a, int b, int c, int d) {</a:t>
            </a:r>
          </a:p>
          <a:p>
            <a:pPr algn="just"/>
            <a:r>
              <a:rPr lang="en-US" sz="1600" b="1" dirty="0"/>
              <a:t>		super(a, b, c, d);</a:t>
            </a:r>
          </a:p>
          <a:p>
            <a:pPr algn="just"/>
            <a:r>
              <a:rPr lang="en-US" sz="1600" b="1" dirty="0"/>
              <a:t>	}</a:t>
            </a:r>
          </a:p>
          <a:p>
            <a:pPr algn="just"/>
            <a:r>
              <a:rPr lang="en-US" sz="1600" b="1" dirty="0"/>
              <a:t>	</a:t>
            </a:r>
          </a:p>
          <a:p>
            <a:pPr algn="just"/>
            <a:r>
              <a:rPr lang="en-US" sz="1600" b="1" dirty="0"/>
              <a:t>	D(int a, int b, int c, int d, int e, int f) {</a:t>
            </a:r>
          </a:p>
          <a:p>
            <a:pPr algn="just"/>
            <a:r>
              <a:rPr lang="en-US" sz="1600" b="1" dirty="0"/>
              <a:t>		super(a, b, c, d);</a:t>
            </a:r>
          </a:p>
          <a:p>
            <a:pPr algn="just"/>
            <a:r>
              <a:rPr lang="en-US" sz="1600" b="1" dirty="0"/>
              <a:t>		m=e;</a:t>
            </a:r>
          </a:p>
          <a:p>
            <a:pPr algn="just"/>
            <a:r>
              <a:rPr lang="en-US" sz="1600" b="1" dirty="0"/>
              <a:t>		n=f;</a:t>
            </a:r>
          </a:p>
          <a:p>
            <a:pPr algn="just"/>
            <a:r>
              <a:rPr lang="en-US" sz="1600" b="1" dirty="0"/>
              <a:t>	}</a:t>
            </a:r>
          </a:p>
          <a:p>
            <a:pPr algn="just"/>
            <a:r>
              <a:rPr lang="en-US" sz="1600" b="1" dirty="0"/>
              <a:t>}</a:t>
            </a:r>
          </a:p>
        </p:txBody>
      </p:sp>
    </p:spTree>
    <p:extLst>
      <p:ext uri="{BB962C8B-B14F-4D97-AF65-F5344CB8AC3E}">
        <p14:creationId xmlns:p14="http://schemas.microsoft.com/office/powerpoint/2010/main" val="22166765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(Inheritance-final 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953272" y="2364926"/>
            <a:ext cx="8617022" cy="1107996"/>
          </a:xfrm>
          <a:prstGeom prst="rect">
            <a:avLst/>
          </a:prstGeom>
          <a:noFill/>
        </p:spPr>
        <p:txBody>
          <a:bodyPr wrap="square">
            <a:spAutoFit/>
          </a:bodyPr>
          <a:lstStyle/>
          <a:p>
            <a:pPr algn="ctr"/>
            <a:r>
              <a:rPr lang="en-US" sz="6600" b="1" dirty="0"/>
              <a:t>final class</a:t>
            </a:r>
            <a:endParaRPr lang="en-US" sz="2400" b="1" dirty="0"/>
          </a:p>
        </p:txBody>
      </p:sp>
    </p:spTree>
    <p:extLst>
      <p:ext uri="{BB962C8B-B14F-4D97-AF65-F5344CB8AC3E}">
        <p14:creationId xmlns:p14="http://schemas.microsoft.com/office/powerpoint/2010/main" val="23732804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(Inheritance-final 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751567" y="1248825"/>
            <a:ext cx="8617022" cy="3477875"/>
          </a:xfrm>
          <a:prstGeom prst="rect">
            <a:avLst/>
          </a:prstGeom>
          <a:noFill/>
        </p:spPr>
        <p:txBody>
          <a:bodyPr wrap="square">
            <a:spAutoFit/>
          </a:bodyPr>
          <a:lstStyle/>
          <a:p>
            <a:pPr algn="just"/>
            <a:r>
              <a:rPr lang="en-US" sz="2000" b="1" dirty="0"/>
              <a:t>Classes which do not want to be derived into subclasses are declared as final. For final classes no child classes hierarchy exist. All wrapper classes such as Integer, Long, Float, Double, String, </a:t>
            </a:r>
            <a:r>
              <a:rPr lang="en-US" sz="2000" b="1" dirty="0" err="1"/>
              <a:t>StringBuffer</a:t>
            </a:r>
            <a:r>
              <a:rPr lang="en-US" sz="2000" b="1" dirty="0"/>
              <a:t> are all final classes. Math class is also final in Java API. Classes whose functions do not want to be overridden in sub classes are declared as final. For instance if a class contains 5 final and 5 non final methods. Then such a class is declared as normal class. If all the 10 methods of a class want to be declared as final, instead of declaring all the functions as final, declare class itself as final. Because all the methods are final they are static too. Hence we can call the methods using </a:t>
            </a:r>
            <a:r>
              <a:rPr lang="en-US" sz="2000" b="1" dirty="0" err="1"/>
              <a:t>classname.methodname</a:t>
            </a:r>
            <a:r>
              <a:rPr lang="en-US" sz="2000" b="1" dirty="0"/>
              <a:t>(). But it not mandatory/no guarantee that final class final methods may be static.</a:t>
            </a:r>
            <a:endParaRPr lang="en-US" sz="2400" b="1" dirty="0"/>
          </a:p>
        </p:txBody>
      </p:sp>
    </p:spTree>
    <p:extLst>
      <p:ext uri="{BB962C8B-B14F-4D97-AF65-F5344CB8AC3E}">
        <p14:creationId xmlns:p14="http://schemas.microsoft.com/office/powerpoint/2010/main" val="967963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(Inheritance-inner class/nested 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751567" y="1248825"/>
            <a:ext cx="8617022" cy="1107996"/>
          </a:xfrm>
          <a:prstGeom prst="rect">
            <a:avLst/>
          </a:prstGeom>
          <a:noFill/>
        </p:spPr>
        <p:txBody>
          <a:bodyPr wrap="square">
            <a:spAutoFit/>
          </a:bodyPr>
          <a:lstStyle/>
          <a:p>
            <a:pPr algn="ctr"/>
            <a:r>
              <a:rPr lang="en-US" sz="6600" b="1" dirty="0"/>
              <a:t>inner class</a:t>
            </a:r>
          </a:p>
        </p:txBody>
      </p:sp>
    </p:spTree>
    <p:extLst>
      <p:ext uri="{BB962C8B-B14F-4D97-AF65-F5344CB8AC3E}">
        <p14:creationId xmlns:p14="http://schemas.microsoft.com/office/powerpoint/2010/main" val="574714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(Inheritance-inner class/nested 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751567" y="1248825"/>
            <a:ext cx="8617022" cy="4524315"/>
          </a:xfrm>
          <a:prstGeom prst="rect">
            <a:avLst/>
          </a:prstGeom>
          <a:noFill/>
        </p:spPr>
        <p:txBody>
          <a:bodyPr wrap="square">
            <a:spAutoFit/>
          </a:bodyPr>
          <a:lstStyle/>
          <a:p>
            <a:pPr algn="just"/>
            <a:r>
              <a:rPr lang="en-US" sz="1600" b="1" dirty="0"/>
              <a:t>If inner class is non-static, then to access inner class, </a:t>
            </a:r>
            <a:r>
              <a:rPr lang="en-US" sz="1600" b="1" dirty="0" err="1"/>
              <a:t>outerclass</a:t>
            </a:r>
            <a:r>
              <a:rPr lang="en-US" sz="1600" b="1" dirty="0"/>
              <a:t> object must be created first, then with the outer class object </a:t>
            </a:r>
            <a:r>
              <a:rPr lang="en-US" sz="1600" b="1" dirty="0" err="1"/>
              <a:t>reference.new</a:t>
            </a:r>
            <a:r>
              <a:rPr lang="en-US" sz="1600" b="1" dirty="0"/>
              <a:t> </a:t>
            </a:r>
            <a:r>
              <a:rPr lang="en-US" sz="1600" b="1" dirty="0" err="1"/>
              <a:t>innerClass</a:t>
            </a:r>
            <a:r>
              <a:rPr lang="en-US" sz="1600" b="1" dirty="0"/>
              <a:t>() can be called.</a:t>
            </a:r>
          </a:p>
          <a:p>
            <a:pPr algn="just"/>
            <a:endParaRPr lang="en-US" sz="1600" b="1" dirty="0"/>
          </a:p>
          <a:p>
            <a:pPr algn="just"/>
            <a:r>
              <a:rPr lang="en-US" sz="1600" b="1" dirty="0"/>
              <a:t>non-static inner class can contain only non-static methods. </a:t>
            </a:r>
          </a:p>
          <a:p>
            <a:pPr algn="just"/>
            <a:r>
              <a:rPr lang="en-US" sz="1600" b="1" dirty="0"/>
              <a:t>static inner class can contain both static and non-static methods.</a:t>
            </a:r>
          </a:p>
          <a:p>
            <a:pPr algn="just"/>
            <a:endParaRPr lang="en-US" sz="1600" b="1" dirty="0"/>
          </a:p>
          <a:p>
            <a:pPr algn="just"/>
            <a:r>
              <a:rPr lang="en-US" sz="1600" b="1" dirty="0"/>
              <a:t>static inner class static method can be called using </a:t>
            </a:r>
            <a:r>
              <a:rPr lang="en-US" sz="1600" b="1" dirty="0" err="1"/>
              <a:t>OuterClass.InnerClass.method</a:t>
            </a:r>
            <a:r>
              <a:rPr lang="en-US" sz="1600" b="1" dirty="0"/>
              <a:t>()</a:t>
            </a:r>
          </a:p>
          <a:p>
            <a:pPr algn="just"/>
            <a:r>
              <a:rPr lang="en-US" sz="1600" b="1" dirty="0"/>
              <a:t>static inner class non-static method can be accessed using static inner class </a:t>
            </a:r>
            <a:r>
              <a:rPr lang="en-US" sz="1600" b="1" dirty="0" err="1"/>
              <a:t>object.method</a:t>
            </a:r>
            <a:r>
              <a:rPr lang="en-US" sz="1600" b="1" dirty="0"/>
              <a:t>(). static inner class object can be created using </a:t>
            </a:r>
            <a:r>
              <a:rPr lang="en-US" sz="1600" b="1" dirty="0" err="1"/>
              <a:t>OuterClass.InnerClass</a:t>
            </a:r>
            <a:r>
              <a:rPr lang="en-US" sz="1600" b="1" dirty="0"/>
              <a:t> </a:t>
            </a:r>
            <a:r>
              <a:rPr lang="en-US" sz="1600" b="1" dirty="0" err="1"/>
              <a:t>ocic</a:t>
            </a:r>
            <a:r>
              <a:rPr lang="en-US" sz="1600" b="1" dirty="0"/>
              <a:t>=new </a:t>
            </a:r>
            <a:r>
              <a:rPr lang="en-US" sz="1600" b="1" dirty="0" err="1"/>
              <a:t>OuterClass.InnerClass</a:t>
            </a:r>
            <a:r>
              <a:rPr lang="en-US" sz="1600" b="1" dirty="0"/>
              <a:t>();</a:t>
            </a:r>
          </a:p>
          <a:p>
            <a:pPr algn="just"/>
            <a:endParaRPr lang="en-US" sz="1600" b="1" dirty="0"/>
          </a:p>
          <a:p>
            <a:pPr algn="just"/>
            <a:r>
              <a:rPr lang="en-US" sz="1600" b="1" dirty="0"/>
              <a:t>inner class can access outer class non-static variables and methods. But outer class cannot access inner class variables and methods.</a:t>
            </a:r>
          </a:p>
          <a:p>
            <a:pPr algn="just"/>
            <a:endParaRPr lang="en-US" sz="1600" b="1" dirty="0"/>
          </a:p>
          <a:p>
            <a:pPr algn="just"/>
            <a:r>
              <a:rPr lang="en-US" sz="1600" b="1" dirty="0"/>
              <a:t>inner class non-static methods can access non-static variable and methods of outer class.</a:t>
            </a:r>
          </a:p>
          <a:p>
            <a:pPr algn="just"/>
            <a:endParaRPr lang="en-US" sz="1600" b="1" dirty="0"/>
          </a:p>
          <a:p>
            <a:pPr algn="just"/>
            <a:r>
              <a:rPr lang="en-US" sz="1600" b="1" dirty="0"/>
              <a:t>But static-inner class, static methods can be access only static variables and methods  of outer class.</a:t>
            </a:r>
          </a:p>
          <a:p>
            <a:pPr algn="just"/>
            <a:endParaRPr lang="en-US" sz="1600" b="1" dirty="0"/>
          </a:p>
          <a:p>
            <a:pPr algn="just"/>
            <a:r>
              <a:rPr lang="en-US" sz="1600" b="1" dirty="0"/>
              <a:t>this and super keyword can be used only in non-static inner class, but not in static-inner class.</a:t>
            </a:r>
          </a:p>
        </p:txBody>
      </p:sp>
    </p:spTree>
    <p:extLst>
      <p:ext uri="{BB962C8B-B14F-4D97-AF65-F5344CB8AC3E}">
        <p14:creationId xmlns:p14="http://schemas.microsoft.com/office/powerpoint/2010/main" val="40494549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(Inheritance-inner class/nested 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751567" y="1248825"/>
            <a:ext cx="8617022" cy="707886"/>
          </a:xfrm>
          <a:prstGeom prst="rect">
            <a:avLst/>
          </a:prstGeom>
          <a:noFill/>
        </p:spPr>
        <p:txBody>
          <a:bodyPr wrap="square">
            <a:spAutoFit/>
          </a:bodyPr>
          <a:lstStyle/>
          <a:p>
            <a:pPr algn="just"/>
            <a:r>
              <a:rPr lang="en-US" sz="2000" b="1" dirty="0"/>
              <a:t>access modifiers that can be applied on inner class are:</a:t>
            </a:r>
          </a:p>
          <a:p>
            <a:pPr algn="just"/>
            <a:r>
              <a:rPr lang="en-US" sz="2000" b="1" dirty="0"/>
              <a:t>static, final, abstract, private, default, protected and public</a:t>
            </a:r>
          </a:p>
        </p:txBody>
      </p:sp>
    </p:spTree>
    <p:extLst>
      <p:ext uri="{BB962C8B-B14F-4D97-AF65-F5344CB8AC3E}">
        <p14:creationId xmlns:p14="http://schemas.microsoft.com/office/powerpoint/2010/main" val="23218430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(Inheritance-inner class/nested 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DA939470-4E1C-4A45-AC06-6D8DBCAEC099}"/>
              </a:ext>
            </a:extLst>
          </p:cNvPr>
          <p:cNvSpPr txBox="1"/>
          <p:nvPr/>
        </p:nvSpPr>
        <p:spPr>
          <a:xfrm>
            <a:off x="267475" y="751286"/>
            <a:ext cx="5124798" cy="3662541"/>
          </a:xfrm>
          <a:prstGeom prst="rect">
            <a:avLst/>
          </a:prstGeom>
          <a:noFill/>
        </p:spPr>
        <p:txBody>
          <a:bodyPr wrap="square">
            <a:spAutoFit/>
          </a:bodyPr>
          <a:lstStyle/>
          <a:p>
            <a:pPr algn="just"/>
            <a:r>
              <a:rPr lang="en-US" sz="1600" b="1" dirty="0"/>
              <a:t>// OC.java (OC means </a:t>
            </a:r>
            <a:r>
              <a:rPr lang="en-US" sz="1600" b="1" dirty="0" err="1"/>
              <a:t>OuterClass</a:t>
            </a:r>
            <a:r>
              <a:rPr lang="en-US" sz="1600" b="1" dirty="0"/>
              <a:t>)</a:t>
            </a:r>
          </a:p>
          <a:p>
            <a:pPr algn="just"/>
            <a:r>
              <a:rPr lang="en-US" sz="1600" b="1" dirty="0"/>
              <a:t>class OC {</a:t>
            </a:r>
          </a:p>
          <a:p>
            <a:pPr algn="just"/>
            <a:r>
              <a:rPr lang="en-US" sz="1600" b="1" dirty="0"/>
              <a:t>  int </a:t>
            </a:r>
            <a:r>
              <a:rPr lang="en-US" sz="1600" b="1" dirty="0" err="1"/>
              <a:t>i</a:t>
            </a:r>
            <a:r>
              <a:rPr lang="en-US" sz="1600" b="1" dirty="0"/>
              <a:t>; // non-static variable/instance variable</a:t>
            </a:r>
          </a:p>
          <a:p>
            <a:pPr algn="just"/>
            <a:r>
              <a:rPr lang="en-US" sz="1600" b="1" dirty="0"/>
              <a:t>  static int j; // static variable/class variable</a:t>
            </a:r>
          </a:p>
          <a:p>
            <a:pPr algn="just"/>
            <a:r>
              <a:rPr lang="en-US" sz="1600" b="1" dirty="0"/>
              <a:t>	</a:t>
            </a:r>
          </a:p>
          <a:p>
            <a:pPr algn="just"/>
            <a:r>
              <a:rPr lang="en-US" sz="1600" b="1" dirty="0"/>
              <a:t>  void print1() {</a:t>
            </a:r>
          </a:p>
          <a:p>
            <a:pPr algn="just"/>
            <a:r>
              <a:rPr lang="en-US" sz="1600" b="1" dirty="0"/>
              <a:t>    System.out.println(</a:t>
            </a:r>
            <a:r>
              <a:rPr lang="en-US" sz="1600" b="1" dirty="0" err="1"/>
              <a:t>i</a:t>
            </a:r>
            <a:r>
              <a:rPr lang="en-US" sz="1600" b="1" dirty="0"/>
              <a:t>); // Yes</a:t>
            </a:r>
          </a:p>
          <a:p>
            <a:pPr algn="just"/>
            <a:r>
              <a:rPr lang="en-US" sz="1600" b="1" dirty="0"/>
              <a:t>    System.out.println(j); // Yes</a:t>
            </a:r>
          </a:p>
          <a:p>
            <a:pPr algn="just"/>
            <a:r>
              <a:rPr lang="en-US" sz="1600" b="1" dirty="0"/>
              <a:t>  }</a:t>
            </a:r>
          </a:p>
          <a:p>
            <a:pPr algn="just"/>
            <a:r>
              <a:rPr lang="en-US" sz="1600" b="1" dirty="0"/>
              <a:t>	</a:t>
            </a:r>
          </a:p>
          <a:p>
            <a:pPr algn="just"/>
            <a:r>
              <a:rPr lang="en-US" sz="1600" b="1" dirty="0"/>
              <a:t>  static void print2() {</a:t>
            </a:r>
          </a:p>
          <a:p>
            <a:pPr algn="just"/>
            <a:r>
              <a:rPr lang="en-US" sz="1600" b="1" dirty="0"/>
              <a:t>    // System.out.println(</a:t>
            </a:r>
            <a:r>
              <a:rPr lang="en-US" sz="1600" b="1" dirty="0" err="1"/>
              <a:t>i</a:t>
            </a:r>
            <a:r>
              <a:rPr lang="en-US" sz="1600" b="1" dirty="0"/>
              <a:t>); // No</a:t>
            </a:r>
          </a:p>
          <a:p>
            <a:pPr algn="just"/>
            <a:r>
              <a:rPr lang="en-US" sz="1600" b="1" dirty="0"/>
              <a:t>    System.out.println(j); // Yes</a:t>
            </a:r>
          </a:p>
          <a:p>
            <a:pPr algn="just"/>
            <a:r>
              <a:rPr lang="en-US" sz="1600" b="1" dirty="0"/>
              <a:t>  }</a:t>
            </a:r>
          </a:p>
        </p:txBody>
      </p:sp>
      <p:sp>
        <p:nvSpPr>
          <p:cNvPr id="19" name="TextBox 18">
            <a:extLst>
              <a:ext uri="{FF2B5EF4-FFF2-40B4-BE49-F238E27FC236}">
                <a16:creationId xmlns:a16="http://schemas.microsoft.com/office/drawing/2014/main" id="{B224911B-2E56-E7F2-F42B-FE1887C6D91B}"/>
              </a:ext>
            </a:extLst>
          </p:cNvPr>
          <p:cNvSpPr txBox="1"/>
          <p:nvPr/>
        </p:nvSpPr>
        <p:spPr>
          <a:xfrm>
            <a:off x="2003611" y="2803359"/>
            <a:ext cx="5979165" cy="3785652"/>
          </a:xfrm>
          <a:prstGeom prst="rect">
            <a:avLst/>
          </a:prstGeom>
          <a:noFill/>
        </p:spPr>
        <p:txBody>
          <a:bodyPr wrap="square">
            <a:spAutoFit/>
          </a:bodyPr>
          <a:lstStyle/>
          <a:p>
            <a:pPr algn="just"/>
            <a:r>
              <a:rPr lang="en-US" sz="1600" b="1" dirty="0"/>
              <a:t>	// non-static inner class</a:t>
            </a:r>
          </a:p>
          <a:p>
            <a:pPr algn="just"/>
            <a:r>
              <a:rPr lang="en-US" sz="1600" b="1" dirty="0"/>
              <a:t>	class NSIC {</a:t>
            </a:r>
          </a:p>
          <a:p>
            <a:pPr algn="just"/>
            <a:r>
              <a:rPr lang="en-US" sz="1600" b="1" dirty="0"/>
              <a:t>		void print3() {</a:t>
            </a:r>
          </a:p>
          <a:p>
            <a:pPr algn="just"/>
            <a:r>
              <a:rPr lang="en-US" sz="1600" b="1" dirty="0"/>
              <a:t>			System.out.println(</a:t>
            </a:r>
            <a:r>
              <a:rPr lang="en-US" sz="1600" b="1" dirty="0" err="1"/>
              <a:t>i</a:t>
            </a:r>
            <a:r>
              <a:rPr lang="en-US" sz="1600" b="1" dirty="0"/>
              <a:t>); // Yes</a:t>
            </a:r>
          </a:p>
          <a:p>
            <a:pPr algn="just"/>
            <a:r>
              <a:rPr lang="en-US" sz="1600" b="1" dirty="0"/>
              <a:t>			System.out.println(j); // Yes			</a:t>
            </a:r>
          </a:p>
          <a:p>
            <a:pPr algn="just"/>
            <a:r>
              <a:rPr lang="en-US" sz="1600" b="1" dirty="0"/>
              <a:t>		}</a:t>
            </a:r>
          </a:p>
          <a:p>
            <a:pPr algn="just"/>
            <a:r>
              <a:rPr lang="en-US" sz="1600" b="1" dirty="0"/>
              <a:t>		/* </a:t>
            </a:r>
          </a:p>
          <a:p>
            <a:pPr algn="just"/>
            <a:r>
              <a:rPr lang="en-US" sz="1600" b="1" dirty="0"/>
              <a:t>		static void print4() {</a:t>
            </a:r>
          </a:p>
          <a:p>
            <a:pPr algn="just"/>
            <a:r>
              <a:rPr lang="en-US" sz="1600" b="1" dirty="0"/>
              <a:t>			// System.out.println(</a:t>
            </a:r>
            <a:r>
              <a:rPr lang="en-US" sz="1600" b="1" dirty="0" err="1"/>
              <a:t>i</a:t>
            </a:r>
            <a:r>
              <a:rPr lang="en-US" sz="1600" b="1" dirty="0"/>
              <a:t>); // Yes</a:t>
            </a:r>
          </a:p>
          <a:p>
            <a:pPr algn="just"/>
            <a:r>
              <a:rPr lang="en-US" sz="1600" b="1" dirty="0"/>
              <a:t>			System.out.println(j); // Yes			</a:t>
            </a:r>
          </a:p>
          <a:p>
            <a:pPr algn="just"/>
            <a:r>
              <a:rPr lang="en-US" sz="1600" b="1" dirty="0"/>
              <a:t>		}</a:t>
            </a:r>
          </a:p>
          <a:p>
            <a:pPr algn="just"/>
            <a:r>
              <a:rPr lang="en-US" sz="1600" b="1" dirty="0"/>
              <a:t>		*/</a:t>
            </a:r>
          </a:p>
          <a:p>
            <a:pPr algn="just"/>
            <a:r>
              <a:rPr lang="en-US" sz="1600" b="1" dirty="0"/>
              <a:t>	}</a:t>
            </a:r>
          </a:p>
        </p:txBody>
      </p:sp>
      <p:sp>
        <p:nvSpPr>
          <p:cNvPr id="25" name="TextBox 24">
            <a:extLst>
              <a:ext uri="{FF2B5EF4-FFF2-40B4-BE49-F238E27FC236}">
                <a16:creationId xmlns:a16="http://schemas.microsoft.com/office/drawing/2014/main" id="{CCFF473F-8BCF-F479-44EC-6B6B64401D83}"/>
              </a:ext>
            </a:extLst>
          </p:cNvPr>
          <p:cNvSpPr txBox="1"/>
          <p:nvPr/>
        </p:nvSpPr>
        <p:spPr>
          <a:xfrm>
            <a:off x="6150140" y="1224393"/>
            <a:ext cx="5846109" cy="3539430"/>
          </a:xfrm>
          <a:prstGeom prst="rect">
            <a:avLst/>
          </a:prstGeom>
          <a:noFill/>
        </p:spPr>
        <p:txBody>
          <a:bodyPr wrap="square">
            <a:spAutoFit/>
          </a:bodyPr>
          <a:lstStyle/>
          <a:p>
            <a:pPr algn="just"/>
            <a:r>
              <a:rPr lang="en-US" sz="1600" b="1" dirty="0"/>
              <a:t>// static inner class</a:t>
            </a:r>
          </a:p>
          <a:p>
            <a:pPr algn="just"/>
            <a:r>
              <a:rPr lang="en-US" sz="1600" b="1" dirty="0"/>
              <a:t>	static class SIC {	</a:t>
            </a:r>
          </a:p>
          <a:p>
            <a:pPr algn="just"/>
            <a:r>
              <a:rPr lang="en-US" sz="1600" b="1" dirty="0"/>
              <a:t>		void print5() {</a:t>
            </a:r>
          </a:p>
          <a:p>
            <a:pPr algn="just"/>
            <a:r>
              <a:rPr lang="en-US" sz="1600" b="1" dirty="0"/>
              <a:t>			// System.out.println(</a:t>
            </a:r>
            <a:r>
              <a:rPr lang="en-US" sz="1600" b="1" dirty="0" err="1"/>
              <a:t>i</a:t>
            </a:r>
            <a:r>
              <a:rPr lang="en-US" sz="1600" b="1" dirty="0"/>
              <a:t>); // Yes</a:t>
            </a:r>
          </a:p>
          <a:p>
            <a:pPr algn="just"/>
            <a:r>
              <a:rPr lang="en-US" sz="1600" b="1" dirty="0"/>
              <a:t>			System.out.println(j); // Yes			</a:t>
            </a:r>
          </a:p>
          <a:p>
            <a:pPr algn="just"/>
            <a:r>
              <a:rPr lang="en-US" sz="1600" b="1" dirty="0"/>
              <a:t>		}</a:t>
            </a:r>
          </a:p>
          <a:p>
            <a:pPr algn="just"/>
            <a:r>
              <a:rPr lang="en-US" sz="1600" b="1" dirty="0"/>
              <a:t>		static void print6() {</a:t>
            </a:r>
          </a:p>
          <a:p>
            <a:pPr algn="just"/>
            <a:r>
              <a:rPr lang="en-US" sz="1600" b="1" dirty="0"/>
              <a:t>			// System.out.println(</a:t>
            </a:r>
            <a:r>
              <a:rPr lang="en-US" sz="1600" b="1" dirty="0" err="1"/>
              <a:t>i</a:t>
            </a:r>
            <a:r>
              <a:rPr lang="en-US" sz="1600" b="1" dirty="0"/>
              <a:t>); // Yes</a:t>
            </a:r>
          </a:p>
          <a:p>
            <a:pPr algn="just"/>
            <a:r>
              <a:rPr lang="en-US" sz="1600" b="1" dirty="0"/>
              <a:t>			System.out.println(j); // Yes			</a:t>
            </a:r>
          </a:p>
          <a:p>
            <a:pPr algn="just"/>
            <a:r>
              <a:rPr lang="en-US" sz="1600" b="1" dirty="0"/>
              <a:t>		}</a:t>
            </a:r>
          </a:p>
          <a:p>
            <a:pPr algn="just"/>
            <a:r>
              <a:rPr lang="en-US" sz="1600" b="1" dirty="0"/>
              <a:t>	}</a:t>
            </a:r>
          </a:p>
          <a:p>
            <a:pPr algn="just"/>
            <a:r>
              <a:rPr lang="en-US" sz="1600" b="1" dirty="0"/>
              <a:t>} // end of OC</a:t>
            </a:r>
          </a:p>
        </p:txBody>
      </p:sp>
    </p:spTree>
    <p:extLst>
      <p:ext uri="{BB962C8B-B14F-4D97-AF65-F5344CB8AC3E}">
        <p14:creationId xmlns:p14="http://schemas.microsoft.com/office/powerpoint/2010/main" val="41089992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(Inheritance-inner class/nested 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EFD57AA5-5FB4-58DA-DC50-4429D0E0D458}"/>
              </a:ext>
            </a:extLst>
          </p:cNvPr>
          <p:cNvSpPr txBox="1"/>
          <p:nvPr/>
        </p:nvSpPr>
        <p:spPr>
          <a:xfrm>
            <a:off x="420231" y="712415"/>
            <a:ext cx="6138582" cy="4031873"/>
          </a:xfrm>
          <a:prstGeom prst="rect">
            <a:avLst/>
          </a:prstGeom>
          <a:noFill/>
        </p:spPr>
        <p:txBody>
          <a:bodyPr wrap="square">
            <a:spAutoFit/>
          </a:bodyPr>
          <a:lstStyle/>
          <a:p>
            <a:r>
              <a:rPr lang="en-IN" sz="1600" dirty="0"/>
              <a:t>// OCICClient.java</a:t>
            </a:r>
          </a:p>
          <a:p>
            <a:r>
              <a:rPr lang="en-IN" sz="1600" dirty="0"/>
              <a:t>class </a:t>
            </a:r>
            <a:r>
              <a:rPr lang="en-IN" sz="1600" dirty="0" err="1"/>
              <a:t>OCICClient</a:t>
            </a:r>
            <a:r>
              <a:rPr lang="en-IN" sz="1600" dirty="0"/>
              <a:t> {</a:t>
            </a:r>
          </a:p>
          <a:p>
            <a:endParaRPr lang="en-IN" sz="1600" dirty="0"/>
          </a:p>
          <a:p>
            <a:r>
              <a:rPr lang="en-IN" sz="1600" dirty="0"/>
              <a:t>	public static void main(String rags[]) {</a:t>
            </a:r>
          </a:p>
          <a:p>
            <a:r>
              <a:rPr lang="en-IN" sz="1600" dirty="0"/>
              <a:t>		// how to access non-static method of outer class?</a:t>
            </a:r>
          </a:p>
          <a:p>
            <a:r>
              <a:rPr lang="en-IN" sz="1600" dirty="0"/>
              <a:t>		OC </a:t>
            </a:r>
            <a:r>
              <a:rPr lang="en-IN" sz="1600" dirty="0" err="1"/>
              <a:t>oc</a:t>
            </a:r>
            <a:r>
              <a:rPr lang="en-IN" sz="1600" dirty="0"/>
              <a:t>=new OC();</a:t>
            </a:r>
          </a:p>
          <a:p>
            <a:r>
              <a:rPr lang="en-IN" sz="1600" dirty="0"/>
              <a:t>		oc.print1();</a:t>
            </a:r>
          </a:p>
          <a:p>
            <a:r>
              <a:rPr lang="en-IN" sz="1600" dirty="0"/>
              <a:t>		</a:t>
            </a:r>
          </a:p>
          <a:p>
            <a:r>
              <a:rPr lang="en-IN" sz="1600" dirty="0"/>
              <a:t>		// how to access static method of outer class?</a:t>
            </a:r>
          </a:p>
          <a:p>
            <a:r>
              <a:rPr lang="en-IN" sz="1600" dirty="0"/>
              <a:t>		OC.print2();</a:t>
            </a:r>
          </a:p>
          <a:p>
            <a:r>
              <a:rPr lang="en-IN" sz="1600" dirty="0"/>
              <a:t>		</a:t>
            </a:r>
          </a:p>
          <a:p>
            <a:r>
              <a:rPr lang="en-IN" sz="1600" dirty="0"/>
              <a:t>		// how to access non-static method of non-static inner class?</a:t>
            </a:r>
          </a:p>
          <a:p>
            <a:r>
              <a:rPr lang="en-IN" sz="1600" dirty="0"/>
              <a:t>		// first of all know how to instantiate non-static inner class?</a:t>
            </a:r>
          </a:p>
        </p:txBody>
      </p:sp>
      <p:sp>
        <p:nvSpPr>
          <p:cNvPr id="27" name="TextBox 26">
            <a:extLst>
              <a:ext uri="{FF2B5EF4-FFF2-40B4-BE49-F238E27FC236}">
                <a16:creationId xmlns:a16="http://schemas.microsoft.com/office/drawing/2014/main" id="{CD09162E-247E-1447-D0D7-ED09DE99752B}"/>
              </a:ext>
            </a:extLst>
          </p:cNvPr>
          <p:cNvSpPr txBox="1"/>
          <p:nvPr/>
        </p:nvSpPr>
        <p:spPr>
          <a:xfrm>
            <a:off x="5633187" y="1174264"/>
            <a:ext cx="6138582" cy="4247317"/>
          </a:xfrm>
          <a:prstGeom prst="rect">
            <a:avLst/>
          </a:prstGeom>
          <a:noFill/>
        </p:spPr>
        <p:txBody>
          <a:bodyPr wrap="square">
            <a:spAutoFit/>
          </a:bodyPr>
          <a:lstStyle/>
          <a:p>
            <a:r>
              <a:rPr lang="en-IN" sz="1800" dirty="0"/>
              <a:t>		OC.NSIC </a:t>
            </a:r>
            <a:r>
              <a:rPr lang="en-IN" sz="1800" dirty="0" err="1"/>
              <a:t>ocnsic</a:t>
            </a:r>
            <a:r>
              <a:rPr lang="en-IN" sz="1800" dirty="0"/>
              <a:t>=</a:t>
            </a:r>
            <a:r>
              <a:rPr lang="en-IN" sz="1800" dirty="0" err="1"/>
              <a:t>oc.new</a:t>
            </a:r>
            <a:r>
              <a:rPr lang="en-IN" sz="1800" dirty="0"/>
              <a:t> NSIC();</a:t>
            </a:r>
          </a:p>
          <a:p>
            <a:r>
              <a:rPr lang="en-IN" sz="1800" dirty="0"/>
              <a:t>		ocnsic.print3();</a:t>
            </a:r>
          </a:p>
          <a:p>
            <a:r>
              <a:rPr lang="en-IN" sz="1800" dirty="0"/>
              <a:t>		</a:t>
            </a:r>
          </a:p>
          <a:p>
            <a:r>
              <a:rPr lang="en-IN" sz="1800" dirty="0"/>
              <a:t>		// how to access non-static method of static inner class?</a:t>
            </a:r>
          </a:p>
          <a:p>
            <a:r>
              <a:rPr lang="en-IN" sz="1800" dirty="0"/>
              <a:t>		// how to create object of static inner class</a:t>
            </a:r>
          </a:p>
          <a:p>
            <a:r>
              <a:rPr lang="en-IN" sz="1800" dirty="0"/>
              <a:t>		OC.SIC </a:t>
            </a:r>
            <a:r>
              <a:rPr lang="en-IN" sz="1800" dirty="0" err="1"/>
              <a:t>ocsic</a:t>
            </a:r>
            <a:r>
              <a:rPr lang="en-IN" sz="1800" dirty="0"/>
              <a:t>=new </a:t>
            </a:r>
            <a:r>
              <a:rPr lang="en-IN" sz="1800" dirty="0" err="1"/>
              <a:t>oc.SIC</a:t>
            </a:r>
            <a:r>
              <a:rPr lang="en-IN" sz="1800" dirty="0"/>
              <a:t>();</a:t>
            </a:r>
          </a:p>
          <a:p>
            <a:r>
              <a:rPr lang="en-IN" sz="1800" dirty="0"/>
              <a:t>		ocsic.print5();</a:t>
            </a:r>
          </a:p>
          <a:p>
            <a:r>
              <a:rPr lang="en-IN" sz="1800" dirty="0"/>
              <a:t>		</a:t>
            </a:r>
          </a:p>
          <a:p>
            <a:r>
              <a:rPr lang="en-IN" sz="1800" dirty="0"/>
              <a:t>		// how to access static method of static inner class</a:t>
            </a:r>
          </a:p>
          <a:p>
            <a:r>
              <a:rPr lang="en-IN" sz="1800" dirty="0"/>
              <a:t>		OC.SIC.print6();</a:t>
            </a:r>
          </a:p>
          <a:p>
            <a:r>
              <a:rPr lang="en-IN" sz="1800" dirty="0"/>
              <a:t>	}</a:t>
            </a:r>
          </a:p>
          <a:p>
            <a:r>
              <a:rPr lang="en-IN" sz="1800" dirty="0"/>
              <a:t>	</a:t>
            </a:r>
          </a:p>
          <a:p>
            <a:r>
              <a:rPr lang="en-IN" sz="1800" dirty="0"/>
              <a:t>}</a:t>
            </a:r>
          </a:p>
        </p:txBody>
      </p:sp>
    </p:spTree>
    <p:extLst>
      <p:ext uri="{BB962C8B-B14F-4D97-AF65-F5344CB8AC3E}">
        <p14:creationId xmlns:p14="http://schemas.microsoft.com/office/powerpoint/2010/main" val="6287922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(Inheritance-inner class/nested 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id="{1F08B1F0-AB58-16D7-7780-F7A1BE1EA5EB}"/>
              </a:ext>
            </a:extLst>
          </p:cNvPr>
          <p:cNvSpPr txBox="1"/>
          <p:nvPr/>
        </p:nvSpPr>
        <p:spPr>
          <a:xfrm>
            <a:off x="313054" y="751312"/>
            <a:ext cx="8955270" cy="5632311"/>
          </a:xfrm>
          <a:prstGeom prst="rect">
            <a:avLst/>
          </a:prstGeom>
          <a:noFill/>
        </p:spPr>
        <p:txBody>
          <a:bodyPr wrap="square">
            <a:spAutoFit/>
          </a:bodyPr>
          <a:lstStyle/>
          <a:p>
            <a:pPr algn="just"/>
            <a:r>
              <a:rPr lang="en-IN" b="1" u="sng" dirty="0"/>
              <a:t>Points about how to access inner class:</a:t>
            </a:r>
          </a:p>
          <a:p>
            <a:pPr algn="just"/>
            <a:r>
              <a:rPr lang="en-IN" dirty="0"/>
              <a:t>A class can contain both non-static and static inner classes.</a:t>
            </a:r>
          </a:p>
          <a:p>
            <a:pPr algn="just"/>
            <a:endParaRPr lang="en-IN" dirty="0"/>
          </a:p>
          <a:p>
            <a:pPr algn="just"/>
            <a:r>
              <a:rPr lang="en-IN" dirty="0"/>
              <a:t>Non-static inner class can contain only non-static method</a:t>
            </a:r>
          </a:p>
          <a:p>
            <a:pPr algn="just"/>
            <a:r>
              <a:rPr lang="en-IN" dirty="0"/>
              <a:t>Static inner class can contain both static and non-static methods</a:t>
            </a:r>
          </a:p>
          <a:p>
            <a:pPr algn="just"/>
            <a:endParaRPr lang="en-IN" dirty="0"/>
          </a:p>
          <a:p>
            <a:pPr algn="just"/>
            <a:r>
              <a:rPr lang="en-IN" dirty="0"/>
              <a:t>In non-static inner class non-static method we can access both static and non-static variables of outer class</a:t>
            </a:r>
          </a:p>
          <a:p>
            <a:pPr algn="just"/>
            <a:r>
              <a:rPr lang="en-IN" dirty="0"/>
              <a:t>In static inner class both static and non-static methods we can access only static variable of outer class</a:t>
            </a:r>
          </a:p>
          <a:p>
            <a:pPr algn="just"/>
            <a:endParaRPr lang="en-IN" dirty="0"/>
          </a:p>
          <a:p>
            <a:pPr algn="just"/>
            <a:r>
              <a:rPr lang="en-IN" dirty="0"/>
              <a:t>How to create object of non-static inner class?</a:t>
            </a:r>
          </a:p>
          <a:p>
            <a:pPr algn="just"/>
            <a:r>
              <a:rPr lang="en-IN" dirty="0"/>
              <a:t>OC </a:t>
            </a:r>
            <a:r>
              <a:rPr lang="en-IN" dirty="0" err="1"/>
              <a:t>oc</a:t>
            </a:r>
            <a:r>
              <a:rPr lang="en-IN" dirty="0"/>
              <a:t>=new OC();</a:t>
            </a:r>
          </a:p>
          <a:p>
            <a:pPr algn="just"/>
            <a:r>
              <a:rPr lang="en-IN" dirty="0"/>
              <a:t>OC.NSIC </a:t>
            </a:r>
            <a:r>
              <a:rPr lang="en-IN" dirty="0" err="1"/>
              <a:t>ocnsic</a:t>
            </a:r>
            <a:r>
              <a:rPr lang="en-IN" dirty="0"/>
              <a:t>=</a:t>
            </a:r>
            <a:r>
              <a:rPr lang="en-IN" dirty="0" err="1"/>
              <a:t>oc.new</a:t>
            </a:r>
            <a:r>
              <a:rPr lang="en-IN" dirty="0"/>
              <a:t> NSIC();</a:t>
            </a:r>
          </a:p>
          <a:p>
            <a:pPr algn="just"/>
            <a:r>
              <a:rPr lang="en-IN" dirty="0"/>
              <a:t>ocnsic.print3();</a:t>
            </a:r>
          </a:p>
          <a:p>
            <a:pPr algn="just"/>
            <a:endParaRPr lang="en-IN" dirty="0"/>
          </a:p>
          <a:p>
            <a:pPr algn="just"/>
            <a:r>
              <a:rPr lang="en-IN" dirty="0"/>
              <a:t>How to create object of static inner class?</a:t>
            </a:r>
          </a:p>
          <a:p>
            <a:pPr algn="just"/>
            <a:r>
              <a:rPr lang="en-IN" dirty="0"/>
              <a:t>OC.SIC </a:t>
            </a:r>
            <a:r>
              <a:rPr lang="en-IN" dirty="0" err="1"/>
              <a:t>ocsic</a:t>
            </a:r>
            <a:r>
              <a:rPr lang="en-IN" dirty="0"/>
              <a:t>=new OC.SIC();</a:t>
            </a:r>
          </a:p>
          <a:p>
            <a:pPr algn="just"/>
            <a:r>
              <a:rPr lang="en-IN" dirty="0"/>
              <a:t>ocsic.print5();</a:t>
            </a:r>
          </a:p>
          <a:p>
            <a:pPr algn="just"/>
            <a:r>
              <a:rPr lang="en-IN" dirty="0"/>
              <a:t>OC.SIC.print6();</a:t>
            </a:r>
          </a:p>
        </p:txBody>
      </p:sp>
    </p:spTree>
    <p:extLst>
      <p:ext uri="{BB962C8B-B14F-4D97-AF65-F5344CB8AC3E}">
        <p14:creationId xmlns:p14="http://schemas.microsoft.com/office/powerpoint/2010/main" val="38383825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(Inheritance-anonymous 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id="{1F08B1F0-AB58-16D7-7780-F7A1BE1EA5EB}"/>
              </a:ext>
            </a:extLst>
          </p:cNvPr>
          <p:cNvSpPr txBox="1"/>
          <p:nvPr/>
        </p:nvSpPr>
        <p:spPr>
          <a:xfrm>
            <a:off x="501312" y="737862"/>
            <a:ext cx="8955270" cy="5632311"/>
          </a:xfrm>
          <a:prstGeom prst="rect">
            <a:avLst/>
          </a:prstGeom>
          <a:noFill/>
        </p:spPr>
        <p:txBody>
          <a:bodyPr wrap="square">
            <a:spAutoFit/>
          </a:bodyPr>
          <a:lstStyle/>
          <a:p>
            <a:pPr algn="ctr"/>
            <a:r>
              <a:rPr lang="en-US" sz="6600" b="1" dirty="0">
                <a:solidFill>
                  <a:srgbClr val="0000FF"/>
                </a:solidFill>
                <a:cs typeface="Arial" panose="020B0604020202020204" pitchFamily="34" charset="0"/>
              </a:rPr>
              <a:t>OOPs in</a:t>
            </a:r>
            <a:r>
              <a:rPr lang="en-US" sz="7200" b="1" dirty="0">
                <a:solidFill>
                  <a:srgbClr val="0000FF"/>
                </a:solidFill>
                <a:cs typeface="Arial" panose="020B0604020202020204" pitchFamily="34" charset="0"/>
              </a:rPr>
              <a:t> </a:t>
            </a:r>
          </a:p>
          <a:p>
            <a:pPr algn="ctr"/>
            <a:r>
              <a:rPr lang="en-US" sz="9600" b="1" dirty="0">
                <a:solidFill>
                  <a:srgbClr val="0000FF"/>
                </a:solidFill>
                <a:cs typeface="Arial" panose="020B0604020202020204" pitchFamily="34" charset="0"/>
              </a:rPr>
              <a:t>Java</a:t>
            </a:r>
            <a:endParaRPr lang="en-US" sz="7200" b="1" dirty="0">
              <a:solidFill>
                <a:srgbClr val="0000FF"/>
              </a:solidFill>
              <a:cs typeface="Arial" panose="020B0604020202020204" pitchFamily="34" charset="0"/>
            </a:endParaRPr>
          </a:p>
          <a:p>
            <a:pPr algn="ctr"/>
            <a:r>
              <a:rPr lang="en-US" sz="4800" b="1" dirty="0">
                <a:solidFill>
                  <a:srgbClr val="0000FF"/>
                </a:solidFill>
                <a:cs typeface="Arial" panose="020B0604020202020204" pitchFamily="34" charset="0"/>
              </a:rPr>
              <a:t>(Inheritance)</a:t>
            </a:r>
          </a:p>
          <a:p>
            <a:pPr algn="ctr"/>
            <a:r>
              <a:rPr lang="en-US" sz="4800" b="1" dirty="0">
                <a:solidFill>
                  <a:srgbClr val="0000FF"/>
                </a:solidFill>
                <a:cs typeface="Arial" panose="020B0604020202020204" pitchFamily="34" charset="0"/>
              </a:rPr>
              <a:t>-</a:t>
            </a:r>
          </a:p>
          <a:p>
            <a:pPr algn="ctr"/>
            <a:r>
              <a:rPr lang="en-US" sz="4800" b="1" dirty="0">
                <a:solidFill>
                  <a:srgbClr val="0000FF"/>
                </a:solidFill>
                <a:cs typeface="Arial" panose="020B0604020202020204" pitchFamily="34" charset="0"/>
              </a:rPr>
              <a:t>Part – III-IV</a:t>
            </a:r>
          </a:p>
          <a:p>
            <a:pPr algn="ctr"/>
            <a:r>
              <a:rPr lang="en-IN" sz="4800" b="1" dirty="0"/>
              <a:t>anonymous class</a:t>
            </a:r>
          </a:p>
        </p:txBody>
      </p:sp>
    </p:spTree>
    <p:extLst>
      <p:ext uri="{BB962C8B-B14F-4D97-AF65-F5344CB8AC3E}">
        <p14:creationId xmlns:p14="http://schemas.microsoft.com/office/powerpoint/2010/main" val="18125993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(Inheritance-anonymous 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id="{1F08B1F0-AB58-16D7-7780-F7A1BE1EA5EB}"/>
              </a:ext>
            </a:extLst>
          </p:cNvPr>
          <p:cNvSpPr txBox="1"/>
          <p:nvPr/>
        </p:nvSpPr>
        <p:spPr>
          <a:xfrm>
            <a:off x="1267791" y="2001883"/>
            <a:ext cx="8955270" cy="1107996"/>
          </a:xfrm>
          <a:prstGeom prst="rect">
            <a:avLst/>
          </a:prstGeom>
          <a:noFill/>
        </p:spPr>
        <p:txBody>
          <a:bodyPr wrap="square">
            <a:spAutoFit/>
          </a:bodyPr>
          <a:lstStyle/>
          <a:p>
            <a:pPr algn="ctr"/>
            <a:r>
              <a:rPr lang="en-IN" sz="6600" b="1" dirty="0"/>
              <a:t>anonymous class</a:t>
            </a:r>
            <a:endParaRPr lang="en-IN" b="1" dirty="0"/>
          </a:p>
        </p:txBody>
      </p:sp>
    </p:spTree>
    <p:extLst>
      <p:ext uri="{BB962C8B-B14F-4D97-AF65-F5344CB8AC3E}">
        <p14:creationId xmlns:p14="http://schemas.microsoft.com/office/powerpoint/2010/main" val="41593684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(Inheritance-anonymous 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id="{1F08B1F0-AB58-16D7-7780-F7A1BE1EA5EB}"/>
              </a:ext>
            </a:extLst>
          </p:cNvPr>
          <p:cNvSpPr txBox="1"/>
          <p:nvPr/>
        </p:nvSpPr>
        <p:spPr>
          <a:xfrm>
            <a:off x="380289" y="791653"/>
            <a:ext cx="8955270" cy="5324535"/>
          </a:xfrm>
          <a:prstGeom prst="rect">
            <a:avLst/>
          </a:prstGeom>
          <a:noFill/>
        </p:spPr>
        <p:txBody>
          <a:bodyPr wrap="square">
            <a:spAutoFit/>
          </a:bodyPr>
          <a:lstStyle/>
          <a:p>
            <a:pPr algn="just"/>
            <a:r>
              <a:rPr lang="en-US" sz="2000" b="1" dirty="0"/>
              <a:t>Wherever interface implementation is having usability only once, in such cases instead of writing a separate sub class, we can write anonymous class to interface.</a:t>
            </a:r>
          </a:p>
          <a:p>
            <a:pPr algn="just"/>
            <a:endParaRPr lang="en-US" sz="2000" b="1" dirty="0"/>
          </a:p>
          <a:p>
            <a:pPr algn="just"/>
            <a:r>
              <a:rPr lang="en-US" sz="2000" b="1" dirty="0"/>
              <a:t>Writing class body without class declaration is called as anonymous class. </a:t>
            </a:r>
          </a:p>
          <a:p>
            <a:pPr algn="just"/>
            <a:endParaRPr lang="en-US" sz="2000" b="1" dirty="0"/>
          </a:p>
          <a:p>
            <a:pPr algn="just"/>
            <a:r>
              <a:rPr lang="en-US" sz="2000" b="1" dirty="0"/>
              <a:t>Writing class body during class object creation. "Implementing all the methods of interface while instantiating interface". </a:t>
            </a:r>
          </a:p>
          <a:p>
            <a:pPr algn="just"/>
            <a:endParaRPr lang="en-US" sz="2000" b="1" dirty="0"/>
          </a:p>
          <a:p>
            <a:pPr algn="just"/>
            <a:r>
              <a:rPr lang="en-US" sz="2000" b="1" dirty="0"/>
              <a:t>If interface contains abstract methods, to interface we will write one or many sub classes. We can instantiate and use sub class anywhere in our system. </a:t>
            </a:r>
          </a:p>
          <a:p>
            <a:pPr algn="just"/>
            <a:endParaRPr lang="en-US" sz="2000" b="1" dirty="0"/>
          </a:p>
          <a:p>
            <a:pPr algn="just"/>
            <a:r>
              <a:rPr lang="en-US" sz="2000" b="1" dirty="0"/>
              <a:t>But anonymous class aim is zero re-usability of such classes because at the time of instantiation itself we will implement all the interface methods so that those method implementations are available in only one occasion/ instance. </a:t>
            </a:r>
          </a:p>
          <a:p>
            <a:pPr algn="just"/>
            <a:endParaRPr lang="en-US" sz="2000" b="1" dirty="0"/>
          </a:p>
          <a:p>
            <a:pPr algn="just"/>
            <a:r>
              <a:rPr lang="en-US" sz="2000" b="1" dirty="0"/>
              <a:t>If interface implementation do not  want to be reusable, but want to be usable only once then we will implement anonymous class.</a:t>
            </a:r>
            <a:endParaRPr lang="en-IN" sz="600" b="1" dirty="0"/>
          </a:p>
        </p:txBody>
      </p:sp>
    </p:spTree>
    <p:extLst>
      <p:ext uri="{BB962C8B-B14F-4D97-AF65-F5344CB8AC3E}">
        <p14:creationId xmlns:p14="http://schemas.microsoft.com/office/powerpoint/2010/main" val="20090457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(Inheritance-anonymous 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id="{1F08B1F0-AB58-16D7-7780-F7A1BE1EA5EB}"/>
              </a:ext>
            </a:extLst>
          </p:cNvPr>
          <p:cNvSpPr txBox="1"/>
          <p:nvPr/>
        </p:nvSpPr>
        <p:spPr>
          <a:xfrm>
            <a:off x="380289" y="791653"/>
            <a:ext cx="1892264" cy="1323439"/>
          </a:xfrm>
          <a:prstGeom prst="rect">
            <a:avLst/>
          </a:prstGeom>
          <a:noFill/>
        </p:spPr>
        <p:txBody>
          <a:bodyPr wrap="square">
            <a:spAutoFit/>
          </a:bodyPr>
          <a:lstStyle/>
          <a:p>
            <a:pPr algn="just"/>
            <a:r>
              <a:rPr lang="it-IT" sz="2000" b="1" dirty="0"/>
              <a:t>interface Intf1 {</a:t>
            </a:r>
          </a:p>
          <a:p>
            <a:pPr algn="just"/>
            <a:r>
              <a:rPr lang="it-IT" sz="2000" b="1" dirty="0"/>
              <a:t>	v m1();</a:t>
            </a:r>
          </a:p>
          <a:p>
            <a:pPr algn="just"/>
            <a:r>
              <a:rPr lang="it-IT" sz="2000" b="1" dirty="0"/>
              <a:t>	v m2();</a:t>
            </a:r>
          </a:p>
          <a:p>
            <a:pPr algn="just"/>
            <a:r>
              <a:rPr lang="it-IT" sz="2000" b="1" dirty="0"/>
              <a:t>}</a:t>
            </a:r>
            <a:endParaRPr lang="en-IN" sz="600" b="1" dirty="0"/>
          </a:p>
        </p:txBody>
      </p:sp>
      <p:sp>
        <p:nvSpPr>
          <p:cNvPr id="24" name="TextBox 23">
            <a:extLst>
              <a:ext uri="{FF2B5EF4-FFF2-40B4-BE49-F238E27FC236}">
                <a16:creationId xmlns:a16="http://schemas.microsoft.com/office/drawing/2014/main" id="{6346915D-72E5-DFD4-C87B-827003FE17DA}"/>
              </a:ext>
            </a:extLst>
          </p:cNvPr>
          <p:cNvSpPr txBox="1"/>
          <p:nvPr/>
        </p:nvSpPr>
        <p:spPr>
          <a:xfrm>
            <a:off x="2571263" y="1010912"/>
            <a:ext cx="6715746" cy="4770537"/>
          </a:xfrm>
          <a:prstGeom prst="rect">
            <a:avLst/>
          </a:prstGeom>
          <a:noFill/>
        </p:spPr>
        <p:txBody>
          <a:bodyPr wrap="square">
            <a:spAutoFit/>
          </a:bodyPr>
          <a:lstStyle/>
          <a:p>
            <a:r>
              <a:rPr lang="en-IN" sz="2000" b="1" dirty="0"/>
              <a:t>class Intf1ACExample {</a:t>
            </a:r>
          </a:p>
          <a:p>
            <a:r>
              <a:rPr lang="en-IN" sz="2000" b="1" dirty="0"/>
              <a:t>   public static void main(String rags[]) {</a:t>
            </a:r>
          </a:p>
          <a:p>
            <a:r>
              <a:rPr lang="en-IN" sz="2000" b="1" dirty="0"/>
              <a:t>	</a:t>
            </a:r>
            <a:r>
              <a:rPr lang="en-IN" sz="1600" b="1" dirty="0"/>
              <a:t>// we are not writing sub class to interface</a:t>
            </a:r>
          </a:p>
          <a:p>
            <a:r>
              <a:rPr lang="en-IN" sz="1600" b="1" dirty="0"/>
              <a:t>	// we are instantiating interface</a:t>
            </a:r>
          </a:p>
          <a:p>
            <a:r>
              <a:rPr lang="en-IN" sz="1600" b="1" dirty="0"/>
              <a:t>	// in the interface instantiation body, implement all interface methods in that body</a:t>
            </a:r>
          </a:p>
          <a:p>
            <a:r>
              <a:rPr lang="en-IN" sz="1600" b="1" dirty="0"/>
              <a:t>	// such a interface instantiation body is called as anonymous class</a:t>
            </a:r>
          </a:p>
          <a:p>
            <a:r>
              <a:rPr lang="en-IN" sz="2000" b="1" dirty="0"/>
              <a:t>	Intf1 i1=new Intf1() {</a:t>
            </a:r>
          </a:p>
          <a:p>
            <a:r>
              <a:rPr lang="en-IN" sz="2000" b="1" dirty="0"/>
              <a:t>		public void m1() {}</a:t>
            </a:r>
          </a:p>
          <a:p>
            <a:r>
              <a:rPr lang="en-IN" sz="2000" b="1" dirty="0"/>
              <a:t>		public void m2() {}</a:t>
            </a:r>
          </a:p>
          <a:p>
            <a:r>
              <a:rPr lang="en-IN" sz="2000" b="1" dirty="0"/>
              <a:t>	};</a:t>
            </a:r>
          </a:p>
          <a:p>
            <a:r>
              <a:rPr lang="en-IN" sz="2000" b="1" dirty="0"/>
              <a:t>		</a:t>
            </a:r>
          </a:p>
          <a:p>
            <a:r>
              <a:rPr lang="en-IN" sz="2000" b="1" dirty="0"/>
              <a:t>	i1.m1();</a:t>
            </a:r>
          </a:p>
          <a:p>
            <a:r>
              <a:rPr lang="en-IN" sz="2000" b="1" dirty="0"/>
              <a:t>	i1.m2();</a:t>
            </a:r>
          </a:p>
          <a:p>
            <a:r>
              <a:rPr lang="en-IN" sz="2000" b="1" dirty="0"/>
              <a:t>  }</a:t>
            </a:r>
          </a:p>
          <a:p>
            <a:r>
              <a:rPr lang="en-IN" sz="2000" b="1" dirty="0"/>
              <a:t>} </a:t>
            </a:r>
          </a:p>
        </p:txBody>
      </p:sp>
    </p:spTree>
    <p:extLst>
      <p:ext uri="{BB962C8B-B14F-4D97-AF65-F5344CB8AC3E}">
        <p14:creationId xmlns:p14="http://schemas.microsoft.com/office/powerpoint/2010/main" val="18664209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(Inheritance-anonymous class)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id="{1F08B1F0-AB58-16D7-7780-F7A1BE1EA5EB}"/>
              </a:ext>
            </a:extLst>
          </p:cNvPr>
          <p:cNvSpPr txBox="1"/>
          <p:nvPr/>
        </p:nvSpPr>
        <p:spPr>
          <a:xfrm>
            <a:off x="380289" y="831995"/>
            <a:ext cx="4178264" cy="5632311"/>
          </a:xfrm>
          <a:prstGeom prst="rect">
            <a:avLst/>
          </a:prstGeom>
          <a:noFill/>
        </p:spPr>
        <p:txBody>
          <a:bodyPr wrap="square">
            <a:spAutoFit/>
          </a:bodyPr>
          <a:lstStyle/>
          <a:p>
            <a:pPr algn="just"/>
            <a:r>
              <a:rPr lang="it-IT" sz="2000" dirty="0"/>
              <a:t>Three ways of implementing Threads</a:t>
            </a:r>
          </a:p>
          <a:p>
            <a:pPr marL="342900" indent="-342900" algn="just">
              <a:buFont typeface="Arial" panose="020B0604020202020204" pitchFamily="34" charset="0"/>
              <a:buChar char="•"/>
            </a:pPr>
            <a:r>
              <a:rPr lang="it-IT" sz="2000" dirty="0"/>
              <a:t>extends from Thread class, override run() method, create instance of Thread class and call start() method on Thread instance.</a:t>
            </a:r>
          </a:p>
          <a:p>
            <a:pPr marL="342900" indent="-342900" algn="just">
              <a:buFont typeface="Arial" panose="020B0604020202020204" pitchFamily="34" charset="0"/>
              <a:buChar char="•"/>
            </a:pPr>
            <a:r>
              <a:rPr lang="it-IT" sz="2000" dirty="0"/>
              <a:t>implements from Runnable interface, implement run() method, create instance of Runnable object, pass that object as argument into Thread class constructor and call start() method on Thread object</a:t>
            </a:r>
          </a:p>
          <a:p>
            <a:pPr marL="342900" indent="-342900" algn="just">
              <a:buFont typeface="Arial" panose="020B0604020202020204" pitchFamily="34" charset="0"/>
              <a:buChar char="•"/>
            </a:pPr>
            <a:r>
              <a:rPr lang="it-IT" sz="2000" dirty="0"/>
              <a:t>Third way is instead of writing sub class of Thread class or Runnable interface, instantiate Runnable interface and in its body implement run() method and start Thread.</a:t>
            </a:r>
            <a:endParaRPr lang="en-IN" sz="2000" dirty="0"/>
          </a:p>
        </p:txBody>
      </p:sp>
      <p:sp>
        <p:nvSpPr>
          <p:cNvPr id="7" name="TextBox 6">
            <a:extLst>
              <a:ext uri="{FF2B5EF4-FFF2-40B4-BE49-F238E27FC236}">
                <a16:creationId xmlns:a16="http://schemas.microsoft.com/office/drawing/2014/main" id="{60992720-991A-DF88-D28B-77E415D3D73D}"/>
              </a:ext>
            </a:extLst>
          </p:cNvPr>
          <p:cNvSpPr txBox="1"/>
          <p:nvPr/>
        </p:nvSpPr>
        <p:spPr>
          <a:xfrm>
            <a:off x="4634047" y="769243"/>
            <a:ext cx="5141965" cy="5078313"/>
          </a:xfrm>
          <a:prstGeom prst="rect">
            <a:avLst/>
          </a:prstGeom>
          <a:noFill/>
        </p:spPr>
        <p:txBody>
          <a:bodyPr wrap="square">
            <a:spAutoFit/>
          </a:bodyPr>
          <a:lstStyle/>
          <a:p>
            <a:pPr algn="just"/>
            <a:r>
              <a:rPr lang="it-IT" dirty="0"/>
              <a:t>class AnonymousThreadClient {</a:t>
            </a:r>
          </a:p>
          <a:p>
            <a:pPr algn="just"/>
            <a:r>
              <a:rPr lang="it-IT" dirty="0"/>
              <a:t>   public static void main(String rags[]) {</a:t>
            </a:r>
          </a:p>
          <a:p>
            <a:pPr algn="just"/>
            <a:r>
              <a:rPr lang="it-IT" dirty="0"/>
              <a:t>                   Runnable r1=new Runnable() {</a:t>
            </a:r>
          </a:p>
          <a:p>
            <a:pPr algn="just"/>
            <a:r>
              <a:rPr lang="it-IT" dirty="0"/>
              <a:t>                   public void run() {</a:t>
            </a:r>
          </a:p>
          <a:p>
            <a:pPr algn="just"/>
            <a:r>
              <a:rPr lang="it-IT" dirty="0"/>
              <a:t>                       numGen.generate();</a:t>
            </a:r>
          </a:p>
          <a:p>
            <a:pPr algn="just"/>
            <a:r>
              <a:rPr lang="it-IT" dirty="0"/>
              <a:t>                    }</a:t>
            </a:r>
          </a:p>
          <a:p>
            <a:pPr algn="just"/>
            <a:r>
              <a:rPr lang="it-IT" dirty="0"/>
              <a:t>                };</a:t>
            </a:r>
          </a:p>
          <a:p>
            <a:pPr algn="just"/>
            <a:r>
              <a:rPr lang="it-IT" dirty="0"/>
              <a:t>                Runnable r2=new Runnable() {</a:t>
            </a:r>
          </a:p>
          <a:p>
            <a:pPr algn="just"/>
            <a:r>
              <a:rPr lang="it-IT" dirty="0"/>
              <a:t>                   public void run() {</a:t>
            </a:r>
          </a:p>
          <a:p>
            <a:pPr algn="just"/>
            <a:r>
              <a:rPr lang="it-IT" dirty="0"/>
              <a:t>                       numGen.print();</a:t>
            </a:r>
          </a:p>
          <a:p>
            <a:pPr algn="just"/>
            <a:r>
              <a:rPr lang="it-IT" dirty="0"/>
              <a:t>                    }</a:t>
            </a:r>
          </a:p>
          <a:p>
            <a:pPr algn="just"/>
            <a:r>
              <a:rPr lang="it-IT" dirty="0"/>
              <a:t>                };</a:t>
            </a:r>
          </a:p>
          <a:p>
            <a:pPr algn="just"/>
            <a:r>
              <a:rPr lang="it-IT" dirty="0"/>
              <a:t>                Thread t1=new Thread(r1);</a:t>
            </a:r>
          </a:p>
          <a:p>
            <a:pPr algn="just"/>
            <a:r>
              <a:rPr lang="it-IT" dirty="0"/>
              <a:t>                Thread t2=new Thread(r2);</a:t>
            </a:r>
          </a:p>
          <a:p>
            <a:pPr algn="just"/>
            <a:r>
              <a:rPr lang="it-IT" dirty="0"/>
              <a:t>                t1.start();</a:t>
            </a:r>
          </a:p>
          <a:p>
            <a:pPr algn="just"/>
            <a:r>
              <a:rPr lang="it-IT" dirty="0"/>
              <a:t>                t2.start();</a:t>
            </a:r>
          </a:p>
          <a:p>
            <a:pPr algn="just"/>
            <a:r>
              <a:rPr lang="it-IT" dirty="0"/>
              <a:t>   }</a:t>
            </a:r>
          </a:p>
          <a:p>
            <a:pPr algn="just"/>
            <a:r>
              <a:rPr lang="it-IT" dirty="0"/>
              <a:t>}</a:t>
            </a:r>
            <a:endParaRPr lang="en-IN" dirty="0"/>
          </a:p>
        </p:txBody>
      </p:sp>
    </p:spTree>
    <p:extLst>
      <p:ext uri="{BB962C8B-B14F-4D97-AF65-F5344CB8AC3E}">
        <p14:creationId xmlns:p14="http://schemas.microsoft.com/office/powerpoint/2010/main" val="1023899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r>
                  <a:rPr lang="en-US" b="1" dirty="0" err="1">
                    <a:solidFill>
                      <a:schemeClr val="bg1"/>
                    </a:solidFill>
                    <a:latin typeface="Bookman Old Style" panose="02050604050505020204" pitchFamily="18" charset="0"/>
                  </a:rPr>
                  <a:t>enum</a:t>
                </a:r>
                <a:r>
                  <a:rPr lang="en-US" b="1" dirty="0">
                    <a:solidFill>
                      <a:schemeClr val="bg1"/>
                    </a:solidFill>
                    <a:latin typeface="Bookman Old Style" panose="02050604050505020204" pitchFamily="18" charset="0"/>
                  </a:rPr>
                  <a:t>)</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id="{1F08B1F0-AB58-16D7-7780-F7A1BE1EA5EB}"/>
              </a:ext>
            </a:extLst>
          </p:cNvPr>
          <p:cNvSpPr txBox="1"/>
          <p:nvPr/>
        </p:nvSpPr>
        <p:spPr>
          <a:xfrm>
            <a:off x="3598736" y="2145647"/>
            <a:ext cx="2551404" cy="1107996"/>
          </a:xfrm>
          <a:prstGeom prst="rect">
            <a:avLst/>
          </a:prstGeom>
          <a:noFill/>
        </p:spPr>
        <p:txBody>
          <a:bodyPr wrap="square">
            <a:spAutoFit/>
          </a:bodyPr>
          <a:lstStyle/>
          <a:p>
            <a:pPr algn="ctr"/>
            <a:r>
              <a:rPr lang="it-IT" sz="6600" b="1" dirty="0"/>
              <a:t>enum</a:t>
            </a:r>
            <a:endParaRPr lang="en-IN" sz="600" b="1" dirty="0"/>
          </a:p>
        </p:txBody>
      </p:sp>
    </p:spTree>
    <p:extLst>
      <p:ext uri="{BB962C8B-B14F-4D97-AF65-F5344CB8AC3E}">
        <p14:creationId xmlns:p14="http://schemas.microsoft.com/office/powerpoint/2010/main" val="39475072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r>
                  <a:rPr lang="en-US" b="1" dirty="0" err="1">
                    <a:solidFill>
                      <a:schemeClr val="bg1"/>
                    </a:solidFill>
                    <a:latin typeface="Bookman Old Style" panose="02050604050505020204" pitchFamily="18" charset="0"/>
                  </a:rPr>
                  <a:t>enum</a:t>
                </a:r>
                <a:r>
                  <a:rPr lang="en-US" b="1" dirty="0">
                    <a:solidFill>
                      <a:schemeClr val="bg1"/>
                    </a:solidFill>
                    <a:latin typeface="Bookman Old Style" panose="02050604050505020204" pitchFamily="18" charset="0"/>
                  </a:rPr>
                  <a:t>)</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id="{1F08B1F0-AB58-16D7-7780-F7A1BE1EA5EB}"/>
              </a:ext>
            </a:extLst>
          </p:cNvPr>
          <p:cNvSpPr txBox="1"/>
          <p:nvPr/>
        </p:nvSpPr>
        <p:spPr>
          <a:xfrm>
            <a:off x="225881" y="815379"/>
            <a:ext cx="9055125" cy="5078313"/>
          </a:xfrm>
          <a:prstGeom prst="rect">
            <a:avLst/>
          </a:prstGeom>
          <a:noFill/>
        </p:spPr>
        <p:txBody>
          <a:bodyPr wrap="square">
            <a:spAutoFit/>
          </a:bodyPr>
          <a:lstStyle/>
          <a:p>
            <a:pPr algn="just"/>
            <a:r>
              <a:rPr lang="it-IT" b="1" dirty="0"/>
              <a:t>Enumeration purpose is to declare constants of various datatypes. For example to declare directions, colors, priority, risk levels etc</a:t>
            </a:r>
          </a:p>
          <a:p>
            <a:pPr algn="just"/>
            <a:endParaRPr lang="it-IT" b="1" dirty="0"/>
          </a:p>
          <a:p>
            <a:pPr algn="just"/>
            <a:r>
              <a:rPr lang="it-IT" b="1" dirty="0"/>
              <a:t>// Direction.java</a:t>
            </a:r>
          </a:p>
          <a:p>
            <a:pPr algn="just"/>
            <a:r>
              <a:rPr lang="it-IT" b="1" dirty="0"/>
              <a:t>enum Direction {</a:t>
            </a:r>
          </a:p>
          <a:p>
            <a:pPr algn="just"/>
            <a:r>
              <a:rPr lang="it-IT" b="1" dirty="0"/>
              <a:t>	NORTH, EAST, SOUTH, WEST, NORTH_EAST, NORTH_WEST, SOUTH_EAST, SOUTH_WEST;</a:t>
            </a:r>
          </a:p>
          <a:p>
            <a:pPr algn="just"/>
            <a:r>
              <a:rPr lang="it-IT" b="1" dirty="0"/>
              <a:t>}</a:t>
            </a:r>
          </a:p>
          <a:p>
            <a:pPr algn="just"/>
            <a:endParaRPr lang="it-IT" b="1" dirty="0"/>
          </a:p>
          <a:p>
            <a:pPr algn="just"/>
            <a:r>
              <a:rPr lang="it-IT" b="1" dirty="0"/>
              <a:t>// Color.java</a:t>
            </a:r>
          </a:p>
          <a:p>
            <a:pPr algn="just"/>
            <a:r>
              <a:rPr lang="it-IT" b="1" dirty="0"/>
              <a:t>enum Color {</a:t>
            </a:r>
          </a:p>
          <a:p>
            <a:pPr algn="just"/>
            <a:r>
              <a:rPr lang="it-IT" b="1" dirty="0"/>
              <a:t>	RED, GREEN, BLUE, WHITE, YELLOW, ORANGE, BLACK;</a:t>
            </a:r>
          </a:p>
          <a:p>
            <a:pPr algn="just"/>
            <a:r>
              <a:rPr lang="it-IT" b="1" dirty="0"/>
              <a:t>}</a:t>
            </a:r>
          </a:p>
          <a:p>
            <a:pPr algn="just"/>
            <a:endParaRPr lang="it-IT" b="1" dirty="0"/>
          </a:p>
          <a:p>
            <a:pPr algn="just"/>
            <a:r>
              <a:rPr lang="it-IT" b="1" dirty="0"/>
              <a:t>// Priority.java</a:t>
            </a:r>
          </a:p>
          <a:p>
            <a:pPr algn="just"/>
            <a:r>
              <a:rPr lang="it-IT" b="1" dirty="0"/>
              <a:t>enum Priority {</a:t>
            </a:r>
          </a:p>
          <a:p>
            <a:pPr algn="just"/>
            <a:r>
              <a:rPr lang="it-IT" b="1" dirty="0"/>
              <a:t>	HIGH, MEDIUM, LOW;</a:t>
            </a:r>
          </a:p>
          <a:p>
            <a:pPr algn="just"/>
            <a:r>
              <a:rPr lang="it-IT" b="1" dirty="0"/>
              <a:t>}</a:t>
            </a:r>
          </a:p>
        </p:txBody>
      </p:sp>
    </p:spTree>
    <p:extLst>
      <p:ext uri="{BB962C8B-B14F-4D97-AF65-F5344CB8AC3E}">
        <p14:creationId xmlns:p14="http://schemas.microsoft.com/office/powerpoint/2010/main" val="38229151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r>
                  <a:rPr lang="en-US" b="1" dirty="0" err="1">
                    <a:solidFill>
                      <a:schemeClr val="bg1"/>
                    </a:solidFill>
                    <a:latin typeface="Bookman Old Style" panose="02050604050505020204" pitchFamily="18" charset="0"/>
                  </a:rPr>
                  <a:t>enum</a:t>
                </a:r>
                <a:r>
                  <a:rPr lang="en-US" b="1" dirty="0">
                    <a:solidFill>
                      <a:schemeClr val="bg1"/>
                    </a:solidFill>
                    <a:latin typeface="Bookman Old Style" panose="02050604050505020204" pitchFamily="18" charset="0"/>
                  </a:rPr>
                  <a:t>)</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id="{1F08B1F0-AB58-16D7-7780-F7A1BE1EA5EB}"/>
              </a:ext>
            </a:extLst>
          </p:cNvPr>
          <p:cNvSpPr txBox="1"/>
          <p:nvPr/>
        </p:nvSpPr>
        <p:spPr>
          <a:xfrm>
            <a:off x="225882" y="936402"/>
            <a:ext cx="9042442" cy="4247317"/>
          </a:xfrm>
          <a:prstGeom prst="rect">
            <a:avLst/>
          </a:prstGeom>
          <a:noFill/>
        </p:spPr>
        <p:txBody>
          <a:bodyPr wrap="square">
            <a:spAutoFit/>
          </a:bodyPr>
          <a:lstStyle/>
          <a:p>
            <a:pPr algn="just"/>
            <a:r>
              <a:rPr lang="it-IT" b="1" dirty="0"/>
              <a:t>A simple enum example where enum is declared outside any class (Note enum keyword instead of class keyword) </a:t>
            </a:r>
          </a:p>
          <a:p>
            <a:pPr algn="just"/>
            <a:endParaRPr lang="it-IT" b="1" dirty="0"/>
          </a:p>
          <a:p>
            <a:pPr algn="just"/>
            <a:r>
              <a:rPr lang="it-IT" b="1" dirty="0"/>
              <a:t>enum Color { </a:t>
            </a:r>
          </a:p>
          <a:p>
            <a:pPr algn="just"/>
            <a:r>
              <a:rPr lang="it-IT" b="1" dirty="0"/>
              <a:t>    RED, GREEN, BLUE; </a:t>
            </a:r>
          </a:p>
          <a:p>
            <a:pPr algn="just"/>
            <a:r>
              <a:rPr lang="it-IT" b="1" dirty="0"/>
              <a:t>} </a:t>
            </a:r>
          </a:p>
          <a:p>
            <a:pPr algn="just"/>
            <a:r>
              <a:rPr lang="it-IT" b="1" dirty="0"/>
              <a:t>  </a:t>
            </a:r>
          </a:p>
          <a:p>
            <a:pPr algn="just"/>
            <a:r>
              <a:rPr lang="it-IT" b="1" dirty="0"/>
              <a:t>public class Test { </a:t>
            </a:r>
          </a:p>
          <a:p>
            <a:pPr algn="just"/>
            <a:endParaRPr lang="it-IT" b="1" dirty="0"/>
          </a:p>
          <a:p>
            <a:pPr algn="just"/>
            <a:r>
              <a:rPr lang="it-IT" b="1" dirty="0"/>
              <a:t>    // Driver method </a:t>
            </a:r>
          </a:p>
          <a:p>
            <a:pPr algn="just"/>
            <a:r>
              <a:rPr lang="it-IT" b="1" dirty="0"/>
              <a:t>    public static void main(String[] args) { </a:t>
            </a:r>
          </a:p>
          <a:p>
            <a:pPr algn="just"/>
            <a:r>
              <a:rPr lang="it-IT" b="1" dirty="0"/>
              <a:t>        Color c1 = Color.RED;  // each enum constant variable is treated as one instance of enum</a:t>
            </a:r>
          </a:p>
          <a:p>
            <a:pPr algn="just"/>
            <a:r>
              <a:rPr lang="it-IT" b="1" dirty="0"/>
              <a:t>        System.out.println(c1);</a:t>
            </a:r>
          </a:p>
          <a:p>
            <a:pPr algn="just"/>
            <a:r>
              <a:rPr lang="it-IT" b="1" dirty="0"/>
              <a:t>    } </a:t>
            </a:r>
          </a:p>
          <a:p>
            <a:pPr algn="just"/>
            <a:r>
              <a:rPr lang="it-IT" b="1" dirty="0"/>
              <a:t>}</a:t>
            </a:r>
          </a:p>
        </p:txBody>
      </p:sp>
    </p:spTree>
    <p:extLst>
      <p:ext uri="{BB962C8B-B14F-4D97-AF65-F5344CB8AC3E}">
        <p14:creationId xmlns:p14="http://schemas.microsoft.com/office/powerpoint/2010/main" val="7329593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TotalTime>
  <Words>5634</Words>
  <Application>Microsoft Office PowerPoint</Application>
  <PresentationFormat>Widescreen</PresentationFormat>
  <Paragraphs>809</Paragraphs>
  <Slides>47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Bookman Old Style</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nivas .</dc:creator>
  <cp:lastModifiedBy>nivas .</cp:lastModifiedBy>
  <cp:revision>7</cp:revision>
  <dcterms:created xsi:type="dcterms:W3CDTF">2022-09-21T09:34:10Z</dcterms:created>
  <dcterms:modified xsi:type="dcterms:W3CDTF">2022-10-03T06:53:39Z</dcterms:modified>
</cp:coreProperties>
</file>