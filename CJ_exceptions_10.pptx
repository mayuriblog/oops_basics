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311" r:id="rId4"/>
    <p:sldId id="312" r:id="rId5"/>
    <p:sldId id="313" r:id="rId6"/>
    <p:sldId id="325" r:id="rId7"/>
    <p:sldId id="259" r:id="rId8"/>
    <p:sldId id="314" r:id="rId9"/>
    <p:sldId id="315" r:id="rId10"/>
    <p:sldId id="316" r:id="rId11"/>
    <p:sldId id="317" r:id="rId12"/>
    <p:sldId id="318" r:id="rId13"/>
    <p:sldId id="319" r:id="rId14"/>
    <p:sldId id="320" r:id="rId15"/>
    <p:sldId id="321" r:id="rId16"/>
    <p:sldId id="322" r:id="rId17"/>
    <p:sldId id="323" r:id="rId18"/>
    <p:sldId id="324" r:id="rId19"/>
    <p:sldId id="326" r:id="rId20"/>
    <p:sldId id="327" r:id="rId21"/>
    <p:sldId id="328" r:id="rId22"/>
    <p:sldId id="329" r:id="rId23"/>
    <p:sldId id="330" r:id="rId24"/>
    <p:sldId id="331" r:id="rId25"/>
    <p:sldId id="33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F66"/>
    <a:srgbClr val="990033"/>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30CF4D-7FBF-4D1E-B010-424D838B61A6}" type="datetimeFigureOut">
              <a:rPr lang="en-IN" smtClean="0"/>
              <a:t>24-08-2023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19E184-7A60-4448-82EB-FE9E968BF9BE}" type="slidenum">
              <a:rPr lang="en-IN" smtClean="0"/>
              <a:t>‹#›</a:t>
            </a:fld>
            <a:endParaRPr lang="en-IN"/>
          </a:p>
        </p:txBody>
      </p:sp>
    </p:spTree>
    <p:extLst>
      <p:ext uri="{BB962C8B-B14F-4D97-AF65-F5344CB8AC3E}">
        <p14:creationId xmlns:p14="http://schemas.microsoft.com/office/powerpoint/2010/main" val="2501268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E5E95554-B716-48AD-BB1E-2B324B257D8E}" type="datetime1">
              <a:rPr lang="en-US" smtClean="0"/>
              <a:t>8/24/2023</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DF8749C9-B04C-4BCF-B311-886454DAB5D0}" type="datetime1">
              <a:rPr lang="en-US" smtClean="0"/>
              <a:t>8/24/2023</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A15E37EA-31F2-4DF0-89EF-BCA44E924C31}" type="datetime1">
              <a:rPr lang="en-US" smtClean="0"/>
              <a:t>8/24/2023</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96866A4C-6397-44A0-B6DD-7B901DCC7EAD}" type="datetime1">
              <a:rPr lang="en-US" smtClean="0"/>
              <a:t>8/24/2023</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7E2589A0-2986-4411-A6EE-EA3B86A80726}" type="datetime1">
              <a:rPr lang="en-US" smtClean="0"/>
              <a:t>8/24/2023</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6138F7BE-1C1B-495E-AE50-CB53E227A19F}" type="datetime1">
              <a:rPr lang="en-US" smtClean="0"/>
              <a:t>8/24/2023</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B7A24F50-F4F0-4D97-AA2B-3D7DED17B804}" type="datetime1">
              <a:rPr lang="en-US" smtClean="0"/>
              <a:t>8/24/2023</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DE79CB2D-1B80-49C3-A3E2-805EC7CC42AF}" type="datetime1">
              <a:rPr lang="en-US" smtClean="0"/>
              <a:t>8/24/2023</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4DA1FD7A-837A-445A-9541-91FABC92CBA3}" type="datetime1">
              <a:rPr lang="en-US" smtClean="0"/>
              <a:t>8/24/2023</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DDFACDA8-7283-4BD1-8973-EF2415A33613}" type="datetime1">
              <a:rPr lang="en-US" smtClean="0"/>
              <a:t>8/24/2023</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075F7F1F-2568-4AD9-A4AC-302EEC361DA8}" type="datetime1">
              <a:rPr lang="en-US" smtClean="0"/>
              <a:t>8/24/2023</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94A6D-FA12-4A2E-B3FC-1AFF09C81E39}" type="datetime1">
              <a:rPr lang="en-US" smtClean="0"/>
              <a:t>8/24/2023</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1495582" y="1844700"/>
            <a:ext cx="7362914" cy="2862322"/>
          </a:xfrm>
          <a:prstGeom prst="rect">
            <a:avLst/>
          </a:prstGeom>
          <a:noFill/>
        </p:spPr>
        <p:txBody>
          <a:bodyPr wrap="none" rtlCol="0">
            <a:spAutoFit/>
          </a:bodyPr>
          <a:lstStyle/>
          <a:p>
            <a:pPr algn="ctr"/>
            <a:r>
              <a:rPr lang="en-US" sz="6000" b="1" dirty="0">
                <a:solidFill>
                  <a:srgbClr val="0000FF"/>
                </a:solidFill>
                <a:latin typeface="Arial" panose="020B0604020202020204" pitchFamily="34" charset="0"/>
                <a:cs typeface="Arial" panose="020B0604020202020204" pitchFamily="34" charset="0"/>
              </a:rPr>
              <a:t>Exceptions </a:t>
            </a:r>
          </a:p>
          <a:p>
            <a:pPr algn="ctr"/>
            <a:r>
              <a:rPr lang="en-US" sz="6000" b="1" dirty="0">
                <a:solidFill>
                  <a:srgbClr val="0000FF"/>
                </a:solidFill>
                <a:latin typeface="Arial" panose="020B0604020202020204" pitchFamily="34" charset="0"/>
                <a:cs typeface="Arial" panose="020B0604020202020204" pitchFamily="34" charset="0"/>
              </a:rPr>
              <a:t>&amp; </a:t>
            </a:r>
          </a:p>
          <a:p>
            <a:pPr algn="ctr"/>
            <a:r>
              <a:rPr lang="en-US" sz="6000" b="1" dirty="0">
                <a:solidFill>
                  <a:srgbClr val="0000FF"/>
                </a:solidFill>
                <a:latin typeface="Arial" panose="020B0604020202020204" pitchFamily="34" charset="0"/>
                <a:cs typeface="Arial" panose="020B0604020202020204" pitchFamily="34" charset="0"/>
              </a:rPr>
              <a:t>Exception Handling</a:t>
            </a:r>
            <a:endParaRPr lang="en-US" sz="2800" b="1" dirty="0">
              <a:solidFill>
                <a:srgbClr val="0000FF"/>
              </a:solidFill>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8F2DA84E-41DF-8CC3-C239-5B3C50AECFD8}"/>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ln>
                  <a:solidFill>
                    <a:srgbClr val="002060"/>
                  </a:solidFill>
                </a:ln>
                <a:solidFill>
                  <a:srgbClr val="002060"/>
                </a:solidFill>
                <a:latin typeface="Times New Roman" panose="02020603050405020304" pitchFamily="18" charset="0"/>
              </a:rPr>
              <a:t>Exceptions &amp; Exception Handling</a:t>
            </a: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14741" y="760729"/>
            <a:ext cx="8236550" cy="400110"/>
          </a:xfrm>
          <a:prstGeom prst="rect">
            <a:avLst/>
          </a:prstGeom>
          <a:noFill/>
        </p:spPr>
        <p:txBody>
          <a:bodyPr wrap="none" rtlCol="0">
            <a:spAutoFit/>
          </a:bodyPr>
          <a:lstStyle/>
          <a:p>
            <a:r>
              <a:rPr lang="en-US" sz="2000" dirty="0">
                <a:solidFill>
                  <a:srgbClr val="0000FF"/>
                </a:solidFill>
                <a:latin typeface="Arial" panose="020B0604020202020204" pitchFamily="34" charset="0"/>
                <a:cs typeface="Arial" panose="020B0604020202020204" pitchFamily="34" charset="0"/>
              </a:rPr>
              <a:t>Exceptions topic deals with 5 clauses and Exception classes hierarchy:</a:t>
            </a:r>
          </a:p>
        </p:txBody>
      </p:sp>
      <p:sp>
        <p:nvSpPr>
          <p:cNvPr id="13" name="TextBox 12">
            <a:extLst>
              <a:ext uri="{FF2B5EF4-FFF2-40B4-BE49-F238E27FC236}">
                <a16:creationId xmlns:a16="http://schemas.microsoft.com/office/drawing/2014/main" id="{24F9027A-BAFE-0002-28ED-2392987D8DD0}"/>
              </a:ext>
            </a:extLst>
          </p:cNvPr>
          <p:cNvSpPr txBox="1"/>
          <p:nvPr/>
        </p:nvSpPr>
        <p:spPr>
          <a:xfrm>
            <a:off x="401587" y="1430394"/>
            <a:ext cx="8759221" cy="4093428"/>
          </a:xfrm>
          <a:prstGeom prst="rect">
            <a:avLst/>
          </a:prstGeom>
          <a:noFill/>
        </p:spPr>
        <p:txBody>
          <a:bodyPr wrap="square">
            <a:spAutoFit/>
          </a:bodyPr>
          <a:lstStyle/>
          <a:p>
            <a:pPr algn="just"/>
            <a:r>
              <a:rPr lang="en-IN" sz="2000" b="1" dirty="0"/>
              <a:t>5 clauses are:</a:t>
            </a:r>
          </a:p>
          <a:p>
            <a:pPr algn="just"/>
            <a:r>
              <a:rPr lang="en-IN" sz="2000" b="1" dirty="0"/>
              <a:t>--------------</a:t>
            </a:r>
          </a:p>
          <a:p>
            <a:pPr algn="just"/>
            <a:r>
              <a:rPr lang="en-IN" sz="2000" b="1" dirty="0"/>
              <a:t>	</a:t>
            </a:r>
            <a:r>
              <a:rPr lang="en-IN" sz="2000" b="1" dirty="0" err="1"/>
              <a:t>i</a:t>
            </a:r>
            <a:r>
              <a:rPr lang="en-IN" sz="2000" b="1" dirty="0"/>
              <a:t>) throw - raises exception</a:t>
            </a:r>
          </a:p>
          <a:p>
            <a:pPr algn="just"/>
            <a:r>
              <a:rPr lang="en-IN" sz="2000" b="1" dirty="0"/>
              <a:t>	ii) throws - reports exception</a:t>
            </a:r>
          </a:p>
          <a:p>
            <a:pPr algn="just"/>
            <a:r>
              <a:rPr lang="en-IN" sz="2000" b="1" dirty="0"/>
              <a:t>	iii) try - monitors exception / exception monitor</a:t>
            </a:r>
          </a:p>
          <a:p>
            <a:pPr algn="just"/>
            <a:r>
              <a:rPr lang="en-IN" sz="2000" b="1" dirty="0"/>
              <a:t>	iv) catch - handles exception / exception handler</a:t>
            </a:r>
          </a:p>
          <a:p>
            <a:pPr algn="just"/>
            <a:r>
              <a:rPr lang="en-IN" sz="2000" b="1" dirty="0"/>
              <a:t>	v) finally - finally can be last block in the method that executes both in normal and abnormally termination of the method execution. After finally block, in the method we can write statements but try catch blocks should not be written after finally. In finally we can write try/catch blocks more. Usually in the final block we will destroy all the local objects. try followed we can write any number of catch blocks and only one finally block or we can directly write finally block.</a:t>
            </a:r>
          </a:p>
        </p:txBody>
      </p:sp>
      <p:sp>
        <p:nvSpPr>
          <p:cNvPr id="3" name="Footer Placeholder 2">
            <a:extLst>
              <a:ext uri="{FF2B5EF4-FFF2-40B4-BE49-F238E27FC236}">
                <a16:creationId xmlns:a16="http://schemas.microsoft.com/office/drawing/2014/main" id="{71899AFA-18FC-E516-6C9E-A4067D75EE1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38161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E98CE76-E576-4132-956F-6E4B91556344}"/>
              </a:ext>
            </a:extLst>
          </p:cNvPr>
          <p:cNvSpPr txBox="1"/>
          <p:nvPr/>
        </p:nvSpPr>
        <p:spPr>
          <a:xfrm>
            <a:off x="285751" y="918412"/>
            <a:ext cx="9007162" cy="5355312"/>
          </a:xfrm>
          <a:prstGeom prst="rect">
            <a:avLst/>
          </a:prstGeom>
          <a:noFill/>
        </p:spPr>
        <p:txBody>
          <a:bodyPr wrap="square" rtlCol="0">
            <a:spAutoFit/>
          </a:bodyPr>
          <a:lstStyle/>
          <a:p>
            <a:pPr algn="just"/>
            <a:r>
              <a:rPr lang="en-US" b="1" dirty="0">
                <a:solidFill>
                  <a:srgbClr val="002060"/>
                </a:solidFill>
                <a:latin typeface="Arial" panose="020B0604020202020204" pitchFamily="34" charset="0"/>
                <a:cs typeface="Arial" panose="020B0604020202020204" pitchFamily="34" charset="0"/>
              </a:rPr>
              <a:t>Errors:</a:t>
            </a:r>
          </a:p>
          <a:p>
            <a:pPr algn="just"/>
            <a:r>
              <a:rPr lang="en-US" b="1" dirty="0">
                <a:solidFill>
                  <a:srgbClr val="002060"/>
                </a:solidFill>
                <a:latin typeface="Arial" panose="020B0604020202020204" pitchFamily="34" charset="0"/>
                <a:cs typeface="Arial" panose="020B0604020202020204" pitchFamily="34" charset="0"/>
              </a:rPr>
              <a:t>Compile time error: Syntactical mistakes occurred in the program causes Compile time errors.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use of open and close flower braces for class, constructor, method, condition and loops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use of data types, variable declarations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variable initialization</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Wrong use of class name, package name</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termination of statement with ; semi-colon</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use of single and double quotations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array declaration, initialization and accessing</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Improper method declaration, calling method with improper signature</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Wrong use of constructor</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Overriding final methods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Not implementing abstract methods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Deriving from final classes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Instantiating abstract class</a:t>
            </a:r>
          </a:p>
          <a:p>
            <a:pPr marL="342900" indent="-342900"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Deriving from multiple classes</a:t>
            </a:r>
          </a:p>
          <a:p>
            <a:pPr algn="just"/>
            <a:r>
              <a:rPr lang="en-US" dirty="0">
                <a:solidFill>
                  <a:srgbClr val="002060"/>
                </a:solidFill>
                <a:latin typeface="Arial" panose="020B0604020202020204" pitchFamily="34" charset="0"/>
                <a:cs typeface="Arial" panose="020B0604020202020204" pitchFamily="34" charset="0"/>
              </a:rPr>
              <a:t>Rectify the error and recompile the class again	</a:t>
            </a:r>
          </a:p>
        </p:txBody>
      </p:sp>
      <p:grpSp>
        <p:nvGrpSpPr>
          <p:cNvPr id="3" name="Group 2">
            <a:extLst>
              <a:ext uri="{FF2B5EF4-FFF2-40B4-BE49-F238E27FC236}">
                <a16:creationId xmlns:a16="http://schemas.microsoft.com/office/drawing/2014/main" id="{E084F061-165F-4D26-957A-46A3784E1269}"/>
              </a:ext>
            </a:extLst>
          </p:cNvPr>
          <p:cNvGrpSpPr/>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44537FEC-1229-42DE-A189-FF88D373368B}"/>
                </a:ext>
              </a:extLst>
            </p:cNvPr>
            <p:cNvSpPr/>
            <p:nvPr/>
          </p:nvSpPr>
          <p:spPr>
            <a:xfrm>
              <a:off x="9408695" y="3928311"/>
              <a:ext cx="2667522" cy="27672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3" name="Frame 12">
              <a:extLst>
                <a:ext uri="{FF2B5EF4-FFF2-40B4-BE49-F238E27FC236}">
                  <a16:creationId xmlns:a16="http://schemas.microsoft.com/office/drawing/2014/main" id="{DC86F9FE-37E8-4FF6-A7BC-43BCCF9D2009}"/>
                </a:ext>
              </a:extLst>
            </p:cNvPr>
            <p:cNvSpPr/>
            <p:nvPr/>
          </p:nvSpPr>
          <p:spPr>
            <a:xfrm>
              <a:off x="0" y="0"/>
              <a:ext cx="12192000" cy="6858000"/>
            </a:xfrm>
            <a:prstGeom prst="frame">
              <a:avLst>
                <a:gd name="adj1" fmla="val 2392"/>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14" name="Frame 13">
              <a:extLst>
                <a:ext uri="{FF2B5EF4-FFF2-40B4-BE49-F238E27FC236}">
                  <a16:creationId xmlns:a16="http://schemas.microsoft.com/office/drawing/2014/main" id="{B609A78E-1910-454E-860F-E7CA75EEE587}"/>
                </a:ext>
              </a:extLst>
            </p:cNvPr>
            <p:cNvSpPr/>
            <p:nvPr/>
          </p:nvSpPr>
          <p:spPr>
            <a:xfrm>
              <a:off x="2428875" y="0"/>
              <a:ext cx="7162800" cy="762000"/>
            </a:xfrm>
            <a:prstGeom prst="frame">
              <a:avLst>
                <a:gd name="adj1" fmla="val 20853"/>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pPr algn="ctr"/>
              <a:r>
                <a:rPr lang="en-US" sz="2400" b="1" dirty="0">
                  <a:ln>
                    <a:solidFill>
                      <a:srgbClr val="002060"/>
                    </a:solidFill>
                  </a:ln>
                  <a:solidFill>
                    <a:srgbClr val="002060"/>
                  </a:solidFill>
                  <a:latin typeface="Times New Roman" panose="02020603050405020304" pitchFamily="18" charset="0"/>
                </a:rPr>
                <a:t>Exceptions &amp; Exception Handling</a:t>
              </a:r>
            </a:p>
          </p:txBody>
        </p:sp>
        <p:pic>
          <p:nvPicPr>
            <p:cNvPr id="15" name="Picture 14">
              <a:extLst>
                <a:ext uri="{FF2B5EF4-FFF2-40B4-BE49-F238E27FC236}">
                  <a16:creationId xmlns:a16="http://schemas.microsoft.com/office/drawing/2014/main" id="{3B934CBA-96C4-40FF-925C-482D211BA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7560" y="162426"/>
              <a:ext cx="752990" cy="824163"/>
            </a:xfrm>
            <a:prstGeom prst="roundRect">
              <a:avLst>
                <a:gd name="adj" fmla="val 2010"/>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p:spPr>
        </p:pic>
      </p:grpSp>
      <p:sp>
        <p:nvSpPr>
          <p:cNvPr id="2" name="Footer Placeholder 1">
            <a:extLst>
              <a:ext uri="{FF2B5EF4-FFF2-40B4-BE49-F238E27FC236}">
                <a16:creationId xmlns:a16="http://schemas.microsoft.com/office/drawing/2014/main" id="{BDD8927B-51B6-4556-940D-7FB85831E2A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539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id="{F1DE234E-2274-4FC8-931E-288A5A166015}"/>
                </a:ext>
              </a:extLst>
            </p:cNvPr>
            <p:cNvSpPr/>
            <p:nvPr/>
          </p:nvSpPr>
          <p:spPr>
            <a:xfrm>
              <a:off x="4553953" y="0"/>
              <a:ext cx="2442410" cy="774619"/>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Exceptions and Exception Handling</a:t>
              </a:r>
            </a:p>
          </p:txBody>
        </p:sp>
        <p:sp>
          <p:nvSpPr>
            <p:cNvPr id="15" name="Right Triangle 14">
              <a:extLst>
                <a:ext uri="{FF2B5EF4-FFF2-40B4-BE49-F238E27FC236}">
                  <a16:creationId xmlns:a16="http://schemas.microsoft.com/office/drawing/2014/main"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id="{A601BD45-3342-4071-863C-308B54334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20" name="TextBox 19">
            <a:extLst>
              <a:ext uri="{FF2B5EF4-FFF2-40B4-BE49-F238E27FC236}">
                <a16:creationId xmlns:a16="http://schemas.microsoft.com/office/drawing/2014/main" id="{68348499-B941-4AD2-8393-403E990A7E98}"/>
              </a:ext>
            </a:extLst>
          </p:cNvPr>
          <p:cNvSpPr txBox="1"/>
          <p:nvPr/>
        </p:nvSpPr>
        <p:spPr>
          <a:xfrm>
            <a:off x="670054" y="1620862"/>
            <a:ext cx="8205006" cy="1938992"/>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Runtime error</a:t>
            </a:r>
          </a:p>
          <a:p>
            <a:pPr algn="just"/>
            <a:r>
              <a:rPr lang="en-US" sz="2000" dirty="0">
                <a:solidFill>
                  <a:srgbClr val="0000FF"/>
                </a:solidFill>
                <a:latin typeface="Arial" panose="020B0604020202020204" pitchFamily="34" charset="0"/>
                <a:cs typeface="Arial" panose="020B0604020202020204" pitchFamily="34" charset="0"/>
              </a:rPr>
              <a:t>Error which cause at runtime because of memory problem or unavailable resource or version error or linking error. Some of the errors can be handled using try/catch block, some cannot be handled. Runtime Error classes derives from Error super class. Error class super class is Throwable. Throwable super class is Object.</a:t>
            </a:r>
          </a:p>
        </p:txBody>
      </p:sp>
      <p:sp>
        <p:nvSpPr>
          <p:cNvPr id="12" name="TextBox 11">
            <a:extLst>
              <a:ext uri="{FF2B5EF4-FFF2-40B4-BE49-F238E27FC236}">
                <a16:creationId xmlns:a16="http://schemas.microsoft.com/office/drawing/2014/main" id="{0663A58D-7522-37BD-5675-290081197787}"/>
              </a:ext>
            </a:extLst>
          </p:cNvPr>
          <p:cNvSpPr txBox="1"/>
          <p:nvPr/>
        </p:nvSpPr>
        <p:spPr>
          <a:xfrm>
            <a:off x="2232215" y="3704537"/>
            <a:ext cx="3348314" cy="2308324"/>
          </a:xfrm>
          <a:prstGeom prst="rect">
            <a:avLst/>
          </a:prstGeom>
          <a:noFill/>
        </p:spPr>
        <p:txBody>
          <a:bodyPr wrap="square">
            <a:spAutoFit/>
          </a:bodyPr>
          <a:lstStyle/>
          <a:p>
            <a:pPr marL="285750" indent="-285750">
              <a:buFont typeface="Wingdings" panose="05000000000000000000" pitchFamily="2" charset="2"/>
              <a:buChar char="v"/>
            </a:pPr>
            <a:r>
              <a:rPr lang="en-IN" dirty="0" err="1"/>
              <a:t>ClassVersionError</a:t>
            </a:r>
            <a:endParaRPr lang="en-IN" dirty="0"/>
          </a:p>
          <a:p>
            <a:pPr marL="285750" indent="-285750">
              <a:buFont typeface="Wingdings" panose="05000000000000000000" pitchFamily="2" charset="2"/>
              <a:buChar char="v"/>
            </a:pPr>
            <a:r>
              <a:rPr lang="en-IN" dirty="0" err="1"/>
              <a:t>NoClassDefFoundError</a:t>
            </a:r>
            <a:endParaRPr lang="en-IN" dirty="0"/>
          </a:p>
          <a:p>
            <a:pPr marL="285750" indent="-285750">
              <a:buFont typeface="Wingdings" panose="05000000000000000000" pitchFamily="2" charset="2"/>
              <a:buChar char="v"/>
            </a:pPr>
            <a:r>
              <a:rPr lang="en-IN" dirty="0" err="1"/>
              <a:t>UnsatisfiedLinkError</a:t>
            </a:r>
            <a:endParaRPr lang="en-IN" dirty="0"/>
          </a:p>
          <a:p>
            <a:pPr marL="285750" indent="-285750">
              <a:buFont typeface="Wingdings" panose="05000000000000000000" pitchFamily="2" charset="2"/>
              <a:buChar char="v"/>
            </a:pPr>
            <a:r>
              <a:rPr lang="en-IN" dirty="0" err="1"/>
              <a:t>ClassCircularityError</a:t>
            </a:r>
            <a:endParaRPr lang="en-IN" dirty="0"/>
          </a:p>
          <a:p>
            <a:pPr marL="285750" indent="-285750">
              <a:buFont typeface="Wingdings" panose="05000000000000000000" pitchFamily="2" charset="2"/>
              <a:buChar char="v"/>
            </a:pPr>
            <a:r>
              <a:rPr lang="en-IN" dirty="0" err="1"/>
              <a:t>ClassFormatError</a:t>
            </a:r>
            <a:endParaRPr lang="en-IN" dirty="0"/>
          </a:p>
          <a:p>
            <a:pPr marL="285750" indent="-285750">
              <a:buFont typeface="Wingdings" panose="05000000000000000000" pitchFamily="2" charset="2"/>
              <a:buChar char="v"/>
            </a:pPr>
            <a:r>
              <a:rPr lang="en-IN" dirty="0" err="1"/>
              <a:t>NoSuchFieldError</a:t>
            </a:r>
            <a:endParaRPr lang="en-IN" dirty="0"/>
          </a:p>
          <a:p>
            <a:pPr marL="285750" indent="-285750">
              <a:buFont typeface="Wingdings" panose="05000000000000000000" pitchFamily="2" charset="2"/>
              <a:buChar char="v"/>
            </a:pPr>
            <a:r>
              <a:rPr lang="en-IN" dirty="0" err="1"/>
              <a:t>NoSuchClassError</a:t>
            </a:r>
            <a:endParaRPr lang="en-IN" dirty="0"/>
          </a:p>
          <a:p>
            <a:pPr marL="285750" indent="-285750">
              <a:buFont typeface="Wingdings" panose="05000000000000000000" pitchFamily="2" charset="2"/>
              <a:buChar char="v"/>
            </a:pPr>
            <a:r>
              <a:rPr lang="en-IN" dirty="0" err="1"/>
              <a:t>NoSuchMethodError</a:t>
            </a:r>
            <a:r>
              <a:rPr lang="en-IN" dirty="0"/>
              <a:t> </a:t>
            </a:r>
          </a:p>
        </p:txBody>
      </p:sp>
      <p:sp>
        <p:nvSpPr>
          <p:cNvPr id="2" name="Footer Placeholder 1">
            <a:extLst>
              <a:ext uri="{FF2B5EF4-FFF2-40B4-BE49-F238E27FC236}">
                <a16:creationId xmlns:a16="http://schemas.microsoft.com/office/drawing/2014/main" id="{7B22C5E6-7981-B760-FE9E-D80C3BB0C52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5358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285750" y="824283"/>
            <a:ext cx="8871697" cy="5355312"/>
          </a:xfrm>
          <a:prstGeom prst="rect">
            <a:avLst/>
          </a:prstGeom>
          <a:noFill/>
        </p:spPr>
        <p:txBody>
          <a:bodyPr wrap="square" rtlCol="0">
            <a:spAutoFit/>
          </a:bodyPr>
          <a:lstStyle/>
          <a:p>
            <a:r>
              <a:rPr lang="en-US" b="1" dirty="0" err="1">
                <a:solidFill>
                  <a:srgbClr val="0000FF"/>
                </a:solidFill>
                <a:latin typeface="Arial" panose="020B0604020202020204" pitchFamily="34" charset="0"/>
                <a:cs typeface="Arial" panose="020B0604020202020204" pitchFamily="34" charset="0"/>
              </a:rPr>
              <a:t>NoSuchMethodError</a:t>
            </a:r>
            <a:r>
              <a:rPr lang="en-US" b="1" dirty="0">
                <a:solidFill>
                  <a:srgbClr val="0000FF"/>
                </a:solidFill>
                <a:latin typeface="Arial" panose="020B0604020202020204" pitchFamily="34" charset="0"/>
                <a:cs typeface="Arial" panose="020B0604020202020204" pitchFamily="34" charset="0"/>
              </a:rPr>
              <a:t> Example:</a:t>
            </a:r>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class A {</a:t>
            </a:r>
          </a:p>
          <a:p>
            <a:r>
              <a:rPr lang="en-US" dirty="0">
                <a:solidFill>
                  <a:srgbClr val="0000FF"/>
                </a:solidFill>
                <a:latin typeface="Arial" panose="020B0604020202020204" pitchFamily="34" charset="0"/>
                <a:cs typeface="Arial" panose="020B0604020202020204" pitchFamily="34" charset="0"/>
              </a:rPr>
              <a:t>		p v m1() {} </a:t>
            </a:r>
          </a:p>
          <a:p>
            <a:r>
              <a:rPr lang="en-US" dirty="0">
                <a:solidFill>
                  <a:srgbClr val="0000FF"/>
                </a:solidFill>
                <a:latin typeface="Arial" panose="020B0604020202020204" pitchFamily="34" charset="0"/>
                <a:cs typeface="Arial" panose="020B0604020202020204" pitchFamily="34" charset="0"/>
              </a:rPr>
              <a:t>		p v m2() {}</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class </a:t>
            </a:r>
            <a:r>
              <a:rPr lang="en-US" dirty="0" err="1">
                <a:solidFill>
                  <a:srgbClr val="0000FF"/>
                </a:solidFill>
                <a:latin typeface="Arial" panose="020B0604020202020204" pitchFamily="34" charset="0"/>
                <a:cs typeface="Arial" panose="020B0604020202020204" pitchFamily="34" charset="0"/>
              </a:rPr>
              <a:t>AClient</a:t>
            </a:r>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p s v m() {</a:t>
            </a:r>
          </a:p>
          <a:p>
            <a:r>
              <a:rPr lang="en-US" dirty="0">
                <a:solidFill>
                  <a:srgbClr val="0000FF"/>
                </a:solidFill>
                <a:latin typeface="Arial" panose="020B0604020202020204" pitchFamily="34" charset="0"/>
                <a:cs typeface="Arial" panose="020B0604020202020204" pitchFamily="34" charset="0"/>
              </a:rPr>
              <a:t>			A a=new A();</a:t>
            </a:r>
          </a:p>
          <a:p>
            <a:r>
              <a:rPr lang="en-US" dirty="0">
                <a:solidFill>
                  <a:srgbClr val="0000FF"/>
                </a:solidFill>
                <a:latin typeface="Arial" panose="020B0604020202020204" pitchFamily="34" charset="0"/>
                <a:cs typeface="Arial" panose="020B0604020202020204" pitchFamily="34" charset="0"/>
              </a:rPr>
              <a:t>			a.m1();</a:t>
            </a:r>
          </a:p>
          <a:p>
            <a:r>
              <a:rPr lang="en-US" dirty="0">
                <a:solidFill>
                  <a:srgbClr val="0000FF"/>
                </a:solidFill>
                <a:latin typeface="Arial" panose="020B0604020202020204" pitchFamily="34" charset="0"/>
                <a:cs typeface="Arial" panose="020B0604020202020204" pitchFamily="34" charset="0"/>
              </a:rPr>
              <a:t>			a.m2();</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javac</a:t>
            </a:r>
            <a:r>
              <a:rPr lang="en-US" dirty="0">
                <a:solidFill>
                  <a:srgbClr val="0000FF"/>
                </a:solidFill>
                <a:latin typeface="Arial" panose="020B0604020202020204" pitchFamily="34" charset="0"/>
                <a:cs typeface="Arial" panose="020B0604020202020204" pitchFamily="34" charset="0"/>
              </a:rPr>
              <a:t> AClient.java</a:t>
            </a:r>
          </a:p>
          <a:p>
            <a:r>
              <a:rPr lang="en-US" dirty="0">
                <a:solidFill>
                  <a:srgbClr val="0000FF"/>
                </a:solidFill>
                <a:latin typeface="Arial" panose="020B0604020202020204" pitchFamily="34" charset="0"/>
                <a:cs typeface="Arial" panose="020B0604020202020204" pitchFamily="34" charset="0"/>
              </a:rPr>
              <a:t>	java </a:t>
            </a:r>
            <a:r>
              <a:rPr lang="en-US" dirty="0" err="1">
                <a:solidFill>
                  <a:srgbClr val="0000FF"/>
                </a:solidFill>
                <a:latin typeface="Arial" panose="020B0604020202020204" pitchFamily="34" charset="0"/>
                <a:cs typeface="Arial" panose="020B0604020202020204" pitchFamily="34" charset="0"/>
              </a:rPr>
              <a:t>AClient</a:t>
            </a:r>
            <a:endParaRPr lang="en-US" dirty="0">
              <a:solidFill>
                <a:srgbClr val="0000FF"/>
              </a:solidFill>
              <a:latin typeface="Arial" panose="020B0604020202020204" pitchFamily="34" charset="0"/>
              <a:cs typeface="Arial" panose="020B0604020202020204" pitchFamily="34" charset="0"/>
            </a:endParaRPr>
          </a:p>
          <a:p>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open class A, remove m1() method, recompile class A (</a:t>
            </a:r>
            <a:r>
              <a:rPr lang="en-US" dirty="0" err="1">
                <a:solidFill>
                  <a:srgbClr val="0000FF"/>
                </a:solidFill>
                <a:latin typeface="Arial" panose="020B0604020202020204" pitchFamily="34" charset="0"/>
                <a:cs typeface="Arial" panose="020B0604020202020204" pitchFamily="34" charset="0"/>
              </a:rPr>
              <a:t>javac</a:t>
            </a:r>
            <a:r>
              <a:rPr lang="en-US" dirty="0">
                <a:solidFill>
                  <a:srgbClr val="0000FF"/>
                </a:solidFill>
                <a:latin typeface="Arial" panose="020B0604020202020204" pitchFamily="34" charset="0"/>
                <a:cs typeface="Arial" panose="020B0604020202020204" pitchFamily="34" charset="0"/>
              </a:rPr>
              <a:t> A.java), now you run </a:t>
            </a:r>
            <a:r>
              <a:rPr lang="en-US" dirty="0" err="1">
                <a:solidFill>
                  <a:srgbClr val="0000FF"/>
                </a:solidFill>
                <a:latin typeface="Arial" panose="020B0604020202020204" pitchFamily="34" charset="0"/>
                <a:cs typeface="Arial" panose="020B0604020202020204" pitchFamily="34" charset="0"/>
              </a:rPr>
              <a:t>AClient</a:t>
            </a:r>
            <a:r>
              <a:rPr lang="en-US" dirty="0">
                <a:solidFill>
                  <a:srgbClr val="0000FF"/>
                </a:solidFill>
                <a:latin typeface="Arial" panose="020B0604020202020204" pitchFamily="34" charset="0"/>
                <a:cs typeface="Arial" panose="020B0604020202020204" pitchFamily="34" charset="0"/>
              </a:rPr>
              <a:t> (java </a:t>
            </a:r>
            <a:r>
              <a:rPr lang="en-US" dirty="0" err="1">
                <a:solidFill>
                  <a:srgbClr val="0000FF"/>
                </a:solidFill>
                <a:latin typeface="Arial" panose="020B0604020202020204" pitchFamily="34" charset="0"/>
                <a:cs typeface="Arial" panose="020B0604020202020204" pitchFamily="34" charset="0"/>
              </a:rPr>
              <a:t>AClient</a:t>
            </a:r>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NoSuchMethodError</a:t>
            </a:r>
            <a:r>
              <a:rPr lang="en-US" dirty="0">
                <a:solidFill>
                  <a:srgbClr val="0000FF"/>
                </a:solidFill>
                <a:latin typeface="Arial" panose="020B0604020202020204" pitchFamily="34" charset="0"/>
                <a:cs typeface="Arial" panose="020B0604020202020204" pitchFamily="34" charset="0"/>
              </a:rPr>
              <a:t> comes. The solution is ask class A to resume m1() or we must stop calling a.m1() in </a:t>
            </a:r>
            <a:r>
              <a:rPr lang="en-US" dirty="0" err="1">
                <a:solidFill>
                  <a:srgbClr val="0000FF"/>
                </a:solidFill>
                <a:latin typeface="Arial" panose="020B0604020202020204" pitchFamily="34" charset="0"/>
                <a:cs typeface="Arial" panose="020B0604020202020204" pitchFamily="34" charset="0"/>
              </a:rPr>
              <a:t>AClient</a:t>
            </a:r>
            <a:r>
              <a:rPr lang="en-US" dirty="0">
                <a:solidFill>
                  <a:srgbClr val="0000FF"/>
                </a:solidFill>
                <a:latin typeface="Arial" panose="020B0604020202020204" pitchFamily="34" charset="0"/>
                <a:cs typeface="Arial" panose="020B0604020202020204" pitchFamily="34" charset="0"/>
              </a:rPr>
              <a:t>. recompile </a:t>
            </a:r>
            <a:r>
              <a:rPr lang="en-US" dirty="0" err="1">
                <a:solidFill>
                  <a:srgbClr val="0000FF"/>
                </a:solidFill>
                <a:latin typeface="Arial" panose="020B0604020202020204" pitchFamily="34" charset="0"/>
                <a:cs typeface="Arial" panose="020B0604020202020204" pitchFamily="34" charset="0"/>
              </a:rPr>
              <a:t>AClient</a:t>
            </a:r>
            <a:r>
              <a:rPr lang="en-US" dirty="0">
                <a:solidFill>
                  <a:srgbClr val="0000FF"/>
                </a:solidFill>
                <a:latin typeface="Arial" panose="020B0604020202020204" pitchFamily="34" charset="0"/>
                <a:cs typeface="Arial" panose="020B0604020202020204" pitchFamily="34" charset="0"/>
              </a:rPr>
              <a:t> and run.</a:t>
            </a:r>
          </a:p>
        </p:txBody>
      </p:sp>
      <p:sp>
        <p:nvSpPr>
          <p:cNvPr id="7" name="Footer Placeholder 6">
            <a:extLst>
              <a:ext uri="{FF2B5EF4-FFF2-40B4-BE49-F238E27FC236}">
                <a16:creationId xmlns:a16="http://schemas.microsoft.com/office/drawing/2014/main" id="{F298FBE2-49BF-2A11-CC75-6DA3530B25B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1164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B2E4E374-1DB3-7B34-BE1A-E914460427DB}"/>
              </a:ext>
            </a:extLst>
          </p:cNvPr>
          <p:cNvSpPr txBox="1"/>
          <p:nvPr/>
        </p:nvSpPr>
        <p:spPr>
          <a:xfrm>
            <a:off x="571500" y="1187013"/>
            <a:ext cx="8633012" cy="4401205"/>
          </a:xfrm>
          <a:prstGeom prst="rect">
            <a:avLst/>
          </a:prstGeom>
          <a:noFill/>
        </p:spPr>
        <p:txBody>
          <a:bodyPr wrap="square">
            <a:spAutoFit/>
          </a:bodyPr>
          <a:lstStyle/>
          <a:p>
            <a:pPr algn="just"/>
            <a:r>
              <a:rPr lang="en-IN" sz="2000" b="1" dirty="0" err="1">
                <a:solidFill>
                  <a:srgbClr val="0000FF"/>
                </a:solidFill>
              </a:rPr>
              <a:t>OutOfMemoryError</a:t>
            </a:r>
            <a:endParaRPr lang="en-IN" sz="2000" b="1" dirty="0">
              <a:solidFill>
                <a:srgbClr val="0000FF"/>
              </a:solidFill>
            </a:endParaRPr>
          </a:p>
          <a:p>
            <a:pPr algn="just"/>
            <a:r>
              <a:rPr lang="en-IN" sz="2000" dirty="0">
                <a:solidFill>
                  <a:srgbClr val="0000FF"/>
                </a:solidFill>
              </a:rPr>
              <a:t>	</a:t>
            </a:r>
            <a:r>
              <a:rPr lang="en-IN" sz="2000" dirty="0" err="1">
                <a:solidFill>
                  <a:srgbClr val="0000FF"/>
                </a:solidFill>
              </a:rPr>
              <a:t>OutOfMemoryError</a:t>
            </a:r>
            <a:r>
              <a:rPr lang="en-IN" sz="2000" dirty="0">
                <a:solidFill>
                  <a:srgbClr val="0000FF"/>
                </a:solidFill>
              </a:rPr>
              <a:t> exception. Usually, this error is thrown when there is insufficient space to allocate an object in the Java heap. In this case, The garbage collector cannot make space available to accommodate a new object, and the heap cannot be expanded further. To increase java heap memory during program execution, type as</a:t>
            </a:r>
          </a:p>
          <a:p>
            <a:pPr algn="just"/>
            <a:r>
              <a:rPr lang="en-IN" sz="2000" dirty="0">
                <a:solidFill>
                  <a:srgbClr val="0000FF"/>
                </a:solidFill>
              </a:rPr>
              <a:t>		</a:t>
            </a:r>
          </a:p>
          <a:p>
            <a:pPr algn="just"/>
            <a:r>
              <a:rPr lang="en-IN" sz="2000" dirty="0">
                <a:solidFill>
                  <a:srgbClr val="0000FF"/>
                </a:solidFill>
              </a:rPr>
              <a:t>		java -Xms16m -Xmx64m </a:t>
            </a:r>
            <a:r>
              <a:rPr lang="en-IN" sz="2000" dirty="0" err="1">
                <a:solidFill>
                  <a:srgbClr val="0000FF"/>
                </a:solidFill>
              </a:rPr>
              <a:t>JavaClassName</a:t>
            </a:r>
            <a:endParaRPr lang="en-IN" sz="2000" dirty="0">
              <a:solidFill>
                <a:srgbClr val="0000FF"/>
              </a:solidFill>
            </a:endParaRPr>
          </a:p>
          <a:p>
            <a:pPr algn="just"/>
            <a:r>
              <a:rPr lang="en-IN" sz="2000" dirty="0">
                <a:solidFill>
                  <a:srgbClr val="0000FF"/>
                </a:solidFill>
              </a:rPr>
              <a:t>	</a:t>
            </a:r>
          </a:p>
          <a:p>
            <a:pPr algn="just"/>
            <a:r>
              <a:rPr lang="en-IN" sz="2000" b="1" dirty="0" err="1">
                <a:solidFill>
                  <a:srgbClr val="0000FF"/>
                </a:solidFill>
              </a:rPr>
              <a:t>StackOverflowError</a:t>
            </a:r>
            <a:endParaRPr lang="en-IN" sz="2000" b="1" dirty="0">
              <a:solidFill>
                <a:srgbClr val="0000FF"/>
              </a:solidFill>
            </a:endParaRPr>
          </a:p>
          <a:p>
            <a:pPr algn="just"/>
            <a:r>
              <a:rPr lang="en-IN" sz="2000" dirty="0">
                <a:solidFill>
                  <a:srgbClr val="0000FF"/>
                </a:solidFill>
              </a:rPr>
              <a:t>	A </a:t>
            </a:r>
            <a:r>
              <a:rPr lang="en-IN" sz="2000" dirty="0" err="1">
                <a:solidFill>
                  <a:srgbClr val="0000FF"/>
                </a:solidFill>
              </a:rPr>
              <a:t>StackOverflowError</a:t>
            </a:r>
            <a:r>
              <a:rPr lang="en-IN" sz="2000" dirty="0">
                <a:solidFill>
                  <a:srgbClr val="0000FF"/>
                </a:solidFill>
              </a:rPr>
              <a:t> is a runtime error in java. It is thrown when the amount of call stack memory allocated by JVM is exceeded. A common case of a </a:t>
            </a:r>
            <a:r>
              <a:rPr lang="en-IN" sz="2000" dirty="0" err="1">
                <a:solidFill>
                  <a:srgbClr val="0000FF"/>
                </a:solidFill>
              </a:rPr>
              <a:t>StackOverflowError</a:t>
            </a:r>
            <a:r>
              <a:rPr lang="en-IN" sz="2000" dirty="0">
                <a:solidFill>
                  <a:srgbClr val="0000FF"/>
                </a:solidFill>
              </a:rPr>
              <a:t> being thrown, is when call stack exceeds due to excessive deep or infinite recursion.</a:t>
            </a:r>
          </a:p>
        </p:txBody>
      </p:sp>
      <p:sp>
        <p:nvSpPr>
          <p:cNvPr id="7" name="Footer Placeholder 6">
            <a:extLst>
              <a:ext uri="{FF2B5EF4-FFF2-40B4-BE49-F238E27FC236}">
                <a16:creationId xmlns:a16="http://schemas.microsoft.com/office/drawing/2014/main" id="{B1BF0A57-8DE4-CBD3-B9FA-F97ACFB4099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794321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b="1" dirty="0">
                  <a:solidFill>
                    <a:schemeClr val="bg1"/>
                  </a:solidFill>
                  <a:latin typeface="Bookman Old Style" panose="02050604050505020204" pitchFamily="18" charset="0"/>
                </a:rPr>
                <a:t>Exceptions and Exception Handling</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7" name="TextBox 26">
            <a:extLst>
              <a:ext uri="{FF2B5EF4-FFF2-40B4-BE49-F238E27FC236}">
                <a16:creationId xmlns:a16="http://schemas.microsoft.com/office/drawing/2014/main" id="{1CA9E27B-21BF-4C5F-B264-677E6394AC86}"/>
              </a:ext>
            </a:extLst>
          </p:cNvPr>
          <p:cNvSpPr txBox="1"/>
          <p:nvPr/>
        </p:nvSpPr>
        <p:spPr>
          <a:xfrm>
            <a:off x="285750" y="824283"/>
            <a:ext cx="10953896" cy="1631216"/>
          </a:xfrm>
          <a:prstGeom prst="rect">
            <a:avLst/>
          </a:prstGeom>
          <a:noFill/>
        </p:spPr>
        <p:txBody>
          <a:bodyPr wrap="none" rtlCol="0">
            <a:spAutoFit/>
          </a:bodyPr>
          <a:lstStyle/>
          <a:p>
            <a:r>
              <a:rPr lang="en-US" sz="2000" u="sng" dirty="0">
                <a:solidFill>
                  <a:srgbClr val="0000FF"/>
                </a:solidFill>
                <a:latin typeface="Arial" panose="020B0604020202020204" pitchFamily="34" charset="0"/>
                <a:cs typeface="Arial" panose="020B0604020202020204" pitchFamily="34" charset="0"/>
              </a:rPr>
              <a:t>Exception:</a:t>
            </a:r>
          </a:p>
          <a:p>
            <a:pPr marL="800100" lvl="1" indent="-342900">
              <a:buFont typeface="Wingdings" panose="05000000000000000000" pitchFamily="2" charset="2"/>
              <a:buChar char="ü"/>
            </a:pPr>
            <a:r>
              <a:rPr lang="en-US" sz="2000" dirty="0" err="1">
                <a:solidFill>
                  <a:srgbClr val="0000FF"/>
                </a:solidFill>
                <a:latin typeface="Arial" panose="020B0604020202020204" pitchFamily="34" charset="0"/>
                <a:cs typeface="Arial" panose="020B0604020202020204" pitchFamily="34" charset="0"/>
              </a:rPr>
              <a:t>CheckedException</a:t>
            </a:r>
            <a:r>
              <a:rPr lang="en-US" sz="2000" dirty="0">
                <a:solidFill>
                  <a:srgbClr val="0000FF"/>
                </a:solidFill>
                <a:latin typeface="Arial" panose="020B0604020202020204" pitchFamily="34" charset="0"/>
                <a:cs typeface="Arial" panose="020B0604020202020204" pitchFamily="34" charset="0"/>
              </a:rPr>
              <a:t>/Compile time detected Exception</a:t>
            </a:r>
          </a:p>
          <a:p>
            <a:pPr marL="800100" lvl="1" indent="-342900">
              <a:buFont typeface="Wingdings" panose="05000000000000000000" pitchFamily="2" charset="2"/>
              <a:buChar char="ü"/>
            </a:pPr>
            <a:r>
              <a:rPr lang="en-US" sz="2000" dirty="0" err="1">
                <a:solidFill>
                  <a:srgbClr val="0000FF"/>
                </a:solidFill>
                <a:latin typeface="Arial" panose="020B0604020202020204" pitchFamily="34" charset="0"/>
                <a:cs typeface="Arial" panose="020B0604020202020204" pitchFamily="34" charset="0"/>
              </a:rPr>
              <a:t>UncheckedException</a:t>
            </a:r>
            <a:r>
              <a:rPr lang="en-US" sz="2000" dirty="0">
                <a:solidFill>
                  <a:srgbClr val="0000FF"/>
                </a:solidFill>
                <a:latin typeface="Arial" panose="020B0604020202020204" pitchFamily="34" charset="0"/>
                <a:cs typeface="Arial" panose="020B0604020202020204" pitchFamily="34" charset="0"/>
              </a:rPr>
              <a:t>/Runtime time detected Exception</a:t>
            </a:r>
          </a:p>
          <a:p>
            <a:endParaRPr lang="en-US" sz="2000" dirty="0">
              <a:solidFill>
                <a:srgbClr val="0000FF"/>
              </a:solidFill>
              <a:latin typeface="Arial" panose="020B0604020202020204" pitchFamily="34" charset="0"/>
              <a:cs typeface="Arial" panose="020B0604020202020204" pitchFamily="34" charset="0"/>
            </a:endParaRPr>
          </a:p>
          <a:p>
            <a:r>
              <a:rPr lang="en-US" sz="2000" dirty="0">
                <a:solidFill>
                  <a:srgbClr val="0000FF"/>
                </a:solidFill>
                <a:latin typeface="Arial" panose="020B0604020202020204" pitchFamily="34" charset="0"/>
                <a:cs typeface="Arial" panose="020B0604020202020204" pitchFamily="34" charset="0"/>
              </a:rPr>
              <a:t>Exceptions always raises at runtime. Abnormal condition raised in the program is an Exception.</a:t>
            </a:r>
          </a:p>
        </p:txBody>
      </p:sp>
      <p:sp>
        <p:nvSpPr>
          <p:cNvPr id="2" name="Footer Placeholder 1">
            <a:extLst>
              <a:ext uri="{FF2B5EF4-FFF2-40B4-BE49-F238E27FC236}">
                <a16:creationId xmlns:a16="http://schemas.microsoft.com/office/drawing/2014/main" id="{B21D3622-18CD-9E0E-258B-1B20497C438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3508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42BBEC7-9B24-4B29-8AC8-7DA4FE31D11A}"/>
              </a:ext>
            </a:extLst>
          </p:cNvPr>
          <p:cNvGrpSpPr/>
          <p:nvPr/>
        </p:nvGrpSpPr>
        <p:grpSpPr>
          <a:xfrm>
            <a:off x="2984500" y="0"/>
            <a:ext cx="9207500" cy="6858000"/>
            <a:chOff x="2984500" y="0"/>
            <a:chExt cx="9207500" cy="6858000"/>
          </a:xfrm>
        </p:grpSpPr>
        <p:sp>
          <p:nvSpPr>
            <p:cNvPr id="2" name="Rectangle: Top Corners Rounded 1">
              <a:extLst>
                <a:ext uri="{FF2B5EF4-FFF2-40B4-BE49-F238E27FC236}">
                  <a16:creationId xmlns:a16="http://schemas.microsoft.com/office/drawing/2014/main" id="{2F21D5CB-8D83-489E-A8D5-0914A1FA0E53}"/>
                </a:ext>
              </a:extLst>
            </p:cNvPr>
            <p:cNvSpPr/>
            <p:nvPr/>
          </p:nvSpPr>
          <p:spPr>
            <a:xfrm>
              <a:off x="2984500" y="0"/>
              <a:ext cx="5803900" cy="704850"/>
            </a:xfrm>
            <a:prstGeom prst="round2SameRect">
              <a:avLst>
                <a:gd name="adj1" fmla="val 36087"/>
                <a:gd name="adj2" fmla="val 0"/>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b="1" dirty="0">
                  <a:solidFill>
                    <a:schemeClr val="bg1"/>
                  </a:solidFill>
                  <a:latin typeface="Bookman Old Style" panose="02050604050505020204" pitchFamily="18" charset="0"/>
                </a:rPr>
                <a:t>Exceptions and Exception Handling</a:t>
              </a:r>
            </a:p>
          </p:txBody>
        </p:sp>
        <p:grpSp>
          <p:nvGrpSpPr>
            <p:cNvPr id="7" name="Group 6">
              <a:extLst>
                <a:ext uri="{FF2B5EF4-FFF2-40B4-BE49-F238E27FC236}">
                  <a16:creationId xmlns:a16="http://schemas.microsoft.com/office/drawing/2014/main" id="{28F4983B-6C95-4254-80DC-829F0BD7B620}"/>
                </a:ext>
              </a:extLst>
            </p:cNvPr>
            <p:cNvGrpSpPr/>
            <p:nvPr/>
          </p:nvGrpSpPr>
          <p:grpSpPr>
            <a:xfrm>
              <a:off x="10763250" y="0"/>
              <a:ext cx="1428750" cy="1416050"/>
              <a:chOff x="10763250" y="0"/>
              <a:chExt cx="1428750" cy="1416050"/>
            </a:xfrm>
          </p:grpSpPr>
          <p:sp>
            <p:nvSpPr>
              <p:cNvPr id="3" name="Star: 10 Points 2">
                <a:extLst>
                  <a:ext uri="{FF2B5EF4-FFF2-40B4-BE49-F238E27FC236}">
                    <a16:creationId xmlns:a16="http://schemas.microsoft.com/office/drawing/2014/main" id="{2125074D-F2AD-4CDA-B232-556A538E7052}"/>
                  </a:ext>
                </a:extLst>
              </p:cNvPr>
              <p:cNvSpPr/>
              <p:nvPr/>
            </p:nvSpPr>
            <p:spPr>
              <a:xfrm>
                <a:off x="10763250" y="0"/>
                <a:ext cx="1428750" cy="1416050"/>
              </a:xfrm>
              <a:prstGeom prst="star10">
                <a:avLst>
                  <a:gd name="adj" fmla="val 40291"/>
                  <a:gd name="hf" fmla="val 105146"/>
                </a:avLst>
              </a:prstGeom>
              <a:gradFill>
                <a:gsLst>
                  <a:gs pos="0">
                    <a:srgbClr val="FF9933"/>
                  </a:gs>
                  <a:gs pos="36657">
                    <a:srgbClr val="FF5050"/>
                  </a:gs>
                  <a:gs pos="77153">
                    <a:srgbClr val="C00000"/>
                  </a:gs>
                </a:gsLst>
              </a:gradFill>
              <a:ln w="12700">
                <a:miter lim="400000"/>
              </a:ln>
              <a:scene3d>
                <a:camera prst="orthographicFront"/>
                <a:lightRig rig="threePt" dir="t"/>
              </a:scene3d>
              <a:sp3d>
                <a:bevelT prst="slope"/>
              </a:sp3d>
            </p:spPr>
            <p:txBody>
              <a:bodyPr lIns="45718" tIns="45718" rIns="45718" bIns="45718" anchor="ctr"/>
              <a:lstStyle/>
              <a:p>
                <a:pPr algn="ctr"/>
                <a:endParaRPr lang="en-US">
                  <a:solidFill>
                    <a:srgbClr val="FFFFFF"/>
                  </a:solidFill>
                </a:endParaRPr>
              </a:p>
            </p:txBody>
          </p:sp>
          <p:pic>
            <p:nvPicPr>
              <p:cNvPr id="4" name="Picture 3">
                <a:extLst>
                  <a:ext uri="{FF2B5EF4-FFF2-40B4-BE49-F238E27FC236}">
                    <a16:creationId xmlns:a16="http://schemas.microsoft.com/office/drawing/2014/main" id="{4D4523C6-7161-49A7-843D-CEB5A84B0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01130" y="292769"/>
                <a:ext cx="752990" cy="82416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Rectangle 4">
              <a:extLst>
                <a:ext uri="{FF2B5EF4-FFF2-40B4-BE49-F238E27FC236}">
                  <a16:creationId xmlns:a16="http://schemas.microsoft.com/office/drawing/2014/main" id="{F232EA7C-96FC-445C-9469-5B82D2FB55AD}"/>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grpSp>
      <p:sp>
        <p:nvSpPr>
          <p:cNvPr id="9" name="TextBox 8">
            <a:extLst>
              <a:ext uri="{FF2B5EF4-FFF2-40B4-BE49-F238E27FC236}">
                <a16:creationId xmlns:a16="http://schemas.microsoft.com/office/drawing/2014/main" id="{587FAE38-A057-454A-9D2B-97FA83295286}"/>
              </a:ext>
            </a:extLst>
          </p:cNvPr>
          <p:cNvSpPr txBox="1"/>
          <p:nvPr/>
        </p:nvSpPr>
        <p:spPr>
          <a:xfrm>
            <a:off x="231964" y="972201"/>
            <a:ext cx="8872104" cy="4093428"/>
          </a:xfrm>
          <a:prstGeom prst="rect">
            <a:avLst/>
          </a:prstGeom>
          <a:noFill/>
        </p:spPr>
        <p:txBody>
          <a:bodyPr wrap="square" rtlCol="0">
            <a:spAutoFit/>
          </a:bodyPr>
          <a:lstStyle/>
          <a:p>
            <a:pPr algn="just"/>
            <a:r>
              <a:rPr lang="en-US" sz="2000" u="sng" dirty="0" err="1">
                <a:solidFill>
                  <a:srgbClr val="0000FF"/>
                </a:solidFill>
                <a:latin typeface="Arial" panose="020B0604020202020204" pitchFamily="34" charset="0"/>
                <a:cs typeface="Arial" panose="020B0604020202020204" pitchFamily="34" charset="0"/>
              </a:rPr>
              <a:t>UncheckedException</a:t>
            </a:r>
            <a:r>
              <a:rPr lang="en-US" sz="2000" u="sng" dirty="0">
                <a:solidFill>
                  <a:srgbClr val="0000FF"/>
                </a:solidFill>
                <a:latin typeface="Arial" panose="020B0604020202020204" pitchFamily="34" charset="0"/>
                <a:cs typeface="Arial" panose="020B0604020202020204" pitchFamily="34" charset="0"/>
              </a:rPr>
              <a:t>/Runtime time detected Exception:</a:t>
            </a:r>
          </a:p>
          <a:p>
            <a:pPr marL="342900" indent="-342900" algn="just">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ArrayIndexOutOfBoundsException</a:t>
            </a:r>
            <a:endParaRPr lang="en-US" sz="2000" dirty="0">
              <a:solidFill>
                <a:srgbClr val="0000FF"/>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NullPointerException</a:t>
            </a:r>
            <a:endParaRPr lang="en-US" sz="2000" dirty="0">
              <a:solidFill>
                <a:srgbClr val="0000FF"/>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ArithmeticException</a:t>
            </a:r>
          </a:p>
          <a:p>
            <a:pPr marL="342900" indent="-342900" algn="just">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NumberFormatException</a:t>
            </a:r>
            <a:endParaRPr lang="en-US" sz="2000" dirty="0">
              <a:solidFill>
                <a:srgbClr val="0000FF"/>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IllegalArgumentException</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err="1">
                <a:solidFill>
                  <a:srgbClr val="0000FF"/>
                </a:solidFill>
                <a:latin typeface="Arial" panose="020B0604020202020204" pitchFamily="34" charset="0"/>
                <a:cs typeface="Arial" panose="020B0604020202020204" pitchFamily="34" charset="0"/>
              </a:rPr>
              <a:t>UncheckedExceptions</a:t>
            </a:r>
            <a:r>
              <a:rPr lang="en-US" sz="2000" dirty="0">
                <a:solidFill>
                  <a:srgbClr val="0000FF"/>
                </a:solidFill>
                <a:latin typeface="Arial" panose="020B0604020202020204" pitchFamily="34" charset="0"/>
                <a:cs typeface="Arial" panose="020B0604020202020204" pitchFamily="34" charset="0"/>
              </a:rPr>
              <a:t> raises at runtime but are not detected at compile time. Because of user input wrong / user written logic is wrong </a:t>
            </a:r>
            <a:r>
              <a:rPr lang="en-US" sz="2000" dirty="0" err="1">
                <a:solidFill>
                  <a:srgbClr val="0000FF"/>
                </a:solidFill>
                <a:latin typeface="Arial" panose="020B0604020202020204" pitchFamily="34" charset="0"/>
                <a:cs typeface="Arial" panose="020B0604020202020204" pitchFamily="34" charset="0"/>
              </a:rPr>
              <a:t>UncheckedException</a:t>
            </a:r>
            <a:r>
              <a:rPr lang="en-US" sz="2000" dirty="0">
                <a:solidFill>
                  <a:srgbClr val="0000FF"/>
                </a:solidFill>
                <a:latin typeface="Arial" panose="020B0604020202020204" pitchFamily="34" charset="0"/>
                <a:cs typeface="Arial" panose="020B0604020202020204" pitchFamily="34" charset="0"/>
              </a:rPr>
              <a:t> may arise. No compiler or any mechanism can detect </a:t>
            </a:r>
            <a:r>
              <a:rPr lang="en-US" sz="2000" dirty="0" err="1">
                <a:solidFill>
                  <a:srgbClr val="0000FF"/>
                </a:solidFill>
                <a:latin typeface="Arial" panose="020B0604020202020204" pitchFamily="34" charset="0"/>
                <a:cs typeface="Arial" panose="020B0604020202020204" pitchFamily="34" charset="0"/>
              </a:rPr>
              <a:t>UncheckedException</a:t>
            </a:r>
            <a:r>
              <a:rPr lang="en-US" sz="2000" dirty="0">
                <a:solidFill>
                  <a:srgbClr val="0000FF"/>
                </a:solidFill>
                <a:latin typeface="Arial" panose="020B0604020202020204" pitchFamily="34" charset="0"/>
                <a:cs typeface="Arial" panose="020B0604020202020204" pitchFamily="34" charset="0"/>
              </a:rPr>
              <a:t> at compile time, such Exceptions raises at runtime. Developers must experience such </a:t>
            </a:r>
            <a:r>
              <a:rPr lang="en-US" sz="2000" dirty="0" err="1">
                <a:solidFill>
                  <a:srgbClr val="0000FF"/>
                </a:solidFill>
                <a:latin typeface="Arial" panose="020B0604020202020204" pitchFamily="34" charset="0"/>
                <a:cs typeface="Arial" panose="020B0604020202020204" pitchFamily="34" charset="0"/>
              </a:rPr>
              <a:t>UncheckedExceptions</a:t>
            </a:r>
            <a:r>
              <a:rPr lang="en-US" sz="2000" dirty="0">
                <a:solidFill>
                  <a:srgbClr val="0000FF"/>
                </a:solidFill>
                <a:latin typeface="Arial" panose="020B0604020202020204" pitchFamily="34" charset="0"/>
                <a:cs typeface="Arial" panose="020B0604020202020204" pitchFamily="34" charset="0"/>
              </a:rPr>
              <a:t> and must handle such exceptions through Exception Handling.</a:t>
            </a:r>
          </a:p>
        </p:txBody>
      </p:sp>
      <p:sp>
        <p:nvSpPr>
          <p:cNvPr id="6" name="Footer Placeholder 5">
            <a:extLst>
              <a:ext uri="{FF2B5EF4-FFF2-40B4-BE49-F238E27FC236}">
                <a16:creationId xmlns:a16="http://schemas.microsoft.com/office/drawing/2014/main" id="{8377A0B9-A366-02DF-A8BA-1BBB9154DCC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83878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D4CE179-219B-46A3-88FD-BC782BF513DE}"/>
              </a:ext>
            </a:extLst>
          </p:cNvPr>
          <p:cNvSpPr txBox="1"/>
          <p:nvPr/>
        </p:nvSpPr>
        <p:spPr>
          <a:xfrm>
            <a:off x="285750" y="972200"/>
            <a:ext cx="9059956" cy="4708981"/>
          </a:xfrm>
          <a:prstGeom prst="rect">
            <a:avLst/>
          </a:prstGeom>
          <a:noFill/>
        </p:spPr>
        <p:txBody>
          <a:bodyPr wrap="square" rtlCol="0">
            <a:spAutoFit/>
          </a:bodyPr>
          <a:lstStyle/>
          <a:p>
            <a:r>
              <a:rPr lang="en-US" sz="2000" dirty="0">
                <a:solidFill>
                  <a:srgbClr val="0000FF"/>
                </a:solidFill>
                <a:latin typeface="Arial" panose="020B0604020202020204" pitchFamily="34" charset="0"/>
                <a:cs typeface="Arial" panose="020B0604020202020204" pitchFamily="34" charset="0"/>
              </a:rPr>
              <a:t>String </a:t>
            </a:r>
            <a:r>
              <a:rPr lang="en-US" sz="2000" dirty="0" err="1">
                <a:solidFill>
                  <a:srgbClr val="0000FF"/>
                </a:solidFill>
                <a:latin typeface="Arial" panose="020B0604020202020204" pitchFamily="34" charset="0"/>
                <a:cs typeface="Arial" panose="020B0604020202020204" pitchFamily="34" charset="0"/>
              </a:rPr>
              <a:t>sno</a:t>
            </a:r>
            <a:r>
              <a:rPr lang="en-US" sz="2000" dirty="0">
                <a:solidFill>
                  <a:srgbClr val="0000FF"/>
                </a:solidFill>
                <a:latin typeface="Arial" panose="020B0604020202020204" pitchFamily="34" charset="0"/>
                <a:cs typeface="Arial" panose="020B0604020202020204" pitchFamily="34" charset="0"/>
              </a:rPr>
              <a:t>="123 ";</a:t>
            </a:r>
          </a:p>
          <a:p>
            <a:r>
              <a:rPr lang="en-US" sz="2000" dirty="0">
                <a:solidFill>
                  <a:srgbClr val="0000FF"/>
                </a:solidFill>
                <a:latin typeface="Arial" panose="020B0604020202020204" pitchFamily="34" charset="0"/>
                <a:cs typeface="Arial" panose="020B0604020202020204" pitchFamily="34" charset="0"/>
              </a:rPr>
              <a:t>int </a:t>
            </a:r>
            <a:r>
              <a:rPr lang="en-US" sz="2000" dirty="0" err="1">
                <a:solidFill>
                  <a:srgbClr val="0000FF"/>
                </a:solidFill>
                <a:latin typeface="Arial" panose="020B0604020202020204" pitchFamily="34" charset="0"/>
                <a:cs typeface="Arial" panose="020B0604020202020204" pitchFamily="34" charset="0"/>
              </a:rPr>
              <a:t>isno</a:t>
            </a:r>
            <a:r>
              <a:rPr lang="en-US" sz="2000" dirty="0">
                <a:solidFill>
                  <a:srgbClr val="0000FF"/>
                </a:solidFill>
                <a:latin typeface="Arial" panose="020B0604020202020204" pitchFamily="34" charset="0"/>
                <a:cs typeface="Arial" panose="020B0604020202020204" pitchFamily="34" charset="0"/>
              </a:rPr>
              <a:t>=</a:t>
            </a:r>
            <a:r>
              <a:rPr lang="en-US" sz="2000" dirty="0" err="1">
                <a:solidFill>
                  <a:srgbClr val="0000FF"/>
                </a:solidFill>
                <a:latin typeface="Arial" panose="020B0604020202020204" pitchFamily="34" charset="0"/>
                <a:cs typeface="Arial" panose="020B0604020202020204" pitchFamily="34" charset="0"/>
              </a:rPr>
              <a:t>Integer.parseInt</a:t>
            </a:r>
            <a:r>
              <a:rPr lang="en-US" sz="2000" dirty="0">
                <a:solidFill>
                  <a:srgbClr val="0000FF"/>
                </a:solidFill>
                <a:latin typeface="Arial" panose="020B0604020202020204" pitchFamily="34" charset="0"/>
                <a:cs typeface="Arial" panose="020B0604020202020204" pitchFamily="34" charset="0"/>
              </a:rPr>
              <a:t>(</a:t>
            </a:r>
            <a:r>
              <a:rPr lang="en-US" sz="2000" dirty="0" err="1">
                <a:solidFill>
                  <a:srgbClr val="0000FF"/>
                </a:solidFill>
                <a:latin typeface="Arial" panose="020B0604020202020204" pitchFamily="34" charset="0"/>
                <a:cs typeface="Arial" panose="020B0604020202020204" pitchFamily="34" charset="0"/>
              </a:rPr>
              <a:t>sno</a:t>
            </a:r>
            <a:r>
              <a:rPr lang="en-US" sz="2000" dirty="0">
                <a:solidFill>
                  <a:srgbClr val="0000FF"/>
                </a:solidFill>
                <a:latin typeface="Arial" panose="020B0604020202020204" pitchFamily="34" charset="0"/>
                <a:cs typeface="Arial" panose="020B0604020202020204" pitchFamily="34" charset="0"/>
              </a:rPr>
              <a:t>); // </a:t>
            </a:r>
            <a:r>
              <a:rPr lang="en-US" sz="2000" dirty="0" err="1">
                <a:solidFill>
                  <a:srgbClr val="0000FF"/>
                </a:solidFill>
                <a:latin typeface="Arial" panose="020B0604020202020204" pitchFamily="34" charset="0"/>
                <a:cs typeface="Arial" panose="020B0604020202020204" pitchFamily="34" charset="0"/>
              </a:rPr>
              <a:t>NumberFormatException</a:t>
            </a:r>
            <a:endParaRPr lang="en-US" sz="2000" dirty="0">
              <a:solidFill>
                <a:srgbClr val="0000FF"/>
              </a:solidFill>
              <a:latin typeface="Arial" panose="020B0604020202020204" pitchFamily="34" charset="0"/>
              <a:cs typeface="Arial" panose="020B0604020202020204" pitchFamily="34" charset="0"/>
            </a:endParaRPr>
          </a:p>
          <a:p>
            <a:endParaRPr lang="en-US" sz="2000" dirty="0">
              <a:solidFill>
                <a:srgbClr val="0000FF"/>
              </a:solidFill>
              <a:latin typeface="Arial" panose="020B0604020202020204" pitchFamily="34" charset="0"/>
              <a:cs typeface="Arial" panose="020B0604020202020204" pitchFamily="34" charset="0"/>
            </a:endParaRPr>
          </a:p>
          <a:p>
            <a:r>
              <a:rPr lang="en-US" sz="2000" dirty="0">
                <a:solidFill>
                  <a:srgbClr val="0000FF"/>
                </a:solidFill>
                <a:latin typeface="Arial" panose="020B0604020202020204" pitchFamily="34" charset="0"/>
                <a:cs typeface="Arial" panose="020B0604020202020204" pitchFamily="34" charset="0"/>
              </a:rPr>
              <a:t> 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=10</a:t>
            </a:r>
          </a:p>
          <a:p>
            <a:r>
              <a:rPr lang="en-US" sz="2000" dirty="0">
                <a:solidFill>
                  <a:srgbClr val="0000FF"/>
                </a:solidFill>
                <a:latin typeface="Arial" panose="020B0604020202020204" pitchFamily="34" charset="0"/>
                <a:cs typeface="Arial" panose="020B0604020202020204" pitchFamily="34" charset="0"/>
              </a:rPr>
              <a:t> int j=0</a:t>
            </a:r>
          </a:p>
          <a:p>
            <a:r>
              <a:rPr lang="en-US" sz="2000" dirty="0">
                <a:solidFill>
                  <a:srgbClr val="0000FF"/>
                </a:solidFill>
                <a:latin typeface="Arial" panose="020B0604020202020204" pitchFamily="34" charset="0"/>
                <a:cs typeface="Arial" panose="020B0604020202020204" pitchFamily="34" charset="0"/>
              </a:rPr>
              <a:t> int k=</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/j; // </a:t>
            </a:r>
            <a:r>
              <a:rPr lang="en-US" sz="2000" dirty="0" err="1">
                <a:solidFill>
                  <a:srgbClr val="0000FF"/>
                </a:solidFill>
                <a:latin typeface="Arial" panose="020B0604020202020204" pitchFamily="34" charset="0"/>
                <a:cs typeface="Arial" panose="020B0604020202020204" pitchFamily="34" charset="0"/>
              </a:rPr>
              <a:t>ArithmeticFormatException</a:t>
            </a:r>
            <a:endParaRPr lang="en-US" sz="2000" dirty="0">
              <a:solidFill>
                <a:srgbClr val="0000FF"/>
              </a:solidFill>
              <a:latin typeface="Arial" panose="020B0604020202020204" pitchFamily="34" charset="0"/>
              <a:cs typeface="Arial" panose="020B0604020202020204" pitchFamily="34" charset="0"/>
            </a:endParaRPr>
          </a:p>
          <a:p>
            <a:endParaRPr lang="en-US" sz="2000" dirty="0">
              <a:solidFill>
                <a:srgbClr val="0000FF"/>
              </a:solidFill>
              <a:latin typeface="Arial" panose="020B0604020202020204" pitchFamily="34" charset="0"/>
              <a:cs typeface="Arial" panose="020B0604020202020204" pitchFamily="34" charset="0"/>
            </a:endParaRPr>
          </a:p>
          <a:p>
            <a:r>
              <a:rPr lang="en-US" sz="2000" dirty="0">
                <a:solidFill>
                  <a:srgbClr val="0000FF"/>
                </a:solidFill>
                <a:latin typeface="Arial" panose="020B0604020202020204" pitchFamily="34" charset="0"/>
                <a:cs typeface="Arial" panose="020B0604020202020204" pitchFamily="34" charset="0"/>
              </a:rPr>
              <a:t> 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[]=new int[3];</a:t>
            </a:r>
          </a:p>
          <a:p>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[0]=10;</a:t>
            </a:r>
          </a:p>
          <a:p>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[1]=20;</a:t>
            </a:r>
          </a:p>
          <a:p>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[2]=30;</a:t>
            </a:r>
          </a:p>
          <a:p>
            <a:endParaRPr lang="en-US" sz="2000" dirty="0">
              <a:solidFill>
                <a:srgbClr val="0000FF"/>
              </a:solidFill>
              <a:latin typeface="Arial" panose="020B0604020202020204" pitchFamily="34" charset="0"/>
              <a:cs typeface="Arial" panose="020B0604020202020204" pitchFamily="34" charset="0"/>
            </a:endParaRPr>
          </a:p>
          <a:p>
            <a:r>
              <a:rPr lang="en-US" sz="2000" dirty="0">
                <a:solidFill>
                  <a:srgbClr val="0000FF"/>
                </a:solidFill>
                <a:latin typeface="Arial" panose="020B0604020202020204" pitchFamily="34" charset="0"/>
                <a:cs typeface="Arial" panose="020B0604020202020204" pitchFamily="34" charset="0"/>
              </a:rPr>
              <a:t>for(int j=0;j&lt;=</a:t>
            </a:r>
            <a:r>
              <a:rPr lang="en-US" sz="2000" dirty="0" err="1">
                <a:solidFill>
                  <a:srgbClr val="0000FF"/>
                </a:solidFill>
                <a:latin typeface="Arial" panose="020B0604020202020204" pitchFamily="34" charset="0"/>
                <a:cs typeface="Arial" panose="020B0604020202020204" pitchFamily="34" charset="0"/>
              </a:rPr>
              <a:t>i.length;j</a:t>
            </a:r>
            <a:r>
              <a:rPr lang="en-US" sz="2000" dirty="0">
                <a:solidFill>
                  <a:srgbClr val="0000FF"/>
                </a:solidFill>
                <a:latin typeface="Arial" panose="020B0604020202020204" pitchFamily="34" charset="0"/>
                <a:cs typeface="Arial" panose="020B0604020202020204" pitchFamily="34" charset="0"/>
              </a:rPr>
              <a:t>++) { // </a:t>
            </a:r>
            <a:r>
              <a:rPr lang="en-US" sz="2000" dirty="0" err="1">
                <a:solidFill>
                  <a:srgbClr val="0000FF"/>
                </a:solidFill>
                <a:latin typeface="Arial" panose="020B0604020202020204" pitchFamily="34" charset="0"/>
                <a:cs typeface="Arial" panose="020B0604020202020204" pitchFamily="34" charset="0"/>
              </a:rPr>
              <a:t>ArrayIndexOutOfBoundsException</a:t>
            </a:r>
            <a:endParaRPr lang="en-US" sz="2000" dirty="0">
              <a:solidFill>
                <a:srgbClr val="0000FF"/>
              </a:solidFill>
              <a:latin typeface="Arial" panose="020B0604020202020204" pitchFamily="34" charset="0"/>
              <a:cs typeface="Arial" panose="020B0604020202020204" pitchFamily="34" charset="0"/>
            </a:endParaRPr>
          </a:p>
          <a:p>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System.out.printlnt</a:t>
            </a:r>
            <a:r>
              <a:rPr lang="en-US" sz="2000" dirty="0">
                <a:solidFill>
                  <a:srgbClr val="0000FF"/>
                </a:solidFill>
                <a:latin typeface="Arial" panose="020B0604020202020204" pitchFamily="34" charset="0"/>
                <a:cs typeface="Arial" panose="020B0604020202020204" pitchFamily="34" charset="0"/>
              </a:rPr>
              <a:t>(</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[j]);</a:t>
            </a:r>
          </a:p>
          <a:p>
            <a:r>
              <a:rPr lang="en-US" sz="2000" dirty="0">
                <a:solidFill>
                  <a:srgbClr val="0000FF"/>
                </a:solidFill>
                <a:latin typeface="Arial" panose="020B0604020202020204" pitchFamily="34" charset="0"/>
                <a:cs typeface="Arial" panose="020B0604020202020204" pitchFamily="34" charset="0"/>
              </a:rPr>
              <a:t> }</a:t>
            </a:r>
          </a:p>
        </p:txBody>
      </p:sp>
      <p:grpSp>
        <p:nvGrpSpPr>
          <p:cNvPr id="11" name="Group 10">
            <a:extLst>
              <a:ext uri="{FF2B5EF4-FFF2-40B4-BE49-F238E27FC236}">
                <a16:creationId xmlns:a16="http://schemas.microsoft.com/office/drawing/2014/main" id="{267339E1-7D7C-4DB3-BE05-9590857DC870}"/>
              </a:ext>
            </a:extLst>
          </p:cNvPr>
          <p:cNvGrpSpPr/>
          <p:nvPr/>
        </p:nvGrpSpPr>
        <p:grpSpPr>
          <a:xfrm>
            <a:off x="3016250" y="0"/>
            <a:ext cx="9175750" cy="6858000"/>
            <a:chOff x="3016250" y="0"/>
            <a:chExt cx="9175750" cy="6858000"/>
          </a:xfrm>
        </p:grpSpPr>
        <p:sp>
          <p:nvSpPr>
            <p:cNvPr id="2" name="Scroll: Horizontal 1">
              <a:extLst>
                <a:ext uri="{FF2B5EF4-FFF2-40B4-BE49-F238E27FC236}">
                  <a16:creationId xmlns:a16="http://schemas.microsoft.com/office/drawing/2014/main" id="{BA379904-C2E0-4BDF-BB0E-5E815CA1234D}"/>
                </a:ext>
              </a:extLst>
            </p:cNvPr>
            <p:cNvSpPr/>
            <p:nvPr/>
          </p:nvSpPr>
          <p:spPr>
            <a:xfrm>
              <a:off x="3016250" y="0"/>
              <a:ext cx="6007100" cy="838200"/>
            </a:xfrm>
            <a:prstGeom prst="horizontalScroll">
              <a:avLst>
                <a:gd name="adj" fmla="val 14773"/>
              </a:avLst>
            </a:prstGeom>
            <a:gradFill>
              <a:gsLst>
                <a:gs pos="0">
                  <a:srgbClr val="F000C6"/>
                </a:gs>
                <a:gs pos="46532">
                  <a:srgbClr val="B800C4"/>
                </a:gs>
                <a:gs pos="100000">
                  <a:srgbClr val="8000C2"/>
                </a:gs>
              </a:gsLst>
            </a:gradFill>
            <a:ln w="12700">
              <a:solidFill>
                <a:srgbClr val="002060"/>
              </a:solidFill>
              <a:miter lim="400000"/>
            </a:ln>
          </p:spPr>
          <p:txBody>
            <a:bodyPr lIns="45718" tIns="45718" rIns="45718" bIns="45718" anchor="ctr"/>
            <a:lstStyle/>
            <a:p>
              <a:pPr algn="ctr"/>
              <a:r>
                <a:rPr lang="en-US" b="1" dirty="0">
                  <a:solidFill>
                    <a:schemeClr val="bg1"/>
                  </a:solidFill>
                  <a:latin typeface="Bookman Old Style" panose="02050604050505020204" pitchFamily="18" charset="0"/>
                </a:rPr>
                <a:t>Exceptions and Exception Handling</a:t>
              </a:r>
            </a:p>
          </p:txBody>
        </p:sp>
        <p:grpSp>
          <p:nvGrpSpPr>
            <p:cNvPr id="8" name="Group 7">
              <a:extLst>
                <a:ext uri="{FF2B5EF4-FFF2-40B4-BE49-F238E27FC236}">
                  <a16:creationId xmlns:a16="http://schemas.microsoft.com/office/drawing/2014/main" id="{DDE26D0B-FC47-416B-9119-2CB124ED680B}"/>
                </a:ext>
              </a:extLst>
            </p:cNvPr>
            <p:cNvGrpSpPr/>
            <p:nvPr/>
          </p:nvGrpSpPr>
          <p:grpSpPr>
            <a:xfrm>
              <a:off x="10750550" y="0"/>
              <a:ext cx="1441450" cy="1041400"/>
              <a:chOff x="10750550" y="0"/>
              <a:chExt cx="1441450" cy="1041400"/>
            </a:xfrm>
          </p:grpSpPr>
          <p:sp>
            <p:nvSpPr>
              <p:cNvPr id="6" name="Flowchart: Document 5">
                <a:extLst>
                  <a:ext uri="{FF2B5EF4-FFF2-40B4-BE49-F238E27FC236}">
                    <a16:creationId xmlns:a16="http://schemas.microsoft.com/office/drawing/2014/main" id="{07AEE433-BDB1-4F6B-A9A6-7582D9C7B865}"/>
                  </a:ext>
                </a:extLst>
              </p:cNvPr>
              <p:cNvSpPr/>
              <p:nvPr/>
            </p:nvSpPr>
            <p:spPr>
              <a:xfrm>
                <a:off x="10750550" y="0"/>
                <a:ext cx="1441450" cy="1041400"/>
              </a:xfrm>
              <a:prstGeom prst="flowChartDocument">
                <a:avLst/>
              </a:prstGeom>
              <a:gradFill>
                <a:gsLst>
                  <a:gs pos="0">
                    <a:srgbClr val="F000C6"/>
                  </a:gs>
                  <a:gs pos="46532">
                    <a:srgbClr val="B800C4"/>
                  </a:gs>
                  <a:gs pos="100000">
                    <a:srgbClr val="8000C2"/>
                  </a:gs>
                </a:gsLst>
              </a:gradFill>
              <a:ln w="12700">
                <a:solidFill>
                  <a:srgbClr val="0070C0"/>
                </a:solidFill>
                <a:miter lim="400000"/>
              </a:ln>
              <a:scene3d>
                <a:camera prst="orthographicFront"/>
                <a:lightRig rig="threePt" dir="t"/>
              </a:scene3d>
              <a:sp3d>
                <a:bevelT prst="slope"/>
              </a:sp3d>
            </p:spPr>
            <p:txBody>
              <a:bodyPr lIns="45718" tIns="45718" rIns="45718" bIns="45718" anchor="ctr"/>
              <a:lstStyle/>
              <a:p>
                <a:pPr algn="ctr"/>
                <a:endParaRPr lang="en-US">
                  <a:solidFill>
                    <a:srgbClr val="FFFFFF"/>
                  </a:solidFill>
                </a:endParaRPr>
              </a:p>
            </p:txBody>
          </p:sp>
          <p:pic>
            <p:nvPicPr>
              <p:cNvPr id="7" name="Picture 6">
                <a:extLst>
                  <a:ext uri="{FF2B5EF4-FFF2-40B4-BE49-F238E27FC236}">
                    <a16:creationId xmlns:a16="http://schemas.microsoft.com/office/drawing/2014/main" id="{D69E57AC-86E1-412C-9CDA-4B913EA0C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8090" y="49516"/>
                <a:ext cx="773370" cy="84646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0" name="Rectangle 9">
              <a:extLst>
                <a:ext uri="{FF2B5EF4-FFF2-40B4-BE49-F238E27FC236}">
                  <a16:creationId xmlns:a16="http://schemas.microsoft.com/office/drawing/2014/main" id="{0DD0E726-9ABC-4647-8D57-65DD319B53F8}"/>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grpSp>
      <p:sp>
        <p:nvSpPr>
          <p:cNvPr id="3" name="Footer Placeholder 2">
            <a:extLst>
              <a:ext uri="{FF2B5EF4-FFF2-40B4-BE49-F238E27FC236}">
                <a16:creationId xmlns:a16="http://schemas.microsoft.com/office/drawing/2014/main" id="{9C25B08B-7C60-FA49-3C7D-F1E7F26F3B1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8327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D38F90B-5513-432E-A804-FE763D85C077}"/>
              </a:ext>
            </a:extLst>
          </p:cNvPr>
          <p:cNvGrpSpPr/>
          <p:nvPr/>
        </p:nvGrpSpPr>
        <p:grpSpPr>
          <a:xfrm>
            <a:off x="2766059" y="125716"/>
            <a:ext cx="9425939" cy="6732284"/>
            <a:chOff x="2766059" y="125716"/>
            <a:chExt cx="9425939" cy="6732284"/>
          </a:xfrm>
        </p:grpSpPr>
        <p:cxnSp>
          <p:nvCxnSpPr>
            <p:cNvPr id="3" name="Straight Arrow Connector 2">
              <a:extLst>
                <a:ext uri="{FF2B5EF4-FFF2-40B4-BE49-F238E27FC236}">
                  <a16:creationId xmlns:a16="http://schemas.microsoft.com/office/drawing/2014/main" id="{FBACF553-BEE5-4FF8-BCC5-5C3E073D177C}"/>
                </a:ext>
              </a:extLst>
            </p:cNvPr>
            <p:cNvCxnSpPr>
              <a:cxnSpLocks/>
            </p:cNvCxnSpPr>
            <p:nvPr/>
          </p:nvCxnSpPr>
          <p:spPr>
            <a:xfrm>
              <a:off x="2766060" y="701040"/>
              <a:ext cx="6210300" cy="0"/>
            </a:xfrm>
            <a:prstGeom prst="straightConnector1">
              <a:avLst/>
            </a:prstGeom>
            <a:ln w="69850" cmpd="tri">
              <a:gradFill>
                <a:gsLst>
                  <a:gs pos="0">
                    <a:srgbClr val="0000FF"/>
                  </a:gs>
                  <a:gs pos="35000">
                    <a:srgbClr val="0000FF"/>
                  </a:gs>
                  <a:gs pos="65000">
                    <a:srgbClr val="3399FF"/>
                  </a:gs>
                  <a:gs pos="92000">
                    <a:srgbClr val="0000FF"/>
                  </a:gs>
                </a:gsLst>
                <a:lin ang="5400000" scaled="1"/>
              </a:gradFill>
              <a:prstDash val="solid"/>
              <a:headEnd type="triangle"/>
              <a:tailEnd type="triangle"/>
            </a:ln>
            <a:scene3d>
              <a:camera prst="orthographicFront"/>
              <a:lightRig rig="threePt" dir="t"/>
            </a:scene3d>
            <a:sp3d>
              <a:bevelT prst="slope"/>
            </a:sp3d>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5EB30D1A-AF7C-49B6-99AB-6CE77D80D741}"/>
                </a:ext>
              </a:extLst>
            </p:cNvPr>
            <p:cNvSpPr txBox="1"/>
            <p:nvPr/>
          </p:nvSpPr>
          <p:spPr>
            <a:xfrm>
              <a:off x="2766059" y="268724"/>
              <a:ext cx="6210300" cy="369332"/>
            </a:xfrm>
            <a:prstGeom prst="rect">
              <a:avLst/>
            </a:prstGeom>
            <a:noFill/>
          </p:spPr>
          <p:txBody>
            <a:bodyPr wrap="square">
              <a:spAutoFit/>
            </a:bodyPr>
            <a:lstStyle/>
            <a:p>
              <a:pPr algn="ctr"/>
              <a:r>
                <a:rPr lang="en-US" b="1" dirty="0">
                  <a:solidFill>
                    <a:srgbClr val="002060"/>
                  </a:solidFill>
                  <a:latin typeface="Bookman Old Style" panose="02050604050505020204" pitchFamily="18" charset="0"/>
                </a:rPr>
                <a:t>Exceptions and Exception Handling</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9" name="TextBox 8">
            <a:extLst>
              <a:ext uri="{FF2B5EF4-FFF2-40B4-BE49-F238E27FC236}">
                <a16:creationId xmlns:a16="http://schemas.microsoft.com/office/drawing/2014/main" id="{9902A02D-3736-45D4-B30F-732D57A929F6}"/>
              </a:ext>
            </a:extLst>
          </p:cNvPr>
          <p:cNvSpPr txBox="1"/>
          <p:nvPr/>
        </p:nvSpPr>
        <p:spPr>
          <a:xfrm>
            <a:off x="285750" y="824283"/>
            <a:ext cx="9135341" cy="3170099"/>
          </a:xfrm>
          <a:prstGeom prst="rect">
            <a:avLst/>
          </a:prstGeom>
          <a:noFill/>
        </p:spPr>
        <p:txBody>
          <a:bodyPr wrap="square" rtlCol="0">
            <a:spAutoFit/>
          </a:bodyPr>
          <a:lstStyle/>
          <a:p>
            <a:r>
              <a:rPr lang="en-US" sz="2000" b="1" u="sng" dirty="0" err="1">
                <a:solidFill>
                  <a:srgbClr val="0000FF"/>
                </a:solidFill>
                <a:latin typeface="Arial" panose="020B0604020202020204" pitchFamily="34" charset="0"/>
                <a:cs typeface="Arial" panose="020B0604020202020204" pitchFamily="34" charset="0"/>
              </a:rPr>
              <a:t>CheckedException</a:t>
            </a:r>
            <a:r>
              <a:rPr lang="en-US" sz="2000" b="1" u="sng" dirty="0">
                <a:solidFill>
                  <a:srgbClr val="0000FF"/>
                </a:solidFill>
                <a:latin typeface="Arial" panose="020B0604020202020204" pitchFamily="34" charset="0"/>
                <a:cs typeface="Arial" panose="020B0604020202020204" pitchFamily="34" charset="0"/>
              </a:rPr>
              <a:t>/Compile time detected Exception:</a:t>
            </a: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FileNotFoundException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IOException</a:t>
            </a:r>
            <a:r>
              <a:rPr lang="en-US" sz="2000" dirty="0">
                <a:solidFill>
                  <a:srgbClr val="0000FF"/>
                </a:solidFill>
                <a:latin typeface="Arial" panose="020B0604020202020204" pitchFamily="34" charset="0"/>
                <a:cs typeface="Arial" panose="020B0604020202020204" pitchFamily="34" charset="0"/>
              </a:rPr>
              <a:t>/</a:t>
            </a:r>
            <a:r>
              <a:rPr lang="en-US" sz="2000" dirty="0" err="1">
                <a:solidFill>
                  <a:srgbClr val="0000FF"/>
                </a:solidFill>
                <a:latin typeface="Arial" panose="020B0604020202020204" pitchFamily="34" charset="0"/>
                <a:cs typeface="Arial" panose="020B0604020202020204" pitchFamily="34" charset="0"/>
              </a:rPr>
              <a:t>EOFException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SocketException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UnknownHostException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ClassNotFoundException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MalformedUrlException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BindException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SQLException</a:t>
            </a:r>
            <a:endParaRPr lang="en-US" sz="2000" dirty="0">
              <a:solidFill>
                <a:srgbClr val="0000FF"/>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dirty="0" err="1">
                <a:solidFill>
                  <a:srgbClr val="0000FF"/>
                </a:solidFill>
                <a:latin typeface="Arial" panose="020B0604020202020204" pitchFamily="34" charset="0"/>
                <a:cs typeface="Arial" panose="020B0604020202020204" pitchFamily="34" charset="0"/>
              </a:rPr>
              <a:t>ServletException</a:t>
            </a:r>
            <a:endParaRPr lang="en-US" sz="2000" dirty="0">
              <a:solidFill>
                <a:srgbClr val="0000FF"/>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F276763E-26AE-6EEA-3591-C1670D6116C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579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id="{335F4052-8E0D-4041-86F8-57187600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b="1" dirty="0">
                  <a:solidFill>
                    <a:srgbClr val="002060"/>
                  </a:solidFill>
                  <a:latin typeface="Bookman Old Style" panose="02050604050505020204" pitchFamily="18" charset="0"/>
                </a:rPr>
                <a:t>Exceptions and Exception Handling</a:t>
              </a:r>
            </a:p>
          </p:txBody>
        </p:sp>
      </p:grpSp>
      <p:sp>
        <p:nvSpPr>
          <p:cNvPr id="17" name="TextBox 16">
            <a:extLst>
              <a:ext uri="{FF2B5EF4-FFF2-40B4-BE49-F238E27FC236}">
                <a16:creationId xmlns:a16="http://schemas.microsoft.com/office/drawing/2014/main" id="{ADC4DB27-5802-4175-A8D7-E2262C505D65}"/>
              </a:ext>
            </a:extLst>
          </p:cNvPr>
          <p:cNvSpPr txBox="1"/>
          <p:nvPr/>
        </p:nvSpPr>
        <p:spPr>
          <a:xfrm>
            <a:off x="513200" y="904950"/>
            <a:ext cx="8872847" cy="5324535"/>
          </a:xfrm>
          <a:prstGeom prst="rect">
            <a:avLst/>
          </a:prstGeom>
          <a:noFill/>
        </p:spPr>
        <p:txBody>
          <a:bodyPr wrap="square" rtlCol="0">
            <a:spAutoFit/>
          </a:bodyPr>
          <a:lstStyle/>
          <a:p>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FileInputStream</a:t>
            </a:r>
            <a:r>
              <a:rPr lang="en-US" sz="2000" dirty="0">
                <a:solidFill>
                  <a:srgbClr val="0000FF"/>
                </a:solidFill>
                <a:latin typeface="Arial" panose="020B0604020202020204" pitchFamily="34" charset="0"/>
                <a:cs typeface="Arial" panose="020B0604020202020204" pitchFamily="34" charset="0"/>
              </a:rPr>
              <a:t> extends </a:t>
            </a:r>
            <a:r>
              <a:rPr lang="en-US" sz="2000" dirty="0" err="1">
                <a:solidFill>
                  <a:srgbClr val="0000FF"/>
                </a:solidFill>
                <a:latin typeface="Arial" panose="020B0604020202020204" pitchFamily="34" charset="0"/>
                <a:cs typeface="Arial" panose="020B0604020202020204" pitchFamily="34" charset="0"/>
              </a:rPr>
              <a:t>InputStream</a:t>
            </a:r>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	public </a:t>
            </a:r>
            <a:r>
              <a:rPr lang="en-US" sz="2000" dirty="0" err="1">
                <a:solidFill>
                  <a:srgbClr val="0000FF"/>
                </a:solidFill>
                <a:latin typeface="Arial" panose="020B0604020202020204" pitchFamily="34" charset="0"/>
                <a:cs typeface="Arial" panose="020B0604020202020204" pitchFamily="34" charset="0"/>
              </a:rPr>
              <a:t>FileInputStream</a:t>
            </a:r>
            <a:r>
              <a:rPr lang="en-US" sz="2000" dirty="0">
                <a:solidFill>
                  <a:srgbClr val="0000FF"/>
                </a:solidFill>
                <a:latin typeface="Arial" panose="020B0604020202020204" pitchFamily="34" charset="0"/>
                <a:cs typeface="Arial" panose="020B0604020202020204" pitchFamily="34" charset="0"/>
              </a:rPr>
              <a:t>(String filename) throws </a:t>
            </a:r>
            <a:r>
              <a:rPr lang="en-US" sz="2000" dirty="0" err="1">
                <a:solidFill>
                  <a:srgbClr val="0000FF"/>
                </a:solidFill>
                <a:latin typeface="Arial" panose="020B0604020202020204" pitchFamily="34" charset="0"/>
                <a:cs typeface="Arial" panose="020B0604020202020204" pitchFamily="34" charset="0"/>
              </a:rPr>
              <a:t>FileNotFoundException</a:t>
            </a:r>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	if(filename not found) {</a:t>
            </a:r>
          </a:p>
          <a:p>
            <a:r>
              <a:rPr lang="en-US" sz="2000" dirty="0">
                <a:solidFill>
                  <a:srgbClr val="0000FF"/>
                </a:solidFill>
                <a:latin typeface="Arial" panose="020B0604020202020204" pitchFamily="34" charset="0"/>
                <a:cs typeface="Arial" panose="020B0604020202020204" pitchFamily="34" charset="0"/>
              </a:rPr>
              <a:t>		throw new </a:t>
            </a:r>
            <a:r>
              <a:rPr lang="en-US" sz="2000" dirty="0" err="1">
                <a:solidFill>
                  <a:srgbClr val="0000FF"/>
                </a:solidFill>
                <a:latin typeface="Arial" panose="020B0604020202020204" pitchFamily="34" charset="0"/>
                <a:cs typeface="Arial" panose="020B0604020202020204" pitchFamily="34" charset="0"/>
              </a:rPr>
              <a:t>FileNotFoundException</a:t>
            </a:r>
            <a:r>
              <a:rPr lang="en-US" sz="2000" dirty="0">
                <a:solidFill>
                  <a:srgbClr val="0000FF"/>
                </a:solidFill>
                <a:latin typeface="Arial" panose="020B0604020202020204" pitchFamily="34" charset="0"/>
                <a:cs typeface="Arial" panose="020B0604020202020204" pitchFamily="34" charset="0"/>
              </a:rPr>
              <a:t>(filename+" not found");</a:t>
            </a:r>
          </a:p>
          <a:p>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	public int read() throws </a:t>
            </a:r>
            <a:r>
              <a:rPr lang="en-US" sz="2000" dirty="0" err="1">
                <a:solidFill>
                  <a:srgbClr val="0000FF"/>
                </a:solidFill>
                <a:latin typeface="Arial" panose="020B0604020202020204" pitchFamily="34" charset="0"/>
                <a:cs typeface="Arial" panose="020B0604020202020204" pitchFamily="34" charset="0"/>
              </a:rPr>
              <a:t>IOException</a:t>
            </a:r>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	}</a:t>
            </a:r>
          </a:p>
          <a:p>
            <a:r>
              <a:rPr lang="en-US" sz="2000" dirty="0">
                <a:solidFill>
                  <a:srgbClr val="0000FF"/>
                </a:solidFill>
                <a:latin typeface="Arial" panose="020B0604020202020204" pitchFamily="34" charset="0"/>
                <a:cs typeface="Arial" panose="020B0604020202020204" pitchFamily="34" charset="0"/>
              </a:rPr>
              <a:t>}</a:t>
            </a:r>
          </a:p>
          <a:p>
            <a:endParaRPr lang="en-US" sz="2000" dirty="0">
              <a:solidFill>
                <a:srgbClr val="0000FF"/>
              </a:solidFill>
              <a:latin typeface="Arial" panose="020B0604020202020204" pitchFamily="34" charset="0"/>
              <a:cs typeface="Arial" panose="020B0604020202020204" pitchFamily="34" charset="0"/>
            </a:endParaRPr>
          </a:p>
          <a:p>
            <a:r>
              <a:rPr lang="en-US" sz="2000" dirty="0" err="1">
                <a:solidFill>
                  <a:srgbClr val="0000FF"/>
                </a:solidFill>
                <a:latin typeface="Arial" panose="020B0604020202020204" pitchFamily="34" charset="0"/>
                <a:cs typeface="Arial" panose="020B0604020202020204" pitchFamily="34" charset="0"/>
              </a:rPr>
              <a:t>FileInputStream</a:t>
            </a:r>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fis</a:t>
            </a:r>
            <a:r>
              <a:rPr lang="en-US" sz="2000" dirty="0">
                <a:solidFill>
                  <a:srgbClr val="0000FF"/>
                </a:solidFill>
                <a:latin typeface="Arial" panose="020B0604020202020204" pitchFamily="34" charset="0"/>
                <a:cs typeface="Arial" panose="020B0604020202020204" pitchFamily="34" charset="0"/>
              </a:rPr>
              <a:t>=new </a:t>
            </a:r>
            <a:r>
              <a:rPr lang="en-US" sz="2000" dirty="0" err="1">
                <a:solidFill>
                  <a:srgbClr val="0000FF"/>
                </a:solidFill>
                <a:latin typeface="Arial" panose="020B0604020202020204" pitchFamily="34" charset="0"/>
                <a:cs typeface="Arial" panose="020B0604020202020204" pitchFamily="34" charset="0"/>
              </a:rPr>
              <a:t>FileInputStream</a:t>
            </a:r>
            <a:r>
              <a:rPr lang="en-US" sz="2000" dirty="0">
                <a:solidFill>
                  <a:srgbClr val="0000FF"/>
                </a:solidFill>
                <a:latin typeface="Arial" panose="020B0604020202020204" pitchFamily="34" charset="0"/>
                <a:cs typeface="Arial" panose="020B0604020202020204" pitchFamily="34" charset="0"/>
              </a:rPr>
              <a:t>("students.txt");</a:t>
            </a:r>
          </a:p>
          <a:p>
            <a:r>
              <a:rPr lang="en-US" sz="2000" dirty="0">
                <a:solidFill>
                  <a:srgbClr val="0000FF"/>
                </a:solidFill>
                <a:latin typeface="Arial" panose="020B0604020202020204" pitchFamily="34" charset="0"/>
                <a:cs typeface="Arial" panose="020B0604020202020204" pitchFamily="34" charset="0"/>
              </a:rPr>
              <a:t>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r>
              <a:rPr lang="en-US" sz="2000" dirty="0" err="1">
                <a:solidFill>
                  <a:srgbClr val="0000FF"/>
                </a:solidFill>
                <a:latin typeface="Arial" panose="020B0604020202020204" pitchFamily="34" charset="0"/>
                <a:cs typeface="Arial" panose="020B0604020202020204" pitchFamily="34" charset="0"/>
              </a:rPr>
              <a:t>fis.read</a:t>
            </a:r>
            <a:r>
              <a:rPr lang="en-US" sz="2000" dirty="0">
                <a:solidFill>
                  <a:srgbClr val="0000FF"/>
                </a:solidFill>
                <a:latin typeface="Arial" panose="020B0604020202020204" pitchFamily="34" charset="0"/>
                <a:cs typeface="Arial" panose="020B0604020202020204" pitchFamily="34" charset="0"/>
              </a:rPr>
              <a:t>();</a:t>
            </a:r>
          </a:p>
          <a:p>
            <a:endParaRPr lang="en-US" sz="2000" dirty="0">
              <a:solidFill>
                <a:srgbClr val="0000FF"/>
              </a:solidFill>
              <a:latin typeface="Arial" panose="020B0604020202020204" pitchFamily="34" charset="0"/>
              <a:cs typeface="Arial" panose="020B0604020202020204" pitchFamily="34" charset="0"/>
            </a:endParaRPr>
          </a:p>
          <a:p>
            <a:r>
              <a:rPr lang="en-US" sz="2000" dirty="0">
                <a:solidFill>
                  <a:srgbClr val="0000FF"/>
                </a:solidFill>
                <a:latin typeface="Arial" panose="020B0604020202020204" pitchFamily="34" charset="0"/>
                <a:cs typeface="Arial" panose="020B0604020202020204" pitchFamily="34" charset="0"/>
              </a:rPr>
              <a:t>If students.txt file is not found in the local HDD, </a:t>
            </a:r>
            <a:r>
              <a:rPr lang="en-US" sz="2000" dirty="0" err="1">
                <a:solidFill>
                  <a:srgbClr val="0000FF"/>
                </a:solidFill>
                <a:latin typeface="Arial" panose="020B0604020202020204" pitchFamily="34" charset="0"/>
                <a:cs typeface="Arial" panose="020B0604020202020204" pitchFamily="34" charset="0"/>
              </a:rPr>
              <a:t>FileNotFoundException</a:t>
            </a:r>
            <a:r>
              <a:rPr lang="en-US" sz="2000" dirty="0">
                <a:solidFill>
                  <a:srgbClr val="0000FF"/>
                </a:solidFill>
                <a:latin typeface="Arial" panose="020B0604020202020204" pitchFamily="34" charset="0"/>
                <a:cs typeface="Arial" panose="020B0604020202020204" pitchFamily="34" charset="0"/>
              </a:rPr>
              <a:t> thrown into program, program abnormally terminates.</a:t>
            </a:r>
          </a:p>
        </p:txBody>
      </p:sp>
      <p:sp>
        <p:nvSpPr>
          <p:cNvPr id="6" name="Footer Placeholder 5">
            <a:extLst>
              <a:ext uri="{FF2B5EF4-FFF2-40B4-BE49-F238E27FC236}">
                <a16:creationId xmlns:a16="http://schemas.microsoft.com/office/drawing/2014/main" id="{BF14AE8D-B749-772C-B98F-0AEA83D62E7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793797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BA95FDE-BF94-4528-A8C2-0E894E086D76}"/>
              </a:ext>
            </a:extLst>
          </p:cNvPr>
          <p:cNvGrpSpPr/>
          <p:nvPr/>
        </p:nvGrpSpPr>
        <p:grpSpPr>
          <a:xfrm>
            <a:off x="-570497" y="-1"/>
            <a:ext cx="13347833" cy="7532371"/>
            <a:chOff x="-570497" y="-1"/>
            <a:chExt cx="13347833" cy="7532371"/>
          </a:xfrm>
        </p:grpSpPr>
        <p:sp>
          <p:nvSpPr>
            <p:cNvPr id="11" name="Rectangle 10">
              <a:extLst>
                <a:ext uri="{FF2B5EF4-FFF2-40B4-BE49-F238E27FC236}">
                  <a16:creationId xmlns:a16="http://schemas.microsoft.com/office/drawing/2014/main" id="{A4AA83AB-2A44-4D4C-AD40-AB708A7E2B5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12" name="Picture 6" descr="Pencil Transparent PNG Clipart Free Download - Free Transparent PNG Logos">
              <a:extLst>
                <a:ext uri="{FF2B5EF4-FFF2-40B4-BE49-F238E27FC236}">
                  <a16:creationId xmlns:a16="http://schemas.microsoft.com/office/drawing/2014/main" id="{F1685DFA-2EF0-4C00-9475-33E9305FE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176537" y="2606040"/>
              <a:ext cx="662178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encil Transparent PNG Clipart Free Download - Free Transparent PNG Logos">
              <a:extLst>
                <a:ext uri="{FF2B5EF4-FFF2-40B4-BE49-F238E27FC236}">
                  <a16:creationId xmlns:a16="http://schemas.microsoft.com/office/drawing/2014/main" id="{2ECD9728-D2BA-4010-9E09-E490C3093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8807315" y="2560320"/>
              <a:ext cx="6530341"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Pencil Transparent PNG Clipart Free Download - Free Transparent PNG Logos">
              <a:extLst>
                <a:ext uri="{FF2B5EF4-FFF2-40B4-BE49-F238E27FC236}">
                  <a16:creationId xmlns:a16="http://schemas.microsoft.com/office/drawing/2014/main" id="{D405FFAE-7540-4062-A41B-7B7C21D74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2" y="5951220"/>
              <a:ext cx="12192001" cy="158115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2E920D22-292C-4AE2-AF03-009711148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6690" y="5713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6" name="Arrow: Left-Right 15">
              <a:extLst>
                <a:ext uri="{FF2B5EF4-FFF2-40B4-BE49-F238E27FC236}">
                  <a16:creationId xmlns:a16="http://schemas.microsoft.com/office/drawing/2014/main" id="{23D9331D-7EAC-4B17-907C-8337CDFF258A}"/>
                </a:ext>
              </a:extLst>
            </p:cNvPr>
            <p:cNvSpPr/>
            <p:nvPr/>
          </p:nvSpPr>
          <p:spPr>
            <a:xfrm>
              <a:off x="1821180" y="434340"/>
              <a:ext cx="7871460" cy="312420"/>
            </a:xfrm>
            <a:prstGeom prst="leftRightArrow">
              <a:avLst>
                <a:gd name="adj1" fmla="val 48266"/>
                <a:gd name="adj2" fmla="val 22414"/>
              </a:avLst>
            </a:prstGeom>
            <a:solidFill>
              <a:srgbClr val="FFC000"/>
            </a:solid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907E2EC-1D89-4455-8E5B-D30EFDDA17C2}"/>
                </a:ext>
              </a:extLst>
            </p:cNvPr>
            <p:cNvSpPr txBox="1"/>
            <p:nvPr/>
          </p:nvSpPr>
          <p:spPr>
            <a:xfrm>
              <a:off x="1935480" y="111038"/>
              <a:ext cx="7650480" cy="369332"/>
            </a:xfrm>
            <a:prstGeom prst="rect">
              <a:avLst/>
            </a:prstGeom>
            <a:noFill/>
          </p:spPr>
          <p:txBody>
            <a:bodyPr wrap="square">
              <a:spAutoFit/>
            </a:bodyPr>
            <a:lstStyle/>
            <a:p>
              <a:pPr algn="ctr"/>
              <a:r>
                <a:rPr lang="en-US" b="1" dirty="0">
                  <a:solidFill>
                    <a:srgbClr val="002060"/>
                  </a:solidFill>
                  <a:latin typeface="Bookman Old Style" panose="02050604050505020204" pitchFamily="18" charset="0"/>
                </a:rPr>
                <a:t>Exceptions and Exception Handling</a:t>
              </a:r>
            </a:p>
          </p:txBody>
        </p:sp>
      </p:grpSp>
      <p:sp>
        <p:nvSpPr>
          <p:cNvPr id="19" name="TextBox 18">
            <a:extLst>
              <a:ext uri="{FF2B5EF4-FFF2-40B4-BE49-F238E27FC236}">
                <a16:creationId xmlns:a16="http://schemas.microsoft.com/office/drawing/2014/main" id="{3EC0154E-540D-4BCC-A7D5-07D90ECE43A4}"/>
              </a:ext>
            </a:extLst>
          </p:cNvPr>
          <p:cNvSpPr txBox="1"/>
          <p:nvPr/>
        </p:nvSpPr>
        <p:spPr>
          <a:xfrm>
            <a:off x="420774" y="887050"/>
            <a:ext cx="8978720" cy="3477875"/>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In contrast with </a:t>
            </a:r>
            <a:r>
              <a:rPr lang="en-US" sz="2000" dirty="0" err="1">
                <a:solidFill>
                  <a:srgbClr val="0000FF"/>
                </a:solidFill>
                <a:latin typeface="Arial" panose="020B0604020202020204" pitchFamily="34" charset="0"/>
                <a:cs typeface="Arial" panose="020B0604020202020204" pitchFamily="34" charset="0"/>
              </a:rPr>
              <a:t>UncheckedExceptions</a:t>
            </a:r>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CheckedExceptions</a:t>
            </a:r>
            <a:r>
              <a:rPr lang="en-US" sz="2000" dirty="0">
                <a:solidFill>
                  <a:srgbClr val="0000FF"/>
                </a:solidFill>
                <a:latin typeface="Arial" panose="020B0604020202020204" pitchFamily="34" charset="0"/>
                <a:cs typeface="Arial" panose="020B0604020202020204" pitchFamily="34" charset="0"/>
              </a:rPr>
              <a:t> are detected at compile time only. How because in java API some constructors and methods report that they may throw exception at runtime will be intimated through via "throws clause". throws clause is immediately written after constructor/method parenthesis. One or more Exception classes may be reported through throws clause. Hence developer before using API must observe the exception classes reported through throws clause in the API document and handle exception which using those methods and constructors. If developer ignores to refer API documentation / throws clause, then during compilation, java compiler observes such throws clauses, which exceptions are reported but not handled in the program, compiler will ask us to handle such exceptions. </a:t>
            </a:r>
          </a:p>
        </p:txBody>
      </p:sp>
      <p:sp>
        <p:nvSpPr>
          <p:cNvPr id="18" name="TextBox 17">
            <a:extLst>
              <a:ext uri="{FF2B5EF4-FFF2-40B4-BE49-F238E27FC236}">
                <a16:creationId xmlns:a16="http://schemas.microsoft.com/office/drawing/2014/main" id="{33157C5A-4696-E482-B485-94EED24CBC4F}"/>
              </a:ext>
            </a:extLst>
          </p:cNvPr>
          <p:cNvSpPr txBox="1"/>
          <p:nvPr/>
        </p:nvSpPr>
        <p:spPr>
          <a:xfrm>
            <a:off x="578224" y="4453807"/>
            <a:ext cx="8744593" cy="1323439"/>
          </a:xfrm>
          <a:prstGeom prst="rect">
            <a:avLst/>
          </a:prstGeom>
          <a:noFill/>
        </p:spPr>
        <p:txBody>
          <a:bodyPr wrap="square">
            <a:spAutoFit/>
          </a:bodyPr>
          <a:lstStyle/>
          <a:p>
            <a:pPr algn="just"/>
            <a:r>
              <a:rPr lang="en-IN" sz="2000" b="1" dirty="0">
                <a:solidFill>
                  <a:srgbClr val="0000FF"/>
                </a:solidFill>
              </a:rPr>
              <a:t>Exception super class is Throwable.</a:t>
            </a:r>
          </a:p>
          <a:p>
            <a:pPr algn="just"/>
            <a:r>
              <a:rPr lang="en-IN" sz="2000" b="1" dirty="0">
                <a:solidFill>
                  <a:srgbClr val="0000FF"/>
                </a:solidFill>
              </a:rPr>
              <a:t> </a:t>
            </a:r>
          </a:p>
          <a:p>
            <a:pPr algn="just"/>
            <a:r>
              <a:rPr lang="en-IN" sz="2000" b="1" dirty="0">
                <a:solidFill>
                  <a:srgbClr val="0000FF"/>
                </a:solidFill>
              </a:rPr>
              <a:t> Classes which extends from Exception class are called as </a:t>
            </a:r>
            <a:r>
              <a:rPr lang="en-IN" sz="2000" b="1" dirty="0" err="1">
                <a:solidFill>
                  <a:srgbClr val="0000FF"/>
                </a:solidFill>
              </a:rPr>
              <a:t>CheckedException</a:t>
            </a:r>
            <a:r>
              <a:rPr lang="en-IN" sz="2000" b="1" dirty="0">
                <a:solidFill>
                  <a:srgbClr val="0000FF"/>
                </a:solidFill>
              </a:rPr>
              <a:t>.</a:t>
            </a:r>
          </a:p>
          <a:p>
            <a:pPr algn="just"/>
            <a:r>
              <a:rPr lang="en-IN" sz="2000" b="1" dirty="0">
                <a:solidFill>
                  <a:srgbClr val="0000FF"/>
                </a:solidFill>
              </a:rPr>
              <a:t>Classes which extends </a:t>
            </a:r>
            <a:r>
              <a:rPr lang="en-IN" sz="2000" b="1" dirty="0" err="1">
                <a:solidFill>
                  <a:srgbClr val="0000FF"/>
                </a:solidFill>
              </a:rPr>
              <a:t>RuntimeException</a:t>
            </a:r>
            <a:r>
              <a:rPr lang="en-IN" sz="2000" b="1" dirty="0">
                <a:solidFill>
                  <a:srgbClr val="0000FF"/>
                </a:solidFill>
              </a:rPr>
              <a:t> class are called as </a:t>
            </a:r>
            <a:r>
              <a:rPr lang="en-IN" sz="2000" b="1" dirty="0" err="1">
                <a:solidFill>
                  <a:srgbClr val="0000FF"/>
                </a:solidFill>
              </a:rPr>
              <a:t>UncheckedException</a:t>
            </a:r>
            <a:r>
              <a:rPr lang="en-IN" sz="2000" b="1" dirty="0">
                <a:solidFill>
                  <a:srgbClr val="0000FF"/>
                </a:solidFill>
              </a:rPr>
              <a:t>.</a:t>
            </a:r>
          </a:p>
        </p:txBody>
      </p:sp>
      <p:sp>
        <p:nvSpPr>
          <p:cNvPr id="2" name="Footer Placeholder 1">
            <a:extLst>
              <a:ext uri="{FF2B5EF4-FFF2-40B4-BE49-F238E27FC236}">
                <a16:creationId xmlns:a16="http://schemas.microsoft.com/office/drawing/2014/main" id="{20C458A1-D755-2554-A74E-272EA2EC67C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22148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B389D850-98FE-4455-82A0-55DB91533358}"/>
              </a:ext>
            </a:extLst>
          </p:cNvPr>
          <p:cNvGrpSpPr/>
          <p:nvPr/>
        </p:nvGrpSpPr>
        <p:grpSpPr>
          <a:xfrm>
            <a:off x="0" y="-26656"/>
            <a:ext cx="12192000" cy="6884656"/>
            <a:chOff x="0" y="-26656"/>
            <a:chExt cx="12192000" cy="6884656"/>
          </a:xfrm>
        </p:grpSpPr>
        <p:pic>
          <p:nvPicPr>
            <p:cNvPr id="5" name="Picture 4">
              <a:extLst>
                <a:ext uri="{FF2B5EF4-FFF2-40B4-BE49-F238E27FC236}">
                  <a16:creationId xmlns:a16="http://schemas.microsoft.com/office/drawing/2014/main" id="{22217AF6-E6FB-4A70-97C7-0EEA265A34EF}"/>
                </a:ext>
              </a:extLst>
            </p:cNvPr>
            <p:cNvPicPr>
              <a:picLocks noChangeAspect="1"/>
            </p:cNvPicPr>
            <p:nvPr/>
          </p:nvPicPr>
          <p:blipFill>
            <a:blip r:embed="rId2"/>
            <a:stretch>
              <a:fillRect/>
            </a:stretch>
          </p:blipFill>
          <p:spPr>
            <a:xfrm>
              <a:off x="0" y="-26656"/>
              <a:ext cx="12192000" cy="930261"/>
            </a:xfrm>
            <a:prstGeom prst="rect">
              <a:avLst/>
            </a:prstGeom>
          </p:spPr>
        </p:pic>
        <p:pic>
          <p:nvPicPr>
            <p:cNvPr id="12" name="Picture 11">
              <a:extLst>
                <a:ext uri="{FF2B5EF4-FFF2-40B4-BE49-F238E27FC236}">
                  <a16:creationId xmlns:a16="http://schemas.microsoft.com/office/drawing/2014/main" id="{54E86C49-5A53-4352-9E18-AD739D7F1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2430" y="3048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0" name="TextBox 19">
              <a:extLst>
                <a:ext uri="{FF2B5EF4-FFF2-40B4-BE49-F238E27FC236}">
                  <a16:creationId xmlns:a16="http://schemas.microsoft.com/office/drawing/2014/main" id="{69E55383-FF23-40A3-A4CE-EA528A897641}"/>
                </a:ext>
              </a:extLst>
            </p:cNvPr>
            <p:cNvSpPr txBox="1"/>
            <p:nvPr/>
          </p:nvSpPr>
          <p:spPr>
            <a:xfrm>
              <a:off x="0" y="115308"/>
              <a:ext cx="12191998" cy="646331"/>
            </a:xfrm>
            <a:prstGeom prst="rect">
              <a:avLst/>
            </a:prstGeom>
            <a:noFill/>
          </p:spPr>
          <p:txBody>
            <a:bodyPr wrap="square">
              <a:spAutoFit/>
            </a:bodyPr>
            <a:lstStyle/>
            <a:p>
              <a:pPr algn="ctr"/>
              <a:r>
                <a:rPr lang="en-US" sz="3600" b="1" dirty="0">
                  <a:solidFill>
                    <a:srgbClr val="FFFF00"/>
                  </a:solidFill>
                  <a:latin typeface="Bookman Old Style" panose="02050604050505020204" pitchFamily="18" charset="0"/>
                </a:rPr>
                <a:t>Exceptions and Exception Handling</a:t>
              </a:r>
            </a:p>
          </p:txBody>
        </p:sp>
        <p:sp>
          <p:nvSpPr>
            <p:cNvPr id="22" name="Rectangle 21">
              <a:extLst>
                <a:ext uri="{FF2B5EF4-FFF2-40B4-BE49-F238E27FC236}">
                  <a16:creationId xmlns:a16="http://schemas.microsoft.com/office/drawing/2014/main" id="{BF217E6B-3517-4674-B064-F13129F7EDDA}"/>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grpSp>
      <p:sp>
        <p:nvSpPr>
          <p:cNvPr id="23" name="TextBox 22">
            <a:extLst>
              <a:ext uri="{FF2B5EF4-FFF2-40B4-BE49-F238E27FC236}">
                <a16:creationId xmlns:a16="http://schemas.microsoft.com/office/drawing/2014/main" id="{25616D0F-1355-494D-94AD-9BD26E7F4A09}"/>
              </a:ext>
            </a:extLst>
          </p:cNvPr>
          <p:cNvSpPr txBox="1"/>
          <p:nvPr/>
        </p:nvSpPr>
        <p:spPr>
          <a:xfrm>
            <a:off x="278131" y="991923"/>
            <a:ext cx="9115252" cy="5078313"/>
          </a:xfrm>
          <a:prstGeom prst="rect">
            <a:avLst/>
          </a:prstGeom>
          <a:noFill/>
        </p:spPr>
        <p:txBody>
          <a:bodyPr wrap="square" rtlCol="0">
            <a:spAutoFit/>
          </a:bodyPr>
          <a:lstStyle/>
          <a:p>
            <a:pPr algn="just"/>
            <a:r>
              <a:rPr lang="en-US" b="1" u="sng" dirty="0">
                <a:solidFill>
                  <a:srgbClr val="0000FF"/>
                </a:solidFill>
                <a:latin typeface="Arial" panose="020B0604020202020204" pitchFamily="34" charset="0"/>
                <a:cs typeface="Arial" panose="020B0604020202020204" pitchFamily="34" charset="0"/>
              </a:rPr>
              <a:t>Checked Exception:</a:t>
            </a:r>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Checked Exception are exceptions which causes because system related errors such as </a:t>
            </a:r>
            <a:r>
              <a:rPr lang="en-US" dirty="0" err="1">
                <a:solidFill>
                  <a:srgbClr val="0000FF"/>
                </a:solidFill>
                <a:latin typeface="Arial" panose="020B0604020202020204" pitchFamily="34" charset="0"/>
                <a:cs typeface="Arial" panose="020B0604020202020204" pitchFamily="34" charset="0"/>
              </a:rPr>
              <a:t>filenotfound</a:t>
            </a:r>
            <a:r>
              <a:rPr lang="en-US" dirty="0">
                <a:solidFill>
                  <a:srgbClr val="0000FF"/>
                </a:solidFill>
                <a:latin typeface="Arial" panose="020B0604020202020204" pitchFamily="34" charset="0"/>
                <a:cs typeface="Arial" panose="020B0604020202020204" pitchFamily="34" charset="0"/>
              </a:rPr>
              <a:t>, socket connection problem, DB connection error, SQL execution failure etc. When a method/constructor reports </a:t>
            </a:r>
            <a:r>
              <a:rPr lang="en-US" dirty="0" err="1">
                <a:solidFill>
                  <a:srgbClr val="0000FF"/>
                </a:solidFill>
                <a:latin typeface="Arial" panose="020B0604020202020204" pitchFamily="34" charset="0"/>
                <a:cs typeface="Arial" panose="020B0604020202020204" pitchFamily="34" charset="0"/>
              </a:rPr>
              <a:t>CheckedException</a:t>
            </a:r>
            <a:r>
              <a:rPr lang="en-US" dirty="0">
                <a:solidFill>
                  <a:srgbClr val="0000FF"/>
                </a:solidFill>
                <a:latin typeface="Arial" panose="020B0604020202020204" pitchFamily="34" charset="0"/>
                <a:cs typeface="Arial" panose="020B0604020202020204" pitchFamily="34" charset="0"/>
              </a:rPr>
              <a:t> compiler forces us to handle such Exceptions in the method.</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b="1" u="sng" dirty="0">
                <a:solidFill>
                  <a:srgbClr val="0000FF"/>
                </a:solidFill>
                <a:latin typeface="Arial" panose="020B0604020202020204" pitchFamily="34" charset="0"/>
                <a:cs typeface="Arial" panose="020B0604020202020204" pitchFamily="34" charset="0"/>
              </a:rPr>
              <a:t>Given in API/in rt.jar file:</a:t>
            </a:r>
          </a:p>
          <a:p>
            <a:pPr algn="just"/>
            <a:r>
              <a:rPr lang="en-US" dirty="0">
                <a:solidFill>
                  <a:srgbClr val="0000FF"/>
                </a:solidFill>
                <a:latin typeface="Arial" panose="020B0604020202020204" pitchFamily="34" charset="0"/>
                <a:cs typeface="Arial" panose="020B0604020202020204" pitchFamily="34" charset="0"/>
              </a:rPr>
              <a:t>public class </a:t>
            </a:r>
            <a:r>
              <a:rPr lang="en-US" dirty="0" err="1">
                <a:solidFill>
                  <a:srgbClr val="0000FF"/>
                </a:solidFill>
                <a:latin typeface="Arial" panose="020B0604020202020204" pitchFamily="34" charset="0"/>
                <a:cs typeface="Arial" panose="020B0604020202020204" pitchFamily="34" charset="0"/>
              </a:rPr>
              <a:t>FileInputStream</a:t>
            </a:r>
            <a:r>
              <a:rPr lang="en-US" dirty="0">
                <a:solidFill>
                  <a:srgbClr val="0000FF"/>
                </a:solidFill>
                <a:latin typeface="Arial" panose="020B0604020202020204" pitchFamily="34" charset="0"/>
                <a:cs typeface="Arial" panose="020B0604020202020204" pitchFamily="34" charset="0"/>
              </a:rPr>
              <a:t> extends </a:t>
            </a:r>
            <a:r>
              <a:rPr lang="en-US" dirty="0" err="1">
                <a:solidFill>
                  <a:srgbClr val="0000FF"/>
                </a:solidFill>
                <a:latin typeface="Arial" panose="020B0604020202020204" pitchFamily="34" charset="0"/>
                <a:cs typeface="Arial" panose="020B0604020202020204" pitchFamily="34" charset="0"/>
              </a:rPr>
              <a:t>InputStream</a:t>
            </a:r>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	public </a:t>
            </a:r>
            <a:r>
              <a:rPr lang="en-US" dirty="0" err="1">
                <a:solidFill>
                  <a:srgbClr val="0000FF"/>
                </a:solidFill>
                <a:latin typeface="Arial" panose="020B0604020202020204" pitchFamily="34" charset="0"/>
                <a:cs typeface="Arial" panose="020B0604020202020204" pitchFamily="34" charset="0"/>
              </a:rPr>
              <a:t>FileInputStream</a:t>
            </a:r>
            <a:r>
              <a:rPr lang="en-US" dirty="0">
                <a:solidFill>
                  <a:srgbClr val="0000FF"/>
                </a:solidFill>
                <a:latin typeface="Arial" panose="020B0604020202020204" pitchFamily="34" charset="0"/>
                <a:cs typeface="Arial" panose="020B0604020202020204" pitchFamily="34" charset="0"/>
              </a:rPr>
              <a:t>(String </a:t>
            </a:r>
            <a:r>
              <a:rPr lang="en-US" dirty="0" err="1">
                <a:solidFill>
                  <a:srgbClr val="0000FF"/>
                </a:solidFill>
                <a:latin typeface="Arial" panose="020B0604020202020204" pitchFamily="34" charset="0"/>
                <a:cs typeface="Arial" panose="020B0604020202020204" pitchFamily="34" charset="0"/>
              </a:rPr>
              <a:t>fileName</a:t>
            </a:r>
            <a:r>
              <a:rPr lang="en-US" dirty="0">
                <a:solidFill>
                  <a:srgbClr val="0000FF"/>
                </a:solidFill>
                <a:latin typeface="Arial" panose="020B0604020202020204" pitchFamily="34" charset="0"/>
                <a:cs typeface="Arial" panose="020B0604020202020204" pitchFamily="34" charset="0"/>
              </a:rPr>
              <a:t>) throws </a:t>
            </a:r>
            <a:r>
              <a:rPr lang="en-US" dirty="0" err="1">
                <a:solidFill>
                  <a:srgbClr val="0000FF"/>
                </a:solidFill>
                <a:latin typeface="Arial" panose="020B0604020202020204" pitchFamily="34" charset="0"/>
                <a:cs typeface="Arial" panose="020B0604020202020204" pitchFamily="34" charset="0"/>
              </a:rPr>
              <a:t>FileNotFoundException</a:t>
            </a:r>
            <a:r>
              <a:rPr lang="en-US" dirty="0">
                <a:solidFill>
                  <a:srgbClr val="0000FF"/>
                </a:solidFill>
                <a:latin typeface="Arial" panose="020B0604020202020204" pitchFamily="34" charset="0"/>
                <a:cs typeface="Arial" panose="020B0604020202020204" pitchFamily="34" charset="0"/>
              </a:rPr>
              <a:t> {	</a:t>
            </a:r>
          </a:p>
          <a:p>
            <a:pPr algn="just"/>
            <a:r>
              <a:rPr lang="en-US" dirty="0">
                <a:solidFill>
                  <a:srgbClr val="0000FF"/>
                </a:solidFill>
                <a:latin typeface="Arial" panose="020B0604020202020204" pitchFamily="34" charset="0"/>
                <a:cs typeface="Arial" panose="020B0604020202020204" pitchFamily="34" charset="0"/>
              </a:rPr>
              <a:t>		if(</a:t>
            </a:r>
            <a:r>
              <a:rPr lang="en-US" dirty="0" err="1">
                <a:solidFill>
                  <a:srgbClr val="0000FF"/>
                </a:solidFill>
                <a:latin typeface="Arial" panose="020B0604020202020204" pitchFamily="34" charset="0"/>
                <a:cs typeface="Arial" panose="020B0604020202020204" pitchFamily="34" charset="0"/>
              </a:rPr>
              <a:t>fileName</a:t>
            </a:r>
            <a:r>
              <a:rPr lang="en-US" dirty="0">
                <a:solidFill>
                  <a:srgbClr val="0000FF"/>
                </a:solidFill>
                <a:latin typeface="Arial" panose="020B0604020202020204" pitchFamily="34" charset="0"/>
                <a:cs typeface="Arial" panose="020B0604020202020204" pitchFamily="34" charset="0"/>
              </a:rPr>
              <a:t> not exist)</a:t>
            </a:r>
          </a:p>
          <a:p>
            <a:pPr algn="just"/>
            <a:r>
              <a:rPr lang="en-US" dirty="0">
                <a:solidFill>
                  <a:srgbClr val="0000FF"/>
                </a:solidFill>
                <a:latin typeface="Arial" panose="020B0604020202020204" pitchFamily="34" charset="0"/>
                <a:cs typeface="Arial" panose="020B0604020202020204" pitchFamily="34" charset="0"/>
              </a:rPr>
              <a:t>			throw new </a:t>
            </a:r>
            <a:r>
              <a:rPr lang="en-US" dirty="0" err="1">
                <a:solidFill>
                  <a:srgbClr val="0000FF"/>
                </a:solidFill>
                <a:latin typeface="Arial" panose="020B0604020202020204" pitchFamily="34" charset="0"/>
                <a:cs typeface="Arial" panose="020B0604020202020204" pitchFamily="34" charset="0"/>
              </a:rPr>
              <a:t>FileNotFoundException</a:t>
            </a:r>
            <a:r>
              <a:rPr lang="en-US" dirty="0">
                <a:solidFill>
                  <a:srgbClr val="0000FF"/>
                </a:solidFill>
                <a:latin typeface="Arial" panose="020B0604020202020204" pitchFamily="34" charset="0"/>
                <a:cs typeface="Arial" panose="020B0604020202020204" pitchFamily="34" charset="0"/>
              </a:rPr>
              <a:t>(</a:t>
            </a:r>
            <a:r>
              <a:rPr lang="en-US" dirty="0" err="1">
                <a:solidFill>
                  <a:srgbClr val="0000FF"/>
                </a:solidFill>
                <a:latin typeface="Arial" panose="020B0604020202020204" pitchFamily="34" charset="0"/>
                <a:cs typeface="Arial" panose="020B0604020202020204" pitchFamily="34" charset="0"/>
              </a:rPr>
              <a:t>fileName</a:t>
            </a:r>
            <a:r>
              <a:rPr lang="en-US" dirty="0">
                <a:solidFill>
                  <a:srgbClr val="0000FF"/>
                </a:solidFill>
                <a:latin typeface="Arial" panose="020B0604020202020204" pitchFamily="34" charset="0"/>
                <a:cs typeface="Arial" panose="020B0604020202020204" pitchFamily="34" charset="0"/>
              </a:rPr>
              <a:t>+" requested file is not found");</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	public int read() throws </a:t>
            </a:r>
            <a:r>
              <a:rPr lang="en-US" dirty="0" err="1">
                <a:solidFill>
                  <a:srgbClr val="0000FF"/>
                </a:solidFill>
                <a:latin typeface="Arial" panose="020B0604020202020204" pitchFamily="34" charset="0"/>
                <a:cs typeface="Arial" panose="020B0604020202020204" pitchFamily="34" charset="0"/>
              </a:rPr>
              <a:t>IOException</a:t>
            </a:r>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		if(file reached to end-of-the-file)</a:t>
            </a:r>
          </a:p>
          <a:p>
            <a:pPr algn="just"/>
            <a:r>
              <a:rPr lang="en-US" dirty="0">
                <a:solidFill>
                  <a:srgbClr val="0000FF"/>
                </a:solidFill>
                <a:latin typeface="Arial" panose="020B0604020202020204" pitchFamily="34" charset="0"/>
                <a:cs typeface="Arial" panose="020B0604020202020204" pitchFamily="34" charset="0"/>
              </a:rPr>
              <a:t>			throw new </a:t>
            </a:r>
            <a:r>
              <a:rPr lang="en-US" dirty="0" err="1">
                <a:solidFill>
                  <a:srgbClr val="0000FF"/>
                </a:solidFill>
                <a:latin typeface="Arial" panose="020B0604020202020204" pitchFamily="34" charset="0"/>
                <a:cs typeface="Arial" panose="020B0604020202020204" pitchFamily="34" charset="0"/>
              </a:rPr>
              <a:t>EOFException</a:t>
            </a:r>
            <a:r>
              <a:rPr lang="en-US" dirty="0">
                <a:solidFill>
                  <a:srgbClr val="0000FF"/>
                </a:solidFill>
                <a:latin typeface="Arial" panose="020B0604020202020204" pitchFamily="34" charset="0"/>
                <a:cs typeface="Arial" panose="020B0604020202020204" pitchFamily="34" charset="0"/>
              </a:rPr>
              <a:t>();</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a:t>
            </a:r>
          </a:p>
        </p:txBody>
      </p:sp>
      <p:sp>
        <p:nvSpPr>
          <p:cNvPr id="2" name="Footer Placeholder 1">
            <a:extLst>
              <a:ext uri="{FF2B5EF4-FFF2-40B4-BE49-F238E27FC236}">
                <a16:creationId xmlns:a16="http://schemas.microsoft.com/office/drawing/2014/main" id="{F5516972-04AB-9635-20EE-1BFE2EA5165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580979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3AB72BF-C7A3-492E-88BE-A5C3E8891529}"/>
              </a:ext>
            </a:extLst>
          </p:cNvPr>
          <p:cNvGrpSpPr/>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C1FBA0B9-32F0-4E2B-8962-2074254DDBB6}"/>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12" name="Picture 11">
              <a:extLst>
                <a:ext uri="{FF2B5EF4-FFF2-40B4-BE49-F238E27FC236}">
                  <a16:creationId xmlns:a16="http://schemas.microsoft.com/office/drawing/2014/main" id="{4785E5A0-793A-4F29-8131-FEE9C84E1212}"/>
                </a:ext>
              </a:extLst>
            </p:cNvPr>
            <p:cNvPicPr>
              <a:picLocks noChangeAspect="1"/>
            </p:cNvPicPr>
            <p:nvPr/>
          </p:nvPicPr>
          <p:blipFill>
            <a:blip r:embed="rId2"/>
            <a:stretch>
              <a:fillRect/>
            </a:stretch>
          </p:blipFill>
          <p:spPr>
            <a:xfrm>
              <a:off x="2024062" y="76198"/>
              <a:ext cx="8143875" cy="846469"/>
            </a:xfrm>
            <a:prstGeom prst="rect">
              <a:avLst/>
            </a:prstGeom>
          </p:spPr>
        </p:pic>
        <p:sp>
          <p:nvSpPr>
            <p:cNvPr id="13" name="Frame 12">
              <a:extLst>
                <a:ext uri="{FF2B5EF4-FFF2-40B4-BE49-F238E27FC236}">
                  <a16:creationId xmlns:a16="http://schemas.microsoft.com/office/drawing/2014/main" id="{4B249E48-6E58-412F-BA5A-5A9835F61939}"/>
                </a:ext>
              </a:extLst>
            </p:cNvPr>
            <p:cNvSpPr/>
            <p:nvPr/>
          </p:nvSpPr>
          <p:spPr>
            <a:xfrm>
              <a:off x="0" y="0"/>
              <a:ext cx="12192000" cy="6858000"/>
            </a:xfrm>
            <a:prstGeom prst="frame">
              <a:avLst>
                <a:gd name="adj1" fmla="val 1389"/>
              </a:avLst>
            </a:prstGeom>
            <a:solidFill>
              <a:srgbClr val="003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4" name="Picture 13">
              <a:extLst>
                <a:ext uri="{FF2B5EF4-FFF2-40B4-BE49-F238E27FC236}">
                  <a16:creationId xmlns:a16="http://schemas.microsoft.com/office/drawing/2014/main" id="{90D13227-97FA-4390-B099-83C3AFCF0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0050" y="76199"/>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a:extLst>
                <a:ext uri="{FF2B5EF4-FFF2-40B4-BE49-F238E27FC236}">
                  <a16:creationId xmlns:a16="http://schemas.microsoft.com/office/drawing/2014/main" id="{750E2B70-4790-4092-BB44-B6D6D52BE742}"/>
                </a:ext>
              </a:extLst>
            </p:cNvPr>
            <p:cNvSpPr txBox="1"/>
            <p:nvPr/>
          </p:nvSpPr>
          <p:spPr>
            <a:xfrm>
              <a:off x="2024061" y="314766"/>
              <a:ext cx="8143875" cy="369332"/>
            </a:xfrm>
            <a:prstGeom prst="rect">
              <a:avLst/>
            </a:prstGeom>
            <a:noFill/>
          </p:spPr>
          <p:txBody>
            <a:bodyPr wrap="square">
              <a:spAutoFit/>
            </a:bodyPr>
            <a:lstStyle/>
            <a:p>
              <a:pPr algn="ctr"/>
              <a:r>
                <a:rPr lang="en-US" sz="1800" b="1" dirty="0">
                  <a:solidFill>
                    <a:srgbClr val="FFFF00"/>
                  </a:solidFill>
                  <a:latin typeface="Bookman Old Style" panose="02050604050505020204" pitchFamily="18" charset="0"/>
                </a:rPr>
                <a:t>Exceptions and Exception Handling</a:t>
              </a:r>
            </a:p>
          </p:txBody>
        </p:sp>
      </p:grpSp>
      <p:sp>
        <p:nvSpPr>
          <p:cNvPr id="16" name="TextBox 15">
            <a:extLst>
              <a:ext uri="{FF2B5EF4-FFF2-40B4-BE49-F238E27FC236}">
                <a16:creationId xmlns:a16="http://schemas.microsoft.com/office/drawing/2014/main" id="{26B2D17A-1BED-463E-9268-0B67C3BB63F0}"/>
              </a:ext>
            </a:extLst>
          </p:cNvPr>
          <p:cNvSpPr txBox="1"/>
          <p:nvPr/>
        </p:nvSpPr>
        <p:spPr>
          <a:xfrm>
            <a:off x="235221" y="1041700"/>
            <a:ext cx="5291520" cy="5262979"/>
          </a:xfrm>
          <a:prstGeom prst="rect">
            <a:avLst/>
          </a:prstGeom>
          <a:noFill/>
        </p:spPr>
        <p:txBody>
          <a:bodyPr wrap="square" rtlCol="0">
            <a:spAutoFit/>
          </a:bodyPr>
          <a:lstStyle/>
          <a:p>
            <a:r>
              <a:rPr lang="en-US" sz="1400" u="sng" dirty="0">
                <a:solidFill>
                  <a:srgbClr val="0000FF"/>
                </a:solidFill>
                <a:latin typeface="Arial" panose="020B0604020202020204" pitchFamily="34" charset="0"/>
                <a:cs typeface="Arial" panose="020B0604020202020204" pitchFamily="34" charset="0"/>
              </a:rPr>
              <a:t>In the developer written client program:</a:t>
            </a:r>
          </a:p>
          <a:p>
            <a:r>
              <a:rPr lang="en-US" sz="1400" dirty="0">
                <a:solidFill>
                  <a:srgbClr val="0000FF"/>
                </a:solidFill>
                <a:latin typeface="Arial" panose="020B0604020202020204" pitchFamily="34" charset="0"/>
                <a:cs typeface="Arial" panose="020B0604020202020204" pitchFamily="34" charset="0"/>
              </a:rPr>
              <a:t>class </a:t>
            </a:r>
            <a:r>
              <a:rPr lang="en-US" sz="1400" dirty="0" err="1">
                <a:solidFill>
                  <a:srgbClr val="0000FF"/>
                </a:solidFill>
                <a:latin typeface="Arial" panose="020B0604020202020204" pitchFamily="34" charset="0"/>
                <a:cs typeface="Arial" panose="020B0604020202020204" pitchFamily="34" charset="0"/>
              </a:rPr>
              <a:t>FISClient</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public static void main(String rags[]) {</a:t>
            </a:r>
          </a:p>
          <a:p>
            <a:r>
              <a:rPr lang="en-US" sz="1400" dirty="0">
                <a:solidFill>
                  <a:srgbClr val="0000FF"/>
                </a:solidFill>
                <a:latin typeface="Arial" panose="020B0604020202020204" pitchFamily="34" charset="0"/>
                <a:cs typeface="Arial" panose="020B0604020202020204" pitchFamily="34" charset="0"/>
              </a:rPr>
              <a:t>  try {</a:t>
            </a:r>
          </a:p>
          <a:p>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FileInputStream</a:t>
            </a:r>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fis</a:t>
            </a:r>
            <a:r>
              <a:rPr lang="en-US" sz="1400" dirty="0">
                <a:solidFill>
                  <a:srgbClr val="0000FF"/>
                </a:solidFill>
                <a:latin typeface="Arial" panose="020B0604020202020204" pitchFamily="34" charset="0"/>
                <a:cs typeface="Arial" panose="020B0604020202020204" pitchFamily="34" charset="0"/>
              </a:rPr>
              <a:t>=new </a:t>
            </a:r>
            <a:r>
              <a:rPr lang="en-US" sz="1400" dirty="0" err="1">
                <a:solidFill>
                  <a:srgbClr val="0000FF"/>
                </a:solidFill>
                <a:latin typeface="Arial" panose="020B0604020202020204" pitchFamily="34" charset="0"/>
                <a:cs typeface="Arial" panose="020B0604020202020204" pitchFamily="34" charset="0"/>
              </a:rPr>
              <a:t>FileInputStream</a:t>
            </a:r>
            <a:r>
              <a:rPr lang="en-US" sz="1400" dirty="0">
                <a:solidFill>
                  <a:srgbClr val="0000FF"/>
                </a:solidFill>
                <a:latin typeface="Arial" panose="020B0604020202020204" pitchFamily="34" charset="0"/>
                <a:cs typeface="Arial" panose="020B0604020202020204" pitchFamily="34" charset="0"/>
              </a:rPr>
              <a:t>("studentDetails.txt");</a:t>
            </a:r>
          </a:p>
          <a:p>
            <a:r>
              <a:rPr lang="en-US" sz="1400" dirty="0">
                <a:solidFill>
                  <a:srgbClr val="0000FF"/>
                </a:solidFill>
                <a:latin typeface="Arial" panose="020B0604020202020204" pitchFamily="34" charset="0"/>
                <a:cs typeface="Arial" panose="020B0604020202020204" pitchFamily="34" charset="0"/>
              </a:rPr>
              <a:t>     int </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fis.read</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fis.read</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fis.read</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catch(</a:t>
            </a:r>
            <a:r>
              <a:rPr lang="en-US" sz="1400" dirty="0" err="1">
                <a:solidFill>
                  <a:srgbClr val="0000FF"/>
                </a:solidFill>
                <a:latin typeface="Arial" panose="020B0604020202020204" pitchFamily="34" charset="0"/>
                <a:cs typeface="Arial" panose="020B0604020202020204" pitchFamily="34" charset="0"/>
              </a:rPr>
              <a:t>FileNotFoundException</a:t>
            </a:r>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fnfe</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fnfe.printStackTrace</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 or</a:t>
            </a:r>
          </a:p>
          <a:p>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System.err.println</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fnfe</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 terminate the program</a:t>
            </a:r>
          </a:p>
          <a:p>
            <a:r>
              <a:rPr lang="en-US" sz="1400" dirty="0">
                <a:solidFill>
                  <a:srgbClr val="0000FF"/>
                </a:solidFill>
                <a:latin typeface="Arial" panose="020B0604020202020204" pitchFamily="34" charset="0"/>
                <a:cs typeface="Arial" panose="020B0604020202020204" pitchFamily="34" charset="0"/>
              </a:rPr>
              <a:t>  // </a:t>
            </a:r>
            <a:r>
              <a:rPr lang="en-US" sz="1400" dirty="0" err="1">
                <a:solidFill>
                  <a:srgbClr val="0000FF"/>
                </a:solidFill>
                <a:latin typeface="Arial" panose="020B0604020202020204" pitchFamily="34" charset="0"/>
                <a:cs typeface="Arial" panose="020B0604020202020204" pitchFamily="34" charset="0"/>
              </a:rPr>
              <a:t>System.exit</a:t>
            </a:r>
            <a:r>
              <a:rPr lang="en-US" sz="1400" dirty="0">
                <a:solidFill>
                  <a:srgbClr val="0000FF"/>
                </a:solidFill>
                <a:latin typeface="Arial" panose="020B0604020202020204" pitchFamily="34" charset="0"/>
                <a:cs typeface="Arial" panose="020B0604020202020204" pitchFamily="34" charset="0"/>
              </a:rPr>
              <a:t>(0);</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catch(</a:t>
            </a:r>
            <a:r>
              <a:rPr lang="en-US" sz="1400" dirty="0" err="1">
                <a:solidFill>
                  <a:srgbClr val="0000FF"/>
                </a:solidFill>
                <a:latin typeface="Arial" panose="020B0604020202020204" pitchFamily="34" charset="0"/>
                <a:cs typeface="Arial" panose="020B0604020202020204" pitchFamily="34" charset="0"/>
              </a:rPr>
              <a:t>IOException</a:t>
            </a:r>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ioe</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catch(Exception </a:t>
            </a:r>
            <a:r>
              <a:rPr lang="en-US" sz="1400" dirty="0" err="1">
                <a:solidFill>
                  <a:srgbClr val="0000FF"/>
                </a:solidFill>
                <a:latin typeface="Arial" panose="020B0604020202020204" pitchFamily="34" charset="0"/>
                <a:cs typeface="Arial" panose="020B0604020202020204" pitchFamily="34" charset="0"/>
              </a:rPr>
              <a:t>ioe</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catch(Throwable t) {</a:t>
            </a:r>
          </a:p>
          <a:p>
            <a:r>
              <a:rPr lang="en-US" sz="1400" dirty="0">
                <a:solidFill>
                  <a:srgbClr val="0000FF"/>
                </a:solidFill>
                <a:latin typeface="Arial" panose="020B0604020202020204" pitchFamily="34" charset="0"/>
                <a:cs typeface="Arial" panose="020B0604020202020204" pitchFamily="34" charset="0"/>
              </a:rPr>
              <a:t>  }</a:t>
            </a:r>
          </a:p>
        </p:txBody>
      </p:sp>
      <p:sp>
        <p:nvSpPr>
          <p:cNvPr id="10" name="TextBox 9">
            <a:extLst>
              <a:ext uri="{FF2B5EF4-FFF2-40B4-BE49-F238E27FC236}">
                <a16:creationId xmlns:a16="http://schemas.microsoft.com/office/drawing/2014/main" id="{8127E758-69F4-306C-3E6F-B1E0313453F0}"/>
              </a:ext>
            </a:extLst>
          </p:cNvPr>
          <p:cNvSpPr txBox="1"/>
          <p:nvPr/>
        </p:nvSpPr>
        <p:spPr>
          <a:xfrm>
            <a:off x="5511337" y="1237433"/>
            <a:ext cx="4453775" cy="4401205"/>
          </a:xfrm>
          <a:prstGeom prst="rect">
            <a:avLst/>
          </a:prstGeom>
          <a:noFill/>
        </p:spPr>
        <p:txBody>
          <a:bodyPr wrap="square">
            <a:spAutoFit/>
          </a:bodyPr>
          <a:lstStyle/>
          <a:p>
            <a:r>
              <a:rPr lang="en-US" sz="1400" dirty="0">
                <a:solidFill>
                  <a:srgbClr val="0000FF"/>
                </a:solidFill>
                <a:latin typeface="Arial" panose="020B0604020202020204" pitchFamily="34" charset="0"/>
                <a:cs typeface="Arial" panose="020B0604020202020204" pitchFamily="34" charset="0"/>
              </a:rPr>
              <a:t>try {</a:t>
            </a:r>
          </a:p>
          <a:p>
            <a:r>
              <a:rPr lang="en-US" sz="1400" dirty="0">
                <a:solidFill>
                  <a:srgbClr val="0000FF"/>
                </a:solidFill>
                <a:latin typeface="Arial" panose="020B0604020202020204" pitchFamily="34" charset="0"/>
                <a:cs typeface="Arial" panose="020B0604020202020204" pitchFamily="34" charset="0"/>
              </a:rPr>
              <a:t>  // int </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sc.nextInt</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int </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Integer.parseInt</a:t>
            </a:r>
            <a:r>
              <a:rPr lang="en-US" sz="1400" dirty="0">
                <a:solidFill>
                  <a:srgbClr val="0000FF"/>
                </a:solidFill>
                <a:latin typeface="Arial" panose="020B0604020202020204" pitchFamily="34" charset="0"/>
                <a:cs typeface="Arial" panose="020B0604020202020204" pitchFamily="34" charset="0"/>
              </a:rPr>
              <a:t>(rags[0]);</a:t>
            </a:r>
          </a:p>
          <a:p>
            <a:r>
              <a:rPr lang="en-US" sz="1400" dirty="0">
                <a:solidFill>
                  <a:srgbClr val="0000FF"/>
                </a:solidFill>
                <a:latin typeface="Arial" panose="020B0604020202020204" pitchFamily="34" charset="0"/>
                <a:cs typeface="Arial" panose="020B0604020202020204" pitchFamily="34" charset="0"/>
              </a:rPr>
              <a:t>  // int j=</a:t>
            </a:r>
            <a:r>
              <a:rPr lang="en-US" sz="1400" dirty="0" err="1">
                <a:solidFill>
                  <a:srgbClr val="0000FF"/>
                </a:solidFill>
                <a:latin typeface="Arial" panose="020B0604020202020204" pitchFamily="34" charset="0"/>
                <a:cs typeface="Arial" panose="020B0604020202020204" pitchFamily="34" charset="0"/>
              </a:rPr>
              <a:t>sc.nextInt</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int j=</a:t>
            </a:r>
            <a:r>
              <a:rPr lang="en-US" sz="1400" dirty="0" err="1">
                <a:solidFill>
                  <a:srgbClr val="0000FF"/>
                </a:solidFill>
                <a:latin typeface="Arial" panose="020B0604020202020204" pitchFamily="34" charset="0"/>
                <a:cs typeface="Arial" panose="020B0604020202020204" pitchFamily="34" charset="0"/>
              </a:rPr>
              <a:t>Integer.parseInt</a:t>
            </a:r>
            <a:r>
              <a:rPr lang="en-US" sz="1400" dirty="0">
                <a:solidFill>
                  <a:srgbClr val="0000FF"/>
                </a:solidFill>
                <a:latin typeface="Arial" panose="020B0604020202020204" pitchFamily="34" charset="0"/>
                <a:cs typeface="Arial" panose="020B0604020202020204" pitchFamily="34" charset="0"/>
              </a:rPr>
              <a:t>(rags[1]);</a:t>
            </a:r>
          </a:p>
          <a:p>
            <a:endParaRPr lang="en-US" sz="1400" dirty="0">
              <a:solidFill>
                <a:srgbClr val="0000FF"/>
              </a:solidFill>
              <a:latin typeface="Arial" panose="020B0604020202020204" pitchFamily="34" charset="0"/>
              <a:cs typeface="Arial" panose="020B0604020202020204" pitchFamily="34" charset="0"/>
            </a:endParaRPr>
          </a:p>
          <a:p>
            <a:r>
              <a:rPr lang="en-US" sz="1400" dirty="0">
                <a:solidFill>
                  <a:srgbClr val="0000FF"/>
                </a:solidFill>
                <a:latin typeface="Arial" panose="020B0604020202020204" pitchFamily="34" charset="0"/>
                <a:cs typeface="Arial" panose="020B0604020202020204" pitchFamily="34" charset="0"/>
              </a:rPr>
              <a:t>  int k=</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/j;</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catch(</a:t>
            </a:r>
            <a:r>
              <a:rPr lang="en-US" sz="1400" dirty="0" err="1">
                <a:solidFill>
                  <a:srgbClr val="0000FF"/>
                </a:solidFill>
                <a:latin typeface="Arial" panose="020B0604020202020204" pitchFamily="34" charset="0"/>
                <a:cs typeface="Arial" panose="020B0604020202020204" pitchFamily="34" charset="0"/>
              </a:rPr>
              <a:t>NumberFormatException</a:t>
            </a:r>
            <a:r>
              <a:rPr lang="en-US" sz="1400" dirty="0">
                <a:solidFill>
                  <a:srgbClr val="0000FF"/>
                </a:solidFill>
                <a:latin typeface="Arial" panose="020B0604020202020204" pitchFamily="34" charset="0"/>
                <a:cs typeface="Arial" panose="020B0604020202020204" pitchFamily="34" charset="0"/>
              </a:rPr>
              <a:t> ae) {</a:t>
            </a:r>
          </a:p>
          <a:p>
            <a:r>
              <a:rPr lang="en-US" sz="1400" dirty="0">
                <a:solidFill>
                  <a:srgbClr val="0000FF"/>
                </a:solidFill>
                <a:latin typeface="Arial" panose="020B0604020202020204" pitchFamily="34" charset="0"/>
                <a:cs typeface="Arial" panose="020B0604020202020204" pitchFamily="34" charset="0"/>
              </a:rPr>
              <a:t> } </a:t>
            </a:r>
          </a:p>
          <a:p>
            <a:r>
              <a:rPr lang="en-US" sz="1400" dirty="0">
                <a:solidFill>
                  <a:srgbClr val="0000FF"/>
                </a:solidFill>
                <a:latin typeface="Arial" panose="020B0604020202020204" pitchFamily="34" charset="0"/>
                <a:cs typeface="Arial" panose="020B0604020202020204" pitchFamily="34" charset="0"/>
              </a:rPr>
              <a:t>  catch(ArithmeticException ae)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try {</a:t>
            </a:r>
          </a:p>
          <a:p>
            <a:r>
              <a:rPr lang="en-US" sz="1400" dirty="0">
                <a:solidFill>
                  <a:srgbClr val="0000FF"/>
                </a:solidFill>
                <a:latin typeface="Arial" panose="020B0604020202020204" pitchFamily="34" charset="0"/>
                <a:cs typeface="Arial" panose="020B0604020202020204" pitchFamily="34" charset="0"/>
              </a:rPr>
              <a:t>    int </a:t>
            </a:r>
            <a:r>
              <a:rPr lang="en-US" sz="1400" dirty="0" err="1">
                <a:solidFill>
                  <a:srgbClr val="0000FF"/>
                </a:solidFill>
                <a:latin typeface="Arial" panose="020B0604020202020204" pitchFamily="34" charset="0"/>
                <a:cs typeface="Arial" panose="020B0604020202020204" pitchFamily="34" charset="0"/>
              </a:rPr>
              <a:t>iarr</a:t>
            </a:r>
            <a:r>
              <a:rPr lang="en-US" sz="1400" dirty="0">
                <a:solidFill>
                  <a:srgbClr val="0000FF"/>
                </a:solidFill>
                <a:latin typeface="Arial" panose="020B0604020202020204" pitchFamily="34" charset="0"/>
                <a:cs typeface="Arial" panose="020B0604020202020204" pitchFamily="34" charset="0"/>
              </a:rPr>
              <a:t>[]={1,2};</a:t>
            </a:r>
          </a:p>
          <a:p>
            <a:r>
              <a:rPr lang="en-US" sz="1400" dirty="0">
                <a:solidFill>
                  <a:srgbClr val="0000FF"/>
                </a:solidFill>
                <a:latin typeface="Arial" panose="020B0604020202020204" pitchFamily="34" charset="0"/>
                <a:cs typeface="Arial" panose="020B0604020202020204" pitchFamily="34" charset="0"/>
              </a:rPr>
              <a:t>    System.out.println(</a:t>
            </a:r>
            <a:r>
              <a:rPr lang="en-US" sz="1400" dirty="0" err="1">
                <a:solidFill>
                  <a:srgbClr val="0000FF"/>
                </a:solidFill>
                <a:latin typeface="Arial" panose="020B0604020202020204" pitchFamily="34" charset="0"/>
                <a:cs typeface="Arial" panose="020B0604020202020204" pitchFamily="34" charset="0"/>
              </a:rPr>
              <a:t>iarr</a:t>
            </a:r>
            <a:r>
              <a:rPr lang="en-US" sz="1400" dirty="0">
                <a:solidFill>
                  <a:srgbClr val="0000FF"/>
                </a:solidFill>
                <a:latin typeface="Arial" panose="020B0604020202020204" pitchFamily="34" charset="0"/>
                <a:cs typeface="Arial" panose="020B0604020202020204" pitchFamily="34" charset="0"/>
              </a:rPr>
              <a:t>[2]);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catch(</a:t>
            </a:r>
            <a:r>
              <a:rPr lang="en-US" sz="1400" dirty="0" err="1">
                <a:solidFill>
                  <a:srgbClr val="0000FF"/>
                </a:solidFill>
                <a:latin typeface="Arial" panose="020B0604020202020204" pitchFamily="34" charset="0"/>
                <a:cs typeface="Arial" panose="020B0604020202020204" pitchFamily="34" charset="0"/>
              </a:rPr>
              <a:t>ArrayIndexOutOfBoundsException</a:t>
            </a:r>
            <a:r>
              <a:rPr lang="en-US" sz="1400" dirty="0">
                <a:solidFill>
                  <a:srgbClr val="0000FF"/>
                </a:solidFill>
                <a:latin typeface="Arial" panose="020B0604020202020204" pitchFamily="34" charset="0"/>
                <a:cs typeface="Arial" panose="020B0604020202020204" pitchFamily="34" charset="0"/>
              </a:rPr>
              <a:t> </a:t>
            </a:r>
            <a:r>
              <a:rPr lang="en-US" sz="1400" dirty="0" err="1">
                <a:solidFill>
                  <a:srgbClr val="0000FF"/>
                </a:solidFill>
                <a:latin typeface="Arial" panose="020B0604020202020204" pitchFamily="34" charset="0"/>
                <a:cs typeface="Arial" panose="020B0604020202020204" pitchFamily="34" charset="0"/>
              </a:rPr>
              <a:t>aioobe</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a:t>
            </a:r>
          </a:p>
        </p:txBody>
      </p:sp>
      <p:sp>
        <p:nvSpPr>
          <p:cNvPr id="2" name="Footer Placeholder 1">
            <a:extLst>
              <a:ext uri="{FF2B5EF4-FFF2-40B4-BE49-F238E27FC236}">
                <a16:creationId xmlns:a16="http://schemas.microsoft.com/office/drawing/2014/main" id="{C60DF9C8-3773-0C7C-B6A7-A7D7E7344DD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18097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50F5902-A46E-4711-A773-D84668E4DFCC}"/>
              </a:ext>
            </a:extLst>
          </p:cNvPr>
          <p:cNvGrpSpPr/>
          <p:nvPr/>
        </p:nvGrpSpPr>
        <p:grpSpPr>
          <a:xfrm>
            <a:off x="0" y="0"/>
            <a:ext cx="12192000" cy="6858000"/>
            <a:chOff x="0" y="0"/>
            <a:chExt cx="12192000" cy="6858000"/>
          </a:xfrm>
        </p:grpSpPr>
        <p:sp>
          <p:nvSpPr>
            <p:cNvPr id="3" name="Rectangle 2">
              <a:extLst>
                <a:ext uri="{FF2B5EF4-FFF2-40B4-BE49-F238E27FC236}">
                  <a16:creationId xmlns:a16="http://schemas.microsoft.com/office/drawing/2014/main" id="{CC57CF0F-0BE2-40EF-8BA2-288A940FDB1A}"/>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4" name="Picture 2" descr="PPT – Emergency Electrical Services in Bristol PowerPoint presentation |  free to download - id: 907ff2-M2FkY">
              <a:extLst>
                <a:ext uri="{FF2B5EF4-FFF2-40B4-BE49-F238E27FC236}">
                  <a16:creationId xmlns:a16="http://schemas.microsoft.com/office/drawing/2014/main" id="{E1D692FD-5DB1-48DE-97C5-E6C20FB1D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1100"/>
              <a:ext cx="1219200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5EF17FF-AF9B-4BD1-8BB2-F4AE8FCD78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0050" y="76199"/>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Beveled 1">
              <a:extLst>
                <a:ext uri="{FF2B5EF4-FFF2-40B4-BE49-F238E27FC236}">
                  <a16:creationId xmlns:a16="http://schemas.microsoft.com/office/drawing/2014/main" id="{AAE4FC2D-3254-4E92-A27C-80202CF47C95}"/>
                </a:ext>
              </a:extLst>
            </p:cNvPr>
            <p:cNvSpPr/>
            <p:nvPr/>
          </p:nvSpPr>
          <p:spPr>
            <a:xfrm>
              <a:off x="2712720" y="0"/>
              <a:ext cx="6743700" cy="739140"/>
            </a:xfrm>
            <a:prstGeom prst="bevel">
              <a:avLst>
                <a:gd name="adj" fmla="val 15593"/>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p:spPr>
          <p:txBody>
            <a:bodyPr lIns="45719" rIns="45719" anchor="ctr"/>
            <a:lstStyle/>
            <a:p>
              <a:pPr algn="ctr"/>
              <a:r>
                <a:rPr lang="en-US" b="1" dirty="0">
                  <a:solidFill>
                    <a:schemeClr val="bg1"/>
                  </a:solidFill>
                  <a:latin typeface="Bookman Old Style" panose="02050604050505020204" pitchFamily="18" charset="0"/>
                </a:rPr>
                <a:t>Exceptions and Exception Handling</a:t>
              </a:r>
            </a:p>
          </p:txBody>
        </p:sp>
      </p:grpSp>
      <p:sp>
        <p:nvSpPr>
          <p:cNvPr id="7" name="TextBox 6">
            <a:extLst>
              <a:ext uri="{FF2B5EF4-FFF2-40B4-BE49-F238E27FC236}">
                <a16:creationId xmlns:a16="http://schemas.microsoft.com/office/drawing/2014/main" id="{E8143874-96FF-4302-B402-1BC9F48D899C}"/>
              </a:ext>
            </a:extLst>
          </p:cNvPr>
          <p:cNvSpPr txBox="1"/>
          <p:nvPr/>
        </p:nvSpPr>
        <p:spPr>
          <a:xfrm>
            <a:off x="278130" y="991923"/>
            <a:ext cx="9004415" cy="3046988"/>
          </a:xfrm>
          <a:prstGeom prst="rect">
            <a:avLst/>
          </a:prstGeom>
          <a:noFill/>
        </p:spPr>
        <p:txBody>
          <a:bodyPr wrap="square" rtlCol="0">
            <a:spAutoFit/>
          </a:bodyPr>
          <a:lstStyle/>
          <a:p>
            <a:r>
              <a:rPr lang="en-US" sz="2400" b="1" u="sng" dirty="0">
                <a:solidFill>
                  <a:srgbClr val="0000FF"/>
                </a:solidFill>
                <a:latin typeface="Arial" panose="020B0604020202020204" pitchFamily="34" charset="0"/>
                <a:cs typeface="Arial" panose="020B0604020202020204" pitchFamily="34" charset="0"/>
              </a:rPr>
              <a:t>Unchecked Exception:</a:t>
            </a:r>
          </a:p>
          <a:p>
            <a:pPr algn="just"/>
            <a:r>
              <a:rPr lang="en-US" sz="2400" dirty="0">
                <a:solidFill>
                  <a:srgbClr val="0000FF"/>
                </a:solidFill>
                <a:latin typeface="Arial" panose="020B0604020202020204" pitchFamily="34" charset="0"/>
                <a:cs typeface="Arial" panose="020B0604020202020204" pitchFamily="34" charset="0"/>
              </a:rPr>
              <a:t>Classes which are extended from </a:t>
            </a:r>
            <a:r>
              <a:rPr lang="en-US" sz="2400" dirty="0" err="1">
                <a:solidFill>
                  <a:srgbClr val="0000FF"/>
                </a:solidFill>
                <a:latin typeface="Arial" panose="020B0604020202020204" pitchFamily="34" charset="0"/>
                <a:cs typeface="Arial" panose="020B0604020202020204" pitchFamily="34" charset="0"/>
              </a:rPr>
              <a:t>RuntimeException</a:t>
            </a:r>
            <a:r>
              <a:rPr lang="en-US" sz="2400" dirty="0">
                <a:solidFill>
                  <a:srgbClr val="0000FF"/>
                </a:solidFill>
                <a:latin typeface="Arial" panose="020B0604020202020204" pitchFamily="34" charset="0"/>
                <a:cs typeface="Arial" panose="020B0604020202020204" pitchFamily="34" charset="0"/>
              </a:rPr>
              <a:t> super class are called as </a:t>
            </a:r>
            <a:r>
              <a:rPr lang="en-US" sz="2400" dirty="0" err="1">
                <a:solidFill>
                  <a:srgbClr val="0000FF"/>
                </a:solidFill>
                <a:latin typeface="Arial" panose="020B0604020202020204" pitchFamily="34" charset="0"/>
                <a:cs typeface="Arial" panose="020B0604020202020204" pitchFamily="34" charset="0"/>
              </a:rPr>
              <a:t>UncheckedExceptions</a:t>
            </a:r>
            <a:r>
              <a:rPr lang="en-US" sz="2400" dirty="0">
                <a:solidFill>
                  <a:srgbClr val="0000FF"/>
                </a:solidFill>
                <a:latin typeface="Arial" panose="020B0604020202020204" pitchFamily="34" charset="0"/>
                <a:cs typeface="Arial" panose="020B0604020202020204" pitchFamily="34" charset="0"/>
              </a:rPr>
              <a:t>. Exception which raises due to because of logical errors happen in the program such as converting char containing string into int, </a:t>
            </a:r>
            <a:r>
              <a:rPr lang="en-US" sz="2400" dirty="0" err="1">
                <a:solidFill>
                  <a:srgbClr val="0000FF"/>
                </a:solidFill>
                <a:latin typeface="Arial" panose="020B0604020202020204" pitchFamily="34" charset="0"/>
                <a:cs typeface="Arial" panose="020B0604020202020204" pitchFamily="34" charset="0"/>
              </a:rPr>
              <a:t>somevalue</a:t>
            </a:r>
            <a:r>
              <a:rPr lang="en-US" sz="2400" dirty="0">
                <a:solidFill>
                  <a:srgbClr val="0000FF"/>
                </a:solidFill>
                <a:latin typeface="Arial" panose="020B0604020202020204" pitchFamily="34" charset="0"/>
                <a:cs typeface="Arial" panose="020B0604020202020204" pitchFamily="34" charset="0"/>
              </a:rPr>
              <a:t> divided by zero, accessing null, accessing array beyond its size using index. Though method reports </a:t>
            </a:r>
            <a:r>
              <a:rPr lang="en-US" sz="2400" dirty="0" err="1">
                <a:solidFill>
                  <a:srgbClr val="0000FF"/>
                </a:solidFill>
                <a:latin typeface="Arial" panose="020B0604020202020204" pitchFamily="34" charset="0"/>
                <a:cs typeface="Arial" panose="020B0604020202020204" pitchFamily="34" charset="0"/>
              </a:rPr>
              <a:t>UncheckedException</a:t>
            </a:r>
            <a:r>
              <a:rPr lang="en-US" sz="2400" dirty="0">
                <a:solidFill>
                  <a:srgbClr val="0000FF"/>
                </a:solidFill>
                <a:latin typeface="Arial" panose="020B0604020202020204" pitchFamily="34" charset="0"/>
                <a:cs typeface="Arial" panose="020B0604020202020204" pitchFamily="34" charset="0"/>
              </a:rPr>
              <a:t> and used in our method, compiler don’t force us to handle such Exceptions.</a:t>
            </a:r>
          </a:p>
        </p:txBody>
      </p:sp>
      <p:sp>
        <p:nvSpPr>
          <p:cNvPr id="8" name="Footer Placeholder 7">
            <a:extLst>
              <a:ext uri="{FF2B5EF4-FFF2-40B4-BE49-F238E27FC236}">
                <a16:creationId xmlns:a16="http://schemas.microsoft.com/office/drawing/2014/main" id="{F60E3674-FD6B-4554-908E-5385F65F395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73509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5" name="TextBox 14">
            <a:extLst>
              <a:ext uri="{FF2B5EF4-FFF2-40B4-BE49-F238E27FC236}">
                <a16:creationId xmlns:a16="http://schemas.microsoft.com/office/drawing/2014/main" id="{3D2BBC51-E438-07B9-EA89-AC79A2A33DFE}"/>
              </a:ext>
            </a:extLst>
          </p:cNvPr>
          <p:cNvSpPr txBox="1"/>
          <p:nvPr/>
        </p:nvSpPr>
        <p:spPr>
          <a:xfrm>
            <a:off x="145678" y="1372958"/>
            <a:ext cx="6125134" cy="461665"/>
          </a:xfrm>
          <a:prstGeom prst="rect">
            <a:avLst/>
          </a:prstGeom>
          <a:noFill/>
        </p:spPr>
        <p:txBody>
          <a:bodyPr wrap="square">
            <a:spAutoFit/>
          </a:bodyPr>
          <a:lstStyle/>
          <a:p>
            <a:r>
              <a:rPr lang="en-IN" sz="2400" b="1" u="sng" dirty="0">
                <a:solidFill>
                  <a:srgbClr val="0000FF"/>
                </a:solidFill>
              </a:rPr>
              <a:t>Exception class hierarchy:</a:t>
            </a:r>
          </a:p>
        </p:txBody>
      </p:sp>
      <p:grpSp>
        <p:nvGrpSpPr>
          <p:cNvPr id="22" name="Group 21">
            <a:extLst>
              <a:ext uri="{FF2B5EF4-FFF2-40B4-BE49-F238E27FC236}">
                <a16:creationId xmlns:a16="http://schemas.microsoft.com/office/drawing/2014/main" id="{3AF9C038-3E3C-2D29-DD43-09F3C4758D56}"/>
              </a:ext>
            </a:extLst>
          </p:cNvPr>
          <p:cNvGrpSpPr/>
          <p:nvPr/>
        </p:nvGrpSpPr>
        <p:grpSpPr>
          <a:xfrm>
            <a:off x="1271869" y="2241070"/>
            <a:ext cx="7271495" cy="3593186"/>
            <a:chOff x="1271869" y="2241070"/>
            <a:chExt cx="7271495" cy="3593186"/>
          </a:xfrm>
        </p:grpSpPr>
        <p:sp>
          <p:nvSpPr>
            <p:cNvPr id="6" name="Rectangle: Top Corners Rounded 5">
              <a:extLst>
                <a:ext uri="{FF2B5EF4-FFF2-40B4-BE49-F238E27FC236}">
                  <a16:creationId xmlns:a16="http://schemas.microsoft.com/office/drawing/2014/main" id="{BC5A1B77-F075-661A-8B0D-7B047E890D75}"/>
                </a:ext>
              </a:extLst>
            </p:cNvPr>
            <p:cNvSpPr/>
            <p:nvPr/>
          </p:nvSpPr>
          <p:spPr>
            <a:xfrm>
              <a:off x="3886200" y="2241070"/>
              <a:ext cx="1936376" cy="751021"/>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Object</a:t>
              </a:r>
            </a:p>
          </p:txBody>
        </p:sp>
        <p:sp>
          <p:nvSpPr>
            <p:cNvPr id="11" name="Rectangle: Top Corners Rounded 10">
              <a:extLst>
                <a:ext uri="{FF2B5EF4-FFF2-40B4-BE49-F238E27FC236}">
                  <a16:creationId xmlns:a16="http://schemas.microsoft.com/office/drawing/2014/main" id="{80938AE5-79DE-ABBB-E337-FDEF46D9FEE4}"/>
                </a:ext>
              </a:extLst>
            </p:cNvPr>
            <p:cNvSpPr/>
            <p:nvPr/>
          </p:nvSpPr>
          <p:spPr>
            <a:xfrm>
              <a:off x="3886200" y="3506114"/>
              <a:ext cx="1936376" cy="751021"/>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Throwable</a:t>
              </a:r>
            </a:p>
          </p:txBody>
        </p:sp>
        <p:sp>
          <p:nvSpPr>
            <p:cNvPr id="12" name="Rectangle: Top Corners Rounded 11">
              <a:extLst>
                <a:ext uri="{FF2B5EF4-FFF2-40B4-BE49-F238E27FC236}">
                  <a16:creationId xmlns:a16="http://schemas.microsoft.com/office/drawing/2014/main" id="{0D60412E-2A8C-87BC-4C88-7EBFDEDD56B8}"/>
                </a:ext>
              </a:extLst>
            </p:cNvPr>
            <p:cNvSpPr/>
            <p:nvPr/>
          </p:nvSpPr>
          <p:spPr>
            <a:xfrm>
              <a:off x="1271869" y="5083235"/>
              <a:ext cx="1936376" cy="751021"/>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Error</a:t>
              </a:r>
            </a:p>
          </p:txBody>
        </p:sp>
        <p:sp>
          <p:nvSpPr>
            <p:cNvPr id="13" name="Rectangle: Top Corners Rounded 12">
              <a:extLst>
                <a:ext uri="{FF2B5EF4-FFF2-40B4-BE49-F238E27FC236}">
                  <a16:creationId xmlns:a16="http://schemas.microsoft.com/office/drawing/2014/main" id="{3F01D2EE-2975-9FF5-F735-D96A9E30CBE0}"/>
                </a:ext>
              </a:extLst>
            </p:cNvPr>
            <p:cNvSpPr/>
            <p:nvPr/>
          </p:nvSpPr>
          <p:spPr>
            <a:xfrm>
              <a:off x="6606988" y="5083235"/>
              <a:ext cx="1936376" cy="751021"/>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Exception</a:t>
              </a:r>
            </a:p>
          </p:txBody>
        </p:sp>
        <p:sp>
          <p:nvSpPr>
            <p:cNvPr id="16" name="Arrow: Up 15">
              <a:extLst>
                <a:ext uri="{FF2B5EF4-FFF2-40B4-BE49-F238E27FC236}">
                  <a16:creationId xmlns:a16="http://schemas.microsoft.com/office/drawing/2014/main" id="{D95E9BEB-6E1E-2FB2-18B9-36500EF5E275}"/>
                </a:ext>
              </a:extLst>
            </p:cNvPr>
            <p:cNvSpPr/>
            <p:nvPr/>
          </p:nvSpPr>
          <p:spPr>
            <a:xfrm>
              <a:off x="4693024" y="3133165"/>
              <a:ext cx="336176" cy="26537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Up 16">
              <a:extLst>
                <a:ext uri="{FF2B5EF4-FFF2-40B4-BE49-F238E27FC236}">
                  <a16:creationId xmlns:a16="http://schemas.microsoft.com/office/drawing/2014/main" id="{1956ED74-563E-83D8-A494-2601FFC80924}"/>
                </a:ext>
              </a:extLst>
            </p:cNvPr>
            <p:cNvSpPr/>
            <p:nvPr/>
          </p:nvSpPr>
          <p:spPr>
            <a:xfrm>
              <a:off x="1990165" y="4760258"/>
              <a:ext cx="430306" cy="3229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Up 17">
              <a:extLst>
                <a:ext uri="{FF2B5EF4-FFF2-40B4-BE49-F238E27FC236}">
                  <a16:creationId xmlns:a16="http://schemas.microsoft.com/office/drawing/2014/main" id="{2C1B06B5-BB01-84E6-0871-25C05F92425A}"/>
                </a:ext>
              </a:extLst>
            </p:cNvPr>
            <p:cNvSpPr/>
            <p:nvPr/>
          </p:nvSpPr>
          <p:spPr>
            <a:xfrm>
              <a:off x="7319691" y="4764741"/>
              <a:ext cx="430306" cy="3229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8498C671-E9A8-A488-4D5C-EA4471B9FE12}"/>
                </a:ext>
              </a:extLst>
            </p:cNvPr>
            <p:cNvCxnSpPr/>
            <p:nvPr/>
          </p:nvCxnSpPr>
          <p:spPr>
            <a:xfrm>
              <a:off x="2030506" y="4666129"/>
              <a:ext cx="5661211"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1" name="Arrow: Up 20">
              <a:extLst>
                <a:ext uri="{FF2B5EF4-FFF2-40B4-BE49-F238E27FC236}">
                  <a16:creationId xmlns:a16="http://schemas.microsoft.com/office/drawing/2014/main" id="{FAE56062-9EEC-7BC3-51DD-FE312A58C0BE}"/>
                </a:ext>
              </a:extLst>
            </p:cNvPr>
            <p:cNvSpPr/>
            <p:nvPr/>
          </p:nvSpPr>
          <p:spPr>
            <a:xfrm>
              <a:off x="4710954" y="4334431"/>
              <a:ext cx="336176" cy="26537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Footer Placeholder 1">
            <a:extLst>
              <a:ext uri="{FF2B5EF4-FFF2-40B4-BE49-F238E27FC236}">
                <a16:creationId xmlns:a16="http://schemas.microsoft.com/office/drawing/2014/main" id="{95B316AD-291E-94E9-2EB0-339B7954206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46357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9" name="TextBox 18">
            <a:extLst>
              <a:ext uri="{FF2B5EF4-FFF2-40B4-BE49-F238E27FC236}">
                <a16:creationId xmlns:a16="http://schemas.microsoft.com/office/drawing/2014/main" id="{4CD27C47-7C73-9988-0AF9-D80E07068712}"/>
              </a:ext>
            </a:extLst>
          </p:cNvPr>
          <p:cNvSpPr txBox="1"/>
          <p:nvPr/>
        </p:nvSpPr>
        <p:spPr>
          <a:xfrm>
            <a:off x="574866" y="1174948"/>
            <a:ext cx="6125134" cy="5262979"/>
          </a:xfrm>
          <a:prstGeom prst="rect">
            <a:avLst/>
          </a:prstGeom>
          <a:noFill/>
        </p:spPr>
        <p:txBody>
          <a:bodyPr wrap="square">
            <a:spAutoFit/>
          </a:bodyPr>
          <a:lstStyle/>
          <a:p>
            <a:r>
              <a:rPr lang="en-IN" sz="1400" dirty="0"/>
              <a:t>Exception: (Few Exception class sub classes / </a:t>
            </a:r>
            <a:r>
              <a:rPr lang="en-IN" sz="1400" dirty="0" err="1"/>
              <a:t>CheckedExceptions</a:t>
            </a:r>
            <a:r>
              <a:rPr lang="en-IN" sz="1400" dirty="0"/>
              <a:t>)</a:t>
            </a:r>
          </a:p>
          <a:p>
            <a:pPr marL="342900" indent="-342900">
              <a:buFont typeface="+mj-lt"/>
              <a:buAutoNum type="arabicPeriod"/>
            </a:pPr>
            <a:r>
              <a:rPr lang="en-IN" sz="1400" dirty="0" err="1"/>
              <a:t>ClassNotFoundException</a:t>
            </a:r>
            <a:endParaRPr lang="en-IN" sz="1400" dirty="0"/>
          </a:p>
          <a:p>
            <a:pPr marL="342900" indent="-342900">
              <a:buFont typeface="+mj-lt"/>
              <a:buAutoNum type="arabicPeriod"/>
            </a:pPr>
            <a:r>
              <a:rPr lang="en-IN" sz="1400" dirty="0" err="1"/>
              <a:t>CloneNotSupportedException</a:t>
            </a:r>
            <a:endParaRPr lang="en-IN" sz="1400" dirty="0"/>
          </a:p>
          <a:p>
            <a:pPr marL="342900" indent="-342900">
              <a:buFont typeface="+mj-lt"/>
              <a:buAutoNum type="arabicPeriod"/>
            </a:pPr>
            <a:r>
              <a:rPr lang="en-IN" sz="1400" dirty="0" err="1"/>
              <a:t>DataFormatException</a:t>
            </a:r>
            <a:endParaRPr lang="en-IN" sz="1400" dirty="0"/>
          </a:p>
          <a:p>
            <a:pPr marL="342900" indent="-342900">
              <a:buFont typeface="+mj-lt"/>
              <a:buAutoNum type="arabicPeriod"/>
            </a:pPr>
            <a:r>
              <a:rPr lang="en-IN" sz="1400" dirty="0" err="1"/>
              <a:t>IllegalAccessException</a:t>
            </a:r>
            <a:endParaRPr lang="en-IN" sz="1400" dirty="0"/>
          </a:p>
          <a:p>
            <a:pPr marL="342900" indent="-342900">
              <a:buFont typeface="+mj-lt"/>
              <a:buAutoNum type="arabicPeriod"/>
            </a:pPr>
            <a:r>
              <a:rPr lang="en-IN" sz="1400" dirty="0" err="1"/>
              <a:t>IllegalClassFormatException</a:t>
            </a:r>
            <a:endParaRPr lang="en-IN" sz="1400" dirty="0"/>
          </a:p>
          <a:p>
            <a:pPr marL="342900" indent="-342900">
              <a:buFont typeface="+mj-lt"/>
              <a:buAutoNum type="arabicPeriod"/>
            </a:pPr>
            <a:r>
              <a:rPr lang="en-IN" sz="1400" dirty="0" err="1"/>
              <a:t>InstantiationException</a:t>
            </a:r>
            <a:endParaRPr lang="en-IN" sz="1400" dirty="0"/>
          </a:p>
          <a:p>
            <a:pPr marL="342900" indent="-342900">
              <a:buFont typeface="+mj-lt"/>
              <a:buAutoNum type="arabicPeriod"/>
            </a:pPr>
            <a:r>
              <a:rPr lang="en-IN" sz="1400" dirty="0" err="1"/>
              <a:t>InterruptedException</a:t>
            </a:r>
            <a:endParaRPr lang="en-IN" sz="1400" dirty="0"/>
          </a:p>
          <a:p>
            <a:pPr marL="342900" indent="-342900">
              <a:buFont typeface="+mj-lt"/>
              <a:buAutoNum type="arabicPeriod"/>
            </a:pPr>
            <a:r>
              <a:rPr lang="en-IN" sz="1400" dirty="0" err="1"/>
              <a:t>IOException</a:t>
            </a:r>
            <a:endParaRPr lang="en-IN" sz="1400" dirty="0"/>
          </a:p>
          <a:p>
            <a:pPr marL="342900" indent="-342900">
              <a:buFont typeface="+mj-lt"/>
              <a:buAutoNum type="arabicPeriod"/>
            </a:pPr>
            <a:r>
              <a:rPr lang="en-IN" sz="1400" dirty="0" err="1"/>
              <a:t>NamingException</a:t>
            </a:r>
            <a:endParaRPr lang="en-IN" sz="1400" dirty="0"/>
          </a:p>
          <a:p>
            <a:pPr marL="342900" indent="-342900">
              <a:buFont typeface="+mj-lt"/>
              <a:buAutoNum type="arabicPeriod"/>
            </a:pPr>
            <a:r>
              <a:rPr lang="en-IN" sz="1400" dirty="0" err="1"/>
              <a:t>NoSuchFieldException</a:t>
            </a:r>
            <a:endParaRPr lang="en-IN" sz="1400" dirty="0"/>
          </a:p>
          <a:p>
            <a:pPr marL="342900" indent="-342900">
              <a:buFont typeface="+mj-lt"/>
              <a:buAutoNum type="arabicPeriod"/>
            </a:pPr>
            <a:r>
              <a:rPr lang="en-IN" sz="1400" dirty="0" err="1"/>
              <a:t>NoSuchMethodException</a:t>
            </a:r>
            <a:endParaRPr lang="en-IN" sz="1400" dirty="0"/>
          </a:p>
          <a:p>
            <a:pPr marL="342900" indent="-342900">
              <a:buFont typeface="+mj-lt"/>
              <a:buAutoNum type="arabicPeriod"/>
            </a:pPr>
            <a:r>
              <a:rPr lang="en-IN" sz="1400" dirty="0" err="1"/>
              <a:t>NotBoundException</a:t>
            </a:r>
            <a:endParaRPr lang="en-IN" sz="1400" dirty="0"/>
          </a:p>
          <a:p>
            <a:pPr marL="342900" indent="-342900">
              <a:buFont typeface="+mj-lt"/>
              <a:buAutoNum type="arabicPeriod"/>
            </a:pPr>
            <a:r>
              <a:rPr lang="en-IN" sz="1400" dirty="0" err="1"/>
              <a:t>ParseException</a:t>
            </a:r>
            <a:endParaRPr lang="en-IN" sz="1400" dirty="0"/>
          </a:p>
          <a:p>
            <a:pPr marL="342900" indent="-342900">
              <a:buFont typeface="+mj-lt"/>
              <a:buAutoNum type="arabicPeriod"/>
            </a:pPr>
            <a:r>
              <a:rPr lang="en-IN" sz="1400" dirty="0" err="1"/>
              <a:t>SAXException</a:t>
            </a:r>
            <a:endParaRPr lang="en-IN" sz="1400" dirty="0"/>
          </a:p>
          <a:p>
            <a:pPr marL="342900" indent="-342900">
              <a:buFont typeface="+mj-lt"/>
              <a:buAutoNum type="arabicPeriod"/>
            </a:pPr>
            <a:r>
              <a:rPr lang="en-IN" sz="1400" dirty="0" err="1"/>
              <a:t>SQLException</a:t>
            </a:r>
            <a:endParaRPr lang="en-IN" sz="1400" dirty="0"/>
          </a:p>
          <a:p>
            <a:pPr marL="342900" indent="-342900">
              <a:buFont typeface="+mj-lt"/>
              <a:buAutoNum type="arabicPeriod"/>
            </a:pPr>
            <a:r>
              <a:rPr lang="en-IN" sz="1400" dirty="0" err="1"/>
              <a:t>TimeoutException</a:t>
            </a:r>
            <a:endParaRPr lang="en-IN" sz="1400" dirty="0"/>
          </a:p>
          <a:p>
            <a:pPr marL="342900" indent="-342900">
              <a:buFont typeface="+mj-lt"/>
              <a:buAutoNum type="arabicPeriod"/>
            </a:pPr>
            <a:r>
              <a:rPr lang="en-IN" sz="1400" dirty="0" err="1"/>
              <a:t>FileNotFoundException</a:t>
            </a:r>
            <a:endParaRPr lang="en-IN" sz="1400" dirty="0"/>
          </a:p>
          <a:p>
            <a:pPr marL="342900" indent="-342900">
              <a:buFont typeface="+mj-lt"/>
              <a:buAutoNum type="arabicPeriod"/>
            </a:pPr>
            <a:r>
              <a:rPr lang="en-IN" sz="1400" dirty="0" err="1"/>
              <a:t>NotSerializableException</a:t>
            </a:r>
            <a:endParaRPr lang="en-IN" sz="1400" dirty="0"/>
          </a:p>
          <a:p>
            <a:pPr marL="342900" indent="-342900">
              <a:buFont typeface="+mj-lt"/>
              <a:buAutoNum type="arabicPeriod"/>
            </a:pPr>
            <a:r>
              <a:rPr lang="en-IN" sz="1400" dirty="0" err="1"/>
              <a:t>BindException</a:t>
            </a:r>
            <a:endParaRPr lang="en-IN" sz="1400" dirty="0"/>
          </a:p>
          <a:p>
            <a:pPr marL="342900" indent="-342900">
              <a:buFont typeface="+mj-lt"/>
              <a:buAutoNum type="arabicPeriod"/>
            </a:pPr>
            <a:r>
              <a:rPr lang="en-IN" sz="1400" dirty="0" err="1"/>
              <a:t>SocketException</a:t>
            </a:r>
            <a:endParaRPr lang="en-IN" sz="1400" dirty="0"/>
          </a:p>
          <a:p>
            <a:pPr marL="342900" indent="-342900">
              <a:buFont typeface="+mj-lt"/>
              <a:buAutoNum type="arabicPeriod"/>
            </a:pPr>
            <a:r>
              <a:rPr lang="en-IN" sz="1400" dirty="0" err="1"/>
              <a:t>UnknownHostException</a:t>
            </a:r>
            <a:endParaRPr lang="en-IN" sz="1400" dirty="0"/>
          </a:p>
          <a:p>
            <a:pPr marL="342900" indent="-342900">
              <a:buFont typeface="+mj-lt"/>
              <a:buAutoNum type="arabicPeriod"/>
            </a:pPr>
            <a:r>
              <a:rPr lang="en-IN" sz="1400" dirty="0" err="1"/>
              <a:t>SocketTimeoutException</a:t>
            </a:r>
            <a:endParaRPr lang="en-IN" sz="1400" dirty="0"/>
          </a:p>
          <a:p>
            <a:pPr marL="342900" indent="-342900">
              <a:buFont typeface="+mj-lt"/>
              <a:buAutoNum type="arabicPeriod"/>
            </a:pPr>
            <a:r>
              <a:rPr lang="en-IN" sz="1400" dirty="0" err="1"/>
              <a:t>RuntimeException</a:t>
            </a:r>
            <a:endParaRPr lang="en-IN" sz="1400" dirty="0"/>
          </a:p>
        </p:txBody>
      </p:sp>
      <p:sp>
        <p:nvSpPr>
          <p:cNvPr id="2" name="Footer Placeholder 1">
            <a:extLst>
              <a:ext uri="{FF2B5EF4-FFF2-40B4-BE49-F238E27FC236}">
                <a16:creationId xmlns:a16="http://schemas.microsoft.com/office/drawing/2014/main" id="{94F05345-325A-CEEC-D588-F07A2B35772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92877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9" name="TextBox 18">
            <a:extLst>
              <a:ext uri="{FF2B5EF4-FFF2-40B4-BE49-F238E27FC236}">
                <a16:creationId xmlns:a16="http://schemas.microsoft.com/office/drawing/2014/main" id="{4CD27C47-7C73-9988-0AF9-D80E07068712}"/>
              </a:ext>
            </a:extLst>
          </p:cNvPr>
          <p:cNvSpPr txBox="1"/>
          <p:nvPr/>
        </p:nvSpPr>
        <p:spPr>
          <a:xfrm>
            <a:off x="574866" y="1174948"/>
            <a:ext cx="7224428" cy="5047536"/>
          </a:xfrm>
          <a:prstGeom prst="rect">
            <a:avLst/>
          </a:prstGeom>
          <a:noFill/>
        </p:spPr>
        <p:txBody>
          <a:bodyPr wrap="square">
            <a:spAutoFit/>
          </a:bodyPr>
          <a:lstStyle/>
          <a:p>
            <a:r>
              <a:rPr lang="en-IN" sz="1400" dirty="0" err="1"/>
              <a:t>RuntimeException</a:t>
            </a:r>
            <a:r>
              <a:rPr lang="en-IN" sz="1400" dirty="0"/>
              <a:t>: (Few </a:t>
            </a:r>
            <a:r>
              <a:rPr lang="en-IN" sz="1400" dirty="0" err="1"/>
              <a:t>RuntimeException</a:t>
            </a:r>
            <a:r>
              <a:rPr lang="en-IN" sz="1400" dirty="0"/>
              <a:t> class sub classes /  </a:t>
            </a:r>
            <a:r>
              <a:rPr lang="en-IN" sz="1400" dirty="0" err="1"/>
              <a:t>UncheckedExceptions</a:t>
            </a:r>
            <a:r>
              <a:rPr lang="en-IN" sz="1400" dirty="0"/>
              <a:t>)</a:t>
            </a:r>
          </a:p>
          <a:p>
            <a:pPr marL="342900" indent="-342900">
              <a:buFont typeface="+mj-lt"/>
              <a:buAutoNum type="arabicPeriod"/>
            </a:pPr>
            <a:r>
              <a:rPr lang="en-IN" sz="1400" dirty="0"/>
              <a:t>ArithmeticException</a:t>
            </a:r>
          </a:p>
          <a:p>
            <a:pPr marL="342900" indent="-342900">
              <a:buFont typeface="+mj-lt"/>
              <a:buAutoNum type="arabicPeriod"/>
            </a:pPr>
            <a:r>
              <a:rPr lang="en-IN" sz="1400" dirty="0" err="1"/>
              <a:t>ArrayStoreException</a:t>
            </a:r>
            <a:endParaRPr lang="en-IN" sz="1400" dirty="0"/>
          </a:p>
          <a:p>
            <a:pPr marL="342900" indent="-342900">
              <a:buFont typeface="+mj-lt"/>
              <a:buAutoNum type="arabicPeriod"/>
            </a:pPr>
            <a:r>
              <a:rPr lang="en-IN" sz="1400" dirty="0" err="1"/>
              <a:t>BufferOverflowException</a:t>
            </a:r>
            <a:endParaRPr lang="en-IN" sz="1400" dirty="0"/>
          </a:p>
          <a:p>
            <a:pPr marL="342900" indent="-342900">
              <a:buFont typeface="+mj-lt"/>
              <a:buAutoNum type="arabicPeriod"/>
            </a:pPr>
            <a:r>
              <a:rPr lang="en-IN" sz="1400" dirty="0" err="1"/>
              <a:t>ClassCastException</a:t>
            </a:r>
            <a:endParaRPr lang="en-IN" sz="1400" dirty="0"/>
          </a:p>
          <a:p>
            <a:pPr marL="342900" indent="-342900">
              <a:buFont typeface="+mj-lt"/>
              <a:buAutoNum type="arabicPeriod"/>
            </a:pPr>
            <a:r>
              <a:rPr lang="en-IN" sz="1400" dirty="0" err="1"/>
              <a:t>ConcurrentModificationException</a:t>
            </a:r>
            <a:endParaRPr lang="en-IN" sz="1400" dirty="0"/>
          </a:p>
          <a:p>
            <a:pPr marL="342900" indent="-342900">
              <a:buFont typeface="+mj-lt"/>
              <a:buAutoNum type="arabicPeriod"/>
            </a:pPr>
            <a:r>
              <a:rPr lang="en-IN" sz="1400" dirty="0" err="1"/>
              <a:t>DOMException</a:t>
            </a:r>
            <a:endParaRPr lang="en-IN" sz="1400" dirty="0"/>
          </a:p>
          <a:p>
            <a:pPr marL="342900" indent="-342900">
              <a:buFont typeface="+mj-lt"/>
              <a:buAutoNum type="arabicPeriod"/>
            </a:pPr>
            <a:r>
              <a:rPr lang="en-IN" sz="1400" dirty="0" err="1"/>
              <a:t>EmptyStackException</a:t>
            </a:r>
            <a:endParaRPr lang="en-IN" sz="1400" dirty="0"/>
          </a:p>
          <a:p>
            <a:pPr marL="342900" indent="-342900">
              <a:buFont typeface="+mj-lt"/>
              <a:buAutoNum type="arabicPeriod"/>
            </a:pPr>
            <a:r>
              <a:rPr lang="en-IN" sz="1400" dirty="0" err="1"/>
              <a:t>EventException</a:t>
            </a:r>
            <a:endParaRPr lang="en-IN" sz="1400" dirty="0"/>
          </a:p>
          <a:p>
            <a:pPr marL="342900" indent="-342900">
              <a:buFont typeface="+mj-lt"/>
              <a:buAutoNum type="arabicPeriod"/>
            </a:pPr>
            <a:r>
              <a:rPr lang="en-IN" sz="1400" dirty="0"/>
              <a:t>IllegalArgumentException</a:t>
            </a:r>
          </a:p>
          <a:p>
            <a:pPr marL="342900" indent="-342900">
              <a:buFont typeface="+mj-lt"/>
              <a:buAutoNum type="arabicPeriod"/>
            </a:pPr>
            <a:r>
              <a:rPr lang="en-IN" sz="1400" dirty="0" err="1"/>
              <a:t>IndexOutOfBoundsException</a:t>
            </a:r>
            <a:endParaRPr lang="en-IN" sz="1400" dirty="0"/>
          </a:p>
          <a:p>
            <a:pPr marL="342900" indent="-342900">
              <a:buFont typeface="+mj-lt"/>
              <a:buAutoNum type="arabicPeriod"/>
            </a:pPr>
            <a:r>
              <a:rPr lang="en-IN" sz="1400" dirty="0"/>
              <a:t>	</a:t>
            </a:r>
            <a:r>
              <a:rPr lang="en-IN" sz="1400" dirty="0" err="1"/>
              <a:t>ArrayIndexOutOfBoundsException</a:t>
            </a:r>
            <a:endParaRPr lang="en-IN" sz="1400" dirty="0"/>
          </a:p>
          <a:p>
            <a:pPr marL="342900" indent="-342900">
              <a:buFont typeface="+mj-lt"/>
              <a:buAutoNum type="arabicPeriod"/>
            </a:pPr>
            <a:r>
              <a:rPr lang="en-IN" sz="1400" dirty="0" err="1"/>
              <a:t>MissingResourceException</a:t>
            </a:r>
            <a:endParaRPr lang="en-IN" sz="1400" dirty="0"/>
          </a:p>
          <a:p>
            <a:pPr marL="342900" indent="-342900">
              <a:buFont typeface="+mj-lt"/>
              <a:buAutoNum type="arabicPeriod"/>
            </a:pPr>
            <a:r>
              <a:rPr lang="en-IN" sz="1400" dirty="0" err="1"/>
              <a:t>NegativeArraySizeException</a:t>
            </a:r>
            <a:endParaRPr lang="en-IN" sz="1400" dirty="0"/>
          </a:p>
          <a:p>
            <a:pPr marL="342900" indent="-342900">
              <a:buFont typeface="+mj-lt"/>
              <a:buAutoNum type="arabicPeriod"/>
            </a:pPr>
            <a:r>
              <a:rPr lang="en-IN" sz="1400" dirty="0" err="1"/>
              <a:t>NoSuchElementException</a:t>
            </a:r>
            <a:endParaRPr lang="en-IN" sz="1400" dirty="0"/>
          </a:p>
          <a:p>
            <a:pPr marL="342900" indent="-342900">
              <a:buFont typeface="+mj-lt"/>
              <a:buAutoNum type="arabicPeriod"/>
            </a:pPr>
            <a:r>
              <a:rPr lang="en-IN" sz="1400" dirty="0" err="1"/>
              <a:t>NullPointerException</a:t>
            </a:r>
            <a:endParaRPr lang="en-IN" sz="1400" dirty="0"/>
          </a:p>
          <a:p>
            <a:pPr marL="342900" indent="-342900">
              <a:buFont typeface="+mj-lt"/>
              <a:buAutoNum type="arabicPeriod"/>
            </a:pPr>
            <a:r>
              <a:rPr lang="en-IN" sz="1400" dirty="0" err="1"/>
              <a:t>NumberFormatException</a:t>
            </a:r>
            <a:endParaRPr lang="en-IN" sz="1400" dirty="0"/>
          </a:p>
          <a:p>
            <a:pPr marL="342900" indent="-342900">
              <a:buFont typeface="+mj-lt"/>
              <a:buAutoNum type="arabicPeriod"/>
            </a:pPr>
            <a:r>
              <a:rPr lang="en-IN" sz="1400" dirty="0" err="1"/>
              <a:t>SecurityException</a:t>
            </a:r>
            <a:endParaRPr lang="en-IN" sz="1400" dirty="0"/>
          </a:p>
          <a:p>
            <a:pPr marL="342900" indent="-342900">
              <a:buFont typeface="+mj-lt"/>
              <a:buAutoNum type="arabicPeriod"/>
            </a:pPr>
            <a:r>
              <a:rPr lang="en-IN" sz="1400" dirty="0" err="1"/>
              <a:t>SystemException</a:t>
            </a:r>
            <a:endParaRPr lang="en-IN" sz="1400" dirty="0"/>
          </a:p>
          <a:p>
            <a:pPr marL="342900" indent="-342900">
              <a:buFont typeface="+mj-lt"/>
              <a:buAutoNum type="arabicPeriod"/>
            </a:pPr>
            <a:r>
              <a:rPr lang="en-IN" sz="1400" dirty="0" err="1"/>
              <a:t>UnknownElementException</a:t>
            </a:r>
            <a:endParaRPr lang="en-IN" sz="1400" dirty="0"/>
          </a:p>
          <a:p>
            <a:pPr marL="342900" indent="-342900">
              <a:buFont typeface="+mj-lt"/>
              <a:buAutoNum type="arabicPeriod"/>
            </a:pPr>
            <a:r>
              <a:rPr lang="en-IN" sz="1400" dirty="0" err="1"/>
              <a:t>UnknownTypeException</a:t>
            </a:r>
            <a:endParaRPr lang="en-IN" sz="1400" dirty="0"/>
          </a:p>
          <a:p>
            <a:pPr marL="342900" indent="-342900">
              <a:buFont typeface="+mj-lt"/>
              <a:buAutoNum type="arabicPeriod"/>
            </a:pPr>
            <a:r>
              <a:rPr lang="en-IN" sz="1400" dirty="0" err="1"/>
              <a:t>UnsupportedOperationException</a:t>
            </a:r>
            <a:endParaRPr lang="en-IN" sz="1400" dirty="0"/>
          </a:p>
          <a:p>
            <a:pPr marL="342900" indent="-342900">
              <a:buFont typeface="+mj-lt"/>
              <a:buAutoNum type="arabicPeriod"/>
            </a:pPr>
            <a:r>
              <a:rPr lang="en-IN" sz="1400" dirty="0" err="1"/>
              <a:t>WebServiceException</a:t>
            </a:r>
            <a:endParaRPr lang="en-IN" sz="1400" dirty="0"/>
          </a:p>
        </p:txBody>
      </p:sp>
      <p:sp>
        <p:nvSpPr>
          <p:cNvPr id="2" name="Footer Placeholder 1">
            <a:extLst>
              <a:ext uri="{FF2B5EF4-FFF2-40B4-BE49-F238E27FC236}">
                <a16:creationId xmlns:a16="http://schemas.microsoft.com/office/drawing/2014/main" id="{89106A98-18D6-9C48-1BDC-A69A293850B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43952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0" name="TextBox 9">
            <a:extLst>
              <a:ext uri="{FF2B5EF4-FFF2-40B4-BE49-F238E27FC236}">
                <a16:creationId xmlns:a16="http://schemas.microsoft.com/office/drawing/2014/main" id="{3032BDF3-D09A-A07C-0A35-B0CF48FBAF91}"/>
              </a:ext>
            </a:extLst>
          </p:cNvPr>
          <p:cNvSpPr txBox="1"/>
          <p:nvPr/>
        </p:nvSpPr>
        <p:spPr>
          <a:xfrm>
            <a:off x="90770" y="854997"/>
            <a:ext cx="4803959" cy="6001643"/>
          </a:xfrm>
          <a:prstGeom prst="rect">
            <a:avLst/>
          </a:prstGeom>
          <a:noFill/>
        </p:spPr>
        <p:txBody>
          <a:bodyPr wrap="square">
            <a:spAutoFit/>
          </a:bodyPr>
          <a:lstStyle/>
          <a:p>
            <a:r>
              <a:rPr lang="en-IN" sz="1600" b="1" u="sng" dirty="0"/>
              <a:t>Example on Exception Handling</a:t>
            </a:r>
          </a:p>
          <a:p>
            <a:r>
              <a:rPr lang="en-IN" sz="1600" dirty="0"/>
              <a:t>// ExceptionHandler.java</a:t>
            </a:r>
          </a:p>
          <a:p>
            <a:r>
              <a:rPr lang="en-IN" sz="1600" dirty="0"/>
              <a:t>public class </a:t>
            </a:r>
            <a:r>
              <a:rPr lang="en-IN" sz="1600" dirty="0" err="1"/>
              <a:t>ExceptionHandler</a:t>
            </a:r>
            <a:r>
              <a:rPr lang="en-IN" sz="1600" dirty="0"/>
              <a:t> {</a:t>
            </a:r>
          </a:p>
          <a:p>
            <a:r>
              <a:rPr lang="en-IN" sz="1600" dirty="0"/>
              <a:t>   public static void main(String rags[]) {</a:t>
            </a:r>
          </a:p>
          <a:p>
            <a:endParaRPr lang="en-IN" sz="1600" dirty="0"/>
          </a:p>
          <a:p>
            <a:r>
              <a:rPr lang="en-IN" sz="1600" dirty="0"/>
              <a:t>     try{</a:t>
            </a:r>
          </a:p>
          <a:p>
            <a:r>
              <a:rPr lang="en-IN" sz="1600" dirty="0"/>
              <a:t>       String str=null;</a:t>
            </a:r>
          </a:p>
          <a:p>
            <a:r>
              <a:rPr lang="en-IN" sz="1600" dirty="0"/>
              <a:t>       System.out.println(</a:t>
            </a:r>
            <a:r>
              <a:rPr lang="en-IN" sz="1600" dirty="0" err="1"/>
              <a:t>str.length</a:t>
            </a:r>
            <a:r>
              <a:rPr lang="en-IN" sz="1600" dirty="0"/>
              <a:t>());</a:t>
            </a:r>
          </a:p>
          <a:p>
            <a:r>
              <a:rPr lang="en-IN" sz="1600" dirty="0"/>
              <a:t>     }</a:t>
            </a:r>
          </a:p>
          <a:p>
            <a:r>
              <a:rPr lang="en-IN" sz="1600" dirty="0"/>
              <a:t>     catch(</a:t>
            </a:r>
            <a:r>
              <a:rPr lang="en-IN" sz="1600" dirty="0" err="1"/>
              <a:t>NullPointerException</a:t>
            </a:r>
            <a:r>
              <a:rPr lang="en-IN" sz="1600" dirty="0"/>
              <a:t> </a:t>
            </a:r>
            <a:r>
              <a:rPr lang="en-IN" sz="1600" dirty="0" err="1"/>
              <a:t>npe</a:t>
            </a:r>
            <a:r>
              <a:rPr lang="en-IN" sz="1600" dirty="0"/>
              <a:t>) {</a:t>
            </a:r>
          </a:p>
          <a:p>
            <a:r>
              <a:rPr lang="en-IN" sz="1600" dirty="0"/>
              <a:t>       </a:t>
            </a:r>
            <a:r>
              <a:rPr lang="en-IN" sz="1600" dirty="0" err="1"/>
              <a:t>npe.printStackTrace</a:t>
            </a:r>
            <a:r>
              <a:rPr lang="en-IN" sz="1600" dirty="0"/>
              <a:t>();</a:t>
            </a:r>
          </a:p>
          <a:p>
            <a:r>
              <a:rPr lang="en-IN" sz="1600" dirty="0"/>
              <a:t>       // </a:t>
            </a:r>
            <a:r>
              <a:rPr lang="en-IN" sz="1600" dirty="0" err="1"/>
              <a:t>System.err.println</a:t>
            </a:r>
            <a:r>
              <a:rPr lang="en-IN" sz="1600" dirty="0"/>
              <a:t>(</a:t>
            </a:r>
            <a:r>
              <a:rPr lang="en-IN" sz="1600" dirty="0" err="1"/>
              <a:t>npe</a:t>
            </a:r>
            <a:r>
              <a:rPr lang="en-IN" sz="1600" dirty="0"/>
              <a:t>);</a:t>
            </a:r>
          </a:p>
          <a:p>
            <a:r>
              <a:rPr lang="en-IN" sz="1600" dirty="0"/>
              <a:t>     }</a:t>
            </a:r>
          </a:p>
          <a:p>
            <a:endParaRPr lang="en-IN" sz="1600" dirty="0"/>
          </a:p>
          <a:p>
            <a:r>
              <a:rPr lang="en-IN" sz="1600" dirty="0"/>
              <a:t>     try {</a:t>
            </a:r>
          </a:p>
          <a:p>
            <a:r>
              <a:rPr lang="en-IN" sz="1600" dirty="0"/>
              <a:t>       int a[]=new int[10];</a:t>
            </a:r>
          </a:p>
          <a:p>
            <a:r>
              <a:rPr lang="en-IN" sz="1600" dirty="0"/>
              <a:t>       for(int b=0;b&lt;=</a:t>
            </a:r>
            <a:r>
              <a:rPr lang="en-IN" sz="1600" dirty="0" err="1"/>
              <a:t>a.length</a:t>
            </a:r>
            <a:r>
              <a:rPr lang="en-IN" sz="1600" dirty="0"/>
              <a:t>; b++) {</a:t>
            </a:r>
          </a:p>
          <a:p>
            <a:r>
              <a:rPr lang="en-IN" sz="1600" dirty="0"/>
              <a:t>          System.out.println(a[b]);</a:t>
            </a:r>
          </a:p>
          <a:p>
            <a:r>
              <a:rPr lang="en-IN" sz="1600" dirty="0"/>
              <a:t>       }</a:t>
            </a:r>
          </a:p>
          <a:p>
            <a:r>
              <a:rPr lang="en-IN" sz="1600" dirty="0"/>
              <a:t>     }</a:t>
            </a:r>
          </a:p>
          <a:p>
            <a:r>
              <a:rPr lang="en-IN" sz="1600" dirty="0"/>
              <a:t>     catch(</a:t>
            </a:r>
            <a:r>
              <a:rPr lang="en-IN" sz="1600" dirty="0" err="1"/>
              <a:t>ArrayIndexOutOfBoundsException</a:t>
            </a:r>
            <a:r>
              <a:rPr lang="en-IN" sz="1600" dirty="0"/>
              <a:t> e) {</a:t>
            </a:r>
          </a:p>
          <a:p>
            <a:r>
              <a:rPr lang="en-IN" sz="1600" dirty="0"/>
              <a:t>       </a:t>
            </a:r>
            <a:r>
              <a:rPr lang="en-IN" sz="1600" dirty="0" err="1"/>
              <a:t>e.printStackTrace</a:t>
            </a:r>
            <a:r>
              <a:rPr lang="en-IN" sz="1600" dirty="0"/>
              <a:t>();</a:t>
            </a:r>
          </a:p>
          <a:p>
            <a:r>
              <a:rPr lang="en-IN" sz="1600" dirty="0"/>
              <a:t>       // </a:t>
            </a:r>
            <a:r>
              <a:rPr lang="en-IN" sz="1600" dirty="0" err="1"/>
              <a:t>System.err.println</a:t>
            </a:r>
            <a:r>
              <a:rPr lang="en-IN" sz="1600" dirty="0"/>
              <a:t>(e);</a:t>
            </a:r>
          </a:p>
          <a:p>
            <a:r>
              <a:rPr lang="en-IN" sz="1600" dirty="0"/>
              <a:t>     }</a:t>
            </a:r>
          </a:p>
        </p:txBody>
      </p:sp>
      <p:sp>
        <p:nvSpPr>
          <p:cNvPr id="11" name="TextBox 10">
            <a:extLst>
              <a:ext uri="{FF2B5EF4-FFF2-40B4-BE49-F238E27FC236}">
                <a16:creationId xmlns:a16="http://schemas.microsoft.com/office/drawing/2014/main" id="{668B6C7B-E862-C3F1-A7A1-69C2BFA041E5}"/>
              </a:ext>
            </a:extLst>
          </p:cNvPr>
          <p:cNvSpPr txBox="1"/>
          <p:nvPr/>
        </p:nvSpPr>
        <p:spPr>
          <a:xfrm>
            <a:off x="5388909" y="962573"/>
            <a:ext cx="3899871" cy="3970318"/>
          </a:xfrm>
          <a:prstGeom prst="rect">
            <a:avLst/>
          </a:prstGeom>
          <a:noFill/>
        </p:spPr>
        <p:txBody>
          <a:bodyPr wrap="square">
            <a:spAutoFit/>
          </a:bodyPr>
          <a:lstStyle/>
          <a:p>
            <a:r>
              <a:rPr lang="en-IN" sz="1800" dirty="0"/>
              <a:t>try{</a:t>
            </a:r>
          </a:p>
          <a:p>
            <a:r>
              <a:rPr lang="en-IN" sz="1800" dirty="0"/>
              <a:t>       String str="123a";</a:t>
            </a:r>
          </a:p>
          <a:p>
            <a:r>
              <a:rPr lang="en-IN" sz="1800" dirty="0"/>
              <a:t>       Int </a:t>
            </a:r>
            <a:r>
              <a:rPr lang="en-IN" sz="1800" dirty="0" err="1"/>
              <a:t>i</a:t>
            </a:r>
            <a:r>
              <a:rPr lang="en-IN" sz="1800" dirty="0"/>
              <a:t>=</a:t>
            </a:r>
            <a:r>
              <a:rPr lang="en-IN" sz="1800" dirty="0" err="1"/>
              <a:t>Integer.parseInt</a:t>
            </a:r>
            <a:r>
              <a:rPr lang="en-IN" sz="1800" dirty="0"/>
              <a:t>(str);</a:t>
            </a:r>
          </a:p>
          <a:p>
            <a:r>
              <a:rPr lang="en-IN" sz="1800" dirty="0"/>
              <a:t>     }</a:t>
            </a:r>
          </a:p>
          <a:p>
            <a:r>
              <a:rPr lang="en-IN" sz="1800" dirty="0"/>
              <a:t>     catch(</a:t>
            </a:r>
            <a:r>
              <a:rPr lang="en-IN" sz="1800" dirty="0" err="1"/>
              <a:t>NumberFormatException</a:t>
            </a:r>
            <a:r>
              <a:rPr lang="en-IN" sz="1800" dirty="0"/>
              <a:t> e) {</a:t>
            </a:r>
          </a:p>
          <a:p>
            <a:r>
              <a:rPr lang="en-IN" sz="1800" dirty="0"/>
              <a:t>       </a:t>
            </a:r>
            <a:r>
              <a:rPr lang="en-IN" sz="1800" dirty="0" err="1"/>
              <a:t>e.printStackTrace</a:t>
            </a:r>
            <a:r>
              <a:rPr lang="en-IN" sz="1800" dirty="0"/>
              <a:t>();</a:t>
            </a:r>
          </a:p>
          <a:p>
            <a:r>
              <a:rPr lang="en-IN" sz="1800" dirty="0"/>
              <a:t>       // </a:t>
            </a:r>
            <a:r>
              <a:rPr lang="en-IN" sz="1800" dirty="0" err="1"/>
              <a:t>System.err.println</a:t>
            </a:r>
            <a:r>
              <a:rPr lang="en-IN" sz="1800" dirty="0"/>
              <a:t>(e);</a:t>
            </a:r>
          </a:p>
          <a:p>
            <a:r>
              <a:rPr lang="en-IN" sz="1800" dirty="0"/>
              <a:t>     }</a:t>
            </a:r>
          </a:p>
          <a:p>
            <a:r>
              <a:rPr lang="en-IN" sz="1800" dirty="0"/>
              <a:t>     catch(Exception e) {</a:t>
            </a:r>
          </a:p>
          <a:p>
            <a:r>
              <a:rPr lang="en-IN" sz="1800" dirty="0"/>
              <a:t>       </a:t>
            </a:r>
            <a:r>
              <a:rPr lang="en-IN" sz="1800" dirty="0" err="1"/>
              <a:t>e.printStackTrace</a:t>
            </a:r>
            <a:r>
              <a:rPr lang="en-IN" sz="1800" dirty="0"/>
              <a:t>();</a:t>
            </a:r>
          </a:p>
          <a:p>
            <a:r>
              <a:rPr lang="en-IN" sz="1800" dirty="0"/>
              <a:t>       // </a:t>
            </a:r>
            <a:r>
              <a:rPr lang="en-IN" sz="1800" dirty="0" err="1"/>
              <a:t>System.err.println</a:t>
            </a:r>
            <a:r>
              <a:rPr lang="en-IN" sz="1800" dirty="0"/>
              <a:t>(e);</a:t>
            </a:r>
          </a:p>
          <a:p>
            <a:r>
              <a:rPr lang="en-IN" sz="1800" dirty="0"/>
              <a:t>     }</a:t>
            </a:r>
          </a:p>
          <a:p>
            <a:r>
              <a:rPr lang="en-IN" sz="1800" dirty="0"/>
              <a:t>   }</a:t>
            </a:r>
          </a:p>
          <a:p>
            <a:r>
              <a:rPr lang="en-IN" sz="1800" dirty="0"/>
              <a:t>}</a:t>
            </a:r>
          </a:p>
        </p:txBody>
      </p:sp>
      <p:sp>
        <p:nvSpPr>
          <p:cNvPr id="2" name="Footer Placeholder 1">
            <a:extLst>
              <a:ext uri="{FF2B5EF4-FFF2-40B4-BE49-F238E27FC236}">
                <a16:creationId xmlns:a16="http://schemas.microsoft.com/office/drawing/2014/main" id="{D3CC0341-B5AF-32D0-E19E-454844C7ED1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9279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2" name="TextBox 11">
            <a:extLst>
              <a:ext uri="{FF2B5EF4-FFF2-40B4-BE49-F238E27FC236}">
                <a16:creationId xmlns:a16="http://schemas.microsoft.com/office/drawing/2014/main" id="{6D088340-BF83-E57A-294D-68B1C2673B75}"/>
              </a:ext>
            </a:extLst>
          </p:cNvPr>
          <p:cNvSpPr txBox="1"/>
          <p:nvPr/>
        </p:nvSpPr>
        <p:spPr>
          <a:xfrm>
            <a:off x="131109" y="1078669"/>
            <a:ext cx="9281832" cy="5601533"/>
          </a:xfrm>
          <a:prstGeom prst="rect">
            <a:avLst/>
          </a:prstGeom>
          <a:noFill/>
        </p:spPr>
        <p:txBody>
          <a:bodyPr wrap="square">
            <a:spAutoFit/>
          </a:bodyPr>
          <a:lstStyle/>
          <a:p>
            <a:pPr algn="just"/>
            <a:r>
              <a:rPr lang="en-IN" sz="2000" dirty="0"/>
              <a:t>To write user defined exception the developer can extend a class from Exception or </a:t>
            </a:r>
            <a:r>
              <a:rPr lang="en-IN" sz="2000" dirty="0" err="1"/>
              <a:t>RuntimeException</a:t>
            </a:r>
            <a:r>
              <a:rPr lang="en-IN" sz="2000" dirty="0"/>
              <a:t> super class. In the class one String variable must be </a:t>
            </a:r>
            <a:r>
              <a:rPr lang="en-IN" sz="2000" dirty="0" err="1"/>
              <a:t>decalred</a:t>
            </a:r>
            <a:r>
              <a:rPr lang="en-IN" sz="2000" dirty="0"/>
              <a:t> to hold exception description. Write one no parameter constructor, in that we must initialize some default error description to error string, also provide one String parameterized constructor initialize String err class instance variable with the constructor argument and also provide one </a:t>
            </a:r>
            <a:r>
              <a:rPr lang="en-IN" sz="2000" dirty="0" err="1"/>
              <a:t>toString</a:t>
            </a:r>
            <a:r>
              <a:rPr lang="en-IN" sz="2000" dirty="0"/>
              <a:t>() method that returns the error String.</a:t>
            </a:r>
          </a:p>
          <a:p>
            <a:pPr algn="just"/>
            <a:endParaRPr lang="en-IN" sz="2000" dirty="0"/>
          </a:p>
          <a:p>
            <a:pPr algn="just"/>
            <a:r>
              <a:rPr lang="en-IN" sz="2000" b="1" dirty="0"/>
              <a:t>How to write our own Exception class?</a:t>
            </a:r>
          </a:p>
          <a:p>
            <a:pPr marL="342900" indent="-342900" algn="just">
              <a:buFont typeface="+mj-lt"/>
              <a:buAutoNum type="alphaLcPeriod"/>
            </a:pPr>
            <a:r>
              <a:rPr lang="en-IN" sz="2000" dirty="0"/>
              <a:t>Write a class that extends Exception/</a:t>
            </a:r>
            <a:r>
              <a:rPr lang="en-IN" sz="2000" dirty="0" err="1"/>
              <a:t>RuntimeException</a:t>
            </a:r>
            <a:r>
              <a:rPr lang="en-IN" sz="2000" dirty="0"/>
              <a:t> (</a:t>
            </a:r>
            <a:r>
              <a:rPr lang="en-IN" sz="2000" dirty="0" err="1"/>
              <a:t>NotAllowedToSwimException</a:t>
            </a:r>
            <a:r>
              <a:rPr lang="en-IN" sz="2000" dirty="0"/>
              <a:t>)</a:t>
            </a:r>
          </a:p>
          <a:p>
            <a:pPr marL="342900" indent="-342900" algn="just">
              <a:buFont typeface="+mj-lt"/>
              <a:buAutoNum type="alphaLcPeriod"/>
            </a:pPr>
            <a:r>
              <a:rPr lang="en-IN" sz="2000" dirty="0"/>
              <a:t>	If user defined class extends from Exception then it is called as </a:t>
            </a:r>
            <a:r>
              <a:rPr lang="en-IN" sz="2000" dirty="0" err="1"/>
              <a:t>CheckedException</a:t>
            </a:r>
            <a:endParaRPr lang="en-IN" sz="2000" dirty="0"/>
          </a:p>
          <a:p>
            <a:pPr marL="342900" indent="-342900" algn="just">
              <a:buFont typeface="+mj-lt"/>
              <a:buAutoNum type="alphaLcPeriod"/>
            </a:pPr>
            <a:r>
              <a:rPr lang="en-IN" sz="2000" dirty="0"/>
              <a:t>	If user defined class extends from </a:t>
            </a:r>
            <a:r>
              <a:rPr lang="en-IN" sz="2000" dirty="0" err="1"/>
              <a:t>RuntimeException</a:t>
            </a:r>
            <a:r>
              <a:rPr lang="en-IN" sz="2000" dirty="0"/>
              <a:t> then it is called as </a:t>
            </a:r>
            <a:r>
              <a:rPr lang="en-IN" sz="2000" dirty="0" err="1"/>
              <a:t>UncheckedException</a:t>
            </a:r>
            <a:endParaRPr lang="en-IN" sz="2000" dirty="0"/>
          </a:p>
          <a:p>
            <a:pPr marL="342900" indent="-342900" algn="just">
              <a:buFont typeface="+mj-lt"/>
              <a:buAutoNum type="alphaLcPeriod"/>
            </a:pPr>
            <a:r>
              <a:rPr lang="en-IN" sz="2000" dirty="0"/>
              <a:t>In the exception class we need to declare one String err variable</a:t>
            </a:r>
          </a:p>
          <a:p>
            <a:pPr marL="342900" indent="-342900" algn="just">
              <a:buFont typeface="+mj-lt"/>
              <a:buAutoNum type="alphaLcPeriod"/>
            </a:pPr>
            <a:r>
              <a:rPr lang="en-IN" sz="2000" dirty="0"/>
              <a:t>Initialize err variable as err="Your age doesn't permit to Swim, age must be above 10 or below 50" in the constructor</a:t>
            </a:r>
          </a:p>
          <a:p>
            <a:pPr marL="342900" indent="-342900" algn="just">
              <a:buFont typeface="+mj-lt"/>
              <a:buAutoNum type="alphaLcPeriod"/>
            </a:pPr>
            <a:r>
              <a:rPr lang="en-IN" sz="2000" dirty="0"/>
              <a:t>Override </a:t>
            </a:r>
            <a:r>
              <a:rPr lang="en-IN" sz="2000" dirty="0" err="1"/>
              <a:t>toString</a:t>
            </a:r>
            <a:r>
              <a:rPr lang="en-IN" sz="2000" dirty="0"/>
              <a:t>() method, return error message</a:t>
            </a:r>
          </a:p>
        </p:txBody>
      </p:sp>
      <p:sp>
        <p:nvSpPr>
          <p:cNvPr id="2" name="Footer Placeholder 1">
            <a:extLst>
              <a:ext uri="{FF2B5EF4-FFF2-40B4-BE49-F238E27FC236}">
                <a16:creationId xmlns:a16="http://schemas.microsoft.com/office/drawing/2014/main" id="{B7EFF539-5DF6-DD4B-FD0C-47BF862B1D1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81946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0" name="TextBox 9">
            <a:extLst>
              <a:ext uri="{FF2B5EF4-FFF2-40B4-BE49-F238E27FC236}">
                <a16:creationId xmlns:a16="http://schemas.microsoft.com/office/drawing/2014/main" id="{EBD2DB6F-4B8A-196B-1076-A45D21D37F66}"/>
              </a:ext>
            </a:extLst>
          </p:cNvPr>
          <p:cNvSpPr txBox="1"/>
          <p:nvPr/>
        </p:nvSpPr>
        <p:spPr>
          <a:xfrm>
            <a:off x="416859" y="1139949"/>
            <a:ext cx="8730502" cy="4678204"/>
          </a:xfrm>
          <a:prstGeom prst="rect">
            <a:avLst/>
          </a:prstGeom>
          <a:noFill/>
        </p:spPr>
        <p:txBody>
          <a:bodyPr wrap="square">
            <a:spAutoFit/>
          </a:bodyPr>
          <a:lstStyle/>
          <a:p>
            <a:r>
              <a:rPr lang="en-IN" sz="2000" b="1" dirty="0"/>
              <a:t>// NotAllowedToSwimException.java</a:t>
            </a:r>
          </a:p>
          <a:p>
            <a:r>
              <a:rPr lang="en-IN" sz="2000" dirty="0"/>
              <a:t>public class </a:t>
            </a:r>
            <a:r>
              <a:rPr lang="en-IN" sz="2000" dirty="0" err="1"/>
              <a:t>NotAllowedToSwimException</a:t>
            </a:r>
            <a:r>
              <a:rPr lang="en-IN" sz="2000" dirty="0"/>
              <a:t> extends Exception {</a:t>
            </a:r>
          </a:p>
          <a:p>
            <a:endParaRPr lang="en-IN" sz="2000" dirty="0"/>
          </a:p>
          <a:p>
            <a:r>
              <a:rPr lang="en-IN" sz="2000" dirty="0"/>
              <a:t>  String err; // storing error message</a:t>
            </a:r>
          </a:p>
          <a:p>
            <a:r>
              <a:rPr lang="en-IN" sz="2000" dirty="0"/>
              <a:t>  </a:t>
            </a:r>
          </a:p>
          <a:p>
            <a:r>
              <a:rPr lang="en-IN" sz="2000" dirty="0"/>
              <a:t>  public </a:t>
            </a:r>
            <a:r>
              <a:rPr lang="en-IN" sz="2000" dirty="0" err="1"/>
              <a:t>NotAllowedToSwimException</a:t>
            </a:r>
            <a:r>
              <a:rPr lang="en-IN" sz="2000" dirty="0"/>
              <a:t>() {</a:t>
            </a:r>
          </a:p>
          <a:p>
            <a:r>
              <a:rPr lang="en-IN" sz="2000" dirty="0"/>
              <a:t>    err="Your age doesn't permit to Swim, age must be above 10 or below 60";</a:t>
            </a:r>
          </a:p>
          <a:p>
            <a:r>
              <a:rPr lang="en-IN" sz="2000" dirty="0"/>
              <a:t>  }</a:t>
            </a:r>
          </a:p>
          <a:p>
            <a:r>
              <a:rPr lang="en-IN" sz="2000" dirty="0"/>
              <a:t>  public </a:t>
            </a:r>
            <a:r>
              <a:rPr lang="en-IN" sz="2000" dirty="0" err="1"/>
              <a:t>NotAllowedToSwimException</a:t>
            </a:r>
            <a:r>
              <a:rPr lang="en-IN" sz="2000" dirty="0"/>
              <a:t>(String err) {</a:t>
            </a:r>
          </a:p>
          <a:p>
            <a:r>
              <a:rPr lang="en-IN" sz="2000" dirty="0"/>
              <a:t>    </a:t>
            </a:r>
            <a:r>
              <a:rPr lang="en-IN" sz="2000" dirty="0" err="1"/>
              <a:t>this.err</a:t>
            </a:r>
            <a:r>
              <a:rPr lang="en-IN" sz="2000" dirty="0"/>
              <a:t>=err;</a:t>
            </a:r>
          </a:p>
          <a:p>
            <a:r>
              <a:rPr lang="en-IN" sz="2000" dirty="0"/>
              <a:t>  }</a:t>
            </a:r>
          </a:p>
          <a:p>
            <a:r>
              <a:rPr lang="en-IN" sz="2000" dirty="0"/>
              <a:t>  public String </a:t>
            </a:r>
            <a:r>
              <a:rPr lang="en-IN" sz="2000" dirty="0" err="1"/>
              <a:t>toString</a:t>
            </a:r>
            <a:r>
              <a:rPr lang="en-IN" sz="2000" dirty="0"/>
              <a:t>() {</a:t>
            </a:r>
          </a:p>
          <a:p>
            <a:r>
              <a:rPr lang="en-IN" sz="2000" dirty="0"/>
              <a:t>    return err;</a:t>
            </a:r>
          </a:p>
          <a:p>
            <a:r>
              <a:rPr lang="en-IN" sz="2000" dirty="0"/>
              <a:t>  }</a:t>
            </a:r>
          </a:p>
          <a:p>
            <a:r>
              <a:rPr lang="en-IN" sz="2000" dirty="0"/>
              <a:t>}</a:t>
            </a:r>
          </a:p>
        </p:txBody>
      </p:sp>
      <p:sp>
        <p:nvSpPr>
          <p:cNvPr id="2" name="Footer Placeholder 1">
            <a:extLst>
              <a:ext uri="{FF2B5EF4-FFF2-40B4-BE49-F238E27FC236}">
                <a16:creationId xmlns:a16="http://schemas.microsoft.com/office/drawing/2014/main" id="{66981E96-EAF4-9C68-375E-A28FD5ACF73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63915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1" name="TextBox 10">
            <a:extLst>
              <a:ext uri="{FF2B5EF4-FFF2-40B4-BE49-F238E27FC236}">
                <a16:creationId xmlns:a16="http://schemas.microsoft.com/office/drawing/2014/main" id="{EF4DA506-A8DD-FD4B-B032-BA58FBD8A85C}"/>
              </a:ext>
            </a:extLst>
          </p:cNvPr>
          <p:cNvSpPr txBox="1"/>
          <p:nvPr/>
        </p:nvSpPr>
        <p:spPr>
          <a:xfrm>
            <a:off x="457200" y="1139949"/>
            <a:ext cx="8690161" cy="4678204"/>
          </a:xfrm>
          <a:prstGeom prst="rect">
            <a:avLst/>
          </a:prstGeom>
          <a:noFill/>
        </p:spPr>
        <p:txBody>
          <a:bodyPr wrap="square">
            <a:spAutoFit/>
          </a:bodyPr>
          <a:lstStyle/>
          <a:p>
            <a:r>
              <a:rPr lang="en-IN" sz="2000" b="1" dirty="0"/>
              <a:t>// SwimmerAdmission.java</a:t>
            </a:r>
          </a:p>
          <a:p>
            <a:r>
              <a:rPr lang="en-IN" sz="2000" dirty="0"/>
              <a:t>public class </a:t>
            </a:r>
            <a:r>
              <a:rPr lang="en-IN" sz="2000" dirty="0" err="1"/>
              <a:t>SwimmerAdmission</a:t>
            </a:r>
            <a:r>
              <a:rPr lang="en-IN" sz="2000" dirty="0"/>
              <a:t> {</a:t>
            </a:r>
          </a:p>
          <a:p>
            <a:r>
              <a:rPr lang="en-IN" sz="2000" dirty="0"/>
              <a:t>  public boolean </a:t>
            </a:r>
            <a:r>
              <a:rPr lang="en-IN" sz="2000" dirty="0" err="1"/>
              <a:t>allowToSwim</a:t>
            </a:r>
            <a:r>
              <a:rPr lang="en-IN" sz="2000" dirty="0"/>
              <a:t>(String name, int age) throws </a:t>
            </a:r>
            <a:r>
              <a:rPr lang="en-IN" sz="2000" dirty="0" err="1"/>
              <a:t>NotAllowedToSwimException</a:t>
            </a:r>
            <a:r>
              <a:rPr lang="en-IN" sz="2000" dirty="0"/>
              <a:t> {</a:t>
            </a:r>
          </a:p>
          <a:p>
            <a:r>
              <a:rPr lang="en-IN" sz="2000" dirty="0"/>
              <a:t>    boolean flag=false;</a:t>
            </a:r>
          </a:p>
          <a:p>
            <a:r>
              <a:rPr lang="en-IN" sz="2000" dirty="0"/>
              <a:t>	</a:t>
            </a:r>
          </a:p>
          <a:p>
            <a:r>
              <a:rPr lang="en-IN" sz="2000" dirty="0"/>
              <a:t>    if(age&lt;=10 || age&gt;=60) {</a:t>
            </a:r>
          </a:p>
          <a:p>
            <a:r>
              <a:rPr lang="en-IN" sz="2000" dirty="0"/>
              <a:t>      // throw new </a:t>
            </a:r>
            <a:r>
              <a:rPr lang="en-IN" sz="2000" dirty="0" err="1"/>
              <a:t>NotAllowedToSwimException</a:t>
            </a:r>
            <a:r>
              <a:rPr lang="en-IN" sz="2000" dirty="0"/>
              <a:t>();</a:t>
            </a:r>
          </a:p>
          <a:p>
            <a:r>
              <a:rPr lang="en-IN" sz="2000" dirty="0"/>
              <a:t>      throw new </a:t>
            </a:r>
            <a:r>
              <a:rPr lang="en-IN" sz="2000" dirty="0" err="1"/>
              <a:t>NotAllowedToSwimException</a:t>
            </a:r>
            <a:r>
              <a:rPr lang="en-IN" sz="2000" dirty="0"/>
              <a:t>("Admission rejected");</a:t>
            </a:r>
          </a:p>
          <a:p>
            <a:r>
              <a:rPr lang="en-IN" sz="2000" dirty="0"/>
              <a:t>    } else {</a:t>
            </a:r>
          </a:p>
          <a:p>
            <a:r>
              <a:rPr lang="en-IN" sz="2000" dirty="0"/>
              <a:t>      flag=true;</a:t>
            </a:r>
          </a:p>
          <a:p>
            <a:r>
              <a:rPr lang="en-IN" sz="2000" dirty="0"/>
              <a:t>    }// else</a:t>
            </a:r>
          </a:p>
          <a:p>
            <a:r>
              <a:rPr lang="en-IN" sz="2000" dirty="0"/>
              <a:t>    return flag;</a:t>
            </a:r>
          </a:p>
          <a:p>
            <a:r>
              <a:rPr lang="en-IN" sz="2000" dirty="0"/>
              <a:t>  }// </a:t>
            </a:r>
            <a:r>
              <a:rPr lang="en-IN" sz="2000" dirty="0" err="1"/>
              <a:t>allowToSwim</a:t>
            </a:r>
            <a:r>
              <a:rPr lang="en-IN" sz="2000" dirty="0"/>
              <a:t>()</a:t>
            </a:r>
          </a:p>
          <a:p>
            <a:r>
              <a:rPr lang="en-IN" sz="2000" dirty="0"/>
              <a:t>}// class</a:t>
            </a:r>
          </a:p>
        </p:txBody>
      </p:sp>
      <p:sp>
        <p:nvSpPr>
          <p:cNvPr id="2" name="Footer Placeholder 1">
            <a:extLst>
              <a:ext uri="{FF2B5EF4-FFF2-40B4-BE49-F238E27FC236}">
                <a16:creationId xmlns:a16="http://schemas.microsoft.com/office/drawing/2014/main" id="{BB6F8F26-0DE8-CE52-28C5-5E4203AA8A9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88725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0" name="TextBox 9">
            <a:extLst>
              <a:ext uri="{FF2B5EF4-FFF2-40B4-BE49-F238E27FC236}">
                <a16:creationId xmlns:a16="http://schemas.microsoft.com/office/drawing/2014/main" id="{0C6A9C96-24E4-D4E5-46D4-28C10D70ABF7}"/>
              </a:ext>
            </a:extLst>
          </p:cNvPr>
          <p:cNvSpPr txBox="1"/>
          <p:nvPr/>
        </p:nvSpPr>
        <p:spPr>
          <a:xfrm>
            <a:off x="305922" y="928872"/>
            <a:ext cx="8982858" cy="5909310"/>
          </a:xfrm>
          <a:prstGeom prst="rect">
            <a:avLst/>
          </a:prstGeom>
          <a:noFill/>
        </p:spPr>
        <p:txBody>
          <a:bodyPr wrap="square">
            <a:spAutoFit/>
          </a:bodyPr>
          <a:lstStyle/>
          <a:p>
            <a:r>
              <a:rPr lang="en-IN" b="1" dirty="0"/>
              <a:t>// SAClient.java</a:t>
            </a:r>
          </a:p>
          <a:p>
            <a:r>
              <a:rPr lang="en-IN" dirty="0"/>
              <a:t>public class </a:t>
            </a:r>
            <a:r>
              <a:rPr lang="en-IN" dirty="0" err="1"/>
              <a:t>SAClient</a:t>
            </a:r>
            <a:r>
              <a:rPr lang="en-IN" dirty="0"/>
              <a:t> {</a:t>
            </a:r>
          </a:p>
          <a:p>
            <a:r>
              <a:rPr lang="en-IN" dirty="0"/>
              <a:t>  public static void main(String rags[]) {</a:t>
            </a:r>
          </a:p>
          <a:p>
            <a:r>
              <a:rPr lang="en-IN" dirty="0"/>
              <a:t>    </a:t>
            </a:r>
            <a:r>
              <a:rPr lang="en-IN" dirty="0" err="1"/>
              <a:t>SwimmerAdmission</a:t>
            </a:r>
            <a:r>
              <a:rPr lang="en-IN" dirty="0"/>
              <a:t> </a:t>
            </a:r>
            <a:r>
              <a:rPr lang="en-IN" dirty="0" err="1"/>
              <a:t>sa</a:t>
            </a:r>
            <a:r>
              <a:rPr lang="en-IN" dirty="0"/>
              <a:t>=new </a:t>
            </a:r>
            <a:r>
              <a:rPr lang="en-IN" dirty="0" err="1"/>
              <a:t>SwimmerAdmission</a:t>
            </a:r>
            <a:r>
              <a:rPr lang="en-IN" dirty="0"/>
              <a:t>();</a:t>
            </a:r>
          </a:p>
          <a:p>
            <a:r>
              <a:rPr lang="en-IN" dirty="0"/>
              <a:t>    boolean b=false;</a:t>
            </a:r>
          </a:p>
          <a:p>
            <a:r>
              <a:rPr lang="en-IN" dirty="0"/>
              <a:t>	try {</a:t>
            </a:r>
          </a:p>
          <a:p>
            <a:r>
              <a:rPr lang="en-IN" dirty="0"/>
              <a:t>		boolean b=</a:t>
            </a:r>
            <a:r>
              <a:rPr lang="en-IN" dirty="0" err="1"/>
              <a:t>sa.allowToSwim</a:t>
            </a:r>
            <a:r>
              <a:rPr lang="en-IN" dirty="0"/>
              <a:t>(rags[0], </a:t>
            </a:r>
            <a:r>
              <a:rPr lang="en-IN" dirty="0" err="1"/>
              <a:t>Integer.parseInt</a:t>
            </a:r>
            <a:r>
              <a:rPr lang="en-IN" dirty="0"/>
              <a:t>(rags[1]));</a:t>
            </a:r>
          </a:p>
          <a:p>
            <a:r>
              <a:rPr lang="en-IN" dirty="0"/>
              <a:t>		System.out.println(b); </a:t>
            </a:r>
          </a:p>
          <a:p>
            <a:r>
              <a:rPr lang="en-IN" dirty="0"/>
              <a:t>	} </a:t>
            </a:r>
          </a:p>
          <a:p>
            <a:r>
              <a:rPr lang="en-IN" dirty="0"/>
              <a:t>	catch(</a:t>
            </a:r>
            <a:r>
              <a:rPr lang="en-IN" dirty="0" err="1"/>
              <a:t>NotAllowedToSwimException</a:t>
            </a:r>
            <a:r>
              <a:rPr lang="en-IN" dirty="0"/>
              <a:t> e) {</a:t>
            </a:r>
          </a:p>
          <a:p>
            <a:r>
              <a:rPr lang="en-IN" dirty="0"/>
              <a:t>	   </a:t>
            </a:r>
            <a:r>
              <a:rPr lang="en-IN" dirty="0" err="1"/>
              <a:t>e.printStackTrace</a:t>
            </a:r>
            <a:r>
              <a:rPr lang="en-IN" dirty="0"/>
              <a:t>();</a:t>
            </a:r>
          </a:p>
          <a:p>
            <a:r>
              <a:rPr lang="en-IN" dirty="0"/>
              <a:t>	}</a:t>
            </a:r>
          </a:p>
          <a:p>
            <a:r>
              <a:rPr lang="en-IN" dirty="0"/>
              <a:t>	catch(Exception e) {</a:t>
            </a:r>
          </a:p>
          <a:p>
            <a:r>
              <a:rPr lang="en-IN" dirty="0"/>
              <a:t>	   </a:t>
            </a:r>
            <a:r>
              <a:rPr lang="en-IN" dirty="0" err="1"/>
              <a:t>e.printStackTrace</a:t>
            </a:r>
            <a:r>
              <a:rPr lang="en-IN" dirty="0"/>
              <a:t>();</a:t>
            </a:r>
          </a:p>
          <a:p>
            <a:r>
              <a:rPr lang="en-IN" dirty="0"/>
              <a:t>	}</a:t>
            </a:r>
          </a:p>
          <a:p>
            <a:r>
              <a:rPr lang="en-IN" dirty="0"/>
              <a:t>	</a:t>
            </a:r>
          </a:p>
          <a:p>
            <a:r>
              <a:rPr lang="en-IN" dirty="0"/>
              <a:t>	finally {</a:t>
            </a:r>
          </a:p>
          <a:p>
            <a:r>
              <a:rPr lang="en-IN" dirty="0"/>
              <a:t>		System.out.println("Allowed to Swim "+b);</a:t>
            </a:r>
          </a:p>
          <a:p>
            <a:r>
              <a:rPr lang="en-IN" dirty="0"/>
              <a:t>	}	</a:t>
            </a:r>
          </a:p>
          <a:p>
            <a:r>
              <a:rPr lang="en-IN" dirty="0"/>
              <a:t>  }</a:t>
            </a:r>
          </a:p>
          <a:p>
            <a:r>
              <a:rPr lang="en-IN" dirty="0"/>
              <a:t>}</a:t>
            </a:r>
          </a:p>
        </p:txBody>
      </p:sp>
      <p:sp>
        <p:nvSpPr>
          <p:cNvPr id="12" name="TextBox 11">
            <a:extLst>
              <a:ext uri="{FF2B5EF4-FFF2-40B4-BE49-F238E27FC236}">
                <a16:creationId xmlns:a16="http://schemas.microsoft.com/office/drawing/2014/main" id="{CC8F93AE-B2A8-1B3B-DA6E-EDB606137736}"/>
              </a:ext>
            </a:extLst>
          </p:cNvPr>
          <p:cNvSpPr txBox="1"/>
          <p:nvPr/>
        </p:nvSpPr>
        <p:spPr>
          <a:xfrm>
            <a:off x="9100297" y="1129784"/>
            <a:ext cx="2649587" cy="1477328"/>
          </a:xfrm>
          <a:prstGeom prst="rect">
            <a:avLst/>
          </a:prstGeom>
          <a:noFill/>
        </p:spPr>
        <p:txBody>
          <a:bodyPr wrap="square">
            <a:spAutoFit/>
          </a:bodyPr>
          <a:lstStyle/>
          <a:p>
            <a:r>
              <a:rPr lang="en-IN" dirty="0"/>
              <a:t>java </a:t>
            </a:r>
            <a:r>
              <a:rPr lang="en-IN" dirty="0" err="1"/>
              <a:t>SAClient</a:t>
            </a:r>
            <a:r>
              <a:rPr lang="en-IN" dirty="0"/>
              <a:t> ABC 9</a:t>
            </a:r>
          </a:p>
          <a:p>
            <a:r>
              <a:rPr lang="en-IN" dirty="0"/>
              <a:t>java </a:t>
            </a:r>
            <a:r>
              <a:rPr lang="en-IN" dirty="0" err="1"/>
              <a:t>SAClient</a:t>
            </a:r>
            <a:r>
              <a:rPr lang="en-IN" dirty="0"/>
              <a:t> XYZ 10</a:t>
            </a:r>
          </a:p>
          <a:p>
            <a:r>
              <a:rPr lang="en-IN" dirty="0"/>
              <a:t>java </a:t>
            </a:r>
            <a:r>
              <a:rPr lang="en-IN" dirty="0" err="1"/>
              <a:t>SAClient</a:t>
            </a:r>
            <a:r>
              <a:rPr lang="en-IN" dirty="0"/>
              <a:t> MNO 12</a:t>
            </a:r>
          </a:p>
          <a:p>
            <a:r>
              <a:rPr lang="en-IN" dirty="0"/>
              <a:t>java </a:t>
            </a:r>
            <a:r>
              <a:rPr lang="en-IN" dirty="0" err="1"/>
              <a:t>SAClient</a:t>
            </a:r>
            <a:r>
              <a:rPr lang="en-IN" dirty="0"/>
              <a:t> PQR 59</a:t>
            </a:r>
          </a:p>
          <a:p>
            <a:r>
              <a:rPr lang="en-IN" dirty="0"/>
              <a:t>java </a:t>
            </a:r>
            <a:r>
              <a:rPr lang="en-IN" dirty="0" err="1"/>
              <a:t>SAClient</a:t>
            </a:r>
            <a:r>
              <a:rPr lang="en-IN" dirty="0"/>
              <a:t> UVW 60</a:t>
            </a:r>
          </a:p>
        </p:txBody>
      </p:sp>
      <p:sp>
        <p:nvSpPr>
          <p:cNvPr id="2" name="Footer Placeholder 1">
            <a:extLst>
              <a:ext uri="{FF2B5EF4-FFF2-40B4-BE49-F238E27FC236}">
                <a16:creationId xmlns:a16="http://schemas.microsoft.com/office/drawing/2014/main" id="{F7ACEE97-C9DA-2BFB-AF24-853FF9F31E9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71861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1" name="TextBox 10">
            <a:extLst>
              <a:ext uri="{FF2B5EF4-FFF2-40B4-BE49-F238E27FC236}">
                <a16:creationId xmlns:a16="http://schemas.microsoft.com/office/drawing/2014/main" id="{DCB46917-62B8-725F-6ADD-15CE5547AA4E}"/>
              </a:ext>
            </a:extLst>
          </p:cNvPr>
          <p:cNvSpPr txBox="1"/>
          <p:nvPr/>
        </p:nvSpPr>
        <p:spPr>
          <a:xfrm>
            <a:off x="184897" y="910037"/>
            <a:ext cx="9090435" cy="5940088"/>
          </a:xfrm>
          <a:prstGeom prst="rect">
            <a:avLst/>
          </a:prstGeom>
          <a:noFill/>
        </p:spPr>
        <p:txBody>
          <a:bodyPr wrap="square">
            <a:spAutoFit/>
          </a:bodyPr>
          <a:lstStyle/>
          <a:p>
            <a:pPr algn="just"/>
            <a:r>
              <a:rPr lang="en-IN" sz="2000" dirty="0"/>
              <a:t>finally block must be written at the end of all try/catch blocks, or event without writing catch blocks also. This block executes both in normal and abnormal termination of method execution.</a:t>
            </a:r>
          </a:p>
          <a:p>
            <a:pPr algn="just"/>
            <a:endParaRPr lang="en-IN" sz="2000" dirty="0"/>
          </a:p>
          <a:p>
            <a:pPr algn="just"/>
            <a:r>
              <a:rPr lang="en-IN" sz="2000" dirty="0"/>
              <a:t>In the previous example </a:t>
            </a:r>
            <a:r>
              <a:rPr lang="en-IN" sz="2000" dirty="0" err="1"/>
              <a:t>NotAllowedToSwimException</a:t>
            </a:r>
            <a:r>
              <a:rPr lang="en-IN" sz="2000" dirty="0"/>
              <a:t>, </a:t>
            </a:r>
            <a:r>
              <a:rPr lang="en-IN" sz="2000" dirty="0" err="1"/>
              <a:t>NumberFormatException</a:t>
            </a:r>
            <a:r>
              <a:rPr lang="en-IN" sz="2000" dirty="0"/>
              <a:t>, </a:t>
            </a:r>
            <a:r>
              <a:rPr lang="en-IN" sz="2000" dirty="0" err="1"/>
              <a:t>ArrayIndexOutOfBoundsException</a:t>
            </a:r>
            <a:r>
              <a:rPr lang="en-IN" sz="2000" dirty="0"/>
              <a:t> and </a:t>
            </a:r>
            <a:r>
              <a:rPr lang="en-IN" sz="2000" dirty="0" err="1"/>
              <a:t>NullPointerException</a:t>
            </a:r>
            <a:r>
              <a:rPr lang="en-IN" sz="2000" dirty="0"/>
              <a:t> are suspected. We even included Exception and Throwable classes also in catch block. But if we </a:t>
            </a:r>
            <a:r>
              <a:rPr lang="en-IN" sz="2000" dirty="0" err="1"/>
              <a:t>dont</a:t>
            </a:r>
            <a:r>
              <a:rPr lang="en-IN" sz="2000" dirty="0"/>
              <a:t> handle exception using AIOOBE, </a:t>
            </a:r>
            <a:r>
              <a:rPr lang="en-IN" sz="2000" dirty="0" err="1"/>
              <a:t>NullPointerException</a:t>
            </a:r>
            <a:r>
              <a:rPr lang="en-IN" sz="2000" dirty="0"/>
              <a:t>, Exception and Throwable object. If AIOOBE raises program abnormally terminates. In the abnormal termination of method execution also the code written in finally block executes.</a:t>
            </a:r>
          </a:p>
          <a:p>
            <a:pPr algn="just"/>
            <a:endParaRPr lang="en-IN" sz="2000" dirty="0"/>
          </a:p>
          <a:p>
            <a:pPr algn="just"/>
            <a:r>
              <a:rPr lang="en-IN" sz="2000" dirty="0"/>
              <a:t>After finally no further try/catch blocks are allowed but in finally block we can again write try/catch blocks.</a:t>
            </a:r>
          </a:p>
          <a:p>
            <a:pPr algn="just"/>
            <a:endParaRPr lang="en-IN" sz="2000" dirty="0"/>
          </a:p>
          <a:p>
            <a:pPr algn="just"/>
            <a:r>
              <a:rPr lang="en-IN" sz="2000" dirty="0"/>
              <a:t>We can write any number of individual try/catch blocks in a method.</a:t>
            </a:r>
          </a:p>
          <a:p>
            <a:pPr algn="just"/>
            <a:endParaRPr lang="en-IN" sz="2000" dirty="0"/>
          </a:p>
          <a:p>
            <a:pPr algn="just"/>
            <a:r>
              <a:rPr lang="en-IN" sz="2000" dirty="0"/>
              <a:t>In a try block we can write any number of try/catch blocks. In catch and finally also we can write any number of try/catch blocks. But only to the last try block finally block must be included.</a:t>
            </a:r>
          </a:p>
        </p:txBody>
      </p:sp>
      <p:sp>
        <p:nvSpPr>
          <p:cNvPr id="2" name="Footer Placeholder 1">
            <a:extLst>
              <a:ext uri="{FF2B5EF4-FFF2-40B4-BE49-F238E27FC236}">
                <a16:creationId xmlns:a16="http://schemas.microsoft.com/office/drawing/2014/main" id="{FF2AB0B3-489E-B496-46E3-C76A33E30D2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193103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id="{923F7B88-0676-451D-BFE0-D0F0CC2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Exceptions and Exception Handling</a:t>
              </a:r>
            </a:p>
          </p:txBody>
        </p:sp>
      </p:grpSp>
      <p:sp>
        <p:nvSpPr>
          <p:cNvPr id="11" name="TextBox 10">
            <a:extLst>
              <a:ext uri="{FF2B5EF4-FFF2-40B4-BE49-F238E27FC236}">
                <a16:creationId xmlns:a16="http://schemas.microsoft.com/office/drawing/2014/main" id="{DCB46917-62B8-725F-6ADD-15CE5547AA4E}"/>
              </a:ext>
            </a:extLst>
          </p:cNvPr>
          <p:cNvSpPr txBox="1"/>
          <p:nvPr/>
        </p:nvSpPr>
        <p:spPr>
          <a:xfrm>
            <a:off x="2686046" y="2362313"/>
            <a:ext cx="5745256" cy="2800767"/>
          </a:xfrm>
          <a:prstGeom prst="rect">
            <a:avLst/>
          </a:prstGeom>
          <a:noFill/>
        </p:spPr>
        <p:txBody>
          <a:bodyPr wrap="square">
            <a:spAutoFit/>
          </a:bodyPr>
          <a:lstStyle/>
          <a:p>
            <a:pPr algn="ctr"/>
            <a:r>
              <a:rPr lang="en-IN" sz="8800" dirty="0">
                <a:latin typeface="4114 Blaster Expanded" pitchFamily="2" charset="0"/>
              </a:rPr>
              <a:t>Thank You</a:t>
            </a:r>
            <a:endParaRPr lang="en-IN" sz="2000" dirty="0">
              <a:latin typeface="4114 Blaster Expanded" pitchFamily="2" charset="0"/>
            </a:endParaRPr>
          </a:p>
        </p:txBody>
      </p:sp>
      <p:sp>
        <p:nvSpPr>
          <p:cNvPr id="2" name="Footer Placeholder 1">
            <a:extLst>
              <a:ext uri="{FF2B5EF4-FFF2-40B4-BE49-F238E27FC236}">
                <a16:creationId xmlns:a16="http://schemas.microsoft.com/office/drawing/2014/main" id="{9AF5FB6E-F8A1-53EA-BA32-9C6A4D51074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90905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TotalTime>
  <Words>2764</Words>
  <Application>Microsoft Office PowerPoint</Application>
  <PresentationFormat>Widescreen</PresentationFormat>
  <Paragraphs>419</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4114 Blaster Expanded</vt:lpstr>
      <vt:lpstr>Arial</vt:lpstr>
      <vt:lpstr>Bookman Old Style</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43</cp:revision>
  <dcterms:created xsi:type="dcterms:W3CDTF">2021-09-13T09:22:41Z</dcterms:created>
  <dcterms:modified xsi:type="dcterms:W3CDTF">2023-08-24T04:51:00Z</dcterms:modified>
</cp:coreProperties>
</file>