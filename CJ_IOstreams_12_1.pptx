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00FF"/>
    <a:srgbClr val="3399FF"/>
    <a:srgbClr val="003F66"/>
    <a:srgbClr val="990033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26175-2A0D-4232-9590-BB851112E176}" type="datetimeFigureOut">
              <a:rPr lang="en-IN" smtClean="0"/>
              <a:t>24-08-2023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EC615-FF7D-4012-A79D-AE236DC01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1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D56-4427-447F-9D3E-3356853E900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EC69-60FB-4AA4-AA3A-A4E4A920895A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6D68-9DBD-4344-B818-52C2A055CADE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1EC0-8D98-438D-9613-778B7687E17D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6A8F1-861A-4144-B59C-038F50AC3E90}" type="datetime1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D60C-EF80-47BC-9C33-BF8512A22D72}" type="datetime1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FB55-8FB2-4AA1-B90C-BF9328AF7079}" type="datetime1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C9D8-32FF-4F2E-AE8C-AEBDBA3F91A7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E8CB-C538-451A-AC74-719A1D137BEB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D587-135B-4B83-BE22-101D3EE010F5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763C-9C3C-4208-A2BC-83426BF8B94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9117-FB55-4E01-B682-FAE3AB3DBBD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530290" y="2069989"/>
            <a:ext cx="7281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Streams in Java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java.io package</a:t>
            </a:r>
            <a:endParaRPr lang="en-US" sz="6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3945746" y="3656892"/>
            <a:ext cx="25779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- 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04EDE1-DCD5-9B98-340E-1CEC447E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/>
              <a:t>Suryanarayana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812910" y="1560049"/>
            <a:ext cx="88286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package contains classes that are used to perform: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operations on various source &amp; destinations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Serialization &amp; Deserialization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RandomAccessFile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A5D0B-47D6-6A16-94E2-B436551B0455}"/>
              </a:ext>
            </a:extLst>
          </p:cNvPr>
          <p:cNvSpPr txBox="1"/>
          <p:nvPr/>
        </p:nvSpPr>
        <p:spPr>
          <a:xfrm>
            <a:off x="2550459" y="4005500"/>
            <a:ext cx="613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In I/</a:t>
            </a:r>
            <a:r>
              <a:rPr lang="en-IN" sz="2400" b="1" dirty="0" err="1">
                <a:solidFill>
                  <a:srgbClr val="C00000"/>
                </a:solidFill>
              </a:rPr>
              <a:t>OStream</a:t>
            </a:r>
            <a:r>
              <a:rPr lang="en-IN" sz="2400" b="1" dirty="0">
                <a:solidFill>
                  <a:srgbClr val="C00000"/>
                </a:solidFill>
              </a:rPr>
              <a:t> topic we will deal with subclasses of 4 classes called </a:t>
            </a:r>
            <a:r>
              <a:rPr lang="en-IN" sz="2400" b="1" dirty="0" err="1">
                <a:solidFill>
                  <a:srgbClr val="C00000"/>
                </a:solidFill>
              </a:rPr>
              <a:t>InputStream</a:t>
            </a:r>
            <a:r>
              <a:rPr lang="en-IN" sz="2400" b="1" dirty="0">
                <a:solidFill>
                  <a:srgbClr val="C00000"/>
                </a:solidFill>
              </a:rPr>
              <a:t>, </a:t>
            </a:r>
            <a:r>
              <a:rPr lang="en-IN" sz="2400" b="1" dirty="0" err="1">
                <a:solidFill>
                  <a:srgbClr val="C00000"/>
                </a:solidFill>
              </a:rPr>
              <a:t>OutputStream</a:t>
            </a:r>
            <a:r>
              <a:rPr lang="en-IN" sz="2400" b="1" dirty="0">
                <a:solidFill>
                  <a:srgbClr val="C00000"/>
                </a:solidFill>
              </a:rPr>
              <a:t>, Reader and Writer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B72489-3C91-C6F1-D284-9CEE91B0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82187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812910" y="1560049"/>
            <a:ext cx="8828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InputStream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OutputStreams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deals with stream of bytes 0-255 (ASCII range characters are 256).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A5D0B-47D6-6A16-94E2-B436551B0455}"/>
              </a:ext>
            </a:extLst>
          </p:cNvPr>
          <p:cNvSpPr txBox="1"/>
          <p:nvPr/>
        </p:nvSpPr>
        <p:spPr>
          <a:xfrm>
            <a:off x="2550461" y="2823526"/>
            <a:ext cx="613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0-127 - Numbers, Lower Alpha, Upper Alpha &amp; special characters</a:t>
            </a:r>
          </a:p>
          <a:p>
            <a:pPr algn="just"/>
            <a:r>
              <a:rPr lang="en-US" sz="2400" dirty="0">
                <a:solidFill>
                  <a:srgbClr val="C00000"/>
                </a:solidFill>
              </a:rPr>
              <a:t>128-255 – Extended ASCII characters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21AC7-6FB0-F350-7E1D-C237A7700EC1}"/>
              </a:ext>
            </a:extLst>
          </p:cNvPr>
          <p:cNvSpPr txBox="1"/>
          <p:nvPr/>
        </p:nvSpPr>
        <p:spPr>
          <a:xfrm>
            <a:off x="812910" y="4083767"/>
            <a:ext cx="84554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rgbClr val="C00000"/>
                </a:solidFill>
              </a:rPr>
              <a:t>Reader and Writer classes deals with stream of characters 0-65535 (Unicode range characters are 65536).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FF733-00E5-D3F5-1E9B-E5644A77BA61}"/>
              </a:ext>
            </a:extLst>
          </p:cNvPr>
          <p:cNvSpPr txBox="1"/>
          <p:nvPr/>
        </p:nvSpPr>
        <p:spPr>
          <a:xfrm>
            <a:off x="837077" y="2460502"/>
            <a:ext cx="9597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https://theasciicode.com.ar/extended-ascii-code/majuscule-c-cedilla-uppercase-ascii-code-128.html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70393-29F3-58E0-F03B-3B6BF1FD88C5}"/>
              </a:ext>
            </a:extLst>
          </p:cNvPr>
          <p:cNvSpPr txBox="1"/>
          <p:nvPr/>
        </p:nvSpPr>
        <p:spPr>
          <a:xfrm>
            <a:off x="837077" y="5390146"/>
            <a:ext cx="6558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https://www.rapidtables.com/code/text/unicode-characters.html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1F50C-353E-F916-09FE-E2B370C1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46902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DC2FA4D-9997-0B64-277D-4892928169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5" t="16208" r="28750" b="11647"/>
          <a:stretch/>
        </p:blipFill>
        <p:spPr>
          <a:xfrm>
            <a:off x="282382" y="736161"/>
            <a:ext cx="8424925" cy="586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F44F0E-E13F-C4D5-9718-23F7B0E8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5025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C557A55-2FDE-058E-4E5C-5AC12C9AAD7A}"/>
              </a:ext>
            </a:extLst>
          </p:cNvPr>
          <p:cNvSpPr txBox="1"/>
          <p:nvPr/>
        </p:nvSpPr>
        <p:spPr>
          <a:xfrm>
            <a:off x="571500" y="2273479"/>
            <a:ext cx="8343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Various sources from which we can "read" data are keyboard/STDIN, File, Socket, byte/char array, String, Object etc.</a:t>
            </a: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Various destinations onto which we can "write" are Monitor/STDOUT, File, Socket, byte/char array, Object etc.</a:t>
            </a:r>
          </a:p>
        </p:txBody>
      </p:sp>
      <p:pic>
        <p:nvPicPr>
          <p:cNvPr id="1026" name="Picture 2" descr="412 Network Connection Plug Socket Stock Photos, Pictures &amp; Royalty-Free  Images - iStock">
            <a:extLst>
              <a:ext uri="{FF2B5EF4-FFF2-40B4-BE49-F238E27FC236}">
                <a16:creationId xmlns:a16="http://schemas.microsoft.com/office/drawing/2014/main" id="{A22DDB44-779D-1F9A-91CF-270E069DF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468" y="1814978"/>
            <a:ext cx="1680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File?">
            <a:extLst>
              <a:ext uri="{FF2B5EF4-FFF2-40B4-BE49-F238E27FC236}">
                <a16:creationId xmlns:a16="http://schemas.microsoft.com/office/drawing/2014/main" id="{67CC7CC1-6075-7924-07B5-90F7032C6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143" y="863883"/>
            <a:ext cx="1190663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90DB34A-899C-8CAB-F6FB-F2F338152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123251"/>
              </p:ext>
            </p:extLst>
          </p:nvPr>
        </p:nvGraphicFramePr>
        <p:xfrm>
          <a:off x="5768788" y="4250818"/>
          <a:ext cx="2930710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6142">
                  <a:extLst>
                    <a:ext uri="{9D8B030D-6E8A-4147-A177-3AD203B41FA5}">
                      <a16:colId xmlns:a16="http://schemas.microsoft.com/office/drawing/2014/main" val="3547568442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2016698230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4099347716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2177476884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74615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023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F3EE65-04FE-F93E-B624-3EEEE853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59908"/>
              </p:ext>
            </p:extLst>
          </p:nvPr>
        </p:nvGraphicFramePr>
        <p:xfrm>
          <a:off x="2683947" y="4545660"/>
          <a:ext cx="2930710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6142">
                  <a:extLst>
                    <a:ext uri="{9D8B030D-6E8A-4147-A177-3AD203B41FA5}">
                      <a16:colId xmlns:a16="http://schemas.microsoft.com/office/drawing/2014/main" val="3547568442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2016698230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4099347716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2177476884"/>
                    </a:ext>
                  </a:extLst>
                </a:gridCol>
                <a:gridCol w="586142">
                  <a:extLst>
                    <a:ext uri="{9D8B030D-6E8A-4147-A177-3AD203B41FA5}">
                      <a16:colId xmlns:a16="http://schemas.microsoft.com/office/drawing/2014/main" val="74615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0237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AB49E5-AEF1-2127-1141-DC013A30F2A0}"/>
              </a:ext>
            </a:extLst>
          </p:cNvPr>
          <p:cNvCxnSpPr/>
          <p:nvPr/>
        </p:nvCxnSpPr>
        <p:spPr>
          <a:xfrm>
            <a:off x="5849471" y="3074978"/>
            <a:ext cx="806823" cy="11374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998A0A-C06F-C451-EA46-9C2DE7B2C5D0}"/>
              </a:ext>
            </a:extLst>
          </p:cNvPr>
          <p:cNvCxnSpPr/>
          <p:nvPr/>
        </p:nvCxnSpPr>
        <p:spPr>
          <a:xfrm flipH="1">
            <a:off x="4477871" y="3074978"/>
            <a:ext cx="161364" cy="13491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200718-F5F0-0F69-AD1E-73A731C521E9}"/>
              </a:ext>
            </a:extLst>
          </p:cNvPr>
          <p:cNvCxnSpPr/>
          <p:nvPr/>
        </p:nvCxnSpPr>
        <p:spPr>
          <a:xfrm flipV="1">
            <a:off x="3135637" y="1594184"/>
            <a:ext cx="3977857" cy="11645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48DC34-A06A-0C7E-56B2-770C6EC18283}"/>
              </a:ext>
            </a:extLst>
          </p:cNvPr>
          <p:cNvCxnSpPr/>
          <p:nvPr/>
        </p:nvCxnSpPr>
        <p:spPr>
          <a:xfrm flipV="1">
            <a:off x="4119259" y="2230326"/>
            <a:ext cx="5136209" cy="4734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Computer keyboard key explanation">
            <a:extLst>
              <a:ext uri="{FF2B5EF4-FFF2-40B4-BE49-F238E27FC236}">
                <a16:creationId xmlns:a16="http://schemas.microsoft.com/office/drawing/2014/main" id="{42377212-4B51-FF5C-B5DD-75AA8BFE8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60" y="871583"/>
            <a:ext cx="2923304" cy="9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FEEE99-EAD2-112D-9ECD-BA79C91EFA2D}"/>
              </a:ext>
            </a:extLst>
          </p:cNvPr>
          <p:cNvCxnSpPr/>
          <p:nvPr/>
        </p:nvCxnSpPr>
        <p:spPr>
          <a:xfrm flipV="1">
            <a:off x="1402162" y="2061868"/>
            <a:ext cx="346671" cy="6562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Why Would You Want a CRT Monitor In 2019?">
            <a:extLst>
              <a:ext uri="{FF2B5EF4-FFF2-40B4-BE49-F238E27FC236}">
                <a16:creationId xmlns:a16="http://schemas.microsoft.com/office/drawing/2014/main" id="{0EC31A86-F2B2-5BAC-19C3-FF45C28AE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3" t="3746" r="19782" b="3933"/>
          <a:stretch/>
        </p:blipFill>
        <p:spPr bwMode="auto">
          <a:xfrm>
            <a:off x="647352" y="4620950"/>
            <a:ext cx="1711728" cy="15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C98099-BBAB-94C7-410E-48F9E235B8E8}"/>
              </a:ext>
            </a:extLst>
          </p:cNvPr>
          <p:cNvCxnSpPr/>
          <p:nvPr/>
        </p:nvCxnSpPr>
        <p:spPr>
          <a:xfrm>
            <a:off x="1070812" y="4147323"/>
            <a:ext cx="0" cy="3859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A1555B-9DF7-D69D-4963-59623A3A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28894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39407EF-1F8D-D380-395E-904869765F72}"/>
              </a:ext>
            </a:extLst>
          </p:cNvPr>
          <p:cNvSpPr txBox="1"/>
          <p:nvPr/>
        </p:nvSpPr>
        <p:spPr>
          <a:xfrm>
            <a:off x="571500" y="1320123"/>
            <a:ext cx="867671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To read input from keyboard in System class one "in“ object reference belongs to </a:t>
            </a:r>
            <a:r>
              <a:rPr lang="en-IN" sz="2400" dirty="0" err="1"/>
              <a:t>InputStream</a:t>
            </a:r>
            <a:r>
              <a:rPr lang="en-IN" sz="2400" dirty="0"/>
              <a:t> class is given. The reference is static type, hence we can call System.in and in </a:t>
            </a:r>
            <a:r>
              <a:rPr lang="en-IN" sz="2400" dirty="0" err="1"/>
              <a:t>InputStream</a:t>
            </a:r>
            <a:r>
              <a:rPr lang="en-IN" sz="2400" dirty="0"/>
              <a:t> class read() method is given to read data byte-byte (ASCII  Range characters 0-255).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Hence we can write </a:t>
            </a:r>
          </a:p>
          <a:p>
            <a:pPr algn="just"/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=</a:t>
            </a:r>
            <a:r>
              <a:rPr lang="en-IN" sz="2400" dirty="0" err="1"/>
              <a:t>System.in.read</a:t>
            </a:r>
            <a:r>
              <a:rPr lang="en-IN" sz="2400" dirty="0"/>
              <a:t>();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Reading byte-byte doesn't mean read byte value from -128 to +127. byte can accept 256 range value. A character whose ASCII value range from 0-255 can be read through </a:t>
            </a:r>
            <a:r>
              <a:rPr lang="en-IN" sz="2400" dirty="0" err="1"/>
              <a:t>InputStream</a:t>
            </a:r>
            <a:r>
              <a:rPr lang="en-IN" sz="2400" dirty="0"/>
              <a:t> class read() method.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FB006E-F99A-0290-ABFD-5A0E33E06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70092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4817AF4-A26B-3BB6-B1A0-F9E87FD89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957779"/>
              </p:ext>
            </p:extLst>
          </p:nvPr>
        </p:nvGraphicFramePr>
        <p:xfrm>
          <a:off x="255494" y="856036"/>
          <a:ext cx="9118871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7467">
                  <a:extLst>
                    <a:ext uri="{9D8B030D-6E8A-4147-A177-3AD203B41FA5}">
                      <a16:colId xmlns:a16="http://schemas.microsoft.com/office/drawing/2014/main" val="380645265"/>
                    </a:ext>
                  </a:extLst>
                </a:gridCol>
                <a:gridCol w="5771404">
                  <a:extLst>
                    <a:ext uri="{9D8B030D-6E8A-4147-A177-3AD203B41FA5}">
                      <a16:colId xmlns:a16="http://schemas.microsoft.com/office/drawing/2014/main" val="59431734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just"/>
                      <a:r>
                        <a:rPr lang="en-IN"/>
                        <a:t>public abstract class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extends Object implements </a:t>
                      </a:r>
                      <a:r>
                        <a:rPr lang="en-IN" dirty="0" err="1"/>
                        <a:t>Closeable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30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public no parameter constructor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03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int available()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returns estimated number of bytes that can be read from this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91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void close()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closes the </a:t>
                      </a:r>
                      <a:r>
                        <a:rPr lang="en-IN" dirty="0" err="1"/>
                        <a:t>inputstream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5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void mark(int </a:t>
                      </a:r>
                      <a:r>
                        <a:rPr lang="en-IN" dirty="0" err="1"/>
                        <a:t>readLimit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Marks the current position in this </a:t>
                      </a:r>
                      <a:r>
                        <a:rPr lang="en-IN" dirty="0" err="1"/>
                        <a:t>inputstream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0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boolean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markSupported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Tests if this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supports the mark and reset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27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abstract int read()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reads the next byte of data from the input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1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int read(byte[]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Reads some number of bytes from the </a:t>
                      </a:r>
                      <a:r>
                        <a:rPr lang="en-IN" dirty="0" err="1"/>
                        <a:t>inputstream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18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int read(byte[] b, int off, int </a:t>
                      </a:r>
                      <a:r>
                        <a:rPr lang="en-IN" dirty="0" err="1"/>
                        <a:t>len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Reads </a:t>
                      </a:r>
                      <a:r>
                        <a:rPr lang="en-IN" dirty="0" err="1"/>
                        <a:t>upto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len</a:t>
                      </a:r>
                      <a:r>
                        <a:rPr lang="en-IN" dirty="0"/>
                        <a:t> bytes of data from the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into byte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98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void reset()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repositions the mark to the beginning of the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7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long skip(long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Skips specified number of bytes to read from </a:t>
                      </a:r>
                      <a:r>
                        <a:rPr lang="en-IN" dirty="0" err="1"/>
                        <a:t>inputstream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795977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D34C3D-3DD9-896A-6ACD-D4765E2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80451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41BDC1-9F81-2A81-852A-B76D48833EF9}"/>
              </a:ext>
            </a:extLst>
          </p:cNvPr>
          <p:cNvSpPr txBox="1"/>
          <p:nvPr/>
        </p:nvSpPr>
        <p:spPr>
          <a:xfrm>
            <a:off x="389965" y="1997839"/>
            <a:ext cx="89786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Similarly </a:t>
            </a:r>
            <a:r>
              <a:rPr lang="en-IN" sz="2400" dirty="0" err="1"/>
              <a:t>OutputStream</a:t>
            </a:r>
            <a:r>
              <a:rPr lang="en-IN" sz="2400" dirty="0"/>
              <a:t> class write() method can write characters up-to ASCII range. To print characters on STDOUT we can use </a:t>
            </a:r>
            <a:r>
              <a:rPr lang="en-IN" sz="2400" dirty="0" err="1"/>
              <a:t>System.out.println</a:t>
            </a:r>
            <a:r>
              <a:rPr lang="en-IN" sz="2400" dirty="0"/>
              <a:t>(</a:t>
            </a:r>
            <a:r>
              <a:rPr lang="en-IN" sz="2400" dirty="0" err="1"/>
              <a:t>int|double|char|boolean|String|Object</a:t>
            </a:r>
            <a:r>
              <a:rPr lang="en-IN" sz="2400" dirty="0"/>
              <a:t>). In System class </a:t>
            </a:r>
            <a:r>
              <a:rPr lang="en-IN" sz="2400" dirty="0" err="1"/>
              <a:t>PrintStream</a:t>
            </a:r>
            <a:r>
              <a:rPr lang="en-IN" sz="2400" dirty="0"/>
              <a:t> class static object reference name is ‘out’. Hence we can call it using </a:t>
            </a:r>
            <a:r>
              <a:rPr lang="en-IN" sz="2400" dirty="0" err="1"/>
              <a:t>System.out.println</a:t>
            </a:r>
            <a:r>
              <a:rPr lang="en-IN" sz="2400" dirty="0"/>
              <a:t>().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To read/write characters above ASCII range that means up-to Unicode range we must use Reader and Writer classes read() and write() methods.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81CA2C-5A64-E099-B7F6-AF9AF52D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6357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64C8471-613C-60DA-1196-1D8C4E141ADB}"/>
              </a:ext>
            </a:extLst>
          </p:cNvPr>
          <p:cNvSpPr txBox="1"/>
          <p:nvPr/>
        </p:nvSpPr>
        <p:spPr>
          <a:xfrm>
            <a:off x="805996" y="763452"/>
            <a:ext cx="8462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 err="1"/>
              <a:t>InputStream</a:t>
            </a:r>
            <a:r>
              <a:rPr lang="en-IN" sz="2000" b="1" u="sng" dirty="0"/>
              <a:t> class </a:t>
            </a:r>
            <a:r>
              <a:rPr lang="en-IN" sz="2000" b="1" u="sng" dirty="0" err="1"/>
              <a:t>heirarchy</a:t>
            </a:r>
            <a:r>
              <a:rPr lang="en-IN" sz="2000" b="1" u="sng" dirty="0"/>
              <a:t>:</a:t>
            </a:r>
          </a:p>
          <a:p>
            <a:r>
              <a:rPr lang="en-IN" sz="2000" b="1" dirty="0" err="1"/>
              <a:t>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FileInputStream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ByteArrayInputStream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StringBufferInputStream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SocketInputStream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ObjectInputStream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PipedInputStream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SequenceInputStream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FilterInputStream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DataInputStream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BufferedInputStream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LineNumberInputStream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PushbackInputStream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DeflaterInputStream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InflaterInputStream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CipherInputStream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DigestInputStream</a:t>
            </a:r>
            <a:endParaRPr lang="en-IN" sz="2000" b="1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9CF6D8-53D6-E00C-31BD-6FB01314FEC9}"/>
              </a:ext>
            </a:extLst>
          </p:cNvPr>
          <p:cNvGrpSpPr/>
          <p:nvPr/>
        </p:nvGrpSpPr>
        <p:grpSpPr>
          <a:xfrm>
            <a:off x="2286002" y="3944472"/>
            <a:ext cx="430304" cy="2260166"/>
            <a:chOff x="2205320" y="4267200"/>
            <a:chExt cx="430304" cy="226016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AF0F51-6371-68AF-D9C6-DD3C9CA8A794}"/>
                </a:ext>
              </a:extLst>
            </p:cNvPr>
            <p:cNvCxnSpPr/>
            <p:nvPr/>
          </p:nvCxnSpPr>
          <p:spPr>
            <a:xfrm>
              <a:off x="2236694" y="4267200"/>
              <a:ext cx="0" cy="22601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378707E-899C-BD68-B0B5-82976881369B}"/>
                </a:ext>
              </a:extLst>
            </p:cNvPr>
            <p:cNvCxnSpPr/>
            <p:nvPr/>
          </p:nvCxnSpPr>
          <p:spPr>
            <a:xfrm>
              <a:off x="2245659" y="4316506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C9D981-4A62-DC87-FFD1-64BF908844A9}"/>
                </a:ext>
              </a:extLst>
            </p:cNvPr>
            <p:cNvCxnSpPr/>
            <p:nvPr/>
          </p:nvCxnSpPr>
          <p:spPr>
            <a:xfrm>
              <a:off x="2236695" y="4603376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B52A116-FEEA-395C-3565-FCB4AF54717C}"/>
                </a:ext>
              </a:extLst>
            </p:cNvPr>
            <p:cNvCxnSpPr/>
            <p:nvPr/>
          </p:nvCxnSpPr>
          <p:spPr>
            <a:xfrm>
              <a:off x="2236695" y="4899210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86615BD-C97D-0D3D-C81D-46FC4AD402B2}"/>
                </a:ext>
              </a:extLst>
            </p:cNvPr>
            <p:cNvCxnSpPr/>
            <p:nvPr/>
          </p:nvCxnSpPr>
          <p:spPr>
            <a:xfrm>
              <a:off x="2227731" y="5212974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A461D39-9DB0-3F40-583F-F0D3723CA7D7}"/>
                </a:ext>
              </a:extLst>
            </p:cNvPr>
            <p:cNvCxnSpPr/>
            <p:nvPr/>
          </p:nvCxnSpPr>
          <p:spPr>
            <a:xfrm>
              <a:off x="2214284" y="5522255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3BDB95-E9F0-8553-3614-6BB9203BE64D}"/>
                </a:ext>
              </a:extLst>
            </p:cNvPr>
            <p:cNvCxnSpPr/>
            <p:nvPr/>
          </p:nvCxnSpPr>
          <p:spPr>
            <a:xfrm>
              <a:off x="2218767" y="583601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76EE50-6585-345A-E5AF-EC03A2233C5C}"/>
                </a:ext>
              </a:extLst>
            </p:cNvPr>
            <p:cNvCxnSpPr/>
            <p:nvPr/>
          </p:nvCxnSpPr>
          <p:spPr>
            <a:xfrm>
              <a:off x="2205320" y="6145300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CF1ED38-0C6C-6787-B941-40799E1B915C}"/>
                </a:ext>
              </a:extLst>
            </p:cNvPr>
            <p:cNvCxnSpPr/>
            <p:nvPr/>
          </p:nvCxnSpPr>
          <p:spPr>
            <a:xfrm>
              <a:off x="2218767" y="6427687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2D3F02-CEE8-A0C2-0F72-E206DF38BA7C}"/>
              </a:ext>
            </a:extLst>
          </p:cNvPr>
          <p:cNvGrpSpPr/>
          <p:nvPr/>
        </p:nvGrpSpPr>
        <p:grpSpPr>
          <a:xfrm>
            <a:off x="1385046" y="1492625"/>
            <a:ext cx="407901" cy="2260166"/>
            <a:chOff x="1237129" y="1788459"/>
            <a:chExt cx="407901" cy="22601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C1611-4038-9F3D-ED93-3ADCD4A7F0ED}"/>
                </a:ext>
              </a:extLst>
            </p:cNvPr>
            <p:cNvCxnSpPr/>
            <p:nvPr/>
          </p:nvCxnSpPr>
          <p:spPr>
            <a:xfrm>
              <a:off x="1237129" y="1788459"/>
              <a:ext cx="0" cy="22601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52C04D2-D2E2-3D83-0570-5D34A0319260}"/>
                </a:ext>
              </a:extLst>
            </p:cNvPr>
            <p:cNvCxnSpPr/>
            <p:nvPr/>
          </p:nvCxnSpPr>
          <p:spPr>
            <a:xfrm>
              <a:off x="1250582" y="1855685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3E7739-9110-26B1-7CEC-77A0E24E801D}"/>
                </a:ext>
              </a:extLst>
            </p:cNvPr>
            <p:cNvCxnSpPr/>
            <p:nvPr/>
          </p:nvCxnSpPr>
          <p:spPr>
            <a:xfrm>
              <a:off x="1255065" y="216944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3FC05C-E518-52E4-4299-8F642F7ABD02}"/>
                </a:ext>
              </a:extLst>
            </p:cNvPr>
            <p:cNvCxnSpPr/>
            <p:nvPr/>
          </p:nvCxnSpPr>
          <p:spPr>
            <a:xfrm>
              <a:off x="1255065" y="2478730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D9E822-3B0F-92DA-34E2-3CA8A036AFB4}"/>
                </a:ext>
              </a:extLst>
            </p:cNvPr>
            <p:cNvCxnSpPr/>
            <p:nvPr/>
          </p:nvCxnSpPr>
          <p:spPr>
            <a:xfrm>
              <a:off x="1246101" y="2792494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B5E56D4-3E18-A1DD-7AB1-94E49F8D08C8}"/>
                </a:ext>
              </a:extLst>
            </p:cNvPr>
            <p:cNvCxnSpPr/>
            <p:nvPr/>
          </p:nvCxnSpPr>
          <p:spPr>
            <a:xfrm>
              <a:off x="1237137" y="3092811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F3FE0AA-D4A4-C3E4-AD4E-559CB4087594}"/>
                </a:ext>
              </a:extLst>
            </p:cNvPr>
            <p:cNvCxnSpPr/>
            <p:nvPr/>
          </p:nvCxnSpPr>
          <p:spPr>
            <a:xfrm>
              <a:off x="1237137" y="3402092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1DDB34B-A9EA-3D4A-55F0-DD0889A82112}"/>
                </a:ext>
              </a:extLst>
            </p:cNvPr>
            <p:cNvCxnSpPr/>
            <p:nvPr/>
          </p:nvCxnSpPr>
          <p:spPr>
            <a:xfrm>
              <a:off x="1237137" y="368447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C4ED925-4970-0821-5799-F1E8FAB800F7}"/>
                </a:ext>
              </a:extLst>
            </p:cNvPr>
            <p:cNvCxnSpPr/>
            <p:nvPr/>
          </p:nvCxnSpPr>
          <p:spPr>
            <a:xfrm>
              <a:off x="1241620" y="3984796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4284B18-AE47-AAB2-5661-9C4344AE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21252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0D67C7-2126-1B38-569D-74EBA471C7FA}"/>
              </a:ext>
            </a:extLst>
          </p:cNvPr>
          <p:cNvSpPr txBox="1"/>
          <p:nvPr/>
        </p:nvSpPr>
        <p:spPr>
          <a:xfrm>
            <a:off x="1567706" y="940977"/>
            <a:ext cx="752698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 err="1"/>
              <a:t>OutputStream</a:t>
            </a:r>
            <a:r>
              <a:rPr lang="en-IN" sz="2000" b="1" u="sng" dirty="0"/>
              <a:t> class </a:t>
            </a:r>
            <a:r>
              <a:rPr lang="en-IN" sz="2000" b="1" u="sng" dirty="0" err="1"/>
              <a:t>heirarchy</a:t>
            </a:r>
            <a:r>
              <a:rPr lang="en-IN" sz="2000" b="1" u="sng" dirty="0"/>
              <a:t>:</a:t>
            </a:r>
          </a:p>
          <a:p>
            <a:r>
              <a:rPr lang="en-IN" sz="2000" b="1" dirty="0" err="1"/>
              <a:t>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FileOutputStream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SocketOutputStream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ByteArrayOutputStream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ObjectOutputStream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PipedOutputStream</a:t>
            </a:r>
            <a:endParaRPr lang="en-IN" sz="2000" b="1" dirty="0"/>
          </a:p>
          <a:p>
            <a:r>
              <a:rPr lang="en-IN" sz="2000" b="1" dirty="0"/>
              <a:t>	</a:t>
            </a:r>
            <a:r>
              <a:rPr lang="en-IN" sz="2000" b="1" dirty="0" err="1"/>
              <a:t>FilterOutputStream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DataOutputStream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BufferedOutputStream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PrintStream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CheckedOutputStream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CipherOutputStream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InflaterOutputStream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DeflaterOutputStream</a:t>
            </a:r>
            <a:endParaRPr lang="en-IN" sz="2000" b="1" dirty="0"/>
          </a:p>
          <a:p>
            <a:r>
              <a:rPr lang="en-IN" sz="2000" b="1" dirty="0"/>
              <a:t>		</a:t>
            </a:r>
            <a:r>
              <a:rPr lang="en-IN" sz="2000" b="1" dirty="0" err="1"/>
              <a:t>DigestOutputStream</a:t>
            </a:r>
            <a:endParaRPr lang="en-IN" sz="20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F4DD96-1DE2-5DF4-EC21-2FA41D133330}"/>
              </a:ext>
            </a:extLst>
          </p:cNvPr>
          <p:cNvGrpSpPr/>
          <p:nvPr/>
        </p:nvGrpSpPr>
        <p:grpSpPr>
          <a:xfrm>
            <a:off x="2998693" y="3617262"/>
            <a:ext cx="430304" cy="2097734"/>
            <a:chOff x="2998693" y="3617262"/>
            <a:chExt cx="430304" cy="209773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AF0F51-6371-68AF-D9C6-DD3C9CA8A794}"/>
                </a:ext>
              </a:extLst>
            </p:cNvPr>
            <p:cNvCxnSpPr>
              <a:cxnSpLocks/>
            </p:cNvCxnSpPr>
            <p:nvPr/>
          </p:nvCxnSpPr>
          <p:spPr>
            <a:xfrm>
              <a:off x="3030068" y="3617262"/>
              <a:ext cx="8964" cy="209773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378707E-899C-BD68-B0B5-82976881369B}"/>
                </a:ext>
              </a:extLst>
            </p:cNvPr>
            <p:cNvCxnSpPr/>
            <p:nvPr/>
          </p:nvCxnSpPr>
          <p:spPr>
            <a:xfrm>
              <a:off x="3039032" y="3617262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C9D981-4A62-DC87-FFD1-64BF908844A9}"/>
                </a:ext>
              </a:extLst>
            </p:cNvPr>
            <p:cNvCxnSpPr/>
            <p:nvPr/>
          </p:nvCxnSpPr>
          <p:spPr>
            <a:xfrm>
              <a:off x="3030068" y="391757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B52A116-FEEA-395C-3565-FCB4AF54717C}"/>
                </a:ext>
              </a:extLst>
            </p:cNvPr>
            <p:cNvCxnSpPr/>
            <p:nvPr/>
          </p:nvCxnSpPr>
          <p:spPr>
            <a:xfrm>
              <a:off x="3030068" y="4226860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86615BD-C97D-0D3D-C81D-46FC4AD402B2}"/>
                </a:ext>
              </a:extLst>
            </p:cNvPr>
            <p:cNvCxnSpPr/>
            <p:nvPr/>
          </p:nvCxnSpPr>
          <p:spPr>
            <a:xfrm>
              <a:off x="3021104" y="4527177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A461D39-9DB0-3F40-583F-F0D3723CA7D7}"/>
                </a:ext>
              </a:extLst>
            </p:cNvPr>
            <p:cNvCxnSpPr/>
            <p:nvPr/>
          </p:nvCxnSpPr>
          <p:spPr>
            <a:xfrm>
              <a:off x="3007657" y="4836458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3BDB95-E9F0-8553-3614-6BB9203BE64D}"/>
                </a:ext>
              </a:extLst>
            </p:cNvPr>
            <p:cNvCxnSpPr/>
            <p:nvPr/>
          </p:nvCxnSpPr>
          <p:spPr>
            <a:xfrm>
              <a:off x="3012140" y="5136775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76EE50-6585-345A-E5AF-EC03A2233C5C}"/>
                </a:ext>
              </a:extLst>
            </p:cNvPr>
            <p:cNvCxnSpPr/>
            <p:nvPr/>
          </p:nvCxnSpPr>
          <p:spPr>
            <a:xfrm>
              <a:off x="2998693" y="543260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CF1ED38-0C6C-6787-B941-40799E1B915C}"/>
                </a:ext>
              </a:extLst>
            </p:cNvPr>
            <p:cNvCxnSpPr/>
            <p:nvPr/>
          </p:nvCxnSpPr>
          <p:spPr>
            <a:xfrm>
              <a:off x="3012140" y="5714996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C6157D-FAA9-E205-EFB4-6CCC8DF7E8EB}"/>
              </a:ext>
            </a:extLst>
          </p:cNvPr>
          <p:cNvGrpSpPr/>
          <p:nvPr/>
        </p:nvGrpSpPr>
        <p:grpSpPr>
          <a:xfrm>
            <a:off x="2151525" y="1748109"/>
            <a:ext cx="407901" cy="1465725"/>
            <a:chOff x="2151525" y="1748109"/>
            <a:chExt cx="407901" cy="146572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C1611-4038-9F3D-ED93-3ADCD4A7F0ED}"/>
                </a:ext>
              </a:extLst>
            </p:cNvPr>
            <p:cNvCxnSpPr>
              <a:cxnSpLocks/>
            </p:cNvCxnSpPr>
            <p:nvPr/>
          </p:nvCxnSpPr>
          <p:spPr>
            <a:xfrm>
              <a:off x="2151525" y="1748118"/>
              <a:ext cx="17936" cy="14657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52C04D2-D2E2-3D83-0570-5D34A0319260}"/>
                </a:ext>
              </a:extLst>
            </p:cNvPr>
            <p:cNvCxnSpPr/>
            <p:nvPr/>
          </p:nvCxnSpPr>
          <p:spPr>
            <a:xfrm>
              <a:off x="2164978" y="1748109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3E7739-9110-26B1-7CEC-77A0E24E801D}"/>
                </a:ext>
              </a:extLst>
            </p:cNvPr>
            <p:cNvCxnSpPr/>
            <p:nvPr/>
          </p:nvCxnSpPr>
          <p:spPr>
            <a:xfrm>
              <a:off x="2169461" y="2061873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3FC05C-E518-52E4-4299-8F642F7ABD02}"/>
                </a:ext>
              </a:extLst>
            </p:cNvPr>
            <p:cNvCxnSpPr/>
            <p:nvPr/>
          </p:nvCxnSpPr>
          <p:spPr>
            <a:xfrm>
              <a:off x="2169461" y="2371154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D9E822-3B0F-92DA-34E2-3CA8A036AFB4}"/>
                </a:ext>
              </a:extLst>
            </p:cNvPr>
            <p:cNvCxnSpPr/>
            <p:nvPr/>
          </p:nvCxnSpPr>
          <p:spPr>
            <a:xfrm>
              <a:off x="2160497" y="2644577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B5E56D4-3E18-A1DD-7AB1-94E49F8D08C8}"/>
                </a:ext>
              </a:extLst>
            </p:cNvPr>
            <p:cNvCxnSpPr/>
            <p:nvPr/>
          </p:nvCxnSpPr>
          <p:spPr>
            <a:xfrm>
              <a:off x="2151533" y="2944894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F3FE0AA-D4A4-C3E4-AD4E-559CB4087594}"/>
                </a:ext>
              </a:extLst>
            </p:cNvPr>
            <p:cNvCxnSpPr/>
            <p:nvPr/>
          </p:nvCxnSpPr>
          <p:spPr>
            <a:xfrm>
              <a:off x="2151533" y="3213834"/>
              <a:ext cx="3899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15B418-C6C3-1C7E-0BF9-2EB0917B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74622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703774-BBAF-2AE0-01CF-F62072DDAC70}"/>
              </a:ext>
            </a:extLst>
          </p:cNvPr>
          <p:cNvSpPr txBox="1"/>
          <p:nvPr/>
        </p:nvSpPr>
        <p:spPr>
          <a:xfrm>
            <a:off x="403412" y="958487"/>
            <a:ext cx="67369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// FISDemo1.java</a:t>
            </a:r>
          </a:p>
          <a:p>
            <a:r>
              <a:rPr lang="en-IN" sz="2000" dirty="0"/>
              <a:t>import java.io.*;</a:t>
            </a:r>
          </a:p>
          <a:p>
            <a:r>
              <a:rPr lang="en-IN" sz="2000" dirty="0"/>
              <a:t>public class FISDemo1 {</a:t>
            </a:r>
          </a:p>
          <a:p>
            <a:r>
              <a:rPr lang="en-IN" sz="2000" dirty="0"/>
              <a:t>  public static void main(String rags[]) {</a:t>
            </a:r>
          </a:p>
          <a:p>
            <a:r>
              <a:rPr lang="en-IN" sz="2000" dirty="0"/>
              <a:t>     try {</a:t>
            </a:r>
          </a:p>
          <a:p>
            <a:r>
              <a:rPr lang="en-IN" sz="2000" dirty="0"/>
              <a:t>        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=new </a:t>
            </a:r>
            <a:r>
              <a:rPr lang="en-IN" dirty="0" err="1"/>
              <a:t>FileInputStream</a:t>
            </a:r>
            <a:r>
              <a:rPr lang="en-IN" dirty="0"/>
              <a:t>("StudentDetails.txt");</a:t>
            </a:r>
            <a:endParaRPr lang="en-IN" sz="2000" dirty="0"/>
          </a:p>
          <a:p>
            <a:r>
              <a:rPr lang="en-IN" sz="2000" dirty="0"/>
              <a:t>        int </a:t>
            </a:r>
            <a:r>
              <a:rPr lang="en-IN" sz="2000" dirty="0" err="1"/>
              <a:t>i</a:t>
            </a:r>
            <a:r>
              <a:rPr lang="en-IN" sz="2000" dirty="0"/>
              <a:t>=</a:t>
            </a:r>
            <a:r>
              <a:rPr lang="en-IN" sz="2000" dirty="0" err="1"/>
              <a:t>fis.read</a:t>
            </a:r>
            <a:r>
              <a:rPr lang="en-IN" sz="2000" dirty="0"/>
              <a:t>(); // char ascii value will be returned as int,</a:t>
            </a:r>
          </a:p>
          <a:p>
            <a:r>
              <a:rPr lang="en-IN" sz="2000" dirty="0"/>
              <a:t>        while(</a:t>
            </a:r>
            <a:r>
              <a:rPr lang="en-IN" sz="2000" dirty="0" err="1"/>
              <a:t>i</a:t>
            </a:r>
            <a:r>
              <a:rPr lang="en-IN" sz="2000" dirty="0"/>
              <a:t>!=-1) 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System.out.print</a:t>
            </a:r>
            <a:r>
              <a:rPr lang="en-IN" sz="2000" dirty="0"/>
              <a:t>((char)</a:t>
            </a:r>
            <a:r>
              <a:rPr lang="en-IN" sz="2000" dirty="0" err="1"/>
              <a:t>i</a:t>
            </a:r>
            <a:r>
              <a:rPr lang="en-IN" sz="2000" dirty="0"/>
              <a:t>);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Thread.sleep</a:t>
            </a:r>
            <a:r>
              <a:rPr lang="en-IN" sz="2000" dirty="0"/>
              <a:t>(100);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i</a:t>
            </a:r>
            <a:r>
              <a:rPr lang="en-IN" sz="2000" dirty="0"/>
              <a:t>=</a:t>
            </a:r>
            <a:r>
              <a:rPr lang="en-IN" sz="2000" dirty="0" err="1"/>
              <a:t>fis.read</a:t>
            </a:r>
            <a:r>
              <a:rPr lang="en-IN" sz="2000" dirty="0"/>
              <a:t>();</a:t>
            </a:r>
          </a:p>
          <a:p>
            <a:r>
              <a:rPr lang="en-IN" sz="2000" dirty="0"/>
              <a:t>        }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fis.close</a:t>
            </a:r>
            <a:r>
              <a:rPr lang="en-IN" sz="2000" dirty="0"/>
              <a:t>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09DEA-7857-88EA-4799-7FAD6407DD89}"/>
              </a:ext>
            </a:extLst>
          </p:cNvPr>
          <p:cNvSpPr txBox="1"/>
          <p:nvPr/>
        </p:nvSpPr>
        <p:spPr>
          <a:xfrm>
            <a:off x="7111843" y="1083618"/>
            <a:ext cx="36592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    }</a:t>
            </a:r>
          </a:p>
          <a:p>
            <a:r>
              <a:rPr lang="en-IN" sz="1800" dirty="0"/>
              <a:t>    catch(</a:t>
            </a:r>
            <a:r>
              <a:rPr lang="en-IN" sz="1800" dirty="0" err="1"/>
              <a:t>FileNotFoundException</a:t>
            </a:r>
            <a:r>
              <a:rPr lang="en-IN" sz="1800" dirty="0"/>
              <a:t> e) {</a:t>
            </a:r>
          </a:p>
          <a:p>
            <a:r>
              <a:rPr lang="en-IN" sz="1800" dirty="0"/>
              <a:t>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</a:p>
          <a:p>
            <a:r>
              <a:rPr lang="en-IN" sz="1800" dirty="0"/>
              <a:t>    }</a:t>
            </a:r>
          </a:p>
          <a:p>
            <a:r>
              <a:rPr lang="en-IN" sz="1800" dirty="0"/>
              <a:t>    catch(</a:t>
            </a:r>
            <a:r>
              <a:rPr lang="en-IN" sz="1800" dirty="0" err="1"/>
              <a:t>IOException</a:t>
            </a:r>
            <a:r>
              <a:rPr lang="en-IN" sz="1800" dirty="0"/>
              <a:t> e) {</a:t>
            </a:r>
          </a:p>
          <a:p>
            <a:r>
              <a:rPr lang="en-IN" sz="1800" dirty="0"/>
              <a:t>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</a:p>
          <a:p>
            <a:r>
              <a:rPr lang="en-IN" sz="1800" dirty="0"/>
              <a:t>    }</a:t>
            </a:r>
          </a:p>
          <a:p>
            <a:r>
              <a:rPr lang="en-IN" sz="1800" dirty="0"/>
              <a:t>    catch(</a:t>
            </a:r>
            <a:r>
              <a:rPr lang="en-IN" sz="1800" dirty="0" err="1"/>
              <a:t>InterruptedException</a:t>
            </a:r>
            <a:r>
              <a:rPr lang="en-IN" sz="1800" dirty="0"/>
              <a:t> e) {</a:t>
            </a:r>
          </a:p>
          <a:p>
            <a:r>
              <a:rPr lang="en-IN" sz="1800" dirty="0"/>
              <a:t> 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</a:p>
          <a:p>
            <a:r>
              <a:rPr lang="en-IN" sz="1800" dirty="0"/>
              <a:t>    }</a:t>
            </a:r>
          </a:p>
          <a:p>
            <a:r>
              <a:rPr lang="en-IN" sz="1800" dirty="0"/>
              <a:t>    catch(Exception e) {</a:t>
            </a:r>
          </a:p>
          <a:p>
            <a:r>
              <a:rPr lang="en-IN" sz="1800" dirty="0"/>
              <a:t>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</a:p>
          <a:p>
            <a:r>
              <a:rPr lang="en-IN" sz="1800" dirty="0"/>
              <a:t>    }</a:t>
            </a:r>
          </a:p>
          <a:p>
            <a:r>
              <a:rPr lang="en-IN" sz="1800" dirty="0"/>
              <a:t>  }</a:t>
            </a:r>
          </a:p>
          <a:p>
            <a:r>
              <a:rPr lang="en-IN" sz="18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0AEED-5435-BD8E-52E1-A559B7262C5B}"/>
              </a:ext>
            </a:extLst>
          </p:cNvPr>
          <p:cNvSpPr txBox="1"/>
          <p:nvPr/>
        </p:nvSpPr>
        <p:spPr>
          <a:xfrm>
            <a:off x="571500" y="595418"/>
            <a:ext cx="272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Reading local directory file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763825-A5EA-E766-B543-95DD587A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40693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396223E-640F-1790-DBD6-E40014FB0828}"/>
              </a:ext>
            </a:extLst>
          </p:cNvPr>
          <p:cNvSpPr txBox="1"/>
          <p:nvPr/>
        </p:nvSpPr>
        <p:spPr>
          <a:xfrm>
            <a:off x="1538038" y="1610324"/>
            <a:ext cx="48753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StudentDetails.txt</a:t>
            </a:r>
          </a:p>
          <a:p>
            <a:r>
              <a:rPr lang="en-IN" sz="2000" dirty="0"/>
              <a:t>1&amp;ABC&amp;abc@gmail.com&amp;9848012345</a:t>
            </a:r>
          </a:p>
          <a:p>
            <a:r>
              <a:rPr lang="en-IN" sz="2000" dirty="0"/>
              <a:t>2&amp;XYZ&amp;xyz@gmail.com&amp;9848054321</a:t>
            </a:r>
          </a:p>
          <a:p>
            <a:r>
              <a:rPr lang="en-IN" sz="2000" dirty="0"/>
              <a:t>3&amp;LMN&amp;lmn@gmail.com&amp;9848014325</a:t>
            </a:r>
          </a:p>
          <a:p>
            <a:r>
              <a:rPr lang="en-IN" sz="2000" dirty="0"/>
              <a:t>4&amp;PQR&amp;pqr@gmail.com&amp;9848013524</a:t>
            </a:r>
          </a:p>
          <a:p>
            <a:r>
              <a:rPr lang="en-IN" sz="2000" dirty="0"/>
              <a:t>5&amp;MNO&amp;mno@gmail.com&amp;9848012345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3BE21B-C71C-BF89-9A48-623560C1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91536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991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36</cp:revision>
  <dcterms:created xsi:type="dcterms:W3CDTF">2021-09-13T09:22:41Z</dcterms:created>
  <dcterms:modified xsi:type="dcterms:W3CDTF">2023-08-24T04:51:20Z</dcterms:modified>
</cp:coreProperties>
</file>