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17" r:id="rId2"/>
    <p:sldId id="321" r:id="rId3"/>
    <p:sldId id="322" r:id="rId4"/>
    <p:sldId id="323" r:id="rId5"/>
    <p:sldId id="324" r:id="rId6"/>
    <p:sldId id="325" r:id="rId7"/>
    <p:sldId id="326" r:id="rId8"/>
    <p:sldId id="327" r:id="rId9"/>
    <p:sldId id="328" r:id="rId10"/>
    <p:sldId id="329" r:id="rId11"/>
    <p:sldId id="330" r:id="rId12"/>
    <p:sldId id="331" r:id="rId13"/>
    <p:sldId id="318" r:id="rId14"/>
    <p:sldId id="319" r:id="rId15"/>
    <p:sldId id="32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F66"/>
    <a:srgbClr val="990033"/>
    <a:srgbClr val="3399FF"/>
    <a:srgbClr val="FF9933"/>
    <a:srgbClr val="FF5050"/>
    <a:srgbClr val="F105D3"/>
    <a:srgbClr val="902B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7"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C25E4-A07D-4691-877B-EFD1B9F3356C}" type="datetimeFigureOut">
              <a:rPr lang="en-IN" smtClean="0"/>
              <a:pPr/>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38F0C-5E4F-4470-941D-321625ACD1AC}" type="slidenum">
              <a:rPr lang="en-IN" smtClean="0"/>
              <a:pPr/>
              <a:t>‹#›</a:t>
            </a:fld>
            <a:endParaRPr lang="en-IN"/>
          </a:p>
        </p:txBody>
      </p:sp>
    </p:spTree>
    <p:extLst>
      <p:ext uri="{BB962C8B-B14F-4D97-AF65-F5344CB8AC3E}">
        <p14:creationId xmlns="" xmlns:p14="http://schemas.microsoft.com/office/powerpoint/2010/main" val="3338733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865E772E-FB9A-427D-A4FB-DDA4C7000266}"/>
              </a:ext>
            </a:extLst>
          </p:cNvPr>
          <p:cNvSpPr>
            <a:spLocks noGrp="1"/>
          </p:cNvSpPr>
          <p:nvPr>
            <p:ph type="dt" sz="half" idx="10"/>
          </p:nvPr>
        </p:nvSpPr>
        <p:spPr/>
        <p:txBody>
          <a:bodyPr/>
          <a:lstStyle/>
          <a:p>
            <a:fld id="{AFB11B92-0A28-4FC3-82A4-19371253B46A}" type="datetime1">
              <a:rPr lang="en-US" smtClean="0"/>
              <a:pPr/>
              <a:t>11/6/2025</a:t>
            </a:fld>
            <a:endParaRPr lang="en-US"/>
          </a:p>
        </p:txBody>
      </p:sp>
      <p:sp>
        <p:nvSpPr>
          <p:cNvPr id="5" name="Footer Placeholder 4">
            <a:extLst>
              <a:ext uri="{FF2B5EF4-FFF2-40B4-BE49-F238E27FC236}">
                <a16:creationId xmlns=""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3DB2CBC-33D2-4A33-B187-2CD7DA66C582}"/>
              </a:ext>
            </a:extLst>
          </p:cNvPr>
          <p:cNvSpPr>
            <a:spLocks noGrp="1"/>
          </p:cNvSpPr>
          <p:nvPr>
            <p:ph type="dt" sz="half" idx="10"/>
          </p:nvPr>
        </p:nvSpPr>
        <p:spPr/>
        <p:txBody>
          <a:bodyPr/>
          <a:lstStyle/>
          <a:p>
            <a:fld id="{D8195BB8-D873-47D9-8022-1E83F1B69209}" type="datetime1">
              <a:rPr lang="en-US" smtClean="0"/>
              <a:pPr/>
              <a:t>11/6/2025</a:t>
            </a:fld>
            <a:endParaRPr lang="en-US"/>
          </a:p>
        </p:txBody>
      </p:sp>
      <p:sp>
        <p:nvSpPr>
          <p:cNvPr id="5" name="Footer Placeholder 4">
            <a:extLst>
              <a:ext uri="{FF2B5EF4-FFF2-40B4-BE49-F238E27FC236}">
                <a16:creationId xmlns=""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D6566F5-22D5-459C-990D-7013F4D89A32}"/>
              </a:ext>
            </a:extLst>
          </p:cNvPr>
          <p:cNvSpPr>
            <a:spLocks noGrp="1"/>
          </p:cNvSpPr>
          <p:nvPr>
            <p:ph type="dt" sz="half" idx="10"/>
          </p:nvPr>
        </p:nvSpPr>
        <p:spPr/>
        <p:txBody>
          <a:bodyPr/>
          <a:lstStyle/>
          <a:p>
            <a:fld id="{A214A486-444C-4EFF-AB6F-29A5FAA52261}" type="datetime1">
              <a:rPr lang="en-US" smtClean="0"/>
              <a:pPr/>
              <a:t>11/6/2025</a:t>
            </a:fld>
            <a:endParaRPr lang="en-US"/>
          </a:p>
        </p:txBody>
      </p:sp>
      <p:sp>
        <p:nvSpPr>
          <p:cNvPr id="5" name="Footer Placeholder 4">
            <a:extLst>
              <a:ext uri="{FF2B5EF4-FFF2-40B4-BE49-F238E27FC236}">
                <a16:creationId xmlns=""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849E3F09-087B-4D93-9258-8AF6657B21C4}"/>
              </a:ext>
            </a:extLst>
          </p:cNvPr>
          <p:cNvSpPr>
            <a:spLocks noGrp="1"/>
          </p:cNvSpPr>
          <p:nvPr>
            <p:ph type="dt" sz="half" idx="10"/>
          </p:nvPr>
        </p:nvSpPr>
        <p:spPr/>
        <p:txBody>
          <a:bodyPr/>
          <a:lstStyle/>
          <a:p>
            <a:fld id="{B56F4585-9799-4479-B845-AD40DF0A6DA8}" type="datetime1">
              <a:rPr lang="en-US" smtClean="0"/>
              <a:pPr/>
              <a:t>11/6/2025</a:t>
            </a:fld>
            <a:endParaRPr lang="en-US"/>
          </a:p>
        </p:txBody>
      </p:sp>
      <p:sp>
        <p:nvSpPr>
          <p:cNvPr id="6" name="Footer Placeholder 5">
            <a:extLst>
              <a:ext uri="{FF2B5EF4-FFF2-40B4-BE49-F238E27FC236}">
                <a16:creationId xmlns=""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9C666EBA-30E0-4DF0-96BE-62BE6AB519DD}"/>
              </a:ext>
            </a:extLst>
          </p:cNvPr>
          <p:cNvSpPr>
            <a:spLocks noGrp="1"/>
          </p:cNvSpPr>
          <p:nvPr>
            <p:ph type="dt" sz="half" idx="10"/>
          </p:nvPr>
        </p:nvSpPr>
        <p:spPr/>
        <p:txBody>
          <a:bodyPr/>
          <a:lstStyle/>
          <a:p>
            <a:fld id="{609CCCDC-FD47-4EB1-8F26-5BBF733363D9}" type="datetime1">
              <a:rPr lang="en-US" smtClean="0"/>
              <a:pPr/>
              <a:t>11/6/2025</a:t>
            </a:fld>
            <a:endParaRPr lang="en-US"/>
          </a:p>
        </p:txBody>
      </p:sp>
      <p:sp>
        <p:nvSpPr>
          <p:cNvPr id="8" name="Footer Placeholder 7">
            <a:extLst>
              <a:ext uri="{FF2B5EF4-FFF2-40B4-BE49-F238E27FC236}">
                <a16:creationId xmlns=""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C1297C29-F3EE-4250-9919-93948D0BEEB6}"/>
              </a:ext>
            </a:extLst>
          </p:cNvPr>
          <p:cNvSpPr>
            <a:spLocks noGrp="1"/>
          </p:cNvSpPr>
          <p:nvPr>
            <p:ph type="dt" sz="half" idx="10"/>
          </p:nvPr>
        </p:nvSpPr>
        <p:spPr/>
        <p:txBody>
          <a:bodyPr/>
          <a:lstStyle/>
          <a:p>
            <a:fld id="{56A3B33A-7CA3-402A-A742-E7234474A7FD}" type="datetime1">
              <a:rPr lang="en-US" smtClean="0"/>
              <a:pPr/>
              <a:t>11/6/2025</a:t>
            </a:fld>
            <a:endParaRPr lang="en-US"/>
          </a:p>
        </p:txBody>
      </p:sp>
      <p:sp>
        <p:nvSpPr>
          <p:cNvPr id="4" name="Footer Placeholder 3">
            <a:extLst>
              <a:ext uri="{FF2B5EF4-FFF2-40B4-BE49-F238E27FC236}">
                <a16:creationId xmlns=""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9AAAFAD-BAB5-47A0-9962-AC707DCEEC4C}"/>
              </a:ext>
            </a:extLst>
          </p:cNvPr>
          <p:cNvSpPr>
            <a:spLocks noGrp="1"/>
          </p:cNvSpPr>
          <p:nvPr>
            <p:ph type="dt" sz="half" idx="10"/>
          </p:nvPr>
        </p:nvSpPr>
        <p:spPr/>
        <p:txBody>
          <a:bodyPr/>
          <a:lstStyle/>
          <a:p>
            <a:fld id="{9DFE8461-08FC-44F8-A3E1-74143FF6704F}" type="datetime1">
              <a:rPr lang="en-US" smtClean="0"/>
              <a:pPr/>
              <a:t>11/6/2025</a:t>
            </a:fld>
            <a:endParaRPr lang="en-US"/>
          </a:p>
        </p:txBody>
      </p:sp>
      <p:sp>
        <p:nvSpPr>
          <p:cNvPr id="3" name="Footer Placeholder 2">
            <a:extLst>
              <a:ext uri="{FF2B5EF4-FFF2-40B4-BE49-F238E27FC236}">
                <a16:creationId xmlns=""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D7C9E36-A297-4BF1-AC4B-B05E7A56454F}"/>
              </a:ext>
            </a:extLst>
          </p:cNvPr>
          <p:cNvSpPr>
            <a:spLocks noGrp="1"/>
          </p:cNvSpPr>
          <p:nvPr>
            <p:ph type="dt" sz="half" idx="10"/>
          </p:nvPr>
        </p:nvSpPr>
        <p:spPr/>
        <p:txBody>
          <a:bodyPr/>
          <a:lstStyle/>
          <a:p>
            <a:fld id="{672AFAF3-B908-405F-A26B-BFDE27C05929}" type="datetime1">
              <a:rPr lang="en-US" smtClean="0"/>
              <a:pPr/>
              <a:t>11/6/2025</a:t>
            </a:fld>
            <a:endParaRPr lang="en-US"/>
          </a:p>
        </p:txBody>
      </p:sp>
      <p:sp>
        <p:nvSpPr>
          <p:cNvPr id="6" name="Footer Placeholder 5">
            <a:extLst>
              <a:ext uri="{FF2B5EF4-FFF2-40B4-BE49-F238E27FC236}">
                <a16:creationId xmlns=""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DED0C40-7C93-47EE-B801-F4B254FD1134}"/>
              </a:ext>
            </a:extLst>
          </p:cNvPr>
          <p:cNvSpPr>
            <a:spLocks noGrp="1"/>
          </p:cNvSpPr>
          <p:nvPr>
            <p:ph type="dt" sz="half" idx="10"/>
          </p:nvPr>
        </p:nvSpPr>
        <p:spPr/>
        <p:txBody>
          <a:bodyPr/>
          <a:lstStyle/>
          <a:p>
            <a:fld id="{B46FFB25-A875-489E-92AE-A4BD09A7EB55}" type="datetime1">
              <a:rPr lang="en-US" smtClean="0"/>
              <a:pPr/>
              <a:t>11/6/2025</a:t>
            </a:fld>
            <a:endParaRPr lang="en-US"/>
          </a:p>
        </p:txBody>
      </p:sp>
      <p:sp>
        <p:nvSpPr>
          <p:cNvPr id="6" name="Footer Placeholder 5">
            <a:extLst>
              <a:ext uri="{FF2B5EF4-FFF2-40B4-BE49-F238E27FC236}">
                <a16:creationId xmlns=""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7BD4618-E7CC-4722-B3AA-20767EE3B7EC}"/>
              </a:ext>
            </a:extLst>
          </p:cNvPr>
          <p:cNvSpPr>
            <a:spLocks noGrp="1"/>
          </p:cNvSpPr>
          <p:nvPr>
            <p:ph type="dt" sz="half" idx="10"/>
          </p:nvPr>
        </p:nvSpPr>
        <p:spPr/>
        <p:txBody>
          <a:bodyPr/>
          <a:lstStyle/>
          <a:p>
            <a:fld id="{52578B76-70FC-43E3-9F56-A4932C95845F}" type="datetime1">
              <a:rPr lang="en-US" smtClean="0"/>
              <a:pPr/>
              <a:t>11/6/2025</a:t>
            </a:fld>
            <a:endParaRPr lang="en-US"/>
          </a:p>
        </p:txBody>
      </p:sp>
      <p:sp>
        <p:nvSpPr>
          <p:cNvPr id="5" name="Footer Placeholder 4">
            <a:extLst>
              <a:ext uri="{FF2B5EF4-FFF2-40B4-BE49-F238E27FC236}">
                <a16:creationId xmlns=""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E842DD7-D7F2-4D2D-B342-780C9519A101}"/>
              </a:ext>
            </a:extLst>
          </p:cNvPr>
          <p:cNvSpPr>
            <a:spLocks noGrp="1"/>
          </p:cNvSpPr>
          <p:nvPr>
            <p:ph type="dt" sz="half" idx="10"/>
          </p:nvPr>
        </p:nvSpPr>
        <p:spPr/>
        <p:txBody>
          <a:bodyPr/>
          <a:lstStyle/>
          <a:p>
            <a:fld id="{3578B123-37BC-4370-A71D-A2BE40CDA24E}" type="datetime1">
              <a:rPr lang="en-US" smtClean="0"/>
              <a:pPr/>
              <a:t>11/6/2025</a:t>
            </a:fld>
            <a:endParaRPr lang="en-US"/>
          </a:p>
        </p:txBody>
      </p:sp>
      <p:sp>
        <p:nvSpPr>
          <p:cNvPr id="5" name="Footer Placeholder 4">
            <a:extLst>
              <a:ext uri="{FF2B5EF4-FFF2-40B4-BE49-F238E27FC236}">
                <a16:creationId xmlns=""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E9CD6-0AE4-4210-AE2F-51AF9CAE007D}" type="datetime1">
              <a:rPr lang="en-US" smtClean="0"/>
              <a:pPr/>
              <a:t>11/6/2025</a:t>
            </a:fld>
            <a:endParaRPr lang="en-US"/>
          </a:p>
        </p:txBody>
      </p:sp>
      <p:sp>
        <p:nvSpPr>
          <p:cNvPr id="5" name="Footer Placeholder 4">
            <a:extLst>
              <a:ext uri="{FF2B5EF4-FFF2-40B4-BE49-F238E27FC236}">
                <a16:creationId xmlns=""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pPr/>
              <a:t>‹#›</a:t>
            </a:fld>
            <a:endParaRPr lang="en-US"/>
          </a:p>
        </p:txBody>
      </p:sp>
    </p:spTree>
    <p:extLst>
      <p:ext uri="{BB962C8B-B14F-4D97-AF65-F5344CB8AC3E}">
        <p14:creationId xmlns=""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470316" y="1867263"/>
            <a:ext cx="6056145" cy="769441"/>
          </a:xfrm>
          <a:prstGeom prst="rect">
            <a:avLst/>
          </a:prstGeom>
          <a:noFill/>
        </p:spPr>
        <p:txBody>
          <a:bodyPr wrap="none" rtlCol="0">
            <a:spAutoFit/>
          </a:bodyPr>
          <a:lstStyle/>
          <a:p>
            <a:r>
              <a:rPr lang="en-US" sz="4400" b="1" dirty="0" smtClean="0">
                <a:solidFill>
                  <a:srgbClr val="0000FF"/>
                </a:solidFill>
                <a:latin typeface="+mj-lt"/>
                <a:cs typeface="Arial" panose="020B0604020202020204" pitchFamily="34" charset="0"/>
              </a:rPr>
              <a:t>interface vs. abstract class</a:t>
            </a:r>
            <a:endParaRPr lang="en-US" sz="4400" b="1" dirty="0">
              <a:solidFill>
                <a:srgbClr val="0000FF"/>
              </a:solidFill>
              <a:latin typeface="+mj-lt"/>
              <a:cs typeface="Arial" panose="020B0604020202020204" pitchFamily="34" charset="0"/>
            </a:endParaRP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303263" y="1023205"/>
            <a:ext cx="5408725" cy="5509200"/>
          </a:xfrm>
          <a:prstGeom prst="rect">
            <a:avLst/>
          </a:prstGeom>
          <a:noFill/>
        </p:spPr>
        <p:txBody>
          <a:bodyPr wrap="none" rtlCol="0">
            <a:spAutoFit/>
          </a:bodyPr>
          <a:lstStyle/>
          <a:p>
            <a:r>
              <a:rPr lang="en-US" sz="4400" b="1" dirty="0" smtClean="0">
                <a:solidFill>
                  <a:srgbClr val="0000FF"/>
                </a:solidFill>
                <a:latin typeface="+mj-lt"/>
                <a:cs typeface="Arial" panose="020B0604020202020204" pitchFamily="34" charset="0"/>
              </a:rPr>
              <a:t>Types of classes in Java:</a:t>
            </a:r>
          </a:p>
          <a:p>
            <a:pPr marL="742950" indent="-742950">
              <a:buFont typeface="+mj-lt"/>
              <a:buAutoNum type="arabicPeriod"/>
            </a:pPr>
            <a:r>
              <a:rPr lang="en-US" sz="4400" b="1" dirty="0" smtClean="0">
                <a:solidFill>
                  <a:srgbClr val="FF0000"/>
                </a:solidFill>
                <a:latin typeface="+mj-lt"/>
                <a:cs typeface="Arial" panose="020B0604020202020204" pitchFamily="34" charset="0"/>
              </a:rPr>
              <a:t>interface</a:t>
            </a:r>
          </a:p>
          <a:p>
            <a:pPr marL="742950" indent="-742950">
              <a:buFont typeface="+mj-lt"/>
              <a:buAutoNum type="arabicPeriod"/>
            </a:pPr>
            <a:r>
              <a:rPr lang="en-US" sz="4400" b="1" dirty="0" smtClean="0">
                <a:solidFill>
                  <a:srgbClr val="FF0000"/>
                </a:solidFill>
                <a:latin typeface="+mj-lt"/>
                <a:cs typeface="Arial" panose="020B0604020202020204" pitchFamily="34" charset="0"/>
              </a:rPr>
              <a:t>abstract class</a:t>
            </a:r>
          </a:p>
          <a:p>
            <a:pPr marL="742950" indent="-742950">
              <a:buFont typeface="+mj-lt"/>
              <a:buAutoNum type="arabicPeriod"/>
            </a:pPr>
            <a:r>
              <a:rPr lang="en-US" sz="4400" b="1" dirty="0" smtClean="0">
                <a:solidFill>
                  <a:srgbClr val="FF0000"/>
                </a:solidFill>
                <a:latin typeface="+mj-lt"/>
                <a:cs typeface="Arial" panose="020B0604020202020204" pitchFamily="34" charset="0"/>
              </a:rPr>
              <a:t>class</a:t>
            </a:r>
          </a:p>
          <a:p>
            <a:pPr marL="742950" indent="-742950">
              <a:buFont typeface="+mj-lt"/>
              <a:buAutoNum type="arabicPeriod"/>
            </a:pPr>
            <a:r>
              <a:rPr lang="en-US" sz="4400" b="1" dirty="0" smtClean="0">
                <a:solidFill>
                  <a:srgbClr val="FF0000"/>
                </a:solidFill>
                <a:latin typeface="+mj-lt"/>
                <a:cs typeface="Arial" panose="020B0604020202020204" pitchFamily="34" charset="0"/>
              </a:rPr>
              <a:t>final class</a:t>
            </a:r>
          </a:p>
          <a:p>
            <a:pPr marL="742950" indent="-742950">
              <a:buFont typeface="+mj-lt"/>
              <a:buAutoNum type="arabicPeriod"/>
            </a:pPr>
            <a:r>
              <a:rPr lang="en-US" sz="4400" b="1" dirty="0" smtClean="0">
                <a:solidFill>
                  <a:srgbClr val="FF0000"/>
                </a:solidFill>
                <a:latin typeface="+mj-lt"/>
                <a:cs typeface="Arial" panose="020B0604020202020204" pitchFamily="34" charset="0"/>
              </a:rPr>
              <a:t>inner class</a:t>
            </a:r>
          </a:p>
          <a:p>
            <a:pPr marL="742950" indent="-742950">
              <a:buFont typeface="+mj-lt"/>
              <a:buAutoNum type="arabicPeriod"/>
            </a:pPr>
            <a:r>
              <a:rPr lang="en-US" sz="4400" b="1" dirty="0" smtClean="0">
                <a:solidFill>
                  <a:srgbClr val="FF0000"/>
                </a:solidFill>
                <a:latin typeface="+mj-lt"/>
                <a:cs typeface="Arial" panose="020B0604020202020204" pitchFamily="34" charset="0"/>
              </a:rPr>
              <a:t>anonymous class</a:t>
            </a:r>
          </a:p>
          <a:p>
            <a:pPr marL="742950" indent="-742950">
              <a:buFont typeface="+mj-lt"/>
              <a:buAutoNum type="arabicPeriod"/>
            </a:pPr>
            <a:r>
              <a:rPr lang="en-US" sz="4400" b="1" dirty="0" err="1" smtClean="0">
                <a:solidFill>
                  <a:srgbClr val="FF0000"/>
                </a:solidFill>
                <a:latin typeface="+mj-lt"/>
                <a:cs typeface="Arial" panose="020B0604020202020204" pitchFamily="34" charset="0"/>
              </a:rPr>
              <a:t>enum</a:t>
            </a:r>
            <a:endParaRPr lang="en-US" sz="4400" b="1" dirty="0" smtClean="0">
              <a:solidFill>
                <a:srgbClr val="FF0000"/>
              </a:solidFill>
              <a:latin typeface="+mj-lt"/>
              <a:cs typeface="Arial" panose="020B0604020202020204" pitchFamily="34" charset="0"/>
            </a:endParaRP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303263" y="933555"/>
            <a:ext cx="10234313" cy="4770537"/>
          </a:xfrm>
          <a:prstGeom prst="rect">
            <a:avLst/>
          </a:prstGeom>
          <a:noFill/>
        </p:spPr>
        <p:txBody>
          <a:bodyPr wrap="square" rtlCol="0">
            <a:spAutoFit/>
          </a:bodyPr>
          <a:lstStyle/>
          <a:p>
            <a:pPr marL="742950" indent="-742950">
              <a:buFont typeface="+mj-lt"/>
              <a:buAutoNum type="arabicPeriod"/>
            </a:pPr>
            <a:r>
              <a:rPr lang="en-US" sz="4400" b="1" dirty="0" smtClean="0">
                <a:solidFill>
                  <a:srgbClr val="FF0000"/>
                </a:solidFill>
                <a:latin typeface="+mj-lt"/>
                <a:cs typeface="Arial" panose="020B0604020202020204" pitchFamily="34" charset="0"/>
              </a:rPr>
              <a:t>Interface</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Interface is a </a:t>
            </a:r>
            <a:r>
              <a:rPr lang="en-US" sz="2800" b="1" dirty="0" smtClean="0">
                <a:solidFill>
                  <a:srgbClr val="0000FF"/>
                </a:solidFill>
                <a:latin typeface="+mj-lt"/>
                <a:cs typeface="Arial" panose="020B0604020202020204" pitchFamily="34" charset="0"/>
              </a:rPr>
              <a:t>pure abstract class</a:t>
            </a:r>
            <a:r>
              <a:rPr lang="en-US" sz="2800" b="1" dirty="0" smtClean="0">
                <a:solidFill>
                  <a:srgbClr val="FF0000"/>
                </a:solidFill>
                <a:latin typeface="+mj-lt"/>
                <a:cs typeface="Arial" panose="020B0604020202020204" pitchFamily="34" charset="0"/>
              </a:rPr>
              <a:t>. It contains only method declarations, but not method body/implementation/definition.</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Contains only abstract methods.</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Cannot be instantiated</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It can be only inherited. Inherited class/sub class must implement all the abstract methods.</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Sub class can be instantiated and its methods can be called.</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All variables of interface are public, static, final by default</a:t>
            </a:r>
          </a:p>
          <a:p>
            <a:pPr marL="0" lvl="1" indent="-742950" algn="just">
              <a:buFont typeface="Arial" pitchFamily="34" charset="0"/>
              <a:buChar char="•"/>
            </a:pPr>
            <a:r>
              <a:rPr lang="en-US" sz="2800" b="1" dirty="0" smtClean="0">
                <a:solidFill>
                  <a:srgbClr val="FF0000"/>
                </a:solidFill>
                <a:latin typeface="+mj-lt"/>
                <a:cs typeface="Arial" panose="020B0604020202020204" pitchFamily="34" charset="0"/>
              </a:rPr>
              <a:t>All methods of interface are public abstract by default.</a:t>
            </a:r>
            <a:endParaRPr lang="en-US" sz="3600" b="1" dirty="0" smtClean="0">
              <a:solidFill>
                <a:srgbClr val="FF0000"/>
              </a:solidFill>
              <a:latin typeface="+mj-lt"/>
              <a:cs typeface="Arial" panose="020B0604020202020204" pitchFamily="34" charset="0"/>
            </a:endParaRP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303263" y="933555"/>
            <a:ext cx="10234313" cy="5570756"/>
          </a:xfrm>
          <a:prstGeom prst="rect">
            <a:avLst/>
          </a:prstGeom>
          <a:noFill/>
        </p:spPr>
        <p:txBody>
          <a:bodyPr wrap="square" rtlCol="0">
            <a:spAutoFit/>
          </a:bodyPr>
          <a:lstStyle/>
          <a:p>
            <a:pPr marL="742950" indent="-742950"/>
            <a:r>
              <a:rPr lang="en-US" sz="3600" b="1" dirty="0" smtClean="0">
                <a:solidFill>
                  <a:srgbClr val="FF0000"/>
                </a:solidFill>
                <a:latin typeface="+mj-lt"/>
                <a:cs typeface="Arial" panose="020B0604020202020204" pitchFamily="34" charset="0"/>
              </a:rPr>
              <a:t>interface Intf1 {</a:t>
            </a:r>
          </a:p>
          <a:p>
            <a:pPr marL="742950" indent="-742950"/>
            <a:r>
              <a:rPr lang="en-US" sz="3600" b="1" dirty="0" smtClean="0">
                <a:solidFill>
                  <a:srgbClr val="FF0000"/>
                </a:solidFill>
                <a:latin typeface="+mj-lt"/>
                <a:cs typeface="Arial" panose="020B0604020202020204" pitchFamily="34" charset="0"/>
              </a:rPr>
              <a:t>	</a:t>
            </a:r>
            <a:r>
              <a:rPr lang="en-US" sz="3600" b="1" dirty="0" err="1" smtClean="0">
                <a:solidFill>
                  <a:srgbClr val="FF0000"/>
                </a:solidFill>
                <a:latin typeface="+mj-lt"/>
                <a:cs typeface="Arial" panose="020B0604020202020204" pitchFamily="34" charset="0"/>
              </a:rPr>
              <a:t>int</a:t>
            </a:r>
            <a:r>
              <a:rPr lang="en-US" sz="3600" b="1" dirty="0" smtClean="0">
                <a:solidFill>
                  <a:srgbClr val="FF0000"/>
                </a:solidFill>
                <a:latin typeface="+mj-lt"/>
                <a:cs typeface="Arial" panose="020B0604020202020204" pitchFamily="34" charset="0"/>
              </a:rPr>
              <a:t> </a:t>
            </a:r>
            <a:r>
              <a:rPr lang="en-US" sz="3600" b="1" dirty="0" err="1" smtClean="0">
                <a:solidFill>
                  <a:srgbClr val="FF0000"/>
                </a:solidFill>
                <a:latin typeface="+mj-lt"/>
                <a:cs typeface="Arial" panose="020B0604020202020204" pitchFamily="34" charset="0"/>
              </a:rPr>
              <a:t>min_age</a:t>
            </a:r>
            <a:r>
              <a:rPr lang="en-US" sz="3600" b="1" dirty="0" smtClean="0">
                <a:solidFill>
                  <a:srgbClr val="FF0000"/>
                </a:solidFill>
                <a:latin typeface="+mj-lt"/>
                <a:cs typeface="Arial" panose="020B0604020202020204" pitchFamily="34" charset="0"/>
              </a:rPr>
              <a:t>; </a:t>
            </a:r>
            <a:r>
              <a:rPr lang="en-US" sz="3200" b="1" dirty="0" smtClean="0">
                <a:solidFill>
                  <a:srgbClr val="FF0000"/>
                </a:solidFill>
                <a:latin typeface="+mj-lt"/>
                <a:cs typeface="Arial" panose="020B0604020202020204" pitchFamily="34" charset="0"/>
              </a:rPr>
              <a:t>// error; final variable must be initialized</a:t>
            </a:r>
            <a:endParaRPr lang="en-US" sz="3600" b="1" dirty="0" smtClean="0">
              <a:solidFill>
                <a:srgbClr val="FF0000"/>
              </a:solidFill>
              <a:latin typeface="+mj-lt"/>
              <a:cs typeface="Arial" panose="020B0604020202020204" pitchFamily="34" charset="0"/>
            </a:endParaRPr>
          </a:p>
          <a:p>
            <a:pPr marL="742950" indent="-742950"/>
            <a:r>
              <a:rPr lang="en-US" sz="3600" b="1" dirty="0" smtClean="0">
                <a:solidFill>
                  <a:srgbClr val="FF0000"/>
                </a:solidFill>
                <a:latin typeface="+mj-lt"/>
                <a:cs typeface="Arial" panose="020B0604020202020204" pitchFamily="34" charset="0"/>
              </a:rPr>
              <a:t>	void method1();</a:t>
            </a:r>
          </a:p>
          <a:p>
            <a:pPr marL="742950" indent="-742950"/>
            <a:r>
              <a:rPr lang="en-US" sz="3600" b="1" dirty="0" smtClean="0">
                <a:solidFill>
                  <a:srgbClr val="FF0000"/>
                </a:solidFill>
                <a:latin typeface="+mj-lt"/>
                <a:cs typeface="Arial" panose="020B0604020202020204" pitchFamily="34" charset="0"/>
              </a:rPr>
              <a:t>	void method2();</a:t>
            </a:r>
          </a:p>
          <a:p>
            <a:pPr marL="742950" indent="-742950"/>
            <a:r>
              <a:rPr lang="en-US" sz="3600" b="1" dirty="0" smtClean="0">
                <a:solidFill>
                  <a:srgbClr val="FF0000"/>
                </a:solidFill>
                <a:latin typeface="+mj-lt"/>
                <a:cs typeface="Arial" panose="020B0604020202020204" pitchFamily="34" charset="0"/>
              </a:rPr>
              <a:t>	void method3() {} </a:t>
            </a:r>
            <a:r>
              <a:rPr lang="en-US" sz="3200" b="1" dirty="0" smtClean="0">
                <a:solidFill>
                  <a:srgbClr val="FF0000"/>
                </a:solidFill>
                <a:latin typeface="+mj-lt"/>
                <a:cs typeface="Arial" panose="020B0604020202020204" pitchFamily="34" charset="0"/>
              </a:rPr>
              <a:t>// error; abstract method cannot be implemented</a:t>
            </a:r>
            <a:endParaRPr lang="en-US" sz="3600" b="1" dirty="0" smtClean="0">
              <a:solidFill>
                <a:srgbClr val="FF0000"/>
              </a:solidFill>
              <a:latin typeface="+mj-lt"/>
              <a:cs typeface="Arial" panose="020B0604020202020204" pitchFamily="34" charset="0"/>
            </a:endParaRPr>
          </a:p>
          <a:p>
            <a:pPr marL="742950" indent="-742950"/>
            <a:r>
              <a:rPr lang="en-US" sz="3600" b="1" dirty="0" smtClean="0">
                <a:solidFill>
                  <a:srgbClr val="FF0000"/>
                </a:solidFill>
                <a:latin typeface="+mj-lt"/>
                <a:cs typeface="Arial" panose="020B0604020202020204" pitchFamily="34" charset="0"/>
              </a:rPr>
              <a:t>}</a:t>
            </a:r>
          </a:p>
          <a:p>
            <a:pPr marL="742950" indent="-742950"/>
            <a:endParaRPr lang="en-US" sz="3600" b="1" dirty="0" smtClean="0">
              <a:solidFill>
                <a:srgbClr val="FF0000"/>
              </a:solidFill>
              <a:latin typeface="+mj-lt"/>
              <a:cs typeface="Arial" panose="020B0604020202020204" pitchFamily="34" charset="0"/>
            </a:endParaRPr>
          </a:p>
          <a:p>
            <a:pPr marL="742950" indent="-742950"/>
            <a:r>
              <a:rPr lang="en-US" sz="3600" b="1" dirty="0" err="1" smtClean="0">
                <a:solidFill>
                  <a:srgbClr val="FF0000"/>
                </a:solidFill>
                <a:latin typeface="+mj-lt"/>
                <a:cs typeface="Arial" panose="020B0604020202020204" pitchFamily="34" charset="0"/>
              </a:rPr>
              <a:t>javac</a:t>
            </a:r>
            <a:r>
              <a:rPr lang="en-US" sz="3600" b="1" dirty="0" smtClean="0">
                <a:solidFill>
                  <a:srgbClr val="FF0000"/>
                </a:solidFill>
                <a:latin typeface="+mj-lt"/>
                <a:cs typeface="Arial" panose="020B0604020202020204" pitchFamily="34" charset="0"/>
              </a:rPr>
              <a:t> Intf1.java</a:t>
            </a:r>
          </a:p>
          <a:p>
            <a:pPr marL="742950" indent="-742950"/>
            <a:endParaRPr lang="en-US" sz="3600" b="1" dirty="0" smtClean="0">
              <a:solidFill>
                <a:srgbClr val="FF0000"/>
              </a:solidFill>
              <a:latin typeface="+mj-lt"/>
              <a:cs typeface="Arial" panose="020B0604020202020204" pitchFamily="34" charset="0"/>
            </a:endParaRP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303263" y="933555"/>
            <a:ext cx="10234313" cy="5078313"/>
          </a:xfrm>
          <a:prstGeom prst="rect">
            <a:avLst/>
          </a:prstGeom>
          <a:noFill/>
        </p:spPr>
        <p:txBody>
          <a:bodyPr wrap="square" rtlCol="0">
            <a:spAutoFit/>
          </a:bodyPr>
          <a:lstStyle/>
          <a:p>
            <a:pPr marL="742950" indent="-742950"/>
            <a:r>
              <a:rPr lang="en-US" sz="3600" b="1" dirty="0" smtClean="0">
                <a:solidFill>
                  <a:srgbClr val="FF0000"/>
                </a:solidFill>
                <a:latin typeface="+mj-lt"/>
                <a:cs typeface="Arial" panose="020B0604020202020204" pitchFamily="34" charset="0"/>
              </a:rPr>
              <a:t>interface Intf1 {</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latin typeface="+mj-lt"/>
                <a:cs typeface="Arial" panose="020B0604020202020204" pitchFamily="34" charset="0"/>
              </a:rPr>
              <a:t>public static final </a:t>
            </a:r>
            <a:r>
              <a:rPr lang="en-US" sz="3600" b="1" dirty="0" err="1" smtClean="0">
                <a:solidFill>
                  <a:srgbClr val="FF0000"/>
                </a:solidFill>
                <a:latin typeface="+mj-lt"/>
                <a:cs typeface="Arial" panose="020B0604020202020204" pitchFamily="34" charset="0"/>
              </a:rPr>
              <a:t>int</a:t>
            </a:r>
            <a:r>
              <a:rPr lang="en-US" sz="3600" b="1" dirty="0" smtClean="0">
                <a:solidFill>
                  <a:srgbClr val="FF0000"/>
                </a:solidFill>
                <a:latin typeface="+mj-lt"/>
                <a:cs typeface="Arial" panose="020B0604020202020204" pitchFamily="34" charset="0"/>
              </a:rPr>
              <a:t> MIN_AGE=18; </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cs typeface="Arial" panose="020B0604020202020204" pitchFamily="34" charset="0"/>
              </a:rPr>
              <a:t> public abstract </a:t>
            </a:r>
            <a:r>
              <a:rPr lang="en-US" sz="3600" b="1" dirty="0" smtClean="0">
                <a:solidFill>
                  <a:srgbClr val="FF0000"/>
                </a:solidFill>
                <a:latin typeface="+mj-lt"/>
                <a:cs typeface="Arial" panose="020B0604020202020204" pitchFamily="34" charset="0"/>
              </a:rPr>
              <a:t>void method1();</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cs typeface="Arial" panose="020B0604020202020204" pitchFamily="34" charset="0"/>
              </a:rPr>
              <a:t> public abstract </a:t>
            </a:r>
            <a:r>
              <a:rPr lang="en-US" sz="3600" b="1" dirty="0" smtClean="0">
                <a:solidFill>
                  <a:srgbClr val="FF0000"/>
                </a:solidFill>
                <a:latin typeface="+mj-lt"/>
                <a:cs typeface="Arial" panose="020B0604020202020204" pitchFamily="34" charset="0"/>
              </a:rPr>
              <a:t>void method2();</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cs typeface="Arial" panose="020B0604020202020204" pitchFamily="34" charset="0"/>
              </a:rPr>
              <a:t> public abstract </a:t>
            </a:r>
            <a:r>
              <a:rPr lang="en-US" sz="3600" b="1" dirty="0" smtClean="0">
                <a:solidFill>
                  <a:srgbClr val="FF0000"/>
                </a:solidFill>
                <a:latin typeface="+mj-lt"/>
                <a:cs typeface="Arial" panose="020B0604020202020204" pitchFamily="34" charset="0"/>
              </a:rPr>
              <a:t>void method3();</a:t>
            </a:r>
          </a:p>
          <a:p>
            <a:pPr marL="742950" indent="-742950"/>
            <a:r>
              <a:rPr lang="en-US" sz="3600" b="1" dirty="0" smtClean="0">
                <a:solidFill>
                  <a:srgbClr val="FF0000"/>
                </a:solidFill>
                <a:latin typeface="+mj-lt"/>
                <a:cs typeface="Arial" panose="020B0604020202020204" pitchFamily="34" charset="0"/>
              </a:rPr>
              <a:t>}</a:t>
            </a:r>
          </a:p>
          <a:p>
            <a:pPr marL="742950" indent="-742950"/>
            <a:endParaRPr lang="en-US" sz="3600" b="1" dirty="0" smtClean="0">
              <a:solidFill>
                <a:srgbClr val="FF0000"/>
              </a:solidFill>
              <a:latin typeface="+mj-lt"/>
              <a:cs typeface="Arial" panose="020B0604020202020204" pitchFamily="34" charset="0"/>
            </a:endParaRPr>
          </a:p>
          <a:p>
            <a:pPr marL="742950" indent="-742950"/>
            <a:r>
              <a:rPr lang="en-US" sz="3600" b="1" dirty="0" err="1" smtClean="0">
                <a:solidFill>
                  <a:srgbClr val="FF0000"/>
                </a:solidFill>
                <a:latin typeface="+mj-lt"/>
                <a:cs typeface="Arial" panose="020B0604020202020204" pitchFamily="34" charset="0"/>
              </a:rPr>
              <a:t>javac</a:t>
            </a:r>
            <a:r>
              <a:rPr lang="en-US" sz="3600" b="1" dirty="0" smtClean="0">
                <a:solidFill>
                  <a:srgbClr val="FF0000"/>
                </a:solidFill>
                <a:latin typeface="+mj-lt"/>
                <a:cs typeface="Arial" panose="020B0604020202020204" pitchFamily="34" charset="0"/>
              </a:rPr>
              <a:t> Intf1.java</a:t>
            </a:r>
          </a:p>
          <a:p>
            <a:pPr marL="742950" indent="-742950"/>
            <a:endParaRPr lang="en-US" sz="3600" b="1" dirty="0" smtClean="0">
              <a:solidFill>
                <a:srgbClr val="FF0000"/>
              </a:solidFill>
              <a:latin typeface="+mj-lt"/>
              <a:cs typeface="Arial" panose="020B0604020202020204" pitchFamily="34" charset="0"/>
            </a:endParaRP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303263" y="880803"/>
            <a:ext cx="10234313" cy="5693866"/>
          </a:xfrm>
          <a:prstGeom prst="rect">
            <a:avLst/>
          </a:prstGeom>
          <a:noFill/>
        </p:spPr>
        <p:txBody>
          <a:bodyPr wrap="square" rtlCol="0">
            <a:spAutoFit/>
          </a:bodyPr>
          <a:lstStyle/>
          <a:p>
            <a:pPr indent="-742950" algn="just"/>
            <a:r>
              <a:rPr lang="en-US" sz="2800" b="1" dirty="0" smtClean="0">
                <a:solidFill>
                  <a:srgbClr val="FF0000"/>
                </a:solidFill>
                <a:latin typeface="+mj-lt"/>
                <a:cs typeface="Arial" panose="020B0604020202020204" pitchFamily="34" charset="0"/>
              </a:rPr>
              <a:t>Interfaces must be only inherited. Hence write a sub class of interface, implement all the interface abstract methods in sub class. Then subclass can be instantiated and its methods can be called. Implement methods in sub class as public.</a:t>
            </a:r>
          </a:p>
          <a:p>
            <a:pPr marL="742950" indent="-742950"/>
            <a:r>
              <a:rPr lang="en-US" sz="3600" b="1" dirty="0" smtClean="0">
                <a:solidFill>
                  <a:srgbClr val="FF0000"/>
                </a:solidFill>
                <a:latin typeface="+mj-lt"/>
                <a:cs typeface="Arial" panose="020B0604020202020204" pitchFamily="34" charset="0"/>
              </a:rPr>
              <a:t>class Intf1SubClass </a:t>
            </a:r>
            <a:r>
              <a:rPr lang="en-US" sz="3600" b="1" dirty="0" smtClean="0">
                <a:solidFill>
                  <a:srgbClr val="0000FF"/>
                </a:solidFill>
                <a:latin typeface="+mj-lt"/>
                <a:cs typeface="Arial" panose="020B0604020202020204" pitchFamily="34" charset="0"/>
              </a:rPr>
              <a:t>implements</a:t>
            </a:r>
            <a:r>
              <a:rPr lang="en-US" sz="3600" b="1" dirty="0" smtClean="0">
                <a:solidFill>
                  <a:srgbClr val="FF0000"/>
                </a:solidFill>
                <a:latin typeface="+mj-lt"/>
                <a:cs typeface="Arial" panose="020B0604020202020204" pitchFamily="34" charset="0"/>
              </a:rPr>
              <a:t> Intf1 {</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cs typeface="Arial" panose="020B0604020202020204" pitchFamily="34" charset="0"/>
              </a:rPr>
              <a:t> </a:t>
            </a:r>
            <a:r>
              <a:rPr lang="en-US" sz="3600" b="1" dirty="0" smtClean="0">
                <a:cs typeface="Arial" panose="020B0604020202020204" pitchFamily="34" charset="0"/>
              </a:rPr>
              <a:t>public </a:t>
            </a:r>
            <a:r>
              <a:rPr lang="en-US" sz="3600" b="1" dirty="0" smtClean="0">
                <a:solidFill>
                  <a:srgbClr val="FF0000"/>
                </a:solidFill>
                <a:latin typeface="+mj-lt"/>
                <a:cs typeface="Arial" panose="020B0604020202020204" pitchFamily="34" charset="0"/>
              </a:rPr>
              <a:t>void method1() {}</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cs typeface="Arial" panose="020B0604020202020204" pitchFamily="34" charset="0"/>
              </a:rPr>
              <a:t> </a:t>
            </a:r>
            <a:r>
              <a:rPr lang="en-US" sz="3600" b="1" dirty="0" smtClean="0">
                <a:cs typeface="Arial" panose="020B0604020202020204" pitchFamily="34" charset="0"/>
              </a:rPr>
              <a:t>public</a:t>
            </a:r>
            <a:r>
              <a:rPr lang="en-US" sz="3600" b="1" dirty="0" smtClean="0">
                <a:solidFill>
                  <a:schemeClr val="bg1">
                    <a:lumMod val="85000"/>
                  </a:schemeClr>
                </a:solidFill>
                <a:cs typeface="Arial" panose="020B0604020202020204" pitchFamily="34" charset="0"/>
              </a:rPr>
              <a:t> </a:t>
            </a:r>
            <a:r>
              <a:rPr lang="en-US" sz="3600" b="1" dirty="0" smtClean="0">
                <a:solidFill>
                  <a:srgbClr val="FF0000"/>
                </a:solidFill>
                <a:latin typeface="+mj-lt"/>
                <a:cs typeface="Arial" panose="020B0604020202020204" pitchFamily="34" charset="0"/>
              </a:rPr>
              <a:t>void method2() {}</a:t>
            </a:r>
          </a:p>
          <a:p>
            <a:pPr marL="742950" indent="-742950"/>
            <a:r>
              <a:rPr lang="en-US" sz="3600" b="1" dirty="0" smtClean="0">
                <a:solidFill>
                  <a:srgbClr val="FF0000"/>
                </a:solidFill>
                <a:latin typeface="+mj-lt"/>
                <a:cs typeface="Arial" panose="020B0604020202020204" pitchFamily="34" charset="0"/>
              </a:rPr>
              <a:t>	</a:t>
            </a:r>
            <a:r>
              <a:rPr lang="en-US" sz="3600" b="1" dirty="0" smtClean="0">
                <a:solidFill>
                  <a:schemeClr val="bg1">
                    <a:lumMod val="85000"/>
                  </a:schemeClr>
                </a:solidFill>
                <a:cs typeface="Arial" panose="020B0604020202020204" pitchFamily="34" charset="0"/>
              </a:rPr>
              <a:t> </a:t>
            </a:r>
            <a:r>
              <a:rPr lang="en-US" sz="3600" b="1" dirty="0" smtClean="0">
                <a:cs typeface="Arial" panose="020B0604020202020204" pitchFamily="34" charset="0"/>
              </a:rPr>
              <a:t>public</a:t>
            </a:r>
            <a:r>
              <a:rPr lang="en-US" sz="3600" b="1" dirty="0" smtClean="0">
                <a:solidFill>
                  <a:schemeClr val="bg1">
                    <a:lumMod val="85000"/>
                  </a:schemeClr>
                </a:solidFill>
                <a:cs typeface="Arial" panose="020B0604020202020204" pitchFamily="34" charset="0"/>
              </a:rPr>
              <a:t> </a:t>
            </a:r>
            <a:r>
              <a:rPr lang="en-US" sz="3600" b="1" dirty="0" smtClean="0">
                <a:solidFill>
                  <a:srgbClr val="FF0000"/>
                </a:solidFill>
                <a:latin typeface="+mj-lt"/>
                <a:cs typeface="Arial" panose="020B0604020202020204" pitchFamily="34" charset="0"/>
              </a:rPr>
              <a:t>void method3() {}</a:t>
            </a:r>
          </a:p>
          <a:p>
            <a:pPr marL="742950" indent="-742950"/>
            <a:r>
              <a:rPr lang="en-US" sz="3600" b="1" dirty="0" smtClean="0">
                <a:solidFill>
                  <a:srgbClr val="FF0000"/>
                </a:solidFill>
                <a:latin typeface="+mj-lt"/>
                <a:cs typeface="Arial" panose="020B0604020202020204" pitchFamily="34" charset="0"/>
              </a:rPr>
              <a:t>}</a:t>
            </a:r>
          </a:p>
          <a:p>
            <a:pPr marL="742950" indent="-742950"/>
            <a:endParaRPr lang="en-US" sz="3600" b="1" dirty="0" smtClean="0">
              <a:solidFill>
                <a:srgbClr val="FF0000"/>
              </a:solidFill>
              <a:latin typeface="+mj-lt"/>
              <a:cs typeface="Arial" panose="020B0604020202020204" pitchFamily="34" charset="0"/>
            </a:endParaRPr>
          </a:p>
          <a:p>
            <a:pPr marL="742950" indent="-742950"/>
            <a:r>
              <a:rPr lang="en-US" sz="3600" b="1" dirty="0" err="1" smtClean="0">
                <a:solidFill>
                  <a:srgbClr val="FF0000"/>
                </a:solidFill>
                <a:latin typeface="+mj-lt"/>
                <a:cs typeface="Arial" panose="020B0604020202020204" pitchFamily="34" charset="0"/>
              </a:rPr>
              <a:t>javac</a:t>
            </a:r>
            <a:r>
              <a:rPr lang="en-US" sz="3600" b="1" dirty="0" smtClean="0">
                <a:solidFill>
                  <a:srgbClr val="FF0000"/>
                </a:solidFill>
                <a:latin typeface="+mj-lt"/>
                <a:cs typeface="Arial" panose="020B0604020202020204" pitchFamily="34" charset="0"/>
              </a:rPr>
              <a:t> Intf1SubClass.java</a:t>
            </a: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1303263" y="880803"/>
            <a:ext cx="10234313" cy="5878532"/>
          </a:xfrm>
          <a:prstGeom prst="rect">
            <a:avLst/>
          </a:prstGeom>
          <a:noFill/>
        </p:spPr>
        <p:txBody>
          <a:bodyPr wrap="square" rtlCol="0">
            <a:spAutoFit/>
          </a:bodyPr>
          <a:lstStyle/>
          <a:p>
            <a:pPr indent="-742950" algn="just"/>
            <a:r>
              <a:rPr lang="en-US" sz="2400" b="1" dirty="0" smtClean="0">
                <a:solidFill>
                  <a:srgbClr val="FF0000"/>
                </a:solidFill>
                <a:cs typeface="Arial" panose="020B0604020202020204" pitchFamily="34" charset="0"/>
              </a:rPr>
              <a:t>Then subclass can be instantiated and its methods can be called. </a:t>
            </a:r>
          </a:p>
          <a:p>
            <a:pPr indent="-742950" algn="just"/>
            <a:r>
              <a:rPr lang="en-US" sz="3200" b="1" dirty="0" smtClean="0">
                <a:solidFill>
                  <a:srgbClr val="FF0000"/>
                </a:solidFill>
                <a:latin typeface="+mj-lt"/>
                <a:cs typeface="Arial" panose="020B0604020202020204" pitchFamily="34" charset="0"/>
              </a:rPr>
              <a:t>class </a:t>
            </a:r>
            <a:r>
              <a:rPr lang="en-US" sz="3200" b="1" dirty="0" err="1" smtClean="0">
                <a:solidFill>
                  <a:srgbClr val="FF0000"/>
                </a:solidFill>
                <a:cs typeface="Arial" panose="020B0604020202020204" pitchFamily="34" charset="0"/>
              </a:rPr>
              <a:t>ISCClient</a:t>
            </a:r>
            <a:r>
              <a:rPr lang="en-US" sz="3200" b="1" dirty="0" smtClean="0">
                <a:solidFill>
                  <a:srgbClr val="FF0000"/>
                </a:solidFill>
                <a:cs typeface="Arial" panose="020B0604020202020204" pitchFamily="34" charset="0"/>
              </a:rPr>
              <a:t> </a:t>
            </a:r>
            <a:r>
              <a:rPr lang="en-US" sz="3200" b="1" dirty="0" smtClean="0">
                <a:solidFill>
                  <a:srgbClr val="FF0000"/>
                </a:solidFill>
                <a:latin typeface="+mj-lt"/>
                <a:cs typeface="Arial" panose="020B0604020202020204" pitchFamily="34" charset="0"/>
              </a:rPr>
              <a:t>{</a:t>
            </a:r>
          </a:p>
          <a:p>
            <a:pPr marL="742950" indent="-742950"/>
            <a:r>
              <a:rPr lang="en-US" sz="3200" b="1" dirty="0" smtClean="0">
                <a:solidFill>
                  <a:srgbClr val="FF0000"/>
                </a:solidFill>
                <a:latin typeface="+mj-lt"/>
                <a:cs typeface="Arial" panose="020B0604020202020204" pitchFamily="34" charset="0"/>
              </a:rPr>
              <a:t>	public static void main(String rags[]) {</a:t>
            </a:r>
          </a:p>
          <a:p>
            <a:pPr marL="742950" indent="-742950"/>
            <a:r>
              <a:rPr lang="en-US" sz="3200" b="1" dirty="0" smtClean="0">
                <a:solidFill>
                  <a:srgbClr val="FF0000"/>
                </a:solidFill>
                <a:latin typeface="+mj-lt"/>
                <a:cs typeface="Arial" panose="020B0604020202020204" pitchFamily="34" charset="0"/>
              </a:rPr>
              <a:t>		</a:t>
            </a:r>
            <a:r>
              <a:rPr lang="en-US" sz="3200" b="1" dirty="0" err="1" smtClean="0">
                <a:solidFill>
                  <a:srgbClr val="FF0000"/>
                </a:solidFill>
                <a:latin typeface="+mj-lt"/>
                <a:cs typeface="Arial" panose="020B0604020202020204" pitchFamily="34" charset="0"/>
              </a:rPr>
              <a:t>System.out.println</a:t>
            </a:r>
            <a:r>
              <a:rPr lang="en-US" sz="3200" b="1" dirty="0" smtClean="0">
                <a:solidFill>
                  <a:srgbClr val="FF0000"/>
                </a:solidFill>
                <a:latin typeface="+mj-lt"/>
                <a:cs typeface="Arial" panose="020B0604020202020204" pitchFamily="34" charset="0"/>
              </a:rPr>
              <a:t>(Intf1.MIN_AGE);</a:t>
            </a:r>
          </a:p>
          <a:p>
            <a:pPr marL="742950" indent="-742950"/>
            <a:r>
              <a:rPr lang="en-US" sz="3200" b="1" dirty="0" smtClean="0">
                <a:solidFill>
                  <a:srgbClr val="FF0000"/>
                </a:solidFill>
                <a:latin typeface="+mj-lt"/>
                <a:cs typeface="Arial" panose="020B0604020202020204" pitchFamily="34" charset="0"/>
              </a:rPr>
              <a:t>	</a:t>
            </a:r>
            <a:r>
              <a:rPr lang="en-US" sz="3200" b="1" dirty="0" smtClean="0">
                <a:solidFill>
                  <a:srgbClr val="FF0000"/>
                </a:solidFill>
                <a:cs typeface="Arial" panose="020B0604020202020204" pitchFamily="34" charset="0"/>
              </a:rPr>
              <a:t> 	 Intf1 </a:t>
            </a:r>
            <a:r>
              <a:rPr lang="en-US" sz="3200" b="1" dirty="0" err="1" smtClean="0">
                <a:solidFill>
                  <a:srgbClr val="FF0000"/>
                </a:solidFill>
                <a:cs typeface="Arial" panose="020B0604020202020204" pitchFamily="34" charset="0"/>
              </a:rPr>
              <a:t>isc</a:t>
            </a:r>
            <a:r>
              <a:rPr lang="en-US" sz="3200" b="1" dirty="0" smtClean="0">
                <a:solidFill>
                  <a:srgbClr val="FF0000"/>
                </a:solidFill>
                <a:cs typeface="Arial" panose="020B0604020202020204" pitchFamily="34" charset="0"/>
              </a:rPr>
              <a:t>=new Intf1SubClass();</a:t>
            </a:r>
          </a:p>
          <a:p>
            <a:pPr marL="742950" indent="-742950"/>
            <a:r>
              <a:rPr lang="en-US" sz="3200" b="1" dirty="0" smtClean="0">
                <a:solidFill>
                  <a:srgbClr val="FF0000"/>
                </a:solidFill>
                <a:cs typeface="Arial" panose="020B0604020202020204" pitchFamily="34" charset="0"/>
              </a:rPr>
              <a:t>		</a:t>
            </a:r>
            <a:r>
              <a:rPr lang="en-US" sz="3200" b="1" dirty="0" smtClean="0">
                <a:cs typeface="Arial" panose="020B0604020202020204" pitchFamily="34" charset="0"/>
              </a:rPr>
              <a:t>isc.</a:t>
            </a:r>
            <a:r>
              <a:rPr lang="en-US" sz="3200" b="1" dirty="0" smtClean="0">
                <a:solidFill>
                  <a:srgbClr val="FF0000"/>
                </a:solidFill>
                <a:cs typeface="Arial" panose="020B0604020202020204" pitchFamily="34" charset="0"/>
              </a:rPr>
              <a:t>method1();</a:t>
            </a:r>
          </a:p>
          <a:p>
            <a:pPr marL="742950" indent="-742950"/>
            <a:r>
              <a:rPr lang="en-US" sz="3200" b="1" dirty="0" smtClean="0">
                <a:solidFill>
                  <a:srgbClr val="FF0000"/>
                </a:solidFill>
                <a:cs typeface="Arial" panose="020B0604020202020204" pitchFamily="34" charset="0"/>
              </a:rPr>
              <a:t>		</a:t>
            </a:r>
            <a:r>
              <a:rPr lang="en-US" sz="3200" b="1" dirty="0" smtClean="0">
                <a:cs typeface="Arial" panose="020B0604020202020204" pitchFamily="34" charset="0"/>
              </a:rPr>
              <a:t>isc.</a:t>
            </a:r>
            <a:r>
              <a:rPr lang="en-US" sz="3200" b="1" dirty="0" smtClean="0">
                <a:solidFill>
                  <a:srgbClr val="FF0000"/>
                </a:solidFill>
                <a:cs typeface="Arial" panose="020B0604020202020204" pitchFamily="34" charset="0"/>
              </a:rPr>
              <a:t>method2();</a:t>
            </a:r>
          </a:p>
          <a:p>
            <a:pPr marL="742950" indent="-742950"/>
            <a:r>
              <a:rPr lang="en-US" sz="3200" b="1" dirty="0" smtClean="0">
                <a:solidFill>
                  <a:srgbClr val="FF0000"/>
                </a:solidFill>
                <a:cs typeface="Arial" panose="020B0604020202020204" pitchFamily="34" charset="0"/>
              </a:rPr>
              <a:t>		</a:t>
            </a:r>
            <a:r>
              <a:rPr lang="en-US" sz="3200" b="1" dirty="0" smtClean="0">
                <a:cs typeface="Arial" panose="020B0604020202020204" pitchFamily="34" charset="0"/>
              </a:rPr>
              <a:t>isc.</a:t>
            </a:r>
            <a:r>
              <a:rPr lang="en-US" sz="3200" b="1" dirty="0" smtClean="0">
                <a:solidFill>
                  <a:srgbClr val="FF0000"/>
                </a:solidFill>
                <a:cs typeface="Arial" panose="020B0604020202020204" pitchFamily="34" charset="0"/>
              </a:rPr>
              <a:t>method3();</a:t>
            </a:r>
          </a:p>
          <a:p>
            <a:pPr marL="742950" indent="-742950"/>
            <a:r>
              <a:rPr lang="en-US" sz="3200" b="1" dirty="0" smtClean="0">
                <a:solidFill>
                  <a:srgbClr val="FF0000"/>
                </a:solidFill>
                <a:latin typeface="+mj-lt"/>
                <a:cs typeface="Arial" panose="020B0604020202020204" pitchFamily="34" charset="0"/>
              </a:rPr>
              <a:t>	}</a:t>
            </a:r>
          </a:p>
          <a:p>
            <a:pPr marL="742950" indent="-742950"/>
            <a:r>
              <a:rPr lang="en-US" sz="3200" b="1" dirty="0" smtClean="0">
                <a:solidFill>
                  <a:srgbClr val="FF0000"/>
                </a:solidFill>
                <a:latin typeface="+mj-lt"/>
                <a:cs typeface="Arial" panose="020B0604020202020204" pitchFamily="34" charset="0"/>
              </a:rPr>
              <a:t>}</a:t>
            </a:r>
          </a:p>
          <a:p>
            <a:pPr marL="742950" indent="-742950"/>
            <a:r>
              <a:rPr lang="en-US" sz="3200" b="1" dirty="0" err="1" smtClean="0">
                <a:solidFill>
                  <a:srgbClr val="FF0000"/>
                </a:solidFill>
                <a:latin typeface="+mj-lt"/>
                <a:cs typeface="Arial" panose="020B0604020202020204" pitchFamily="34" charset="0"/>
              </a:rPr>
              <a:t>javac</a:t>
            </a:r>
            <a:r>
              <a:rPr lang="en-US" sz="3200" b="1" dirty="0" smtClean="0">
                <a:solidFill>
                  <a:srgbClr val="FF0000"/>
                </a:solidFill>
                <a:latin typeface="+mj-lt"/>
                <a:cs typeface="Arial" panose="020B0604020202020204" pitchFamily="34" charset="0"/>
              </a:rPr>
              <a:t> </a:t>
            </a:r>
            <a:r>
              <a:rPr lang="en-US" sz="3200" b="1" dirty="0" smtClean="0">
                <a:solidFill>
                  <a:srgbClr val="FF0000"/>
                </a:solidFill>
                <a:cs typeface="Arial" panose="020B0604020202020204" pitchFamily="34" charset="0"/>
              </a:rPr>
              <a:t>ISCClient</a:t>
            </a:r>
            <a:r>
              <a:rPr lang="en-US" sz="3200" b="1" dirty="0" smtClean="0">
                <a:solidFill>
                  <a:srgbClr val="FF0000"/>
                </a:solidFill>
                <a:latin typeface="+mj-lt"/>
                <a:cs typeface="Arial" panose="020B0604020202020204" pitchFamily="34" charset="0"/>
              </a:rPr>
              <a:t>.java</a:t>
            </a:r>
          </a:p>
          <a:p>
            <a:pPr marL="742950" indent="-742950"/>
            <a:r>
              <a:rPr lang="en-US" sz="3200" b="1" dirty="0" smtClean="0">
                <a:solidFill>
                  <a:srgbClr val="FF0000"/>
                </a:solidFill>
                <a:latin typeface="+mj-lt"/>
                <a:cs typeface="Arial" panose="020B0604020202020204" pitchFamily="34" charset="0"/>
              </a:rPr>
              <a:t>java </a:t>
            </a:r>
            <a:r>
              <a:rPr lang="en-US" sz="3200" b="1" dirty="0" err="1" smtClean="0">
                <a:solidFill>
                  <a:srgbClr val="FF0000"/>
                </a:solidFill>
                <a:latin typeface="+mj-lt"/>
                <a:cs typeface="Arial" panose="020B0604020202020204" pitchFamily="34" charset="0"/>
              </a:rPr>
              <a:t>ISCClient</a:t>
            </a:r>
            <a:endParaRPr lang="en-US" sz="3200" b="1" dirty="0" smtClean="0">
              <a:solidFill>
                <a:srgbClr val="FF0000"/>
              </a:solidFill>
              <a:latin typeface="+mj-lt"/>
              <a:cs typeface="Arial" panose="020B0604020202020204" pitchFamily="34" charset="0"/>
            </a:endParaRPr>
          </a:p>
        </p:txBody>
      </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
        <p:nvSpPr>
          <p:cNvPr id="10" name="Rectangle 9"/>
          <p:cNvSpPr/>
          <p:nvPr/>
        </p:nvSpPr>
        <p:spPr>
          <a:xfrm>
            <a:off x="1274885" y="1307696"/>
            <a:ext cx="9319846" cy="4832092"/>
          </a:xfrm>
          <a:prstGeom prst="rect">
            <a:avLst/>
          </a:prstGeom>
        </p:spPr>
        <p:txBody>
          <a:bodyPr wrap="square">
            <a:spAutoFit/>
          </a:bodyPr>
          <a:lstStyle/>
          <a:p>
            <a:pPr indent="-742950" algn="just"/>
            <a:r>
              <a:rPr lang="en-US" sz="2800" b="1" dirty="0" smtClean="0">
                <a:solidFill>
                  <a:srgbClr val="FF0000"/>
                </a:solidFill>
                <a:cs typeface="Arial" panose="020B0604020202020204" pitchFamily="34" charset="0"/>
              </a:rPr>
              <a:t>Abstract class can contain both abstract methods and implemented methods. Class which contains abstract method(s) must also be declared as abstract class.</a:t>
            </a:r>
          </a:p>
          <a:p>
            <a:pPr marL="742950" indent="-742950"/>
            <a:r>
              <a:rPr lang="en-US" sz="2800" b="1" dirty="0" smtClean="0">
                <a:solidFill>
                  <a:srgbClr val="FF0000"/>
                </a:solidFill>
                <a:cs typeface="Arial" panose="020B0604020202020204" pitchFamily="34" charset="0"/>
              </a:rPr>
              <a:t>class </a:t>
            </a:r>
            <a:r>
              <a:rPr lang="en-US" sz="2800" b="1" dirty="0" err="1" smtClean="0">
                <a:solidFill>
                  <a:srgbClr val="FF0000"/>
                </a:solidFill>
                <a:cs typeface="Arial" panose="020B0604020202020204" pitchFamily="34" charset="0"/>
              </a:rPr>
              <a:t>AbsClass</a:t>
            </a:r>
            <a:r>
              <a:rPr lang="en-US" sz="2800" b="1" dirty="0" smtClean="0">
                <a:solidFill>
                  <a:srgbClr val="FF0000"/>
                </a:solidFill>
                <a:cs typeface="Arial" panose="020B0604020202020204" pitchFamily="34" charset="0"/>
              </a:rPr>
              <a:t> {</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abstract </a:t>
            </a:r>
            <a:r>
              <a:rPr lang="en-US" sz="2800" b="1" dirty="0" smtClean="0">
                <a:solidFill>
                  <a:srgbClr val="FF0000"/>
                </a:solidFill>
                <a:cs typeface="Arial" panose="020B0604020202020204" pitchFamily="34" charset="0"/>
              </a:rPr>
              <a:t>void method1();</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abstract </a:t>
            </a:r>
            <a:r>
              <a:rPr lang="en-US" sz="2800" b="1" dirty="0" smtClean="0">
                <a:solidFill>
                  <a:srgbClr val="FF0000"/>
                </a:solidFill>
                <a:cs typeface="Arial" panose="020B0604020202020204" pitchFamily="34" charset="0"/>
              </a:rPr>
              <a:t>void method2();</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t>
            </a:r>
            <a:r>
              <a:rPr lang="en-US" sz="2800" b="1" dirty="0" smtClean="0">
                <a:solidFill>
                  <a:srgbClr val="FF0000"/>
                </a:solidFill>
                <a:cs typeface="Arial" panose="020B0604020202020204" pitchFamily="34" charset="0"/>
              </a:rPr>
              <a:t>void method3() {}</a:t>
            </a:r>
          </a:p>
          <a:p>
            <a:pPr marL="742950" indent="-742950"/>
            <a:r>
              <a:rPr lang="en-US" sz="2800" b="1" dirty="0" smtClean="0">
                <a:solidFill>
                  <a:srgbClr val="FF0000"/>
                </a:solidFill>
                <a:cs typeface="Arial" panose="020B0604020202020204" pitchFamily="34" charset="0"/>
              </a:rPr>
              <a:t>}</a:t>
            </a:r>
          </a:p>
          <a:p>
            <a:pPr marL="742950" indent="-742950"/>
            <a:endParaRPr lang="en-US" sz="2800" b="1" dirty="0" smtClean="0">
              <a:solidFill>
                <a:srgbClr val="FF0000"/>
              </a:solidFill>
              <a:cs typeface="Arial" panose="020B0604020202020204" pitchFamily="34" charset="0"/>
            </a:endParaRPr>
          </a:p>
          <a:p>
            <a:pPr marL="742950" indent="-742950"/>
            <a:r>
              <a:rPr lang="en-US" sz="2800" b="1" dirty="0" err="1" smtClean="0">
                <a:solidFill>
                  <a:srgbClr val="FF0000"/>
                </a:solidFill>
                <a:cs typeface="Arial" panose="020B0604020202020204" pitchFamily="34" charset="0"/>
              </a:rPr>
              <a:t>javac</a:t>
            </a:r>
            <a:r>
              <a:rPr lang="en-US" sz="2800" b="1" dirty="0" smtClean="0">
                <a:solidFill>
                  <a:srgbClr val="FF0000"/>
                </a:solidFill>
                <a:cs typeface="Arial" panose="020B0604020202020204" pitchFamily="34" charset="0"/>
              </a:rPr>
              <a:t> AbsClass.java</a:t>
            </a:r>
          </a:p>
          <a:p>
            <a:pPr marL="742950" indent="-742950"/>
            <a:r>
              <a:rPr lang="en-US" sz="2800" b="1" dirty="0" smtClean="0">
                <a:solidFill>
                  <a:srgbClr val="0000FF"/>
                </a:solidFill>
                <a:cs typeface="Arial" panose="020B0604020202020204" pitchFamily="34" charset="0"/>
              </a:rPr>
              <a:t>error: class must be declared as abstract</a:t>
            </a:r>
            <a:endParaRPr lang="en-US" sz="2800" dirty="0">
              <a:solidFill>
                <a:srgbClr val="0000FF"/>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
        <p:nvSpPr>
          <p:cNvPr id="10" name="Rectangle 9"/>
          <p:cNvSpPr/>
          <p:nvPr/>
        </p:nvSpPr>
        <p:spPr>
          <a:xfrm>
            <a:off x="1274885" y="1307696"/>
            <a:ext cx="9319846" cy="4832092"/>
          </a:xfrm>
          <a:prstGeom prst="rect">
            <a:avLst/>
          </a:prstGeom>
        </p:spPr>
        <p:txBody>
          <a:bodyPr wrap="square">
            <a:spAutoFit/>
          </a:bodyPr>
          <a:lstStyle/>
          <a:p>
            <a:pPr indent="-742950" algn="just"/>
            <a:r>
              <a:rPr lang="en-US" sz="2800" b="1" dirty="0" smtClean="0">
                <a:solidFill>
                  <a:srgbClr val="FF0000"/>
                </a:solidFill>
                <a:cs typeface="Arial" panose="020B0604020202020204" pitchFamily="34" charset="0"/>
              </a:rPr>
              <a:t>Abstract class can contain both abstract methods and implemented methods. Class which contains abstract method(s) must also be declared as abstract class.</a:t>
            </a:r>
          </a:p>
          <a:p>
            <a:pPr marL="742950" indent="-742950"/>
            <a:r>
              <a:rPr lang="en-US" sz="2800" b="1" dirty="0" smtClean="0">
                <a:solidFill>
                  <a:srgbClr val="0000FF"/>
                </a:solidFill>
                <a:cs typeface="Arial" panose="020B0604020202020204" pitchFamily="34" charset="0"/>
              </a:rPr>
              <a:t>abstract </a:t>
            </a:r>
            <a:r>
              <a:rPr lang="en-US" sz="2800" b="1" dirty="0" smtClean="0">
                <a:solidFill>
                  <a:srgbClr val="FF0000"/>
                </a:solidFill>
                <a:cs typeface="Arial" panose="020B0604020202020204" pitchFamily="34" charset="0"/>
              </a:rPr>
              <a:t>class </a:t>
            </a:r>
            <a:r>
              <a:rPr lang="en-US" sz="2800" b="1" dirty="0" err="1" smtClean="0">
                <a:solidFill>
                  <a:srgbClr val="FF0000"/>
                </a:solidFill>
                <a:cs typeface="Arial" panose="020B0604020202020204" pitchFamily="34" charset="0"/>
              </a:rPr>
              <a:t>AbsClass</a:t>
            </a:r>
            <a:r>
              <a:rPr lang="en-US" sz="2800" b="1" dirty="0" smtClean="0">
                <a:solidFill>
                  <a:srgbClr val="FF0000"/>
                </a:solidFill>
                <a:cs typeface="Arial" panose="020B0604020202020204" pitchFamily="34" charset="0"/>
              </a:rPr>
              <a:t> {</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abstract </a:t>
            </a:r>
            <a:r>
              <a:rPr lang="en-US" sz="2800" b="1" dirty="0" smtClean="0">
                <a:solidFill>
                  <a:srgbClr val="FF0000"/>
                </a:solidFill>
                <a:cs typeface="Arial" panose="020B0604020202020204" pitchFamily="34" charset="0"/>
              </a:rPr>
              <a:t>void method1();</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abstract </a:t>
            </a:r>
            <a:r>
              <a:rPr lang="en-US" sz="2800" b="1" dirty="0" smtClean="0">
                <a:solidFill>
                  <a:srgbClr val="FF0000"/>
                </a:solidFill>
                <a:cs typeface="Arial" panose="020B0604020202020204" pitchFamily="34" charset="0"/>
              </a:rPr>
              <a:t>void method2();</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t>
            </a:r>
            <a:r>
              <a:rPr lang="en-US" sz="2800" b="1" dirty="0" smtClean="0">
                <a:solidFill>
                  <a:srgbClr val="FF0000"/>
                </a:solidFill>
                <a:cs typeface="Arial" panose="020B0604020202020204" pitchFamily="34" charset="0"/>
              </a:rPr>
              <a:t>void method3() {}</a:t>
            </a:r>
          </a:p>
          <a:p>
            <a:pPr marL="742950" indent="-742950"/>
            <a:r>
              <a:rPr lang="en-US" sz="2800" b="1" dirty="0" smtClean="0">
                <a:solidFill>
                  <a:srgbClr val="FF0000"/>
                </a:solidFill>
                <a:cs typeface="Arial" panose="020B0604020202020204" pitchFamily="34" charset="0"/>
              </a:rPr>
              <a:t>}</a:t>
            </a:r>
          </a:p>
          <a:p>
            <a:pPr marL="742950" indent="-742950"/>
            <a:endParaRPr lang="en-US" sz="2800" b="1" dirty="0" smtClean="0">
              <a:solidFill>
                <a:srgbClr val="FF0000"/>
              </a:solidFill>
              <a:cs typeface="Arial" panose="020B0604020202020204" pitchFamily="34" charset="0"/>
            </a:endParaRPr>
          </a:p>
          <a:p>
            <a:pPr marL="742950" indent="-742950"/>
            <a:r>
              <a:rPr lang="en-US" sz="2800" b="1" dirty="0" err="1" smtClean="0">
                <a:solidFill>
                  <a:srgbClr val="FF0000"/>
                </a:solidFill>
                <a:cs typeface="Arial" panose="020B0604020202020204" pitchFamily="34" charset="0"/>
              </a:rPr>
              <a:t>javac</a:t>
            </a:r>
            <a:r>
              <a:rPr lang="en-US" sz="2800" b="1" dirty="0" smtClean="0">
                <a:solidFill>
                  <a:srgbClr val="FF0000"/>
                </a:solidFill>
                <a:cs typeface="Arial" panose="020B0604020202020204" pitchFamily="34" charset="0"/>
              </a:rPr>
              <a:t> AbsClass.java</a:t>
            </a:r>
          </a:p>
          <a:p>
            <a:pPr marL="742950" indent="-742950"/>
            <a:r>
              <a:rPr lang="en-US" sz="2800" b="1" dirty="0" smtClean="0">
                <a:solidFill>
                  <a:srgbClr val="0000FF"/>
                </a:solidFill>
                <a:cs typeface="Arial" panose="020B0604020202020204" pitchFamily="34" charset="0"/>
              </a:rPr>
              <a:t>Class will be compiled</a:t>
            </a:r>
            <a:endParaRPr lang="en-US" sz="2800" dirty="0">
              <a:solidFill>
                <a:srgbClr val="0000FF"/>
              </a:solidFill>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
        <p:nvSpPr>
          <p:cNvPr id="10" name="Rectangle 9"/>
          <p:cNvSpPr/>
          <p:nvPr/>
        </p:nvSpPr>
        <p:spPr>
          <a:xfrm>
            <a:off x="1274885" y="1307696"/>
            <a:ext cx="9319846" cy="4401205"/>
          </a:xfrm>
          <a:prstGeom prst="rect">
            <a:avLst/>
          </a:prstGeom>
        </p:spPr>
        <p:txBody>
          <a:bodyPr wrap="square">
            <a:spAutoFit/>
          </a:bodyPr>
          <a:lstStyle/>
          <a:p>
            <a:pPr indent="-742950" algn="just"/>
            <a:r>
              <a:rPr lang="en-US" sz="2800" b="1" dirty="0" smtClean="0">
                <a:solidFill>
                  <a:srgbClr val="FF0000"/>
                </a:solidFill>
                <a:cs typeface="Arial" panose="020B0604020202020204" pitchFamily="34" charset="0"/>
              </a:rPr>
              <a:t>Abstract class cannot be instantiated. It can be only inherited. In the inherited sub class abstract class abstract methods must be implemented.</a:t>
            </a:r>
          </a:p>
          <a:p>
            <a:pPr marL="742950" indent="-742950"/>
            <a:r>
              <a:rPr lang="en-US" sz="2800" b="1" dirty="0" smtClean="0">
                <a:solidFill>
                  <a:srgbClr val="0000FF"/>
                </a:solidFill>
                <a:cs typeface="Arial" panose="020B0604020202020204" pitchFamily="34" charset="0"/>
              </a:rPr>
              <a:t>abstract </a:t>
            </a:r>
            <a:r>
              <a:rPr lang="en-US" sz="2800" b="1" dirty="0" smtClean="0">
                <a:solidFill>
                  <a:srgbClr val="FF0000"/>
                </a:solidFill>
                <a:cs typeface="Arial" panose="020B0604020202020204" pitchFamily="34" charset="0"/>
              </a:rPr>
              <a:t>class </a:t>
            </a:r>
            <a:r>
              <a:rPr lang="en-US" sz="2800" b="1" dirty="0" err="1" smtClean="0">
                <a:solidFill>
                  <a:srgbClr val="FF0000"/>
                </a:solidFill>
                <a:cs typeface="Arial" panose="020B0604020202020204" pitchFamily="34" charset="0"/>
              </a:rPr>
              <a:t>AbsClass</a:t>
            </a:r>
            <a:r>
              <a:rPr lang="en-US" sz="2800" b="1" dirty="0" smtClean="0">
                <a:solidFill>
                  <a:srgbClr val="FF0000"/>
                </a:solidFill>
                <a:cs typeface="Arial" panose="020B0604020202020204" pitchFamily="34" charset="0"/>
              </a:rPr>
              <a:t> {</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abstract </a:t>
            </a:r>
            <a:r>
              <a:rPr lang="en-US" sz="2800" b="1" dirty="0" smtClean="0">
                <a:solidFill>
                  <a:srgbClr val="FF0000"/>
                </a:solidFill>
                <a:cs typeface="Arial" panose="020B0604020202020204" pitchFamily="34" charset="0"/>
              </a:rPr>
              <a:t>void method1();</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abstract </a:t>
            </a:r>
            <a:r>
              <a:rPr lang="en-US" sz="2800" b="1" dirty="0" smtClean="0">
                <a:solidFill>
                  <a:srgbClr val="FF0000"/>
                </a:solidFill>
                <a:cs typeface="Arial" panose="020B0604020202020204" pitchFamily="34" charset="0"/>
              </a:rPr>
              <a:t>void method2();</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t>
            </a:r>
            <a:r>
              <a:rPr lang="en-US" sz="2800" b="1" dirty="0" smtClean="0">
                <a:solidFill>
                  <a:srgbClr val="FF0000"/>
                </a:solidFill>
                <a:cs typeface="Arial" panose="020B0604020202020204" pitchFamily="34" charset="0"/>
              </a:rPr>
              <a:t>void method3() {}</a:t>
            </a:r>
          </a:p>
          <a:p>
            <a:pPr marL="742950" indent="-742950"/>
            <a:r>
              <a:rPr lang="en-US" sz="2800" b="1" dirty="0" smtClean="0">
                <a:solidFill>
                  <a:srgbClr val="FF0000"/>
                </a:solidFill>
                <a:cs typeface="Arial" panose="020B0604020202020204" pitchFamily="34" charset="0"/>
              </a:rPr>
              <a:t>}</a:t>
            </a:r>
          </a:p>
          <a:p>
            <a:pPr marL="742950" indent="-742950"/>
            <a:endParaRPr lang="en-US" sz="2800" b="1" dirty="0" smtClean="0">
              <a:solidFill>
                <a:srgbClr val="FF0000"/>
              </a:solidFill>
              <a:cs typeface="Arial" panose="020B0604020202020204" pitchFamily="34" charset="0"/>
            </a:endParaRPr>
          </a:p>
          <a:p>
            <a:pPr marL="742950" indent="-742950"/>
            <a:r>
              <a:rPr lang="en-US" sz="2800" b="1" dirty="0" err="1" smtClean="0">
                <a:solidFill>
                  <a:srgbClr val="FF0000"/>
                </a:solidFill>
                <a:cs typeface="Arial" panose="020B0604020202020204" pitchFamily="34" charset="0"/>
              </a:rPr>
              <a:t>javac</a:t>
            </a:r>
            <a:r>
              <a:rPr lang="en-US" sz="2800" b="1" dirty="0" smtClean="0">
                <a:solidFill>
                  <a:srgbClr val="FF0000"/>
                </a:solidFill>
                <a:cs typeface="Arial" panose="020B0604020202020204" pitchFamily="34" charset="0"/>
              </a:rPr>
              <a:t> AbsClass.java</a:t>
            </a: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
        <p:nvSpPr>
          <p:cNvPr id="10" name="Rectangle 9"/>
          <p:cNvSpPr/>
          <p:nvPr/>
        </p:nvSpPr>
        <p:spPr>
          <a:xfrm>
            <a:off x="1274884" y="1307696"/>
            <a:ext cx="10119947" cy="4031873"/>
          </a:xfrm>
          <a:prstGeom prst="rect">
            <a:avLst/>
          </a:prstGeom>
        </p:spPr>
        <p:txBody>
          <a:bodyPr wrap="square">
            <a:spAutoFit/>
          </a:bodyPr>
          <a:lstStyle/>
          <a:p>
            <a:pPr indent="-742950" algn="just"/>
            <a:r>
              <a:rPr lang="en-US" sz="2800" b="1" dirty="0" smtClean="0">
                <a:solidFill>
                  <a:srgbClr val="FF0000"/>
                </a:solidFill>
                <a:cs typeface="Arial" panose="020B0604020202020204" pitchFamily="34" charset="0"/>
              </a:rPr>
              <a:t>Inheriting from abstract class</a:t>
            </a:r>
          </a:p>
          <a:p>
            <a:pPr marL="742950" indent="-742950"/>
            <a:r>
              <a:rPr lang="en-US" sz="2800" b="1" dirty="0" smtClean="0">
                <a:solidFill>
                  <a:srgbClr val="FF0000"/>
                </a:solidFill>
                <a:cs typeface="Arial" panose="020B0604020202020204" pitchFamily="34" charset="0"/>
              </a:rPr>
              <a:t>class </a:t>
            </a:r>
            <a:r>
              <a:rPr lang="en-US" sz="2800" b="1" dirty="0" err="1" smtClean="0">
                <a:solidFill>
                  <a:srgbClr val="FF0000"/>
                </a:solidFill>
                <a:cs typeface="Arial" panose="020B0604020202020204" pitchFamily="34" charset="0"/>
              </a:rPr>
              <a:t>AbsClassSubClass</a:t>
            </a:r>
            <a:r>
              <a:rPr lang="en-US" sz="2800" b="1" dirty="0" smtClean="0">
                <a:solidFill>
                  <a:srgbClr val="FF0000"/>
                </a:solidFill>
                <a:cs typeface="Arial" panose="020B0604020202020204" pitchFamily="34" charset="0"/>
              </a:rPr>
              <a:t> extends </a:t>
            </a:r>
            <a:r>
              <a:rPr lang="en-US" sz="2800" b="1" dirty="0" err="1" smtClean="0">
                <a:solidFill>
                  <a:srgbClr val="FF0000"/>
                </a:solidFill>
                <a:cs typeface="Arial" panose="020B0604020202020204" pitchFamily="34" charset="0"/>
              </a:rPr>
              <a:t>AbsClass</a:t>
            </a:r>
            <a:r>
              <a:rPr lang="en-US" sz="2800" b="1" dirty="0" smtClean="0">
                <a:solidFill>
                  <a:srgbClr val="FF0000"/>
                </a:solidFill>
                <a:cs typeface="Arial" panose="020B0604020202020204" pitchFamily="34" charset="0"/>
              </a:rPr>
              <a:t> {</a:t>
            </a:r>
          </a:p>
          <a:p>
            <a:pPr marL="742950" indent="-742950"/>
            <a:r>
              <a:rPr lang="en-US" sz="2800" b="1" dirty="0" smtClean="0">
                <a:solidFill>
                  <a:srgbClr val="FF0000"/>
                </a:solidFill>
                <a:cs typeface="Arial" panose="020B0604020202020204" pitchFamily="34" charset="0"/>
              </a:rPr>
              <a:t>	</a:t>
            </a:r>
            <a:r>
              <a:rPr lang="en-US" sz="2800" b="1" dirty="0" smtClean="0">
                <a:solidFill>
                  <a:srgbClr val="FF0000"/>
                </a:solidFill>
                <a:cs typeface="Arial" panose="020B0604020202020204" pitchFamily="34" charset="0"/>
              </a:rPr>
              <a:t>void </a:t>
            </a:r>
            <a:r>
              <a:rPr lang="en-US" sz="2800" b="1" dirty="0" smtClean="0">
                <a:solidFill>
                  <a:srgbClr val="FF0000"/>
                </a:solidFill>
                <a:cs typeface="Arial" panose="020B0604020202020204" pitchFamily="34" charset="0"/>
              </a:rPr>
              <a:t>method1() {} </a:t>
            </a:r>
            <a:r>
              <a:rPr lang="en-US" sz="2400" b="1" dirty="0" smtClean="0">
                <a:solidFill>
                  <a:srgbClr val="FF0000"/>
                </a:solidFill>
                <a:cs typeface="Arial" panose="020B0604020202020204" pitchFamily="34" charset="0"/>
              </a:rPr>
              <a:t>// implementing abstract methods</a:t>
            </a:r>
            <a:endParaRPr lang="en-US" sz="2800" b="1" dirty="0" smtClean="0">
              <a:solidFill>
                <a:srgbClr val="FF0000"/>
              </a:solidFill>
              <a:cs typeface="Arial" panose="020B0604020202020204" pitchFamily="34" charset="0"/>
            </a:endParaRPr>
          </a:p>
          <a:p>
            <a:pPr marL="742950" indent="-742950"/>
            <a:r>
              <a:rPr lang="en-US" sz="2800" b="1" dirty="0" smtClean="0">
                <a:solidFill>
                  <a:srgbClr val="FF0000"/>
                </a:solidFill>
                <a:cs typeface="Arial" panose="020B0604020202020204" pitchFamily="34" charset="0"/>
              </a:rPr>
              <a:t>	</a:t>
            </a:r>
            <a:r>
              <a:rPr lang="en-US" sz="2800" b="1" dirty="0" smtClean="0">
                <a:solidFill>
                  <a:srgbClr val="FF0000"/>
                </a:solidFill>
                <a:cs typeface="Arial" panose="020B0604020202020204" pitchFamily="34" charset="0"/>
              </a:rPr>
              <a:t>void </a:t>
            </a:r>
            <a:r>
              <a:rPr lang="en-US" sz="2800" b="1" dirty="0" smtClean="0">
                <a:solidFill>
                  <a:srgbClr val="FF0000"/>
                </a:solidFill>
                <a:cs typeface="Arial" panose="020B0604020202020204" pitchFamily="34" charset="0"/>
              </a:rPr>
              <a:t>method2() {}</a:t>
            </a:r>
            <a:r>
              <a:rPr lang="en-US" sz="3200" b="1" dirty="0" smtClean="0">
                <a:solidFill>
                  <a:srgbClr val="FF0000"/>
                </a:solidFill>
                <a:cs typeface="Arial" panose="020B0604020202020204" pitchFamily="34" charset="0"/>
              </a:rPr>
              <a:t> </a:t>
            </a:r>
            <a:r>
              <a:rPr lang="en-US" sz="2400" b="1" dirty="0" smtClean="0">
                <a:solidFill>
                  <a:srgbClr val="FF0000"/>
                </a:solidFill>
                <a:cs typeface="Arial" panose="020B0604020202020204" pitchFamily="34" charset="0"/>
              </a:rPr>
              <a:t>// implementing abstract methods</a:t>
            </a:r>
            <a:endParaRPr lang="en-US" sz="2800" b="1" dirty="0" smtClean="0">
              <a:solidFill>
                <a:srgbClr val="FF0000"/>
              </a:solidFill>
              <a:cs typeface="Arial" panose="020B0604020202020204" pitchFamily="34" charset="0"/>
            </a:endParaRP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 </a:t>
            </a:r>
            <a:r>
              <a:rPr lang="en-US" sz="2800" b="1" dirty="0" smtClean="0">
                <a:solidFill>
                  <a:srgbClr val="FF0000"/>
                </a:solidFill>
                <a:cs typeface="Arial" panose="020B0604020202020204" pitchFamily="34" charset="0"/>
              </a:rPr>
              <a:t>void method3() {} </a:t>
            </a:r>
            <a:r>
              <a:rPr lang="en-US" sz="2400" b="1" dirty="0" smtClean="0">
                <a:solidFill>
                  <a:srgbClr val="FF0000"/>
                </a:solidFill>
                <a:cs typeface="Arial" panose="020B0604020202020204" pitchFamily="34" charset="0"/>
              </a:rPr>
              <a:t>// rewriting super class method in sub class is called as method overriding</a:t>
            </a:r>
            <a:endParaRPr lang="en-US" sz="2800" b="1" dirty="0" smtClean="0">
              <a:solidFill>
                <a:srgbClr val="FF0000"/>
              </a:solidFill>
              <a:cs typeface="Arial" panose="020B0604020202020204" pitchFamily="34" charset="0"/>
            </a:endParaRPr>
          </a:p>
          <a:p>
            <a:pPr marL="742950" indent="-742950"/>
            <a:r>
              <a:rPr lang="en-US" sz="2800" b="1" dirty="0" smtClean="0">
                <a:solidFill>
                  <a:srgbClr val="FF0000"/>
                </a:solidFill>
                <a:cs typeface="Arial" panose="020B0604020202020204" pitchFamily="34" charset="0"/>
              </a:rPr>
              <a:t>}</a:t>
            </a:r>
          </a:p>
          <a:p>
            <a:pPr marL="742950" indent="-742950"/>
            <a:endParaRPr lang="en-US" sz="2800" b="1" dirty="0" smtClean="0">
              <a:solidFill>
                <a:srgbClr val="FF0000"/>
              </a:solidFill>
              <a:cs typeface="Arial" panose="020B0604020202020204" pitchFamily="34" charset="0"/>
            </a:endParaRPr>
          </a:p>
          <a:p>
            <a:pPr marL="742950" indent="-742950"/>
            <a:r>
              <a:rPr lang="en-US" sz="2800" b="1" dirty="0" err="1" smtClean="0">
                <a:solidFill>
                  <a:srgbClr val="FF0000"/>
                </a:solidFill>
                <a:cs typeface="Arial" panose="020B0604020202020204" pitchFamily="34" charset="0"/>
              </a:rPr>
              <a:t>javac</a:t>
            </a:r>
            <a:r>
              <a:rPr lang="en-US" sz="2800" b="1" dirty="0" smtClean="0">
                <a:solidFill>
                  <a:srgbClr val="FF0000"/>
                </a:solidFill>
                <a:cs typeface="Arial" panose="020B0604020202020204" pitchFamily="34" charset="0"/>
              </a:rPr>
              <a:t> AbsClassSubClass.java</a:t>
            </a: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247648" cy="6858000"/>
            <a:chOff x="-169948" y="0"/>
            <a:chExt cx="12247648" cy="6858000"/>
          </a:xfrm>
        </p:grpSpPr>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grpSp>
      <p:sp>
        <p:nvSpPr>
          <p:cNvPr id="7" name="Footer Placeholder 6">
            <a:extLst>
              <a:ext uri="{FF2B5EF4-FFF2-40B4-BE49-F238E27FC236}">
                <a16:creationId xmlns="" xmlns:a16="http://schemas.microsoft.com/office/drawing/2014/main" id="{415A6E95-87A4-54FC-F612-7E0BC0EA5AF9}"/>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
        <p:nvSpPr>
          <p:cNvPr id="10" name="Rectangle 9"/>
          <p:cNvSpPr/>
          <p:nvPr/>
        </p:nvSpPr>
        <p:spPr>
          <a:xfrm>
            <a:off x="1274884" y="1008768"/>
            <a:ext cx="10119947" cy="5262979"/>
          </a:xfrm>
          <a:prstGeom prst="rect">
            <a:avLst/>
          </a:prstGeom>
        </p:spPr>
        <p:txBody>
          <a:bodyPr wrap="square">
            <a:spAutoFit/>
          </a:bodyPr>
          <a:lstStyle/>
          <a:p>
            <a:pPr indent="-742950" algn="just"/>
            <a:r>
              <a:rPr lang="en-US" sz="2800" b="1" dirty="0" smtClean="0">
                <a:solidFill>
                  <a:srgbClr val="FF0000"/>
                </a:solidFill>
                <a:cs typeface="Arial" panose="020B0604020202020204" pitchFamily="34" charset="0"/>
              </a:rPr>
              <a:t>Writing client to abstract class sub class</a:t>
            </a:r>
          </a:p>
          <a:p>
            <a:pPr marL="742950" indent="-742950"/>
            <a:r>
              <a:rPr lang="en-US" sz="2800" b="1" dirty="0" smtClean="0">
                <a:solidFill>
                  <a:srgbClr val="FF0000"/>
                </a:solidFill>
                <a:cs typeface="Arial" panose="020B0604020202020204" pitchFamily="34" charset="0"/>
              </a:rPr>
              <a:t>class </a:t>
            </a:r>
            <a:r>
              <a:rPr lang="en-US" sz="2800" b="1" dirty="0" err="1" smtClean="0">
                <a:solidFill>
                  <a:srgbClr val="FF0000"/>
                </a:solidFill>
                <a:cs typeface="Arial" panose="020B0604020202020204" pitchFamily="34" charset="0"/>
              </a:rPr>
              <a:t>ACSCClient</a:t>
            </a:r>
            <a:r>
              <a:rPr lang="en-US" sz="2800" b="1" dirty="0" smtClean="0">
                <a:solidFill>
                  <a:srgbClr val="FF0000"/>
                </a:solidFill>
                <a:cs typeface="Arial" panose="020B0604020202020204" pitchFamily="34" charset="0"/>
              </a:rPr>
              <a:t> {</a:t>
            </a:r>
          </a:p>
          <a:p>
            <a:pPr marL="742950" indent="-742950"/>
            <a:r>
              <a:rPr lang="en-US" sz="2800" b="1" dirty="0" smtClean="0">
                <a:solidFill>
                  <a:srgbClr val="FF0000"/>
                </a:solidFill>
                <a:cs typeface="Arial" panose="020B0604020202020204" pitchFamily="34" charset="0"/>
              </a:rPr>
              <a:t>	public static void main(String rags[]) {</a:t>
            </a:r>
          </a:p>
          <a:p>
            <a:pPr marL="742950" indent="-742950"/>
            <a:r>
              <a:rPr lang="en-US" sz="2800" b="1" dirty="0" smtClean="0">
                <a:solidFill>
                  <a:srgbClr val="FF0000"/>
                </a:solidFill>
                <a:cs typeface="Arial" panose="020B0604020202020204" pitchFamily="34" charset="0"/>
              </a:rPr>
              <a:t>		</a:t>
            </a:r>
            <a:r>
              <a:rPr lang="en-US" sz="2800" b="1" dirty="0" err="1" smtClean="0">
                <a:solidFill>
                  <a:srgbClr val="FF0000"/>
                </a:solidFill>
                <a:cs typeface="Arial" panose="020B0604020202020204" pitchFamily="34" charset="0"/>
              </a:rPr>
              <a:t>AbsClass</a:t>
            </a:r>
            <a:r>
              <a:rPr lang="en-US" sz="2800" b="1" dirty="0" smtClean="0">
                <a:solidFill>
                  <a:srgbClr val="FF0000"/>
                </a:solidFill>
                <a:cs typeface="Arial" panose="020B0604020202020204" pitchFamily="34" charset="0"/>
              </a:rPr>
              <a:t> ac=new </a:t>
            </a:r>
            <a:r>
              <a:rPr lang="en-US" sz="2800" b="1" dirty="0" err="1" smtClean="0">
                <a:solidFill>
                  <a:srgbClr val="FF0000"/>
                </a:solidFill>
                <a:cs typeface="Arial" panose="020B0604020202020204" pitchFamily="34" charset="0"/>
              </a:rPr>
              <a:t>AbsClassSubClass</a:t>
            </a:r>
            <a:r>
              <a:rPr lang="en-US" sz="2800" b="1" dirty="0" smtClean="0">
                <a:solidFill>
                  <a:srgbClr val="FF0000"/>
                </a:solidFill>
                <a:cs typeface="Arial" panose="020B0604020202020204" pitchFamily="34" charset="0"/>
              </a:rPr>
              <a:t>();</a:t>
            </a:r>
          </a:p>
          <a:p>
            <a:pPr marL="742950" indent="-742950"/>
            <a:r>
              <a:rPr lang="en-US" sz="2800" b="1" dirty="0" smtClean="0">
                <a:solidFill>
                  <a:srgbClr val="FF0000"/>
                </a:solidFill>
                <a:cs typeface="Arial" panose="020B0604020202020204" pitchFamily="34" charset="0"/>
              </a:rPr>
              <a:t>		ac.method1();</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ac.</a:t>
            </a:r>
            <a:r>
              <a:rPr lang="en-US" sz="2800" b="1" dirty="0" smtClean="0">
                <a:solidFill>
                  <a:srgbClr val="FF0000"/>
                </a:solidFill>
                <a:cs typeface="Arial" panose="020B0604020202020204" pitchFamily="34" charset="0"/>
              </a:rPr>
              <a:t>method2();</a:t>
            </a:r>
          </a:p>
          <a:p>
            <a:pPr marL="742950" indent="-742950"/>
            <a:r>
              <a:rPr lang="en-US" sz="2800" b="1" dirty="0" smtClean="0">
                <a:solidFill>
                  <a:srgbClr val="FF0000"/>
                </a:solidFill>
                <a:cs typeface="Arial" panose="020B0604020202020204" pitchFamily="34" charset="0"/>
              </a:rPr>
              <a:t>		</a:t>
            </a:r>
            <a:r>
              <a:rPr lang="en-US" sz="2800" b="1" dirty="0" smtClean="0">
                <a:solidFill>
                  <a:srgbClr val="0000FF"/>
                </a:solidFill>
                <a:cs typeface="Arial" panose="020B0604020202020204" pitchFamily="34" charset="0"/>
              </a:rPr>
              <a:t>ac.</a:t>
            </a:r>
            <a:r>
              <a:rPr lang="en-US" sz="2800" b="1" dirty="0" smtClean="0">
                <a:solidFill>
                  <a:srgbClr val="FF0000"/>
                </a:solidFill>
                <a:cs typeface="Arial" panose="020B0604020202020204" pitchFamily="34" charset="0"/>
              </a:rPr>
              <a:t>method3(); </a:t>
            </a:r>
          </a:p>
          <a:p>
            <a:pPr marL="742950" indent="-742950"/>
            <a:r>
              <a:rPr lang="en-US" sz="2800" b="1" dirty="0" smtClean="0">
                <a:solidFill>
                  <a:srgbClr val="FF0000"/>
                </a:solidFill>
                <a:cs typeface="Arial" panose="020B0604020202020204" pitchFamily="34" charset="0"/>
              </a:rPr>
              <a:t>	}</a:t>
            </a:r>
          </a:p>
          <a:p>
            <a:pPr marL="742950" indent="-742950"/>
            <a:r>
              <a:rPr lang="en-US" sz="2800" b="1" dirty="0" smtClean="0">
                <a:solidFill>
                  <a:srgbClr val="FF0000"/>
                </a:solidFill>
                <a:cs typeface="Arial" panose="020B0604020202020204" pitchFamily="34" charset="0"/>
              </a:rPr>
              <a:t>}</a:t>
            </a:r>
          </a:p>
          <a:p>
            <a:pPr marL="742950" indent="-742950"/>
            <a:endParaRPr lang="en-US" sz="2800" b="1" dirty="0" smtClean="0">
              <a:solidFill>
                <a:srgbClr val="FF0000"/>
              </a:solidFill>
              <a:cs typeface="Arial" panose="020B0604020202020204" pitchFamily="34" charset="0"/>
            </a:endParaRPr>
          </a:p>
          <a:p>
            <a:pPr marL="742950" indent="-742950"/>
            <a:r>
              <a:rPr lang="en-US" sz="2800" b="1" dirty="0" err="1" smtClean="0">
                <a:solidFill>
                  <a:srgbClr val="FF0000"/>
                </a:solidFill>
                <a:cs typeface="Arial" panose="020B0604020202020204" pitchFamily="34" charset="0"/>
              </a:rPr>
              <a:t>javac</a:t>
            </a:r>
            <a:r>
              <a:rPr lang="en-US" sz="2800" b="1" dirty="0" smtClean="0">
                <a:solidFill>
                  <a:srgbClr val="FF0000"/>
                </a:solidFill>
                <a:cs typeface="Arial" panose="020B0604020202020204" pitchFamily="34" charset="0"/>
              </a:rPr>
              <a:t> ACSCClient.java</a:t>
            </a:r>
          </a:p>
          <a:p>
            <a:pPr marL="742950" indent="-742950"/>
            <a:r>
              <a:rPr lang="en-US" sz="2800" b="1" dirty="0" smtClean="0">
                <a:solidFill>
                  <a:srgbClr val="FF0000"/>
                </a:solidFill>
                <a:cs typeface="Arial" panose="020B0604020202020204" pitchFamily="34" charset="0"/>
              </a:rPr>
              <a:t>Java </a:t>
            </a:r>
            <a:r>
              <a:rPr lang="en-US" sz="2800" b="1" dirty="0" err="1" smtClean="0">
                <a:solidFill>
                  <a:srgbClr val="FF0000"/>
                </a:solidFill>
                <a:cs typeface="Arial" panose="020B0604020202020204" pitchFamily="34" charset="0"/>
              </a:rPr>
              <a:t>ACSCClient</a:t>
            </a:r>
            <a:endParaRPr lang="en-US" sz="2800" b="1" dirty="0" smtClean="0">
              <a:solidFill>
                <a:srgbClr val="FF0000"/>
              </a:solidFill>
              <a:cs typeface="Arial" panose="020B0604020202020204" pitchFamily="34" charset="0"/>
            </a:endParaRPr>
          </a:p>
        </p:txBody>
      </p:sp>
    </p:spTree>
    <p:extLst>
      <p:ext uri="{BB962C8B-B14F-4D97-AF65-F5344CB8AC3E}">
        <p14:creationId xmlns="" xmlns:p14="http://schemas.microsoft.com/office/powerpoint/2010/main" val="17937974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208740" y="831513"/>
            <a:ext cx="5109091" cy="2954655"/>
          </a:xfrm>
          <a:prstGeom prst="rect">
            <a:avLst/>
          </a:prstGeom>
          <a:noFill/>
        </p:spPr>
        <p:txBody>
          <a:bodyPr wrap="none" rtlCol="0">
            <a:spAutoFit/>
          </a:bodyPr>
          <a:lstStyle/>
          <a:p>
            <a:r>
              <a:rPr lang="en-US" sz="2800" b="1" dirty="0" smtClean="0">
                <a:solidFill>
                  <a:srgbClr val="0000FF"/>
                </a:solidFill>
                <a:latin typeface="Calibri (Body)"/>
                <a:cs typeface="Arial" panose="020B0604020202020204" pitchFamily="34" charset="0"/>
              </a:rPr>
              <a:t>interface </a:t>
            </a:r>
            <a:r>
              <a:rPr lang="en-US" sz="2800" b="1" dirty="0" err="1" smtClean="0">
                <a:solidFill>
                  <a:srgbClr val="0000FF"/>
                </a:solidFill>
                <a:latin typeface="Calibri (Body)"/>
                <a:cs typeface="Arial" panose="020B0604020202020204" pitchFamily="34" charset="0"/>
              </a:rPr>
              <a:t>EmployeeIntf</a:t>
            </a:r>
            <a:r>
              <a:rPr lang="en-US" sz="2800" b="1"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static final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MIN_AGE=18;</a:t>
            </a:r>
          </a:p>
          <a:p>
            <a:r>
              <a:rPr lang="en-US" dirty="0" smtClean="0">
                <a:solidFill>
                  <a:srgbClr val="0000FF"/>
                </a:solidFill>
                <a:latin typeface="Calibri (Body)"/>
                <a:cs typeface="Arial" panose="020B0604020202020204" pitchFamily="34" charset="0"/>
              </a:rPr>
              <a:t>	public static final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MAX_AGE=60;</a:t>
            </a:r>
          </a:p>
          <a:p>
            <a:r>
              <a:rPr lang="en-US" dirty="0" smtClean="0">
                <a:solidFill>
                  <a:srgbClr val="0000FF"/>
                </a:solidFill>
                <a:latin typeface="Calibri (Body)"/>
                <a:cs typeface="Arial" panose="020B0604020202020204" pitchFamily="34" charset="0"/>
              </a:rPr>
              <a:t>	public abstract double </a:t>
            </a:r>
            <a:r>
              <a:rPr lang="en-US" dirty="0" err="1" smtClean="0">
                <a:solidFill>
                  <a:srgbClr val="0000FF"/>
                </a:solidFill>
                <a:latin typeface="Calibri (Body)"/>
                <a:cs typeface="Arial" panose="020B0604020202020204" pitchFamily="34" charset="0"/>
              </a:rPr>
              <a:t>calSal</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public abstract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findCLsAvailable</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public abstract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findCLsConsumed</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public abstract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findMLsAvailable</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public abstract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findMLsConsumed</a:t>
            </a:r>
            <a:r>
              <a:rPr lang="en-US" dirty="0" smtClean="0">
                <a:solidFill>
                  <a:srgbClr val="0000FF"/>
                </a:solidFill>
                <a:latin typeface="Calibri (Body)"/>
                <a:cs typeface="Arial" panose="020B0604020202020204" pitchFamily="34" charset="0"/>
              </a:rPr>
              <a:t>();</a:t>
            </a:r>
          </a:p>
          <a:p>
            <a:r>
              <a:rPr lang="en-US" sz="2800" b="1" dirty="0" smtClean="0">
                <a:solidFill>
                  <a:srgbClr val="0000FF"/>
                </a:solidFill>
                <a:latin typeface="Calibri (Body)"/>
                <a:cs typeface="Arial" panose="020B0604020202020204" pitchFamily="34" charset="0"/>
              </a:rPr>
              <a:t>}</a:t>
            </a:r>
            <a:endParaRPr lang="en-US" sz="3600" b="1" dirty="0">
              <a:solidFill>
                <a:srgbClr val="0000FF"/>
              </a:solidFill>
              <a:latin typeface="Calibri (Body)"/>
              <a:cs typeface="Arial" panose="020B0604020202020204" pitchFamily="34" charset="0"/>
            </a:endParaRPr>
          </a:p>
        </p:txBody>
      </p:sp>
      <p:sp>
        <p:nvSpPr>
          <p:cNvPr id="7" name="Footer Placeholder 6">
            <a:extLst>
              <a:ext uri="{FF2B5EF4-FFF2-40B4-BE49-F238E27FC236}">
                <a16:creationId xmlns="" xmlns:a16="http://schemas.microsoft.com/office/drawing/2014/main" id="{64B7F535-AB67-F08E-E409-8FFCEEC29488}"/>
              </a:ext>
            </a:extLst>
          </p:cNvPr>
          <p:cNvSpPr>
            <a:spLocks noGrp="1"/>
          </p:cNvSpPr>
          <p:nvPr>
            <p:ph type="ftr" sz="quarter" idx="11"/>
          </p:nvPr>
        </p:nvSpPr>
        <p:spPr/>
        <p:txBody>
          <a:bodyPr/>
          <a:lstStyle/>
          <a:p>
            <a:r>
              <a:rPr lang="en-US"/>
              <a:t>Suryanarayana</a:t>
            </a:r>
          </a:p>
        </p:txBody>
      </p:sp>
      <p:sp>
        <p:nvSpPr>
          <p:cNvPr id="12" name="TextBox 11">
            <a:extLst>
              <a:ext uri="{FF2B5EF4-FFF2-40B4-BE49-F238E27FC236}">
                <a16:creationId xmlns="" xmlns:a16="http://schemas.microsoft.com/office/drawing/2014/main" id="{ADC4DB27-5802-4175-A8D7-E2262C505D65}"/>
              </a:ext>
            </a:extLst>
          </p:cNvPr>
          <p:cNvSpPr txBox="1"/>
          <p:nvPr/>
        </p:nvSpPr>
        <p:spPr>
          <a:xfrm>
            <a:off x="5953042" y="834441"/>
            <a:ext cx="4621778" cy="2616101"/>
          </a:xfrm>
          <a:prstGeom prst="rect">
            <a:avLst/>
          </a:prstGeom>
          <a:noFill/>
        </p:spPr>
        <p:txBody>
          <a:bodyPr wrap="none" rtlCol="0">
            <a:spAutoFit/>
          </a:bodyPr>
          <a:lstStyle/>
          <a:p>
            <a:r>
              <a:rPr lang="en-US" sz="2800" b="1" dirty="0" smtClean="0">
                <a:solidFill>
                  <a:srgbClr val="0000FF"/>
                </a:solidFill>
                <a:latin typeface="Calibri (Body)"/>
                <a:cs typeface="Arial" panose="020B0604020202020204" pitchFamily="34" charset="0"/>
              </a:rPr>
              <a:t>abstract class Employee {</a:t>
            </a:r>
            <a:endParaRPr lang="en-US" sz="3600" b="1" dirty="0" smtClean="0">
              <a:solidFill>
                <a:srgbClr val="0000FF"/>
              </a:solidFill>
              <a:latin typeface="Calibri (Body)"/>
              <a:cs typeface="Arial" panose="020B0604020202020204" pitchFamily="34" charset="0"/>
            </a:endParaRPr>
          </a:p>
          <a:p>
            <a:r>
              <a:rPr lang="en-US" dirty="0" smtClean="0">
                <a:solidFill>
                  <a:srgbClr val="0000FF"/>
                </a:solidFill>
                <a:latin typeface="Calibri (Body)"/>
                <a:cs typeface="Arial" panose="020B0604020202020204" pitchFamily="34" charset="0"/>
              </a:rPr>
              <a:t>	public abstract double </a:t>
            </a:r>
            <a:r>
              <a:rPr lang="en-US" dirty="0" err="1" smtClean="0">
                <a:solidFill>
                  <a:srgbClr val="0000FF"/>
                </a:solidFill>
                <a:latin typeface="Calibri (Body)"/>
                <a:cs typeface="Arial" panose="020B0604020202020204" pitchFamily="34" charset="0"/>
              </a:rPr>
              <a:t>calSal</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public abstract void </a:t>
            </a:r>
            <a:r>
              <a:rPr lang="en-US" dirty="0" err="1" smtClean="0">
                <a:solidFill>
                  <a:srgbClr val="0000FF"/>
                </a:solidFill>
                <a:latin typeface="Calibri (Body)"/>
                <a:cs typeface="Arial" panose="020B0604020202020204" pitchFamily="34" charset="0"/>
              </a:rPr>
              <a:t>printPaySlip</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findCLsAvailable</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findCLsConsumed</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findMLsAvailable</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findMLsConsumed</a:t>
            </a:r>
            <a:r>
              <a:rPr lang="en-US" dirty="0" smtClean="0">
                <a:solidFill>
                  <a:srgbClr val="0000FF"/>
                </a:solidFill>
                <a:latin typeface="Calibri (Body)"/>
                <a:cs typeface="Arial" panose="020B0604020202020204" pitchFamily="34" charset="0"/>
              </a:rPr>
              <a:t>() {}</a:t>
            </a:r>
          </a:p>
          <a:p>
            <a:r>
              <a:rPr lang="en-US" sz="2800" b="1" dirty="0" smtClean="0">
                <a:solidFill>
                  <a:srgbClr val="0000FF"/>
                </a:solidFill>
                <a:latin typeface="Calibri (Body)"/>
                <a:cs typeface="Arial" panose="020B0604020202020204" pitchFamily="34" charset="0"/>
              </a:rPr>
              <a:t>}</a:t>
            </a:r>
            <a:endParaRPr lang="en-US" sz="3600" b="1" dirty="0">
              <a:solidFill>
                <a:srgbClr val="0000FF"/>
              </a:solidFill>
              <a:latin typeface="Calibri (Body)"/>
              <a:cs typeface="Arial" panose="020B0604020202020204" pitchFamily="34" charset="0"/>
            </a:endParaRPr>
          </a:p>
        </p:txBody>
      </p:sp>
      <p:sp>
        <p:nvSpPr>
          <p:cNvPr id="14" name="TextBox 13">
            <a:extLst>
              <a:ext uri="{FF2B5EF4-FFF2-40B4-BE49-F238E27FC236}">
                <a16:creationId xmlns="" xmlns:a16="http://schemas.microsoft.com/office/drawing/2014/main" id="{ADC4DB27-5802-4175-A8D7-E2262C505D65}"/>
              </a:ext>
            </a:extLst>
          </p:cNvPr>
          <p:cNvSpPr txBox="1"/>
          <p:nvPr/>
        </p:nvSpPr>
        <p:spPr>
          <a:xfrm>
            <a:off x="202884" y="3718225"/>
            <a:ext cx="4580131" cy="1754326"/>
          </a:xfrm>
          <a:prstGeom prst="rect">
            <a:avLst/>
          </a:prstGeom>
          <a:noFill/>
        </p:spPr>
        <p:txBody>
          <a:bodyPr wrap="square" rtlCol="0">
            <a:spAutoFit/>
          </a:bodyPr>
          <a:lstStyle/>
          <a:p>
            <a:pPr algn="just"/>
            <a:r>
              <a:rPr lang="en-US" b="1" dirty="0" smtClean="0">
                <a:solidFill>
                  <a:srgbClr val="0000FF"/>
                </a:solidFill>
                <a:latin typeface="Calibri (Body)"/>
                <a:cs typeface="Arial" panose="020B0604020202020204" pitchFamily="34" charset="0"/>
              </a:rPr>
              <a:t>interface is declared using interface keyword</a:t>
            </a:r>
          </a:p>
          <a:p>
            <a:pPr algn="just"/>
            <a:r>
              <a:rPr lang="en-US" b="1" dirty="0" smtClean="0">
                <a:solidFill>
                  <a:srgbClr val="0000FF"/>
                </a:solidFill>
                <a:latin typeface="Calibri (Body)"/>
                <a:cs typeface="Arial" panose="020B0604020202020204" pitchFamily="34" charset="0"/>
              </a:rPr>
              <a:t>all interface variables are public static final by default</a:t>
            </a:r>
          </a:p>
          <a:p>
            <a:pPr algn="just"/>
            <a:r>
              <a:rPr lang="en-US" b="1" dirty="0" smtClean="0">
                <a:solidFill>
                  <a:srgbClr val="0000FF"/>
                </a:solidFill>
                <a:latin typeface="Calibri (Body)"/>
                <a:cs typeface="Arial" panose="020B0604020202020204" pitchFamily="34" charset="0"/>
              </a:rPr>
              <a:t>all interface methods are public abstract by default</a:t>
            </a:r>
          </a:p>
        </p:txBody>
      </p:sp>
      <p:sp>
        <p:nvSpPr>
          <p:cNvPr id="15" name="Rectangle 14"/>
          <p:cNvSpPr/>
          <p:nvPr/>
        </p:nvSpPr>
        <p:spPr>
          <a:xfrm>
            <a:off x="4862136" y="3508094"/>
            <a:ext cx="4572010" cy="1754326"/>
          </a:xfrm>
          <a:prstGeom prst="rect">
            <a:avLst/>
          </a:prstGeom>
        </p:spPr>
        <p:txBody>
          <a:bodyPr wrap="square">
            <a:spAutoFit/>
          </a:bodyPr>
          <a:lstStyle/>
          <a:p>
            <a:pPr algn="just">
              <a:buFont typeface="Wingdings" pitchFamily="2" charset="2"/>
              <a:buChar char="v"/>
            </a:pPr>
            <a:r>
              <a:rPr lang="en-US" b="1" dirty="0" smtClean="0">
                <a:solidFill>
                  <a:srgbClr val="0000FF"/>
                </a:solidFill>
                <a:latin typeface="Calibri (Body)"/>
                <a:cs typeface="Arial" panose="020B0604020202020204" pitchFamily="34" charset="0"/>
              </a:rPr>
              <a:t>abstract class is declared using abstract keyword</a:t>
            </a:r>
          </a:p>
          <a:p>
            <a:pPr algn="just">
              <a:buFont typeface="Wingdings" pitchFamily="2" charset="2"/>
              <a:buChar char="v"/>
            </a:pPr>
            <a:r>
              <a:rPr lang="en-US" b="1" dirty="0" smtClean="0">
                <a:solidFill>
                  <a:srgbClr val="0000FF"/>
                </a:solidFill>
                <a:latin typeface="Calibri (Body)"/>
                <a:cs typeface="Arial" panose="020B0604020202020204" pitchFamily="34" charset="0"/>
              </a:rPr>
              <a:t>abstract class can contain abstract methods, implemented methods, only abstract methods, only implemented methods</a:t>
            </a:r>
          </a:p>
        </p:txBody>
      </p:sp>
      <p:sp>
        <p:nvSpPr>
          <p:cNvPr id="16" name="Rectangle 15"/>
          <p:cNvSpPr/>
          <p:nvPr/>
        </p:nvSpPr>
        <p:spPr>
          <a:xfrm>
            <a:off x="3344055" y="5366142"/>
            <a:ext cx="6160429" cy="646331"/>
          </a:xfrm>
          <a:prstGeom prst="rect">
            <a:avLst/>
          </a:prstGeom>
        </p:spPr>
        <p:txBody>
          <a:bodyPr wrap="square">
            <a:spAutoFit/>
          </a:bodyPr>
          <a:lstStyle/>
          <a:p>
            <a:pPr algn="just">
              <a:buFont typeface="Wingdings" pitchFamily="2" charset="2"/>
              <a:buChar char="v"/>
            </a:pPr>
            <a:r>
              <a:rPr lang="en-US" b="1" dirty="0" smtClean="0">
                <a:solidFill>
                  <a:srgbClr val="FF0000"/>
                </a:solidFill>
                <a:latin typeface="Calibri (Body)"/>
                <a:cs typeface="Arial" panose="020B0604020202020204" pitchFamily="34" charset="0"/>
              </a:rPr>
              <a:t>Both must be sub classed and its abstract methods must be implemented in the sub class</a:t>
            </a:r>
          </a:p>
        </p:txBody>
      </p:sp>
      <p:sp>
        <p:nvSpPr>
          <p:cNvPr id="18" name="Flowchart: Punched Tape 17">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spTree>
    <p:extLst>
      <p:ext uri="{BB962C8B-B14F-4D97-AF65-F5344CB8AC3E}">
        <p14:creationId xmlns="" xmlns:p14="http://schemas.microsoft.com/office/powerpoint/2010/main" val="14416901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208740" y="831513"/>
            <a:ext cx="5404043" cy="2031325"/>
          </a:xfrm>
          <a:prstGeom prst="rect">
            <a:avLst/>
          </a:prstGeom>
          <a:noFill/>
        </p:spPr>
        <p:txBody>
          <a:bodyPr wrap="none" rtlCol="0">
            <a:spAutoFit/>
          </a:bodyPr>
          <a:lstStyle/>
          <a:p>
            <a:r>
              <a:rPr lang="en-US" b="1" dirty="0" smtClean="0">
                <a:solidFill>
                  <a:srgbClr val="0000FF"/>
                </a:solidFill>
                <a:latin typeface="Calibri (Body)"/>
                <a:cs typeface="Arial" panose="020B0604020202020204" pitchFamily="34" charset="0"/>
              </a:rPr>
              <a:t>class </a:t>
            </a:r>
            <a:r>
              <a:rPr lang="en-US" b="1" dirty="0" err="1" smtClean="0">
                <a:solidFill>
                  <a:srgbClr val="0000FF"/>
                </a:solidFill>
                <a:latin typeface="Calibri (Body)"/>
                <a:cs typeface="Arial" panose="020B0604020202020204" pitchFamily="34" charset="0"/>
              </a:rPr>
              <a:t>EmployeeImpl</a:t>
            </a:r>
            <a:r>
              <a:rPr lang="en-US" b="1" dirty="0" smtClean="0">
                <a:solidFill>
                  <a:srgbClr val="0000FF"/>
                </a:solidFill>
                <a:latin typeface="Calibri (Body)"/>
                <a:cs typeface="Arial" panose="020B0604020202020204" pitchFamily="34" charset="0"/>
              </a:rPr>
              <a:t> implements </a:t>
            </a:r>
            <a:r>
              <a:rPr lang="en-US" b="1" dirty="0" err="1" smtClean="0">
                <a:solidFill>
                  <a:srgbClr val="0000FF"/>
                </a:solidFill>
                <a:latin typeface="Calibri (Body)"/>
                <a:cs typeface="Arial" panose="020B0604020202020204" pitchFamily="34" charset="0"/>
              </a:rPr>
              <a:t>EmployeeIntf</a:t>
            </a:r>
            <a:r>
              <a:rPr lang="en-US" b="1"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smtClean="0">
                <a:solidFill>
                  <a:srgbClr val="0000FF"/>
                </a:solidFill>
                <a:latin typeface="Calibri (Body)"/>
                <a:cs typeface="Arial" panose="020B0604020202020204" pitchFamily="34" charset="0"/>
              </a:rPr>
              <a:t>double </a:t>
            </a:r>
            <a:r>
              <a:rPr lang="en-US" dirty="0" err="1" smtClean="0">
                <a:solidFill>
                  <a:srgbClr val="0000FF"/>
                </a:solidFill>
                <a:latin typeface="Calibri (Body)"/>
                <a:cs typeface="Arial" panose="020B0604020202020204" pitchFamily="34" charset="0"/>
              </a:rPr>
              <a:t>calSal</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findCLsAvailable</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findCLsConsumed</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findMLsAvailable</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findMLsConsumed</a:t>
            </a:r>
            <a:r>
              <a:rPr lang="en-US" dirty="0" smtClean="0">
                <a:solidFill>
                  <a:srgbClr val="0000FF"/>
                </a:solidFill>
                <a:latin typeface="Calibri (Body)"/>
                <a:cs typeface="Arial" panose="020B0604020202020204" pitchFamily="34" charset="0"/>
              </a:rPr>
              <a:t>() {}</a:t>
            </a:r>
          </a:p>
          <a:p>
            <a:r>
              <a:rPr lang="en-US" b="1" dirty="0" smtClean="0">
                <a:solidFill>
                  <a:srgbClr val="0000FF"/>
                </a:solidFill>
                <a:latin typeface="Calibri (Body)"/>
                <a:cs typeface="Arial" panose="020B0604020202020204" pitchFamily="34" charset="0"/>
              </a:rPr>
              <a:t>}</a:t>
            </a:r>
            <a:endParaRPr lang="en-US" b="1" dirty="0">
              <a:solidFill>
                <a:srgbClr val="0000FF"/>
              </a:solidFill>
              <a:latin typeface="Calibri (Body)"/>
              <a:cs typeface="Arial" panose="020B0604020202020204" pitchFamily="34" charset="0"/>
            </a:endParaRPr>
          </a:p>
        </p:txBody>
      </p:sp>
      <p:sp>
        <p:nvSpPr>
          <p:cNvPr id="7" name="Footer Placeholder 6">
            <a:extLst>
              <a:ext uri="{FF2B5EF4-FFF2-40B4-BE49-F238E27FC236}">
                <a16:creationId xmlns="" xmlns:a16="http://schemas.microsoft.com/office/drawing/2014/main" id="{64B7F535-AB67-F08E-E409-8FFCEEC29488}"/>
              </a:ext>
            </a:extLst>
          </p:cNvPr>
          <p:cNvSpPr>
            <a:spLocks noGrp="1"/>
          </p:cNvSpPr>
          <p:nvPr>
            <p:ph type="ftr" sz="quarter" idx="11"/>
          </p:nvPr>
        </p:nvSpPr>
        <p:spPr/>
        <p:txBody>
          <a:bodyPr/>
          <a:lstStyle/>
          <a:p>
            <a:r>
              <a:rPr lang="en-US"/>
              <a:t>Suryanarayana</a:t>
            </a:r>
          </a:p>
        </p:txBody>
      </p:sp>
      <p:sp>
        <p:nvSpPr>
          <p:cNvPr id="12" name="TextBox 11">
            <a:extLst>
              <a:ext uri="{FF2B5EF4-FFF2-40B4-BE49-F238E27FC236}">
                <a16:creationId xmlns="" xmlns:a16="http://schemas.microsoft.com/office/drawing/2014/main" id="{ADC4DB27-5802-4175-A8D7-E2262C505D65}"/>
              </a:ext>
            </a:extLst>
          </p:cNvPr>
          <p:cNvSpPr txBox="1"/>
          <p:nvPr/>
        </p:nvSpPr>
        <p:spPr>
          <a:xfrm>
            <a:off x="5953042" y="834441"/>
            <a:ext cx="4544834" cy="1477328"/>
          </a:xfrm>
          <a:prstGeom prst="rect">
            <a:avLst/>
          </a:prstGeom>
          <a:noFill/>
        </p:spPr>
        <p:txBody>
          <a:bodyPr wrap="none" rtlCol="0">
            <a:spAutoFit/>
          </a:bodyPr>
          <a:lstStyle/>
          <a:p>
            <a:r>
              <a:rPr lang="en-US" b="1" dirty="0" smtClean="0">
                <a:solidFill>
                  <a:srgbClr val="0000FF"/>
                </a:solidFill>
                <a:latin typeface="Calibri (Body)"/>
                <a:cs typeface="Arial" panose="020B0604020202020204" pitchFamily="34" charset="0"/>
              </a:rPr>
              <a:t>class </a:t>
            </a:r>
            <a:r>
              <a:rPr lang="en-US" b="1" dirty="0" err="1" smtClean="0">
                <a:solidFill>
                  <a:srgbClr val="0000FF"/>
                </a:solidFill>
                <a:latin typeface="Calibri (Body)"/>
                <a:cs typeface="Arial" panose="020B0604020202020204" pitchFamily="34" charset="0"/>
              </a:rPr>
              <a:t>EmployeeSC</a:t>
            </a:r>
            <a:r>
              <a:rPr lang="en-US" b="1" dirty="0" smtClean="0">
                <a:solidFill>
                  <a:srgbClr val="0000FF"/>
                </a:solidFill>
                <a:latin typeface="Calibri (Body)"/>
                <a:cs typeface="Arial" panose="020B0604020202020204" pitchFamily="34" charset="0"/>
              </a:rPr>
              <a:t> extends Employee  {</a:t>
            </a:r>
          </a:p>
          <a:p>
            <a:r>
              <a:rPr lang="en-US" dirty="0" smtClean="0">
                <a:solidFill>
                  <a:srgbClr val="0000FF"/>
                </a:solidFill>
                <a:latin typeface="Calibri (Body)"/>
                <a:cs typeface="Arial" panose="020B0604020202020204" pitchFamily="34" charset="0"/>
              </a:rPr>
              <a:t>	public </a:t>
            </a:r>
            <a:r>
              <a:rPr lang="en-US" dirty="0" smtClean="0">
                <a:solidFill>
                  <a:srgbClr val="0000FF"/>
                </a:solidFill>
                <a:latin typeface="Calibri (Body)"/>
                <a:cs typeface="Arial" panose="020B0604020202020204" pitchFamily="34" charset="0"/>
              </a:rPr>
              <a:t>double </a:t>
            </a:r>
            <a:r>
              <a:rPr lang="en-US" dirty="0" err="1" smtClean="0">
                <a:solidFill>
                  <a:srgbClr val="0000FF"/>
                </a:solidFill>
                <a:latin typeface="Calibri (Body)"/>
                <a:cs typeface="Arial" panose="020B0604020202020204" pitchFamily="34" charset="0"/>
              </a:rPr>
              <a:t>calSal</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a:t>
            </a:r>
            <a:r>
              <a:rPr lang="en-US" smtClean="0">
                <a:solidFill>
                  <a:srgbClr val="0000FF"/>
                </a:solidFill>
                <a:latin typeface="Calibri (Body)"/>
                <a:cs typeface="Arial" panose="020B0604020202020204" pitchFamily="34" charset="0"/>
              </a:rPr>
              <a:t>public </a:t>
            </a:r>
            <a:r>
              <a:rPr lang="en-US" smtClean="0">
                <a:solidFill>
                  <a:srgbClr val="0000FF"/>
                </a:solidFill>
                <a:latin typeface="Calibri (Body)"/>
                <a:cs typeface="Arial" panose="020B0604020202020204" pitchFamily="34" charset="0"/>
              </a:rPr>
              <a:t>void </a:t>
            </a:r>
            <a:r>
              <a:rPr lang="en-US" dirty="0" err="1" smtClean="0">
                <a:solidFill>
                  <a:srgbClr val="0000FF"/>
                </a:solidFill>
                <a:latin typeface="Calibri (Body)"/>
                <a:cs typeface="Arial" panose="020B0604020202020204" pitchFamily="34" charset="0"/>
              </a:rPr>
              <a:t>printPaySlip</a:t>
            </a:r>
            <a:r>
              <a:rPr lang="en-US"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findCLsAvailable</a:t>
            </a:r>
            <a:r>
              <a:rPr lang="en-US" dirty="0" smtClean="0">
                <a:solidFill>
                  <a:srgbClr val="0000FF"/>
                </a:solidFill>
                <a:latin typeface="Calibri (Body)"/>
                <a:cs typeface="Arial" panose="020B0604020202020204" pitchFamily="34" charset="0"/>
              </a:rPr>
              <a:t>() {}</a:t>
            </a:r>
          </a:p>
          <a:p>
            <a:r>
              <a:rPr lang="en-US" b="1" dirty="0" smtClean="0">
                <a:solidFill>
                  <a:srgbClr val="0000FF"/>
                </a:solidFill>
                <a:latin typeface="Calibri (Body)"/>
                <a:cs typeface="Arial" panose="020B0604020202020204" pitchFamily="34" charset="0"/>
              </a:rPr>
              <a:t>}</a:t>
            </a:r>
            <a:endParaRPr lang="en-US" b="1" dirty="0">
              <a:solidFill>
                <a:srgbClr val="0000FF"/>
              </a:solidFill>
              <a:latin typeface="Calibri (Body)"/>
              <a:cs typeface="Arial" panose="020B0604020202020204" pitchFamily="34" charset="0"/>
            </a:endParaRPr>
          </a:p>
        </p:txBody>
      </p:sp>
      <p:sp>
        <p:nvSpPr>
          <p:cNvPr id="14" name="TextBox 13">
            <a:extLst>
              <a:ext uri="{FF2B5EF4-FFF2-40B4-BE49-F238E27FC236}">
                <a16:creationId xmlns="" xmlns:a16="http://schemas.microsoft.com/office/drawing/2014/main" id="{ADC4DB27-5802-4175-A8D7-E2262C505D65}"/>
              </a:ext>
            </a:extLst>
          </p:cNvPr>
          <p:cNvSpPr txBox="1"/>
          <p:nvPr/>
        </p:nvSpPr>
        <p:spPr>
          <a:xfrm>
            <a:off x="202885" y="3155537"/>
            <a:ext cx="4325154" cy="1477328"/>
          </a:xfrm>
          <a:prstGeom prst="rect">
            <a:avLst/>
          </a:prstGeom>
          <a:noFill/>
        </p:spPr>
        <p:txBody>
          <a:bodyPr wrap="square" rtlCol="0">
            <a:spAutoFit/>
          </a:bodyPr>
          <a:lstStyle/>
          <a:p>
            <a:pPr algn="just"/>
            <a:r>
              <a:rPr lang="en-US" b="1" dirty="0" smtClean="0">
                <a:solidFill>
                  <a:srgbClr val="0000FF"/>
                </a:solidFill>
                <a:latin typeface="Calibri (Body)"/>
                <a:cs typeface="Arial" panose="020B0604020202020204" pitchFamily="34" charset="0"/>
              </a:rPr>
              <a:t>interface cannot be instantiated</a:t>
            </a:r>
          </a:p>
          <a:p>
            <a:pPr algn="just"/>
            <a:r>
              <a:rPr lang="en-US" b="1" dirty="0" smtClean="0">
                <a:solidFill>
                  <a:srgbClr val="0000FF"/>
                </a:solidFill>
                <a:latin typeface="Calibri (Body)"/>
                <a:cs typeface="Arial" panose="020B0604020202020204" pitchFamily="34" charset="0"/>
              </a:rPr>
              <a:t>It must be sub classed using implements keyword</a:t>
            </a:r>
          </a:p>
          <a:p>
            <a:r>
              <a:rPr lang="en-US" b="1" dirty="0" smtClean="0">
                <a:solidFill>
                  <a:srgbClr val="0000FF"/>
                </a:solidFill>
                <a:latin typeface="Calibri (Body)"/>
                <a:cs typeface="Arial" panose="020B0604020202020204" pitchFamily="34" charset="0"/>
              </a:rPr>
              <a:t>All interface methods must be implemented here</a:t>
            </a:r>
          </a:p>
        </p:txBody>
      </p:sp>
      <p:sp>
        <p:nvSpPr>
          <p:cNvPr id="15" name="Rectangle 14"/>
          <p:cNvSpPr/>
          <p:nvPr/>
        </p:nvSpPr>
        <p:spPr>
          <a:xfrm>
            <a:off x="4862136" y="2743190"/>
            <a:ext cx="4572010" cy="2308324"/>
          </a:xfrm>
          <a:prstGeom prst="rect">
            <a:avLst/>
          </a:prstGeom>
        </p:spPr>
        <p:txBody>
          <a:bodyPr wrap="square">
            <a:spAutoFit/>
          </a:bodyPr>
          <a:lstStyle/>
          <a:p>
            <a:pPr algn="just">
              <a:buFont typeface="Wingdings" pitchFamily="2" charset="2"/>
              <a:buChar char="v"/>
            </a:pPr>
            <a:r>
              <a:rPr lang="en-US" b="1" dirty="0" smtClean="0">
                <a:solidFill>
                  <a:srgbClr val="0000FF"/>
                </a:solidFill>
                <a:latin typeface="Calibri (Body)"/>
                <a:cs typeface="Arial" panose="020B0604020202020204" pitchFamily="34" charset="0"/>
              </a:rPr>
              <a:t>abstract class cannot be instantiated</a:t>
            </a:r>
          </a:p>
          <a:p>
            <a:pPr algn="just">
              <a:buFont typeface="Wingdings" pitchFamily="2" charset="2"/>
              <a:buChar char="v"/>
            </a:pPr>
            <a:r>
              <a:rPr lang="en-US" b="1" dirty="0" smtClean="0">
                <a:solidFill>
                  <a:srgbClr val="0000FF"/>
                </a:solidFill>
                <a:latin typeface="Calibri (Body)"/>
                <a:cs typeface="Arial" panose="020B0604020202020204" pitchFamily="34" charset="0"/>
              </a:rPr>
              <a:t>It can be sub classed using extends keyword</a:t>
            </a:r>
          </a:p>
          <a:p>
            <a:pPr>
              <a:buFont typeface="Wingdings" pitchFamily="2" charset="2"/>
              <a:buChar char="v"/>
            </a:pPr>
            <a:r>
              <a:rPr lang="en-US" b="1" dirty="0" smtClean="0">
                <a:solidFill>
                  <a:srgbClr val="0000FF"/>
                </a:solidFill>
                <a:latin typeface="Calibri (Body)"/>
                <a:cs typeface="Arial" panose="020B0604020202020204" pitchFamily="34" charset="0"/>
              </a:rPr>
              <a:t>abstract methods must be implemented like </a:t>
            </a:r>
            <a:r>
              <a:rPr lang="en-US" b="1" dirty="0" err="1" smtClean="0">
                <a:solidFill>
                  <a:srgbClr val="0000FF"/>
                </a:solidFill>
                <a:latin typeface="Calibri (Body)"/>
                <a:cs typeface="Arial" panose="020B0604020202020204" pitchFamily="34" charset="0"/>
              </a:rPr>
              <a:t>calSal</a:t>
            </a:r>
            <a:r>
              <a:rPr lang="en-US" b="1" dirty="0" smtClean="0">
                <a:solidFill>
                  <a:srgbClr val="0000FF"/>
                </a:solidFill>
                <a:latin typeface="Calibri (Body)"/>
                <a:cs typeface="Arial" panose="020B0604020202020204" pitchFamily="34" charset="0"/>
              </a:rPr>
              <a:t>() and </a:t>
            </a:r>
            <a:r>
              <a:rPr lang="en-US" b="1" dirty="0" err="1" smtClean="0">
                <a:solidFill>
                  <a:srgbClr val="0000FF"/>
                </a:solidFill>
                <a:latin typeface="Calibri (Body)"/>
                <a:cs typeface="Arial" panose="020B0604020202020204" pitchFamily="34" charset="0"/>
              </a:rPr>
              <a:t>printPaySlip</a:t>
            </a:r>
            <a:r>
              <a:rPr lang="en-US" b="1" dirty="0" smtClean="0">
                <a:solidFill>
                  <a:srgbClr val="0000FF"/>
                </a:solidFill>
                <a:latin typeface="Calibri (Body)"/>
                <a:cs typeface="Arial" panose="020B0604020202020204" pitchFamily="34" charset="0"/>
              </a:rPr>
              <a:t>()</a:t>
            </a:r>
          </a:p>
          <a:p>
            <a:pPr>
              <a:buFont typeface="Wingdings" pitchFamily="2" charset="2"/>
              <a:buChar char="v"/>
            </a:pPr>
            <a:r>
              <a:rPr lang="en-US" b="1" dirty="0" smtClean="0">
                <a:solidFill>
                  <a:srgbClr val="0000FF"/>
                </a:solidFill>
                <a:latin typeface="Calibri (Body)"/>
                <a:cs typeface="Arial" panose="020B0604020202020204" pitchFamily="34" charset="0"/>
              </a:rPr>
              <a:t>already implemented methods can be overridden like </a:t>
            </a:r>
            <a:r>
              <a:rPr lang="en-US" b="1" dirty="0" err="1" smtClean="0">
                <a:solidFill>
                  <a:srgbClr val="0000FF"/>
                </a:solidFill>
                <a:latin typeface="Calibri (Body)"/>
                <a:cs typeface="Arial" panose="020B0604020202020204" pitchFamily="34" charset="0"/>
              </a:rPr>
              <a:t>findCLsAvailable</a:t>
            </a:r>
            <a:endParaRPr lang="en-US" b="1" dirty="0" smtClean="0">
              <a:solidFill>
                <a:srgbClr val="0000FF"/>
              </a:solidFill>
              <a:latin typeface="Calibri (Body)"/>
              <a:cs typeface="Arial" panose="020B0604020202020204" pitchFamily="34" charset="0"/>
            </a:endParaRPr>
          </a:p>
        </p:txBody>
      </p:sp>
      <p:sp>
        <p:nvSpPr>
          <p:cNvPr id="18" name="TextBox 17">
            <a:extLst>
              <a:ext uri="{FF2B5EF4-FFF2-40B4-BE49-F238E27FC236}">
                <a16:creationId xmlns="" xmlns:a16="http://schemas.microsoft.com/office/drawing/2014/main" id="{ADC4DB27-5802-4175-A8D7-E2262C505D65}"/>
              </a:ext>
            </a:extLst>
          </p:cNvPr>
          <p:cNvSpPr txBox="1"/>
          <p:nvPr/>
        </p:nvSpPr>
        <p:spPr>
          <a:xfrm>
            <a:off x="838866" y="5242210"/>
            <a:ext cx="8199625" cy="646331"/>
          </a:xfrm>
          <a:prstGeom prst="rect">
            <a:avLst/>
          </a:prstGeom>
          <a:noFill/>
        </p:spPr>
        <p:txBody>
          <a:bodyPr wrap="square" rtlCol="0">
            <a:spAutoFit/>
          </a:bodyPr>
          <a:lstStyle/>
          <a:p>
            <a:r>
              <a:rPr lang="en-US" b="1" dirty="0" smtClean="0">
                <a:solidFill>
                  <a:srgbClr val="FF0000"/>
                </a:solidFill>
                <a:latin typeface="Calibri (Body)"/>
                <a:cs typeface="Arial" panose="020B0604020202020204" pitchFamily="34" charset="0"/>
              </a:rPr>
              <a:t>Both </a:t>
            </a:r>
            <a:r>
              <a:rPr lang="en-US" b="1" dirty="0" err="1" smtClean="0">
                <a:solidFill>
                  <a:srgbClr val="FF0000"/>
                </a:solidFill>
                <a:latin typeface="Calibri (Body)"/>
                <a:cs typeface="Arial" panose="020B0604020202020204" pitchFamily="34" charset="0"/>
              </a:rPr>
              <a:t>EmployeeImpl</a:t>
            </a:r>
            <a:r>
              <a:rPr lang="en-US" b="1" dirty="0" smtClean="0">
                <a:solidFill>
                  <a:srgbClr val="FF0000"/>
                </a:solidFill>
                <a:latin typeface="Calibri (Body)"/>
                <a:cs typeface="Arial" panose="020B0604020202020204" pitchFamily="34" charset="0"/>
              </a:rPr>
              <a:t> class and </a:t>
            </a:r>
            <a:r>
              <a:rPr lang="en-US" b="1" dirty="0" err="1" smtClean="0">
                <a:solidFill>
                  <a:srgbClr val="FF0000"/>
                </a:solidFill>
                <a:latin typeface="Calibri (Body)"/>
                <a:cs typeface="Arial" panose="020B0604020202020204" pitchFamily="34" charset="0"/>
              </a:rPr>
              <a:t>EmployeeSC</a:t>
            </a:r>
            <a:r>
              <a:rPr lang="en-US" b="1" dirty="0" smtClean="0">
                <a:solidFill>
                  <a:srgbClr val="FF0000"/>
                </a:solidFill>
                <a:latin typeface="Calibri (Body)"/>
                <a:cs typeface="Arial" panose="020B0604020202020204" pitchFamily="34" charset="0"/>
              </a:rPr>
              <a:t> can be instantiated and their methods can be called.</a:t>
            </a:r>
            <a:endParaRPr lang="en-US" b="1" dirty="0">
              <a:solidFill>
                <a:srgbClr val="FF0000"/>
              </a:solidFill>
              <a:latin typeface="Calibri (Body)"/>
              <a:cs typeface="Arial" panose="020B0604020202020204" pitchFamily="34" charset="0"/>
            </a:endParaRPr>
          </a:p>
        </p:txBody>
      </p:sp>
      <p:sp>
        <p:nvSpPr>
          <p:cNvPr id="19" name="Flowchart: Punched Tape 18">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spTree>
    <p:extLst>
      <p:ext uri="{BB962C8B-B14F-4D97-AF65-F5344CB8AC3E}">
        <p14:creationId xmlns="" xmlns:p14="http://schemas.microsoft.com/office/powerpoint/2010/main" val="14416901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 xmlns:a16="http://schemas.microsoft.com/office/drawing/2014/main"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 xmlns:a16="http://schemas.microsoft.com/office/drawing/2014/main" id="{335F4052-8E0D-4041-86F8-57187600608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 xmlns:a16="http://schemas.microsoft.com/office/drawing/2014/main"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 xmlns:a16="http://schemas.microsoft.com/office/drawing/2014/main"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 xmlns:a16="http://schemas.microsoft.com/office/drawing/2014/main"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grpSp>
      <p:sp>
        <p:nvSpPr>
          <p:cNvPr id="17" name="TextBox 16">
            <a:extLst>
              <a:ext uri="{FF2B5EF4-FFF2-40B4-BE49-F238E27FC236}">
                <a16:creationId xmlns="" xmlns:a16="http://schemas.microsoft.com/office/drawing/2014/main" id="{ADC4DB27-5802-4175-A8D7-E2262C505D65}"/>
              </a:ext>
            </a:extLst>
          </p:cNvPr>
          <p:cNvSpPr txBox="1"/>
          <p:nvPr/>
        </p:nvSpPr>
        <p:spPr>
          <a:xfrm>
            <a:off x="208740" y="831513"/>
            <a:ext cx="6038833" cy="2862322"/>
          </a:xfrm>
          <a:prstGeom prst="rect">
            <a:avLst/>
          </a:prstGeom>
          <a:noFill/>
        </p:spPr>
        <p:txBody>
          <a:bodyPr wrap="none" rtlCol="0">
            <a:spAutoFit/>
          </a:bodyPr>
          <a:lstStyle/>
          <a:p>
            <a:r>
              <a:rPr lang="en-US" b="1" dirty="0" smtClean="0">
                <a:solidFill>
                  <a:srgbClr val="0000FF"/>
                </a:solidFill>
                <a:latin typeface="Calibri (Body)"/>
                <a:cs typeface="Arial" panose="020B0604020202020204" pitchFamily="34" charset="0"/>
              </a:rPr>
              <a:t>class </a:t>
            </a:r>
            <a:r>
              <a:rPr lang="en-US" b="1" dirty="0" err="1" smtClean="0">
                <a:solidFill>
                  <a:srgbClr val="0000FF"/>
                </a:solidFill>
                <a:latin typeface="Calibri (Body)"/>
                <a:cs typeface="Arial" panose="020B0604020202020204" pitchFamily="34" charset="0"/>
              </a:rPr>
              <a:t>EIClient</a:t>
            </a:r>
            <a:r>
              <a:rPr lang="en-US" b="1"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static void main(String rags[]) {</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EmployeeImpl</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ei</a:t>
            </a:r>
            <a:r>
              <a:rPr lang="en-US" dirty="0" smtClean="0">
                <a:solidFill>
                  <a:srgbClr val="0000FF"/>
                </a:solidFill>
                <a:latin typeface="Calibri (Body)"/>
                <a:cs typeface="Arial" panose="020B0604020202020204" pitchFamily="34" charset="0"/>
              </a:rPr>
              <a:t>=new </a:t>
            </a:r>
            <a:r>
              <a:rPr lang="en-US" dirty="0" err="1" smtClean="0">
                <a:solidFill>
                  <a:srgbClr val="0000FF"/>
                </a:solidFill>
                <a:latin typeface="Calibri (Body)"/>
                <a:cs typeface="Arial" panose="020B0604020202020204" pitchFamily="34" charset="0"/>
              </a:rPr>
              <a:t>EmployeeImpl</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double </a:t>
            </a:r>
            <a:r>
              <a:rPr lang="en-US" dirty="0" err="1" smtClean="0">
                <a:solidFill>
                  <a:srgbClr val="0000FF"/>
                </a:solidFill>
                <a:latin typeface="Calibri (Body)"/>
                <a:cs typeface="Arial" panose="020B0604020202020204" pitchFamily="34" charset="0"/>
              </a:rPr>
              <a:t>sal</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ei.calSal</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clsa</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ei.findCLsAvailable</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clsc</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ei.findCLsConsumed</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mlsa</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ei.findMLsAvailable</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mlsc</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ei.findMLsConsumed</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p>
          <a:p>
            <a:r>
              <a:rPr lang="en-US" b="1" dirty="0" smtClean="0">
                <a:solidFill>
                  <a:srgbClr val="0000FF"/>
                </a:solidFill>
                <a:latin typeface="Calibri (Body)"/>
                <a:cs typeface="Arial" panose="020B0604020202020204" pitchFamily="34" charset="0"/>
              </a:rPr>
              <a:t>}</a:t>
            </a:r>
            <a:endParaRPr lang="en-US" b="1" dirty="0">
              <a:solidFill>
                <a:srgbClr val="0000FF"/>
              </a:solidFill>
              <a:latin typeface="Calibri (Body)"/>
              <a:cs typeface="Arial" panose="020B0604020202020204" pitchFamily="34" charset="0"/>
            </a:endParaRPr>
          </a:p>
        </p:txBody>
      </p:sp>
      <p:sp>
        <p:nvSpPr>
          <p:cNvPr id="7" name="Footer Placeholder 6">
            <a:extLst>
              <a:ext uri="{FF2B5EF4-FFF2-40B4-BE49-F238E27FC236}">
                <a16:creationId xmlns="" xmlns:a16="http://schemas.microsoft.com/office/drawing/2014/main" id="{64B7F535-AB67-F08E-E409-8FFCEEC29488}"/>
              </a:ext>
            </a:extLst>
          </p:cNvPr>
          <p:cNvSpPr>
            <a:spLocks noGrp="1"/>
          </p:cNvSpPr>
          <p:nvPr>
            <p:ph type="ftr" sz="quarter" idx="11"/>
          </p:nvPr>
        </p:nvSpPr>
        <p:spPr/>
        <p:txBody>
          <a:bodyPr/>
          <a:lstStyle/>
          <a:p>
            <a:r>
              <a:rPr lang="en-US"/>
              <a:t>Suryanarayana</a:t>
            </a:r>
          </a:p>
        </p:txBody>
      </p:sp>
      <p:sp>
        <p:nvSpPr>
          <p:cNvPr id="12" name="TextBox 11">
            <a:extLst>
              <a:ext uri="{FF2B5EF4-FFF2-40B4-BE49-F238E27FC236}">
                <a16:creationId xmlns="" xmlns:a16="http://schemas.microsoft.com/office/drawing/2014/main" id="{ADC4DB27-5802-4175-A8D7-E2262C505D65}"/>
              </a:ext>
            </a:extLst>
          </p:cNvPr>
          <p:cNvSpPr txBox="1"/>
          <p:nvPr/>
        </p:nvSpPr>
        <p:spPr>
          <a:xfrm>
            <a:off x="5953042" y="834441"/>
            <a:ext cx="5987537" cy="3139321"/>
          </a:xfrm>
          <a:prstGeom prst="rect">
            <a:avLst/>
          </a:prstGeom>
          <a:noFill/>
        </p:spPr>
        <p:txBody>
          <a:bodyPr wrap="none" rtlCol="0">
            <a:spAutoFit/>
          </a:bodyPr>
          <a:lstStyle/>
          <a:p>
            <a:r>
              <a:rPr lang="en-US" b="1" dirty="0" smtClean="0">
                <a:solidFill>
                  <a:srgbClr val="0000FF"/>
                </a:solidFill>
                <a:latin typeface="Calibri (Body)"/>
                <a:cs typeface="Arial" panose="020B0604020202020204" pitchFamily="34" charset="0"/>
              </a:rPr>
              <a:t>class </a:t>
            </a:r>
            <a:r>
              <a:rPr lang="en-US" b="1" dirty="0" err="1" smtClean="0">
                <a:solidFill>
                  <a:srgbClr val="0000FF"/>
                </a:solidFill>
                <a:latin typeface="Calibri (Body)"/>
                <a:cs typeface="Arial" panose="020B0604020202020204" pitchFamily="34" charset="0"/>
              </a:rPr>
              <a:t>ESCClient</a:t>
            </a:r>
            <a:r>
              <a:rPr lang="en-US" b="1" dirty="0" smtClean="0">
                <a:solidFill>
                  <a:srgbClr val="0000FF"/>
                </a:solidFill>
                <a:latin typeface="Calibri (Body)"/>
                <a:cs typeface="Arial" panose="020B0604020202020204" pitchFamily="34" charset="0"/>
              </a:rPr>
              <a:t> {</a:t>
            </a:r>
          </a:p>
          <a:p>
            <a:r>
              <a:rPr lang="en-US" dirty="0" smtClean="0">
                <a:solidFill>
                  <a:srgbClr val="0000FF"/>
                </a:solidFill>
                <a:latin typeface="Calibri (Body)"/>
                <a:cs typeface="Arial" panose="020B0604020202020204" pitchFamily="34" charset="0"/>
              </a:rPr>
              <a:t>	public static void main(String rags[]) {</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EmployeeSC</a:t>
            </a:r>
            <a:r>
              <a:rPr lang="en-US" dirty="0" smtClean="0">
                <a:solidFill>
                  <a:srgbClr val="0000FF"/>
                </a:solidFill>
                <a:latin typeface="Calibri (Body)"/>
                <a:cs typeface="Arial" panose="020B0604020202020204" pitchFamily="34" charset="0"/>
              </a:rPr>
              <a:t> esc=new </a:t>
            </a:r>
            <a:r>
              <a:rPr lang="en-US" dirty="0" err="1" smtClean="0">
                <a:solidFill>
                  <a:srgbClr val="0000FF"/>
                </a:solidFill>
                <a:latin typeface="Calibri (Body)"/>
                <a:cs typeface="Arial" panose="020B0604020202020204" pitchFamily="34" charset="0"/>
              </a:rPr>
              <a:t>EmployeeSC</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double </a:t>
            </a:r>
            <a:r>
              <a:rPr lang="en-US" dirty="0" err="1" smtClean="0">
                <a:solidFill>
                  <a:srgbClr val="0000FF"/>
                </a:solidFill>
                <a:latin typeface="Calibri (Body)"/>
                <a:cs typeface="Arial" panose="020B0604020202020204" pitchFamily="34" charset="0"/>
              </a:rPr>
              <a:t>sal</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esc.calSal</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esc.printPaySlip</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clsa</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esc.findCLsAvailable</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clsc</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esc.findCLsConsumed</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mlsa</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esc.findMLsAvailable</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int</a:t>
            </a:r>
            <a:r>
              <a:rPr lang="en-US" dirty="0" smtClean="0">
                <a:solidFill>
                  <a:srgbClr val="0000FF"/>
                </a:solidFill>
                <a:latin typeface="Calibri (Body)"/>
                <a:cs typeface="Arial" panose="020B0604020202020204" pitchFamily="34" charset="0"/>
              </a:rPr>
              <a:t> </a:t>
            </a:r>
            <a:r>
              <a:rPr lang="en-US" dirty="0" err="1" smtClean="0">
                <a:solidFill>
                  <a:srgbClr val="0000FF"/>
                </a:solidFill>
                <a:latin typeface="Calibri (Body)"/>
                <a:cs typeface="Arial" panose="020B0604020202020204" pitchFamily="34" charset="0"/>
              </a:rPr>
              <a:t>mlsc</a:t>
            </a:r>
            <a:r>
              <a:rPr lang="en-US" dirty="0" smtClean="0">
                <a:solidFill>
                  <a:srgbClr val="0000FF"/>
                </a:solidFill>
                <a:latin typeface="Calibri (Body)"/>
                <a:cs typeface="Arial" panose="020B0604020202020204" pitchFamily="34" charset="0"/>
              </a:rPr>
              <a:t>=</a:t>
            </a:r>
            <a:r>
              <a:rPr lang="en-US" dirty="0" err="1" smtClean="0">
                <a:solidFill>
                  <a:srgbClr val="0000FF"/>
                </a:solidFill>
                <a:latin typeface="Calibri (Body)"/>
                <a:cs typeface="Arial" panose="020B0604020202020204" pitchFamily="34" charset="0"/>
              </a:rPr>
              <a:t>esc.findMLsConsumed</a:t>
            </a:r>
            <a:r>
              <a:rPr lang="en-US" dirty="0" smtClean="0">
                <a:solidFill>
                  <a:srgbClr val="0000FF"/>
                </a:solidFill>
                <a:latin typeface="Calibri (Body)"/>
                <a:cs typeface="Arial" panose="020B0604020202020204" pitchFamily="34" charset="0"/>
              </a:rPr>
              <a:t>();</a:t>
            </a:r>
          </a:p>
          <a:p>
            <a:r>
              <a:rPr lang="en-US" dirty="0" smtClean="0">
                <a:solidFill>
                  <a:srgbClr val="0000FF"/>
                </a:solidFill>
                <a:latin typeface="Calibri (Body)"/>
                <a:cs typeface="Arial" panose="020B0604020202020204" pitchFamily="34" charset="0"/>
              </a:rPr>
              <a:t>	}</a:t>
            </a:r>
          </a:p>
          <a:p>
            <a:r>
              <a:rPr lang="en-US" b="1" dirty="0" smtClean="0">
                <a:solidFill>
                  <a:srgbClr val="0000FF"/>
                </a:solidFill>
                <a:latin typeface="Calibri (Body)"/>
                <a:cs typeface="Arial" panose="020B0604020202020204" pitchFamily="34" charset="0"/>
              </a:rPr>
              <a:t>}</a:t>
            </a:r>
            <a:endParaRPr lang="en-US" b="1" dirty="0">
              <a:solidFill>
                <a:srgbClr val="0000FF"/>
              </a:solidFill>
              <a:latin typeface="Calibri (Body)"/>
              <a:cs typeface="Arial" panose="020B0604020202020204" pitchFamily="34" charset="0"/>
            </a:endParaRPr>
          </a:p>
        </p:txBody>
      </p:sp>
      <p:sp>
        <p:nvSpPr>
          <p:cNvPr id="16" name="Flowchart: Punched Tape 15">
            <a:extLst>
              <a:ext uri="{FF2B5EF4-FFF2-40B4-BE49-F238E27FC236}">
                <a16:creationId xmlns="" xmlns:a16="http://schemas.microsoft.com/office/drawing/2014/main"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sz="2800" b="1" dirty="0" smtClean="0">
                <a:solidFill>
                  <a:schemeClr val="bg1"/>
                </a:solidFill>
                <a:latin typeface="Bookman Old Style" panose="02050604050505020204" pitchFamily="18" charset="0"/>
              </a:rPr>
              <a:t>Interfaces &amp; abstract classes</a:t>
            </a:r>
            <a:endParaRPr lang="en-US" b="1" dirty="0">
              <a:solidFill>
                <a:schemeClr val="bg1"/>
              </a:solidFill>
              <a:latin typeface="Bookman Old Style" panose="02050604050505020204" pitchFamily="18" charset="0"/>
            </a:endParaRPr>
          </a:p>
        </p:txBody>
      </p:sp>
    </p:spTree>
    <p:extLst>
      <p:ext uri="{BB962C8B-B14F-4D97-AF65-F5344CB8AC3E}">
        <p14:creationId xmlns="" xmlns:p14="http://schemas.microsoft.com/office/powerpoint/2010/main" val="14416901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749</TotalTime>
  <Words>546</Words>
  <Application>Microsoft Office PowerPoint</Application>
  <PresentationFormat>Custom</PresentationFormat>
  <Paragraphs>198</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45</cp:revision>
  <dcterms:created xsi:type="dcterms:W3CDTF">2021-09-13T09:22:41Z</dcterms:created>
  <dcterms:modified xsi:type="dcterms:W3CDTF">2025-11-06T09:04:33Z</dcterms:modified>
</cp:coreProperties>
</file>