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handoutMasterIdLst>
    <p:handoutMasterId r:id="rId51"/>
  </p:handoutMasterIdLst>
  <p:sldIdLst>
    <p:sldId id="270" r:id="rId2"/>
    <p:sldId id="259" r:id="rId3"/>
    <p:sldId id="260" r:id="rId4"/>
    <p:sldId id="258"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5" r:id="rId19"/>
    <p:sldId id="286" r:id="rId20"/>
    <p:sldId id="287" r:id="rId21"/>
    <p:sldId id="288" r:id="rId22"/>
    <p:sldId id="293" r:id="rId23"/>
    <p:sldId id="289" r:id="rId24"/>
    <p:sldId id="294" r:id="rId25"/>
    <p:sldId id="295"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1" r:id="rId40"/>
    <p:sldId id="312" r:id="rId41"/>
    <p:sldId id="313" r:id="rId42"/>
    <p:sldId id="314" r:id="rId43"/>
    <p:sldId id="315" r:id="rId44"/>
    <p:sldId id="316" r:id="rId45"/>
    <p:sldId id="317" r:id="rId46"/>
    <p:sldId id="290" r:id="rId47"/>
    <p:sldId id="291" r:id="rId48"/>
    <p:sldId id="292" r:id="rId4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9" d="100"/>
          <a:sy n="119" d="100"/>
        </p:scale>
        <p:origin x="-394" y="58"/>
      </p:cViewPr>
      <p:guideLst>
        <p:guide orient="horz" pos="1620"/>
        <p:guide pos="2880"/>
      </p:guideLst>
    </p:cSldViewPr>
  </p:slideViewPr>
  <p:notesTextViewPr>
    <p:cViewPr>
      <p:scale>
        <a:sx n="100" d="100"/>
        <a:sy n="100" d="100"/>
      </p:scale>
      <p:origin x="0" y="0"/>
    </p:cViewPr>
  </p:notesTextViewPr>
  <p:notesViewPr>
    <p:cSldViewPr>
      <p:cViewPr varScale="1">
        <p:scale>
          <a:sx n="54" d="100"/>
          <a:sy n="54" d="100"/>
        </p:scale>
        <p:origin x="2898"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1B59AD-8360-4A44-AE21-317E0F1C1408}" type="doc">
      <dgm:prSet loTypeId="urn:microsoft.com/office/officeart/2005/8/layout/gear1" loCatId="cycle" qsTypeId="urn:microsoft.com/office/officeart/2005/8/quickstyle/simple1" qsCatId="simple" csTypeId="urn:microsoft.com/office/officeart/2005/8/colors/accent1_2" csCatId="accent1" phldr="1"/>
      <dgm:spPr/>
    </dgm:pt>
    <dgm:pt modelId="{53DC675A-AA04-4E79-B8B3-6788DD4D7540}">
      <dgm:prSet phldrT="[Text]" custT="1"/>
      <dgm:spPr/>
      <dgm:t>
        <a:bodyPr/>
        <a:lstStyle/>
        <a:p>
          <a:r>
            <a:rPr lang="en-US" sz="700" dirty="0"/>
            <a:t>Compiler</a:t>
          </a:r>
          <a:endParaRPr lang="en-IN" sz="700" dirty="0"/>
        </a:p>
      </dgm:t>
    </dgm:pt>
    <dgm:pt modelId="{855DC849-B8E9-4A01-A12D-CD891CC79F5E}" type="parTrans" cxnId="{6DF08BD1-04BC-46BC-A99C-2169FAE84982}">
      <dgm:prSet/>
      <dgm:spPr/>
      <dgm:t>
        <a:bodyPr/>
        <a:lstStyle/>
        <a:p>
          <a:endParaRPr lang="en-IN" sz="1800"/>
        </a:p>
      </dgm:t>
    </dgm:pt>
    <dgm:pt modelId="{ACCBB0A6-D3CF-487C-B393-BF83FFD2B4E7}" type="sibTrans" cxnId="{6DF08BD1-04BC-46BC-A99C-2169FAE84982}">
      <dgm:prSet/>
      <dgm:spPr/>
      <dgm:t>
        <a:bodyPr/>
        <a:lstStyle/>
        <a:p>
          <a:endParaRPr lang="en-IN" sz="1800"/>
        </a:p>
      </dgm:t>
    </dgm:pt>
    <dgm:pt modelId="{CE649D0A-F5C2-4C44-8DB4-EE8C6A57EF1D}">
      <dgm:prSet phldrT="[Text]" custT="1"/>
      <dgm:spPr/>
      <dgm:t>
        <a:bodyPr/>
        <a:lstStyle/>
        <a:p>
          <a:r>
            <a:rPr lang="en-US" sz="700" b="1" dirty="0" err="1"/>
            <a:t>javac</a:t>
          </a:r>
          <a:endParaRPr lang="en-IN" sz="700" b="1" dirty="0"/>
        </a:p>
      </dgm:t>
    </dgm:pt>
    <dgm:pt modelId="{15C74B3C-A16D-4C4B-9DFA-102AC1AB735A}" type="parTrans" cxnId="{B2748D78-4690-4DFA-BBC7-DB1B4883E872}">
      <dgm:prSet/>
      <dgm:spPr/>
      <dgm:t>
        <a:bodyPr/>
        <a:lstStyle/>
        <a:p>
          <a:endParaRPr lang="en-IN" sz="1800"/>
        </a:p>
      </dgm:t>
    </dgm:pt>
    <dgm:pt modelId="{5D522D50-9BFE-45DB-BD12-52CC4081AB94}" type="sibTrans" cxnId="{B2748D78-4690-4DFA-BBC7-DB1B4883E872}">
      <dgm:prSet/>
      <dgm:spPr/>
      <dgm:t>
        <a:bodyPr/>
        <a:lstStyle/>
        <a:p>
          <a:endParaRPr lang="en-IN" sz="1800"/>
        </a:p>
      </dgm:t>
    </dgm:pt>
    <dgm:pt modelId="{211A72E5-3AA2-4EFE-A3A2-10BC9F8AEF4C}">
      <dgm:prSet phldrT="[Text]" custT="1"/>
      <dgm:spPr/>
      <dgm:t>
        <a:bodyPr/>
        <a:lstStyle/>
        <a:p>
          <a:r>
            <a:rPr lang="en-US" sz="700" dirty="0"/>
            <a:t>Java</a:t>
          </a:r>
          <a:endParaRPr lang="en-IN" sz="700" dirty="0"/>
        </a:p>
      </dgm:t>
    </dgm:pt>
    <dgm:pt modelId="{6B34F293-6E37-4390-900C-FF86A9F3B8BC}" type="parTrans" cxnId="{BC78E82D-2DA2-4841-8F79-F33DB37F29EA}">
      <dgm:prSet/>
      <dgm:spPr/>
      <dgm:t>
        <a:bodyPr/>
        <a:lstStyle/>
        <a:p>
          <a:endParaRPr lang="en-IN" sz="1800"/>
        </a:p>
      </dgm:t>
    </dgm:pt>
    <dgm:pt modelId="{4607088D-8272-476E-9B4D-D4003F4F51AE}" type="sibTrans" cxnId="{BC78E82D-2DA2-4841-8F79-F33DB37F29EA}">
      <dgm:prSet/>
      <dgm:spPr/>
      <dgm:t>
        <a:bodyPr/>
        <a:lstStyle/>
        <a:p>
          <a:endParaRPr lang="en-IN" sz="1800"/>
        </a:p>
      </dgm:t>
    </dgm:pt>
    <dgm:pt modelId="{B7417BF4-DFF2-4B4E-9604-0F9A45E511DE}" type="pres">
      <dgm:prSet presAssocID="{721B59AD-8360-4A44-AE21-317E0F1C1408}" presName="composite" presStyleCnt="0">
        <dgm:presLayoutVars>
          <dgm:chMax val="3"/>
          <dgm:animLvl val="lvl"/>
          <dgm:resizeHandles val="exact"/>
        </dgm:presLayoutVars>
      </dgm:prSet>
      <dgm:spPr/>
    </dgm:pt>
    <dgm:pt modelId="{B0555A07-32B0-4375-B175-2CB62942CE7A}" type="pres">
      <dgm:prSet presAssocID="{53DC675A-AA04-4E79-B8B3-6788DD4D7540}" presName="gear1" presStyleLbl="node1" presStyleIdx="0" presStyleCnt="3" custLinFactX="88448" custLinFactY="100000" custLinFactNeighborX="100000" custLinFactNeighborY="113449">
        <dgm:presLayoutVars>
          <dgm:chMax val="1"/>
          <dgm:bulletEnabled val="1"/>
        </dgm:presLayoutVars>
      </dgm:prSet>
      <dgm:spPr/>
      <dgm:t>
        <a:bodyPr/>
        <a:lstStyle/>
        <a:p>
          <a:endParaRPr lang="en-US"/>
        </a:p>
      </dgm:t>
    </dgm:pt>
    <dgm:pt modelId="{66D3A5B4-7EE5-4DAF-AF5E-D77C1D300043}" type="pres">
      <dgm:prSet presAssocID="{53DC675A-AA04-4E79-B8B3-6788DD4D7540}" presName="gear1srcNode" presStyleLbl="node1" presStyleIdx="0" presStyleCnt="3"/>
      <dgm:spPr/>
      <dgm:t>
        <a:bodyPr/>
        <a:lstStyle/>
        <a:p>
          <a:endParaRPr lang="en-US"/>
        </a:p>
      </dgm:t>
    </dgm:pt>
    <dgm:pt modelId="{A8D0CA24-8804-4211-A5F5-0BDAC5096FAA}" type="pres">
      <dgm:prSet presAssocID="{53DC675A-AA04-4E79-B8B3-6788DD4D7540}" presName="gear1dstNode" presStyleLbl="node1" presStyleIdx="0" presStyleCnt="3"/>
      <dgm:spPr/>
      <dgm:t>
        <a:bodyPr/>
        <a:lstStyle/>
        <a:p>
          <a:endParaRPr lang="en-US"/>
        </a:p>
      </dgm:t>
    </dgm:pt>
    <dgm:pt modelId="{2DFC12E8-7BD9-4611-BD6F-CEF3B233B355}" type="pres">
      <dgm:prSet presAssocID="{CE649D0A-F5C2-4C44-8DB4-EE8C6A57EF1D}" presName="gear2" presStyleLbl="node1" presStyleIdx="1" presStyleCnt="3">
        <dgm:presLayoutVars>
          <dgm:chMax val="1"/>
          <dgm:bulletEnabled val="1"/>
        </dgm:presLayoutVars>
      </dgm:prSet>
      <dgm:spPr/>
      <dgm:t>
        <a:bodyPr/>
        <a:lstStyle/>
        <a:p>
          <a:endParaRPr lang="en-US"/>
        </a:p>
      </dgm:t>
    </dgm:pt>
    <dgm:pt modelId="{C69120A5-96C1-4FF3-8176-C9BCAAED96DE}" type="pres">
      <dgm:prSet presAssocID="{CE649D0A-F5C2-4C44-8DB4-EE8C6A57EF1D}" presName="gear2srcNode" presStyleLbl="node1" presStyleIdx="1" presStyleCnt="3"/>
      <dgm:spPr/>
      <dgm:t>
        <a:bodyPr/>
        <a:lstStyle/>
        <a:p>
          <a:endParaRPr lang="en-US"/>
        </a:p>
      </dgm:t>
    </dgm:pt>
    <dgm:pt modelId="{8AC09F23-1DE1-4D42-9A2C-4C14796337EC}" type="pres">
      <dgm:prSet presAssocID="{CE649D0A-F5C2-4C44-8DB4-EE8C6A57EF1D}" presName="gear2dstNode" presStyleLbl="node1" presStyleIdx="1" presStyleCnt="3"/>
      <dgm:spPr/>
      <dgm:t>
        <a:bodyPr/>
        <a:lstStyle/>
        <a:p>
          <a:endParaRPr lang="en-US"/>
        </a:p>
      </dgm:t>
    </dgm:pt>
    <dgm:pt modelId="{9F26683C-04D6-4C60-8567-236537E12DAB}" type="pres">
      <dgm:prSet presAssocID="{211A72E5-3AA2-4EFE-A3A2-10BC9F8AEF4C}" presName="gear3" presStyleLbl="node1" presStyleIdx="2" presStyleCnt="3" custLinFactNeighborX="0"/>
      <dgm:spPr/>
      <dgm:t>
        <a:bodyPr/>
        <a:lstStyle/>
        <a:p>
          <a:endParaRPr lang="en-US"/>
        </a:p>
      </dgm:t>
    </dgm:pt>
    <dgm:pt modelId="{89224F0F-7D77-4B0D-96F8-B7802CFD9BB0}" type="pres">
      <dgm:prSet presAssocID="{211A72E5-3AA2-4EFE-A3A2-10BC9F8AEF4C}" presName="gear3tx" presStyleLbl="node1" presStyleIdx="2" presStyleCnt="3">
        <dgm:presLayoutVars>
          <dgm:chMax val="1"/>
          <dgm:bulletEnabled val="1"/>
        </dgm:presLayoutVars>
      </dgm:prSet>
      <dgm:spPr/>
      <dgm:t>
        <a:bodyPr/>
        <a:lstStyle/>
        <a:p>
          <a:endParaRPr lang="en-US"/>
        </a:p>
      </dgm:t>
    </dgm:pt>
    <dgm:pt modelId="{233377B1-1B90-47FE-9E2D-6667F770F8FC}" type="pres">
      <dgm:prSet presAssocID="{211A72E5-3AA2-4EFE-A3A2-10BC9F8AEF4C}" presName="gear3srcNode" presStyleLbl="node1" presStyleIdx="2" presStyleCnt="3"/>
      <dgm:spPr/>
      <dgm:t>
        <a:bodyPr/>
        <a:lstStyle/>
        <a:p>
          <a:endParaRPr lang="en-US"/>
        </a:p>
      </dgm:t>
    </dgm:pt>
    <dgm:pt modelId="{717F6BBF-7CD9-4D56-BDB0-C903A718E670}" type="pres">
      <dgm:prSet presAssocID="{211A72E5-3AA2-4EFE-A3A2-10BC9F8AEF4C}" presName="gear3dstNode" presStyleLbl="node1" presStyleIdx="2" presStyleCnt="3"/>
      <dgm:spPr/>
      <dgm:t>
        <a:bodyPr/>
        <a:lstStyle/>
        <a:p>
          <a:endParaRPr lang="en-US"/>
        </a:p>
      </dgm:t>
    </dgm:pt>
    <dgm:pt modelId="{49CEB8A3-F120-4232-952C-479983929CBA}" type="pres">
      <dgm:prSet presAssocID="{ACCBB0A6-D3CF-487C-B393-BF83FFD2B4E7}" presName="connector1" presStyleLbl="sibTrans2D1" presStyleIdx="0" presStyleCnt="3"/>
      <dgm:spPr/>
      <dgm:t>
        <a:bodyPr/>
        <a:lstStyle/>
        <a:p>
          <a:endParaRPr lang="en-US"/>
        </a:p>
      </dgm:t>
    </dgm:pt>
    <dgm:pt modelId="{C5D7477F-5807-4084-A5AC-08D21E0368B2}" type="pres">
      <dgm:prSet presAssocID="{5D522D50-9BFE-45DB-BD12-52CC4081AB94}" presName="connector2" presStyleLbl="sibTrans2D1" presStyleIdx="1" presStyleCnt="3"/>
      <dgm:spPr/>
      <dgm:t>
        <a:bodyPr/>
        <a:lstStyle/>
        <a:p>
          <a:endParaRPr lang="en-US"/>
        </a:p>
      </dgm:t>
    </dgm:pt>
    <dgm:pt modelId="{E136B837-2C1B-4F31-88FE-5B17FA8C6FD6}" type="pres">
      <dgm:prSet presAssocID="{4607088D-8272-476E-9B4D-D4003F4F51AE}" presName="connector3" presStyleLbl="sibTrans2D1" presStyleIdx="2" presStyleCnt="3"/>
      <dgm:spPr/>
      <dgm:t>
        <a:bodyPr/>
        <a:lstStyle/>
        <a:p>
          <a:endParaRPr lang="en-US"/>
        </a:p>
      </dgm:t>
    </dgm:pt>
  </dgm:ptLst>
  <dgm:cxnLst>
    <dgm:cxn modelId="{D4E62829-3BB8-4851-A768-A44A6A9078C3}" type="presOf" srcId="{211A72E5-3AA2-4EFE-A3A2-10BC9F8AEF4C}" destId="{233377B1-1B90-47FE-9E2D-6667F770F8FC}" srcOrd="2" destOrd="0" presId="urn:microsoft.com/office/officeart/2005/8/layout/gear1"/>
    <dgm:cxn modelId="{E464873F-020B-4A6D-AF71-FE0E5B4C1069}" type="presOf" srcId="{CE649D0A-F5C2-4C44-8DB4-EE8C6A57EF1D}" destId="{8AC09F23-1DE1-4D42-9A2C-4C14796337EC}" srcOrd="2" destOrd="0" presId="urn:microsoft.com/office/officeart/2005/8/layout/gear1"/>
    <dgm:cxn modelId="{74AC71FE-C40B-4FFE-A1E1-6571FD81B8A0}" type="presOf" srcId="{4607088D-8272-476E-9B4D-D4003F4F51AE}" destId="{E136B837-2C1B-4F31-88FE-5B17FA8C6FD6}" srcOrd="0" destOrd="0" presId="urn:microsoft.com/office/officeart/2005/8/layout/gear1"/>
    <dgm:cxn modelId="{E6FDBCB3-9545-4919-B6CF-496925F209E6}" type="presOf" srcId="{211A72E5-3AA2-4EFE-A3A2-10BC9F8AEF4C}" destId="{717F6BBF-7CD9-4D56-BDB0-C903A718E670}" srcOrd="3" destOrd="0" presId="urn:microsoft.com/office/officeart/2005/8/layout/gear1"/>
    <dgm:cxn modelId="{7B2C9B39-232E-4A33-B01B-CCBDFE5A1379}" type="presOf" srcId="{5D522D50-9BFE-45DB-BD12-52CC4081AB94}" destId="{C5D7477F-5807-4084-A5AC-08D21E0368B2}" srcOrd="0" destOrd="0" presId="urn:microsoft.com/office/officeart/2005/8/layout/gear1"/>
    <dgm:cxn modelId="{7DB9D1DB-E6E8-48B9-8545-6DD26AB37F6F}" type="presOf" srcId="{211A72E5-3AA2-4EFE-A3A2-10BC9F8AEF4C}" destId="{89224F0F-7D77-4B0D-96F8-B7802CFD9BB0}" srcOrd="1" destOrd="0" presId="urn:microsoft.com/office/officeart/2005/8/layout/gear1"/>
    <dgm:cxn modelId="{835354D2-C8DE-49B9-9E13-EE7126491F16}" type="presOf" srcId="{721B59AD-8360-4A44-AE21-317E0F1C1408}" destId="{B7417BF4-DFF2-4B4E-9604-0F9A45E511DE}" srcOrd="0" destOrd="0" presId="urn:microsoft.com/office/officeart/2005/8/layout/gear1"/>
    <dgm:cxn modelId="{6DF08BD1-04BC-46BC-A99C-2169FAE84982}" srcId="{721B59AD-8360-4A44-AE21-317E0F1C1408}" destId="{53DC675A-AA04-4E79-B8B3-6788DD4D7540}" srcOrd="0" destOrd="0" parTransId="{855DC849-B8E9-4A01-A12D-CD891CC79F5E}" sibTransId="{ACCBB0A6-D3CF-487C-B393-BF83FFD2B4E7}"/>
    <dgm:cxn modelId="{BC78E82D-2DA2-4841-8F79-F33DB37F29EA}" srcId="{721B59AD-8360-4A44-AE21-317E0F1C1408}" destId="{211A72E5-3AA2-4EFE-A3A2-10BC9F8AEF4C}" srcOrd="2" destOrd="0" parTransId="{6B34F293-6E37-4390-900C-FF86A9F3B8BC}" sibTransId="{4607088D-8272-476E-9B4D-D4003F4F51AE}"/>
    <dgm:cxn modelId="{51B12273-E980-472A-8F5F-53AC8BC4DC95}" type="presOf" srcId="{CE649D0A-F5C2-4C44-8DB4-EE8C6A57EF1D}" destId="{2DFC12E8-7BD9-4611-BD6F-CEF3B233B355}" srcOrd="0" destOrd="0" presId="urn:microsoft.com/office/officeart/2005/8/layout/gear1"/>
    <dgm:cxn modelId="{C9232CCE-7B52-40FB-AB4C-3228D61A044A}" type="presOf" srcId="{CE649D0A-F5C2-4C44-8DB4-EE8C6A57EF1D}" destId="{C69120A5-96C1-4FF3-8176-C9BCAAED96DE}" srcOrd="1" destOrd="0" presId="urn:microsoft.com/office/officeart/2005/8/layout/gear1"/>
    <dgm:cxn modelId="{CFBB4075-77FC-4EA3-A8E7-CC46AA5D3096}" type="presOf" srcId="{53DC675A-AA04-4E79-B8B3-6788DD4D7540}" destId="{A8D0CA24-8804-4211-A5F5-0BDAC5096FAA}" srcOrd="2" destOrd="0" presId="urn:microsoft.com/office/officeart/2005/8/layout/gear1"/>
    <dgm:cxn modelId="{530DA342-6D8A-4E27-A2A3-9467ED1F89A2}" type="presOf" srcId="{53DC675A-AA04-4E79-B8B3-6788DD4D7540}" destId="{B0555A07-32B0-4375-B175-2CB62942CE7A}" srcOrd="0" destOrd="0" presId="urn:microsoft.com/office/officeart/2005/8/layout/gear1"/>
    <dgm:cxn modelId="{C8A88BD1-B193-4E73-AFAF-C7CC1968657B}" type="presOf" srcId="{211A72E5-3AA2-4EFE-A3A2-10BC9F8AEF4C}" destId="{9F26683C-04D6-4C60-8567-236537E12DAB}" srcOrd="0" destOrd="0" presId="urn:microsoft.com/office/officeart/2005/8/layout/gear1"/>
    <dgm:cxn modelId="{ACB780CD-CAC6-4967-BB10-4F7B0641A142}" type="presOf" srcId="{ACCBB0A6-D3CF-487C-B393-BF83FFD2B4E7}" destId="{49CEB8A3-F120-4232-952C-479983929CBA}" srcOrd="0" destOrd="0" presId="urn:microsoft.com/office/officeart/2005/8/layout/gear1"/>
    <dgm:cxn modelId="{B2748D78-4690-4DFA-BBC7-DB1B4883E872}" srcId="{721B59AD-8360-4A44-AE21-317E0F1C1408}" destId="{CE649D0A-F5C2-4C44-8DB4-EE8C6A57EF1D}" srcOrd="1" destOrd="0" parTransId="{15C74B3C-A16D-4C4B-9DFA-102AC1AB735A}" sibTransId="{5D522D50-9BFE-45DB-BD12-52CC4081AB94}"/>
    <dgm:cxn modelId="{DDF61384-C2B5-4F9E-8877-A6079CEC55F0}" type="presOf" srcId="{53DC675A-AA04-4E79-B8B3-6788DD4D7540}" destId="{66D3A5B4-7EE5-4DAF-AF5E-D77C1D300043}" srcOrd="1" destOrd="0" presId="urn:microsoft.com/office/officeart/2005/8/layout/gear1"/>
    <dgm:cxn modelId="{318A2E82-BC28-4EF7-BB5E-78016ACBF229}" type="presParOf" srcId="{B7417BF4-DFF2-4B4E-9604-0F9A45E511DE}" destId="{B0555A07-32B0-4375-B175-2CB62942CE7A}" srcOrd="0" destOrd="0" presId="urn:microsoft.com/office/officeart/2005/8/layout/gear1"/>
    <dgm:cxn modelId="{4FE76612-0EC0-4FAC-A0F3-448E7557918B}" type="presParOf" srcId="{B7417BF4-DFF2-4B4E-9604-0F9A45E511DE}" destId="{66D3A5B4-7EE5-4DAF-AF5E-D77C1D300043}" srcOrd="1" destOrd="0" presId="urn:microsoft.com/office/officeart/2005/8/layout/gear1"/>
    <dgm:cxn modelId="{181AE8F3-ED44-4AE5-87F8-035AD11865C0}" type="presParOf" srcId="{B7417BF4-DFF2-4B4E-9604-0F9A45E511DE}" destId="{A8D0CA24-8804-4211-A5F5-0BDAC5096FAA}" srcOrd="2" destOrd="0" presId="urn:microsoft.com/office/officeart/2005/8/layout/gear1"/>
    <dgm:cxn modelId="{DF345443-7999-4FD4-874F-E1B88C3EA1A9}" type="presParOf" srcId="{B7417BF4-DFF2-4B4E-9604-0F9A45E511DE}" destId="{2DFC12E8-7BD9-4611-BD6F-CEF3B233B355}" srcOrd="3" destOrd="0" presId="urn:microsoft.com/office/officeart/2005/8/layout/gear1"/>
    <dgm:cxn modelId="{9A892DB7-C788-4748-8165-155359B8AF8D}" type="presParOf" srcId="{B7417BF4-DFF2-4B4E-9604-0F9A45E511DE}" destId="{C69120A5-96C1-4FF3-8176-C9BCAAED96DE}" srcOrd="4" destOrd="0" presId="urn:microsoft.com/office/officeart/2005/8/layout/gear1"/>
    <dgm:cxn modelId="{549FA26A-51FC-44EB-B33C-D25C9EB3968D}" type="presParOf" srcId="{B7417BF4-DFF2-4B4E-9604-0F9A45E511DE}" destId="{8AC09F23-1DE1-4D42-9A2C-4C14796337EC}" srcOrd="5" destOrd="0" presId="urn:microsoft.com/office/officeart/2005/8/layout/gear1"/>
    <dgm:cxn modelId="{D7D09CD2-542D-4B9C-98B4-33580F1BF32D}" type="presParOf" srcId="{B7417BF4-DFF2-4B4E-9604-0F9A45E511DE}" destId="{9F26683C-04D6-4C60-8567-236537E12DAB}" srcOrd="6" destOrd="0" presId="urn:microsoft.com/office/officeart/2005/8/layout/gear1"/>
    <dgm:cxn modelId="{1DFD6802-A833-4A65-B080-03199C16B971}" type="presParOf" srcId="{B7417BF4-DFF2-4B4E-9604-0F9A45E511DE}" destId="{89224F0F-7D77-4B0D-96F8-B7802CFD9BB0}" srcOrd="7" destOrd="0" presId="urn:microsoft.com/office/officeart/2005/8/layout/gear1"/>
    <dgm:cxn modelId="{280827F6-B6DE-4EB6-8B39-924BD731EFA2}" type="presParOf" srcId="{B7417BF4-DFF2-4B4E-9604-0F9A45E511DE}" destId="{233377B1-1B90-47FE-9E2D-6667F770F8FC}" srcOrd="8" destOrd="0" presId="urn:microsoft.com/office/officeart/2005/8/layout/gear1"/>
    <dgm:cxn modelId="{80D431B2-D247-47FF-94D1-FF8D6346FE08}" type="presParOf" srcId="{B7417BF4-DFF2-4B4E-9604-0F9A45E511DE}" destId="{717F6BBF-7CD9-4D56-BDB0-C903A718E670}" srcOrd="9" destOrd="0" presId="urn:microsoft.com/office/officeart/2005/8/layout/gear1"/>
    <dgm:cxn modelId="{39B10C1F-363C-41FA-AF8F-7B395085E668}" type="presParOf" srcId="{B7417BF4-DFF2-4B4E-9604-0F9A45E511DE}" destId="{49CEB8A3-F120-4232-952C-479983929CBA}" srcOrd="10" destOrd="0" presId="urn:microsoft.com/office/officeart/2005/8/layout/gear1"/>
    <dgm:cxn modelId="{6D29273E-D42F-46E6-AAF7-BAE230C58986}" type="presParOf" srcId="{B7417BF4-DFF2-4B4E-9604-0F9A45E511DE}" destId="{C5D7477F-5807-4084-A5AC-08D21E0368B2}" srcOrd="11" destOrd="0" presId="urn:microsoft.com/office/officeart/2005/8/layout/gear1"/>
    <dgm:cxn modelId="{8F4B2624-D45F-44CF-92FA-2C5510914E20}" type="presParOf" srcId="{B7417BF4-DFF2-4B4E-9604-0F9A45E511DE}" destId="{E136B837-2C1B-4F31-88FE-5B17FA8C6FD6}"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56814D-5EDC-4DA4-AC3D-C706697FF643}"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IN"/>
        </a:p>
      </dgm:t>
    </dgm:pt>
    <dgm:pt modelId="{DEA955B6-1F80-484B-9CCC-628524CEA63D}">
      <dgm:prSet phldrT="[Text]"/>
      <dgm:spPr/>
      <dgm:t>
        <a:bodyPr/>
        <a:lstStyle/>
        <a:p>
          <a:r>
            <a:rPr lang="en-US" dirty="0"/>
            <a:t>Java</a:t>
          </a:r>
          <a:endParaRPr lang="en-IN" dirty="0"/>
        </a:p>
      </dgm:t>
    </dgm:pt>
    <dgm:pt modelId="{842B1880-6CD1-48A3-83CE-E03CF49EDE13}" type="parTrans" cxnId="{CD27356C-685C-4034-8FF6-8EC81E5B12EA}">
      <dgm:prSet/>
      <dgm:spPr/>
      <dgm:t>
        <a:bodyPr/>
        <a:lstStyle/>
        <a:p>
          <a:endParaRPr lang="en-IN"/>
        </a:p>
      </dgm:t>
    </dgm:pt>
    <dgm:pt modelId="{8C904EAD-53A4-4981-AFCE-1362F4E705A2}" type="sibTrans" cxnId="{CD27356C-685C-4034-8FF6-8EC81E5B12EA}">
      <dgm:prSet/>
      <dgm:spPr/>
      <dgm:t>
        <a:bodyPr/>
        <a:lstStyle/>
        <a:p>
          <a:endParaRPr lang="en-IN"/>
        </a:p>
      </dgm:t>
    </dgm:pt>
    <dgm:pt modelId="{CCFF98A4-4033-44FB-90F9-F2CF49ACAAB8}">
      <dgm:prSet phldrT="[Text]"/>
      <dgm:spPr/>
      <dgm:t>
        <a:bodyPr/>
        <a:lstStyle/>
        <a:p>
          <a:r>
            <a:rPr lang="en-US" dirty="0"/>
            <a:t>Interpreter</a:t>
          </a:r>
          <a:endParaRPr lang="en-IN" dirty="0"/>
        </a:p>
      </dgm:t>
    </dgm:pt>
    <dgm:pt modelId="{614B51CA-F013-44F4-9B28-39722E005D88}" type="parTrans" cxnId="{EA77AB03-AB8C-40FC-961D-89B36D6D3C43}">
      <dgm:prSet/>
      <dgm:spPr/>
      <dgm:t>
        <a:bodyPr/>
        <a:lstStyle/>
        <a:p>
          <a:endParaRPr lang="en-IN"/>
        </a:p>
      </dgm:t>
    </dgm:pt>
    <dgm:pt modelId="{B226BE17-727F-4084-B45E-EEBE99230ECF}" type="sibTrans" cxnId="{EA77AB03-AB8C-40FC-961D-89B36D6D3C43}">
      <dgm:prSet/>
      <dgm:spPr/>
      <dgm:t>
        <a:bodyPr/>
        <a:lstStyle/>
        <a:p>
          <a:endParaRPr lang="en-IN"/>
        </a:p>
      </dgm:t>
    </dgm:pt>
    <dgm:pt modelId="{C3D2A4D5-8EDB-40F0-98A7-C465BB2D5641}">
      <dgm:prSet phldrT="[Text]" phldr="1"/>
      <dgm:spPr/>
      <dgm:t>
        <a:bodyPr/>
        <a:lstStyle/>
        <a:p>
          <a:endParaRPr lang="en-IN"/>
        </a:p>
      </dgm:t>
    </dgm:pt>
    <dgm:pt modelId="{C035465E-0693-49C0-9967-9225D93F98A0}" type="parTrans" cxnId="{8157E522-2F9E-4CD6-9240-21E5BE5FB6F1}">
      <dgm:prSet/>
      <dgm:spPr/>
      <dgm:t>
        <a:bodyPr/>
        <a:lstStyle/>
        <a:p>
          <a:endParaRPr lang="en-IN"/>
        </a:p>
      </dgm:t>
    </dgm:pt>
    <dgm:pt modelId="{CABD5C95-F506-40D5-AF9E-77C006EA2E51}" type="sibTrans" cxnId="{8157E522-2F9E-4CD6-9240-21E5BE5FB6F1}">
      <dgm:prSet/>
      <dgm:spPr/>
      <dgm:t>
        <a:bodyPr/>
        <a:lstStyle/>
        <a:p>
          <a:endParaRPr lang="en-IN"/>
        </a:p>
      </dgm:t>
    </dgm:pt>
    <dgm:pt modelId="{7EE00A1A-DD19-4786-8D3F-6E3E0772CE37}">
      <dgm:prSet phldrT="[Text]"/>
      <dgm:spPr/>
      <dgm:t>
        <a:bodyPr/>
        <a:lstStyle/>
        <a:p>
          <a:r>
            <a:rPr lang="en-US" dirty="0"/>
            <a:t>java.exe</a:t>
          </a:r>
          <a:endParaRPr lang="en-IN" dirty="0"/>
        </a:p>
      </dgm:t>
    </dgm:pt>
    <dgm:pt modelId="{65ED2680-A114-4E6A-8195-C9978FFC186F}" type="parTrans" cxnId="{4843BB82-58E3-45AE-891D-A63CA4CF1EE3}">
      <dgm:prSet/>
      <dgm:spPr/>
      <dgm:t>
        <a:bodyPr/>
        <a:lstStyle/>
        <a:p>
          <a:endParaRPr lang="en-IN"/>
        </a:p>
      </dgm:t>
    </dgm:pt>
    <dgm:pt modelId="{B1DA562A-6AB9-4D3B-9F82-6915267B5F2A}" type="sibTrans" cxnId="{4843BB82-58E3-45AE-891D-A63CA4CF1EE3}">
      <dgm:prSet/>
      <dgm:spPr/>
      <dgm:t>
        <a:bodyPr/>
        <a:lstStyle/>
        <a:p>
          <a:endParaRPr lang="en-IN"/>
        </a:p>
      </dgm:t>
    </dgm:pt>
    <dgm:pt modelId="{5D43DFEB-C646-4686-8654-19EF126EBA69}" type="pres">
      <dgm:prSet presAssocID="{A256814D-5EDC-4DA4-AC3D-C706697FF643}" presName="Name0" presStyleCnt="0">
        <dgm:presLayoutVars>
          <dgm:chMax val="4"/>
          <dgm:resizeHandles val="exact"/>
        </dgm:presLayoutVars>
      </dgm:prSet>
      <dgm:spPr/>
      <dgm:t>
        <a:bodyPr/>
        <a:lstStyle/>
        <a:p>
          <a:endParaRPr lang="en-US"/>
        </a:p>
      </dgm:t>
    </dgm:pt>
    <dgm:pt modelId="{AA36B522-F16A-44DF-A5BD-FA2A2FDFD64E}" type="pres">
      <dgm:prSet presAssocID="{A256814D-5EDC-4DA4-AC3D-C706697FF643}" presName="ellipse" presStyleLbl="trBgShp" presStyleIdx="0" presStyleCnt="1"/>
      <dgm:spPr/>
    </dgm:pt>
    <dgm:pt modelId="{CBD24393-881C-489A-BE44-CB63A75307D4}" type="pres">
      <dgm:prSet presAssocID="{A256814D-5EDC-4DA4-AC3D-C706697FF643}" presName="arrow1" presStyleLbl="fgShp" presStyleIdx="0" presStyleCnt="1"/>
      <dgm:spPr/>
    </dgm:pt>
    <dgm:pt modelId="{19B8F9F6-F0DF-438B-89DA-5BB20B7686B4}" type="pres">
      <dgm:prSet presAssocID="{A256814D-5EDC-4DA4-AC3D-C706697FF643}" presName="rectangle" presStyleLbl="revTx" presStyleIdx="0" presStyleCnt="1" custLinFactNeighborX="-1183">
        <dgm:presLayoutVars>
          <dgm:bulletEnabled val="1"/>
        </dgm:presLayoutVars>
      </dgm:prSet>
      <dgm:spPr/>
      <dgm:t>
        <a:bodyPr/>
        <a:lstStyle/>
        <a:p>
          <a:endParaRPr lang="en-US"/>
        </a:p>
      </dgm:t>
    </dgm:pt>
    <dgm:pt modelId="{B6DEB88B-5976-4BFD-A7E5-27331AEA048F}" type="pres">
      <dgm:prSet presAssocID="{CCFF98A4-4033-44FB-90F9-F2CF49ACAAB8}" presName="item1" presStyleLbl="node1" presStyleIdx="0" presStyleCnt="3">
        <dgm:presLayoutVars>
          <dgm:bulletEnabled val="1"/>
        </dgm:presLayoutVars>
      </dgm:prSet>
      <dgm:spPr/>
      <dgm:t>
        <a:bodyPr/>
        <a:lstStyle/>
        <a:p>
          <a:endParaRPr lang="en-US"/>
        </a:p>
      </dgm:t>
    </dgm:pt>
    <dgm:pt modelId="{B7DDD19B-29FF-4816-A696-8812BAA37EA6}" type="pres">
      <dgm:prSet presAssocID="{C3D2A4D5-8EDB-40F0-98A7-C465BB2D5641}" presName="item2" presStyleLbl="node1" presStyleIdx="1" presStyleCnt="3">
        <dgm:presLayoutVars>
          <dgm:bulletEnabled val="1"/>
        </dgm:presLayoutVars>
      </dgm:prSet>
      <dgm:spPr/>
      <dgm:t>
        <a:bodyPr/>
        <a:lstStyle/>
        <a:p>
          <a:endParaRPr lang="en-US"/>
        </a:p>
      </dgm:t>
    </dgm:pt>
    <dgm:pt modelId="{3D2BB68F-0FA7-48D7-9A66-2AE89D7B2DA3}" type="pres">
      <dgm:prSet presAssocID="{7EE00A1A-DD19-4786-8D3F-6E3E0772CE37}" presName="item3" presStyleLbl="node1" presStyleIdx="2" presStyleCnt="3">
        <dgm:presLayoutVars>
          <dgm:bulletEnabled val="1"/>
        </dgm:presLayoutVars>
      </dgm:prSet>
      <dgm:spPr/>
      <dgm:t>
        <a:bodyPr/>
        <a:lstStyle/>
        <a:p>
          <a:endParaRPr lang="en-US"/>
        </a:p>
      </dgm:t>
    </dgm:pt>
    <dgm:pt modelId="{186C1833-37DC-4DA8-A234-36F10FD3C754}" type="pres">
      <dgm:prSet presAssocID="{A256814D-5EDC-4DA4-AC3D-C706697FF643}" presName="funnel" presStyleLbl="trAlignAcc1" presStyleIdx="0" presStyleCnt="1" custScaleX="129901" custScaleY="166474" custLinFactNeighborX="-6478" custLinFactNeighborY="-4191"/>
      <dgm:spPr/>
    </dgm:pt>
  </dgm:ptLst>
  <dgm:cxnLst>
    <dgm:cxn modelId="{8DBFBFEB-1972-4B98-B1E8-E2561CF9D403}" type="presOf" srcId="{A256814D-5EDC-4DA4-AC3D-C706697FF643}" destId="{5D43DFEB-C646-4686-8654-19EF126EBA69}" srcOrd="0" destOrd="0" presId="urn:microsoft.com/office/officeart/2005/8/layout/funnel1"/>
    <dgm:cxn modelId="{58123405-F106-4E79-82F6-ECA8AE3760B5}" type="presOf" srcId="{C3D2A4D5-8EDB-40F0-98A7-C465BB2D5641}" destId="{B6DEB88B-5976-4BFD-A7E5-27331AEA048F}" srcOrd="0" destOrd="0" presId="urn:microsoft.com/office/officeart/2005/8/layout/funnel1"/>
    <dgm:cxn modelId="{FBC40788-72ED-4CE3-BF67-42D418B264C3}" type="presOf" srcId="{DEA955B6-1F80-484B-9CCC-628524CEA63D}" destId="{3D2BB68F-0FA7-48D7-9A66-2AE89D7B2DA3}" srcOrd="0" destOrd="0" presId="urn:microsoft.com/office/officeart/2005/8/layout/funnel1"/>
    <dgm:cxn modelId="{CD27356C-685C-4034-8FF6-8EC81E5B12EA}" srcId="{A256814D-5EDC-4DA4-AC3D-C706697FF643}" destId="{DEA955B6-1F80-484B-9CCC-628524CEA63D}" srcOrd="0" destOrd="0" parTransId="{842B1880-6CD1-48A3-83CE-E03CF49EDE13}" sibTransId="{8C904EAD-53A4-4981-AFCE-1362F4E705A2}"/>
    <dgm:cxn modelId="{EA77AB03-AB8C-40FC-961D-89B36D6D3C43}" srcId="{A256814D-5EDC-4DA4-AC3D-C706697FF643}" destId="{CCFF98A4-4033-44FB-90F9-F2CF49ACAAB8}" srcOrd="1" destOrd="0" parTransId="{614B51CA-F013-44F4-9B28-39722E005D88}" sibTransId="{B226BE17-727F-4084-B45E-EEBE99230ECF}"/>
    <dgm:cxn modelId="{8157E522-2F9E-4CD6-9240-21E5BE5FB6F1}" srcId="{A256814D-5EDC-4DA4-AC3D-C706697FF643}" destId="{C3D2A4D5-8EDB-40F0-98A7-C465BB2D5641}" srcOrd="2" destOrd="0" parTransId="{C035465E-0693-49C0-9967-9225D93F98A0}" sibTransId="{CABD5C95-F506-40D5-AF9E-77C006EA2E51}"/>
    <dgm:cxn modelId="{4843BB82-58E3-45AE-891D-A63CA4CF1EE3}" srcId="{A256814D-5EDC-4DA4-AC3D-C706697FF643}" destId="{7EE00A1A-DD19-4786-8D3F-6E3E0772CE37}" srcOrd="3" destOrd="0" parTransId="{65ED2680-A114-4E6A-8195-C9978FFC186F}" sibTransId="{B1DA562A-6AB9-4D3B-9F82-6915267B5F2A}"/>
    <dgm:cxn modelId="{B11701AF-E923-4C5B-8F4F-9CB550DDD4E4}" type="presOf" srcId="{CCFF98A4-4033-44FB-90F9-F2CF49ACAAB8}" destId="{B7DDD19B-29FF-4816-A696-8812BAA37EA6}" srcOrd="0" destOrd="0" presId="urn:microsoft.com/office/officeart/2005/8/layout/funnel1"/>
    <dgm:cxn modelId="{935F5AEE-55F8-419C-8778-D57816B9C687}" type="presOf" srcId="{7EE00A1A-DD19-4786-8D3F-6E3E0772CE37}" destId="{19B8F9F6-F0DF-438B-89DA-5BB20B7686B4}" srcOrd="0" destOrd="0" presId="urn:microsoft.com/office/officeart/2005/8/layout/funnel1"/>
    <dgm:cxn modelId="{E4B5C337-836A-4BF0-AE4B-E4110A0E1EBD}" type="presParOf" srcId="{5D43DFEB-C646-4686-8654-19EF126EBA69}" destId="{AA36B522-F16A-44DF-A5BD-FA2A2FDFD64E}" srcOrd="0" destOrd="0" presId="urn:microsoft.com/office/officeart/2005/8/layout/funnel1"/>
    <dgm:cxn modelId="{6224BDF6-4188-4E61-BCEC-BE954623D6D2}" type="presParOf" srcId="{5D43DFEB-C646-4686-8654-19EF126EBA69}" destId="{CBD24393-881C-489A-BE44-CB63A75307D4}" srcOrd="1" destOrd="0" presId="urn:microsoft.com/office/officeart/2005/8/layout/funnel1"/>
    <dgm:cxn modelId="{CACE1122-767D-4748-AD4F-67903C7BA461}" type="presParOf" srcId="{5D43DFEB-C646-4686-8654-19EF126EBA69}" destId="{19B8F9F6-F0DF-438B-89DA-5BB20B7686B4}" srcOrd="2" destOrd="0" presId="urn:microsoft.com/office/officeart/2005/8/layout/funnel1"/>
    <dgm:cxn modelId="{3776B5D9-00FE-4BE5-B80C-CBD8B92C6C2F}" type="presParOf" srcId="{5D43DFEB-C646-4686-8654-19EF126EBA69}" destId="{B6DEB88B-5976-4BFD-A7E5-27331AEA048F}" srcOrd="3" destOrd="0" presId="urn:microsoft.com/office/officeart/2005/8/layout/funnel1"/>
    <dgm:cxn modelId="{0BD9B618-5E01-460B-9DD2-E68C2D76FCE9}" type="presParOf" srcId="{5D43DFEB-C646-4686-8654-19EF126EBA69}" destId="{B7DDD19B-29FF-4816-A696-8812BAA37EA6}" srcOrd="4" destOrd="0" presId="urn:microsoft.com/office/officeart/2005/8/layout/funnel1"/>
    <dgm:cxn modelId="{F38471FC-B92F-4531-8373-58FA304A2DE8}" type="presParOf" srcId="{5D43DFEB-C646-4686-8654-19EF126EBA69}" destId="{3D2BB68F-0FA7-48D7-9A66-2AE89D7B2DA3}" srcOrd="5" destOrd="0" presId="urn:microsoft.com/office/officeart/2005/8/layout/funnel1"/>
    <dgm:cxn modelId="{90166EF6-46BC-4FF7-9C47-E40649A1A837}" type="presParOf" srcId="{5D43DFEB-C646-4686-8654-19EF126EBA69}" destId="{186C1833-37DC-4DA8-A234-36F10FD3C754}" srcOrd="6" destOrd="0" presId="urn:microsoft.com/office/officeart/2005/8/layout/funne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F75FDB-C4E9-434D-B1BB-C5F7D1B32E41}"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IN"/>
        </a:p>
      </dgm:t>
    </dgm:pt>
    <dgm:pt modelId="{3FCEF419-4808-40BD-AB03-6AB29B143CF8}">
      <dgm:prSet phldrT="[Text]" phldr="1" custT="1"/>
      <dgm:spPr/>
      <dgm:t>
        <a:bodyPr/>
        <a:lstStyle/>
        <a:p>
          <a:pPr algn="ctr"/>
          <a:endParaRPr lang="en-IN" sz="1100" dirty="0"/>
        </a:p>
      </dgm:t>
    </dgm:pt>
    <dgm:pt modelId="{5A099468-C82F-4202-8FBE-3216F60290A7}" type="parTrans" cxnId="{CA71EF14-DA69-4A5D-9222-788EEF1C7F27}">
      <dgm:prSet/>
      <dgm:spPr/>
      <dgm:t>
        <a:bodyPr/>
        <a:lstStyle/>
        <a:p>
          <a:pPr algn="ctr"/>
          <a:endParaRPr lang="en-IN" sz="1800"/>
        </a:p>
      </dgm:t>
    </dgm:pt>
    <dgm:pt modelId="{98BAC319-125C-4836-892E-02E3D06E464F}" type="sibTrans" cxnId="{CA71EF14-DA69-4A5D-9222-788EEF1C7F27}">
      <dgm:prSet/>
      <dgm:spPr/>
      <dgm:t>
        <a:bodyPr/>
        <a:lstStyle/>
        <a:p>
          <a:pPr algn="ctr"/>
          <a:endParaRPr lang="en-IN" sz="1800"/>
        </a:p>
      </dgm:t>
    </dgm:pt>
    <dgm:pt modelId="{4DFEA24D-9B8D-4AA5-9C31-17FB8242EA48}">
      <dgm:prSet phldrT="[Text]" custT="1"/>
      <dgm:spPr/>
      <dgm:t>
        <a:bodyPr/>
        <a:lstStyle/>
        <a:p>
          <a:pPr algn="ctr">
            <a:buNone/>
          </a:pPr>
          <a:r>
            <a:rPr lang="en-US" sz="1600" dirty="0"/>
            <a:t>Windows OS</a:t>
          </a:r>
          <a:endParaRPr lang="en-IN" sz="1600" dirty="0"/>
        </a:p>
      </dgm:t>
    </dgm:pt>
    <dgm:pt modelId="{F1C543FF-A6D8-4CA3-8E3B-4FF2724304AB}" type="parTrans" cxnId="{FA5AB71E-F39F-4997-9F44-AD0BFCC7824F}">
      <dgm:prSet/>
      <dgm:spPr/>
      <dgm:t>
        <a:bodyPr/>
        <a:lstStyle/>
        <a:p>
          <a:pPr algn="ctr"/>
          <a:endParaRPr lang="en-IN" sz="1800"/>
        </a:p>
      </dgm:t>
    </dgm:pt>
    <dgm:pt modelId="{DBF4FB2A-FDDF-4E59-A426-9AF61CEA6921}" type="sibTrans" cxnId="{FA5AB71E-F39F-4997-9F44-AD0BFCC7824F}">
      <dgm:prSet/>
      <dgm:spPr/>
      <dgm:t>
        <a:bodyPr/>
        <a:lstStyle/>
        <a:p>
          <a:pPr algn="ctr"/>
          <a:endParaRPr lang="en-IN" sz="1800"/>
        </a:p>
      </dgm:t>
    </dgm:pt>
    <dgm:pt modelId="{5E523FDE-804C-4EA8-8401-88988AA0ED17}">
      <dgm:prSet phldrT="[Text]" phldr="1" custT="1"/>
      <dgm:spPr/>
      <dgm:t>
        <a:bodyPr/>
        <a:lstStyle/>
        <a:p>
          <a:pPr algn="ctr"/>
          <a:endParaRPr lang="en-IN" sz="1100" dirty="0"/>
        </a:p>
      </dgm:t>
    </dgm:pt>
    <dgm:pt modelId="{6CCD077E-632E-40A5-81AD-05B66553D485}" type="parTrans" cxnId="{7C2FC318-8D13-4735-8C20-69974086EADF}">
      <dgm:prSet/>
      <dgm:spPr/>
      <dgm:t>
        <a:bodyPr/>
        <a:lstStyle/>
        <a:p>
          <a:pPr algn="ctr"/>
          <a:endParaRPr lang="en-IN" sz="1800"/>
        </a:p>
      </dgm:t>
    </dgm:pt>
    <dgm:pt modelId="{3EC9F733-E63F-4034-B673-3A1560B39ACA}" type="sibTrans" cxnId="{7C2FC318-8D13-4735-8C20-69974086EADF}">
      <dgm:prSet/>
      <dgm:spPr/>
      <dgm:t>
        <a:bodyPr/>
        <a:lstStyle/>
        <a:p>
          <a:pPr algn="ctr"/>
          <a:endParaRPr lang="en-IN" sz="1800"/>
        </a:p>
      </dgm:t>
    </dgm:pt>
    <dgm:pt modelId="{E0CFC24E-86F1-47D7-89F6-50670E301BDE}">
      <dgm:prSet phldrT="[Text]" custT="1"/>
      <dgm:spPr/>
      <dgm:t>
        <a:bodyPr/>
        <a:lstStyle/>
        <a:p>
          <a:pPr algn="ctr">
            <a:buNone/>
          </a:pPr>
          <a:r>
            <a:rPr lang="en-US" sz="1600" dirty="0"/>
            <a:t>Linux OS</a:t>
          </a:r>
          <a:endParaRPr lang="en-IN" sz="1600" dirty="0"/>
        </a:p>
      </dgm:t>
    </dgm:pt>
    <dgm:pt modelId="{58494A45-699C-4FA3-80E2-80C9C54ED05C}" type="parTrans" cxnId="{2D2BDABA-FFDB-4B32-AFE5-015E590211BC}">
      <dgm:prSet/>
      <dgm:spPr/>
      <dgm:t>
        <a:bodyPr/>
        <a:lstStyle/>
        <a:p>
          <a:pPr algn="ctr"/>
          <a:endParaRPr lang="en-IN" sz="1800"/>
        </a:p>
      </dgm:t>
    </dgm:pt>
    <dgm:pt modelId="{BF348B9E-2E8C-4E8E-9BF8-0ABEFE9DAFDF}" type="sibTrans" cxnId="{2D2BDABA-FFDB-4B32-AFE5-015E590211BC}">
      <dgm:prSet/>
      <dgm:spPr/>
      <dgm:t>
        <a:bodyPr/>
        <a:lstStyle/>
        <a:p>
          <a:pPr algn="ctr"/>
          <a:endParaRPr lang="en-IN" sz="1800"/>
        </a:p>
      </dgm:t>
    </dgm:pt>
    <dgm:pt modelId="{CF64881F-27D1-4AA8-B1A4-406B339761A3}">
      <dgm:prSet phldrT="[Text]" phldr="1" custT="1"/>
      <dgm:spPr/>
      <dgm:t>
        <a:bodyPr/>
        <a:lstStyle/>
        <a:p>
          <a:pPr algn="ctr"/>
          <a:endParaRPr lang="en-IN" sz="1100"/>
        </a:p>
      </dgm:t>
    </dgm:pt>
    <dgm:pt modelId="{95F1A1FA-7B77-4BDD-9841-9A3139691C03}" type="parTrans" cxnId="{9A5E4246-A428-42B5-911B-D6CC85D3536D}">
      <dgm:prSet/>
      <dgm:spPr/>
      <dgm:t>
        <a:bodyPr/>
        <a:lstStyle/>
        <a:p>
          <a:pPr algn="ctr"/>
          <a:endParaRPr lang="en-IN" sz="1800"/>
        </a:p>
      </dgm:t>
    </dgm:pt>
    <dgm:pt modelId="{9B76238B-DEF9-4508-827A-EE34A569CD1E}" type="sibTrans" cxnId="{9A5E4246-A428-42B5-911B-D6CC85D3536D}">
      <dgm:prSet/>
      <dgm:spPr/>
      <dgm:t>
        <a:bodyPr/>
        <a:lstStyle/>
        <a:p>
          <a:pPr algn="ctr"/>
          <a:endParaRPr lang="en-IN" sz="1800"/>
        </a:p>
      </dgm:t>
    </dgm:pt>
    <dgm:pt modelId="{423DF278-136F-4436-A897-BA6EACDAB4BC}">
      <dgm:prSet phldrT="[Text]" custT="1"/>
      <dgm:spPr/>
      <dgm:t>
        <a:bodyPr/>
        <a:lstStyle/>
        <a:p>
          <a:pPr algn="ctr">
            <a:buNone/>
          </a:pPr>
          <a:r>
            <a:rPr lang="en-US" sz="1600" dirty="0"/>
            <a:t>Mac OS</a:t>
          </a:r>
          <a:endParaRPr lang="en-IN" sz="1600" dirty="0"/>
        </a:p>
      </dgm:t>
    </dgm:pt>
    <dgm:pt modelId="{302A94A7-239D-4E96-8AA8-69FC3EC00EA2}" type="parTrans" cxnId="{5DCD4AEB-2B6B-44F1-88A9-32D34C3EE505}">
      <dgm:prSet/>
      <dgm:spPr/>
      <dgm:t>
        <a:bodyPr/>
        <a:lstStyle/>
        <a:p>
          <a:pPr algn="ctr"/>
          <a:endParaRPr lang="en-IN" sz="1800"/>
        </a:p>
      </dgm:t>
    </dgm:pt>
    <dgm:pt modelId="{5110D2F8-ABF7-4D33-BC55-F2BE37DDC96B}" type="sibTrans" cxnId="{5DCD4AEB-2B6B-44F1-88A9-32D34C3EE505}">
      <dgm:prSet/>
      <dgm:spPr/>
      <dgm:t>
        <a:bodyPr/>
        <a:lstStyle/>
        <a:p>
          <a:pPr algn="ctr"/>
          <a:endParaRPr lang="en-IN" sz="1800"/>
        </a:p>
      </dgm:t>
    </dgm:pt>
    <dgm:pt modelId="{9DD9EDC8-60EB-4B1F-8D32-46F45D750569}" type="pres">
      <dgm:prSet presAssocID="{3CF75FDB-C4E9-434D-B1BB-C5F7D1B32E41}" presName="linearFlow" presStyleCnt="0">
        <dgm:presLayoutVars>
          <dgm:dir/>
          <dgm:animLvl val="lvl"/>
          <dgm:resizeHandles/>
        </dgm:presLayoutVars>
      </dgm:prSet>
      <dgm:spPr/>
      <dgm:t>
        <a:bodyPr/>
        <a:lstStyle/>
        <a:p>
          <a:endParaRPr lang="en-US"/>
        </a:p>
      </dgm:t>
    </dgm:pt>
    <dgm:pt modelId="{89CE4421-A346-4013-8C89-93ED20384ACE}" type="pres">
      <dgm:prSet presAssocID="{3FCEF419-4808-40BD-AB03-6AB29B143CF8}" presName="compositeNode" presStyleCnt="0">
        <dgm:presLayoutVars>
          <dgm:bulletEnabled val="1"/>
        </dgm:presLayoutVars>
      </dgm:prSet>
      <dgm:spPr/>
    </dgm:pt>
    <dgm:pt modelId="{04C8F80D-31A2-422F-9944-773E7FE76FFF}" type="pres">
      <dgm:prSet presAssocID="{3FCEF419-4808-40BD-AB03-6AB29B143CF8}" presName="image" presStyleLbl="fgImgPlace1" presStyleIdx="0" presStyleCnt="3"/>
      <dgm:spPr/>
    </dgm:pt>
    <dgm:pt modelId="{6D426E6E-E7B7-407D-9C8C-8F0C9945BEB1}" type="pres">
      <dgm:prSet presAssocID="{3FCEF419-4808-40BD-AB03-6AB29B143CF8}" presName="childNode" presStyleLbl="node1" presStyleIdx="0" presStyleCnt="3">
        <dgm:presLayoutVars>
          <dgm:bulletEnabled val="1"/>
        </dgm:presLayoutVars>
      </dgm:prSet>
      <dgm:spPr/>
      <dgm:t>
        <a:bodyPr/>
        <a:lstStyle/>
        <a:p>
          <a:endParaRPr lang="en-US"/>
        </a:p>
      </dgm:t>
    </dgm:pt>
    <dgm:pt modelId="{1E152F00-F65B-4C9A-89BA-69E4AA013015}" type="pres">
      <dgm:prSet presAssocID="{3FCEF419-4808-40BD-AB03-6AB29B143CF8}" presName="parentNode" presStyleLbl="revTx" presStyleIdx="0" presStyleCnt="3">
        <dgm:presLayoutVars>
          <dgm:chMax val="0"/>
          <dgm:bulletEnabled val="1"/>
        </dgm:presLayoutVars>
      </dgm:prSet>
      <dgm:spPr/>
      <dgm:t>
        <a:bodyPr/>
        <a:lstStyle/>
        <a:p>
          <a:endParaRPr lang="en-US"/>
        </a:p>
      </dgm:t>
    </dgm:pt>
    <dgm:pt modelId="{6B73AADE-716C-4759-895C-FF2B600F32FD}" type="pres">
      <dgm:prSet presAssocID="{98BAC319-125C-4836-892E-02E3D06E464F}" presName="sibTrans" presStyleCnt="0"/>
      <dgm:spPr/>
    </dgm:pt>
    <dgm:pt modelId="{9B77C54A-2C9C-4C3F-A9FF-7EDB0D2FC30D}" type="pres">
      <dgm:prSet presAssocID="{5E523FDE-804C-4EA8-8401-88988AA0ED17}" presName="compositeNode" presStyleCnt="0">
        <dgm:presLayoutVars>
          <dgm:bulletEnabled val="1"/>
        </dgm:presLayoutVars>
      </dgm:prSet>
      <dgm:spPr/>
    </dgm:pt>
    <dgm:pt modelId="{DBDB81E4-D77A-4231-ADDB-07D970E1BC42}" type="pres">
      <dgm:prSet presAssocID="{5E523FDE-804C-4EA8-8401-88988AA0ED17}" presName="image" presStyleLbl="fgImgPlace1" presStyleIdx="1" presStyleCnt="3"/>
      <dgm:spPr/>
    </dgm:pt>
    <dgm:pt modelId="{AAC200DD-D930-41D9-A641-DB958D2D96A8}" type="pres">
      <dgm:prSet presAssocID="{5E523FDE-804C-4EA8-8401-88988AA0ED17}" presName="childNode" presStyleLbl="node1" presStyleIdx="1" presStyleCnt="3">
        <dgm:presLayoutVars>
          <dgm:bulletEnabled val="1"/>
        </dgm:presLayoutVars>
      </dgm:prSet>
      <dgm:spPr/>
      <dgm:t>
        <a:bodyPr/>
        <a:lstStyle/>
        <a:p>
          <a:endParaRPr lang="en-US"/>
        </a:p>
      </dgm:t>
    </dgm:pt>
    <dgm:pt modelId="{E4C757E6-85D3-4721-AFA4-EC7BA966BBA9}" type="pres">
      <dgm:prSet presAssocID="{5E523FDE-804C-4EA8-8401-88988AA0ED17}" presName="parentNode" presStyleLbl="revTx" presStyleIdx="1" presStyleCnt="3">
        <dgm:presLayoutVars>
          <dgm:chMax val="0"/>
          <dgm:bulletEnabled val="1"/>
        </dgm:presLayoutVars>
      </dgm:prSet>
      <dgm:spPr/>
      <dgm:t>
        <a:bodyPr/>
        <a:lstStyle/>
        <a:p>
          <a:endParaRPr lang="en-US"/>
        </a:p>
      </dgm:t>
    </dgm:pt>
    <dgm:pt modelId="{BFFC3F7C-5AC2-47FD-9614-1C5E88631BB7}" type="pres">
      <dgm:prSet presAssocID="{3EC9F733-E63F-4034-B673-3A1560B39ACA}" presName="sibTrans" presStyleCnt="0"/>
      <dgm:spPr/>
    </dgm:pt>
    <dgm:pt modelId="{CEF4EBD6-1F06-41A5-82C9-56EDCF2C6859}" type="pres">
      <dgm:prSet presAssocID="{CF64881F-27D1-4AA8-B1A4-406B339761A3}" presName="compositeNode" presStyleCnt="0">
        <dgm:presLayoutVars>
          <dgm:bulletEnabled val="1"/>
        </dgm:presLayoutVars>
      </dgm:prSet>
      <dgm:spPr/>
    </dgm:pt>
    <dgm:pt modelId="{3E483C61-C4E4-42CB-B8A7-61841079351A}" type="pres">
      <dgm:prSet presAssocID="{CF64881F-27D1-4AA8-B1A4-406B339761A3}" presName="image" presStyleLbl="fgImgPlace1" presStyleIdx="2" presStyleCnt="3"/>
      <dgm:spPr/>
    </dgm:pt>
    <dgm:pt modelId="{0A0FD357-F664-4CDE-B015-8330BDF17083}" type="pres">
      <dgm:prSet presAssocID="{CF64881F-27D1-4AA8-B1A4-406B339761A3}" presName="childNode" presStyleLbl="node1" presStyleIdx="2" presStyleCnt="3">
        <dgm:presLayoutVars>
          <dgm:bulletEnabled val="1"/>
        </dgm:presLayoutVars>
      </dgm:prSet>
      <dgm:spPr/>
      <dgm:t>
        <a:bodyPr/>
        <a:lstStyle/>
        <a:p>
          <a:endParaRPr lang="en-US"/>
        </a:p>
      </dgm:t>
    </dgm:pt>
    <dgm:pt modelId="{E263B05F-2DD7-48F8-A2DC-B51FEDBED99F}" type="pres">
      <dgm:prSet presAssocID="{CF64881F-27D1-4AA8-B1A4-406B339761A3}" presName="parentNode" presStyleLbl="revTx" presStyleIdx="2" presStyleCnt="3">
        <dgm:presLayoutVars>
          <dgm:chMax val="0"/>
          <dgm:bulletEnabled val="1"/>
        </dgm:presLayoutVars>
      </dgm:prSet>
      <dgm:spPr/>
      <dgm:t>
        <a:bodyPr/>
        <a:lstStyle/>
        <a:p>
          <a:endParaRPr lang="en-US"/>
        </a:p>
      </dgm:t>
    </dgm:pt>
  </dgm:ptLst>
  <dgm:cxnLst>
    <dgm:cxn modelId="{FA5AB71E-F39F-4997-9F44-AD0BFCC7824F}" srcId="{3FCEF419-4808-40BD-AB03-6AB29B143CF8}" destId="{4DFEA24D-9B8D-4AA5-9C31-17FB8242EA48}" srcOrd="0" destOrd="0" parTransId="{F1C543FF-A6D8-4CA3-8E3B-4FF2724304AB}" sibTransId="{DBF4FB2A-FDDF-4E59-A426-9AF61CEA6921}"/>
    <dgm:cxn modelId="{C085F726-599C-44E9-A479-C4EB6B3D78C7}" type="presOf" srcId="{423DF278-136F-4436-A897-BA6EACDAB4BC}" destId="{0A0FD357-F664-4CDE-B015-8330BDF17083}" srcOrd="0" destOrd="0" presId="urn:microsoft.com/office/officeart/2005/8/layout/hList2"/>
    <dgm:cxn modelId="{FAFEBC22-CC98-4923-AC74-CA29AFD06219}" type="presOf" srcId="{3CF75FDB-C4E9-434D-B1BB-C5F7D1B32E41}" destId="{9DD9EDC8-60EB-4B1F-8D32-46F45D750569}" srcOrd="0" destOrd="0" presId="urn:microsoft.com/office/officeart/2005/8/layout/hList2"/>
    <dgm:cxn modelId="{187819F3-6BEE-43FD-853A-E535B12D4E2A}" type="presOf" srcId="{4DFEA24D-9B8D-4AA5-9C31-17FB8242EA48}" destId="{6D426E6E-E7B7-407D-9C8C-8F0C9945BEB1}" srcOrd="0" destOrd="0" presId="urn:microsoft.com/office/officeart/2005/8/layout/hList2"/>
    <dgm:cxn modelId="{14AF47FF-8F92-4D2F-B14D-F416A2F7AFA1}" type="presOf" srcId="{3FCEF419-4808-40BD-AB03-6AB29B143CF8}" destId="{1E152F00-F65B-4C9A-89BA-69E4AA013015}" srcOrd="0" destOrd="0" presId="urn:microsoft.com/office/officeart/2005/8/layout/hList2"/>
    <dgm:cxn modelId="{26CB9B1B-6B5A-4447-97B9-755E8A8F1CBA}" type="presOf" srcId="{5E523FDE-804C-4EA8-8401-88988AA0ED17}" destId="{E4C757E6-85D3-4721-AFA4-EC7BA966BBA9}" srcOrd="0" destOrd="0" presId="urn:microsoft.com/office/officeart/2005/8/layout/hList2"/>
    <dgm:cxn modelId="{CA71EF14-DA69-4A5D-9222-788EEF1C7F27}" srcId="{3CF75FDB-C4E9-434D-B1BB-C5F7D1B32E41}" destId="{3FCEF419-4808-40BD-AB03-6AB29B143CF8}" srcOrd="0" destOrd="0" parTransId="{5A099468-C82F-4202-8FBE-3216F60290A7}" sibTransId="{98BAC319-125C-4836-892E-02E3D06E464F}"/>
    <dgm:cxn modelId="{3C7F0C36-C276-48C4-AA6C-6049C947783A}" type="presOf" srcId="{E0CFC24E-86F1-47D7-89F6-50670E301BDE}" destId="{AAC200DD-D930-41D9-A641-DB958D2D96A8}" srcOrd="0" destOrd="0" presId="urn:microsoft.com/office/officeart/2005/8/layout/hList2"/>
    <dgm:cxn modelId="{E418429E-0AA0-4D0D-A213-BD82BFA9875E}" type="presOf" srcId="{CF64881F-27D1-4AA8-B1A4-406B339761A3}" destId="{E263B05F-2DD7-48F8-A2DC-B51FEDBED99F}" srcOrd="0" destOrd="0" presId="urn:microsoft.com/office/officeart/2005/8/layout/hList2"/>
    <dgm:cxn modelId="{9A5E4246-A428-42B5-911B-D6CC85D3536D}" srcId="{3CF75FDB-C4E9-434D-B1BB-C5F7D1B32E41}" destId="{CF64881F-27D1-4AA8-B1A4-406B339761A3}" srcOrd="2" destOrd="0" parTransId="{95F1A1FA-7B77-4BDD-9841-9A3139691C03}" sibTransId="{9B76238B-DEF9-4508-827A-EE34A569CD1E}"/>
    <dgm:cxn modelId="{5DCD4AEB-2B6B-44F1-88A9-32D34C3EE505}" srcId="{CF64881F-27D1-4AA8-B1A4-406B339761A3}" destId="{423DF278-136F-4436-A897-BA6EACDAB4BC}" srcOrd="0" destOrd="0" parTransId="{302A94A7-239D-4E96-8AA8-69FC3EC00EA2}" sibTransId="{5110D2F8-ABF7-4D33-BC55-F2BE37DDC96B}"/>
    <dgm:cxn modelId="{7C2FC318-8D13-4735-8C20-69974086EADF}" srcId="{3CF75FDB-C4E9-434D-B1BB-C5F7D1B32E41}" destId="{5E523FDE-804C-4EA8-8401-88988AA0ED17}" srcOrd="1" destOrd="0" parTransId="{6CCD077E-632E-40A5-81AD-05B66553D485}" sibTransId="{3EC9F733-E63F-4034-B673-3A1560B39ACA}"/>
    <dgm:cxn modelId="{2D2BDABA-FFDB-4B32-AFE5-015E590211BC}" srcId="{5E523FDE-804C-4EA8-8401-88988AA0ED17}" destId="{E0CFC24E-86F1-47D7-89F6-50670E301BDE}" srcOrd="0" destOrd="0" parTransId="{58494A45-699C-4FA3-80E2-80C9C54ED05C}" sibTransId="{BF348B9E-2E8C-4E8E-9BF8-0ABEFE9DAFDF}"/>
    <dgm:cxn modelId="{314B9821-3980-490B-83A1-DC1F226F34AC}" type="presParOf" srcId="{9DD9EDC8-60EB-4B1F-8D32-46F45D750569}" destId="{89CE4421-A346-4013-8C89-93ED20384ACE}" srcOrd="0" destOrd="0" presId="urn:microsoft.com/office/officeart/2005/8/layout/hList2"/>
    <dgm:cxn modelId="{7F670F21-E024-44C8-8B5D-7D704E17ADB2}" type="presParOf" srcId="{89CE4421-A346-4013-8C89-93ED20384ACE}" destId="{04C8F80D-31A2-422F-9944-773E7FE76FFF}" srcOrd="0" destOrd="0" presId="urn:microsoft.com/office/officeart/2005/8/layout/hList2"/>
    <dgm:cxn modelId="{9CA5AB8F-544F-4170-96DF-608986B63F08}" type="presParOf" srcId="{89CE4421-A346-4013-8C89-93ED20384ACE}" destId="{6D426E6E-E7B7-407D-9C8C-8F0C9945BEB1}" srcOrd="1" destOrd="0" presId="urn:microsoft.com/office/officeart/2005/8/layout/hList2"/>
    <dgm:cxn modelId="{A466E576-559C-44AE-96DB-76F7008E98EB}" type="presParOf" srcId="{89CE4421-A346-4013-8C89-93ED20384ACE}" destId="{1E152F00-F65B-4C9A-89BA-69E4AA013015}" srcOrd="2" destOrd="0" presId="urn:microsoft.com/office/officeart/2005/8/layout/hList2"/>
    <dgm:cxn modelId="{4F4A42CC-1F38-4FEE-AA80-09EBAE63D50A}" type="presParOf" srcId="{9DD9EDC8-60EB-4B1F-8D32-46F45D750569}" destId="{6B73AADE-716C-4759-895C-FF2B600F32FD}" srcOrd="1" destOrd="0" presId="urn:microsoft.com/office/officeart/2005/8/layout/hList2"/>
    <dgm:cxn modelId="{C5FCFC6B-DAF3-4917-A9E8-4A769AC776A7}" type="presParOf" srcId="{9DD9EDC8-60EB-4B1F-8D32-46F45D750569}" destId="{9B77C54A-2C9C-4C3F-A9FF-7EDB0D2FC30D}" srcOrd="2" destOrd="0" presId="urn:microsoft.com/office/officeart/2005/8/layout/hList2"/>
    <dgm:cxn modelId="{97073363-A32C-49CA-956F-8454A895774D}" type="presParOf" srcId="{9B77C54A-2C9C-4C3F-A9FF-7EDB0D2FC30D}" destId="{DBDB81E4-D77A-4231-ADDB-07D970E1BC42}" srcOrd="0" destOrd="0" presId="urn:microsoft.com/office/officeart/2005/8/layout/hList2"/>
    <dgm:cxn modelId="{FC8C4A82-7011-4568-B814-CA76E38F155E}" type="presParOf" srcId="{9B77C54A-2C9C-4C3F-A9FF-7EDB0D2FC30D}" destId="{AAC200DD-D930-41D9-A641-DB958D2D96A8}" srcOrd="1" destOrd="0" presId="urn:microsoft.com/office/officeart/2005/8/layout/hList2"/>
    <dgm:cxn modelId="{0510CC38-E819-4E20-832C-807DA9B54106}" type="presParOf" srcId="{9B77C54A-2C9C-4C3F-A9FF-7EDB0D2FC30D}" destId="{E4C757E6-85D3-4721-AFA4-EC7BA966BBA9}" srcOrd="2" destOrd="0" presId="urn:microsoft.com/office/officeart/2005/8/layout/hList2"/>
    <dgm:cxn modelId="{C18A8F2A-F8E0-4DCD-A316-3CB884F678C7}" type="presParOf" srcId="{9DD9EDC8-60EB-4B1F-8D32-46F45D750569}" destId="{BFFC3F7C-5AC2-47FD-9614-1C5E88631BB7}" srcOrd="3" destOrd="0" presId="urn:microsoft.com/office/officeart/2005/8/layout/hList2"/>
    <dgm:cxn modelId="{EB6ED94D-2B1F-476E-A917-F78D82920DBA}" type="presParOf" srcId="{9DD9EDC8-60EB-4B1F-8D32-46F45D750569}" destId="{CEF4EBD6-1F06-41A5-82C9-56EDCF2C6859}" srcOrd="4" destOrd="0" presId="urn:microsoft.com/office/officeart/2005/8/layout/hList2"/>
    <dgm:cxn modelId="{20CF6A68-AF02-42B4-A106-7C91BF970248}" type="presParOf" srcId="{CEF4EBD6-1F06-41A5-82C9-56EDCF2C6859}" destId="{3E483C61-C4E4-42CB-B8A7-61841079351A}" srcOrd="0" destOrd="0" presId="urn:microsoft.com/office/officeart/2005/8/layout/hList2"/>
    <dgm:cxn modelId="{0272C55B-4CCB-4E5E-B1E3-C4688E793CB2}" type="presParOf" srcId="{CEF4EBD6-1F06-41A5-82C9-56EDCF2C6859}" destId="{0A0FD357-F664-4CDE-B015-8330BDF17083}" srcOrd="1" destOrd="0" presId="urn:microsoft.com/office/officeart/2005/8/layout/hList2"/>
    <dgm:cxn modelId="{213FADEA-210E-4D7A-BC6F-180854E15B91}" type="presParOf" srcId="{CEF4EBD6-1F06-41A5-82C9-56EDCF2C6859}" destId="{E263B05F-2DD7-48F8-A2DC-B51FEDBED99F}" srcOrd="2" destOrd="0" presId="urn:microsoft.com/office/officeart/2005/8/layout/h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3.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78D7CA39-BE29-1DA9-CBA5-A08C341A14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E1AA58A4-2067-B2A6-CDD7-BC058739E3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54A374-18FE-4921-B0AC-78EF7CD89FAE}" type="datetimeFigureOut">
              <a:rPr lang="en-IN" smtClean="0"/>
              <a:t>07-09-2024</a:t>
            </a:fld>
            <a:endParaRPr lang="en-IN"/>
          </a:p>
        </p:txBody>
      </p:sp>
      <p:sp>
        <p:nvSpPr>
          <p:cNvPr id="4" name="Footer Placeholder 3">
            <a:extLst>
              <a:ext uri="{FF2B5EF4-FFF2-40B4-BE49-F238E27FC236}">
                <a16:creationId xmlns:a16="http://schemas.microsoft.com/office/drawing/2014/main" xmlns="" id="{D5F7F6B2-B70B-2C55-DEAA-13E7EE3711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56C8CBAA-9CEF-874C-1587-71E62F26361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2CFAE2-B29C-41A3-A98C-4E72C52DCD2D}" type="slidenum">
              <a:rPr lang="en-IN" smtClean="0"/>
              <a:t>‹#›</a:t>
            </a:fld>
            <a:endParaRPr lang="en-IN"/>
          </a:p>
        </p:txBody>
      </p:sp>
    </p:spTree>
    <p:extLst>
      <p:ext uri="{BB962C8B-B14F-4D97-AF65-F5344CB8AC3E}">
        <p14:creationId xmlns:p14="http://schemas.microsoft.com/office/powerpoint/2010/main" val="1815264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3857C-8025-45C5-8BB9-73978EA135AC}" type="datetimeFigureOut">
              <a:rPr lang="en-IN" smtClean="0"/>
              <a:t>07-09-2024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F52163-3DE2-436B-BF27-7F710D21AAF2}" type="slidenum">
              <a:rPr lang="en-IN" smtClean="0"/>
              <a:t>‹#›</a:t>
            </a:fld>
            <a:endParaRPr lang="en-IN"/>
          </a:p>
        </p:txBody>
      </p:sp>
    </p:spTree>
    <p:extLst>
      <p:ext uri="{BB962C8B-B14F-4D97-AF65-F5344CB8AC3E}">
        <p14:creationId xmlns:p14="http://schemas.microsoft.com/office/powerpoint/2010/main" val="138100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a:spLocks/>
          </p:cNvSpPr>
          <p:nvPr/>
        </p:nvSpPr>
        <p:spPr bwMode="auto">
          <a:xfrm>
            <a:off x="0" y="3563542"/>
            <a:ext cx="9144000" cy="158472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6" y="0"/>
            <a:ext cx="3038475" cy="51435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9" name="Title 8"/>
          <p:cNvSpPr>
            <a:spLocks noGrp="1"/>
          </p:cNvSpPr>
          <p:nvPr>
            <p:ph type="ctrTitle"/>
          </p:nvPr>
        </p:nvSpPr>
        <p:spPr>
          <a:xfrm>
            <a:off x="457200" y="1314450"/>
            <a:ext cx="6629400" cy="19431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A5B7FDA3-F97E-457B-A2F6-5556F371DE7F}" type="datetime4">
              <a:rPr lang="en-US" smtClean="0"/>
              <a:t>September 7, 2024</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Suryanarayana</a:t>
            </a:r>
          </a:p>
        </p:txBody>
      </p:sp>
      <p:sp>
        <p:nvSpPr>
          <p:cNvPr id="7" name="Slide Number Placeholder 26"/>
          <p:cNvSpPr>
            <a:spLocks noGrp="1"/>
          </p:cNvSpPr>
          <p:nvPr>
            <p:ph type="sldNum" sz="quarter" idx="12"/>
          </p:nvPr>
        </p:nvSpPr>
        <p:spPr/>
        <p:txBody>
          <a:bodyPr/>
          <a:lstStyle>
            <a:lvl1pPr>
              <a:defRPr b="1">
                <a:solidFill>
                  <a:schemeClr val="tx1"/>
                </a:solidFill>
              </a:defRPr>
            </a:lvl1pPr>
          </a:lstStyle>
          <a:p>
            <a:pPr>
              <a:defRPr/>
            </a:pPr>
            <a:fld id="{7B992530-92A3-44B4-96DF-B2605C41FE7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14300"/>
            <a:ext cx="7696200" cy="742950"/>
          </a:xfrm>
        </p:spPr>
        <p:txBody>
          <a:bodyPr/>
          <a:lstStyle>
            <a:lvl1pPr algn="l">
              <a:defRPr/>
            </a:lvl1pPr>
          </a:lstStyle>
          <a:p>
            <a:r>
              <a:rPr lang="en-US"/>
              <a:t>Click to edit Master title style</a:t>
            </a:r>
          </a:p>
        </p:txBody>
      </p:sp>
      <p:sp>
        <p:nvSpPr>
          <p:cNvPr id="3" name="Content Placeholder 2"/>
          <p:cNvSpPr>
            <a:spLocks noGrp="1"/>
          </p:cNvSpPr>
          <p:nvPr>
            <p:ph idx="1"/>
          </p:nvPr>
        </p:nvSpPr>
        <p:spPr>
          <a:xfrm>
            <a:off x="228600" y="1028701"/>
            <a:ext cx="8610600" cy="3508772"/>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171450"/>
          </a:xfrm>
        </p:spPr>
        <p:txBody>
          <a:bodyPr anchor="t"/>
          <a:lstStyle>
            <a:lvl1pPr>
              <a:defRPr/>
            </a:lvl1pPr>
          </a:lstStyle>
          <a:p>
            <a:pPr>
              <a:defRPr/>
            </a:pPr>
            <a:fld id="{CDA9D0F6-8782-45C2-98D8-445B3405A82B}" type="datetime4">
              <a:rPr lang="en-US" smtClean="0"/>
              <a:t>September 7,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Suryanarayana</a:t>
            </a:r>
          </a:p>
        </p:txBody>
      </p:sp>
      <p:sp>
        <p:nvSpPr>
          <p:cNvPr id="6" name="Slide Number Placeholder 5"/>
          <p:cNvSpPr>
            <a:spLocks noGrp="1"/>
          </p:cNvSpPr>
          <p:nvPr>
            <p:ph type="sldNum" sz="quarter" idx="12"/>
          </p:nvPr>
        </p:nvSpPr>
        <p:spPr/>
        <p:txBody>
          <a:bodyPr/>
          <a:lstStyle>
            <a:lvl1pPr>
              <a:defRPr/>
            </a:lvl1pPr>
          </a:lstStyle>
          <a:p>
            <a:pPr>
              <a:defRPr/>
            </a:pPr>
            <a:fld id="{FAB6ED7B-5CA3-4472-B01C-99CB7689D1EA}"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a:spLocks/>
          </p:cNvSpPr>
          <p:nvPr/>
        </p:nvSpPr>
        <p:spPr bwMode="auto">
          <a:xfrm>
            <a:off x="0" y="3563542"/>
            <a:ext cx="9144000" cy="158472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6" y="0"/>
            <a:ext cx="3038475" cy="51435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600201"/>
            <a:ext cx="6629400" cy="1369772"/>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1"/>
            <a:ext cx="1219200" cy="213122"/>
          </a:xfrm>
        </p:spPr>
        <p:txBody>
          <a:bodyPr anchor="t"/>
          <a:lstStyle>
            <a:lvl1pPr>
              <a:defRPr/>
            </a:lvl1pPr>
          </a:lstStyle>
          <a:p>
            <a:pPr>
              <a:defRPr/>
            </a:pPr>
            <a:fld id="{6A1E8E35-5234-43E5-A7B5-D578DE33E85B}" type="datetime4">
              <a:rPr lang="en-US" smtClean="0"/>
              <a:t>September 7,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Suryanarayana</a:t>
            </a:r>
          </a:p>
        </p:txBody>
      </p:sp>
      <p:sp>
        <p:nvSpPr>
          <p:cNvPr id="7" name="Slide Number Placeholder 5"/>
          <p:cNvSpPr>
            <a:spLocks noGrp="1"/>
          </p:cNvSpPr>
          <p:nvPr>
            <p:ph type="sldNum" sz="quarter" idx="12"/>
          </p:nvPr>
        </p:nvSpPr>
        <p:spPr/>
        <p:txBody>
          <a:bodyPr/>
          <a:lstStyle>
            <a:lvl1pPr>
              <a:defRPr/>
            </a:lvl1pPr>
          </a:lstStyle>
          <a:p>
            <a:pPr>
              <a:defRPr/>
            </a:pPr>
            <a:fld id="{A1B217A7-E8DB-44FD-ABFD-9152337CD6C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857250"/>
          </a:xfrm>
        </p:spPr>
        <p:txBody>
          <a:bodyPr/>
          <a:lstStyle/>
          <a:p>
            <a:r>
              <a:rPr lang="en-US"/>
              <a:t>Click to edit Master title style</a:t>
            </a:r>
          </a:p>
        </p:txBody>
      </p:sp>
      <p:sp>
        <p:nvSpPr>
          <p:cNvPr id="3" name="Content Placeholder 2"/>
          <p:cNvSpPr>
            <a:spLocks noGrp="1"/>
          </p:cNvSpPr>
          <p:nvPr>
            <p:ph sz="half" idx="1"/>
          </p:nvPr>
        </p:nvSpPr>
        <p:spPr>
          <a:xfrm>
            <a:off x="457200" y="1200151"/>
            <a:ext cx="3657600" cy="3394472"/>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200151"/>
            <a:ext cx="3657600" cy="3394472"/>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1"/>
            <a:ext cx="1143000" cy="273844"/>
          </a:xfrm>
        </p:spPr>
        <p:txBody>
          <a:bodyPr anchor="t"/>
          <a:lstStyle>
            <a:lvl1pPr>
              <a:defRPr/>
            </a:lvl1pPr>
          </a:lstStyle>
          <a:p>
            <a:pPr>
              <a:defRPr/>
            </a:pPr>
            <a:fld id="{7AEEEEDB-1546-449E-93F7-F5446E28775C}" type="datetime4">
              <a:rPr lang="en-US" smtClean="0"/>
              <a:t>September 7,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Suryanarayana</a:t>
            </a:r>
          </a:p>
        </p:txBody>
      </p:sp>
      <p:sp>
        <p:nvSpPr>
          <p:cNvPr id="7" name="Slide Number Placeholder 6"/>
          <p:cNvSpPr>
            <a:spLocks noGrp="1"/>
          </p:cNvSpPr>
          <p:nvPr>
            <p:ph type="sldNum" sz="quarter" idx="12"/>
          </p:nvPr>
        </p:nvSpPr>
        <p:spPr/>
        <p:txBody>
          <a:bodyPr/>
          <a:lstStyle>
            <a:lvl1pPr>
              <a:defRPr/>
            </a:lvl1pPr>
          </a:lstStyle>
          <a:p>
            <a:pPr>
              <a:defRPr/>
            </a:pPr>
            <a:fld id="{BACC7008-F5ED-4269-A898-E084C9C899C3}"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4114800"/>
            <a:ext cx="4040188" cy="62865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4" name="Text Placeholder 3"/>
          <p:cNvSpPr>
            <a:spLocks noGrp="1"/>
          </p:cNvSpPr>
          <p:nvPr>
            <p:ph type="body" sz="half" idx="3"/>
          </p:nvPr>
        </p:nvSpPr>
        <p:spPr>
          <a:xfrm>
            <a:off x="4645027" y="4114800"/>
            <a:ext cx="4041775" cy="62865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1" y="1137685"/>
            <a:ext cx="4040188" cy="2956322"/>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7" y="1137685"/>
            <a:ext cx="4041775" cy="2956322"/>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1"/>
            <a:ext cx="1143000" cy="273844"/>
          </a:xfrm>
        </p:spPr>
        <p:txBody>
          <a:bodyPr anchor="t"/>
          <a:lstStyle>
            <a:lvl1pPr>
              <a:defRPr/>
            </a:lvl1pPr>
          </a:lstStyle>
          <a:p>
            <a:pPr>
              <a:defRPr/>
            </a:pPr>
            <a:fld id="{83F89369-5ED8-441D-ADD7-98121F7EA9E1}" type="datetime4">
              <a:rPr lang="en-US" smtClean="0"/>
              <a:t>September 7, 2024</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Suryanarayana</a:t>
            </a:r>
          </a:p>
        </p:txBody>
      </p:sp>
      <p:sp>
        <p:nvSpPr>
          <p:cNvPr id="9" name="Slide Number Placeholder 8"/>
          <p:cNvSpPr>
            <a:spLocks noGrp="1"/>
          </p:cNvSpPr>
          <p:nvPr>
            <p:ph type="sldNum" sz="quarter" idx="12"/>
          </p:nvPr>
        </p:nvSpPr>
        <p:spPr/>
        <p:txBody>
          <a:bodyPr/>
          <a:lstStyle>
            <a:lvl1pPr>
              <a:defRPr/>
            </a:lvl1pPr>
          </a:lstStyle>
          <a:p>
            <a:pPr>
              <a:defRPr/>
            </a:pPr>
            <a:fld id="{A246BB36-18C6-4FE9-B805-A8C3DE15B00B}"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7470648" cy="85725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CDCF3B35-FD62-4F7B-874E-2C2F3C61C4BE}" type="datetime4">
              <a:rPr lang="en-US" smtClean="0"/>
              <a:t>September 7, 2024</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Suryanarayana</a:t>
            </a:r>
          </a:p>
        </p:txBody>
      </p:sp>
      <p:sp>
        <p:nvSpPr>
          <p:cNvPr id="5" name="Slide Number Placeholder 17"/>
          <p:cNvSpPr>
            <a:spLocks noGrp="1"/>
          </p:cNvSpPr>
          <p:nvPr>
            <p:ph type="sldNum" sz="quarter" idx="12"/>
          </p:nvPr>
        </p:nvSpPr>
        <p:spPr/>
        <p:txBody>
          <a:bodyPr/>
          <a:lstStyle>
            <a:lvl1pPr>
              <a:defRPr/>
            </a:lvl1pPr>
          </a:lstStyle>
          <a:p>
            <a:pPr>
              <a:defRPr/>
            </a:pPr>
            <a:fld id="{408C28FB-DE10-4C5E-A921-43ECF992E87A}"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B615C224-3476-47DA-827C-FF33B2DC5155}" type="datetime4">
              <a:rPr lang="en-US" smtClean="0"/>
              <a:t>September 7, 2024</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Suryanarayana</a:t>
            </a:r>
          </a:p>
        </p:txBody>
      </p:sp>
      <p:sp>
        <p:nvSpPr>
          <p:cNvPr id="4" name="Slide Number Placeholder 17"/>
          <p:cNvSpPr>
            <a:spLocks noGrp="1"/>
          </p:cNvSpPr>
          <p:nvPr>
            <p:ph type="sldNum" sz="quarter" idx="12"/>
          </p:nvPr>
        </p:nvSpPr>
        <p:spPr/>
        <p:txBody>
          <a:bodyPr/>
          <a:lstStyle>
            <a:lvl1pPr>
              <a:defRPr/>
            </a:lvl1pPr>
          </a:lstStyle>
          <a:p>
            <a:pPr>
              <a:defRPr/>
            </a:pPr>
            <a:fld id="{2AABB723-660E-4467-8A37-055799D186E4}"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89147"/>
            <a:ext cx="3200400" cy="547688"/>
          </a:xfrm>
        </p:spPr>
        <p:txBody>
          <a:bodyPr tIns="0" bIns="0" anchor="t"/>
          <a:lstStyle>
            <a:lvl1pPr algn="l">
              <a:buNone/>
              <a:defRPr sz="1800" b="1">
                <a:solidFill>
                  <a:schemeClr val="accent1"/>
                </a:solidFill>
              </a:defRPr>
            </a:lvl1pPr>
          </a:lstStyle>
          <a:p>
            <a:r>
              <a:rPr lang="en-US"/>
              <a:t>Click to edit Master title style</a:t>
            </a:r>
          </a:p>
        </p:txBody>
      </p:sp>
      <p:sp>
        <p:nvSpPr>
          <p:cNvPr id="3" name="Text Placeholder 2"/>
          <p:cNvSpPr>
            <a:spLocks noGrp="1"/>
          </p:cNvSpPr>
          <p:nvPr>
            <p:ph type="body" idx="2"/>
          </p:nvPr>
        </p:nvSpPr>
        <p:spPr>
          <a:xfrm>
            <a:off x="457200" y="160818"/>
            <a:ext cx="2743200" cy="6858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485900"/>
            <a:ext cx="7086600" cy="28575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B1828B02-7546-462B-B5D2-F5BD10CA484E}" type="datetime4">
              <a:rPr lang="en-US" smtClean="0"/>
              <a:t>September 7,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Suryanarayana</a:t>
            </a:r>
          </a:p>
        </p:txBody>
      </p:sp>
      <p:sp>
        <p:nvSpPr>
          <p:cNvPr id="7" name="Slide Number Placeholder 6"/>
          <p:cNvSpPr>
            <a:spLocks noGrp="1"/>
          </p:cNvSpPr>
          <p:nvPr>
            <p:ph type="sldNum" sz="quarter" idx="12"/>
          </p:nvPr>
        </p:nvSpPr>
        <p:spPr>
          <a:xfrm>
            <a:off x="8156575" y="4816080"/>
            <a:ext cx="762000" cy="273844"/>
          </a:xfrm>
        </p:spPr>
        <p:txBody>
          <a:bodyPr/>
          <a:lstStyle>
            <a:lvl1pPr>
              <a:defRPr/>
            </a:lvl1pPr>
          </a:lstStyle>
          <a:p>
            <a:pPr>
              <a:defRPr/>
            </a:pPr>
            <a:fld id="{10998E90-0A32-499E-B1BB-FF45A4E227C1}"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62601" y="914400"/>
            <a:ext cx="3053868" cy="940356"/>
          </a:xfrm>
        </p:spPr>
        <p:txBody>
          <a:bodyPr anchor="b"/>
          <a:lstStyle>
            <a:lvl1pPr algn="l">
              <a:buNone/>
              <a:defRPr sz="2200" b="1">
                <a:solidFill>
                  <a:srgbClr val="FFD03B"/>
                </a:solidFill>
              </a:defRPr>
            </a:lvl1pPr>
          </a:lstStyle>
          <a:p>
            <a:r>
              <a:rPr lang="en-US"/>
              <a:t>Click to edit Master title style</a:t>
            </a:r>
          </a:p>
        </p:txBody>
      </p:sp>
      <p:sp>
        <p:nvSpPr>
          <p:cNvPr id="3" name="Picture Placeholder 2"/>
          <p:cNvSpPr>
            <a:spLocks noGrp="1"/>
          </p:cNvSpPr>
          <p:nvPr>
            <p:ph type="pic" idx="1"/>
          </p:nvPr>
        </p:nvSpPr>
        <p:spPr>
          <a:xfrm>
            <a:off x="1065628" y="764930"/>
            <a:ext cx="4114800" cy="30861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562601" y="2057400"/>
            <a:ext cx="3053867" cy="199761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FE01BADD-C29A-4101-8181-B99A36AA94F1}" type="datetime4">
              <a:rPr lang="en-US" smtClean="0"/>
              <a:t>September 7, 2024</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Suryanarayana</a:t>
            </a:r>
          </a:p>
        </p:txBody>
      </p:sp>
      <p:sp>
        <p:nvSpPr>
          <p:cNvPr id="7" name="Slide Number Placeholder 17"/>
          <p:cNvSpPr>
            <a:spLocks noGrp="1"/>
          </p:cNvSpPr>
          <p:nvPr>
            <p:ph type="sldNum" sz="quarter" idx="12"/>
          </p:nvPr>
        </p:nvSpPr>
        <p:spPr/>
        <p:txBody>
          <a:bodyPr/>
          <a:lstStyle>
            <a:lvl1pPr>
              <a:defRPr/>
            </a:lvl1pPr>
          </a:lstStyle>
          <a:p>
            <a:pPr>
              <a:defRPr/>
            </a:pPr>
            <a:fld id="{E766B00E-CF0F-496B-9F75-F8C31B645E5F}"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6381861C-5FDF-450B-8A40-B7D0E10F82D5}" type="datetime4">
              <a:rPr lang="en-US" smtClean="0"/>
              <a:t>September 7,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Suryanarayana</a:t>
            </a:r>
          </a:p>
        </p:txBody>
      </p:sp>
      <p:sp>
        <p:nvSpPr>
          <p:cNvPr id="6" name="Slide Number Placeholder 17"/>
          <p:cNvSpPr>
            <a:spLocks noGrp="1"/>
          </p:cNvSpPr>
          <p:nvPr>
            <p:ph type="sldNum" sz="quarter" idx="12"/>
          </p:nvPr>
        </p:nvSpPr>
        <p:spPr/>
        <p:txBody>
          <a:bodyPr/>
          <a:lstStyle>
            <a:lvl1pPr>
              <a:defRPr/>
            </a:lvl1pPr>
          </a:lstStyle>
          <a:p>
            <a:pPr>
              <a:defRPr/>
            </a:pPr>
            <a:fld id="{3026275E-019F-4DBF-9570-2B2CFE581BE3}"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9215A165-6BB7-40C2-AA2F-A654CE2C3452}" type="datetime4">
              <a:rPr lang="en-US" smtClean="0"/>
              <a:t>September 7,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Suryanarayana</a:t>
            </a:r>
          </a:p>
        </p:txBody>
      </p:sp>
      <p:sp>
        <p:nvSpPr>
          <p:cNvPr id="6" name="Slide Number Placeholder 17"/>
          <p:cNvSpPr>
            <a:spLocks noGrp="1"/>
          </p:cNvSpPr>
          <p:nvPr>
            <p:ph type="sldNum" sz="quarter" idx="12"/>
          </p:nvPr>
        </p:nvSpPr>
        <p:spPr/>
        <p:txBody>
          <a:bodyPr/>
          <a:lstStyle>
            <a:lvl1pPr>
              <a:defRPr/>
            </a:lvl1pPr>
          </a:lstStyle>
          <a:p>
            <a:pPr>
              <a:defRPr/>
            </a:pPr>
            <a:fld id="{614E3C3C-488C-4C21-8865-BBB9440A05BB}"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6"/>
            <a:ext cx="7772400" cy="1125140"/>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2A485AC-C5CC-47CD-B34B-A17B67B31D05}" type="datetime4">
              <a:rPr lang="en-US" smtClean="0"/>
              <a:t>September 7,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Suryanarayana</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B9E0CA6-51E5-4909-A9E7-74F83F1586A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 name="Freeform 11"/>
          <p:cNvSpPr>
            <a:spLocks/>
          </p:cNvSpPr>
          <p:nvPr/>
        </p:nvSpPr>
        <p:spPr bwMode="auto">
          <a:xfrm>
            <a:off x="0" y="4057651"/>
            <a:ext cx="9144000" cy="1090613"/>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099" name="Title Placeholder 8"/>
          <p:cNvSpPr>
            <a:spLocks noGrp="1"/>
          </p:cNvSpPr>
          <p:nvPr>
            <p:ph type="title"/>
          </p:nvPr>
        </p:nvSpPr>
        <p:spPr bwMode="auto">
          <a:xfrm>
            <a:off x="304800" y="114300"/>
            <a:ext cx="7620000" cy="74295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4100" name="Text Placeholder 29"/>
          <p:cNvSpPr>
            <a:spLocks noGrp="1"/>
          </p:cNvSpPr>
          <p:nvPr>
            <p:ph type="body" idx="1"/>
          </p:nvPr>
        </p:nvSpPr>
        <p:spPr bwMode="auto">
          <a:xfrm>
            <a:off x="304800" y="1028701"/>
            <a:ext cx="7620000" cy="35087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4816080"/>
            <a:ext cx="2133600" cy="273844"/>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1EE0DFA7-3611-472A-A491-D9E5FCB884CE}" type="datetime4">
              <a:rPr lang="en-US" smtClean="0"/>
              <a:t>September 7, 2024</a:t>
            </a:fld>
            <a:endParaRPr lang="en-US"/>
          </a:p>
        </p:txBody>
      </p:sp>
      <p:sp>
        <p:nvSpPr>
          <p:cNvPr id="22" name="Footer Placeholder 21"/>
          <p:cNvSpPr>
            <a:spLocks noGrp="1"/>
          </p:cNvSpPr>
          <p:nvPr>
            <p:ph type="ftr" sz="quarter" idx="3"/>
          </p:nvPr>
        </p:nvSpPr>
        <p:spPr>
          <a:xfrm>
            <a:off x="3124200" y="4816080"/>
            <a:ext cx="2895600" cy="273844"/>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Suryanarayana</a:t>
            </a:r>
          </a:p>
        </p:txBody>
      </p:sp>
      <p:sp>
        <p:nvSpPr>
          <p:cNvPr id="18" name="Slide Number Placeholder 17"/>
          <p:cNvSpPr>
            <a:spLocks noGrp="1"/>
          </p:cNvSpPr>
          <p:nvPr>
            <p:ph type="sldNum" sz="quarter" idx="4"/>
          </p:nvPr>
        </p:nvSpPr>
        <p:spPr>
          <a:xfrm>
            <a:off x="8153400" y="4816080"/>
            <a:ext cx="762000" cy="273844"/>
          </a:xfrm>
          <a:prstGeom prst="rect">
            <a:avLst/>
          </a:prstGeom>
        </p:spPr>
        <p:txBody>
          <a:bodyPr vert="horz" lIns="0" tIns="0" rIns="0" bIns="0" anchor="b"/>
          <a:lstStyle>
            <a:lvl1pPr algn="r" eaLnBrk="1" fontAlgn="auto" latinLnBrk="0" hangingPunct="1">
              <a:spcBef>
                <a:spcPts val="0"/>
              </a:spcBef>
              <a:spcAft>
                <a:spcPts val="0"/>
              </a:spcAft>
              <a:defRPr kumimoji="0" sz="1000" b="1">
                <a:solidFill>
                  <a:schemeClr val="tx1"/>
                </a:solidFill>
                <a:latin typeface="+mn-lt"/>
                <a:cs typeface="+mn-cs"/>
              </a:defRPr>
            </a:lvl1pPr>
          </a:lstStyle>
          <a:p>
            <a:pPr>
              <a:defRPr/>
            </a:pPr>
            <a:fld id="{7F2A4EA7-F13F-43F3-A75F-8AA8F92E94B8}"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hf sldNum="0" hd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image" Target="../media/image1.jpeg"/><Relationship Id="rId16" Type="http://schemas.openxmlformats.org/officeDocument/2006/relationships/diagramColors" Target="../diagrams/colors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object-class-in-java/"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p:cNvSpPr/>
          <p:nvPr/>
        </p:nvSpPr>
        <p:spPr>
          <a:xfrm>
            <a:off x="457200" y="1428750"/>
            <a:ext cx="5410200" cy="2031325"/>
          </a:xfrm>
          <a:prstGeom prst="rect">
            <a:avLst/>
          </a:prstGeom>
        </p:spPr>
        <p:txBody>
          <a:bodyPr wrap="square">
            <a:spAutoFit/>
          </a:bodyPr>
          <a:lstStyle/>
          <a:p>
            <a:pPr lvl="0" algn="just" fontAlgn="auto">
              <a:spcBef>
                <a:spcPct val="20000"/>
              </a:spcBef>
              <a:spcAft>
                <a:spcPts val="0"/>
              </a:spcAft>
            </a:pPr>
            <a:r>
              <a:rPr lang="en-US" sz="5400" b="1" dirty="0">
                <a:solidFill>
                  <a:srgbClr val="002060"/>
                </a:solidFill>
                <a:latin typeface="Calibri" pitchFamily="34" charset="0"/>
                <a:cs typeface="Calibri" pitchFamily="34" charset="0"/>
              </a:rPr>
              <a:t>JDK, JRE, JVM</a:t>
            </a:r>
          </a:p>
          <a:p>
            <a:pPr lvl="0" algn="r" fontAlgn="auto">
              <a:spcBef>
                <a:spcPct val="20000"/>
              </a:spcBef>
              <a:spcAft>
                <a:spcPts val="0"/>
              </a:spcAft>
            </a:pPr>
            <a:r>
              <a:rPr lang="en-US" sz="2000" b="1" dirty="0">
                <a:solidFill>
                  <a:srgbClr val="002060"/>
                </a:solidFill>
                <a:latin typeface="Calibri" pitchFamily="34" charset="0"/>
                <a:cs typeface="Calibri" pitchFamily="34" charset="0"/>
              </a:rPr>
              <a:t>Java Development Kit</a:t>
            </a:r>
          </a:p>
          <a:p>
            <a:pPr lvl="0" algn="r" fontAlgn="auto">
              <a:spcBef>
                <a:spcPct val="20000"/>
              </a:spcBef>
              <a:spcAft>
                <a:spcPts val="0"/>
              </a:spcAft>
            </a:pPr>
            <a:r>
              <a:rPr lang="en-US" sz="2000" b="1" dirty="0">
                <a:solidFill>
                  <a:srgbClr val="002060"/>
                </a:solidFill>
                <a:latin typeface="Calibri" pitchFamily="34" charset="0"/>
                <a:cs typeface="Calibri" pitchFamily="34" charset="0"/>
              </a:rPr>
              <a:t>Java Runtime Environment</a:t>
            </a:r>
          </a:p>
          <a:p>
            <a:pPr lvl="0" algn="r" fontAlgn="auto">
              <a:spcBef>
                <a:spcPct val="20000"/>
              </a:spcBef>
              <a:spcAft>
                <a:spcPts val="0"/>
              </a:spcAft>
            </a:pPr>
            <a:r>
              <a:rPr lang="en-US" sz="2000" b="1" dirty="0">
                <a:solidFill>
                  <a:srgbClr val="002060"/>
                </a:solidFill>
                <a:latin typeface="Calibri" pitchFamily="34" charset="0"/>
                <a:cs typeface="Calibri" pitchFamily="34" charset="0"/>
              </a:rPr>
              <a:t>Java Virtual Machine</a:t>
            </a:r>
            <a:endParaRPr lang="en-US" sz="1100" b="1" dirty="0">
              <a:solidFill>
                <a:srgbClr val="002060"/>
              </a:solidFill>
              <a:latin typeface="Calibri" pitchFamily="34" charset="0"/>
              <a:cs typeface="Calibri" pitchFamily="34" charset="0"/>
            </a:endParaRPr>
          </a:p>
        </p:txBody>
      </p:sp>
      <p:sp>
        <p:nvSpPr>
          <p:cNvPr id="2" name="Footer Placeholder 1">
            <a:extLst>
              <a:ext uri="{FF2B5EF4-FFF2-40B4-BE49-F238E27FC236}">
                <a16:creationId xmlns:a16="http://schemas.microsoft.com/office/drawing/2014/main" xmlns="" id="{B1550623-437A-E697-A86F-3B9370EDD7DA}"/>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85970906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p:cNvSpPr/>
          <p:nvPr/>
        </p:nvSpPr>
        <p:spPr>
          <a:xfrm>
            <a:off x="457200" y="2014403"/>
            <a:ext cx="8229600" cy="1840504"/>
          </a:xfrm>
          <a:prstGeom prst="rect">
            <a:avLst/>
          </a:prstGeom>
        </p:spPr>
        <p:txBody>
          <a:bodyPr wrap="square">
            <a:spAutoFit/>
          </a:bodyPr>
          <a:lstStyle/>
          <a:p>
            <a:pPr lvl="0" algn="just" fontAlgn="auto">
              <a:spcBef>
                <a:spcPct val="20000"/>
              </a:spcBef>
              <a:spcAft>
                <a:spcPts val="0"/>
              </a:spcAft>
            </a:pPr>
            <a:r>
              <a:rPr lang="en-US" sz="3200" b="1" dirty="0">
                <a:solidFill>
                  <a:srgbClr val="002060"/>
                </a:solidFill>
                <a:latin typeface="Calibri" pitchFamily="34" charset="0"/>
                <a:cs typeface="Calibri" pitchFamily="34" charset="0"/>
              </a:rPr>
              <a:t>If you are a programmer then you need JDK</a:t>
            </a:r>
          </a:p>
          <a:p>
            <a:pPr lvl="0" algn="r" fontAlgn="auto">
              <a:spcBef>
                <a:spcPct val="20000"/>
              </a:spcBef>
              <a:spcAft>
                <a:spcPts val="0"/>
              </a:spcAft>
            </a:pPr>
            <a:r>
              <a:rPr lang="en-US" b="1" dirty="0">
                <a:solidFill>
                  <a:srgbClr val="002060"/>
                </a:solidFill>
                <a:latin typeface="Calibri" pitchFamily="34" charset="0"/>
                <a:cs typeface="Calibri" pitchFamily="34" charset="0"/>
              </a:rPr>
              <a:t>The name itself tells it is need by developer</a:t>
            </a:r>
            <a:endParaRPr lang="en-US" sz="3200" b="1" dirty="0">
              <a:solidFill>
                <a:srgbClr val="002060"/>
              </a:solidFill>
              <a:latin typeface="Calibri" pitchFamily="34" charset="0"/>
              <a:cs typeface="Calibri" pitchFamily="34" charset="0"/>
            </a:endParaRPr>
          </a:p>
          <a:p>
            <a:pPr lvl="0" algn="just" fontAlgn="auto">
              <a:spcBef>
                <a:spcPct val="20000"/>
              </a:spcBef>
              <a:spcAft>
                <a:spcPts val="0"/>
              </a:spcAft>
            </a:pPr>
            <a:r>
              <a:rPr lang="en-US" sz="3200" b="1" dirty="0">
                <a:solidFill>
                  <a:srgbClr val="002060"/>
                </a:solidFill>
                <a:latin typeface="Calibri" pitchFamily="34" charset="0"/>
                <a:cs typeface="Calibri" pitchFamily="34" charset="0"/>
              </a:rPr>
              <a:t>If you are user of java programs you need JRE</a:t>
            </a:r>
          </a:p>
          <a:p>
            <a:pPr lvl="0" algn="r" fontAlgn="auto">
              <a:spcBef>
                <a:spcPct val="20000"/>
              </a:spcBef>
              <a:spcAft>
                <a:spcPts val="0"/>
              </a:spcAft>
            </a:pPr>
            <a:r>
              <a:rPr lang="en-US" b="1" dirty="0">
                <a:solidFill>
                  <a:srgbClr val="002060"/>
                </a:solidFill>
                <a:latin typeface="Calibri" pitchFamily="34" charset="0"/>
                <a:cs typeface="Calibri" pitchFamily="34" charset="0"/>
              </a:rPr>
              <a:t>The name tells it is need to run java programs</a:t>
            </a:r>
          </a:p>
        </p:txBody>
      </p:sp>
      <p:sp>
        <p:nvSpPr>
          <p:cNvPr id="2" name="Footer Placeholder 1">
            <a:extLst>
              <a:ext uri="{FF2B5EF4-FFF2-40B4-BE49-F238E27FC236}">
                <a16:creationId xmlns:a16="http://schemas.microsoft.com/office/drawing/2014/main" xmlns="" id="{D6D41D1C-4440-8796-BECD-CB33FC000EB5}"/>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106086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83058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24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Rectangle 7"/>
          <p:cNvSpPr/>
          <p:nvPr/>
        </p:nvSpPr>
        <p:spPr>
          <a:xfrm>
            <a:off x="228600" y="842919"/>
            <a:ext cx="8077200" cy="4154984"/>
          </a:xfrm>
          <a:prstGeom prst="rect">
            <a:avLst/>
          </a:prstGeom>
        </p:spPr>
        <p:txBody>
          <a:bodyPr wrap="square">
            <a:spAutoFit/>
          </a:bodyPr>
          <a:lstStyle/>
          <a:p>
            <a:pPr marL="342900" lvl="0" indent="-342900" algn="just" fontAlgn="auto">
              <a:spcBef>
                <a:spcPct val="20000"/>
              </a:spcBef>
              <a:spcAft>
                <a:spcPts val="0"/>
              </a:spcAft>
            </a:pPr>
            <a:r>
              <a:rPr lang="en-US" sz="2200" b="1" dirty="0">
                <a:solidFill>
                  <a:srgbClr val="002060"/>
                </a:solidFill>
                <a:latin typeface="Calibri" pitchFamily="34" charset="0"/>
                <a:cs typeface="Calibri" pitchFamily="34" charset="0"/>
              </a:rPr>
              <a:t>A java software (JDK/JRE) mainly consists of 2 things</a:t>
            </a:r>
          </a:p>
          <a:p>
            <a:pPr marL="342900" lvl="0" indent="-342900" algn="just" fontAlgn="auto">
              <a:spcBef>
                <a:spcPct val="20000"/>
              </a:spcBef>
              <a:spcAft>
                <a:spcPts val="0"/>
              </a:spcAft>
              <a:buFont typeface="Wingdings" panose="05000000000000000000" pitchFamily="2" charset="2"/>
              <a:buChar char="v"/>
            </a:pPr>
            <a:r>
              <a:rPr lang="en-US" sz="2200" b="1" dirty="0">
                <a:solidFill>
                  <a:srgbClr val="002060"/>
                </a:solidFill>
                <a:latin typeface="Calibri" pitchFamily="34" charset="0"/>
                <a:cs typeface="Calibri" pitchFamily="34" charset="0"/>
              </a:rPr>
              <a:t>Java library files (rt.jar, dt.jar, tools.jar)</a:t>
            </a:r>
          </a:p>
          <a:p>
            <a:pPr marL="342900" lvl="0" indent="-342900" algn="just" fontAlgn="auto">
              <a:spcBef>
                <a:spcPct val="20000"/>
              </a:spcBef>
              <a:spcAft>
                <a:spcPts val="0"/>
              </a:spcAft>
              <a:buFont typeface="Wingdings" panose="05000000000000000000" pitchFamily="2" charset="2"/>
              <a:buChar char="v"/>
            </a:pPr>
            <a:r>
              <a:rPr lang="en-US" sz="2200" b="1" dirty="0">
                <a:solidFill>
                  <a:srgbClr val="002060"/>
                </a:solidFill>
                <a:latin typeface="Calibri" pitchFamily="34" charset="0"/>
                <a:cs typeface="Calibri" pitchFamily="34" charset="0"/>
              </a:rPr>
              <a:t>Java binary files (javac.exe, java.exe, jdb.exe, javadoc.exe, javap.exe, rmic.exe, rmid.exe, rmiregistry.exe, xjc.exe)</a:t>
            </a:r>
          </a:p>
          <a:p>
            <a:pPr marL="342900" lvl="0" indent="-342900" algn="just" fontAlgn="auto">
              <a:spcBef>
                <a:spcPct val="20000"/>
              </a:spcBef>
              <a:spcAft>
                <a:spcPts val="0"/>
              </a:spcAft>
              <a:buFont typeface="Wingdings" panose="05000000000000000000" pitchFamily="2" charset="2"/>
              <a:buChar char="v"/>
            </a:pPr>
            <a:endParaRPr lang="en-US" sz="2200" b="1" dirty="0">
              <a:solidFill>
                <a:srgbClr val="002060"/>
              </a:solidFill>
              <a:latin typeface="Calibri" pitchFamily="34" charset="0"/>
              <a:cs typeface="Calibri" pitchFamily="34" charset="0"/>
            </a:endParaRPr>
          </a:p>
          <a:p>
            <a:pPr marL="342900" lvl="0" indent="-342900" algn="just" fontAlgn="auto">
              <a:spcBef>
                <a:spcPct val="20000"/>
              </a:spcBef>
              <a:spcAft>
                <a:spcPts val="0"/>
              </a:spcAft>
              <a:buFont typeface="Wingdings" panose="05000000000000000000" pitchFamily="2" charset="2"/>
              <a:buChar char="v"/>
            </a:pPr>
            <a:r>
              <a:rPr lang="en-US" sz="2200" b="1" dirty="0">
                <a:solidFill>
                  <a:srgbClr val="002060"/>
                </a:solidFill>
                <a:latin typeface="Calibri" pitchFamily="34" charset="0"/>
                <a:cs typeface="Calibri" pitchFamily="34" charset="0"/>
              </a:rPr>
              <a:t>The </a:t>
            </a:r>
            <a:r>
              <a:rPr lang="en-US" sz="2200" b="1" i="1" dirty="0">
                <a:solidFill>
                  <a:srgbClr val="FF0000"/>
                </a:solidFill>
                <a:latin typeface="Calibri" pitchFamily="34" charset="0"/>
                <a:cs typeface="Calibri" pitchFamily="34" charset="0"/>
              </a:rPr>
              <a:t>library files (.jar)</a:t>
            </a:r>
            <a:r>
              <a:rPr lang="en-US" sz="2200" b="1" dirty="0">
                <a:solidFill>
                  <a:srgbClr val="002060"/>
                </a:solidFill>
                <a:latin typeface="Calibri" pitchFamily="34" charset="0"/>
                <a:cs typeface="Calibri" pitchFamily="34" charset="0"/>
              </a:rPr>
              <a:t> contains Java API (</a:t>
            </a:r>
            <a:r>
              <a:rPr lang="en-US" sz="1600" b="1" dirty="0">
                <a:solidFill>
                  <a:srgbClr val="002060"/>
                </a:solidFill>
                <a:latin typeface="Calibri" pitchFamily="34" charset="0"/>
                <a:cs typeface="Calibri" pitchFamily="34" charset="0"/>
              </a:rPr>
              <a:t>java predefined classes like String, System </a:t>
            </a:r>
            <a:r>
              <a:rPr lang="en-US" sz="1600" b="1" dirty="0" err="1">
                <a:solidFill>
                  <a:srgbClr val="002060"/>
                </a:solidFill>
                <a:latin typeface="Calibri" pitchFamily="34" charset="0"/>
                <a:cs typeface="Calibri" pitchFamily="34" charset="0"/>
              </a:rPr>
              <a:t>etc</a:t>
            </a:r>
            <a:r>
              <a:rPr lang="en-US" sz="2200" b="1" dirty="0">
                <a:solidFill>
                  <a:srgbClr val="002060"/>
                </a:solidFill>
                <a:latin typeface="Calibri" pitchFamily="34" charset="0"/>
                <a:cs typeface="Calibri" pitchFamily="34" charset="0"/>
              </a:rPr>
              <a:t>) using which </a:t>
            </a:r>
            <a:r>
              <a:rPr lang="en-US" sz="2200" b="1" i="1" dirty="0">
                <a:solidFill>
                  <a:srgbClr val="FF0000"/>
                </a:solidFill>
                <a:latin typeface="Calibri" pitchFamily="34" charset="0"/>
                <a:cs typeface="Calibri" pitchFamily="34" charset="0"/>
              </a:rPr>
              <a:t>we will develop our java programs</a:t>
            </a:r>
            <a:r>
              <a:rPr lang="en-US" sz="2200" b="1" dirty="0">
                <a:solidFill>
                  <a:srgbClr val="002060"/>
                </a:solidFill>
                <a:latin typeface="Calibri" pitchFamily="34" charset="0"/>
                <a:cs typeface="Calibri" pitchFamily="34" charset="0"/>
              </a:rPr>
              <a:t> (</a:t>
            </a:r>
            <a:r>
              <a:rPr lang="en-US" sz="1600" b="1" dirty="0">
                <a:solidFill>
                  <a:srgbClr val="002060"/>
                </a:solidFill>
                <a:latin typeface="Calibri" pitchFamily="34" charset="0"/>
                <a:cs typeface="Calibri" pitchFamily="34" charset="0"/>
              </a:rPr>
              <a:t>17000+ classes available in rt.jar file</a:t>
            </a:r>
            <a:r>
              <a:rPr lang="en-US" sz="2200" b="1" dirty="0">
                <a:solidFill>
                  <a:srgbClr val="002060"/>
                </a:solidFill>
                <a:latin typeface="Calibri" pitchFamily="34" charset="0"/>
                <a:cs typeface="Calibri" pitchFamily="34" charset="0"/>
              </a:rPr>
              <a:t>)</a:t>
            </a:r>
          </a:p>
          <a:p>
            <a:pPr marL="342900" lvl="0" indent="-342900" algn="just" fontAlgn="auto">
              <a:spcBef>
                <a:spcPct val="20000"/>
              </a:spcBef>
              <a:spcAft>
                <a:spcPts val="0"/>
              </a:spcAft>
              <a:buFont typeface="Wingdings" panose="05000000000000000000" pitchFamily="2" charset="2"/>
              <a:buChar char="v"/>
            </a:pPr>
            <a:r>
              <a:rPr lang="en-US" sz="2200" b="1" dirty="0">
                <a:solidFill>
                  <a:srgbClr val="002060"/>
                </a:solidFill>
                <a:latin typeface="Calibri" pitchFamily="34" charset="0"/>
                <a:cs typeface="Calibri" pitchFamily="34" charset="0"/>
              </a:rPr>
              <a:t>Those user defined java classes are compiled and interpreted by </a:t>
            </a:r>
            <a:r>
              <a:rPr lang="en-US" sz="2200" b="1" i="1" dirty="0">
                <a:solidFill>
                  <a:srgbClr val="FF0000"/>
                </a:solidFill>
                <a:latin typeface="Calibri" pitchFamily="34" charset="0"/>
                <a:cs typeface="Calibri" pitchFamily="34" charset="0"/>
              </a:rPr>
              <a:t>binary files javac.exe </a:t>
            </a:r>
            <a:r>
              <a:rPr lang="en-US" sz="2200" b="1" dirty="0">
                <a:solidFill>
                  <a:srgbClr val="002060"/>
                </a:solidFill>
                <a:latin typeface="Calibri" pitchFamily="34" charset="0"/>
                <a:cs typeface="Calibri" pitchFamily="34" charset="0"/>
              </a:rPr>
              <a:t>(java compiler) and </a:t>
            </a:r>
            <a:r>
              <a:rPr lang="en-US" sz="2200" b="1" i="1" dirty="0">
                <a:solidFill>
                  <a:srgbClr val="FF0000"/>
                </a:solidFill>
                <a:latin typeface="Calibri" pitchFamily="34" charset="0"/>
                <a:cs typeface="Calibri" pitchFamily="34" charset="0"/>
              </a:rPr>
              <a:t>java.exe </a:t>
            </a:r>
            <a:r>
              <a:rPr lang="en-US" sz="2200" b="1" dirty="0">
                <a:solidFill>
                  <a:srgbClr val="002060"/>
                </a:solidFill>
                <a:latin typeface="Calibri" pitchFamily="34" charset="0"/>
                <a:cs typeface="Calibri" pitchFamily="34" charset="0"/>
              </a:rPr>
              <a:t>(java interpreter) .</a:t>
            </a:r>
          </a:p>
        </p:txBody>
      </p:sp>
      <p:sp>
        <p:nvSpPr>
          <p:cNvPr id="2" name="Footer Placeholder 1">
            <a:extLst>
              <a:ext uri="{FF2B5EF4-FFF2-40B4-BE49-F238E27FC236}">
                <a16:creationId xmlns:a16="http://schemas.microsoft.com/office/drawing/2014/main" xmlns="" id="{0B3B524F-E1D7-CD27-2B21-3184D603C4F4}"/>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106086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p:cNvSpPr/>
          <p:nvPr/>
        </p:nvSpPr>
        <p:spPr>
          <a:xfrm>
            <a:off x="304800" y="742951"/>
            <a:ext cx="8229600" cy="2868478"/>
          </a:xfrm>
          <a:prstGeom prst="rect">
            <a:avLst/>
          </a:prstGeom>
        </p:spPr>
        <p:txBody>
          <a:bodyPr wrap="square">
            <a:spAutoFit/>
          </a:bodyPr>
          <a:lstStyle/>
          <a:p>
            <a:pPr lvl="0" algn="just" fontAlgn="auto">
              <a:spcBef>
                <a:spcPct val="20000"/>
              </a:spcBef>
              <a:spcAft>
                <a:spcPts val="0"/>
              </a:spcAft>
            </a:pPr>
            <a:r>
              <a:rPr lang="en-US" sz="2200" b="1" dirty="0">
                <a:solidFill>
                  <a:srgbClr val="002060"/>
                </a:solidFill>
                <a:latin typeface="Calibri" pitchFamily="34" charset="0"/>
                <a:cs typeface="Calibri" pitchFamily="34" charset="0"/>
              </a:rPr>
              <a:t>JDK consists of </a:t>
            </a:r>
          </a:p>
          <a:p>
            <a:pPr marL="342900" lvl="0" indent="-342900" algn="just" fontAlgn="auto">
              <a:spcBef>
                <a:spcPct val="20000"/>
              </a:spcBef>
              <a:spcAft>
                <a:spcPts val="0"/>
              </a:spcAft>
              <a:buFont typeface="Arial" panose="020B0604020202020204" pitchFamily="34" charset="0"/>
              <a:buChar char="•"/>
            </a:pPr>
            <a:r>
              <a:rPr lang="en-US" sz="2200" b="1" dirty="0">
                <a:solidFill>
                  <a:srgbClr val="002060"/>
                </a:solidFill>
                <a:latin typeface="Calibri" pitchFamily="34" charset="0"/>
                <a:cs typeface="Calibri" pitchFamily="34" charset="0"/>
              </a:rPr>
              <a:t>all java library files (</a:t>
            </a:r>
            <a:r>
              <a:rPr lang="en-US" sz="1600" b="1" i="1" dirty="0" err="1">
                <a:solidFill>
                  <a:srgbClr val="405888"/>
                </a:solidFill>
                <a:latin typeface="Calibri" pitchFamily="34" charset="0"/>
                <a:cs typeface="Calibri" pitchFamily="34" charset="0"/>
              </a:rPr>
              <a:t>jdk</a:t>
            </a:r>
            <a:r>
              <a:rPr lang="en-US" sz="1600" b="1" i="1" dirty="0">
                <a:solidFill>
                  <a:srgbClr val="405888"/>
                </a:solidFill>
                <a:latin typeface="Calibri" pitchFamily="34" charset="0"/>
                <a:cs typeface="Calibri" pitchFamily="34" charset="0"/>
              </a:rPr>
              <a:t>\</a:t>
            </a:r>
            <a:r>
              <a:rPr lang="en-US" sz="1600" b="1" i="1" dirty="0" err="1">
                <a:solidFill>
                  <a:srgbClr val="405888"/>
                </a:solidFill>
                <a:latin typeface="Calibri" pitchFamily="34" charset="0"/>
                <a:cs typeface="Calibri" pitchFamily="34" charset="0"/>
              </a:rPr>
              <a:t>jre</a:t>
            </a:r>
            <a:r>
              <a:rPr lang="en-US" sz="1600" b="1" i="1" dirty="0">
                <a:solidFill>
                  <a:srgbClr val="405888"/>
                </a:solidFill>
                <a:latin typeface="Calibri" pitchFamily="34" charset="0"/>
                <a:cs typeface="Calibri" pitchFamily="34" charset="0"/>
              </a:rPr>
              <a:t>\lib\</a:t>
            </a:r>
            <a:r>
              <a:rPr lang="en-US" sz="1600" b="1" i="1" dirty="0">
                <a:solidFill>
                  <a:srgbClr val="FF0000"/>
                </a:solidFill>
                <a:latin typeface="Calibri" pitchFamily="34" charset="0"/>
                <a:cs typeface="Calibri" pitchFamily="34" charset="0"/>
              </a:rPr>
              <a:t>rt.jar, </a:t>
            </a:r>
            <a:r>
              <a:rPr lang="en-US" sz="1600" b="1" i="1" dirty="0" err="1">
                <a:solidFill>
                  <a:srgbClr val="405888"/>
                </a:solidFill>
                <a:latin typeface="Calibri" pitchFamily="34" charset="0"/>
                <a:cs typeface="Calibri" pitchFamily="34" charset="0"/>
              </a:rPr>
              <a:t>jdk</a:t>
            </a:r>
            <a:r>
              <a:rPr lang="en-US" sz="1600" b="1" i="1" dirty="0">
                <a:solidFill>
                  <a:srgbClr val="405888"/>
                </a:solidFill>
                <a:latin typeface="Calibri" pitchFamily="34" charset="0"/>
                <a:cs typeface="Calibri" pitchFamily="34" charset="0"/>
              </a:rPr>
              <a:t>\lib\</a:t>
            </a:r>
            <a:r>
              <a:rPr lang="en-US" sz="1600" b="1" i="1" dirty="0">
                <a:solidFill>
                  <a:srgbClr val="FF0000"/>
                </a:solidFill>
                <a:latin typeface="Calibri" pitchFamily="34" charset="0"/>
                <a:cs typeface="Calibri" pitchFamily="34" charset="0"/>
              </a:rPr>
              <a:t>tools.jar and </a:t>
            </a:r>
            <a:r>
              <a:rPr lang="en-US" sz="1600" b="1" i="1" dirty="0" err="1">
                <a:solidFill>
                  <a:srgbClr val="405888"/>
                </a:solidFill>
                <a:latin typeface="Calibri" pitchFamily="34" charset="0"/>
                <a:cs typeface="Calibri" pitchFamily="34" charset="0"/>
              </a:rPr>
              <a:t>jdk</a:t>
            </a:r>
            <a:r>
              <a:rPr lang="en-US" sz="1600" b="1" i="1" dirty="0">
                <a:solidFill>
                  <a:srgbClr val="405888"/>
                </a:solidFill>
                <a:latin typeface="Calibri" pitchFamily="34" charset="0"/>
                <a:cs typeface="Calibri" pitchFamily="34" charset="0"/>
              </a:rPr>
              <a:t>\lib\</a:t>
            </a:r>
            <a:r>
              <a:rPr lang="en-US" sz="1600" b="1" i="1" dirty="0">
                <a:solidFill>
                  <a:srgbClr val="FF0000"/>
                </a:solidFill>
                <a:latin typeface="Calibri" pitchFamily="34" charset="0"/>
                <a:cs typeface="Calibri" pitchFamily="34" charset="0"/>
              </a:rPr>
              <a:t>dt.jar</a:t>
            </a:r>
            <a:r>
              <a:rPr lang="en-US" sz="2200" b="1" dirty="0">
                <a:solidFill>
                  <a:srgbClr val="002060"/>
                </a:solidFill>
                <a:latin typeface="Calibri" pitchFamily="34" charset="0"/>
                <a:cs typeface="Calibri" pitchFamily="34" charset="0"/>
              </a:rPr>
              <a:t>)</a:t>
            </a:r>
          </a:p>
          <a:p>
            <a:pPr marL="342900" lvl="0" indent="-342900" algn="just" fontAlgn="auto">
              <a:spcBef>
                <a:spcPct val="20000"/>
              </a:spcBef>
              <a:spcAft>
                <a:spcPts val="0"/>
              </a:spcAft>
              <a:buFont typeface="Arial" panose="020B0604020202020204" pitchFamily="34" charset="0"/>
              <a:buChar char="•"/>
            </a:pPr>
            <a:r>
              <a:rPr lang="en-US" sz="2200" b="1" dirty="0">
                <a:solidFill>
                  <a:srgbClr val="002060"/>
                </a:solidFill>
                <a:latin typeface="Calibri" pitchFamily="34" charset="0"/>
                <a:cs typeface="Calibri" pitchFamily="34" charset="0"/>
              </a:rPr>
              <a:t>and all java binary files (</a:t>
            </a:r>
            <a:r>
              <a:rPr lang="en-US" sz="1600" b="1" i="1" dirty="0">
                <a:solidFill>
                  <a:srgbClr val="FF0000"/>
                </a:solidFill>
                <a:latin typeface="Calibri" pitchFamily="34" charset="0"/>
                <a:cs typeface="Calibri" pitchFamily="34" charset="0"/>
              </a:rPr>
              <a:t>javac.exe, rmic.exe, jdb.exe, javadoc.exe, java.exe</a:t>
            </a:r>
            <a:r>
              <a:rPr lang="en-US" sz="2200" b="1" dirty="0">
                <a:solidFill>
                  <a:srgbClr val="002060"/>
                </a:solidFill>
                <a:latin typeface="Calibri" pitchFamily="34" charset="0"/>
                <a:cs typeface="Calibri" pitchFamily="34" charset="0"/>
              </a:rPr>
              <a:t>)</a:t>
            </a:r>
          </a:p>
          <a:p>
            <a:pPr lvl="0" algn="just" fontAlgn="auto">
              <a:spcBef>
                <a:spcPct val="20000"/>
              </a:spcBef>
              <a:spcAft>
                <a:spcPts val="0"/>
              </a:spcAft>
            </a:pPr>
            <a:r>
              <a:rPr lang="en-US" sz="2200" b="1" dirty="0">
                <a:solidFill>
                  <a:srgbClr val="002060"/>
                </a:solidFill>
                <a:latin typeface="Calibri" pitchFamily="34" charset="0"/>
                <a:cs typeface="Calibri" pitchFamily="34" charset="0"/>
              </a:rPr>
              <a:t>Where as JRE contains only</a:t>
            </a:r>
          </a:p>
          <a:p>
            <a:pPr marL="342900" lvl="0" indent="-342900" algn="just" fontAlgn="auto">
              <a:spcBef>
                <a:spcPct val="20000"/>
              </a:spcBef>
              <a:spcAft>
                <a:spcPts val="0"/>
              </a:spcAft>
              <a:buFont typeface="Arial" panose="020B0604020202020204" pitchFamily="34" charset="0"/>
              <a:buChar char="•"/>
            </a:pPr>
            <a:r>
              <a:rPr lang="en-US" sz="2200" b="1" dirty="0">
                <a:solidFill>
                  <a:srgbClr val="002060"/>
                </a:solidFill>
                <a:latin typeface="Calibri" pitchFamily="34" charset="0"/>
                <a:cs typeface="Calibri" pitchFamily="34" charset="0"/>
              </a:rPr>
              <a:t>required library files (</a:t>
            </a:r>
            <a:r>
              <a:rPr lang="en-US" sz="1600" b="1" i="1" dirty="0" err="1">
                <a:solidFill>
                  <a:srgbClr val="405888"/>
                </a:solidFill>
                <a:latin typeface="Calibri" pitchFamily="34" charset="0"/>
                <a:cs typeface="Calibri" pitchFamily="34" charset="0"/>
              </a:rPr>
              <a:t>jdk</a:t>
            </a:r>
            <a:r>
              <a:rPr lang="en-US" sz="1600" b="1" i="1" dirty="0">
                <a:solidFill>
                  <a:srgbClr val="405888"/>
                </a:solidFill>
                <a:latin typeface="Calibri" pitchFamily="34" charset="0"/>
                <a:cs typeface="Calibri" pitchFamily="34" charset="0"/>
              </a:rPr>
              <a:t>\</a:t>
            </a:r>
            <a:r>
              <a:rPr lang="en-US" sz="1600" b="1" i="1" dirty="0" err="1">
                <a:solidFill>
                  <a:srgbClr val="405888"/>
                </a:solidFill>
                <a:latin typeface="Calibri" pitchFamily="34" charset="0"/>
                <a:cs typeface="Calibri" pitchFamily="34" charset="0"/>
              </a:rPr>
              <a:t>jre</a:t>
            </a:r>
            <a:r>
              <a:rPr lang="en-US" sz="1600" b="1" i="1" dirty="0">
                <a:solidFill>
                  <a:srgbClr val="405888"/>
                </a:solidFill>
                <a:latin typeface="Calibri" pitchFamily="34" charset="0"/>
                <a:cs typeface="Calibri" pitchFamily="34" charset="0"/>
              </a:rPr>
              <a:t>\lib\</a:t>
            </a:r>
            <a:r>
              <a:rPr lang="en-US" sz="1600" b="1" i="1" dirty="0">
                <a:solidFill>
                  <a:srgbClr val="FF0000"/>
                </a:solidFill>
                <a:latin typeface="Calibri" pitchFamily="34" charset="0"/>
                <a:cs typeface="Calibri" pitchFamily="34" charset="0"/>
              </a:rPr>
              <a:t>rt.jar</a:t>
            </a:r>
            <a:r>
              <a:rPr lang="en-US" sz="2200" b="1" dirty="0">
                <a:solidFill>
                  <a:srgbClr val="002060"/>
                </a:solidFill>
                <a:latin typeface="Calibri" pitchFamily="34" charset="0"/>
                <a:cs typeface="Calibri" pitchFamily="34" charset="0"/>
              </a:rPr>
              <a:t>)</a:t>
            </a:r>
          </a:p>
          <a:p>
            <a:pPr marL="342900" lvl="0" indent="-342900" algn="just" fontAlgn="auto">
              <a:spcBef>
                <a:spcPct val="20000"/>
              </a:spcBef>
              <a:spcAft>
                <a:spcPts val="0"/>
              </a:spcAft>
              <a:buFont typeface="Arial" panose="020B0604020202020204" pitchFamily="34" charset="0"/>
              <a:buChar char="•"/>
            </a:pPr>
            <a:r>
              <a:rPr lang="en-US" sz="2200" b="1" dirty="0">
                <a:solidFill>
                  <a:srgbClr val="002060"/>
                </a:solidFill>
                <a:latin typeface="Calibri" pitchFamily="34" charset="0"/>
                <a:cs typeface="Calibri" pitchFamily="34" charset="0"/>
              </a:rPr>
              <a:t>and required java binary files (</a:t>
            </a:r>
            <a:r>
              <a:rPr lang="en-US" sz="1600" b="1" i="1" dirty="0">
                <a:solidFill>
                  <a:srgbClr val="FF0000"/>
                </a:solidFill>
                <a:latin typeface="Calibri" pitchFamily="34" charset="0"/>
                <a:cs typeface="Calibri" pitchFamily="34" charset="0"/>
              </a:rPr>
              <a:t>java.exe</a:t>
            </a:r>
            <a:r>
              <a:rPr lang="en-US" sz="2200" b="1" dirty="0">
                <a:solidFill>
                  <a:srgbClr val="002060"/>
                </a:solidFill>
                <a:latin typeface="Calibri" pitchFamily="34" charset="0"/>
                <a:cs typeface="Calibri" pitchFamily="34" charset="0"/>
              </a:rPr>
              <a:t>)</a:t>
            </a:r>
          </a:p>
          <a:p>
            <a:pPr lvl="0" algn="just" fontAlgn="auto">
              <a:spcBef>
                <a:spcPct val="20000"/>
              </a:spcBef>
              <a:spcAft>
                <a:spcPts val="0"/>
              </a:spcAft>
            </a:pPr>
            <a:r>
              <a:rPr lang="en-US" sz="2200" b="1" dirty="0">
                <a:solidFill>
                  <a:srgbClr val="FF0000"/>
                </a:solidFill>
                <a:latin typeface="Calibri" pitchFamily="34" charset="0"/>
                <a:cs typeface="Calibri" pitchFamily="34" charset="0"/>
              </a:rPr>
              <a:t>But both contains JVM</a:t>
            </a:r>
          </a:p>
        </p:txBody>
      </p:sp>
      <p:sp>
        <p:nvSpPr>
          <p:cNvPr id="2" name="Footer Placeholder 1">
            <a:extLst>
              <a:ext uri="{FF2B5EF4-FFF2-40B4-BE49-F238E27FC236}">
                <a16:creationId xmlns:a16="http://schemas.microsoft.com/office/drawing/2014/main" xmlns="" id="{5E4E991F-BAFB-2A43-9760-BBA28BEB72E7}"/>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106086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p:cNvSpPr/>
          <p:nvPr/>
        </p:nvSpPr>
        <p:spPr>
          <a:xfrm>
            <a:off x="304800" y="742951"/>
            <a:ext cx="8229600" cy="2055947"/>
          </a:xfrm>
          <a:prstGeom prst="rect">
            <a:avLst/>
          </a:prstGeom>
        </p:spPr>
        <p:txBody>
          <a:bodyPr wrap="square">
            <a:spAutoFit/>
          </a:bodyPr>
          <a:lstStyle/>
          <a:p>
            <a:pPr lvl="0" algn="just" fontAlgn="auto">
              <a:spcBef>
                <a:spcPct val="20000"/>
              </a:spcBef>
              <a:spcAft>
                <a:spcPts val="0"/>
              </a:spcAft>
            </a:pPr>
            <a:r>
              <a:rPr lang="en-US" sz="2200" b="1" dirty="0">
                <a:solidFill>
                  <a:srgbClr val="FF0000"/>
                </a:solidFill>
                <a:latin typeface="Calibri" pitchFamily="34" charset="0"/>
                <a:cs typeface="Calibri" pitchFamily="34" charset="0"/>
              </a:rPr>
              <a:t>JVM is nothing but a java.exe (</a:t>
            </a:r>
            <a:r>
              <a:rPr lang="en-US" sz="1600" b="1" i="1" dirty="0">
                <a:solidFill>
                  <a:srgbClr val="405888"/>
                </a:solidFill>
                <a:latin typeface="Calibri" pitchFamily="34" charset="0"/>
                <a:cs typeface="Calibri" pitchFamily="34" charset="0"/>
              </a:rPr>
              <a:t>java interpreter also called as JVM launcher</a:t>
            </a:r>
            <a:r>
              <a:rPr lang="en-US" sz="2200" b="1" dirty="0">
                <a:solidFill>
                  <a:srgbClr val="FF0000"/>
                </a:solidFill>
                <a:latin typeface="Calibri" pitchFamily="34" charset="0"/>
                <a:cs typeface="Calibri" pitchFamily="34" charset="0"/>
              </a:rPr>
              <a:t>)</a:t>
            </a:r>
          </a:p>
          <a:p>
            <a:pPr lvl="0" algn="just" fontAlgn="auto">
              <a:spcBef>
                <a:spcPct val="20000"/>
              </a:spcBef>
              <a:spcAft>
                <a:spcPts val="0"/>
              </a:spcAft>
            </a:pPr>
            <a:r>
              <a:rPr lang="en-US" sz="2200" b="1" dirty="0">
                <a:solidFill>
                  <a:srgbClr val="405888"/>
                </a:solidFill>
                <a:latin typeface="Calibri" pitchFamily="34" charset="0"/>
                <a:cs typeface="Calibri" pitchFamily="34" charset="0"/>
              </a:rPr>
              <a:t>If we run java program using </a:t>
            </a:r>
          </a:p>
          <a:p>
            <a:pPr lvl="0" algn="just" fontAlgn="auto">
              <a:spcBef>
                <a:spcPct val="20000"/>
              </a:spcBef>
              <a:spcAft>
                <a:spcPts val="0"/>
              </a:spcAft>
            </a:pPr>
            <a:r>
              <a:rPr lang="en-US" sz="2200" dirty="0">
                <a:solidFill>
                  <a:srgbClr val="405888"/>
                </a:solidFill>
                <a:latin typeface="Calibri" pitchFamily="34" charset="0"/>
                <a:cs typeface="Calibri" pitchFamily="34" charset="0"/>
              </a:rPr>
              <a:t>	java Hello </a:t>
            </a:r>
          </a:p>
          <a:p>
            <a:pPr lvl="0" algn="just" fontAlgn="auto">
              <a:spcBef>
                <a:spcPct val="20000"/>
              </a:spcBef>
              <a:spcAft>
                <a:spcPts val="0"/>
              </a:spcAft>
            </a:pPr>
            <a:r>
              <a:rPr lang="en-US" sz="2200" dirty="0">
                <a:solidFill>
                  <a:srgbClr val="405888"/>
                </a:solidFill>
                <a:latin typeface="Calibri" pitchFamily="34" charset="0"/>
                <a:cs typeface="Calibri" pitchFamily="34" charset="0"/>
              </a:rPr>
              <a:t>	java.exe starts JVM, into JVM the </a:t>
            </a:r>
            <a:r>
              <a:rPr lang="en-US" sz="2200" dirty="0" err="1">
                <a:solidFill>
                  <a:srgbClr val="405888"/>
                </a:solidFill>
                <a:latin typeface="Calibri" pitchFamily="34" charset="0"/>
                <a:cs typeface="Calibri" pitchFamily="34" charset="0"/>
              </a:rPr>
              <a:t>Hello.class</a:t>
            </a:r>
            <a:r>
              <a:rPr lang="en-US" sz="2200" dirty="0">
                <a:solidFill>
                  <a:srgbClr val="405888"/>
                </a:solidFill>
                <a:latin typeface="Calibri" pitchFamily="34" charset="0"/>
                <a:cs typeface="Calibri" pitchFamily="34" charset="0"/>
              </a:rPr>
              <a:t> file is loaded</a:t>
            </a:r>
          </a:p>
          <a:p>
            <a:pPr lvl="0" algn="just" fontAlgn="auto">
              <a:spcBef>
                <a:spcPct val="20000"/>
              </a:spcBef>
              <a:spcAft>
                <a:spcPts val="0"/>
              </a:spcAft>
            </a:pPr>
            <a:r>
              <a:rPr lang="en-US" sz="2200" dirty="0">
                <a:solidFill>
                  <a:srgbClr val="405888"/>
                </a:solidFill>
                <a:latin typeface="Calibri" pitchFamily="34" charset="0"/>
                <a:cs typeface="Calibri" pitchFamily="34" charset="0"/>
              </a:rPr>
              <a:t>	JVM converts java byte code into machine code</a:t>
            </a:r>
          </a:p>
        </p:txBody>
      </p:sp>
      <p:sp>
        <p:nvSpPr>
          <p:cNvPr id="7" name="Rectangle 6">
            <a:extLst>
              <a:ext uri="{FF2B5EF4-FFF2-40B4-BE49-F238E27FC236}">
                <a16:creationId xmlns:a16="http://schemas.microsoft.com/office/drawing/2014/main" xmlns="" id="{BFAD6647-5EE1-5EA3-B3CA-8133786E9313}"/>
              </a:ext>
            </a:extLst>
          </p:cNvPr>
          <p:cNvSpPr/>
          <p:nvPr/>
        </p:nvSpPr>
        <p:spPr>
          <a:xfrm>
            <a:off x="468406" y="3181350"/>
            <a:ext cx="8229600" cy="769441"/>
          </a:xfrm>
          <a:prstGeom prst="rect">
            <a:avLst/>
          </a:prstGeom>
        </p:spPr>
        <p:txBody>
          <a:bodyPr wrap="square">
            <a:spAutoFit/>
          </a:bodyPr>
          <a:lstStyle/>
          <a:p>
            <a:pPr lvl="0" algn="just" fontAlgn="auto">
              <a:spcBef>
                <a:spcPct val="20000"/>
              </a:spcBef>
              <a:spcAft>
                <a:spcPts val="0"/>
              </a:spcAft>
            </a:pPr>
            <a:r>
              <a:rPr lang="en-US" sz="2200" b="1" dirty="0">
                <a:solidFill>
                  <a:srgbClr val="405888"/>
                </a:solidFill>
                <a:latin typeface="Calibri" pitchFamily="34" charset="0"/>
                <a:cs typeface="Calibri" pitchFamily="34" charset="0"/>
              </a:rPr>
              <a:t>But before that we need to learn how java compiler compiles java source file (.java extension) into java byte code file (.class extension)</a:t>
            </a:r>
            <a:endParaRPr lang="en-US" sz="2200" dirty="0">
              <a:solidFill>
                <a:srgbClr val="405888"/>
              </a:solidFill>
              <a:latin typeface="Calibri" pitchFamily="34" charset="0"/>
              <a:cs typeface="Calibri" pitchFamily="34" charset="0"/>
            </a:endParaRPr>
          </a:p>
        </p:txBody>
      </p:sp>
      <p:sp>
        <p:nvSpPr>
          <p:cNvPr id="2" name="Footer Placeholder 1">
            <a:extLst>
              <a:ext uri="{FF2B5EF4-FFF2-40B4-BE49-F238E27FC236}">
                <a16:creationId xmlns:a16="http://schemas.microsoft.com/office/drawing/2014/main" xmlns="" id="{CCEC609F-17FA-4FFF-1999-901BD23F6891}"/>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29132298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Rectangle 8"/>
          <p:cNvSpPr/>
          <p:nvPr/>
        </p:nvSpPr>
        <p:spPr>
          <a:xfrm>
            <a:off x="304800" y="670739"/>
            <a:ext cx="8229600" cy="4007251"/>
          </a:xfrm>
          <a:prstGeom prst="rect">
            <a:avLst/>
          </a:prstGeom>
        </p:spPr>
        <p:txBody>
          <a:bodyPr wrap="square">
            <a:spAutoFit/>
          </a:bodyPr>
          <a:lstStyle/>
          <a:p>
            <a:pPr lvl="0" algn="just" fontAlgn="auto">
              <a:spcBef>
                <a:spcPct val="20000"/>
              </a:spcBef>
              <a:spcAft>
                <a:spcPts val="0"/>
              </a:spcAft>
            </a:pPr>
            <a:r>
              <a:rPr lang="en-US" sz="2400" dirty="0">
                <a:solidFill>
                  <a:srgbClr val="FF0000"/>
                </a:solidFill>
                <a:latin typeface="Calibri" pitchFamily="34" charset="0"/>
                <a:cs typeface="Calibri" pitchFamily="34" charset="0"/>
              </a:rPr>
              <a:t>.java files are source files </a:t>
            </a:r>
          </a:p>
          <a:p>
            <a:pPr lvl="0" algn="just" fontAlgn="auto">
              <a:spcBef>
                <a:spcPct val="20000"/>
              </a:spcBef>
              <a:spcAft>
                <a:spcPts val="0"/>
              </a:spcAft>
            </a:pPr>
            <a:r>
              <a:rPr lang="en-US" sz="2400" dirty="0">
                <a:solidFill>
                  <a:srgbClr val="FF0000"/>
                </a:solidFill>
                <a:latin typeface="Calibri" pitchFamily="34" charset="0"/>
                <a:cs typeface="Calibri" pitchFamily="34" charset="0"/>
              </a:rPr>
              <a:t>javac.exe is a binary file that comes in every OS that converts the java source code into java byte code (.class file)</a:t>
            </a:r>
          </a:p>
          <a:p>
            <a:pPr lvl="0" algn="just" fontAlgn="auto">
              <a:spcBef>
                <a:spcPct val="20000"/>
              </a:spcBef>
              <a:spcAft>
                <a:spcPts val="0"/>
              </a:spcAft>
            </a:pPr>
            <a:r>
              <a:rPr lang="en-US" sz="2400" dirty="0">
                <a:solidFill>
                  <a:srgbClr val="FF0000"/>
                </a:solidFill>
                <a:latin typeface="Calibri" pitchFamily="34" charset="0"/>
                <a:cs typeface="Calibri" pitchFamily="34" charset="0"/>
              </a:rPr>
              <a:t>The .class file is a OS independent file because instead of </a:t>
            </a:r>
            <a:r>
              <a:rPr lang="en-US" sz="2400" i="1" dirty="0">
                <a:solidFill>
                  <a:srgbClr val="405888"/>
                </a:solidFill>
                <a:latin typeface="Calibri" pitchFamily="34" charset="0"/>
                <a:cs typeface="Calibri" pitchFamily="34" charset="0"/>
              </a:rPr>
              <a:t>having machine instructions</a:t>
            </a:r>
            <a:r>
              <a:rPr lang="en-US" sz="2400" dirty="0">
                <a:solidFill>
                  <a:srgbClr val="FF0000"/>
                </a:solidFill>
                <a:latin typeface="Calibri" pitchFamily="34" charset="0"/>
                <a:cs typeface="Calibri" pitchFamily="34" charset="0"/>
              </a:rPr>
              <a:t> </a:t>
            </a:r>
            <a:r>
              <a:rPr lang="en-US" sz="2400" i="1" dirty="0">
                <a:solidFill>
                  <a:srgbClr val="405888"/>
                </a:solidFill>
                <a:latin typeface="Calibri" pitchFamily="34" charset="0"/>
                <a:cs typeface="Calibri" pitchFamily="34" charset="0"/>
              </a:rPr>
              <a:t>specific to OS</a:t>
            </a:r>
            <a:r>
              <a:rPr lang="en-US" sz="2400" dirty="0">
                <a:solidFill>
                  <a:srgbClr val="FF0000"/>
                </a:solidFill>
                <a:latin typeface="Calibri" pitchFamily="34" charset="0"/>
                <a:cs typeface="Calibri" pitchFamily="34" charset="0"/>
              </a:rPr>
              <a:t>, it contains java byte code instructions.</a:t>
            </a:r>
          </a:p>
          <a:p>
            <a:pPr lvl="0" algn="just" fontAlgn="auto">
              <a:spcBef>
                <a:spcPct val="20000"/>
              </a:spcBef>
              <a:spcAft>
                <a:spcPts val="0"/>
              </a:spcAft>
            </a:pPr>
            <a:r>
              <a:rPr lang="en-US" sz="2400" dirty="0">
                <a:solidFill>
                  <a:srgbClr val="FF0000"/>
                </a:solidFill>
                <a:latin typeface="Calibri" pitchFamily="34" charset="0"/>
                <a:cs typeface="Calibri" pitchFamily="34" charset="0"/>
              </a:rPr>
              <a:t>These bye code instructions are read by java interpreter (java.exe) which is OS specific that reads common byte code instructions and converts them into machine instruction at runtime</a:t>
            </a:r>
          </a:p>
        </p:txBody>
      </p:sp>
      <p:sp>
        <p:nvSpPr>
          <p:cNvPr id="2" name="Footer Placeholder 1">
            <a:extLst>
              <a:ext uri="{FF2B5EF4-FFF2-40B4-BE49-F238E27FC236}">
                <a16:creationId xmlns:a16="http://schemas.microsoft.com/office/drawing/2014/main" xmlns="" id="{92455756-74AA-351A-A2F3-0DF27CE0F91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5354378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graphicFrame>
        <p:nvGraphicFramePr>
          <p:cNvPr id="7" name="Table 6">
            <a:extLst>
              <a:ext uri="{FF2B5EF4-FFF2-40B4-BE49-F238E27FC236}">
                <a16:creationId xmlns:a16="http://schemas.microsoft.com/office/drawing/2014/main" xmlns="" id="{A03D231A-51FB-D88D-981D-9367D22D0689}"/>
              </a:ext>
            </a:extLst>
          </p:cNvPr>
          <p:cNvGraphicFramePr>
            <a:graphicFrameLocks noGrp="1"/>
          </p:cNvGraphicFramePr>
          <p:nvPr>
            <p:extLst>
              <p:ext uri="{D42A27DB-BD31-4B8C-83A1-F6EECF244321}">
                <p14:modId xmlns:p14="http://schemas.microsoft.com/office/powerpoint/2010/main" val="112449123"/>
              </p:ext>
            </p:extLst>
          </p:nvPr>
        </p:nvGraphicFramePr>
        <p:xfrm>
          <a:off x="457200" y="786762"/>
          <a:ext cx="5715000" cy="1463040"/>
        </p:xfrm>
        <a:graphic>
          <a:graphicData uri="http://schemas.openxmlformats.org/drawingml/2006/table">
            <a:tbl>
              <a:tblPr/>
              <a:tblGrid>
                <a:gridCol w="1490956">
                  <a:extLst>
                    <a:ext uri="{9D8B030D-6E8A-4147-A177-3AD203B41FA5}">
                      <a16:colId xmlns:a16="http://schemas.microsoft.com/office/drawing/2014/main" xmlns="" val="4016543650"/>
                    </a:ext>
                  </a:extLst>
                </a:gridCol>
                <a:gridCol w="2006759">
                  <a:extLst>
                    <a:ext uri="{9D8B030D-6E8A-4147-A177-3AD203B41FA5}">
                      <a16:colId xmlns:a16="http://schemas.microsoft.com/office/drawing/2014/main" xmlns="" val="2214737079"/>
                    </a:ext>
                  </a:extLst>
                </a:gridCol>
                <a:gridCol w="2217285">
                  <a:extLst>
                    <a:ext uri="{9D8B030D-6E8A-4147-A177-3AD203B41FA5}">
                      <a16:colId xmlns:a16="http://schemas.microsoft.com/office/drawing/2014/main" xmlns="" val="1798310792"/>
                    </a:ext>
                  </a:extLst>
                </a:gridCol>
              </a:tblGrid>
              <a:tr h="0">
                <a:tc>
                  <a:txBody>
                    <a:bodyPr/>
                    <a:lstStyle/>
                    <a:p>
                      <a:pPr algn="l"/>
                      <a:r>
                        <a:rPr lang="en-IN" b="0">
                          <a:solidFill>
                            <a:srgbClr val="405888"/>
                          </a:solidFill>
                          <a:effectLst/>
                        </a:rPr>
                        <a:t>Mnemonic</a:t>
                      </a:r>
                    </a:p>
                  </a:txBody>
                  <a:tcPr marR="19050" anchor="ctr">
                    <a:lnL>
                      <a:noFill/>
                    </a:lnL>
                    <a:lnR>
                      <a:noFill/>
                    </a:lnR>
                    <a:lnT>
                      <a:noFill/>
                    </a:lnT>
                    <a:lnB>
                      <a:noFill/>
                    </a:lnB>
                    <a:solidFill>
                      <a:srgbClr val="FFFFFF"/>
                    </a:solidFill>
                  </a:tcPr>
                </a:tc>
                <a:tc>
                  <a:txBody>
                    <a:bodyPr/>
                    <a:lstStyle/>
                    <a:p>
                      <a:pPr algn="l"/>
                      <a:r>
                        <a:rPr lang="en-IN" b="0">
                          <a:solidFill>
                            <a:srgbClr val="405888"/>
                          </a:solidFill>
                          <a:effectLst/>
                        </a:rPr>
                        <a:t>Opcode; (in hex)</a:t>
                      </a:r>
                    </a:p>
                  </a:txBody>
                  <a:tcPr marL="19050" marR="19050" anchor="ctr">
                    <a:lnL>
                      <a:noFill/>
                    </a:lnL>
                    <a:lnR>
                      <a:noFill/>
                    </a:lnR>
                    <a:lnT>
                      <a:noFill/>
                    </a:lnT>
                    <a:lnB>
                      <a:noFill/>
                    </a:lnB>
                    <a:solidFill>
                      <a:srgbClr val="FFFFFF"/>
                    </a:solidFill>
                  </a:tcPr>
                </a:tc>
                <a:tc>
                  <a:txBody>
                    <a:bodyPr/>
                    <a:lstStyle/>
                    <a:p>
                      <a:pPr algn="l"/>
                      <a:r>
                        <a:rPr lang="en-IN" b="0" dirty="0">
                          <a:solidFill>
                            <a:srgbClr val="405888"/>
                          </a:solidFill>
                          <a:effectLst/>
                        </a:rPr>
                        <a:t>Opcode (in binary)</a:t>
                      </a:r>
                    </a:p>
                  </a:txBody>
                  <a:tcPr marL="19050" marR="19050" anchor="ctr">
                    <a:lnL>
                      <a:noFill/>
                    </a:lnL>
                    <a:lnR>
                      <a:noFill/>
                    </a:lnR>
                    <a:lnT>
                      <a:noFill/>
                    </a:lnT>
                    <a:lnB>
                      <a:noFill/>
                    </a:lnB>
                    <a:solidFill>
                      <a:srgbClr val="FFFFFF"/>
                    </a:solidFill>
                  </a:tcPr>
                </a:tc>
                <a:extLst>
                  <a:ext uri="{0D108BD9-81ED-4DB2-BD59-A6C34878D82A}">
                    <a16:rowId xmlns:a16="http://schemas.microsoft.com/office/drawing/2014/main" xmlns="" val="4115394902"/>
                  </a:ext>
                </a:extLst>
              </a:tr>
              <a:tr h="0">
                <a:tc>
                  <a:txBody>
                    <a:bodyPr/>
                    <a:lstStyle/>
                    <a:p>
                      <a:pPr algn="l"/>
                      <a:r>
                        <a:rPr lang="en-IN">
                          <a:solidFill>
                            <a:srgbClr val="405888"/>
                          </a:solidFill>
                          <a:effectLst/>
                        </a:rPr>
                        <a:t>aaload</a:t>
                      </a:r>
                    </a:p>
                  </a:txBody>
                  <a:tcPr marR="19050" anchor="ctr">
                    <a:lnL>
                      <a:noFill/>
                    </a:lnL>
                    <a:lnR>
                      <a:noFill/>
                    </a:lnR>
                    <a:lnT>
                      <a:noFill/>
                    </a:lnT>
                    <a:lnB>
                      <a:noFill/>
                    </a:lnB>
                    <a:solidFill>
                      <a:srgbClr val="FFFFFF"/>
                    </a:solidFill>
                  </a:tcPr>
                </a:tc>
                <a:tc>
                  <a:txBody>
                    <a:bodyPr/>
                    <a:lstStyle/>
                    <a:p>
                      <a:pPr algn="l"/>
                      <a:r>
                        <a:rPr lang="en-IN">
                          <a:solidFill>
                            <a:srgbClr val="405888"/>
                          </a:solidFill>
                          <a:effectLst/>
                        </a:rPr>
                        <a:t>32</a:t>
                      </a:r>
                    </a:p>
                  </a:txBody>
                  <a:tcPr marL="19050" marR="19050" anchor="ctr">
                    <a:lnL>
                      <a:noFill/>
                    </a:lnL>
                    <a:lnR>
                      <a:noFill/>
                    </a:lnR>
                    <a:lnT>
                      <a:noFill/>
                    </a:lnT>
                    <a:lnB>
                      <a:noFill/>
                    </a:lnB>
                    <a:solidFill>
                      <a:srgbClr val="FFFFFF"/>
                    </a:solidFill>
                  </a:tcPr>
                </a:tc>
                <a:tc>
                  <a:txBody>
                    <a:bodyPr/>
                    <a:lstStyle/>
                    <a:p>
                      <a:pPr algn="l"/>
                      <a:r>
                        <a:rPr lang="en-IN">
                          <a:solidFill>
                            <a:srgbClr val="405888"/>
                          </a:solidFill>
                          <a:effectLst/>
                        </a:rPr>
                        <a:t>0011 0010</a:t>
                      </a:r>
                    </a:p>
                  </a:txBody>
                  <a:tcPr marL="19050" marR="19050" anchor="ctr">
                    <a:lnL>
                      <a:noFill/>
                    </a:lnL>
                    <a:lnR>
                      <a:noFill/>
                    </a:lnR>
                    <a:lnT>
                      <a:noFill/>
                    </a:lnT>
                    <a:lnB>
                      <a:noFill/>
                    </a:lnB>
                    <a:solidFill>
                      <a:srgbClr val="FFFFFF"/>
                    </a:solidFill>
                  </a:tcPr>
                </a:tc>
                <a:extLst>
                  <a:ext uri="{0D108BD9-81ED-4DB2-BD59-A6C34878D82A}">
                    <a16:rowId xmlns:a16="http://schemas.microsoft.com/office/drawing/2014/main" xmlns="" val="3954260042"/>
                  </a:ext>
                </a:extLst>
              </a:tr>
              <a:tr h="0">
                <a:tc>
                  <a:txBody>
                    <a:bodyPr/>
                    <a:lstStyle/>
                    <a:p>
                      <a:pPr algn="l"/>
                      <a:r>
                        <a:rPr lang="en-IN">
                          <a:solidFill>
                            <a:srgbClr val="405888"/>
                          </a:solidFill>
                          <a:effectLst/>
                        </a:rPr>
                        <a:t>aastore</a:t>
                      </a:r>
                    </a:p>
                  </a:txBody>
                  <a:tcPr marR="19050" anchor="ctr">
                    <a:lnL>
                      <a:noFill/>
                    </a:lnL>
                    <a:lnR>
                      <a:noFill/>
                    </a:lnR>
                    <a:lnT>
                      <a:noFill/>
                    </a:lnT>
                    <a:lnB>
                      <a:noFill/>
                    </a:lnB>
                    <a:solidFill>
                      <a:srgbClr val="FFFFFF"/>
                    </a:solidFill>
                  </a:tcPr>
                </a:tc>
                <a:tc>
                  <a:txBody>
                    <a:bodyPr/>
                    <a:lstStyle/>
                    <a:p>
                      <a:pPr algn="l"/>
                      <a:r>
                        <a:rPr lang="en-IN">
                          <a:solidFill>
                            <a:srgbClr val="405888"/>
                          </a:solidFill>
                          <a:effectLst/>
                        </a:rPr>
                        <a:t>53</a:t>
                      </a:r>
                    </a:p>
                  </a:txBody>
                  <a:tcPr marL="19050" marR="19050" anchor="ctr">
                    <a:lnL>
                      <a:noFill/>
                    </a:lnL>
                    <a:lnR>
                      <a:noFill/>
                    </a:lnR>
                    <a:lnT>
                      <a:noFill/>
                    </a:lnT>
                    <a:lnB>
                      <a:noFill/>
                    </a:lnB>
                    <a:solidFill>
                      <a:srgbClr val="FFFFFF"/>
                    </a:solidFill>
                  </a:tcPr>
                </a:tc>
                <a:tc>
                  <a:txBody>
                    <a:bodyPr/>
                    <a:lstStyle/>
                    <a:p>
                      <a:pPr algn="l"/>
                      <a:r>
                        <a:rPr lang="en-IN">
                          <a:solidFill>
                            <a:srgbClr val="405888"/>
                          </a:solidFill>
                          <a:effectLst/>
                        </a:rPr>
                        <a:t>0101 0011</a:t>
                      </a:r>
                    </a:p>
                  </a:txBody>
                  <a:tcPr marL="19050" marR="19050" anchor="ctr">
                    <a:lnL>
                      <a:noFill/>
                    </a:lnL>
                    <a:lnR>
                      <a:noFill/>
                    </a:lnR>
                    <a:lnT>
                      <a:noFill/>
                    </a:lnT>
                    <a:lnB>
                      <a:noFill/>
                    </a:lnB>
                    <a:solidFill>
                      <a:srgbClr val="FFFFFF"/>
                    </a:solidFill>
                  </a:tcPr>
                </a:tc>
                <a:extLst>
                  <a:ext uri="{0D108BD9-81ED-4DB2-BD59-A6C34878D82A}">
                    <a16:rowId xmlns:a16="http://schemas.microsoft.com/office/drawing/2014/main" xmlns="" val="3254909784"/>
                  </a:ext>
                </a:extLst>
              </a:tr>
              <a:tr h="0">
                <a:tc>
                  <a:txBody>
                    <a:bodyPr/>
                    <a:lstStyle/>
                    <a:p>
                      <a:pPr algn="l"/>
                      <a:r>
                        <a:rPr lang="en-IN">
                          <a:solidFill>
                            <a:srgbClr val="405888"/>
                          </a:solidFill>
                          <a:effectLst/>
                        </a:rPr>
                        <a:t>aconst_null</a:t>
                      </a:r>
                    </a:p>
                  </a:txBody>
                  <a:tcPr marR="19050" anchor="ctr">
                    <a:lnL>
                      <a:noFill/>
                    </a:lnL>
                    <a:lnR>
                      <a:noFill/>
                    </a:lnR>
                    <a:lnT>
                      <a:noFill/>
                    </a:lnT>
                    <a:lnB>
                      <a:noFill/>
                    </a:lnB>
                    <a:solidFill>
                      <a:srgbClr val="FFFFFF"/>
                    </a:solidFill>
                  </a:tcPr>
                </a:tc>
                <a:tc>
                  <a:txBody>
                    <a:bodyPr/>
                    <a:lstStyle/>
                    <a:p>
                      <a:pPr algn="l"/>
                      <a:r>
                        <a:rPr lang="en-IN">
                          <a:solidFill>
                            <a:srgbClr val="405888"/>
                          </a:solidFill>
                          <a:effectLst/>
                        </a:rPr>
                        <a:t>01</a:t>
                      </a:r>
                    </a:p>
                  </a:txBody>
                  <a:tcPr marL="19050" marR="19050" anchor="ctr">
                    <a:lnL>
                      <a:noFill/>
                    </a:lnL>
                    <a:lnR>
                      <a:noFill/>
                    </a:lnR>
                    <a:lnT>
                      <a:noFill/>
                    </a:lnT>
                    <a:lnB>
                      <a:noFill/>
                    </a:lnB>
                    <a:solidFill>
                      <a:srgbClr val="FFFFFF"/>
                    </a:solidFill>
                  </a:tcPr>
                </a:tc>
                <a:tc>
                  <a:txBody>
                    <a:bodyPr/>
                    <a:lstStyle/>
                    <a:p>
                      <a:pPr algn="l"/>
                      <a:r>
                        <a:rPr lang="en-IN" dirty="0">
                          <a:solidFill>
                            <a:srgbClr val="405888"/>
                          </a:solidFill>
                          <a:effectLst/>
                        </a:rPr>
                        <a:t>0000 0001</a:t>
                      </a:r>
                    </a:p>
                  </a:txBody>
                  <a:tcPr marL="19050" marR="19050" anchor="ctr">
                    <a:lnL>
                      <a:noFill/>
                    </a:lnL>
                    <a:lnR>
                      <a:noFill/>
                    </a:lnR>
                    <a:lnT>
                      <a:noFill/>
                    </a:lnT>
                    <a:lnB>
                      <a:noFill/>
                    </a:lnB>
                    <a:solidFill>
                      <a:srgbClr val="FFFFFF"/>
                    </a:solidFill>
                  </a:tcPr>
                </a:tc>
                <a:extLst>
                  <a:ext uri="{0D108BD9-81ED-4DB2-BD59-A6C34878D82A}">
                    <a16:rowId xmlns:a16="http://schemas.microsoft.com/office/drawing/2014/main" xmlns="" val="1000283616"/>
                  </a:ext>
                </a:extLst>
              </a:tr>
            </a:tbl>
          </a:graphicData>
        </a:graphic>
      </p:graphicFrame>
      <p:sp>
        <p:nvSpPr>
          <p:cNvPr id="2" name="Rectangle 1">
            <a:extLst>
              <a:ext uri="{FF2B5EF4-FFF2-40B4-BE49-F238E27FC236}">
                <a16:creationId xmlns:a16="http://schemas.microsoft.com/office/drawing/2014/main" xmlns="" id="{0F880CAD-2E5E-4559-AA82-648BE0EA5BD1}"/>
              </a:ext>
            </a:extLst>
          </p:cNvPr>
          <p:cNvSpPr>
            <a:spLocks noChangeArrowheads="1"/>
          </p:cNvSpPr>
          <p:nvPr/>
        </p:nvSpPr>
        <p:spPr bwMode="auto">
          <a:xfrm>
            <a:off x="225911" y="2367348"/>
            <a:ext cx="5793889" cy="2448732"/>
          </a:xfrm>
          <a:prstGeom prst="rect">
            <a:avLst/>
          </a:prstGeom>
          <a:noFill/>
          <a:ln>
            <a:noFill/>
          </a:ln>
          <a:effectLst/>
        </p:spPr>
        <p:txBody>
          <a:bodyPr vert="horz" wrap="square" lIns="253920" tIns="4761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02122"/>
                </a:solidFill>
                <a:effectLst/>
                <a:latin typeface="Arial" panose="020B0604020202020204" pitchFamily="34" charset="0"/>
              </a:rPr>
              <a:t>Instructions fall into a number of broad groups:</a:t>
            </a:r>
            <a:endParaRPr kumimoji="0" lang="en-US" altLang="en-US" sz="1050"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Load and store (e.g. </a:t>
            </a:r>
            <a:r>
              <a:rPr kumimoji="0" lang="en-US" altLang="en-US" sz="1200" b="0" i="0" u="none" strike="noStrike" cap="none" normalizeH="0" baseline="0" dirty="0">
                <a:ln>
                  <a:noFill/>
                </a:ln>
                <a:solidFill>
                  <a:srgbClr val="000000"/>
                </a:solidFill>
                <a:effectLst/>
                <a:latin typeface="Courier New" panose="02070309020205020404" pitchFamily="49" charset="0"/>
              </a:rPr>
              <a:t>aload_0</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err="1">
                <a:ln>
                  <a:noFill/>
                </a:ln>
                <a:solidFill>
                  <a:srgbClr val="000000"/>
                </a:solidFill>
                <a:effectLst/>
                <a:latin typeface="Courier New" panose="02070309020205020404" pitchFamily="49" charset="0"/>
              </a:rPr>
              <a:t>istore</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Arithmetic and logic (e.g. </a:t>
            </a:r>
            <a:r>
              <a:rPr kumimoji="0" lang="en-US" altLang="en-US" sz="1200" b="0" i="0" u="none" strike="noStrike" cap="none" normalizeH="0" baseline="0" dirty="0" err="1">
                <a:ln>
                  <a:noFill/>
                </a:ln>
                <a:solidFill>
                  <a:srgbClr val="000000"/>
                </a:solidFill>
                <a:effectLst/>
                <a:latin typeface="Courier New" panose="02070309020205020404" pitchFamily="49" charset="0"/>
              </a:rPr>
              <a:t>ladd</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err="1">
                <a:ln>
                  <a:noFill/>
                </a:ln>
                <a:solidFill>
                  <a:srgbClr val="000000"/>
                </a:solidFill>
                <a:effectLst/>
                <a:latin typeface="Courier New" panose="02070309020205020404" pitchFamily="49" charset="0"/>
              </a:rPr>
              <a:t>fcmpl</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Type conversion (e.g. </a:t>
            </a:r>
            <a:r>
              <a:rPr kumimoji="0" lang="en-US" altLang="en-US" sz="1200" b="0" i="0" u="none" strike="noStrike" cap="none" normalizeH="0" baseline="0" dirty="0">
                <a:ln>
                  <a:noFill/>
                </a:ln>
                <a:solidFill>
                  <a:srgbClr val="000000"/>
                </a:solidFill>
                <a:effectLst/>
                <a:latin typeface="Courier New" panose="02070309020205020404" pitchFamily="49" charset="0"/>
              </a:rPr>
              <a:t>i2b</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a:ln>
                  <a:noFill/>
                </a:ln>
                <a:solidFill>
                  <a:srgbClr val="000000"/>
                </a:solidFill>
                <a:effectLst/>
                <a:latin typeface="Courier New" panose="02070309020205020404" pitchFamily="49" charset="0"/>
              </a:rPr>
              <a:t>d2i</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Object creation and manipulation (</a:t>
            </a:r>
            <a:r>
              <a:rPr kumimoji="0" lang="en-US" altLang="en-US" sz="1200" b="0" i="0" u="none" strike="noStrike" cap="none" normalizeH="0" baseline="0" dirty="0">
                <a:ln>
                  <a:noFill/>
                </a:ln>
                <a:solidFill>
                  <a:srgbClr val="000000"/>
                </a:solidFill>
                <a:effectLst/>
                <a:latin typeface="Courier New" panose="02070309020205020404" pitchFamily="49" charset="0"/>
              </a:rPr>
              <a:t>new</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err="1">
                <a:ln>
                  <a:noFill/>
                </a:ln>
                <a:solidFill>
                  <a:srgbClr val="000000"/>
                </a:solidFill>
                <a:effectLst/>
                <a:latin typeface="Courier New" panose="02070309020205020404" pitchFamily="49" charset="0"/>
              </a:rPr>
              <a:t>putfield</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Operand stack management (e.g. </a:t>
            </a:r>
            <a:r>
              <a:rPr kumimoji="0" lang="en-US" altLang="en-US" sz="1200" b="0" i="0" u="none" strike="noStrike" cap="none" normalizeH="0" baseline="0" dirty="0">
                <a:ln>
                  <a:noFill/>
                </a:ln>
                <a:solidFill>
                  <a:srgbClr val="000000"/>
                </a:solidFill>
                <a:effectLst/>
                <a:latin typeface="Courier New" panose="02070309020205020404" pitchFamily="49" charset="0"/>
              </a:rPr>
              <a:t>swap</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a:ln>
                  <a:noFill/>
                </a:ln>
                <a:solidFill>
                  <a:srgbClr val="000000"/>
                </a:solidFill>
                <a:effectLst/>
                <a:latin typeface="Courier New" panose="02070309020205020404" pitchFamily="49" charset="0"/>
              </a:rPr>
              <a:t>dup2</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Control transfer (e.g. </a:t>
            </a:r>
            <a:r>
              <a:rPr kumimoji="0" lang="en-US" altLang="en-US" sz="1200" b="0" i="0" u="none" strike="noStrike" cap="none" normalizeH="0" baseline="0" dirty="0" err="1">
                <a:ln>
                  <a:noFill/>
                </a:ln>
                <a:solidFill>
                  <a:srgbClr val="000000"/>
                </a:solidFill>
                <a:effectLst/>
                <a:latin typeface="Courier New" panose="02070309020205020404" pitchFamily="49" charset="0"/>
              </a:rPr>
              <a:t>ifeq</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err="1">
                <a:ln>
                  <a:noFill/>
                </a:ln>
                <a:solidFill>
                  <a:srgbClr val="000000"/>
                </a:solidFill>
                <a:effectLst/>
                <a:latin typeface="Courier New" panose="02070309020205020404" pitchFamily="49" charset="0"/>
              </a:rPr>
              <a:t>goto</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rgbClr val="202122"/>
                </a:solidFill>
                <a:effectLst/>
                <a:latin typeface="Arial" panose="020B0604020202020204" pitchFamily="34" charset="0"/>
              </a:rPr>
              <a:t>Method invocation and return (e.g. </a:t>
            </a:r>
            <a:r>
              <a:rPr kumimoji="0" lang="en-US" altLang="en-US" sz="1200" b="0" i="0" u="none" strike="noStrike" cap="none" normalizeH="0" baseline="0" dirty="0" err="1">
                <a:ln>
                  <a:noFill/>
                </a:ln>
                <a:solidFill>
                  <a:srgbClr val="000000"/>
                </a:solidFill>
                <a:effectLst/>
                <a:latin typeface="Courier New" panose="02070309020205020404" pitchFamily="49" charset="0"/>
              </a:rPr>
              <a:t>invokespecial</a:t>
            </a:r>
            <a:r>
              <a:rPr kumimoji="0" lang="en-US" altLang="en-US" sz="1600" b="0" i="0" u="none" strike="noStrike" cap="none" normalizeH="0" baseline="0" dirty="0">
                <a:ln>
                  <a:noFill/>
                </a:ln>
                <a:solidFill>
                  <a:srgbClr val="202122"/>
                </a:solidFill>
                <a:effectLst/>
                <a:latin typeface="Arial" panose="020B0604020202020204" pitchFamily="34" charset="0"/>
              </a:rPr>
              <a:t>, </a:t>
            </a:r>
            <a:r>
              <a:rPr kumimoji="0" lang="en-US" altLang="en-US" sz="1200" b="0" i="0" u="none" strike="noStrike" cap="none" normalizeH="0" baseline="0" dirty="0" err="1">
                <a:ln>
                  <a:noFill/>
                </a:ln>
                <a:solidFill>
                  <a:srgbClr val="000000"/>
                </a:solidFill>
                <a:effectLst/>
                <a:latin typeface="Courier New" panose="02070309020205020404" pitchFamily="49" charset="0"/>
              </a:rPr>
              <a:t>areturn</a:t>
            </a:r>
            <a:r>
              <a:rPr kumimoji="0" lang="en-US" altLang="en-US" sz="1600" b="0" i="0" u="none" strike="noStrike" cap="none" normalizeH="0" baseline="0" dirty="0">
                <a:ln>
                  <a:noFill/>
                </a:ln>
                <a:solidFill>
                  <a:srgbClr val="202122"/>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8" name="Rectangle: Top Corners Rounded 7">
            <a:extLst>
              <a:ext uri="{FF2B5EF4-FFF2-40B4-BE49-F238E27FC236}">
                <a16:creationId xmlns:a16="http://schemas.microsoft.com/office/drawing/2014/main" xmlns="" id="{25724BD3-E10B-E709-0C98-3E9675419CE8}"/>
              </a:ext>
            </a:extLst>
          </p:cNvPr>
          <p:cNvSpPr/>
          <p:nvPr/>
        </p:nvSpPr>
        <p:spPr>
          <a:xfrm>
            <a:off x="6172200" y="1068702"/>
            <a:ext cx="2743200" cy="2362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Byte Code Instructions, independent of processors instruction set</a:t>
            </a:r>
          </a:p>
          <a:p>
            <a:pPr algn="ctr"/>
            <a:r>
              <a:rPr lang="en-IN" sz="1400" dirty="0"/>
              <a:t>256 total, 202 are in use, 51 reserved for future use &amp; 3 are for JVM implementation to use</a:t>
            </a:r>
            <a:endParaRPr lang="en-IN" dirty="0"/>
          </a:p>
        </p:txBody>
      </p:sp>
      <p:cxnSp>
        <p:nvCxnSpPr>
          <p:cNvPr id="11" name="Straight Arrow Connector 10">
            <a:extLst>
              <a:ext uri="{FF2B5EF4-FFF2-40B4-BE49-F238E27FC236}">
                <a16:creationId xmlns:a16="http://schemas.microsoft.com/office/drawing/2014/main" xmlns="" id="{B265C45B-8BA9-8A22-437C-B767FE6C60D9}"/>
              </a:ext>
            </a:extLst>
          </p:cNvPr>
          <p:cNvCxnSpPr/>
          <p:nvPr/>
        </p:nvCxnSpPr>
        <p:spPr>
          <a:xfrm flipH="1" flipV="1">
            <a:off x="1447800" y="1504950"/>
            <a:ext cx="4724400" cy="744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7D5EDE22-5C59-00B2-EA3A-3CDC30582FE9}"/>
              </a:ext>
            </a:extLst>
          </p:cNvPr>
          <p:cNvCxnSpPr/>
          <p:nvPr/>
        </p:nvCxnSpPr>
        <p:spPr>
          <a:xfrm flipH="1">
            <a:off x="3581400" y="2249802"/>
            <a:ext cx="2590800" cy="1083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xmlns="" id="{2E04673C-D0FE-AB71-1B77-31C5E9ED7EA9}"/>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6089770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graphicFrame>
        <p:nvGraphicFramePr>
          <p:cNvPr id="3" name="Table 2">
            <a:extLst>
              <a:ext uri="{FF2B5EF4-FFF2-40B4-BE49-F238E27FC236}">
                <a16:creationId xmlns:a16="http://schemas.microsoft.com/office/drawing/2014/main" xmlns="" id="{82FBE0AF-B54A-43DA-C9A1-0B55A29EA252}"/>
              </a:ext>
            </a:extLst>
          </p:cNvPr>
          <p:cNvGraphicFramePr>
            <a:graphicFrameLocks noGrp="1"/>
          </p:cNvGraphicFramePr>
          <p:nvPr>
            <p:extLst>
              <p:ext uri="{D42A27DB-BD31-4B8C-83A1-F6EECF244321}">
                <p14:modId xmlns:p14="http://schemas.microsoft.com/office/powerpoint/2010/main" val="1914069963"/>
              </p:ext>
            </p:extLst>
          </p:nvPr>
        </p:nvGraphicFramePr>
        <p:xfrm>
          <a:off x="304800" y="1136967"/>
          <a:ext cx="3810000" cy="3291840"/>
        </p:xfrm>
        <a:graphic>
          <a:graphicData uri="http://schemas.openxmlformats.org/drawingml/2006/table">
            <a:tbl>
              <a:tblPr/>
              <a:tblGrid>
                <a:gridCol w="1905000">
                  <a:extLst>
                    <a:ext uri="{9D8B030D-6E8A-4147-A177-3AD203B41FA5}">
                      <a16:colId xmlns:a16="http://schemas.microsoft.com/office/drawing/2014/main" xmlns="" val="1558529613"/>
                    </a:ext>
                  </a:extLst>
                </a:gridCol>
                <a:gridCol w="1905000">
                  <a:extLst>
                    <a:ext uri="{9D8B030D-6E8A-4147-A177-3AD203B41FA5}">
                      <a16:colId xmlns:a16="http://schemas.microsoft.com/office/drawing/2014/main" xmlns="" val="1426155351"/>
                    </a:ext>
                  </a:extLst>
                </a:gridCol>
              </a:tblGrid>
              <a:tr h="0">
                <a:tc>
                  <a:txBody>
                    <a:bodyPr/>
                    <a:lstStyle/>
                    <a:p>
                      <a:pPr algn="ctr"/>
                      <a:r>
                        <a:rPr lang="en-IN">
                          <a:solidFill>
                            <a:srgbClr val="405888"/>
                          </a:solidFill>
                          <a:effectLst/>
                        </a:rPr>
                        <a:t>Prefix/suffix</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a:solidFill>
                            <a:srgbClr val="405888"/>
                          </a:solidFill>
                          <a:effectLst/>
                        </a:rPr>
                        <a:t>Operand type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xmlns="" val="1070250247"/>
                  </a:ext>
                </a:extLst>
              </a:tr>
              <a:tr h="0">
                <a:tc>
                  <a:txBody>
                    <a:bodyPr/>
                    <a:lstStyle/>
                    <a:p>
                      <a:r>
                        <a:rPr lang="en-IN">
                          <a:solidFill>
                            <a:srgbClr val="405888"/>
                          </a:solidFill>
                          <a:effectLst/>
                        </a:rPr>
                        <a:t>i</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integer</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188216452"/>
                  </a:ext>
                </a:extLst>
              </a:tr>
              <a:tr h="0">
                <a:tc>
                  <a:txBody>
                    <a:bodyPr/>
                    <a:lstStyle/>
                    <a:p>
                      <a:r>
                        <a:rPr lang="en-IN">
                          <a:solidFill>
                            <a:srgbClr val="405888"/>
                          </a:solidFill>
                          <a:effectLst/>
                        </a:rPr>
                        <a:t>l</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long</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3338295431"/>
                  </a:ext>
                </a:extLst>
              </a:tr>
              <a:tr h="0">
                <a:tc>
                  <a:txBody>
                    <a:bodyPr/>
                    <a:lstStyle/>
                    <a:p>
                      <a:r>
                        <a:rPr lang="en-IN">
                          <a:solidFill>
                            <a:srgbClr val="405888"/>
                          </a:solidFill>
                          <a:effectLst/>
                        </a:rPr>
                        <a:t>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short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2829541222"/>
                  </a:ext>
                </a:extLst>
              </a:tr>
              <a:tr h="0">
                <a:tc>
                  <a:txBody>
                    <a:bodyPr/>
                    <a:lstStyle/>
                    <a:p>
                      <a:r>
                        <a:rPr lang="en-IN">
                          <a:solidFill>
                            <a:srgbClr val="405888"/>
                          </a:solidFill>
                          <a:effectLst/>
                        </a:rPr>
                        <a:t>b</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byte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886811170"/>
                  </a:ext>
                </a:extLst>
              </a:tr>
              <a:tr h="0">
                <a:tc>
                  <a:txBody>
                    <a:bodyPr/>
                    <a:lstStyle/>
                    <a:p>
                      <a:r>
                        <a:rPr lang="en-IN">
                          <a:solidFill>
                            <a:srgbClr val="405888"/>
                          </a:solidFill>
                          <a:effectLst/>
                        </a:rPr>
                        <a:t>c</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character</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2859834324"/>
                  </a:ext>
                </a:extLst>
              </a:tr>
              <a:tr h="0">
                <a:tc>
                  <a:txBody>
                    <a:bodyPr/>
                    <a:lstStyle/>
                    <a:p>
                      <a:r>
                        <a:rPr lang="en-IN">
                          <a:solidFill>
                            <a:srgbClr val="405888"/>
                          </a:solidFill>
                          <a:effectLst/>
                        </a:rPr>
                        <a:t>f</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float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309328835"/>
                  </a:ext>
                </a:extLst>
              </a:tr>
              <a:tr h="0">
                <a:tc>
                  <a:txBody>
                    <a:bodyPr/>
                    <a:lstStyle/>
                    <a:p>
                      <a:r>
                        <a:rPr lang="en-IN">
                          <a:solidFill>
                            <a:srgbClr val="405888"/>
                          </a:solidFill>
                          <a:effectLst/>
                        </a:rPr>
                        <a:t>d</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a:solidFill>
                            <a:srgbClr val="405888"/>
                          </a:solidFill>
                          <a:effectLst/>
                        </a:rPr>
                        <a:t>double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3866303754"/>
                  </a:ext>
                </a:extLst>
              </a:tr>
              <a:tr h="0">
                <a:tc>
                  <a:txBody>
                    <a:bodyPr/>
                    <a:lstStyle/>
                    <a:p>
                      <a:r>
                        <a:rPr lang="en-IN">
                          <a:solidFill>
                            <a:srgbClr val="405888"/>
                          </a:solidFill>
                          <a:effectLst/>
                        </a:rPr>
                        <a:t>a</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IN" dirty="0">
                          <a:solidFill>
                            <a:srgbClr val="405888"/>
                          </a:solidFill>
                          <a:effectLst/>
                        </a:rPr>
                        <a:t>reference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4179319210"/>
                  </a:ext>
                </a:extLst>
              </a:tr>
            </a:tbl>
          </a:graphicData>
        </a:graphic>
      </p:graphicFrame>
      <p:sp>
        <p:nvSpPr>
          <p:cNvPr id="12" name="TextBox 11">
            <a:extLst>
              <a:ext uri="{FF2B5EF4-FFF2-40B4-BE49-F238E27FC236}">
                <a16:creationId xmlns:a16="http://schemas.microsoft.com/office/drawing/2014/main" xmlns="" id="{FBBABBB2-0B6F-5A5D-0183-EB5822093A7A}"/>
              </a:ext>
            </a:extLst>
          </p:cNvPr>
          <p:cNvSpPr txBox="1"/>
          <p:nvPr/>
        </p:nvSpPr>
        <p:spPr>
          <a:xfrm>
            <a:off x="4343400" y="1581150"/>
            <a:ext cx="4625788" cy="369332"/>
          </a:xfrm>
          <a:prstGeom prst="rect">
            <a:avLst/>
          </a:prstGeom>
          <a:noFill/>
        </p:spPr>
        <p:txBody>
          <a:bodyPr wrap="square">
            <a:spAutoFit/>
          </a:bodyPr>
          <a:lstStyle/>
          <a:p>
            <a:r>
              <a:rPr lang="en-IN" dirty="0">
                <a:solidFill>
                  <a:srgbClr val="405888"/>
                </a:solidFill>
              </a:rPr>
              <a:t>https://en.wikipedia.org/wiki/Java_bytecode</a:t>
            </a:r>
          </a:p>
        </p:txBody>
      </p:sp>
      <p:sp>
        <p:nvSpPr>
          <p:cNvPr id="2" name="Footer Placeholder 1">
            <a:extLst>
              <a:ext uri="{FF2B5EF4-FFF2-40B4-BE49-F238E27FC236}">
                <a16:creationId xmlns:a16="http://schemas.microsoft.com/office/drawing/2014/main" xmlns="" id="{27E66B6E-1B3D-A695-0E39-DC122594E233}"/>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74808619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sz="3000" b="1" dirty="0">
              <a:solidFill>
                <a:schemeClr val="tx1"/>
              </a:solidFill>
              <a:latin typeface="Calibri" pitchFamily="34" charset="0"/>
              <a:cs typeface="Calibri" pitchFamily="34" charset="0"/>
            </a:endParaRP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18" name="TextBox 17">
            <a:extLst>
              <a:ext uri="{FF2B5EF4-FFF2-40B4-BE49-F238E27FC236}">
                <a16:creationId xmlns:a16="http://schemas.microsoft.com/office/drawing/2014/main" xmlns="" id="{C58B1B53-F69A-0564-CF3A-8884D93CD32D}"/>
              </a:ext>
            </a:extLst>
          </p:cNvPr>
          <p:cNvSpPr txBox="1"/>
          <p:nvPr/>
        </p:nvSpPr>
        <p:spPr>
          <a:xfrm>
            <a:off x="609600" y="819150"/>
            <a:ext cx="6131858" cy="553998"/>
          </a:xfrm>
          <a:prstGeom prst="rect">
            <a:avLst/>
          </a:prstGeom>
          <a:noFill/>
        </p:spPr>
        <p:txBody>
          <a:bodyPr wrap="square">
            <a:spAutoFit/>
          </a:bodyPr>
          <a:lstStyle/>
          <a:p>
            <a:pPr marL="457200" indent="-457200">
              <a:buFont typeface="Wingdings" panose="05000000000000000000" pitchFamily="2" charset="2"/>
              <a:buChar char="v"/>
            </a:pPr>
            <a:r>
              <a:rPr lang="en-IN" b="1" dirty="0">
                <a:solidFill>
                  <a:srgbClr val="405888"/>
                </a:solidFill>
              </a:rPr>
              <a:t>Portable/Platform Independent </a:t>
            </a:r>
          </a:p>
          <a:p>
            <a:pPr marL="914400" lvl="1" indent="-457200">
              <a:buFont typeface="Wingdings" panose="05000000000000000000" pitchFamily="2" charset="2"/>
              <a:buChar char="v"/>
            </a:pPr>
            <a:r>
              <a:rPr lang="en-IN" sz="1200" b="1" dirty="0">
                <a:solidFill>
                  <a:srgbClr val="405888"/>
                </a:solidFill>
              </a:rPr>
              <a:t>(because of compiled and interpreted)</a:t>
            </a:r>
          </a:p>
        </p:txBody>
      </p:sp>
      <p:sp>
        <p:nvSpPr>
          <p:cNvPr id="19" name="Flowchart: Document 18">
            <a:extLst>
              <a:ext uri="{FF2B5EF4-FFF2-40B4-BE49-F238E27FC236}">
                <a16:creationId xmlns:a16="http://schemas.microsoft.com/office/drawing/2014/main" xmlns="" id="{7FC0E402-F066-EA2E-E1BA-64694160BC52}"/>
              </a:ext>
            </a:extLst>
          </p:cNvPr>
          <p:cNvSpPr/>
          <p:nvPr/>
        </p:nvSpPr>
        <p:spPr>
          <a:xfrm>
            <a:off x="497542" y="1619591"/>
            <a:ext cx="894848" cy="95215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Java Source file</a:t>
            </a:r>
          </a:p>
          <a:p>
            <a:pPr algn="ctr"/>
            <a:r>
              <a:rPr lang="en-US" sz="1200" dirty="0"/>
              <a:t>Hello.java</a:t>
            </a:r>
            <a:endParaRPr lang="en-IN" sz="1200" dirty="0"/>
          </a:p>
        </p:txBody>
      </p:sp>
      <p:graphicFrame>
        <p:nvGraphicFramePr>
          <p:cNvPr id="20" name="Diagram 19">
            <a:extLst>
              <a:ext uri="{FF2B5EF4-FFF2-40B4-BE49-F238E27FC236}">
                <a16:creationId xmlns:a16="http://schemas.microsoft.com/office/drawing/2014/main" xmlns="" id="{1D0F3A57-9DA5-2DA8-3C5D-08435D9E71DA}"/>
              </a:ext>
            </a:extLst>
          </p:cNvPr>
          <p:cNvGraphicFramePr/>
          <p:nvPr>
            <p:extLst>
              <p:ext uri="{D42A27DB-BD31-4B8C-83A1-F6EECF244321}">
                <p14:modId xmlns:p14="http://schemas.microsoft.com/office/powerpoint/2010/main" val="1171907575"/>
              </p:ext>
            </p:extLst>
          </p:nvPr>
        </p:nvGraphicFramePr>
        <p:xfrm>
          <a:off x="2292293" y="1485930"/>
          <a:ext cx="1211912" cy="13003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Flowchart: Document 20">
            <a:extLst>
              <a:ext uri="{FF2B5EF4-FFF2-40B4-BE49-F238E27FC236}">
                <a16:creationId xmlns:a16="http://schemas.microsoft.com/office/drawing/2014/main" xmlns="" id="{7F1F26B1-4318-B6BF-52CA-B7503CAF841D}"/>
              </a:ext>
            </a:extLst>
          </p:cNvPr>
          <p:cNvSpPr/>
          <p:nvPr/>
        </p:nvSpPr>
        <p:spPr>
          <a:xfrm>
            <a:off x="4404108" y="1660038"/>
            <a:ext cx="894848" cy="95215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Java Byte Code file</a:t>
            </a:r>
          </a:p>
          <a:p>
            <a:pPr algn="ctr"/>
            <a:r>
              <a:rPr lang="en-US" sz="1100" dirty="0" err="1"/>
              <a:t>Hello.class</a:t>
            </a:r>
            <a:endParaRPr lang="en-IN" sz="1100" dirty="0"/>
          </a:p>
        </p:txBody>
      </p:sp>
      <p:graphicFrame>
        <p:nvGraphicFramePr>
          <p:cNvPr id="22" name="Diagram 21">
            <a:extLst>
              <a:ext uri="{FF2B5EF4-FFF2-40B4-BE49-F238E27FC236}">
                <a16:creationId xmlns:a16="http://schemas.microsoft.com/office/drawing/2014/main" xmlns="" id="{3760782D-2E65-D11F-76B9-7DD58DBEA4CB}"/>
              </a:ext>
            </a:extLst>
          </p:cNvPr>
          <p:cNvGraphicFramePr/>
          <p:nvPr>
            <p:extLst>
              <p:ext uri="{D42A27DB-BD31-4B8C-83A1-F6EECF244321}">
                <p14:modId xmlns:p14="http://schemas.microsoft.com/office/powerpoint/2010/main" val="3829027192"/>
              </p:ext>
            </p:extLst>
          </p:nvPr>
        </p:nvGraphicFramePr>
        <p:xfrm>
          <a:off x="4243658" y="2786307"/>
          <a:ext cx="1215748" cy="104652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3" name="Rectangle: Rounded Corners 22">
            <a:extLst>
              <a:ext uri="{FF2B5EF4-FFF2-40B4-BE49-F238E27FC236}">
                <a16:creationId xmlns:a16="http://schemas.microsoft.com/office/drawing/2014/main" xmlns="" id="{31660ECE-0E57-BBCA-D4CC-98CF395BB378}"/>
              </a:ext>
            </a:extLst>
          </p:cNvPr>
          <p:cNvSpPr/>
          <p:nvPr/>
        </p:nvSpPr>
        <p:spPr>
          <a:xfrm>
            <a:off x="76200" y="2786307"/>
            <a:ext cx="1971407" cy="712136"/>
          </a:xfrm>
          <a:prstGeom prst="roundRect">
            <a:avLst/>
          </a:prstGeom>
          <a:solidFill>
            <a:srgbClr val="FFC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java compiler compiles .java file into .class</a:t>
            </a:r>
            <a:endParaRPr lang="en-IN" sz="1400" dirty="0"/>
          </a:p>
        </p:txBody>
      </p:sp>
      <p:sp>
        <p:nvSpPr>
          <p:cNvPr id="24" name="Rectangle: Rounded Corners 23">
            <a:extLst>
              <a:ext uri="{FF2B5EF4-FFF2-40B4-BE49-F238E27FC236}">
                <a16:creationId xmlns:a16="http://schemas.microsoft.com/office/drawing/2014/main" xmlns="" id="{F3E2D0F4-ED2C-67DE-A11A-4593330DEF6D}"/>
              </a:ext>
            </a:extLst>
          </p:cNvPr>
          <p:cNvSpPr/>
          <p:nvPr/>
        </p:nvSpPr>
        <p:spPr>
          <a:xfrm>
            <a:off x="2001166" y="3142375"/>
            <a:ext cx="1794166" cy="444044"/>
          </a:xfrm>
          <a:prstGeom prst="roundRect">
            <a:avLst/>
          </a:prstGeom>
          <a:solidFill>
            <a:srgbClr val="00B05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.class file contains java byte code instructions</a:t>
            </a:r>
            <a:endParaRPr lang="en-IN" sz="1200" dirty="0"/>
          </a:p>
        </p:txBody>
      </p:sp>
      <p:graphicFrame>
        <p:nvGraphicFramePr>
          <p:cNvPr id="25" name="Diagram 24">
            <a:extLst>
              <a:ext uri="{FF2B5EF4-FFF2-40B4-BE49-F238E27FC236}">
                <a16:creationId xmlns:a16="http://schemas.microsoft.com/office/drawing/2014/main" xmlns="" id="{7116BE41-AF42-1848-6718-D48BA1B10189}"/>
              </a:ext>
            </a:extLst>
          </p:cNvPr>
          <p:cNvGraphicFramePr/>
          <p:nvPr>
            <p:extLst>
              <p:ext uri="{D42A27DB-BD31-4B8C-83A1-F6EECF244321}">
                <p14:modId xmlns:p14="http://schemas.microsoft.com/office/powerpoint/2010/main" val="3455088680"/>
              </p:ext>
            </p:extLst>
          </p:nvPr>
        </p:nvGraphicFramePr>
        <p:xfrm>
          <a:off x="228600" y="4106121"/>
          <a:ext cx="6341165" cy="70995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6" name="Rectangle 25">
            <a:extLst>
              <a:ext uri="{FF2B5EF4-FFF2-40B4-BE49-F238E27FC236}">
                <a16:creationId xmlns:a16="http://schemas.microsoft.com/office/drawing/2014/main" xmlns="" id="{4B05BE1E-DFDB-B4B2-968F-5D721DDF2AAC}"/>
              </a:ext>
            </a:extLst>
          </p:cNvPr>
          <p:cNvSpPr/>
          <p:nvPr/>
        </p:nvSpPr>
        <p:spPr>
          <a:xfrm>
            <a:off x="513913" y="3894157"/>
            <a:ext cx="5810687" cy="315893"/>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200" b="1" dirty="0">
                <a:solidFill>
                  <a:schemeClr val="tx1"/>
                </a:solidFill>
              </a:rPr>
              <a:t>Byte Code Instructions are common to all OS</a:t>
            </a:r>
            <a:endParaRPr lang="en-IN" sz="1200" b="1" dirty="0">
              <a:solidFill>
                <a:schemeClr val="tx1"/>
              </a:solidFill>
            </a:endParaRPr>
          </a:p>
        </p:txBody>
      </p:sp>
      <p:sp>
        <p:nvSpPr>
          <p:cNvPr id="27" name="Rectangle 1">
            <a:extLst>
              <a:ext uri="{FF2B5EF4-FFF2-40B4-BE49-F238E27FC236}">
                <a16:creationId xmlns:a16="http://schemas.microsoft.com/office/drawing/2014/main" xmlns="" id="{1437FF90-7C67-F497-9C48-0CF83CA1EEB9}"/>
              </a:ext>
            </a:extLst>
          </p:cNvPr>
          <p:cNvSpPr>
            <a:spLocks noChangeArrowheads="1"/>
          </p:cNvSpPr>
          <p:nvPr/>
        </p:nvSpPr>
        <p:spPr bwMode="auto">
          <a:xfrm>
            <a:off x="6445347" y="887825"/>
            <a:ext cx="2435197" cy="2097909"/>
          </a:xfrm>
          <a:prstGeom prst="rect">
            <a:avLst/>
          </a:prstGeom>
          <a:solidFill>
            <a:srgbClr val="E5E5E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1" u="none" strike="noStrike" cap="none" normalizeH="0" baseline="0" dirty="0">
                <a:ln>
                  <a:noFill/>
                </a:ln>
                <a:solidFill>
                  <a:srgbClr val="880000"/>
                </a:solidFill>
                <a:effectLst/>
                <a:latin typeface="Courier New" panose="02070309020205020404" pitchFamily="49" charset="0"/>
              </a:rPr>
              <a:t>// Bytecode stream: 03 3b 84 00 01 1a 05 68 3b a7 ff f9</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1" u="none" strike="noStrike" cap="none" normalizeH="0" baseline="0" dirty="0">
                <a:ln>
                  <a:noFill/>
                </a:ln>
                <a:solidFill>
                  <a:srgbClr val="880000"/>
                </a:solidFill>
                <a:effectLst/>
                <a:latin typeface="Courier New" panose="02070309020205020404" pitchFamily="49" charset="0"/>
              </a:rPr>
              <a:t>// Disassembly:</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00000"/>
                </a:solidFill>
                <a:effectLst/>
                <a:latin typeface="Courier New" panose="02070309020205020404" pitchFamily="49" charset="0"/>
              </a:rPr>
              <a:t>iconst_0 </a:t>
            </a:r>
            <a:r>
              <a:rPr kumimoji="0" lang="en-US" altLang="en-US" sz="1050" b="0" i="1" u="none" strike="noStrike" cap="none" normalizeH="0" baseline="0" dirty="0">
                <a:ln>
                  <a:noFill/>
                </a:ln>
                <a:solidFill>
                  <a:srgbClr val="880000"/>
                </a:solidFill>
                <a:effectLst/>
                <a:latin typeface="Courier New" panose="02070309020205020404" pitchFamily="49" charset="0"/>
              </a:rPr>
              <a:t>// 03</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00000"/>
                </a:solidFill>
                <a:effectLst/>
                <a:latin typeface="Courier New" panose="02070309020205020404" pitchFamily="49" charset="0"/>
              </a:rPr>
              <a:t>istore_0 </a:t>
            </a:r>
            <a:r>
              <a:rPr kumimoji="0" lang="en-US" altLang="en-US" sz="1050" b="0" i="1" u="none" strike="noStrike" cap="none" normalizeH="0" baseline="0" dirty="0">
                <a:ln>
                  <a:noFill/>
                </a:ln>
                <a:solidFill>
                  <a:srgbClr val="880000"/>
                </a:solidFill>
                <a:effectLst/>
                <a:latin typeface="Courier New" panose="02070309020205020404" pitchFamily="49" charset="0"/>
              </a:rPr>
              <a:t>// 3b</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err="1">
                <a:ln>
                  <a:noFill/>
                </a:ln>
                <a:solidFill>
                  <a:srgbClr val="000000"/>
                </a:solidFill>
                <a:effectLst/>
                <a:latin typeface="Courier New" panose="02070309020205020404" pitchFamily="49" charset="0"/>
              </a:rPr>
              <a:t>iinc</a:t>
            </a:r>
            <a:r>
              <a:rPr kumimoji="0" lang="en-US" altLang="en-US" sz="1050" b="0" i="0" u="none" strike="noStrike" cap="none" normalizeH="0" baseline="0" dirty="0">
                <a:ln>
                  <a:noFill/>
                </a:ln>
                <a:solidFill>
                  <a:srgbClr val="000000"/>
                </a:solidFill>
                <a:effectLst/>
                <a:latin typeface="Courier New" panose="02070309020205020404" pitchFamily="49" charset="0"/>
              </a:rPr>
              <a:t> </a:t>
            </a:r>
            <a:r>
              <a:rPr kumimoji="0" lang="en-US" altLang="en-US" sz="1050" b="0" i="0" u="none" strike="noStrike" cap="none" normalizeH="0" baseline="0" dirty="0">
                <a:ln>
                  <a:noFill/>
                </a:ln>
                <a:solidFill>
                  <a:srgbClr val="006666"/>
                </a:solidFill>
                <a:effectLst/>
                <a:latin typeface="Courier New" panose="02070309020205020404" pitchFamily="49" charset="0"/>
              </a:rPr>
              <a:t>0</a:t>
            </a:r>
            <a:r>
              <a:rPr kumimoji="0" lang="en-US" altLang="en-US" sz="1050" b="0" i="0" u="none" strike="noStrike" cap="none" normalizeH="0" baseline="0" dirty="0">
                <a:ln>
                  <a:noFill/>
                </a:ln>
                <a:solidFill>
                  <a:srgbClr val="666600"/>
                </a:solidFill>
                <a:effectLst/>
                <a:latin typeface="Courier New" panose="02070309020205020404" pitchFamily="49" charset="0"/>
              </a:rPr>
              <a:t>,</a:t>
            </a:r>
            <a:r>
              <a:rPr kumimoji="0" lang="en-US" altLang="en-US" sz="1050" b="0" i="0" u="none" strike="noStrike" cap="none" normalizeH="0" baseline="0" dirty="0">
                <a:ln>
                  <a:noFill/>
                </a:ln>
                <a:solidFill>
                  <a:srgbClr val="000000"/>
                </a:solidFill>
                <a:effectLst/>
                <a:latin typeface="Courier New" panose="02070309020205020404" pitchFamily="49" charset="0"/>
              </a:rPr>
              <a:t> </a:t>
            </a:r>
            <a:r>
              <a:rPr kumimoji="0" lang="en-US" altLang="en-US" sz="1050" b="0" i="0" u="none" strike="noStrike" cap="none" normalizeH="0" baseline="0" dirty="0">
                <a:ln>
                  <a:noFill/>
                </a:ln>
                <a:solidFill>
                  <a:srgbClr val="006666"/>
                </a:solidFill>
                <a:effectLst/>
                <a:latin typeface="Courier New" panose="02070309020205020404" pitchFamily="49" charset="0"/>
              </a:rPr>
              <a:t>1</a:t>
            </a:r>
            <a:r>
              <a:rPr kumimoji="0" lang="en-US" altLang="en-US" sz="1050" b="0" i="0" u="none" strike="noStrike" cap="none" normalizeH="0" baseline="0" dirty="0">
                <a:ln>
                  <a:noFill/>
                </a:ln>
                <a:solidFill>
                  <a:srgbClr val="000000"/>
                </a:solidFill>
                <a:effectLst/>
                <a:latin typeface="Courier New" panose="02070309020205020404" pitchFamily="49" charset="0"/>
              </a:rPr>
              <a:t> </a:t>
            </a:r>
            <a:r>
              <a:rPr kumimoji="0" lang="en-US" altLang="en-US" sz="1050" b="0" i="1" u="none" strike="noStrike" cap="none" normalizeH="0" baseline="0" dirty="0">
                <a:ln>
                  <a:noFill/>
                </a:ln>
                <a:solidFill>
                  <a:srgbClr val="880000"/>
                </a:solidFill>
                <a:effectLst/>
                <a:latin typeface="Courier New" panose="02070309020205020404" pitchFamily="49" charset="0"/>
              </a:rPr>
              <a:t>// 84 00 01</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00000"/>
                </a:solidFill>
                <a:effectLst/>
                <a:latin typeface="Courier New" panose="02070309020205020404" pitchFamily="49" charset="0"/>
              </a:rPr>
              <a:t>iload_0 </a:t>
            </a:r>
            <a:r>
              <a:rPr kumimoji="0" lang="en-US" altLang="en-US" sz="1050" b="0" i="1" u="none" strike="noStrike" cap="none" normalizeH="0" baseline="0" dirty="0">
                <a:ln>
                  <a:noFill/>
                </a:ln>
                <a:solidFill>
                  <a:srgbClr val="880000"/>
                </a:solidFill>
                <a:effectLst/>
                <a:latin typeface="Courier New" panose="02070309020205020404" pitchFamily="49" charset="0"/>
              </a:rPr>
              <a:t>// 1a</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00000"/>
                </a:solidFill>
                <a:effectLst/>
                <a:latin typeface="Courier New" panose="02070309020205020404" pitchFamily="49" charset="0"/>
              </a:rPr>
              <a:t>iconst_2 </a:t>
            </a:r>
            <a:r>
              <a:rPr kumimoji="0" lang="en-US" altLang="en-US" sz="1050" b="0" i="1" u="none" strike="noStrike" cap="none" normalizeH="0" baseline="0" dirty="0">
                <a:ln>
                  <a:noFill/>
                </a:ln>
                <a:solidFill>
                  <a:srgbClr val="880000"/>
                </a:solidFill>
                <a:effectLst/>
                <a:latin typeface="Courier New" panose="02070309020205020404" pitchFamily="49" charset="0"/>
              </a:rPr>
              <a:t>// 05</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err="1">
                <a:ln>
                  <a:noFill/>
                </a:ln>
                <a:solidFill>
                  <a:srgbClr val="000000"/>
                </a:solidFill>
                <a:effectLst/>
                <a:latin typeface="Courier New" panose="02070309020205020404" pitchFamily="49" charset="0"/>
              </a:rPr>
              <a:t>imul</a:t>
            </a:r>
            <a:r>
              <a:rPr kumimoji="0" lang="en-US" altLang="en-US" sz="1050" b="0" i="0" u="none" strike="noStrike" cap="none" normalizeH="0" baseline="0" dirty="0">
                <a:ln>
                  <a:noFill/>
                </a:ln>
                <a:solidFill>
                  <a:srgbClr val="000000"/>
                </a:solidFill>
                <a:effectLst/>
                <a:latin typeface="Courier New" panose="02070309020205020404" pitchFamily="49" charset="0"/>
              </a:rPr>
              <a:t> </a:t>
            </a:r>
            <a:r>
              <a:rPr kumimoji="0" lang="en-US" altLang="en-US" sz="1050" b="0" i="1" u="none" strike="noStrike" cap="none" normalizeH="0" baseline="0" dirty="0">
                <a:ln>
                  <a:noFill/>
                </a:ln>
                <a:solidFill>
                  <a:srgbClr val="880000"/>
                </a:solidFill>
                <a:effectLst/>
                <a:latin typeface="Courier New" panose="02070309020205020404" pitchFamily="49" charset="0"/>
              </a:rPr>
              <a:t>// 68</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00000"/>
                </a:solidFill>
                <a:effectLst/>
                <a:latin typeface="Courier New" panose="02070309020205020404" pitchFamily="49" charset="0"/>
              </a:rPr>
              <a:t>istore_0 </a:t>
            </a:r>
            <a:r>
              <a:rPr kumimoji="0" lang="en-US" altLang="en-US" sz="1050" b="0" i="1" u="none" strike="noStrike" cap="none" normalizeH="0" baseline="0" dirty="0">
                <a:ln>
                  <a:noFill/>
                </a:ln>
                <a:solidFill>
                  <a:srgbClr val="880000"/>
                </a:solidFill>
                <a:effectLst/>
                <a:latin typeface="Courier New" panose="02070309020205020404" pitchFamily="49" charset="0"/>
              </a:rPr>
              <a:t>// 3b</a:t>
            </a:r>
            <a:r>
              <a:rPr kumimoji="0" lang="en-US" altLang="en-US" sz="105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err="1">
                <a:ln>
                  <a:noFill/>
                </a:ln>
                <a:solidFill>
                  <a:srgbClr val="000088"/>
                </a:solidFill>
                <a:effectLst/>
                <a:latin typeface="Courier New" panose="02070309020205020404" pitchFamily="49" charset="0"/>
              </a:rPr>
              <a:t>goto</a:t>
            </a:r>
            <a:r>
              <a:rPr kumimoji="0" lang="en-US" altLang="en-US" sz="1050" b="0" i="0" u="none" strike="noStrike" cap="none" normalizeH="0" baseline="0" dirty="0">
                <a:ln>
                  <a:noFill/>
                </a:ln>
                <a:solidFill>
                  <a:srgbClr val="000000"/>
                </a:solidFill>
                <a:effectLst/>
                <a:latin typeface="Courier New" panose="02070309020205020404" pitchFamily="49" charset="0"/>
              </a:rPr>
              <a:t> </a:t>
            </a:r>
            <a:r>
              <a:rPr kumimoji="0" lang="en-US" altLang="en-US" sz="1050" b="0" i="0" u="none" strike="noStrike" cap="none" normalizeH="0" baseline="0" dirty="0">
                <a:ln>
                  <a:noFill/>
                </a:ln>
                <a:solidFill>
                  <a:srgbClr val="666600"/>
                </a:solidFill>
                <a:effectLst/>
                <a:latin typeface="Courier New" panose="02070309020205020404" pitchFamily="49" charset="0"/>
              </a:rPr>
              <a:t>-</a:t>
            </a:r>
            <a:r>
              <a:rPr kumimoji="0" lang="en-US" altLang="en-US" sz="1050" b="0" i="0" u="none" strike="noStrike" cap="none" normalizeH="0" baseline="0" dirty="0">
                <a:ln>
                  <a:noFill/>
                </a:ln>
                <a:solidFill>
                  <a:srgbClr val="006666"/>
                </a:solidFill>
                <a:effectLst/>
                <a:latin typeface="Courier New" panose="02070309020205020404" pitchFamily="49" charset="0"/>
              </a:rPr>
              <a:t>7</a:t>
            </a:r>
            <a:r>
              <a:rPr kumimoji="0" lang="en-US" altLang="en-US" sz="1050" b="0" i="0" u="none" strike="noStrike" cap="none" normalizeH="0" baseline="0" dirty="0">
                <a:ln>
                  <a:noFill/>
                </a:ln>
                <a:solidFill>
                  <a:srgbClr val="000000"/>
                </a:solidFill>
                <a:effectLst/>
                <a:latin typeface="Courier New" panose="02070309020205020404" pitchFamily="49" charset="0"/>
              </a:rPr>
              <a:t> </a:t>
            </a:r>
            <a:r>
              <a:rPr kumimoji="0" lang="en-US" altLang="en-US" sz="1050" b="0" i="1" u="none" strike="noStrike" cap="none" normalizeH="0" baseline="0" dirty="0">
                <a:ln>
                  <a:noFill/>
                </a:ln>
                <a:solidFill>
                  <a:srgbClr val="880000"/>
                </a:solidFill>
                <a:effectLst/>
                <a:latin typeface="Courier New" panose="02070309020205020404" pitchFamily="49" charset="0"/>
              </a:rPr>
              <a:t>// a7 ff f9</a:t>
            </a:r>
            <a:r>
              <a:rPr kumimoji="0" lang="en-US" altLang="en-US" sz="9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xmlns="" id="{2D685CD9-FFA8-9FFE-198C-4967AD51601B}"/>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55586912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.class file contains</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4BFA1013-4BC7-86FE-E405-01522A0DECFC}"/>
              </a:ext>
            </a:extLst>
          </p:cNvPr>
          <p:cNvSpPr>
            <a:spLocks noChangeArrowheads="1"/>
          </p:cNvSpPr>
          <p:nvPr/>
        </p:nvSpPr>
        <p:spPr bwMode="auto">
          <a:xfrm>
            <a:off x="76200" y="819150"/>
            <a:ext cx="2895600" cy="394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665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273239"/>
                </a:solidFill>
                <a:effectLst/>
                <a:latin typeface="Consolas" panose="020B0609020204030204" pitchFamily="49" charset="0"/>
              </a:rPr>
              <a:t>ClassFile</a:t>
            </a:r>
            <a:r>
              <a:rPr kumimoji="0" lang="en-US" altLang="en-US" sz="1400" b="1" i="0" u="none" strike="noStrike" cap="none" normalizeH="0" baseline="0" dirty="0">
                <a:ln>
                  <a:noFill/>
                </a:ln>
                <a:solidFill>
                  <a:srgbClr val="273239"/>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magic_number</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minor_version</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major_version</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constant_pool_count</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constant_pool</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access_flags</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this_class</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super_class</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interfaces_count</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a:ln>
                  <a:noFill/>
                </a:ln>
                <a:solidFill>
                  <a:srgbClr val="273239"/>
                </a:solidFill>
                <a:effectLst/>
                <a:latin typeface="Consolas" panose="020B0609020204030204" pitchFamily="49" charset="0"/>
              </a:rPr>
              <a:t>interfaces[];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fields_count</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a:ln>
                  <a:noFill/>
                </a:ln>
                <a:solidFill>
                  <a:srgbClr val="273239"/>
                </a:solidFill>
                <a:effectLst/>
                <a:latin typeface="Consolas" panose="020B0609020204030204" pitchFamily="49" charset="0"/>
              </a:rPr>
              <a:t>fields[];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methods_count</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a:ln>
                  <a:noFill/>
                </a:ln>
                <a:solidFill>
                  <a:srgbClr val="273239"/>
                </a:solidFill>
                <a:effectLst/>
                <a:latin typeface="Consolas" panose="020B0609020204030204" pitchFamily="49" charset="0"/>
              </a:rPr>
              <a:t>methods[];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err="1">
                <a:ln>
                  <a:noFill/>
                </a:ln>
                <a:solidFill>
                  <a:srgbClr val="273239"/>
                </a:solidFill>
                <a:effectLst/>
                <a:latin typeface="Consolas" panose="020B0609020204030204" pitchFamily="49" charset="0"/>
              </a:rPr>
              <a:t>attributes_count</a:t>
            </a:r>
            <a:r>
              <a:rPr kumimoji="0" lang="en-US" altLang="en-US" sz="1400" b="1" i="0" u="none" strike="noStrike" cap="none" normalizeH="0" baseline="0" dirty="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rgbClr val="273239"/>
                </a:solidFill>
                <a:latin typeface="Consolas" panose="020B0609020204030204" pitchFamily="49" charset="0"/>
              </a:rPr>
              <a:t>	</a:t>
            </a:r>
            <a:r>
              <a:rPr kumimoji="0" lang="en-US" altLang="en-US" sz="1400" b="1" i="0" u="none" strike="noStrike" cap="none" normalizeH="0" baseline="0" dirty="0">
                <a:ln>
                  <a:noFill/>
                </a:ln>
                <a:solidFill>
                  <a:srgbClr val="273239"/>
                </a:solidFill>
                <a:effectLst/>
                <a:latin typeface="Consolas" panose="020B0609020204030204" pitchFamily="49" charset="0"/>
              </a:rPr>
              <a:t>attributes[];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273239"/>
                </a:solidFill>
                <a:effectLst/>
                <a:latin typeface="Consolas" panose="020B0609020204030204" pitchFamily="49" charset="0"/>
              </a:rPr>
              <a:t>}</a:t>
            </a:r>
            <a:r>
              <a:rPr kumimoji="0" lang="en-US" altLang="en-US" sz="900" b="1" i="0" u="none" strike="noStrike" cap="none" normalizeH="0" baseline="0" dirty="0">
                <a:ln>
                  <a:noFill/>
                </a:ln>
                <a:solidFill>
                  <a:schemeClr val="tx1"/>
                </a:solidFill>
                <a:effectLst/>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xmlns="" id="{6E3557E7-BEF1-B989-0866-594185BF028A}"/>
              </a:ext>
            </a:extLst>
          </p:cNvPr>
          <p:cNvSpPr>
            <a:spLocks noChangeArrowheads="1"/>
          </p:cNvSpPr>
          <p:nvPr/>
        </p:nvSpPr>
        <p:spPr bwMode="auto">
          <a:xfrm>
            <a:off x="3124200" y="764328"/>
            <a:ext cx="2914650" cy="1575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6654"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273239"/>
                </a:solidFill>
                <a:effectLst/>
                <a:latin typeface="Consolas" panose="020B0609020204030204" pitchFamily="49" charset="0"/>
              </a:rPr>
              <a:t>magic_number</a:t>
            </a:r>
            <a:r>
              <a:rPr kumimoji="0" lang="en-US" altLang="en-US" sz="1200" i="0" u="none" strike="noStrike" cap="none" normalizeH="0" baseline="0" dirty="0">
                <a:ln>
                  <a:noFill/>
                </a:ln>
                <a:solidFill>
                  <a:srgbClr val="273239"/>
                </a:solidFill>
                <a:effectLst/>
                <a:latin typeface="Consolas" panose="020B0609020204030204" pitchFamily="49" charset="0"/>
              </a:rPr>
              <a:t> is the first 4 bytes of class file are termed as magic number. This is predefined value  which the JVM use to identify whether the .class file is generated by valid compiler or not. The predefined value is hexadecimal value i:e </a:t>
            </a:r>
            <a:r>
              <a:rPr kumimoji="0" lang="en-US" altLang="en-US" sz="1200" b="1" i="0" u="none" strike="noStrike" cap="none" normalizeH="0" baseline="0" dirty="0">
                <a:ln>
                  <a:noFill/>
                </a:ln>
                <a:solidFill>
                  <a:srgbClr val="273239"/>
                </a:solidFill>
                <a:effectLst/>
                <a:latin typeface="Consolas" panose="020B0609020204030204" pitchFamily="49" charset="0"/>
              </a:rPr>
              <a:t>0XCAFEBABE</a:t>
            </a:r>
            <a:endParaRPr kumimoji="0" lang="en-US" altLang="en-US" b="1"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xmlns="" id="{13D153BE-6A40-3B29-2551-A80AD2D83530}"/>
              </a:ext>
            </a:extLst>
          </p:cNvPr>
          <p:cNvSpPr>
            <a:spLocks noChangeArrowheads="1"/>
          </p:cNvSpPr>
          <p:nvPr/>
        </p:nvSpPr>
        <p:spPr bwMode="auto">
          <a:xfrm>
            <a:off x="4467225" y="2480285"/>
            <a:ext cx="4038600" cy="139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6654"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273239"/>
                </a:solidFill>
                <a:effectLst/>
                <a:latin typeface="Consolas" panose="020B0609020204030204" pitchFamily="49" charset="0"/>
              </a:rPr>
              <a:t>minor_version</a:t>
            </a:r>
            <a:r>
              <a:rPr kumimoji="0" lang="en-US" altLang="en-US" sz="1400" b="1" i="0" u="none" strike="noStrike" cap="none" normalizeH="0" baseline="0" dirty="0">
                <a:ln>
                  <a:noFill/>
                </a:ln>
                <a:solidFill>
                  <a:srgbClr val="273239"/>
                </a:solidFill>
                <a:effectLst/>
                <a:latin typeface="Consolas" panose="020B0609020204030204" pitchFamily="49" charset="0"/>
              </a:rPr>
              <a:t> &amp; </a:t>
            </a:r>
            <a:r>
              <a:rPr kumimoji="0" lang="en-US" altLang="en-US" sz="1400" b="1" i="0" u="none" strike="noStrike" cap="none" normalizeH="0" baseline="0" dirty="0" err="1">
                <a:ln>
                  <a:noFill/>
                </a:ln>
                <a:solidFill>
                  <a:srgbClr val="273239"/>
                </a:solidFill>
                <a:effectLst/>
                <a:latin typeface="Consolas" panose="020B0609020204030204" pitchFamily="49" charset="0"/>
              </a:rPr>
              <a:t>major_version</a:t>
            </a:r>
            <a:r>
              <a:rPr kumimoji="0" lang="en-US" altLang="en-US" sz="1200" i="0" u="none" strike="noStrike" cap="none" normalizeH="0" baseline="0" dirty="0">
                <a:ln>
                  <a:noFill/>
                </a:ln>
                <a:solidFill>
                  <a:srgbClr val="273239"/>
                </a:solidFill>
                <a:effectLst/>
                <a:latin typeface="Consolas" panose="020B0609020204030204" pitchFamily="49" charset="0"/>
              </a:rPr>
              <a:t> version of the class contains </a:t>
            </a:r>
            <a:r>
              <a:rPr kumimoji="0" lang="en-US" altLang="en-US" sz="1200" i="0" u="none" strike="noStrike" cap="none" normalizeH="0" baseline="0" dirty="0" err="1">
                <a:ln>
                  <a:noFill/>
                </a:ln>
                <a:solidFill>
                  <a:srgbClr val="273239"/>
                </a:solidFill>
                <a:effectLst/>
                <a:latin typeface="Consolas" panose="020B0609020204030204" pitchFamily="49" charset="0"/>
              </a:rPr>
              <a:t>M.m</a:t>
            </a:r>
            <a:r>
              <a:rPr kumimoji="0" lang="en-US" altLang="en-US" sz="1200" i="0" u="none" strike="noStrike" cap="none" normalizeH="0" baseline="0" dirty="0">
                <a:ln>
                  <a:noFill/>
                </a:ln>
                <a:solidFill>
                  <a:srgbClr val="273239"/>
                </a:solidFill>
                <a:effectLst/>
                <a:latin typeface="Consolas" panose="020B0609020204030204" pitchFamily="49" charset="0"/>
              </a:rPr>
              <a:t>, where M stands for </a:t>
            </a:r>
            <a:r>
              <a:rPr kumimoji="0" lang="en-US" altLang="en-US" sz="1200" i="0" u="none" strike="noStrike" cap="none" normalizeH="0" baseline="0" dirty="0" err="1">
                <a:ln>
                  <a:noFill/>
                </a:ln>
                <a:solidFill>
                  <a:srgbClr val="273239"/>
                </a:solidFill>
                <a:effectLst/>
                <a:latin typeface="Consolas" panose="020B0609020204030204" pitchFamily="49" charset="0"/>
              </a:rPr>
              <a:t>major_version</a:t>
            </a:r>
            <a:r>
              <a:rPr kumimoji="0" lang="en-US" altLang="en-US" sz="1200" i="0" u="none" strike="noStrike" cap="none" normalizeH="0" baseline="0" dirty="0">
                <a:ln>
                  <a:noFill/>
                </a:ln>
                <a:solidFill>
                  <a:srgbClr val="273239"/>
                </a:solidFill>
                <a:effectLst/>
                <a:latin typeface="Consolas" panose="020B0609020204030204" pitchFamily="49" charset="0"/>
              </a:rPr>
              <a:t> </a:t>
            </a:r>
            <a:r>
              <a:rPr kumimoji="0" lang="en-US" altLang="en-US" sz="1200" i="0" u="none" strike="noStrike" cap="none" normalizeH="0" baseline="0" dirty="0" err="1">
                <a:ln>
                  <a:noFill/>
                </a:ln>
                <a:solidFill>
                  <a:srgbClr val="273239"/>
                </a:solidFill>
                <a:effectLst/>
                <a:latin typeface="Consolas" panose="020B0609020204030204" pitchFamily="49" charset="0"/>
              </a:rPr>
              <a:t>ans</a:t>
            </a:r>
            <a:r>
              <a:rPr kumimoji="0" lang="en-US" altLang="en-US" sz="1200" i="0" u="none" strike="noStrike" cap="none" normalizeH="0" baseline="0" dirty="0">
                <a:ln>
                  <a:noFill/>
                </a:ln>
                <a:solidFill>
                  <a:srgbClr val="273239"/>
                </a:solidFill>
                <a:effectLst/>
                <a:latin typeface="Consolas" panose="020B0609020204030204" pitchFamily="49" charset="0"/>
              </a:rPr>
              <a:t> m stands for </a:t>
            </a:r>
            <a:r>
              <a:rPr kumimoji="0" lang="en-US" altLang="en-US" sz="1200" i="0" u="none" strike="noStrike" cap="none" normalizeH="0" baseline="0" dirty="0" err="1">
                <a:ln>
                  <a:noFill/>
                </a:ln>
                <a:solidFill>
                  <a:srgbClr val="273239"/>
                </a:solidFill>
                <a:effectLst/>
                <a:latin typeface="Consolas" panose="020B0609020204030204" pitchFamily="49" charset="0"/>
              </a:rPr>
              <a:t>minor_version</a:t>
            </a:r>
            <a:r>
              <a:rPr kumimoji="0" lang="en-US" altLang="en-US" sz="1200" i="0" u="none" strike="noStrike" cap="none" normalizeH="0" baseline="0" dirty="0">
                <a:ln>
                  <a:noFill/>
                </a:ln>
                <a:solidFill>
                  <a:srgbClr val="273239"/>
                </a:solidFill>
                <a:effectLst/>
                <a:latin typeface="Consolas" panose="020B0609020204030204" pitchFamily="49"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i="0" u="none" strike="noStrike" cap="none" normalizeH="0" baseline="0" dirty="0">
              <a:ln>
                <a:noFill/>
              </a:ln>
              <a:solidFill>
                <a:srgbClr val="273239"/>
              </a:solidFill>
              <a:effectLst/>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200" b="1" dirty="0">
                <a:solidFill>
                  <a:srgbClr val="273239"/>
                </a:solidFill>
                <a:latin typeface="Consolas" panose="020B0609020204030204" pitchFamily="49" charset="0"/>
              </a:rPr>
              <a:t>Note: </a:t>
            </a:r>
            <a:r>
              <a:rPr lang="en-US" altLang="en-US" sz="1200" i="1" dirty="0">
                <a:solidFill>
                  <a:srgbClr val="273239"/>
                </a:solidFill>
                <a:latin typeface="Consolas" panose="020B0609020204030204" pitchFamily="49" charset="0"/>
              </a:rPr>
              <a:t>Lower version compiler generated .class file can be executed by high version JVM but not vice-versa</a:t>
            </a:r>
          </a:p>
        </p:txBody>
      </p:sp>
      <p:sp>
        <p:nvSpPr>
          <p:cNvPr id="11" name="TextBox 10">
            <a:extLst>
              <a:ext uri="{FF2B5EF4-FFF2-40B4-BE49-F238E27FC236}">
                <a16:creationId xmlns:a16="http://schemas.microsoft.com/office/drawing/2014/main" xmlns="" id="{D6246D33-1C25-A1A0-9A25-B139A18B163B}"/>
              </a:ext>
            </a:extLst>
          </p:cNvPr>
          <p:cNvSpPr txBox="1"/>
          <p:nvPr/>
        </p:nvSpPr>
        <p:spPr>
          <a:xfrm>
            <a:off x="2819400" y="2652437"/>
            <a:ext cx="1576387" cy="52322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i="1" u="none" strike="noStrike" cap="none" normalizeH="0" baseline="0" dirty="0" err="1">
                <a:ln>
                  <a:noFill/>
                </a:ln>
                <a:solidFill>
                  <a:srgbClr val="273239"/>
                </a:solidFill>
                <a:effectLst/>
                <a:latin typeface="Consolas" panose="020B0609020204030204" pitchFamily="49" charset="0"/>
              </a:rPr>
              <a:t>java</a:t>
            </a:r>
            <a:r>
              <a:rPr lang="en-US" altLang="en-US" sz="1400" i="1" dirty="0" err="1">
                <a:solidFill>
                  <a:srgbClr val="273239"/>
                </a:solidFill>
                <a:latin typeface="Consolas" panose="020B0609020204030204" pitchFamily="49" charset="0"/>
              </a:rPr>
              <a:t>c</a:t>
            </a:r>
            <a:r>
              <a:rPr lang="en-US" altLang="en-US" sz="1400" i="1" dirty="0">
                <a:solidFill>
                  <a:srgbClr val="273239"/>
                </a:solidFill>
                <a:latin typeface="Consolas" panose="020B0609020204030204" pitchFamily="49" charset="0"/>
              </a:rPr>
              <a:t> –version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i="1" u="none" strike="noStrike" cap="none" normalizeH="0" baseline="0" dirty="0">
                <a:ln>
                  <a:noFill/>
                </a:ln>
                <a:solidFill>
                  <a:srgbClr val="273239"/>
                </a:solidFill>
                <a:effectLst/>
                <a:latin typeface="Consolas" panose="020B0609020204030204" pitchFamily="49" charset="0"/>
              </a:rPr>
              <a:t>java –version</a:t>
            </a:r>
            <a:endParaRPr lang="en-IN" sz="1400" dirty="0"/>
          </a:p>
        </p:txBody>
      </p:sp>
      <p:sp>
        <p:nvSpPr>
          <p:cNvPr id="13" name="TextBox 12">
            <a:extLst>
              <a:ext uri="{FF2B5EF4-FFF2-40B4-BE49-F238E27FC236}">
                <a16:creationId xmlns:a16="http://schemas.microsoft.com/office/drawing/2014/main" xmlns="" id="{735C45C2-654F-FBBA-EEDC-357FC459A2EB}"/>
              </a:ext>
            </a:extLst>
          </p:cNvPr>
          <p:cNvSpPr txBox="1"/>
          <p:nvPr/>
        </p:nvSpPr>
        <p:spPr>
          <a:xfrm>
            <a:off x="6267450" y="890885"/>
            <a:ext cx="2647950" cy="461665"/>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rgbClr val="273239"/>
                </a:solidFill>
                <a:effectLst/>
                <a:latin typeface="Consolas" panose="020B0609020204030204" pitchFamily="49" charset="0"/>
              </a:rPr>
              <a:t>jdk1.6 compiled class can run on jdk1.8 interpreter</a:t>
            </a:r>
            <a:endParaRPr lang="en-IN" sz="1200" b="1" dirty="0"/>
          </a:p>
        </p:txBody>
      </p:sp>
      <p:sp>
        <p:nvSpPr>
          <p:cNvPr id="14" name="TextBox 13">
            <a:extLst>
              <a:ext uri="{FF2B5EF4-FFF2-40B4-BE49-F238E27FC236}">
                <a16:creationId xmlns:a16="http://schemas.microsoft.com/office/drawing/2014/main" xmlns="" id="{6B509B3E-303E-F21A-01DB-69895A9D61CF}"/>
              </a:ext>
            </a:extLst>
          </p:cNvPr>
          <p:cNvSpPr txBox="1"/>
          <p:nvPr/>
        </p:nvSpPr>
        <p:spPr>
          <a:xfrm>
            <a:off x="6248400" y="1392019"/>
            <a:ext cx="2647950"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rgbClr val="273239"/>
                </a:solidFill>
                <a:effectLst/>
                <a:latin typeface="Consolas" panose="020B0609020204030204" pitchFamily="49" charset="0"/>
              </a:rPr>
              <a:t>but jdk1.8 compiled class cannot run on jdk1.6 interpreter</a:t>
            </a:r>
            <a:endParaRPr lang="en-IN" sz="1200" b="1" dirty="0"/>
          </a:p>
        </p:txBody>
      </p:sp>
      <p:sp>
        <p:nvSpPr>
          <p:cNvPr id="15" name="TextBox 14">
            <a:extLst>
              <a:ext uri="{FF2B5EF4-FFF2-40B4-BE49-F238E27FC236}">
                <a16:creationId xmlns:a16="http://schemas.microsoft.com/office/drawing/2014/main" xmlns="" id="{FAFEB4C1-F3DB-1258-A8B4-444450B31B3F}"/>
              </a:ext>
            </a:extLst>
          </p:cNvPr>
          <p:cNvSpPr txBox="1"/>
          <p:nvPr/>
        </p:nvSpPr>
        <p:spPr>
          <a:xfrm>
            <a:off x="6096000" y="2005340"/>
            <a:ext cx="3048000" cy="26161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1" u="none" strike="noStrike" cap="none" normalizeH="0" baseline="0" dirty="0">
                <a:ln>
                  <a:noFill/>
                </a:ln>
                <a:solidFill>
                  <a:srgbClr val="FF0000"/>
                </a:solidFill>
                <a:effectLst/>
                <a:latin typeface="Consolas" panose="020B0609020204030204" pitchFamily="49" charset="0"/>
              </a:rPr>
              <a:t>error is </a:t>
            </a:r>
            <a:r>
              <a:rPr kumimoji="0" lang="en-US" altLang="en-US" sz="1100" b="1" i="1" u="none" strike="noStrike" cap="none" normalizeH="0" baseline="0" dirty="0" err="1">
                <a:ln>
                  <a:noFill/>
                </a:ln>
                <a:solidFill>
                  <a:srgbClr val="FF0000"/>
                </a:solidFill>
                <a:effectLst/>
                <a:latin typeface="Consolas" panose="020B0609020204030204" pitchFamily="49" charset="0"/>
              </a:rPr>
              <a:t>UnSupportedClassVersionError</a:t>
            </a:r>
            <a:endParaRPr lang="en-IN" sz="1100" b="1" dirty="0">
              <a:solidFill>
                <a:srgbClr val="FF0000"/>
              </a:solidFill>
            </a:endParaRPr>
          </a:p>
        </p:txBody>
      </p:sp>
      <p:sp>
        <p:nvSpPr>
          <p:cNvPr id="16" name="TextBox 15">
            <a:extLst>
              <a:ext uri="{FF2B5EF4-FFF2-40B4-BE49-F238E27FC236}">
                <a16:creationId xmlns:a16="http://schemas.microsoft.com/office/drawing/2014/main" xmlns="" id="{677C7446-0E7A-703C-46C3-0C0DD2B9486C}"/>
              </a:ext>
            </a:extLst>
          </p:cNvPr>
          <p:cNvSpPr txBox="1"/>
          <p:nvPr/>
        </p:nvSpPr>
        <p:spPr>
          <a:xfrm>
            <a:off x="2840831" y="3860562"/>
            <a:ext cx="4672012" cy="646331"/>
          </a:xfrm>
          <a:prstGeom prst="rect">
            <a:avLst/>
          </a:prstGeom>
          <a:noFill/>
        </p:spPr>
        <p:txBody>
          <a:bodyPr wrap="square">
            <a:spAutoFit/>
          </a:bodyPr>
          <a:lstStyle/>
          <a:p>
            <a:pPr algn="just"/>
            <a:r>
              <a:rPr lang="en-US" b="0" i="0" dirty="0">
                <a:solidFill>
                  <a:srgbClr val="273239"/>
                </a:solidFill>
                <a:effectLst/>
                <a:latin typeface="urw-din"/>
              </a:rPr>
              <a:t> Internally </a:t>
            </a:r>
            <a:r>
              <a:rPr lang="en-US" b="0" i="0" dirty="0" err="1">
                <a:solidFill>
                  <a:srgbClr val="273239"/>
                </a:solidFill>
                <a:effectLst/>
                <a:latin typeface="urw-din"/>
              </a:rPr>
              <a:t>jdk</a:t>
            </a:r>
            <a:r>
              <a:rPr lang="en-US" b="0" i="0" dirty="0">
                <a:solidFill>
                  <a:srgbClr val="273239"/>
                </a:solidFill>
                <a:effectLst/>
                <a:latin typeface="urw-din"/>
              </a:rPr>
              <a:t> 1.5 version means 49.0 and 1.6 means 50.0 and 1.7 means 51.0 </a:t>
            </a:r>
            <a:r>
              <a:rPr lang="en-US" b="0" i="0" dirty="0" err="1">
                <a:solidFill>
                  <a:srgbClr val="273239"/>
                </a:solidFill>
                <a:effectLst/>
                <a:latin typeface="urw-din"/>
              </a:rPr>
              <a:t>etc</a:t>
            </a:r>
            <a:endParaRPr lang="en-IN" dirty="0"/>
          </a:p>
        </p:txBody>
      </p:sp>
      <p:sp>
        <p:nvSpPr>
          <p:cNvPr id="3" name="Footer Placeholder 2">
            <a:extLst>
              <a:ext uri="{FF2B5EF4-FFF2-40B4-BE49-F238E27FC236}">
                <a16:creationId xmlns:a16="http://schemas.microsoft.com/office/drawing/2014/main" xmlns="" id="{7AF97B4C-3D8F-4B85-5420-5E24832B3F1E}"/>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90257384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.class file contains</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16" name="TextBox 15">
            <a:extLst>
              <a:ext uri="{FF2B5EF4-FFF2-40B4-BE49-F238E27FC236}">
                <a16:creationId xmlns:a16="http://schemas.microsoft.com/office/drawing/2014/main" xmlns="" id="{677C7446-0E7A-703C-46C3-0C0DD2B9486C}"/>
              </a:ext>
            </a:extLst>
          </p:cNvPr>
          <p:cNvSpPr txBox="1"/>
          <p:nvPr/>
        </p:nvSpPr>
        <p:spPr>
          <a:xfrm>
            <a:off x="128588" y="895350"/>
            <a:ext cx="4672012" cy="3970318"/>
          </a:xfrm>
          <a:prstGeom prst="rect">
            <a:avLst/>
          </a:prstGeom>
          <a:noFill/>
        </p:spPr>
        <p:txBody>
          <a:bodyPr wrap="square">
            <a:spAutoFit/>
          </a:bodyPr>
          <a:lstStyle/>
          <a:p>
            <a:pPr algn="just"/>
            <a:r>
              <a:rPr lang="en-US" sz="1400" b="1" i="0" dirty="0" err="1">
                <a:solidFill>
                  <a:srgbClr val="273239"/>
                </a:solidFill>
                <a:effectLst/>
              </a:rPr>
              <a:t>constant_pool_count</a:t>
            </a:r>
            <a:r>
              <a:rPr lang="en-US" sz="1400" b="1" i="0" dirty="0">
                <a:solidFill>
                  <a:srgbClr val="273239"/>
                </a:solidFill>
                <a:effectLst/>
              </a:rPr>
              <a:t> </a:t>
            </a:r>
            <a:r>
              <a:rPr lang="en-US" sz="1400" b="0" i="0" dirty="0">
                <a:solidFill>
                  <a:srgbClr val="273239"/>
                </a:solidFill>
                <a:effectLst/>
              </a:rPr>
              <a:t>represents the number </a:t>
            </a:r>
            <a:r>
              <a:rPr lang="en-US" sz="1400" dirty="0">
                <a:solidFill>
                  <a:srgbClr val="273239"/>
                </a:solidFill>
              </a:rPr>
              <a:t>of constants present in the constant pool. (When a java class is compiled, all references to variables and methods are stored in the class’s constant pool as a symbolic reference).</a:t>
            </a:r>
          </a:p>
          <a:p>
            <a:pPr algn="just"/>
            <a:endParaRPr lang="en-US" sz="1400" dirty="0">
              <a:solidFill>
                <a:srgbClr val="273239"/>
              </a:solidFill>
            </a:endParaRPr>
          </a:p>
          <a:p>
            <a:pPr algn="just"/>
            <a:r>
              <a:rPr lang="en-US" sz="1400" b="1" dirty="0" err="1">
                <a:solidFill>
                  <a:srgbClr val="273239"/>
                </a:solidFill>
              </a:rPr>
              <a:t>constant_pool</a:t>
            </a:r>
            <a:r>
              <a:rPr lang="en-US" sz="1400" b="1" dirty="0">
                <a:solidFill>
                  <a:srgbClr val="273239"/>
                </a:solidFill>
              </a:rPr>
              <a:t>[]</a:t>
            </a:r>
            <a:r>
              <a:rPr lang="en-US" sz="1400" dirty="0">
                <a:solidFill>
                  <a:srgbClr val="273239"/>
                </a:solidFill>
              </a:rPr>
              <a:t> represents the information about constants present in constant pool</a:t>
            </a:r>
          </a:p>
          <a:p>
            <a:pPr algn="just"/>
            <a:endParaRPr lang="en-IN" sz="1400" b="1" dirty="0">
              <a:solidFill>
                <a:schemeClr val="bg1"/>
              </a:solidFill>
            </a:endParaRPr>
          </a:p>
          <a:p>
            <a:pPr algn="just"/>
            <a:r>
              <a:rPr lang="en-IN" sz="1400" b="1" dirty="0" err="1">
                <a:solidFill>
                  <a:schemeClr val="bg1"/>
                </a:solidFill>
              </a:rPr>
              <a:t>access_flags</a:t>
            </a:r>
            <a:r>
              <a:rPr lang="en-IN" sz="1400" dirty="0">
                <a:solidFill>
                  <a:schemeClr val="bg1"/>
                </a:solidFill>
              </a:rPr>
              <a:t> it provides information about the modifiers which are declared to the class file (public, abstract).</a:t>
            </a:r>
          </a:p>
          <a:p>
            <a:pPr algn="just"/>
            <a:endParaRPr lang="en-IN" sz="1400" b="1" dirty="0">
              <a:solidFill>
                <a:schemeClr val="bg1"/>
              </a:solidFill>
            </a:endParaRPr>
          </a:p>
          <a:p>
            <a:pPr algn="just"/>
            <a:r>
              <a:rPr lang="en-IN" sz="1400" b="1" dirty="0" err="1">
                <a:solidFill>
                  <a:schemeClr val="bg1"/>
                </a:solidFill>
              </a:rPr>
              <a:t>this_class</a:t>
            </a:r>
            <a:r>
              <a:rPr lang="en-IN" sz="1400" dirty="0">
                <a:solidFill>
                  <a:schemeClr val="bg1"/>
                </a:solidFill>
              </a:rPr>
              <a:t> represents fully qualified name of the class file (for ex: </a:t>
            </a:r>
            <a:r>
              <a:rPr lang="en-IN" sz="1400" b="1" i="1" dirty="0" err="1">
                <a:solidFill>
                  <a:schemeClr val="bg1"/>
                </a:solidFill>
              </a:rPr>
              <a:t>java.lang.String</a:t>
            </a:r>
            <a:r>
              <a:rPr lang="en-IN" sz="1400" b="1" i="1" dirty="0">
                <a:solidFill>
                  <a:schemeClr val="bg1"/>
                </a:solidFill>
              </a:rPr>
              <a:t>, </a:t>
            </a:r>
            <a:r>
              <a:rPr lang="en-IN" sz="1400" b="1" i="1" dirty="0" err="1">
                <a:solidFill>
                  <a:schemeClr val="bg1"/>
                </a:solidFill>
              </a:rPr>
              <a:t>java.util.List</a:t>
            </a:r>
            <a:r>
              <a:rPr lang="en-IN" sz="1400" dirty="0">
                <a:solidFill>
                  <a:schemeClr val="bg1"/>
                </a:solidFill>
              </a:rPr>
              <a:t>).</a:t>
            </a:r>
          </a:p>
          <a:p>
            <a:pPr algn="just"/>
            <a:endParaRPr lang="en-IN" sz="1400" b="1" dirty="0">
              <a:solidFill>
                <a:schemeClr val="bg1"/>
              </a:solidFill>
            </a:endParaRPr>
          </a:p>
          <a:p>
            <a:pPr algn="just"/>
            <a:r>
              <a:rPr lang="en-IN" sz="1400" b="1" dirty="0" err="1">
                <a:solidFill>
                  <a:schemeClr val="bg1"/>
                </a:solidFill>
              </a:rPr>
              <a:t>super_class</a:t>
            </a:r>
            <a:r>
              <a:rPr lang="en-IN" sz="1400" b="1" dirty="0">
                <a:solidFill>
                  <a:schemeClr val="bg1"/>
                </a:solidFill>
              </a:rPr>
              <a:t> </a:t>
            </a:r>
            <a:r>
              <a:rPr lang="en-IN" sz="1400" dirty="0">
                <a:solidFill>
                  <a:schemeClr val="bg1"/>
                </a:solidFill>
              </a:rPr>
              <a:t>represents fully qualified name of the super class (if no super class exist </a:t>
            </a:r>
            <a:r>
              <a:rPr lang="en-IN" sz="1400" b="1" i="1" dirty="0" err="1">
                <a:solidFill>
                  <a:schemeClr val="bg1"/>
                </a:solidFill>
              </a:rPr>
              <a:t>java.lang.Object</a:t>
            </a:r>
            <a:r>
              <a:rPr lang="en-IN" sz="1400" dirty="0">
                <a:solidFill>
                  <a:schemeClr val="bg1"/>
                </a:solidFill>
              </a:rPr>
              <a:t> is the default super class).</a:t>
            </a:r>
          </a:p>
        </p:txBody>
      </p:sp>
      <p:sp>
        <p:nvSpPr>
          <p:cNvPr id="17" name="TextBox 16">
            <a:extLst>
              <a:ext uri="{FF2B5EF4-FFF2-40B4-BE49-F238E27FC236}">
                <a16:creationId xmlns:a16="http://schemas.microsoft.com/office/drawing/2014/main" xmlns="" id="{D55F4AB6-62E7-8455-9283-9DC5D886F881}"/>
              </a:ext>
            </a:extLst>
          </p:cNvPr>
          <p:cNvSpPr txBox="1"/>
          <p:nvPr/>
        </p:nvSpPr>
        <p:spPr>
          <a:xfrm>
            <a:off x="5005388" y="819150"/>
            <a:ext cx="4010024" cy="3539430"/>
          </a:xfrm>
          <a:prstGeom prst="rect">
            <a:avLst/>
          </a:prstGeom>
          <a:noFill/>
        </p:spPr>
        <p:txBody>
          <a:bodyPr wrap="square">
            <a:spAutoFit/>
          </a:bodyPr>
          <a:lstStyle/>
          <a:p>
            <a:pPr algn="just"/>
            <a:r>
              <a:rPr lang="en-IN" sz="1400" b="1" i="0" dirty="0" err="1">
                <a:solidFill>
                  <a:srgbClr val="273239"/>
                </a:solidFill>
                <a:effectLst/>
              </a:rPr>
              <a:t>interface_count</a:t>
            </a:r>
            <a:r>
              <a:rPr lang="en-IN" sz="1400" b="1" i="0" dirty="0">
                <a:solidFill>
                  <a:srgbClr val="273239"/>
                </a:solidFill>
                <a:effectLst/>
              </a:rPr>
              <a:t> </a:t>
            </a:r>
            <a:r>
              <a:rPr lang="en-IN" sz="1400" i="0" dirty="0">
                <a:solidFill>
                  <a:srgbClr val="273239"/>
                </a:solidFill>
                <a:effectLst/>
              </a:rPr>
              <a:t>number of interfaces implemented by current class</a:t>
            </a:r>
          </a:p>
          <a:p>
            <a:pPr algn="just"/>
            <a:endParaRPr lang="en-IN" sz="1400" i="0" dirty="0">
              <a:solidFill>
                <a:srgbClr val="273239"/>
              </a:solidFill>
              <a:effectLst/>
            </a:endParaRPr>
          </a:p>
          <a:p>
            <a:pPr algn="just"/>
            <a:r>
              <a:rPr lang="en-IN" sz="1400" b="1" dirty="0">
                <a:solidFill>
                  <a:srgbClr val="273239"/>
                </a:solidFill>
              </a:rPr>
              <a:t>interface[]</a:t>
            </a:r>
            <a:r>
              <a:rPr lang="en-IN" sz="1400" dirty="0">
                <a:solidFill>
                  <a:srgbClr val="273239"/>
                </a:solidFill>
              </a:rPr>
              <a:t> returns interfaces implemented by current class</a:t>
            </a:r>
          </a:p>
          <a:p>
            <a:pPr algn="just"/>
            <a:endParaRPr lang="en-IN" sz="1400" dirty="0">
              <a:solidFill>
                <a:srgbClr val="273239"/>
              </a:solidFill>
            </a:endParaRPr>
          </a:p>
          <a:p>
            <a:pPr algn="just"/>
            <a:r>
              <a:rPr lang="en-IN" sz="1400" b="1" dirty="0" err="1">
                <a:solidFill>
                  <a:srgbClr val="273239"/>
                </a:solidFill>
              </a:rPr>
              <a:t>fields_count</a:t>
            </a:r>
            <a:r>
              <a:rPr lang="en-IN" sz="1400" dirty="0">
                <a:solidFill>
                  <a:srgbClr val="273239"/>
                </a:solidFill>
              </a:rPr>
              <a:t> number of static variables</a:t>
            </a:r>
          </a:p>
          <a:p>
            <a:pPr algn="just"/>
            <a:r>
              <a:rPr lang="en-IN" sz="1400" b="1" dirty="0">
                <a:solidFill>
                  <a:srgbClr val="273239"/>
                </a:solidFill>
              </a:rPr>
              <a:t>fields[]</a:t>
            </a:r>
            <a:r>
              <a:rPr lang="en-IN" sz="1400" dirty="0">
                <a:solidFill>
                  <a:srgbClr val="273239"/>
                </a:solidFill>
              </a:rPr>
              <a:t> information about static variables</a:t>
            </a:r>
          </a:p>
          <a:p>
            <a:pPr algn="just"/>
            <a:endParaRPr lang="en-IN" sz="1400" dirty="0">
              <a:solidFill>
                <a:srgbClr val="273239"/>
              </a:solidFill>
            </a:endParaRPr>
          </a:p>
          <a:p>
            <a:pPr algn="just"/>
            <a:r>
              <a:rPr lang="en-IN" sz="1400" b="1" dirty="0" err="1">
                <a:solidFill>
                  <a:srgbClr val="273239"/>
                </a:solidFill>
              </a:rPr>
              <a:t>method_count</a:t>
            </a:r>
            <a:r>
              <a:rPr lang="en-IN" sz="1400" dirty="0">
                <a:solidFill>
                  <a:srgbClr val="273239"/>
                </a:solidFill>
              </a:rPr>
              <a:t> number of methods</a:t>
            </a:r>
          </a:p>
          <a:p>
            <a:pPr algn="just"/>
            <a:r>
              <a:rPr lang="en-IN" sz="1400" b="1" dirty="0">
                <a:solidFill>
                  <a:srgbClr val="273239"/>
                </a:solidFill>
              </a:rPr>
              <a:t>method[]</a:t>
            </a:r>
            <a:r>
              <a:rPr lang="en-IN" sz="1400" dirty="0">
                <a:solidFill>
                  <a:srgbClr val="273239"/>
                </a:solidFill>
              </a:rPr>
              <a:t> information about methods</a:t>
            </a:r>
          </a:p>
          <a:p>
            <a:pPr algn="just"/>
            <a:endParaRPr lang="en-IN" sz="1400" dirty="0">
              <a:solidFill>
                <a:srgbClr val="273239"/>
              </a:solidFill>
            </a:endParaRPr>
          </a:p>
          <a:p>
            <a:pPr algn="just"/>
            <a:r>
              <a:rPr lang="en-IN" sz="1400" b="1" dirty="0" err="1">
                <a:solidFill>
                  <a:srgbClr val="273239"/>
                </a:solidFill>
              </a:rPr>
              <a:t>attributes_count</a:t>
            </a:r>
            <a:r>
              <a:rPr lang="en-IN" sz="1400" dirty="0">
                <a:solidFill>
                  <a:srgbClr val="273239"/>
                </a:solidFill>
              </a:rPr>
              <a:t> number of non-static variables</a:t>
            </a:r>
          </a:p>
          <a:p>
            <a:pPr algn="just"/>
            <a:r>
              <a:rPr lang="en-IN" sz="1400" b="1" dirty="0">
                <a:solidFill>
                  <a:srgbClr val="273239"/>
                </a:solidFill>
              </a:rPr>
              <a:t>attributes[]</a:t>
            </a:r>
            <a:r>
              <a:rPr lang="en-IN" sz="1400" dirty="0">
                <a:solidFill>
                  <a:srgbClr val="273239"/>
                </a:solidFill>
              </a:rPr>
              <a:t> information about non-static variables</a:t>
            </a:r>
          </a:p>
          <a:p>
            <a:pPr algn="just"/>
            <a:endParaRPr lang="en-IN" sz="1400" dirty="0">
              <a:solidFill>
                <a:schemeClr val="bg1"/>
              </a:solidFill>
            </a:endParaRPr>
          </a:p>
        </p:txBody>
      </p:sp>
      <p:sp>
        <p:nvSpPr>
          <p:cNvPr id="2" name="Footer Placeholder 1">
            <a:extLst>
              <a:ext uri="{FF2B5EF4-FFF2-40B4-BE49-F238E27FC236}">
                <a16:creationId xmlns:a16="http://schemas.microsoft.com/office/drawing/2014/main" xmlns="" id="{3C8F3977-5D72-B33A-F9C9-B576CC586634}"/>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0370931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TextBox 7">
            <a:extLst>
              <a:ext uri="{FF2B5EF4-FFF2-40B4-BE49-F238E27FC236}">
                <a16:creationId xmlns:a16="http://schemas.microsoft.com/office/drawing/2014/main" xmlns="" id="{384E9AEA-20D7-B7CC-F40D-318555056FB6}"/>
              </a:ext>
            </a:extLst>
          </p:cNvPr>
          <p:cNvSpPr txBox="1"/>
          <p:nvPr/>
        </p:nvSpPr>
        <p:spPr>
          <a:xfrm>
            <a:off x="1143000" y="1200150"/>
            <a:ext cx="6101378" cy="2308324"/>
          </a:xfrm>
          <a:prstGeom prst="rect">
            <a:avLst/>
          </a:prstGeom>
          <a:noFill/>
        </p:spPr>
        <p:txBody>
          <a:bodyPr wrap="square">
            <a:spAutoFit/>
          </a:bodyPr>
          <a:lstStyle/>
          <a:p>
            <a:r>
              <a:rPr lang="en-US" b="0" i="0" dirty="0">
                <a:solidFill>
                  <a:srgbClr val="0A0A23"/>
                </a:solidFill>
                <a:effectLst/>
                <a:latin typeface="Lato" panose="020F0502020204030203" pitchFamily="34" charset="0"/>
              </a:rPr>
              <a:t>Java uses a combination of both techniques. </a:t>
            </a:r>
          </a:p>
          <a:p>
            <a:pPr marL="742950" lvl="1" indent="-285750" algn="just">
              <a:buFont typeface="Wingdings" panose="05000000000000000000" pitchFamily="2" charset="2"/>
              <a:buChar char="v"/>
            </a:pPr>
            <a:r>
              <a:rPr lang="en-US" b="0" i="0" dirty="0">
                <a:solidFill>
                  <a:srgbClr val="0A0A23"/>
                </a:solidFill>
                <a:effectLst/>
                <a:latin typeface="Lato" panose="020F0502020204030203" pitchFamily="34" charset="0"/>
              </a:rPr>
              <a:t>Java code is </a:t>
            </a:r>
            <a:r>
              <a:rPr lang="en-US" b="1" i="1" dirty="0">
                <a:solidFill>
                  <a:srgbClr val="0A0A23"/>
                </a:solidFill>
                <a:effectLst/>
                <a:latin typeface="Lato" panose="020F0502020204030203" pitchFamily="34" charset="0"/>
              </a:rPr>
              <a:t>first compiled </a:t>
            </a:r>
            <a:r>
              <a:rPr lang="en-US" b="0" i="0" dirty="0">
                <a:solidFill>
                  <a:srgbClr val="0A0A23"/>
                </a:solidFill>
                <a:effectLst/>
                <a:latin typeface="Lato" panose="020F0502020204030203" pitchFamily="34" charset="0"/>
              </a:rPr>
              <a:t>into byte code to generate a </a:t>
            </a:r>
            <a:r>
              <a:rPr lang="en-US" b="0" i="1" dirty="0">
                <a:solidFill>
                  <a:schemeClr val="bg1"/>
                </a:solidFill>
                <a:effectLst/>
                <a:latin typeface="Lato" panose="020F0502020204030203" pitchFamily="34" charset="0"/>
              </a:rPr>
              <a:t>class</a:t>
            </a:r>
            <a:r>
              <a:rPr lang="en-US" b="0" i="0" dirty="0">
                <a:solidFill>
                  <a:schemeClr val="bg1"/>
                </a:solidFill>
                <a:effectLst/>
                <a:latin typeface="Lato" panose="020F0502020204030203" pitchFamily="34" charset="0"/>
              </a:rPr>
              <a:t> </a:t>
            </a:r>
            <a:r>
              <a:rPr lang="en-US" b="0" i="0" dirty="0">
                <a:solidFill>
                  <a:srgbClr val="0A0A23"/>
                </a:solidFill>
                <a:effectLst/>
                <a:latin typeface="Lato" panose="020F0502020204030203" pitchFamily="34" charset="0"/>
              </a:rPr>
              <a:t>file. </a:t>
            </a:r>
          </a:p>
          <a:p>
            <a:pPr marL="742950" lvl="1" indent="-285750" algn="just">
              <a:buFont typeface="Wingdings" panose="05000000000000000000" pitchFamily="2" charset="2"/>
              <a:buChar char="v"/>
            </a:pPr>
            <a:r>
              <a:rPr lang="en-US" b="0" i="0" dirty="0">
                <a:solidFill>
                  <a:srgbClr val="0A0A23"/>
                </a:solidFill>
                <a:effectLst/>
                <a:latin typeface="Lato" panose="020F0502020204030203" pitchFamily="34" charset="0"/>
              </a:rPr>
              <a:t>This</a:t>
            </a:r>
            <a:r>
              <a:rPr lang="en-US" b="0" i="0" dirty="0">
                <a:solidFill>
                  <a:schemeClr val="bg1"/>
                </a:solidFill>
                <a:effectLst/>
                <a:latin typeface="Lato" panose="020F0502020204030203" pitchFamily="34" charset="0"/>
              </a:rPr>
              <a:t> </a:t>
            </a:r>
            <a:r>
              <a:rPr lang="en-US" b="0" i="1" dirty="0">
                <a:solidFill>
                  <a:schemeClr val="bg1"/>
                </a:solidFill>
                <a:effectLst/>
                <a:latin typeface="Lato" panose="020F0502020204030203" pitchFamily="34" charset="0"/>
              </a:rPr>
              <a:t>class</a:t>
            </a:r>
            <a:r>
              <a:rPr lang="en-US" b="0" i="0" dirty="0">
                <a:solidFill>
                  <a:schemeClr val="bg1"/>
                </a:solidFill>
                <a:effectLst/>
                <a:latin typeface="Lato" panose="020F0502020204030203" pitchFamily="34" charset="0"/>
              </a:rPr>
              <a:t> </a:t>
            </a:r>
            <a:r>
              <a:rPr lang="en-US" b="0" i="0" dirty="0">
                <a:solidFill>
                  <a:srgbClr val="0A0A23"/>
                </a:solidFill>
                <a:effectLst/>
                <a:latin typeface="Lato" panose="020F0502020204030203" pitchFamily="34" charset="0"/>
              </a:rPr>
              <a:t>file is then </a:t>
            </a:r>
            <a:r>
              <a:rPr lang="en-US" b="1" i="1" dirty="0">
                <a:solidFill>
                  <a:srgbClr val="0A0A23"/>
                </a:solidFill>
                <a:effectLst/>
                <a:latin typeface="Lato" panose="020F0502020204030203" pitchFamily="34" charset="0"/>
              </a:rPr>
              <a:t>interpreted </a:t>
            </a:r>
            <a:r>
              <a:rPr lang="en-US" b="0" i="0" dirty="0">
                <a:solidFill>
                  <a:srgbClr val="0A0A23"/>
                </a:solidFill>
                <a:effectLst/>
                <a:latin typeface="Lato" panose="020F0502020204030203" pitchFamily="34" charset="0"/>
              </a:rPr>
              <a:t>by the Java Virtual Machine for the underlying platform. </a:t>
            </a:r>
          </a:p>
          <a:p>
            <a:pPr marL="742950" lvl="1" indent="-285750" algn="just">
              <a:buFont typeface="Wingdings" panose="05000000000000000000" pitchFamily="2" charset="2"/>
              <a:buChar char="v"/>
            </a:pPr>
            <a:r>
              <a:rPr lang="en-US" b="0" i="0" dirty="0">
                <a:solidFill>
                  <a:srgbClr val="0A0A23"/>
                </a:solidFill>
                <a:effectLst/>
                <a:latin typeface="Lato" panose="020F0502020204030203" pitchFamily="34" charset="0"/>
              </a:rPr>
              <a:t>The same</a:t>
            </a:r>
            <a:r>
              <a:rPr lang="en-US" b="0" i="0" dirty="0">
                <a:solidFill>
                  <a:schemeClr val="bg1"/>
                </a:solidFill>
                <a:effectLst/>
                <a:latin typeface="Lato" panose="020F0502020204030203" pitchFamily="34" charset="0"/>
              </a:rPr>
              <a:t> </a:t>
            </a:r>
            <a:r>
              <a:rPr lang="en-US" b="0" i="1" dirty="0">
                <a:solidFill>
                  <a:schemeClr val="bg1"/>
                </a:solidFill>
                <a:effectLst/>
                <a:latin typeface="Lato" panose="020F0502020204030203" pitchFamily="34" charset="0"/>
              </a:rPr>
              <a:t>class</a:t>
            </a:r>
            <a:r>
              <a:rPr lang="en-US" b="0" i="0" dirty="0">
                <a:solidFill>
                  <a:schemeClr val="bg1"/>
                </a:solidFill>
                <a:effectLst/>
                <a:latin typeface="Lato" panose="020F0502020204030203" pitchFamily="34" charset="0"/>
              </a:rPr>
              <a:t> </a:t>
            </a:r>
            <a:r>
              <a:rPr lang="en-US" b="0" i="0" dirty="0">
                <a:solidFill>
                  <a:srgbClr val="0A0A23"/>
                </a:solidFill>
                <a:effectLst/>
                <a:latin typeface="Lato" panose="020F0502020204030203" pitchFamily="34" charset="0"/>
              </a:rPr>
              <a:t>file can be executed on any version of JVM running on any platform and operating system.</a:t>
            </a:r>
            <a:endParaRPr lang="en-IN" dirty="0"/>
          </a:p>
        </p:txBody>
      </p:sp>
      <p:sp>
        <p:nvSpPr>
          <p:cNvPr id="2" name="Footer Placeholder 1">
            <a:extLst>
              <a:ext uri="{FF2B5EF4-FFF2-40B4-BE49-F238E27FC236}">
                <a16:creationId xmlns:a16="http://schemas.microsoft.com/office/drawing/2014/main" xmlns="" id="{2DFCF262-0277-E5EF-FC33-D00E48B49D02}"/>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78166765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TextBox 7">
            <a:extLst>
              <a:ext uri="{FF2B5EF4-FFF2-40B4-BE49-F238E27FC236}">
                <a16:creationId xmlns:a16="http://schemas.microsoft.com/office/drawing/2014/main" xmlns="" id="{384E9AEA-20D7-B7CC-F40D-318555056FB6}"/>
              </a:ext>
            </a:extLst>
          </p:cNvPr>
          <p:cNvSpPr txBox="1"/>
          <p:nvPr/>
        </p:nvSpPr>
        <p:spPr>
          <a:xfrm>
            <a:off x="1143000" y="1200150"/>
            <a:ext cx="6101378" cy="1569660"/>
          </a:xfrm>
          <a:prstGeom prst="rect">
            <a:avLst/>
          </a:prstGeom>
          <a:noFill/>
        </p:spPr>
        <p:txBody>
          <a:bodyPr wrap="square">
            <a:spAutoFit/>
          </a:bodyPr>
          <a:lstStyle/>
          <a:p>
            <a:pPr algn="just"/>
            <a:r>
              <a:rPr lang="en-US" sz="2400" b="0" i="0" dirty="0">
                <a:solidFill>
                  <a:srgbClr val="0A0A23"/>
                </a:solidFill>
                <a:effectLst/>
                <a:latin typeface="Lato" panose="020F0502020204030203" pitchFamily="34" charset="0"/>
              </a:rPr>
              <a:t>JVM consists of 3 main components:</a:t>
            </a:r>
          </a:p>
          <a:p>
            <a:pPr marL="742950" lvl="1" indent="-285750" algn="just">
              <a:buFont typeface="Wingdings" panose="05000000000000000000" pitchFamily="2" charset="2"/>
              <a:buChar char="v"/>
            </a:pPr>
            <a:r>
              <a:rPr lang="en-US" sz="2400" dirty="0">
                <a:solidFill>
                  <a:srgbClr val="0A0A23"/>
                </a:solidFill>
                <a:latin typeface="Lato" panose="020F0502020204030203" pitchFamily="34" charset="0"/>
              </a:rPr>
              <a:t>Class Loader</a:t>
            </a:r>
          </a:p>
          <a:p>
            <a:pPr marL="742950" lvl="1" indent="-285750" algn="just">
              <a:buFont typeface="Wingdings" panose="05000000000000000000" pitchFamily="2" charset="2"/>
              <a:buChar char="v"/>
            </a:pPr>
            <a:r>
              <a:rPr lang="en-US" sz="2400" dirty="0">
                <a:solidFill>
                  <a:srgbClr val="0A0A23"/>
                </a:solidFill>
                <a:latin typeface="Lato" panose="020F0502020204030203" pitchFamily="34" charset="0"/>
              </a:rPr>
              <a:t>Runtime Memory/Data Area</a:t>
            </a:r>
          </a:p>
          <a:p>
            <a:pPr marL="742950" lvl="1" indent="-285750" algn="just">
              <a:buFont typeface="Wingdings" panose="05000000000000000000" pitchFamily="2" charset="2"/>
              <a:buChar char="v"/>
            </a:pPr>
            <a:r>
              <a:rPr lang="en-IN" sz="2400" dirty="0">
                <a:solidFill>
                  <a:schemeClr val="bg1"/>
                </a:solidFill>
              </a:rPr>
              <a:t>Execution Engine</a:t>
            </a:r>
          </a:p>
        </p:txBody>
      </p:sp>
      <p:sp>
        <p:nvSpPr>
          <p:cNvPr id="2" name="Footer Placeholder 1">
            <a:extLst>
              <a:ext uri="{FF2B5EF4-FFF2-40B4-BE49-F238E27FC236}">
                <a16:creationId xmlns:a16="http://schemas.microsoft.com/office/drawing/2014/main" xmlns="" id="{4DCE0F23-A2A9-C034-430C-1CADCA0910F0}"/>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6123149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pic>
        <p:nvPicPr>
          <p:cNvPr id="5122" name="Picture 2" descr="image-39">
            <a:extLst>
              <a:ext uri="{FF2B5EF4-FFF2-40B4-BE49-F238E27FC236}">
                <a16:creationId xmlns:a16="http://schemas.microsoft.com/office/drawing/2014/main" xmlns="" id="{40D00EC7-2B9F-3116-1D03-126D7E7917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895350"/>
            <a:ext cx="6043100" cy="3492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C41F7439-54C3-E8D2-D63F-D03F902EB27C}"/>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21726137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CCDBED6B-5AF2-7914-D67C-070CC79C2660}"/>
              </a:ext>
            </a:extLst>
          </p:cNvPr>
          <p:cNvSpPr>
            <a:spLocks noChangeArrowheads="1"/>
          </p:cNvSpPr>
          <p:nvPr/>
        </p:nvSpPr>
        <p:spPr bwMode="auto">
          <a:xfrm>
            <a:off x="304800" y="895350"/>
            <a:ext cx="8534400" cy="32316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dirty="0">
                <a:ln>
                  <a:noFill/>
                </a:ln>
                <a:solidFill>
                  <a:schemeClr val="tx1"/>
                </a:solidFill>
                <a:effectLst/>
                <a:latin typeface="-apple-system"/>
              </a:rPr>
              <a:t>Class Loader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When you compile a </a:t>
            </a:r>
            <a:r>
              <a:rPr kumimoji="0" lang="en-US" altLang="en-US" sz="3200" b="0" i="0" u="none" strike="noStrike" cap="none" normalizeH="0" baseline="0" dirty="0">
                <a:ln>
                  <a:noFill/>
                </a:ln>
                <a:solidFill>
                  <a:srgbClr val="0A0A23"/>
                </a:solidFill>
                <a:effectLst/>
                <a:latin typeface="+mn-lt"/>
              </a:rPr>
              <a:t>.java</a:t>
            </a:r>
            <a:r>
              <a:rPr kumimoji="0" lang="en-US" altLang="en-US" b="0" i="0" u="none" strike="noStrike" cap="none" normalizeH="0" baseline="0" dirty="0">
                <a:ln>
                  <a:noFill/>
                </a:ln>
                <a:solidFill>
                  <a:srgbClr val="0A0A23"/>
                </a:solidFill>
                <a:effectLst/>
                <a:latin typeface="+mn-lt"/>
              </a:rPr>
              <a:t> source file, it is converted into byte code as a </a:t>
            </a:r>
            <a:r>
              <a:rPr kumimoji="0" lang="en-US" altLang="en-US" sz="3200" b="0" i="0" u="none" strike="noStrike" cap="none" normalizeH="0" baseline="0" dirty="0">
                <a:ln>
                  <a:noFill/>
                </a:ln>
                <a:solidFill>
                  <a:srgbClr val="0A0A23"/>
                </a:solidFill>
                <a:effectLst/>
                <a:latin typeface="+mn-lt"/>
              </a:rPr>
              <a:t>.class</a:t>
            </a:r>
            <a:r>
              <a:rPr kumimoji="0" lang="en-US" altLang="en-US" sz="2800" b="0" i="0" u="none" strike="noStrike" cap="none" normalizeH="0" baseline="0" dirty="0">
                <a:ln>
                  <a:noFill/>
                </a:ln>
                <a:solidFill>
                  <a:srgbClr val="0A0A23"/>
                </a:solidFill>
                <a:effectLst/>
                <a:latin typeface="+mn-lt"/>
              </a:rPr>
              <a:t> </a:t>
            </a:r>
            <a:r>
              <a:rPr kumimoji="0" lang="en-US" altLang="en-US" b="0" i="0" u="none" strike="noStrike" cap="none" normalizeH="0" baseline="0" dirty="0">
                <a:ln>
                  <a:noFill/>
                </a:ln>
                <a:solidFill>
                  <a:srgbClr val="0A0A23"/>
                </a:solidFill>
                <a:effectLst/>
                <a:latin typeface="+mn-lt"/>
              </a:rPr>
              <a:t>file. When you try to use this class in your program, the class loader loads it into the main memory.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The first class to be loaded into memory is usually the class that contains the </a:t>
            </a:r>
            <a:r>
              <a:rPr kumimoji="0" lang="en-US" altLang="en-US" sz="3200" b="0" i="0" u="none" strike="noStrike" cap="none" normalizeH="0" baseline="0" dirty="0">
                <a:ln>
                  <a:noFill/>
                </a:ln>
                <a:solidFill>
                  <a:srgbClr val="0A0A23"/>
                </a:solidFill>
                <a:effectLst/>
                <a:latin typeface="+mn-lt"/>
              </a:rPr>
              <a:t>main()</a:t>
            </a:r>
            <a:r>
              <a:rPr kumimoji="0" lang="en-US" altLang="en-US" b="0" i="0" u="none" strike="noStrike" cap="none" normalizeH="0" baseline="0" dirty="0">
                <a:ln>
                  <a:noFill/>
                </a:ln>
                <a:solidFill>
                  <a:srgbClr val="0A0A23"/>
                </a:solidFill>
                <a:effectLst/>
                <a:latin typeface="+mn-lt"/>
              </a:rPr>
              <a:t> method.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There are three phases in the class loading process: </a:t>
            </a:r>
            <a:r>
              <a:rPr kumimoji="0" lang="en-US" altLang="en-US" b="1" i="1" u="none" strike="noStrike" cap="none" normalizeH="0" baseline="0" dirty="0">
                <a:ln>
                  <a:noFill/>
                </a:ln>
                <a:solidFill>
                  <a:srgbClr val="0A0A23"/>
                </a:solidFill>
                <a:effectLst/>
                <a:latin typeface="+mn-lt"/>
              </a:rPr>
              <a:t>loading, linking, and initialization</a:t>
            </a:r>
            <a:r>
              <a:rPr kumimoji="0" lang="en-US" altLang="en-US" b="0" i="0" u="none" strike="noStrike" cap="none" normalizeH="0" baseline="0" dirty="0">
                <a:ln>
                  <a:noFill/>
                </a:ln>
                <a:solidFill>
                  <a:srgbClr val="0A0A23"/>
                </a:solidFill>
                <a:effectLst/>
                <a:latin typeface="+mn-lt"/>
              </a:rPr>
              <a:t>.</a:t>
            </a:r>
            <a:endParaRPr kumimoji="0" lang="en-US" altLang="en-US" b="0" i="0" u="none" strike="noStrike" cap="none" normalizeH="0" baseline="0" dirty="0">
              <a:ln>
                <a:noFill/>
              </a:ln>
              <a:solidFill>
                <a:schemeClr val="tx1"/>
              </a:solidFill>
              <a:effectLst/>
              <a:latin typeface="+mn-lt"/>
            </a:endParaRPr>
          </a:p>
        </p:txBody>
      </p:sp>
      <p:sp>
        <p:nvSpPr>
          <p:cNvPr id="3" name="Footer Placeholder 2">
            <a:extLst>
              <a:ext uri="{FF2B5EF4-FFF2-40B4-BE49-F238E27FC236}">
                <a16:creationId xmlns:a16="http://schemas.microsoft.com/office/drawing/2014/main" xmlns="" id="{47315D90-8DB6-5AAD-B74D-B490E1DED078}"/>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91481875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pic>
        <p:nvPicPr>
          <p:cNvPr id="7170" name="Picture 2" descr="image-40">
            <a:extLst>
              <a:ext uri="{FF2B5EF4-FFF2-40B4-BE49-F238E27FC236}">
                <a16:creationId xmlns:a16="http://schemas.microsoft.com/office/drawing/2014/main" xmlns="" id="{0BEACC6C-6CEA-CD9B-3F95-DB63EBEDF4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819150"/>
            <a:ext cx="6415331" cy="3348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B1AF799E-7782-0F13-CBC9-D58BD374D306}"/>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1710457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E01B9D2D-07DB-5E02-5B49-4AD681236740}"/>
              </a:ext>
            </a:extLst>
          </p:cNvPr>
          <p:cNvSpPr txBox="1"/>
          <p:nvPr/>
        </p:nvSpPr>
        <p:spPr>
          <a:xfrm>
            <a:off x="1447800" y="1273612"/>
            <a:ext cx="5715000" cy="1938992"/>
          </a:xfrm>
          <a:prstGeom prst="rect">
            <a:avLst/>
          </a:prstGeom>
          <a:noFill/>
        </p:spPr>
        <p:txBody>
          <a:bodyPr wrap="square">
            <a:spAutoFit/>
          </a:bodyPr>
          <a:lstStyle/>
          <a:p>
            <a:pPr algn="just" fontAlgn="base"/>
            <a:r>
              <a:rPr lang="en-US" sz="2400" b="1" i="0" dirty="0">
                <a:solidFill>
                  <a:srgbClr val="273239"/>
                </a:solidFill>
                <a:effectLst/>
                <a:latin typeface="urw-din"/>
              </a:rPr>
              <a:t>Class Loader Subsystem</a:t>
            </a:r>
            <a:endParaRPr lang="en-US" sz="2400" b="0" i="0" dirty="0">
              <a:solidFill>
                <a:srgbClr val="273239"/>
              </a:solidFill>
              <a:effectLst/>
              <a:latin typeface="urw-din"/>
            </a:endParaRPr>
          </a:p>
          <a:p>
            <a:pPr algn="just" fontAlgn="base"/>
            <a:r>
              <a:rPr lang="en-US" sz="2400" b="0" i="0" dirty="0">
                <a:solidFill>
                  <a:srgbClr val="273239"/>
                </a:solidFill>
                <a:effectLst/>
                <a:latin typeface="urw-din"/>
              </a:rPr>
              <a:t>It is mainly responsible for three activities. </a:t>
            </a:r>
          </a:p>
          <a:p>
            <a:pPr marL="800100" lvl="1" indent="-342900" algn="just" fontAlgn="base">
              <a:buFont typeface="Wingdings" panose="05000000000000000000" pitchFamily="2" charset="2"/>
              <a:buChar char="v"/>
            </a:pPr>
            <a:r>
              <a:rPr lang="en-US" sz="2400" b="0" i="0" dirty="0">
                <a:solidFill>
                  <a:srgbClr val="273239"/>
                </a:solidFill>
                <a:effectLst/>
                <a:latin typeface="urw-din"/>
              </a:rPr>
              <a:t>Loading</a:t>
            </a:r>
          </a:p>
          <a:p>
            <a:pPr marL="800100" lvl="1" indent="-342900" algn="just" fontAlgn="base">
              <a:buFont typeface="Wingdings" panose="05000000000000000000" pitchFamily="2" charset="2"/>
              <a:buChar char="v"/>
            </a:pPr>
            <a:r>
              <a:rPr lang="en-US" sz="2400" b="0" i="0" dirty="0">
                <a:solidFill>
                  <a:srgbClr val="273239"/>
                </a:solidFill>
                <a:effectLst/>
                <a:latin typeface="urw-din"/>
              </a:rPr>
              <a:t>Linking</a:t>
            </a:r>
          </a:p>
          <a:p>
            <a:pPr marL="800100" lvl="1" indent="-342900" algn="just" fontAlgn="base">
              <a:buFont typeface="Wingdings" panose="05000000000000000000" pitchFamily="2" charset="2"/>
              <a:buChar char="v"/>
            </a:pPr>
            <a:r>
              <a:rPr lang="en-US" sz="2400" b="0" i="0" dirty="0">
                <a:solidFill>
                  <a:srgbClr val="273239"/>
                </a:solidFill>
                <a:effectLst/>
                <a:latin typeface="urw-din"/>
              </a:rPr>
              <a:t>Initialization</a:t>
            </a:r>
          </a:p>
        </p:txBody>
      </p:sp>
      <p:sp>
        <p:nvSpPr>
          <p:cNvPr id="2" name="Footer Placeholder 1">
            <a:extLst>
              <a:ext uri="{FF2B5EF4-FFF2-40B4-BE49-F238E27FC236}">
                <a16:creationId xmlns:a16="http://schemas.microsoft.com/office/drawing/2014/main" xmlns="" id="{80D9013D-FEA2-FFB4-7BCF-C6003F91060C}"/>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6666600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E01B9D2D-07DB-5E02-5B49-4AD681236740}"/>
              </a:ext>
            </a:extLst>
          </p:cNvPr>
          <p:cNvSpPr txBox="1"/>
          <p:nvPr/>
        </p:nvSpPr>
        <p:spPr>
          <a:xfrm>
            <a:off x="685800" y="971550"/>
            <a:ext cx="7620000" cy="3293209"/>
          </a:xfrm>
          <a:prstGeom prst="rect">
            <a:avLst/>
          </a:prstGeom>
          <a:noFill/>
        </p:spPr>
        <p:txBody>
          <a:bodyPr wrap="square">
            <a:spAutoFit/>
          </a:bodyPr>
          <a:lstStyle/>
          <a:p>
            <a:pPr algn="just" fontAlgn="base"/>
            <a:r>
              <a:rPr lang="en-US" sz="1600" b="1" i="0" dirty="0">
                <a:solidFill>
                  <a:srgbClr val="273239"/>
                </a:solidFill>
                <a:effectLst/>
                <a:latin typeface="urw-din"/>
              </a:rPr>
              <a:t>Loading:</a:t>
            </a:r>
            <a:r>
              <a:rPr lang="en-US" sz="1600" b="0" i="0" dirty="0">
                <a:solidFill>
                  <a:srgbClr val="273239"/>
                </a:solidFill>
                <a:effectLst/>
                <a:latin typeface="urw-din"/>
              </a:rPr>
              <a:t> The Class loader reads the “.</a:t>
            </a:r>
            <a:r>
              <a:rPr lang="en-US" sz="1600" b="0" i="1" dirty="0">
                <a:solidFill>
                  <a:srgbClr val="273239"/>
                </a:solidFill>
                <a:effectLst/>
                <a:latin typeface="urw-din"/>
              </a:rPr>
              <a:t>class”</a:t>
            </a:r>
            <a:r>
              <a:rPr lang="en-US" sz="1600" b="0" i="0" dirty="0">
                <a:solidFill>
                  <a:srgbClr val="273239"/>
                </a:solidFill>
                <a:effectLst/>
                <a:latin typeface="urw-din"/>
              </a:rPr>
              <a:t> file, generate the corresponding binary data and save it in the method area. For each “</a:t>
            </a:r>
            <a:r>
              <a:rPr lang="en-US" sz="1600" b="0" i="1" dirty="0">
                <a:solidFill>
                  <a:srgbClr val="273239"/>
                </a:solidFill>
                <a:effectLst/>
                <a:latin typeface="urw-din"/>
              </a:rPr>
              <a:t>.class” </a:t>
            </a:r>
            <a:r>
              <a:rPr lang="en-US" sz="1600" b="0" i="0" dirty="0">
                <a:solidFill>
                  <a:srgbClr val="273239"/>
                </a:solidFill>
                <a:effectLst/>
                <a:latin typeface="urw-din"/>
              </a:rPr>
              <a:t>file, JVM stores the following information in the method area.</a:t>
            </a:r>
          </a:p>
          <a:p>
            <a:pPr algn="just" fontAlgn="base"/>
            <a:r>
              <a:rPr lang="en-US" sz="1600" b="0" i="0" dirty="0">
                <a:solidFill>
                  <a:srgbClr val="273239"/>
                </a:solidFill>
                <a:effectLst/>
                <a:latin typeface="urw-din"/>
              </a:rPr>
              <a:t>  </a:t>
            </a:r>
          </a:p>
          <a:p>
            <a:pPr marL="285750" indent="-285750" algn="just" fontAlgn="base">
              <a:buFont typeface="Wingdings" panose="05000000000000000000" pitchFamily="2" charset="2"/>
              <a:buChar char="v"/>
            </a:pPr>
            <a:r>
              <a:rPr lang="en-US" sz="1600" b="0" i="0" dirty="0">
                <a:solidFill>
                  <a:srgbClr val="273239"/>
                </a:solidFill>
                <a:effectLst/>
                <a:latin typeface="urw-din"/>
              </a:rPr>
              <a:t>The fully qualified name of the loaded class and its immediate parent class.</a:t>
            </a:r>
          </a:p>
          <a:p>
            <a:pPr marL="285750" indent="-285750" algn="just" fontAlgn="base">
              <a:buFont typeface="Wingdings" panose="05000000000000000000" pitchFamily="2" charset="2"/>
              <a:buChar char="v"/>
            </a:pPr>
            <a:r>
              <a:rPr lang="en-US" sz="1600" b="0" i="0" dirty="0">
                <a:solidFill>
                  <a:srgbClr val="273239"/>
                </a:solidFill>
                <a:effectLst/>
                <a:latin typeface="urw-din"/>
              </a:rPr>
              <a:t>Whether the “</a:t>
            </a:r>
            <a:r>
              <a:rPr lang="en-US" sz="1600" b="0" i="1" dirty="0">
                <a:solidFill>
                  <a:srgbClr val="273239"/>
                </a:solidFill>
                <a:effectLst/>
                <a:latin typeface="urw-din"/>
              </a:rPr>
              <a:t>.class”</a:t>
            </a:r>
            <a:r>
              <a:rPr lang="en-US" sz="1600" b="0" i="0" dirty="0">
                <a:solidFill>
                  <a:srgbClr val="273239"/>
                </a:solidFill>
                <a:effectLst/>
                <a:latin typeface="urw-din"/>
              </a:rPr>
              <a:t> file is related to Class or Interface or Enum.</a:t>
            </a:r>
          </a:p>
          <a:p>
            <a:pPr marL="285750" indent="-285750" algn="just" fontAlgn="base">
              <a:buFont typeface="Wingdings" panose="05000000000000000000" pitchFamily="2" charset="2"/>
              <a:buChar char="v"/>
            </a:pPr>
            <a:r>
              <a:rPr lang="en-US" sz="1600" b="0" i="0" dirty="0">
                <a:solidFill>
                  <a:srgbClr val="273239"/>
                </a:solidFill>
                <a:effectLst/>
                <a:latin typeface="urw-din"/>
              </a:rPr>
              <a:t>Modifier, Variables and Method information etc.</a:t>
            </a:r>
          </a:p>
          <a:p>
            <a:pPr marL="285750" indent="-285750" algn="just" fontAlgn="base">
              <a:buFont typeface="Wingdings" panose="05000000000000000000" pitchFamily="2" charset="2"/>
              <a:buChar char="v"/>
            </a:pPr>
            <a:r>
              <a:rPr lang="en-US" sz="1600" b="0" i="0" dirty="0">
                <a:solidFill>
                  <a:srgbClr val="273239"/>
                </a:solidFill>
                <a:effectLst/>
                <a:latin typeface="urw-din"/>
              </a:rPr>
              <a:t>After loading the “</a:t>
            </a:r>
            <a:r>
              <a:rPr lang="en-US" sz="1600" b="0" i="1" dirty="0">
                <a:solidFill>
                  <a:srgbClr val="273239"/>
                </a:solidFill>
                <a:effectLst/>
                <a:latin typeface="urw-din"/>
              </a:rPr>
              <a:t>.class”</a:t>
            </a:r>
            <a:r>
              <a:rPr lang="en-US" sz="1600" b="0" i="0" dirty="0">
                <a:solidFill>
                  <a:srgbClr val="273239"/>
                </a:solidFill>
                <a:effectLst/>
                <a:latin typeface="urw-din"/>
              </a:rPr>
              <a:t> file, JVM creates an object of type Class to represent this file in the heap memory. Please note that this object is of type Class predefined in </a:t>
            </a:r>
            <a:r>
              <a:rPr lang="en-US" sz="1600" b="0" i="1" dirty="0" err="1">
                <a:solidFill>
                  <a:srgbClr val="273239"/>
                </a:solidFill>
                <a:effectLst/>
                <a:latin typeface="urw-din"/>
              </a:rPr>
              <a:t>java.lang</a:t>
            </a:r>
            <a:r>
              <a:rPr lang="en-US" sz="1600" b="0" i="0" dirty="0">
                <a:solidFill>
                  <a:srgbClr val="273239"/>
                </a:solidFill>
                <a:effectLst/>
                <a:latin typeface="urw-din"/>
              </a:rPr>
              <a:t> package. These Class object can be used by the programmer for getting class level information like the name of the class, parent name, methods and variable information etc. To get this object reference we can use </a:t>
            </a:r>
            <a:r>
              <a:rPr lang="en-US" sz="1600" b="0" i="1" dirty="0" err="1">
                <a:solidFill>
                  <a:srgbClr val="273239"/>
                </a:solidFill>
                <a:effectLst/>
                <a:latin typeface="urw-din"/>
              </a:rPr>
              <a:t>getClass</a:t>
            </a:r>
            <a:r>
              <a:rPr lang="en-US" sz="1600" b="0" i="1" dirty="0">
                <a:solidFill>
                  <a:srgbClr val="273239"/>
                </a:solidFill>
                <a:effectLst/>
                <a:latin typeface="urw-din"/>
              </a:rPr>
              <a:t>()</a:t>
            </a:r>
            <a:r>
              <a:rPr lang="en-US" sz="1600" b="0" i="0" dirty="0">
                <a:solidFill>
                  <a:srgbClr val="273239"/>
                </a:solidFill>
                <a:effectLst/>
                <a:latin typeface="urw-din"/>
              </a:rPr>
              <a:t> method of </a:t>
            </a:r>
            <a:r>
              <a:rPr lang="en-US" sz="1600" b="0" i="0" u="sng" dirty="0">
                <a:solidFill>
                  <a:srgbClr val="273239"/>
                </a:solidFill>
                <a:effectLst/>
                <a:latin typeface="urw-din"/>
                <a:hlinkClick r:id="rId3"/>
              </a:rPr>
              <a:t>Object</a:t>
            </a:r>
            <a:r>
              <a:rPr lang="en-US" sz="1600" b="0" i="0" dirty="0">
                <a:solidFill>
                  <a:srgbClr val="273239"/>
                </a:solidFill>
                <a:effectLst/>
                <a:latin typeface="urw-din"/>
              </a:rPr>
              <a:t> class.</a:t>
            </a:r>
          </a:p>
        </p:txBody>
      </p:sp>
      <p:sp>
        <p:nvSpPr>
          <p:cNvPr id="2" name="Footer Placeholder 1">
            <a:extLst>
              <a:ext uri="{FF2B5EF4-FFF2-40B4-BE49-F238E27FC236}">
                <a16:creationId xmlns:a16="http://schemas.microsoft.com/office/drawing/2014/main" xmlns="" id="{74258A29-B260-50FA-6AA3-997BB46476F5}"/>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9516940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E01B9D2D-07DB-5E02-5B49-4AD681236740}"/>
              </a:ext>
            </a:extLst>
          </p:cNvPr>
          <p:cNvSpPr txBox="1"/>
          <p:nvPr/>
        </p:nvSpPr>
        <p:spPr>
          <a:xfrm>
            <a:off x="685800" y="971550"/>
            <a:ext cx="7620000" cy="3046988"/>
          </a:xfrm>
          <a:prstGeom prst="rect">
            <a:avLst/>
          </a:prstGeom>
          <a:noFill/>
        </p:spPr>
        <p:txBody>
          <a:bodyPr wrap="square">
            <a:spAutoFit/>
          </a:bodyPr>
          <a:lstStyle/>
          <a:p>
            <a:pPr algn="just" fontAlgn="base"/>
            <a:r>
              <a:rPr lang="en-US" sz="1600" b="1" i="0" dirty="0">
                <a:solidFill>
                  <a:srgbClr val="273239"/>
                </a:solidFill>
                <a:effectLst/>
                <a:latin typeface="urw-din"/>
              </a:rPr>
              <a:t>Linking:</a:t>
            </a:r>
            <a:r>
              <a:rPr lang="en-US" sz="1600" b="0" i="0" dirty="0">
                <a:solidFill>
                  <a:srgbClr val="273239"/>
                </a:solidFill>
                <a:effectLst/>
                <a:latin typeface="urw-din"/>
              </a:rPr>
              <a:t> Performs verification, preparation, and (optionally) resolution. </a:t>
            </a:r>
          </a:p>
          <a:p>
            <a:pPr algn="just" fontAlgn="base"/>
            <a:r>
              <a:rPr lang="en-US" sz="1600" b="0" i="0" dirty="0">
                <a:solidFill>
                  <a:srgbClr val="273239"/>
                </a:solidFill>
                <a:effectLst/>
                <a:latin typeface="urw-din"/>
              </a:rPr>
              <a:t> </a:t>
            </a:r>
          </a:p>
          <a:p>
            <a:pPr marL="285750" indent="-285750" algn="just" fontAlgn="base">
              <a:buFont typeface="Wingdings" panose="05000000000000000000" pitchFamily="2" charset="2"/>
              <a:buChar char="v"/>
            </a:pPr>
            <a:r>
              <a:rPr lang="en-US" sz="1600" b="1" i="1" dirty="0">
                <a:solidFill>
                  <a:srgbClr val="273239"/>
                </a:solidFill>
                <a:effectLst/>
                <a:latin typeface="urw-din"/>
              </a:rPr>
              <a:t>Verification</a:t>
            </a:r>
            <a:r>
              <a:rPr lang="en-US" sz="1600" b="1" i="0" dirty="0">
                <a:solidFill>
                  <a:srgbClr val="273239"/>
                </a:solidFill>
                <a:effectLst/>
                <a:latin typeface="urw-din"/>
              </a:rPr>
              <a:t>:</a:t>
            </a:r>
            <a:r>
              <a:rPr lang="en-US" sz="1600" b="0" i="0" dirty="0">
                <a:solidFill>
                  <a:srgbClr val="273239"/>
                </a:solidFill>
                <a:effectLst/>
                <a:latin typeface="urw-din"/>
              </a:rPr>
              <a:t> It ensures the correctness of the </a:t>
            </a:r>
            <a:r>
              <a:rPr lang="en-US" sz="1600" b="0" i="1" dirty="0">
                <a:solidFill>
                  <a:srgbClr val="273239"/>
                </a:solidFill>
                <a:effectLst/>
                <a:latin typeface="urw-din"/>
              </a:rPr>
              <a:t>.class</a:t>
            </a:r>
            <a:r>
              <a:rPr lang="en-US" sz="1600" b="0" i="0" dirty="0">
                <a:solidFill>
                  <a:srgbClr val="273239"/>
                </a:solidFill>
                <a:effectLst/>
                <a:latin typeface="urw-din"/>
              </a:rPr>
              <a:t> file i.e. it checks whether this file is properly formatted and generated by a valid compiler or not. If verification fails, we get run-time exception </a:t>
            </a:r>
            <a:r>
              <a:rPr lang="en-US" sz="1600" b="0" i="1" dirty="0" err="1">
                <a:solidFill>
                  <a:srgbClr val="273239"/>
                </a:solidFill>
                <a:effectLst/>
                <a:latin typeface="urw-din"/>
              </a:rPr>
              <a:t>java.lang.VerifyError</a:t>
            </a:r>
            <a:r>
              <a:rPr lang="en-US" sz="1600" b="0" i="0" dirty="0">
                <a:solidFill>
                  <a:srgbClr val="273239"/>
                </a:solidFill>
                <a:effectLst/>
                <a:latin typeface="urw-din"/>
              </a:rPr>
              <a:t>. This activity is done by the component </a:t>
            </a:r>
            <a:r>
              <a:rPr lang="en-US" sz="1600" b="0" i="0" dirty="0" err="1">
                <a:solidFill>
                  <a:srgbClr val="273239"/>
                </a:solidFill>
                <a:effectLst/>
                <a:latin typeface="urw-din"/>
              </a:rPr>
              <a:t>ByteCodeVerifier</a:t>
            </a:r>
            <a:r>
              <a:rPr lang="en-US" sz="1600" b="0" i="0" dirty="0">
                <a:solidFill>
                  <a:srgbClr val="273239"/>
                </a:solidFill>
                <a:effectLst/>
                <a:latin typeface="urw-din"/>
              </a:rPr>
              <a:t>. Once this activity is completed then the class file is ready for compilation.</a:t>
            </a:r>
          </a:p>
          <a:p>
            <a:pPr marL="285750" indent="-285750" algn="just" fontAlgn="base">
              <a:buFont typeface="Wingdings" panose="05000000000000000000" pitchFamily="2" charset="2"/>
              <a:buChar char="v"/>
            </a:pPr>
            <a:r>
              <a:rPr lang="en-US" sz="1600" b="1" i="1" dirty="0">
                <a:solidFill>
                  <a:srgbClr val="273239"/>
                </a:solidFill>
                <a:effectLst/>
                <a:latin typeface="urw-din"/>
              </a:rPr>
              <a:t>Preparation</a:t>
            </a:r>
            <a:r>
              <a:rPr lang="en-US" sz="1600" b="1" i="0" dirty="0">
                <a:solidFill>
                  <a:srgbClr val="273239"/>
                </a:solidFill>
                <a:effectLst/>
                <a:latin typeface="urw-din"/>
              </a:rPr>
              <a:t>:</a:t>
            </a:r>
            <a:r>
              <a:rPr lang="en-US" sz="1600" b="0" i="0" dirty="0">
                <a:solidFill>
                  <a:srgbClr val="273239"/>
                </a:solidFill>
                <a:effectLst/>
                <a:latin typeface="urw-din"/>
              </a:rPr>
              <a:t> JVM allocates memory for class variables and initializing the memory to default values.</a:t>
            </a:r>
          </a:p>
          <a:p>
            <a:pPr marL="285750" indent="-285750" algn="just" fontAlgn="base">
              <a:buFont typeface="Wingdings" panose="05000000000000000000" pitchFamily="2" charset="2"/>
              <a:buChar char="v"/>
            </a:pPr>
            <a:r>
              <a:rPr lang="en-US" sz="1600" b="1" i="1" dirty="0">
                <a:solidFill>
                  <a:srgbClr val="273239"/>
                </a:solidFill>
                <a:effectLst/>
                <a:latin typeface="urw-din"/>
              </a:rPr>
              <a:t>Resolution</a:t>
            </a:r>
            <a:r>
              <a:rPr lang="en-US" sz="1600" b="1" i="0" dirty="0">
                <a:solidFill>
                  <a:srgbClr val="273239"/>
                </a:solidFill>
                <a:effectLst/>
                <a:latin typeface="urw-din"/>
              </a:rPr>
              <a:t>:</a:t>
            </a:r>
            <a:r>
              <a:rPr lang="en-US" sz="1600" b="0" i="0" dirty="0">
                <a:solidFill>
                  <a:srgbClr val="273239"/>
                </a:solidFill>
                <a:effectLst/>
                <a:latin typeface="urw-din"/>
              </a:rPr>
              <a:t> It is the process of replacing symbolic references from the type with direct references. It is done by searching into the method area to locate the referenced entity.</a:t>
            </a:r>
          </a:p>
        </p:txBody>
      </p:sp>
      <p:sp>
        <p:nvSpPr>
          <p:cNvPr id="2" name="Footer Placeholder 1">
            <a:extLst>
              <a:ext uri="{FF2B5EF4-FFF2-40B4-BE49-F238E27FC236}">
                <a16:creationId xmlns:a16="http://schemas.microsoft.com/office/drawing/2014/main" xmlns="" id="{73192C71-3A72-6FCD-B349-4718DD2E2D9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7125977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E01B9D2D-07DB-5E02-5B49-4AD681236740}"/>
              </a:ext>
            </a:extLst>
          </p:cNvPr>
          <p:cNvSpPr txBox="1"/>
          <p:nvPr/>
        </p:nvSpPr>
        <p:spPr>
          <a:xfrm>
            <a:off x="152400" y="847963"/>
            <a:ext cx="8229600" cy="3046988"/>
          </a:xfrm>
          <a:prstGeom prst="rect">
            <a:avLst/>
          </a:prstGeom>
          <a:noFill/>
        </p:spPr>
        <p:txBody>
          <a:bodyPr wrap="square">
            <a:spAutoFit/>
          </a:bodyPr>
          <a:lstStyle/>
          <a:p>
            <a:pPr algn="just" fontAlgn="base"/>
            <a:r>
              <a:rPr lang="en-US" sz="1200" b="1" i="0" dirty="0">
                <a:solidFill>
                  <a:srgbClr val="273239"/>
                </a:solidFill>
                <a:effectLst/>
                <a:latin typeface="urw-din"/>
              </a:rPr>
              <a:t>Initialization:</a:t>
            </a:r>
            <a:r>
              <a:rPr lang="en-US" sz="1200" b="0" i="0" dirty="0">
                <a:solidFill>
                  <a:srgbClr val="273239"/>
                </a:solidFill>
                <a:effectLst/>
                <a:latin typeface="urw-din"/>
              </a:rPr>
              <a:t> In this phase, all static variables are assigned with their values defined in the code and static block(if any). This is executed from top to bottom in a class and from parent to child in the class</a:t>
            </a:r>
          </a:p>
          <a:p>
            <a:pPr algn="just" fontAlgn="base"/>
            <a:r>
              <a:rPr lang="en-US" sz="1200" b="0" i="0" dirty="0">
                <a:solidFill>
                  <a:srgbClr val="273239"/>
                </a:solidFill>
                <a:effectLst/>
                <a:latin typeface="urw-din"/>
              </a:rPr>
              <a:t> hierarchy. </a:t>
            </a:r>
          </a:p>
          <a:p>
            <a:pPr algn="just" fontAlgn="base"/>
            <a:endParaRPr lang="en-US" sz="1200" b="0" i="0" dirty="0">
              <a:solidFill>
                <a:srgbClr val="273239"/>
              </a:solidFill>
              <a:effectLst/>
              <a:latin typeface="urw-din"/>
            </a:endParaRPr>
          </a:p>
          <a:p>
            <a:pPr algn="just" fontAlgn="base"/>
            <a:r>
              <a:rPr lang="en-US" sz="1200" b="0" i="0" dirty="0">
                <a:solidFill>
                  <a:srgbClr val="273239"/>
                </a:solidFill>
                <a:effectLst/>
                <a:latin typeface="urw-din"/>
              </a:rPr>
              <a:t>In general, there are three class loaders : </a:t>
            </a:r>
          </a:p>
          <a:p>
            <a:pPr marL="285750" indent="-285750" algn="just" fontAlgn="base">
              <a:buFont typeface="Wingdings" panose="05000000000000000000" pitchFamily="2" charset="2"/>
              <a:buChar char="v"/>
            </a:pPr>
            <a:r>
              <a:rPr lang="en-US" sz="1200" b="1" i="1" dirty="0">
                <a:solidFill>
                  <a:srgbClr val="273239"/>
                </a:solidFill>
                <a:effectLst/>
                <a:latin typeface="urw-din"/>
              </a:rPr>
              <a:t>Bootstrap class loader</a:t>
            </a:r>
            <a:r>
              <a:rPr lang="en-US" sz="1200" b="1" i="0" dirty="0">
                <a:solidFill>
                  <a:srgbClr val="273239"/>
                </a:solidFill>
                <a:effectLst/>
                <a:latin typeface="urw-din"/>
              </a:rPr>
              <a:t>:</a:t>
            </a:r>
            <a:r>
              <a:rPr lang="en-US" sz="1200" b="0" i="0" dirty="0">
                <a:solidFill>
                  <a:srgbClr val="273239"/>
                </a:solidFill>
                <a:effectLst/>
                <a:latin typeface="urw-din"/>
              </a:rPr>
              <a:t> Every JVM implementation must have a bootstrap class loader, capable of loading trusted classes. It loads core java API classes present in the “</a:t>
            </a:r>
            <a:r>
              <a:rPr lang="en-US" sz="1200" b="0" i="1" dirty="0">
                <a:solidFill>
                  <a:srgbClr val="273239"/>
                </a:solidFill>
                <a:effectLst/>
                <a:latin typeface="urw-din"/>
              </a:rPr>
              <a:t>JAVA_HOME/</a:t>
            </a:r>
            <a:r>
              <a:rPr lang="en-US" sz="1200" b="0" i="1" dirty="0" err="1">
                <a:solidFill>
                  <a:srgbClr val="273239"/>
                </a:solidFill>
                <a:effectLst/>
                <a:latin typeface="urw-din"/>
              </a:rPr>
              <a:t>jre</a:t>
            </a:r>
            <a:r>
              <a:rPr lang="en-US" sz="1200" b="0" i="1" dirty="0">
                <a:solidFill>
                  <a:srgbClr val="273239"/>
                </a:solidFill>
                <a:effectLst/>
                <a:latin typeface="urw-din"/>
              </a:rPr>
              <a:t>/lib”</a:t>
            </a:r>
            <a:r>
              <a:rPr lang="en-US" sz="1200" b="0" i="0" dirty="0">
                <a:solidFill>
                  <a:srgbClr val="273239"/>
                </a:solidFill>
                <a:effectLst/>
                <a:latin typeface="urw-din"/>
              </a:rPr>
              <a:t> directory. This path is popularly known as the bootstrap path. It is implemented in native languages like C, C++.</a:t>
            </a:r>
          </a:p>
          <a:p>
            <a:pPr algn="just" fontAlgn="base"/>
            <a:endParaRPr lang="en-US" sz="1200" b="0" i="0" dirty="0">
              <a:solidFill>
                <a:srgbClr val="273239"/>
              </a:solidFill>
              <a:effectLst/>
              <a:latin typeface="urw-din"/>
            </a:endParaRPr>
          </a:p>
          <a:p>
            <a:pPr marL="285750" indent="-285750" algn="just" fontAlgn="base">
              <a:buFont typeface="Wingdings" panose="05000000000000000000" pitchFamily="2" charset="2"/>
              <a:buChar char="v"/>
            </a:pPr>
            <a:r>
              <a:rPr lang="en-US" sz="1200" b="1" i="1" dirty="0">
                <a:solidFill>
                  <a:srgbClr val="273239"/>
                </a:solidFill>
                <a:effectLst/>
                <a:latin typeface="urw-din"/>
              </a:rPr>
              <a:t>Extension class loader</a:t>
            </a:r>
            <a:r>
              <a:rPr lang="en-US" sz="1200" b="1" i="0" dirty="0">
                <a:solidFill>
                  <a:srgbClr val="273239"/>
                </a:solidFill>
                <a:effectLst/>
                <a:latin typeface="urw-din"/>
              </a:rPr>
              <a:t>:</a:t>
            </a:r>
            <a:r>
              <a:rPr lang="en-US" sz="1200" b="0" i="0" dirty="0">
                <a:solidFill>
                  <a:srgbClr val="273239"/>
                </a:solidFill>
                <a:effectLst/>
                <a:latin typeface="urw-din"/>
              </a:rPr>
              <a:t> It is a child of the bootstrap class loader. It loads the classes present in the extensions directories “</a:t>
            </a:r>
            <a:r>
              <a:rPr lang="en-US" sz="1200" b="0" i="1" dirty="0">
                <a:solidFill>
                  <a:srgbClr val="273239"/>
                </a:solidFill>
                <a:effectLst/>
                <a:latin typeface="urw-din"/>
              </a:rPr>
              <a:t>JAVA_HOME/</a:t>
            </a:r>
            <a:r>
              <a:rPr lang="en-US" sz="1200" b="0" i="1" dirty="0" err="1">
                <a:solidFill>
                  <a:srgbClr val="273239"/>
                </a:solidFill>
                <a:effectLst/>
                <a:latin typeface="urw-din"/>
              </a:rPr>
              <a:t>jre</a:t>
            </a:r>
            <a:r>
              <a:rPr lang="en-US" sz="1200" b="0" i="1" dirty="0">
                <a:solidFill>
                  <a:srgbClr val="273239"/>
                </a:solidFill>
                <a:effectLst/>
                <a:latin typeface="urw-din"/>
              </a:rPr>
              <a:t>/lib/</a:t>
            </a:r>
            <a:r>
              <a:rPr lang="en-US" sz="1200" b="0" i="1" dirty="0" err="1">
                <a:solidFill>
                  <a:srgbClr val="273239"/>
                </a:solidFill>
                <a:effectLst/>
                <a:latin typeface="urw-din"/>
              </a:rPr>
              <a:t>ext</a:t>
            </a:r>
            <a:r>
              <a:rPr lang="en-US" sz="1200" b="0" i="1" dirty="0">
                <a:solidFill>
                  <a:srgbClr val="273239"/>
                </a:solidFill>
                <a:effectLst/>
                <a:latin typeface="urw-din"/>
              </a:rPr>
              <a:t>”</a:t>
            </a:r>
            <a:r>
              <a:rPr lang="en-US" sz="1200" b="0" i="0" dirty="0">
                <a:solidFill>
                  <a:srgbClr val="273239"/>
                </a:solidFill>
                <a:effectLst/>
                <a:latin typeface="urw-din"/>
              </a:rPr>
              <a:t>(Extension path) or any other directory specified by the </a:t>
            </a:r>
            <a:r>
              <a:rPr lang="en-US" sz="1200" b="0" i="0" dirty="0" err="1">
                <a:solidFill>
                  <a:srgbClr val="273239"/>
                </a:solidFill>
                <a:effectLst/>
                <a:latin typeface="urw-din"/>
              </a:rPr>
              <a:t>java.ext.dirs</a:t>
            </a:r>
            <a:r>
              <a:rPr lang="en-US" sz="1200" b="0" i="0" dirty="0">
                <a:solidFill>
                  <a:srgbClr val="273239"/>
                </a:solidFill>
                <a:effectLst/>
                <a:latin typeface="urw-din"/>
              </a:rPr>
              <a:t> system property. It is implemented in java by the </a:t>
            </a:r>
            <a:r>
              <a:rPr lang="en-US" sz="1200" b="0" i="1" dirty="0" err="1">
                <a:solidFill>
                  <a:srgbClr val="273239"/>
                </a:solidFill>
                <a:effectLst/>
                <a:latin typeface="urw-din"/>
              </a:rPr>
              <a:t>sun.misc.Launcher$ExtClassLoader</a:t>
            </a:r>
            <a:r>
              <a:rPr lang="en-US" sz="1200" b="0" i="0" dirty="0">
                <a:solidFill>
                  <a:srgbClr val="273239"/>
                </a:solidFill>
                <a:effectLst/>
                <a:latin typeface="urw-din"/>
              </a:rPr>
              <a:t> class.</a:t>
            </a:r>
          </a:p>
          <a:p>
            <a:pPr algn="just" fontAlgn="base"/>
            <a:endParaRPr lang="en-US" sz="1200" b="0" i="0" dirty="0">
              <a:solidFill>
                <a:srgbClr val="273239"/>
              </a:solidFill>
              <a:effectLst/>
              <a:latin typeface="urw-din"/>
            </a:endParaRPr>
          </a:p>
          <a:p>
            <a:pPr marL="285750" indent="-285750" algn="just" fontAlgn="base">
              <a:buFont typeface="Wingdings" panose="05000000000000000000" pitchFamily="2" charset="2"/>
              <a:buChar char="v"/>
            </a:pPr>
            <a:r>
              <a:rPr lang="en-US" sz="1200" b="1" i="1" dirty="0">
                <a:solidFill>
                  <a:srgbClr val="273239"/>
                </a:solidFill>
                <a:effectLst/>
                <a:latin typeface="urw-din"/>
              </a:rPr>
              <a:t>System/Application class loader</a:t>
            </a:r>
            <a:r>
              <a:rPr lang="en-US" sz="1200" b="1" i="0" dirty="0">
                <a:solidFill>
                  <a:srgbClr val="273239"/>
                </a:solidFill>
                <a:effectLst/>
                <a:latin typeface="urw-din"/>
              </a:rPr>
              <a:t>:</a:t>
            </a:r>
            <a:r>
              <a:rPr lang="en-US" sz="1200" b="0" i="0" dirty="0">
                <a:solidFill>
                  <a:srgbClr val="273239"/>
                </a:solidFill>
                <a:effectLst/>
                <a:latin typeface="urw-din"/>
              </a:rPr>
              <a:t> It is a child of the extension class loader. It is responsible to load classes from the application classpath. It internally uses Environment Variable which mapped to </a:t>
            </a:r>
            <a:r>
              <a:rPr lang="en-US" sz="1200" b="0" i="0" dirty="0" err="1">
                <a:solidFill>
                  <a:srgbClr val="273239"/>
                </a:solidFill>
                <a:effectLst/>
                <a:latin typeface="urw-din"/>
              </a:rPr>
              <a:t>java.class.path</a:t>
            </a:r>
            <a:r>
              <a:rPr lang="en-US" sz="1200" b="0" i="0" dirty="0">
                <a:solidFill>
                  <a:srgbClr val="273239"/>
                </a:solidFill>
                <a:effectLst/>
                <a:latin typeface="urw-din"/>
              </a:rPr>
              <a:t>. It is also implemented in Java by the </a:t>
            </a:r>
            <a:r>
              <a:rPr lang="en-US" sz="1200" b="0" i="1" dirty="0" err="1">
                <a:solidFill>
                  <a:srgbClr val="273239"/>
                </a:solidFill>
                <a:effectLst/>
                <a:latin typeface="urw-din"/>
              </a:rPr>
              <a:t>sun.misc.Launcher$AppClassLoader</a:t>
            </a:r>
            <a:r>
              <a:rPr lang="en-US" sz="1200" b="0" i="0" dirty="0">
                <a:solidFill>
                  <a:srgbClr val="273239"/>
                </a:solidFill>
                <a:effectLst/>
                <a:latin typeface="urw-din"/>
              </a:rPr>
              <a:t> class.</a:t>
            </a:r>
          </a:p>
        </p:txBody>
      </p:sp>
      <p:sp>
        <p:nvSpPr>
          <p:cNvPr id="2" name="Footer Placeholder 1">
            <a:extLst>
              <a:ext uri="{FF2B5EF4-FFF2-40B4-BE49-F238E27FC236}">
                <a16:creationId xmlns:a16="http://schemas.microsoft.com/office/drawing/2014/main" xmlns="" id="{AE0EF7FF-F485-3876-F0BB-E498E6123047}"/>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02123352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E01B9D2D-07DB-5E02-5B49-4AD681236740}"/>
              </a:ext>
            </a:extLst>
          </p:cNvPr>
          <p:cNvSpPr txBox="1"/>
          <p:nvPr/>
        </p:nvSpPr>
        <p:spPr>
          <a:xfrm>
            <a:off x="99508" y="742950"/>
            <a:ext cx="8229600" cy="1569660"/>
          </a:xfrm>
          <a:prstGeom prst="rect">
            <a:avLst/>
          </a:prstGeom>
          <a:noFill/>
        </p:spPr>
        <p:txBody>
          <a:bodyPr wrap="square">
            <a:spAutoFit/>
          </a:bodyPr>
          <a:lstStyle/>
          <a:p>
            <a:pPr algn="just" fontAlgn="base"/>
            <a:r>
              <a:rPr lang="en-US" sz="1600" b="1" i="0" dirty="0">
                <a:solidFill>
                  <a:srgbClr val="273239"/>
                </a:solidFill>
                <a:effectLst/>
                <a:latin typeface="urw-din"/>
              </a:rPr>
              <a:t>Note: </a:t>
            </a:r>
            <a:r>
              <a:rPr lang="en-US" sz="1600" b="0" i="0" dirty="0">
                <a:solidFill>
                  <a:srgbClr val="273239"/>
                </a:solidFill>
                <a:effectLst/>
                <a:latin typeface="urw-din"/>
              </a:rPr>
              <a:t>JVM follows the Delegation-Hierarchy principle to load classes. System class loader delegate load request to extension class loader and extension class loader delegate request to the bootstrap class loader. If a class found in the boot-strap path, the class is loaded otherwise request again transfers to the extension class loader and then to the system class loader. At last, if the system class loader fails to load class, then we get run-time exception </a:t>
            </a:r>
            <a:r>
              <a:rPr lang="en-US" sz="1600" b="0" i="1" dirty="0" err="1">
                <a:solidFill>
                  <a:srgbClr val="273239"/>
                </a:solidFill>
                <a:effectLst/>
                <a:latin typeface="urw-din"/>
              </a:rPr>
              <a:t>java.lang.ClassNotFoundException</a:t>
            </a:r>
            <a:r>
              <a:rPr lang="en-US" sz="1600" b="0" i="0" dirty="0">
                <a:solidFill>
                  <a:srgbClr val="273239"/>
                </a:solidFill>
                <a:effectLst/>
                <a:latin typeface="urw-din"/>
              </a:rPr>
              <a:t>. </a:t>
            </a:r>
            <a:endParaRPr lang="en-US" sz="1500" b="0" i="0" dirty="0">
              <a:solidFill>
                <a:srgbClr val="273239"/>
              </a:solidFill>
              <a:effectLst/>
              <a:latin typeface="urw-din"/>
            </a:endParaRPr>
          </a:p>
        </p:txBody>
      </p:sp>
      <p:pic>
        <p:nvPicPr>
          <p:cNvPr id="8194" name="Picture 2" descr="jvm">
            <a:extLst>
              <a:ext uri="{FF2B5EF4-FFF2-40B4-BE49-F238E27FC236}">
                <a16:creationId xmlns:a16="http://schemas.microsoft.com/office/drawing/2014/main" xmlns="" id="{3084154E-2DB8-4A14-4CF6-2F88C58548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9240" y="2339280"/>
            <a:ext cx="4288000" cy="2412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2E0115DD-BFEA-BE05-E8F5-304619BA8EA0}"/>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30361833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9" name="TextBox 8">
            <a:extLst>
              <a:ext uri="{FF2B5EF4-FFF2-40B4-BE49-F238E27FC236}">
                <a16:creationId xmlns:a16="http://schemas.microsoft.com/office/drawing/2014/main" xmlns="" id="{31E05234-C129-8A1E-BD70-C1C8F49647F6}"/>
              </a:ext>
            </a:extLst>
          </p:cNvPr>
          <p:cNvSpPr txBox="1"/>
          <p:nvPr/>
        </p:nvSpPr>
        <p:spPr>
          <a:xfrm>
            <a:off x="228600" y="713366"/>
            <a:ext cx="6019800" cy="646331"/>
          </a:xfrm>
          <a:prstGeom prst="rect">
            <a:avLst/>
          </a:prstGeom>
          <a:noFill/>
        </p:spPr>
        <p:txBody>
          <a:bodyPr wrap="square">
            <a:spAutoFit/>
          </a:bodyPr>
          <a:lstStyle/>
          <a:p>
            <a:pPr algn="l" fontAlgn="base"/>
            <a:r>
              <a:rPr lang="en-US" b="1" i="0" dirty="0">
                <a:solidFill>
                  <a:schemeClr val="bg1"/>
                </a:solidFill>
                <a:effectLst/>
                <a:latin typeface="-apple-system"/>
              </a:rPr>
              <a:t>Runtime Data Area</a:t>
            </a:r>
          </a:p>
          <a:p>
            <a:pPr algn="l" fontAlgn="base"/>
            <a:r>
              <a:rPr lang="en-US" b="0" i="0" dirty="0">
                <a:solidFill>
                  <a:schemeClr val="bg1"/>
                </a:solidFill>
                <a:effectLst/>
                <a:latin typeface="Lato" panose="020F0502020204030203" pitchFamily="34" charset="0"/>
              </a:rPr>
              <a:t>There are five components inside the runtime data area:</a:t>
            </a:r>
          </a:p>
        </p:txBody>
      </p:sp>
      <p:pic>
        <p:nvPicPr>
          <p:cNvPr id="10246" name="Picture 6" descr="image-32">
            <a:extLst>
              <a:ext uri="{FF2B5EF4-FFF2-40B4-BE49-F238E27FC236}">
                <a16:creationId xmlns:a16="http://schemas.microsoft.com/office/drawing/2014/main" xmlns="" id="{6E905A24-81B8-3CB8-4B71-EBF906BBAC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1418940"/>
            <a:ext cx="7544069" cy="2664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C25044C4-1563-D0FD-5E03-742A43FAF599}"/>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76931706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TextBox 7">
            <a:extLst>
              <a:ext uri="{FF2B5EF4-FFF2-40B4-BE49-F238E27FC236}">
                <a16:creationId xmlns:a16="http://schemas.microsoft.com/office/drawing/2014/main" xmlns="" id="{D12BBCB3-9881-906C-9AD4-441F74F9A54D}"/>
              </a:ext>
            </a:extLst>
          </p:cNvPr>
          <p:cNvSpPr txBox="1"/>
          <p:nvPr/>
        </p:nvSpPr>
        <p:spPr>
          <a:xfrm>
            <a:off x="152400" y="742950"/>
            <a:ext cx="7848600" cy="3539430"/>
          </a:xfrm>
          <a:prstGeom prst="rect">
            <a:avLst/>
          </a:prstGeom>
          <a:noFill/>
        </p:spPr>
        <p:txBody>
          <a:bodyPr wrap="square">
            <a:spAutoFit/>
          </a:bodyPr>
          <a:lstStyle/>
          <a:p>
            <a:pPr algn="just" fontAlgn="base"/>
            <a:r>
              <a:rPr lang="en-US" sz="1600" b="1" i="0" dirty="0">
                <a:solidFill>
                  <a:srgbClr val="273239"/>
                </a:solidFill>
                <a:effectLst/>
                <a:latin typeface="urw-din"/>
              </a:rPr>
              <a:t>JVM Memory</a:t>
            </a:r>
            <a:r>
              <a:rPr lang="en-US" sz="1600" b="0" i="0" dirty="0">
                <a:solidFill>
                  <a:srgbClr val="273239"/>
                </a:solidFill>
                <a:effectLst/>
                <a:latin typeface="urw-din"/>
              </a:rPr>
              <a:t> </a:t>
            </a:r>
          </a:p>
          <a:p>
            <a:pPr algn="just" fontAlgn="base">
              <a:buFont typeface="+mj-lt"/>
              <a:buAutoNum type="arabicPeriod"/>
            </a:pPr>
            <a:r>
              <a:rPr lang="en-US" sz="1600" b="1" i="0" dirty="0">
                <a:solidFill>
                  <a:srgbClr val="273239"/>
                </a:solidFill>
                <a:effectLst/>
                <a:latin typeface="urw-din"/>
              </a:rPr>
              <a:t>Method area:</a:t>
            </a:r>
            <a:r>
              <a:rPr lang="en-US" sz="1600" b="0" i="0" dirty="0">
                <a:solidFill>
                  <a:srgbClr val="273239"/>
                </a:solidFill>
                <a:effectLst/>
                <a:latin typeface="urw-din"/>
              </a:rPr>
              <a:t> In the method area, all class level information like class name, immediate parent class name, methods and variables information etc. are stored, including static variables. There is only one method area per JVM, and it is a shared resource.</a:t>
            </a:r>
          </a:p>
          <a:p>
            <a:pPr algn="just" fontAlgn="base">
              <a:buFont typeface="+mj-lt"/>
              <a:buAutoNum type="arabicPeriod"/>
            </a:pPr>
            <a:r>
              <a:rPr lang="en-US" sz="1600" b="1" i="0" dirty="0">
                <a:solidFill>
                  <a:srgbClr val="273239"/>
                </a:solidFill>
                <a:effectLst/>
                <a:latin typeface="urw-din"/>
              </a:rPr>
              <a:t>Heap area:</a:t>
            </a:r>
            <a:r>
              <a:rPr lang="en-US" sz="1600" b="0" i="0" dirty="0">
                <a:solidFill>
                  <a:srgbClr val="273239"/>
                </a:solidFill>
                <a:effectLst/>
                <a:latin typeface="urw-din"/>
              </a:rPr>
              <a:t> Information of all objects is stored in the heap area. There is also one Heap Area per JVM. It is also a shared resource.</a:t>
            </a:r>
          </a:p>
          <a:p>
            <a:pPr algn="just" fontAlgn="base">
              <a:buFont typeface="+mj-lt"/>
              <a:buAutoNum type="arabicPeriod"/>
            </a:pPr>
            <a:r>
              <a:rPr lang="en-US" sz="1600" b="1" i="0" dirty="0">
                <a:solidFill>
                  <a:srgbClr val="273239"/>
                </a:solidFill>
                <a:effectLst/>
                <a:latin typeface="urw-din"/>
              </a:rPr>
              <a:t>Stack area:</a:t>
            </a:r>
            <a:r>
              <a:rPr lang="en-US" sz="1600" b="0" i="0" dirty="0">
                <a:solidFill>
                  <a:srgbClr val="273239"/>
                </a:solidFill>
                <a:effectLst/>
                <a:latin typeface="urw-din"/>
              </a:rPr>
              <a:t> For every thread, JVM creates one run-time stack which is stored here. Every block of this stack is called activation record/stack frame which stores methods calls. All local variables of that method are stored in their corresponding frame. After a thread terminates, its run-time stack will be destroyed by JVM. It is not a shared resource.</a:t>
            </a:r>
          </a:p>
          <a:p>
            <a:pPr algn="just" fontAlgn="base">
              <a:buFont typeface="+mj-lt"/>
              <a:buAutoNum type="arabicPeriod"/>
            </a:pPr>
            <a:r>
              <a:rPr lang="en-US" sz="1600" b="1" i="0" dirty="0">
                <a:solidFill>
                  <a:srgbClr val="273239"/>
                </a:solidFill>
                <a:effectLst/>
                <a:latin typeface="urw-din"/>
              </a:rPr>
              <a:t>PC Registers:</a:t>
            </a:r>
            <a:r>
              <a:rPr lang="en-US" sz="1600" b="0" i="0" dirty="0">
                <a:solidFill>
                  <a:srgbClr val="273239"/>
                </a:solidFill>
                <a:effectLst/>
                <a:latin typeface="urw-din"/>
              </a:rPr>
              <a:t> Store address of current execution instruction of a thread. Obviously, each thread has separate PC Registers.</a:t>
            </a:r>
          </a:p>
          <a:p>
            <a:pPr algn="just" fontAlgn="base">
              <a:buFont typeface="+mj-lt"/>
              <a:buAutoNum type="arabicPeriod"/>
            </a:pPr>
            <a:r>
              <a:rPr lang="en-US" sz="1600" b="1" i="0" dirty="0">
                <a:solidFill>
                  <a:srgbClr val="273239"/>
                </a:solidFill>
                <a:effectLst/>
                <a:latin typeface="urw-din"/>
              </a:rPr>
              <a:t>Native method stacks:</a:t>
            </a:r>
            <a:r>
              <a:rPr lang="en-US" sz="1600" b="0" i="0" dirty="0">
                <a:solidFill>
                  <a:srgbClr val="273239"/>
                </a:solidFill>
                <a:effectLst/>
                <a:latin typeface="urw-din"/>
              </a:rPr>
              <a:t> For every thread, a separate native stack is created. It stores native method information. </a:t>
            </a:r>
          </a:p>
        </p:txBody>
      </p:sp>
      <p:sp>
        <p:nvSpPr>
          <p:cNvPr id="2" name="Footer Placeholder 1">
            <a:extLst>
              <a:ext uri="{FF2B5EF4-FFF2-40B4-BE49-F238E27FC236}">
                <a16:creationId xmlns:a16="http://schemas.microsoft.com/office/drawing/2014/main" xmlns="" id="{EDB35E7D-0AFC-EFFC-50F0-1C7701563BB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401390901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70304DD7-4981-A30E-4615-F7B8316233DF}"/>
              </a:ext>
            </a:extLst>
          </p:cNvPr>
          <p:cNvSpPr>
            <a:spLocks noChangeArrowheads="1"/>
          </p:cNvSpPr>
          <p:nvPr/>
        </p:nvSpPr>
        <p:spPr bwMode="auto">
          <a:xfrm>
            <a:off x="269602" y="848202"/>
            <a:ext cx="8264798" cy="19697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mn-lt"/>
              </a:rPr>
              <a:t>Method Area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All the class level data such as the run-time constant pool, field, and method data, and the code for methods and constructors, are stored 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If the memory available in the method area is not sufficient for the program startup, the JVM throws an </a:t>
            </a:r>
            <a:r>
              <a:rPr kumimoji="0" lang="en-US" altLang="en-US" sz="1600" b="0" i="0" u="none" strike="noStrike" cap="none" normalizeH="0" baseline="0" dirty="0" err="1">
                <a:ln>
                  <a:noFill/>
                </a:ln>
                <a:solidFill>
                  <a:schemeClr val="bg1"/>
                </a:solidFill>
                <a:effectLst/>
                <a:latin typeface="+mn-lt"/>
              </a:rPr>
              <a:t>OutOfMemoryError</a:t>
            </a:r>
            <a:r>
              <a:rPr kumimoji="0" lang="en-US" altLang="en-US" sz="1600" b="0" i="0" u="none" strike="noStrike" cap="none" normalizeH="0" baseline="0" dirty="0">
                <a:ln>
                  <a:noFill/>
                </a:ln>
                <a:solidFill>
                  <a:schemeClr val="bg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For example, assume that you have the following class definition:</a:t>
            </a:r>
          </a:p>
        </p:txBody>
      </p:sp>
      <p:sp>
        <p:nvSpPr>
          <p:cNvPr id="3" name="Footer Placeholder 2">
            <a:extLst>
              <a:ext uri="{FF2B5EF4-FFF2-40B4-BE49-F238E27FC236}">
                <a16:creationId xmlns:a16="http://schemas.microsoft.com/office/drawing/2014/main" xmlns="" id="{F82D7D5D-D50E-89F0-7FEF-33160E1005AE}"/>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23424047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3" name="Rectangle 1">
            <a:extLst>
              <a:ext uri="{FF2B5EF4-FFF2-40B4-BE49-F238E27FC236}">
                <a16:creationId xmlns:a16="http://schemas.microsoft.com/office/drawing/2014/main" xmlns="" id="{B0BA7987-0A0B-B3A7-42A2-30C7F5417BFF}"/>
              </a:ext>
            </a:extLst>
          </p:cNvPr>
          <p:cNvSpPr>
            <a:spLocks noChangeArrowheads="1"/>
          </p:cNvSpPr>
          <p:nvPr/>
        </p:nvSpPr>
        <p:spPr bwMode="auto">
          <a:xfrm>
            <a:off x="228600" y="895350"/>
            <a:ext cx="7772400" cy="33239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mn-lt"/>
              </a:rPr>
              <a:t>public</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0077AA"/>
                </a:solidFill>
                <a:effectLst/>
                <a:latin typeface="+mn-lt"/>
              </a:rPr>
              <a:t>class</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DD4A68"/>
                </a:solidFill>
                <a:effectLst/>
                <a:latin typeface="+mn-lt"/>
              </a:rPr>
              <a:t>Employee</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mn-lt"/>
              </a:rPr>
              <a:t>	</a:t>
            </a:r>
            <a:r>
              <a:rPr kumimoji="0" lang="en-US" altLang="en-US" b="0" i="0" u="none" strike="noStrike" cap="none" normalizeH="0" baseline="0" dirty="0">
                <a:ln>
                  <a:noFill/>
                </a:ln>
                <a:solidFill>
                  <a:srgbClr val="0077AA"/>
                </a:solidFill>
                <a:effectLst/>
                <a:latin typeface="+mn-lt"/>
              </a:rPr>
              <a:t>private</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DD4A68"/>
                </a:solidFill>
                <a:effectLst/>
                <a:latin typeface="+mn-lt"/>
              </a:rPr>
              <a:t>String</a:t>
            </a:r>
            <a:r>
              <a:rPr kumimoji="0" lang="en-US" altLang="en-US" b="0" i="0" u="none" strike="noStrike" cap="none" normalizeH="0" baseline="0" dirty="0">
                <a:ln>
                  <a:noFill/>
                </a:ln>
                <a:solidFill>
                  <a:srgbClr val="000000"/>
                </a:solidFill>
                <a:effectLst/>
                <a:latin typeface="+mn-lt"/>
              </a:rPr>
              <a:t> name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mn-lt"/>
              </a:rPr>
              <a:t>	</a:t>
            </a:r>
            <a:r>
              <a:rPr kumimoji="0" lang="en-US" altLang="en-US" b="0" i="0" u="none" strike="noStrike" cap="none" normalizeH="0" baseline="0" dirty="0">
                <a:ln>
                  <a:noFill/>
                </a:ln>
                <a:solidFill>
                  <a:srgbClr val="0077AA"/>
                </a:solidFill>
                <a:effectLst/>
                <a:latin typeface="+mn-lt"/>
              </a:rPr>
              <a:t>private</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0077AA"/>
                </a:solidFill>
                <a:effectLst/>
                <a:latin typeface="+mn-lt"/>
              </a:rPr>
              <a:t>int</a:t>
            </a:r>
            <a:r>
              <a:rPr kumimoji="0" lang="en-US" altLang="en-US" b="0" i="0" u="none" strike="noStrike" cap="none" normalizeH="0" baseline="0" dirty="0">
                <a:ln>
                  <a:noFill/>
                </a:ln>
                <a:solidFill>
                  <a:srgbClr val="000000"/>
                </a:solidFill>
                <a:effectLst/>
                <a:latin typeface="+mn-lt"/>
              </a:rPr>
              <a:t> age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mn-lt"/>
              </a:rPr>
              <a:t>	</a:t>
            </a:r>
            <a:r>
              <a:rPr kumimoji="0" lang="en-US" altLang="en-US" b="0" i="0" u="none" strike="noStrike" cap="none" normalizeH="0" baseline="0" dirty="0">
                <a:ln>
                  <a:noFill/>
                </a:ln>
                <a:solidFill>
                  <a:srgbClr val="0077AA"/>
                </a:solidFill>
                <a:effectLst/>
                <a:latin typeface="+mn-lt"/>
              </a:rPr>
              <a:t>public</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DD4A68"/>
                </a:solidFill>
                <a:effectLst/>
                <a:latin typeface="+mn-lt"/>
              </a:rPr>
              <a:t>Employee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DD4A68"/>
                </a:solidFill>
                <a:effectLst/>
                <a:latin typeface="+mn-lt"/>
              </a:rPr>
              <a:t>String</a:t>
            </a:r>
            <a:r>
              <a:rPr kumimoji="0" lang="en-US" altLang="en-US" b="0" i="0" u="none" strike="noStrike" cap="none" normalizeH="0" baseline="0" dirty="0">
                <a:ln>
                  <a:noFill/>
                </a:ln>
                <a:solidFill>
                  <a:srgbClr val="000000"/>
                </a:solidFill>
                <a:effectLst/>
                <a:latin typeface="+mn-lt"/>
              </a:rPr>
              <a:t> name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0077AA"/>
                </a:solidFill>
                <a:effectLst/>
                <a:latin typeface="+mn-lt"/>
              </a:rPr>
              <a:t>int</a:t>
            </a:r>
            <a:r>
              <a:rPr kumimoji="0" lang="en-US" altLang="en-US" b="0" i="0" u="none" strike="noStrike" cap="none" normalizeH="0" baseline="0" dirty="0">
                <a:ln>
                  <a:noFill/>
                </a:ln>
                <a:solidFill>
                  <a:srgbClr val="000000"/>
                </a:solidFill>
                <a:effectLst/>
                <a:latin typeface="+mn-lt"/>
              </a:rPr>
              <a:t> age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mn-lt"/>
              </a:rPr>
              <a:t>	</a:t>
            </a:r>
            <a:r>
              <a:rPr kumimoji="0" lang="en-US" altLang="en-US" b="0" i="0" u="none" strike="noStrike" cap="none" normalizeH="0" baseline="0" dirty="0">
                <a:ln>
                  <a:noFill/>
                </a:ln>
                <a:solidFill>
                  <a:srgbClr val="0077AA"/>
                </a:solidFill>
                <a:effectLst/>
                <a:latin typeface="+mn-lt"/>
              </a:rPr>
              <a:t>this</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name </a:t>
            </a:r>
            <a:r>
              <a:rPr kumimoji="0" lang="en-US" altLang="en-US" b="0" i="0" u="none" strike="noStrike" cap="none" normalizeH="0" baseline="0" dirty="0">
                <a:ln>
                  <a:noFill/>
                </a:ln>
                <a:solidFill>
                  <a:srgbClr val="9A6E3A"/>
                </a:solidFill>
                <a:effectLst/>
                <a:latin typeface="+mn-lt"/>
              </a:rPr>
              <a:t>=</a:t>
            </a:r>
            <a:r>
              <a:rPr kumimoji="0" lang="en-US" altLang="en-US" b="0" i="0" u="none" strike="noStrike" cap="none" normalizeH="0" baseline="0" dirty="0">
                <a:ln>
                  <a:noFill/>
                </a:ln>
                <a:solidFill>
                  <a:srgbClr val="000000"/>
                </a:solidFill>
                <a:effectLst/>
                <a:latin typeface="+mn-lt"/>
              </a:rPr>
              <a:t> name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err="1">
                <a:ln>
                  <a:noFill/>
                </a:ln>
                <a:solidFill>
                  <a:srgbClr val="0077AA"/>
                </a:solidFill>
                <a:effectLst/>
                <a:latin typeface="+mn-lt"/>
              </a:rPr>
              <a:t>this</a:t>
            </a:r>
            <a:r>
              <a:rPr kumimoji="0" lang="en-US" altLang="en-US" b="0" i="0" u="none" strike="noStrike" cap="none" normalizeH="0" baseline="0" dirty="0" err="1">
                <a:ln>
                  <a:noFill/>
                </a:ln>
                <a:solidFill>
                  <a:srgbClr val="999999"/>
                </a:solidFill>
                <a:effectLst/>
                <a:latin typeface="+mn-lt"/>
              </a:rPr>
              <a:t>.</a:t>
            </a:r>
            <a:r>
              <a:rPr kumimoji="0" lang="en-US" altLang="en-US" b="0" i="0" u="none" strike="noStrike" cap="none" normalizeH="0" baseline="0" dirty="0" err="1">
                <a:ln>
                  <a:noFill/>
                </a:ln>
                <a:solidFill>
                  <a:srgbClr val="000000"/>
                </a:solidFill>
                <a:effectLst/>
                <a:latin typeface="+mn-lt"/>
              </a:rPr>
              <a:t>age</a:t>
            </a: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9A6E3A"/>
                </a:solidFill>
                <a:effectLst/>
                <a:latin typeface="+mn-lt"/>
              </a:rPr>
              <a:t>=</a:t>
            </a:r>
            <a:r>
              <a:rPr kumimoji="0" lang="en-US" altLang="en-US" b="0" i="0" u="none" strike="noStrike" cap="none" normalizeH="0" baseline="0" dirty="0">
                <a:ln>
                  <a:noFill/>
                </a:ln>
                <a:solidFill>
                  <a:srgbClr val="000000"/>
                </a:solidFill>
                <a:effectLst/>
                <a:latin typeface="+mn-lt"/>
              </a:rPr>
              <a:t> age</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br>
              <a:rPr kumimoji="0" lang="en-US" altLang="en-US" b="0" i="0" u="none" strike="noStrike" cap="none" normalizeH="0" baseline="0" dirty="0">
                <a:ln>
                  <a:noFill/>
                </a:ln>
                <a:solidFill>
                  <a:srgbClr val="000000"/>
                </a:solidFill>
                <a:effectLst/>
                <a:latin typeface="+mn-lt"/>
              </a:rPr>
            </a:br>
            <a:r>
              <a:rPr kumimoji="0" lang="en-US" altLang="en-US" b="0" i="0" u="none" strike="noStrike" cap="none" normalizeH="0" baseline="0" dirty="0">
                <a:ln>
                  <a:noFill/>
                </a:ln>
                <a:solidFill>
                  <a:srgbClr val="000000"/>
                </a:solidFill>
                <a:effectLst/>
                <a:latin typeface="+mn-lt"/>
              </a:rPr>
              <a:t>	</a:t>
            </a:r>
            <a:r>
              <a:rPr kumimoji="0" lang="en-US" altLang="en-US" b="0" i="0" u="none" strike="noStrike" cap="none" normalizeH="0" baseline="0" dirty="0">
                <a:ln>
                  <a:noFill/>
                </a:ln>
                <a:solidFill>
                  <a:srgbClr val="999999"/>
                </a:solidFill>
                <a:effectLst/>
                <a:latin typeface="+mn-lt"/>
              </a:rPr>
              <a:t>}</a:t>
            </a:r>
            <a:r>
              <a:rPr kumimoji="0" lang="en-US" altLang="en-US" b="0" i="0" u="none" strike="noStrike" cap="none" normalizeH="0" baseline="0" dirty="0">
                <a:ln>
                  <a:noFill/>
                </a:ln>
                <a:solidFill>
                  <a:srgbClr val="000000"/>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999999"/>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In this code example, the field level data such as name and age and the constructor details are loaded into the method area.</a:t>
            </a:r>
            <a:endParaRPr kumimoji="0" lang="en-US" altLang="en-US"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The method area is created on the virtual machine start-up, and there is only one method area per JVM.</a:t>
            </a:r>
            <a:endParaRPr kumimoji="0" lang="en-US" altLang="en-US" b="0" i="0" u="none" strike="noStrike" cap="none" normalizeH="0" baseline="0" dirty="0">
              <a:ln>
                <a:noFill/>
              </a:ln>
              <a:solidFill>
                <a:schemeClr val="tx1"/>
              </a:solidFill>
              <a:effectLst/>
              <a:latin typeface="+mn-lt"/>
            </a:endParaRPr>
          </a:p>
        </p:txBody>
      </p:sp>
      <p:sp>
        <p:nvSpPr>
          <p:cNvPr id="2" name="Footer Placeholder 1">
            <a:extLst>
              <a:ext uri="{FF2B5EF4-FFF2-40B4-BE49-F238E27FC236}">
                <a16:creationId xmlns:a16="http://schemas.microsoft.com/office/drawing/2014/main" xmlns="" id="{7C08B73B-BD54-5DED-ABEA-3B3ECEF08A2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02014037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37B80865-4E0A-7FE1-A608-7AF3B8823401}"/>
              </a:ext>
            </a:extLst>
          </p:cNvPr>
          <p:cNvSpPr>
            <a:spLocks noChangeArrowheads="1"/>
          </p:cNvSpPr>
          <p:nvPr/>
        </p:nvSpPr>
        <p:spPr bwMode="auto">
          <a:xfrm>
            <a:off x="204126" y="819150"/>
            <a:ext cx="8330274" cy="32008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mn-lt"/>
              </a:rPr>
              <a:t>Heap Area</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All the objects and their corresponding instance variables are stored here. This is the run-time data area from which memory for all class instances and arrays is allocated.</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For example assume that you are declaring the following instance: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Employee </a:t>
            </a:r>
            <a:r>
              <a:rPr kumimoji="0" lang="en-US" altLang="en-US" sz="1600" b="0" i="0" u="none" strike="noStrike" cap="none" normalizeH="0" baseline="0" dirty="0" err="1">
                <a:ln>
                  <a:noFill/>
                </a:ln>
                <a:solidFill>
                  <a:schemeClr val="bg1"/>
                </a:solidFill>
                <a:effectLst/>
                <a:latin typeface="+mn-lt"/>
              </a:rPr>
              <a:t>employee</a:t>
            </a:r>
            <a:r>
              <a:rPr kumimoji="0" lang="en-US" altLang="en-US" sz="1600" b="0" i="0" u="none" strike="noStrike" cap="none" normalizeH="0" baseline="0" dirty="0">
                <a:ln>
                  <a:noFill/>
                </a:ln>
                <a:solidFill>
                  <a:schemeClr val="bg1"/>
                </a:solidFill>
                <a:effectLst/>
                <a:latin typeface="+mn-lt"/>
              </a:rPr>
              <a:t> = new Employee();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In this code example, an instance of Employee is created and loaded into the heap area.</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The heap is created on the virtual machine start-up, and there is only one heap area per JVM.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bg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mn-lt"/>
              </a:rPr>
              <a:t>Note:</a:t>
            </a:r>
            <a:r>
              <a:rPr kumimoji="0" lang="en-US" altLang="en-US" sz="1600" b="0" i="0" u="none" strike="noStrike" cap="none" normalizeH="0" baseline="0" dirty="0">
                <a:ln>
                  <a:noFill/>
                </a:ln>
                <a:solidFill>
                  <a:schemeClr val="bg1"/>
                </a:solidFill>
                <a:effectLst/>
                <a:latin typeface="+mn-lt"/>
              </a:rPr>
              <a:t> Since the Method and Heap areas share the same memory for multiple threads, the data stored here is not thread safe.</a:t>
            </a:r>
          </a:p>
        </p:txBody>
      </p:sp>
      <p:sp>
        <p:nvSpPr>
          <p:cNvPr id="3" name="Footer Placeholder 2">
            <a:extLst>
              <a:ext uri="{FF2B5EF4-FFF2-40B4-BE49-F238E27FC236}">
                <a16:creationId xmlns:a16="http://schemas.microsoft.com/office/drawing/2014/main" xmlns="" id="{DC999BDC-06DF-8834-2FDE-2682DA9E6825}"/>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6850582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Rectangle 2">
            <a:extLst>
              <a:ext uri="{FF2B5EF4-FFF2-40B4-BE49-F238E27FC236}">
                <a16:creationId xmlns:a16="http://schemas.microsoft.com/office/drawing/2014/main" xmlns="" id="{A369BD9B-46A9-BB85-29DA-4225F0BF15FC}"/>
              </a:ext>
            </a:extLst>
          </p:cNvPr>
          <p:cNvSpPr>
            <a:spLocks noChangeArrowheads="1"/>
          </p:cNvSpPr>
          <p:nvPr/>
        </p:nvSpPr>
        <p:spPr bwMode="auto">
          <a:xfrm>
            <a:off x="82876" y="846952"/>
            <a:ext cx="8621580" cy="27853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 b="1" i="0" u="none" strike="noStrike" cap="none" normalizeH="0" baseline="0" dirty="0">
                <a:ln>
                  <a:noFill/>
                </a:ln>
                <a:solidFill>
                  <a:schemeClr val="tx1"/>
                </a:solidFill>
                <a:effectLst/>
                <a:latin typeface="-apple-system"/>
              </a:rPr>
              <a:t>Stack </a:t>
            </a:r>
            <a:r>
              <a:rPr kumimoji="0" lang="en-US" altLang="en-US" sz="100" b="1" i="0" u="none" strike="noStrike" cap="none" normalizeH="0" baseline="0" dirty="0" err="1">
                <a:ln>
                  <a:noFill/>
                </a:ln>
                <a:solidFill>
                  <a:schemeClr val="tx1"/>
                </a:solidFill>
                <a:effectLst/>
                <a:latin typeface="-apple-system"/>
              </a:rPr>
              <a:t>AreaSta</a:t>
            </a:r>
            <a:endParaRPr kumimoji="0" lang="en-US" altLang="en-US" sz="100" b="1" i="0" u="none" strike="noStrike" cap="none" normalizeH="0" baseline="0" dirty="0">
              <a:ln>
                <a:noFill/>
              </a:ln>
              <a:solidFill>
                <a:schemeClr val="tx1"/>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A0A23"/>
                </a:solidFill>
                <a:effectLst/>
                <a:latin typeface="+mn-lt"/>
              </a:rPr>
              <a:t>Stack Area</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Whenever a new thread is created in the JVM, a separate runtime stack is also created at the same time. All local variables, method calls, and partial results are stored in the stack area.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If the processing being done in a thread requires a larger stack size than what's available, the JVM throws a </a:t>
            </a:r>
            <a:r>
              <a:rPr kumimoji="0" lang="en-US" altLang="en-US" b="0" i="0" u="none" strike="noStrike" cap="none" normalizeH="0" baseline="0" dirty="0" err="1">
                <a:ln>
                  <a:noFill/>
                </a:ln>
                <a:solidFill>
                  <a:srgbClr val="0A0A23"/>
                </a:solidFill>
                <a:effectLst/>
                <a:latin typeface="+mn-lt"/>
              </a:rPr>
              <a:t>StackOverflowError</a:t>
            </a:r>
            <a:r>
              <a:rPr kumimoji="0" lang="en-US" altLang="en-US" b="0" i="0" u="none" strike="noStrike" cap="none" normalizeH="0" baseline="0" dirty="0">
                <a:ln>
                  <a:noFill/>
                </a:ln>
                <a:solidFill>
                  <a:srgbClr val="0A0A23"/>
                </a:solidFill>
                <a:effectLst/>
                <a:latin typeface="+mn-lt"/>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23"/>
                </a:solidFill>
                <a:effectLst/>
                <a:latin typeface="+mn-lt"/>
              </a:rPr>
              <a:t>For every method call, one entry is made in the stack memory which is called the Stack Frame. When the method call is complete, the Stack Frame is destroyed.</a:t>
            </a:r>
            <a:endParaRPr kumimoji="0" lang="en-US" altLang="en-US" b="0" i="0" u="none" strike="noStrike" cap="none" normalizeH="0" baseline="0" dirty="0">
              <a:ln>
                <a:noFill/>
              </a:ln>
              <a:solidFill>
                <a:schemeClr val="tx1"/>
              </a:solidFill>
              <a:effectLst/>
              <a:latin typeface="+mn-lt"/>
            </a:endParaRPr>
          </a:p>
        </p:txBody>
      </p:sp>
      <p:sp>
        <p:nvSpPr>
          <p:cNvPr id="2" name="Footer Placeholder 1">
            <a:extLst>
              <a:ext uri="{FF2B5EF4-FFF2-40B4-BE49-F238E27FC236}">
                <a16:creationId xmlns:a16="http://schemas.microsoft.com/office/drawing/2014/main" xmlns="" id="{1542BF2C-D2F8-C950-52D8-0C3065C921F1}"/>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70461140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Rectangle 2">
            <a:extLst>
              <a:ext uri="{FF2B5EF4-FFF2-40B4-BE49-F238E27FC236}">
                <a16:creationId xmlns:a16="http://schemas.microsoft.com/office/drawing/2014/main" xmlns="" id="{A369BD9B-46A9-BB85-29DA-4225F0BF15FC}"/>
              </a:ext>
            </a:extLst>
          </p:cNvPr>
          <p:cNvSpPr>
            <a:spLocks noChangeArrowheads="1"/>
          </p:cNvSpPr>
          <p:nvPr/>
        </p:nvSpPr>
        <p:spPr bwMode="auto">
          <a:xfrm>
            <a:off x="82876" y="985451"/>
            <a:ext cx="8621580" cy="2508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 b="1" i="0" u="none" strike="noStrike" cap="none" normalizeH="0" baseline="0" dirty="0">
                <a:ln>
                  <a:noFill/>
                </a:ln>
                <a:solidFill>
                  <a:schemeClr val="tx1"/>
                </a:solidFill>
                <a:effectLst/>
                <a:latin typeface="-apple-system"/>
              </a:rPr>
              <a:t>Stack </a:t>
            </a:r>
            <a:r>
              <a:rPr kumimoji="0" lang="en-US" altLang="en-US" sz="100" b="1" i="0" u="none" strike="noStrike" cap="none" normalizeH="0" baseline="0" dirty="0" err="1">
                <a:ln>
                  <a:noFill/>
                </a:ln>
                <a:solidFill>
                  <a:schemeClr val="tx1"/>
                </a:solidFill>
                <a:effectLst/>
                <a:latin typeface="-apple-system"/>
              </a:rPr>
              <a:t>AreaSta</a:t>
            </a:r>
            <a:endParaRPr kumimoji="0" lang="en-US" altLang="en-US" sz="100" b="1" i="0" u="none" strike="noStrike" cap="none" normalizeH="0" baseline="0" dirty="0">
              <a:ln>
                <a:noFill/>
              </a:ln>
              <a:solidFill>
                <a:schemeClr val="tx1"/>
              </a:solidFill>
              <a:effectLst/>
              <a:latin typeface="-apple-system"/>
            </a:endParaRPr>
          </a:p>
          <a:p>
            <a:pPr algn="just" fontAlgn="base"/>
            <a:r>
              <a:rPr lang="en-US" b="0" i="0" dirty="0">
                <a:solidFill>
                  <a:srgbClr val="0A0A23"/>
                </a:solidFill>
                <a:effectLst/>
                <a:latin typeface="Lato" panose="020F0502020204030203" pitchFamily="34" charset="0"/>
              </a:rPr>
              <a:t>The Stack Frame is divided into three sub-parts:</a:t>
            </a:r>
          </a:p>
          <a:p>
            <a:pPr algn="just" fontAlgn="base">
              <a:buFont typeface="Arial" panose="020B0604020202020204" pitchFamily="34" charset="0"/>
              <a:buChar char="•"/>
            </a:pPr>
            <a:r>
              <a:rPr lang="en-US" b="1" i="0" dirty="0">
                <a:solidFill>
                  <a:srgbClr val="0A0A23"/>
                </a:solidFill>
                <a:effectLst/>
                <a:latin typeface="inherit"/>
              </a:rPr>
              <a:t>Local Variables –</a:t>
            </a:r>
            <a:r>
              <a:rPr lang="en-US" b="0" i="0" dirty="0">
                <a:solidFill>
                  <a:srgbClr val="0A0A23"/>
                </a:solidFill>
                <a:effectLst/>
                <a:latin typeface="inherit"/>
              </a:rPr>
              <a:t> Each frame contains an array of variables known as its </a:t>
            </a:r>
            <a:r>
              <a:rPr lang="en-US" b="0" i="1" dirty="0">
                <a:solidFill>
                  <a:srgbClr val="0A0A23"/>
                </a:solidFill>
                <a:effectLst/>
                <a:latin typeface="inherit"/>
              </a:rPr>
              <a:t>local variables</a:t>
            </a:r>
            <a:r>
              <a:rPr lang="en-US" b="0" i="0" dirty="0">
                <a:solidFill>
                  <a:srgbClr val="0A0A23"/>
                </a:solidFill>
                <a:effectLst/>
                <a:latin typeface="inherit"/>
              </a:rPr>
              <a:t>. All local variables and their values are stored here. The length of this array is determined at compile-time.</a:t>
            </a:r>
          </a:p>
          <a:p>
            <a:pPr algn="just" fontAlgn="base">
              <a:buFont typeface="Arial" panose="020B0604020202020204" pitchFamily="34" charset="0"/>
              <a:buChar char="•"/>
            </a:pPr>
            <a:r>
              <a:rPr lang="en-US" b="1" i="0" dirty="0">
                <a:solidFill>
                  <a:srgbClr val="0A0A23"/>
                </a:solidFill>
                <a:effectLst/>
                <a:latin typeface="inherit"/>
              </a:rPr>
              <a:t>Operand Stack –</a:t>
            </a:r>
            <a:r>
              <a:rPr lang="en-US" b="0" i="0" dirty="0">
                <a:solidFill>
                  <a:srgbClr val="0A0A23"/>
                </a:solidFill>
                <a:effectLst/>
                <a:latin typeface="inherit"/>
              </a:rPr>
              <a:t> Each frame contains a last-in-first-out (LIFO) stack known as its </a:t>
            </a:r>
            <a:r>
              <a:rPr lang="en-US" b="0" i="1" dirty="0">
                <a:solidFill>
                  <a:srgbClr val="0A0A23"/>
                </a:solidFill>
                <a:effectLst/>
                <a:latin typeface="inherit"/>
              </a:rPr>
              <a:t>operand stack</a:t>
            </a:r>
            <a:r>
              <a:rPr lang="en-US" b="0" i="0" dirty="0">
                <a:solidFill>
                  <a:srgbClr val="0A0A23"/>
                </a:solidFill>
                <a:effectLst/>
                <a:latin typeface="inherit"/>
              </a:rPr>
              <a:t>. This acts as a runtime workspace to perform any intermediate operations. The maximum depth of this stack is determined at compile-time.</a:t>
            </a:r>
          </a:p>
          <a:p>
            <a:pPr algn="just" fontAlgn="base">
              <a:buFont typeface="Arial" panose="020B0604020202020204" pitchFamily="34" charset="0"/>
              <a:buChar char="•"/>
            </a:pPr>
            <a:r>
              <a:rPr lang="en-US" b="1" i="0" dirty="0">
                <a:solidFill>
                  <a:srgbClr val="0A0A23"/>
                </a:solidFill>
                <a:effectLst/>
                <a:latin typeface="inherit"/>
              </a:rPr>
              <a:t>Frame Data – </a:t>
            </a:r>
            <a:r>
              <a:rPr lang="en-US" b="0" i="0" dirty="0">
                <a:solidFill>
                  <a:srgbClr val="0A0A23"/>
                </a:solidFill>
                <a:effectLst/>
                <a:latin typeface="inherit"/>
              </a:rPr>
              <a:t>All symbols corresponding to the method are stored here. This also stores the catch block information in case of exceptions.</a:t>
            </a:r>
          </a:p>
        </p:txBody>
      </p:sp>
      <p:sp>
        <p:nvSpPr>
          <p:cNvPr id="2" name="Footer Placeholder 1">
            <a:extLst>
              <a:ext uri="{FF2B5EF4-FFF2-40B4-BE49-F238E27FC236}">
                <a16:creationId xmlns:a16="http://schemas.microsoft.com/office/drawing/2014/main" xmlns="" id="{0D1A8B75-FCFE-B623-81A5-9A31077A9586}"/>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403589536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61CF506B-8BA7-039A-C487-ADCC707894F7}"/>
              </a:ext>
            </a:extLst>
          </p:cNvPr>
          <p:cNvSpPr>
            <a:spLocks noChangeArrowheads="1"/>
          </p:cNvSpPr>
          <p:nvPr/>
        </p:nvSpPr>
        <p:spPr bwMode="auto">
          <a:xfrm>
            <a:off x="145725" y="742950"/>
            <a:ext cx="8769676" cy="34470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A0A23"/>
                </a:solidFill>
                <a:effectLst/>
                <a:latin typeface="+mn-lt"/>
              </a:rPr>
              <a:t>For example assume that you have the following code:</a:t>
            </a:r>
            <a:endParaRPr kumimoji="0" lang="en-US" altLang="en-US" sz="1600" b="0" i="0" u="none" strike="noStrike" cap="none" normalizeH="0" baseline="0" dirty="0">
              <a:ln>
                <a:noFill/>
              </a:ln>
              <a:solidFill>
                <a:srgbClr val="0077AA"/>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77AA"/>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mn-lt"/>
              </a:rPr>
              <a:t>double</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err="1">
                <a:ln>
                  <a:noFill/>
                </a:ln>
                <a:solidFill>
                  <a:srgbClr val="DD4A68"/>
                </a:solidFill>
                <a:effectLst/>
                <a:latin typeface="+mn-lt"/>
              </a:rPr>
              <a:t>calculateNormalisedScore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DD4A68"/>
                </a:solidFill>
                <a:effectLst/>
                <a:latin typeface="+mn-lt"/>
              </a:rPr>
              <a:t>List</a:t>
            </a:r>
            <a:r>
              <a:rPr kumimoji="0" lang="en-US" altLang="en-US" sz="1600" b="0" i="0" u="none" strike="noStrike" cap="none" normalizeH="0" baseline="0" dirty="0">
                <a:ln>
                  <a:noFill/>
                </a:ln>
                <a:solidFill>
                  <a:srgbClr val="999999"/>
                </a:solidFill>
                <a:effectLst/>
                <a:latin typeface="+mn-lt"/>
              </a:rPr>
              <a:t>&lt;</a:t>
            </a:r>
            <a:r>
              <a:rPr kumimoji="0" lang="en-US" altLang="en-US" sz="1600" b="0" i="0" u="none" strike="noStrike" cap="none" normalizeH="0" baseline="0" dirty="0">
                <a:ln>
                  <a:noFill/>
                </a:ln>
                <a:solidFill>
                  <a:srgbClr val="DD4A68"/>
                </a:solidFill>
                <a:effectLst/>
                <a:latin typeface="+mn-lt"/>
              </a:rPr>
              <a:t>Answer</a:t>
            </a:r>
            <a:r>
              <a:rPr kumimoji="0" lang="en-US" altLang="en-US" sz="1600" b="0" i="0" u="none" strike="noStrike" cap="none" normalizeH="0" baseline="0" dirty="0">
                <a:ln>
                  <a:noFill/>
                </a:ln>
                <a:solidFill>
                  <a:srgbClr val="999999"/>
                </a:solidFill>
                <a:effectLst/>
                <a:latin typeface="+mn-lt"/>
              </a:rPr>
              <a:t>&gt;</a:t>
            </a:r>
            <a:r>
              <a:rPr kumimoji="0" lang="en-US" altLang="en-US" sz="1600" b="0" i="0" u="none" strike="noStrike" cap="none" normalizeH="0" baseline="0" dirty="0">
                <a:ln>
                  <a:noFill/>
                </a:ln>
                <a:solidFill>
                  <a:srgbClr val="000000"/>
                </a:solidFill>
                <a:effectLst/>
                <a:latin typeface="+mn-lt"/>
              </a:rPr>
              <a:t> answers</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mn-lt"/>
              </a:rPr>
              <a:t>	</a:t>
            </a:r>
            <a:r>
              <a:rPr kumimoji="0" lang="en-US" altLang="en-US" sz="1600" b="0" i="0" u="none" strike="noStrike" cap="none" normalizeH="0" baseline="0" dirty="0">
                <a:ln>
                  <a:noFill/>
                </a:ln>
                <a:solidFill>
                  <a:srgbClr val="0077AA"/>
                </a:solidFill>
                <a:effectLst/>
                <a:latin typeface="+mn-lt"/>
              </a:rPr>
              <a:t>double</a:t>
            </a:r>
            <a:r>
              <a:rPr kumimoji="0" lang="en-US" altLang="en-US" sz="1600" b="0" i="0" u="none" strike="noStrike" cap="none" normalizeH="0" baseline="0" dirty="0">
                <a:ln>
                  <a:noFill/>
                </a:ln>
                <a:solidFill>
                  <a:srgbClr val="000000"/>
                </a:solidFill>
                <a:effectLst/>
                <a:latin typeface="+mn-lt"/>
              </a:rPr>
              <a:t> score </a:t>
            </a:r>
            <a:r>
              <a:rPr kumimoji="0" lang="en-US" altLang="en-US" sz="1600" b="0" i="0" u="none" strike="noStrike" cap="none" normalizeH="0" baseline="0" dirty="0">
                <a:ln>
                  <a:noFill/>
                </a:ln>
                <a:solidFill>
                  <a:srgbClr val="9A6E3A"/>
                </a:solidFill>
                <a:effectLst/>
                <a:latin typeface="+mn-lt"/>
              </a:rPr>
              <a:t>=</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err="1">
                <a:ln>
                  <a:noFill/>
                </a:ln>
                <a:solidFill>
                  <a:srgbClr val="DD4A68"/>
                </a:solidFill>
                <a:effectLst/>
                <a:latin typeface="+mn-lt"/>
              </a:rPr>
              <a:t>getScore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answers</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mn-lt"/>
              </a:rPr>
              <a:t>	</a:t>
            </a:r>
            <a:r>
              <a:rPr kumimoji="0" lang="en-US" altLang="en-US" sz="1600" b="0" i="0" u="none" strike="noStrike" cap="none" normalizeH="0" baseline="0" dirty="0">
                <a:ln>
                  <a:noFill/>
                </a:ln>
                <a:solidFill>
                  <a:srgbClr val="0077AA"/>
                </a:solidFill>
                <a:effectLst/>
                <a:latin typeface="+mn-lt"/>
              </a:rPr>
              <a:t>return</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err="1">
                <a:ln>
                  <a:noFill/>
                </a:ln>
                <a:solidFill>
                  <a:srgbClr val="DD4A68"/>
                </a:solidFill>
                <a:effectLst/>
                <a:latin typeface="+mn-lt"/>
              </a:rPr>
              <a:t>normalizeScore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77AA"/>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mn-lt"/>
              </a:rPr>
              <a:t>double</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err="1">
                <a:ln>
                  <a:noFill/>
                </a:ln>
                <a:solidFill>
                  <a:srgbClr val="DD4A68"/>
                </a:solidFill>
                <a:effectLst/>
                <a:latin typeface="+mn-lt"/>
              </a:rPr>
              <a:t>normalizeScore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77AA"/>
                </a:solidFill>
                <a:effectLst/>
                <a:latin typeface="+mn-lt"/>
              </a:rPr>
              <a:t>double</a:t>
            </a:r>
            <a:r>
              <a:rPr kumimoji="0" lang="en-US" altLang="en-US" sz="1600" b="0" i="0" u="none" strike="noStrike" cap="none" normalizeH="0" baseline="0" dirty="0">
                <a:ln>
                  <a:noFill/>
                </a:ln>
                <a:solidFill>
                  <a:srgbClr val="000000"/>
                </a:solidFill>
                <a:effectLst/>
                <a:latin typeface="+mn-lt"/>
              </a:rPr>
              <a:t> 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mn-lt"/>
              </a:rPr>
              <a:t>	</a:t>
            </a:r>
            <a:r>
              <a:rPr kumimoji="0" lang="en-US" altLang="en-US" sz="1600" b="0" i="0" u="none" strike="noStrike" cap="none" normalizeH="0" baseline="0" dirty="0">
                <a:ln>
                  <a:noFill/>
                </a:ln>
                <a:solidFill>
                  <a:srgbClr val="0077AA"/>
                </a:solidFill>
                <a:effectLst/>
                <a:latin typeface="+mn-lt"/>
              </a:rPr>
              <a:t>return</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score – </a:t>
            </a:r>
            <a:r>
              <a:rPr kumimoji="0" lang="en-US" altLang="en-US" sz="1600" b="0" i="0" u="none" strike="noStrike" cap="none" normalizeH="0" baseline="0" dirty="0" err="1">
                <a:ln>
                  <a:noFill/>
                </a:ln>
                <a:solidFill>
                  <a:srgbClr val="000000"/>
                </a:solidFill>
                <a:effectLst/>
                <a:latin typeface="+mn-lt"/>
              </a:rPr>
              <a:t>minScore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a:ln>
                  <a:noFill/>
                </a:ln>
                <a:solidFill>
                  <a:srgbClr val="9A6E3A"/>
                </a:solidFill>
                <a:effectLst/>
                <a:latin typeface="+mn-lt"/>
              </a:rPr>
              <a:t>/</a:t>
            </a:r>
            <a:r>
              <a:rPr kumimoji="0" lang="en-US" altLang="en-US" sz="1600" b="0" i="0" u="none" strike="noStrike" cap="none" normalizeH="0" baseline="0" dirty="0">
                <a:ln>
                  <a:noFill/>
                </a:ln>
                <a:solidFill>
                  <a:srgbClr val="000000"/>
                </a:solidFill>
                <a:effectLst/>
                <a:latin typeface="+mn-lt"/>
              </a:rPr>
              <a:t> </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err="1">
                <a:ln>
                  <a:noFill/>
                </a:ln>
                <a:solidFill>
                  <a:srgbClr val="000000"/>
                </a:solidFill>
                <a:effectLst/>
                <a:latin typeface="+mn-lt"/>
              </a:rPr>
              <a:t>maxScore</a:t>
            </a:r>
            <a:r>
              <a:rPr kumimoji="0" lang="en-US" altLang="en-US" sz="1600" b="0" i="0" u="none" strike="noStrike" cap="none" normalizeH="0" baseline="0" dirty="0">
                <a:ln>
                  <a:noFill/>
                </a:ln>
                <a:solidFill>
                  <a:srgbClr val="000000"/>
                </a:solidFill>
                <a:effectLst/>
                <a:latin typeface="+mn-lt"/>
              </a:rPr>
              <a:t> – </a:t>
            </a:r>
            <a:r>
              <a:rPr kumimoji="0" lang="en-US" altLang="en-US" sz="1600" b="0" i="0" u="none" strike="noStrike" cap="none" normalizeH="0" baseline="0" dirty="0" err="1">
                <a:ln>
                  <a:noFill/>
                </a:ln>
                <a:solidFill>
                  <a:srgbClr val="000000"/>
                </a:solidFill>
                <a:effectLst/>
                <a:latin typeface="+mn-lt"/>
              </a:rPr>
              <a:t>minScore</a:t>
            </a: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mn-lt"/>
              </a:rPr>
              <a:t>}</a:t>
            </a:r>
            <a:r>
              <a:rPr kumimoji="0" lang="en-US" altLang="en-US" sz="1600" b="0" i="0" u="none" strike="noStrike" cap="none" normalizeH="0" baseline="0" dirty="0">
                <a:ln>
                  <a:noFill/>
                </a:ln>
                <a:solidFill>
                  <a:srgbClr val="000000"/>
                </a:solidFill>
                <a:effectLst/>
                <a:latin typeface="+mn-lt"/>
              </a:rPr>
              <a:t> </a:t>
            </a:r>
            <a:endParaRPr kumimoji="0" lang="en-US" altLang="en-US" sz="1600"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A0A23"/>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A0A23"/>
                </a:solidFill>
                <a:effectLst/>
                <a:latin typeface="+mn-lt"/>
              </a:rPr>
              <a:t>In this code example, variables like answers and score are placed in the Local Variables array. The Operand Stack contains the variables and operators required to perform the mathematical calculations of subtraction and division.</a:t>
            </a:r>
            <a:endParaRPr kumimoji="0" lang="en-US" altLang="en-US" sz="1600" b="0" i="0" u="none" strike="noStrike" cap="none" normalizeH="0" baseline="0" dirty="0">
              <a:ln>
                <a:noFill/>
              </a:ln>
              <a:solidFill>
                <a:schemeClr val="tx1"/>
              </a:solidFill>
              <a:effectLst/>
              <a:latin typeface="+mn-lt"/>
            </a:endParaRPr>
          </a:p>
        </p:txBody>
      </p:sp>
      <p:sp>
        <p:nvSpPr>
          <p:cNvPr id="3" name="Footer Placeholder 2">
            <a:extLst>
              <a:ext uri="{FF2B5EF4-FFF2-40B4-BE49-F238E27FC236}">
                <a16:creationId xmlns:a16="http://schemas.microsoft.com/office/drawing/2014/main" xmlns="" id="{8B58DF2F-1712-3605-23CF-8C24EAF322D5}"/>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421980827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pic>
        <p:nvPicPr>
          <p:cNvPr id="16386" name="Picture 2" descr="image-36">
            <a:extLst>
              <a:ext uri="{FF2B5EF4-FFF2-40B4-BE49-F238E27FC236}">
                <a16:creationId xmlns:a16="http://schemas.microsoft.com/office/drawing/2014/main" xmlns="" id="{6FAA9210-DE1C-051D-47B5-D6AEA83BE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90058"/>
            <a:ext cx="5022000" cy="3348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5BC5391A-68F4-5352-AFCC-FAE8D60ECD30}"/>
              </a:ext>
            </a:extLst>
          </p:cNvPr>
          <p:cNvSpPr txBox="1"/>
          <p:nvPr/>
        </p:nvSpPr>
        <p:spPr>
          <a:xfrm>
            <a:off x="152400" y="3833781"/>
            <a:ext cx="4668818"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A0A23"/>
                </a:solidFill>
                <a:effectLst/>
                <a:latin typeface="inherit"/>
              </a:rPr>
              <a:t>Note:</a:t>
            </a:r>
            <a:r>
              <a:rPr kumimoji="0" lang="en-US" altLang="en-US" sz="1800" b="0" i="0" u="none" strike="noStrike" cap="none" normalizeH="0" baseline="0" dirty="0">
                <a:ln>
                  <a:noFill/>
                </a:ln>
                <a:solidFill>
                  <a:srgbClr val="0A0A23"/>
                </a:solidFill>
                <a:effectLst/>
                <a:latin typeface="Lato" panose="020F0502020204030203" pitchFamily="34" charset="0"/>
              </a:rPr>
              <a:t> Since the Stack Area is not shared, it is inherently thread safe.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xmlns="" id="{03676C3F-2AB4-A2D8-B700-009CC528286A}"/>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61379934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TextBox 7">
            <a:extLst>
              <a:ext uri="{FF2B5EF4-FFF2-40B4-BE49-F238E27FC236}">
                <a16:creationId xmlns:a16="http://schemas.microsoft.com/office/drawing/2014/main" xmlns="" id="{C8EBBE18-EEA2-4CF3-A67C-E7C782EA863C}"/>
              </a:ext>
            </a:extLst>
          </p:cNvPr>
          <p:cNvSpPr txBox="1"/>
          <p:nvPr/>
        </p:nvSpPr>
        <p:spPr>
          <a:xfrm>
            <a:off x="533400" y="1123950"/>
            <a:ext cx="7239000" cy="1477328"/>
          </a:xfrm>
          <a:prstGeom prst="rect">
            <a:avLst/>
          </a:prstGeom>
          <a:noFill/>
        </p:spPr>
        <p:txBody>
          <a:bodyPr wrap="square">
            <a:spAutoFit/>
          </a:bodyPr>
          <a:lstStyle/>
          <a:p>
            <a:pPr algn="just" fontAlgn="base"/>
            <a:r>
              <a:rPr lang="en-US" b="1" i="0" dirty="0">
                <a:solidFill>
                  <a:schemeClr val="bg1"/>
                </a:solidFill>
                <a:effectLst/>
                <a:latin typeface="-apple-system"/>
              </a:rPr>
              <a:t>Program Counter (PC) Registers</a:t>
            </a:r>
          </a:p>
          <a:p>
            <a:pPr algn="just" fontAlgn="base"/>
            <a:r>
              <a:rPr lang="en-US" b="0" i="0" dirty="0">
                <a:solidFill>
                  <a:schemeClr val="bg1"/>
                </a:solidFill>
                <a:effectLst/>
                <a:latin typeface="Lato" panose="020F0502020204030203" pitchFamily="34" charset="0"/>
              </a:rPr>
              <a:t>The JVM supports multiple threads at the same time. Each thread has its own PC Register to hold the address of the currently executing JVM instruction. Once the instruction is executed, the PC register is updated with the next instruction.</a:t>
            </a:r>
          </a:p>
        </p:txBody>
      </p:sp>
      <p:sp>
        <p:nvSpPr>
          <p:cNvPr id="2" name="Footer Placeholder 1">
            <a:extLst>
              <a:ext uri="{FF2B5EF4-FFF2-40B4-BE49-F238E27FC236}">
                <a16:creationId xmlns:a16="http://schemas.microsoft.com/office/drawing/2014/main" xmlns="" id="{924C564A-5F4B-AD5D-3071-F8628BADE584}"/>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75293004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TextBox 7">
            <a:extLst>
              <a:ext uri="{FF2B5EF4-FFF2-40B4-BE49-F238E27FC236}">
                <a16:creationId xmlns:a16="http://schemas.microsoft.com/office/drawing/2014/main" xmlns="" id="{C8EBBE18-EEA2-4CF3-A67C-E7C782EA863C}"/>
              </a:ext>
            </a:extLst>
          </p:cNvPr>
          <p:cNvSpPr txBox="1"/>
          <p:nvPr/>
        </p:nvSpPr>
        <p:spPr>
          <a:xfrm>
            <a:off x="533400" y="1123950"/>
            <a:ext cx="7239000" cy="1477328"/>
          </a:xfrm>
          <a:prstGeom prst="rect">
            <a:avLst/>
          </a:prstGeom>
          <a:noFill/>
        </p:spPr>
        <p:txBody>
          <a:bodyPr wrap="square">
            <a:spAutoFit/>
          </a:bodyPr>
          <a:lstStyle/>
          <a:p>
            <a:pPr algn="just" fontAlgn="base"/>
            <a:r>
              <a:rPr lang="en-US" b="1" i="0" dirty="0">
                <a:solidFill>
                  <a:schemeClr val="bg1"/>
                </a:solidFill>
                <a:effectLst/>
                <a:latin typeface="-apple-system"/>
              </a:rPr>
              <a:t>Native Method Stacks</a:t>
            </a:r>
          </a:p>
          <a:p>
            <a:pPr algn="just" fontAlgn="base"/>
            <a:r>
              <a:rPr lang="en-US" b="0" i="0" dirty="0">
                <a:solidFill>
                  <a:schemeClr val="bg1"/>
                </a:solidFill>
                <a:effectLst/>
                <a:latin typeface="Lato" panose="020F0502020204030203" pitchFamily="34" charset="0"/>
              </a:rPr>
              <a:t>The JVM contains stacks that support </a:t>
            </a:r>
            <a:r>
              <a:rPr lang="en-US" b="0" i="1" dirty="0">
                <a:solidFill>
                  <a:schemeClr val="bg1"/>
                </a:solidFill>
                <a:effectLst/>
                <a:latin typeface="inherit"/>
              </a:rPr>
              <a:t>native</a:t>
            </a:r>
            <a:r>
              <a:rPr lang="en-US" b="0" i="0" dirty="0">
                <a:solidFill>
                  <a:schemeClr val="bg1"/>
                </a:solidFill>
                <a:effectLst/>
                <a:latin typeface="Lato" panose="020F0502020204030203" pitchFamily="34" charset="0"/>
              </a:rPr>
              <a:t> methods. These methods are written in a language other than the Java, such as C and C++. For every new thread, a separate native method stack is also allocated.</a:t>
            </a:r>
          </a:p>
        </p:txBody>
      </p:sp>
      <p:sp>
        <p:nvSpPr>
          <p:cNvPr id="2" name="Footer Placeholder 1">
            <a:extLst>
              <a:ext uri="{FF2B5EF4-FFF2-40B4-BE49-F238E27FC236}">
                <a16:creationId xmlns:a16="http://schemas.microsoft.com/office/drawing/2014/main" xmlns="" id="{2168BEBD-4358-7BB8-2130-6DA12027F67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97575279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8" name="TextBox 7">
            <a:extLst>
              <a:ext uri="{FF2B5EF4-FFF2-40B4-BE49-F238E27FC236}">
                <a16:creationId xmlns:a16="http://schemas.microsoft.com/office/drawing/2014/main" xmlns="" id="{C8EBBE18-EEA2-4CF3-A67C-E7C782EA863C}"/>
              </a:ext>
            </a:extLst>
          </p:cNvPr>
          <p:cNvSpPr txBox="1"/>
          <p:nvPr/>
        </p:nvSpPr>
        <p:spPr>
          <a:xfrm>
            <a:off x="533400" y="1123950"/>
            <a:ext cx="7239000" cy="2308324"/>
          </a:xfrm>
          <a:prstGeom prst="rect">
            <a:avLst/>
          </a:prstGeom>
          <a:noFill/>
        </p:spPr>
        <p:txBody>
          <a:bodyPr wrap="square">
            <a:spAutoFit/>
          </a:bodyPr>
          <a:lstStyle/>
          <a:p>
            <a:pPr algn="just" fontAlgn="base"/>
            <a:r>
              <a:rPr lang="en-US" b="1" i="0" dirty="0">
                <a:solidFill>
                  <a:schemeClr val="bg1"/>
                </a:solidFill>
                <a:effectLst/>
                <a:latin typeface="-apple-system"/>
              </a:rPr>
              <a:t>Execution Engine</a:t>
            </a:r>
          </a:p>
          <a:p>
            <a:pPr algn="just" fontAlgn="base"/>
            <a:r>
              <a:rPr lang="en-US" b="0" i="0" dirty="0">
                <a:solidFill>
                  <a:schemeClr val="bg1"/>
                </a:solidFill>
                <a:effectLst/>
                <a:latin typeface="Lato" panose="020F0502020204030203" pitchFamily="34" charset="0"/>
              </a:rPr>
              <a:t>Once the bytecode has been loaded into the main memory, and details are available in the runtime data area, the next step is to run the program. The Execution Engine handles this by executing the code present in each class.</a:t>
            </a:r>
          </a:p>
          <a:p>
            <a:pPr algn="just" fontAlgn="base"/>
            <a:r>
              <a:rPr lang="en-US" b="0" i="0" dirty="0">
                <a:solidFill>
                  <a:schemeClr val="bg1"/>
                </a:solidFill>
                <a:effectLst/>
                <a:latin typeface="Lato" panose="020F0502020204030203" pitchFamily="34" charset="0"/>
              </a:rPr>
              <a:t>However, before executing the program, the bytecode needs to be converted into machine language instructions. The JVM can use an interpreter or a JIT compiler for the execution engine.</a:t>
            </a:r>
          </a:p>
        </p:txBody>
      </p:sp>
      <p:sp>
        <p:nvSpPr>
          <p:cNvPr id="2" name="Footer Placeholder 1">
            <a:extLst>
              <a:ext uri="{FF2B5EF4-FFF2-40B4-BE49-F238E27FC236}">
                <a16:creationId xmlns:a16="http://schemas.microsoft.com/office/drawing/2014/main" xmlns="" id="{0267450B-C036-F31B-9631-8A825484B0FE}"/>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46281770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pic>
        <p:nvPicPr>
          <p:cNvPr id="17410" name="Picture 2" descr="image-33">
            <a:extLst>
              <a:ext uri="{FF2B5EF4-FFF2-40B4-BE49-F238E27FC236}">
                <a16:creationId xmlns:a16="http://schemas.microsoft.com/office/drawing/2014/main" xmlns="" id="{75DA5F12-212E-1CA5-8D95-F5BA48EA7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077750"/>
            <a:ext cx="4881328" cy="2988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B2363ECB-68DD-FF73-3135-ABB7BBE60E81}"/>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9680947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5B6437F9-6295-1489-8475-ED7A34D09855}"/>
              </a:ext>
            </a:extLst>
          </p:cNvPr>
          <p:cNvSpPr txBox="1"/>
          <p:nvPr/>
        </p:nvSpPr>
        <p:spPr>
          <a:xfrm>
            <a:off x="609600" y="1123950"/>
            <a:ext cx="7543800" cy="1477328"/>
          </a:xfrm>
          <a:prstGeom prst="rect">
            <a:avLst/>
          </a:prstGeom>
          <a:noFill/>
        </p:spPr>
        <p:txBody>
          <a:bodyPr wrap="square">
            <a:spAutoFit/>
          </a:bodyPr>
          <a:lstStyle/>
          <a:p>
            <a:pPr algn="just" fontAlgn="base"/>
            <a:r>
              <a:rPr lang="en-US" b="1" i="0" dirty="0">
                <a:solidFill>
                  <a:schemeClr val="bg1"/>
                </a:solidFill>
                <a:effectLst/>
                <a:latin typeface="-apple-system"/>
              </a:rPr>
              <a:t>Interpreter</a:t>
            </a:r>
          </a:p>
          <a:p>
            <a:pPr algn="just" fontAlgn="base"/>
            <a:r>
              <a:rPr lang="en-US" b="0" i="0" dirty="0">
                <a:solidFill>
                  <a:schemeClr val="bg1"/>
                </a:solidFill>
                <a:effectLst/>
                <a:latin typeface="Lato" panose="020F0502020204030203" pitchFamily="34" charset="0"/>
              </a:rPr>
              <a:t>The interpreter reads and executes the bytecode instructions line by line. Due to the line by line execution, the interpreter is comparatively slower.</a:t>
            </a:r>
          </a:p>
          <a:p>
            <a:pPr algn="just" fontAlgn="base"/>
            <a:r>
              <a:rPr lang="en-US" b="0" i="0" dirty="0">
                <a:solidFill>
                  <a:schemeClr val="bg1"/>
                </a:solidFill>
                <a:effectLst/>
                <a:latin typeface="Lato" panose="020F0502020204030203" pitchFamily="34" charset="0"/>
              </a:rPr>
              <a:t>Another disadvantage of the interpreter is that when a method is called multiple times, every time a new interpretation is required.</a:t>
            </a:r>
          </a:p>
        </p:txBody>
      </p:sp>
      <p:sp>
        <p:nvSpPr>
          <p:cNvPr id="2" name="Footer Placeholder 1">
            <a:extLst>
              <a:ext uri="{FF2B5EF4-FFF2-40B4-BE49-F238E27FC236}">
                <a16:creationId xmlns:a16="http://schemas.microsoft.com/office/drawing/2014/main" xmlns="" id="{A1A55E0B-B242-F102-C4DA-721D52F9AA60}"/>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02739405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5B6437F9-6295-1489-8475-ED7A34D09855}"/>
              </a:ext>
            </a:extLst>
          </p:cNvPr>
          <p:cNvSpPr txBox="1"/>
          <p:nvPr/>
        </p:nvSpPr>
        <p:spPr>
          <a:xfrm>
            <a:off x="609600" y="1123950"/>
            <a:ext cx="7543800" cy="2031325"/>
          </a:xfrm>
          <a:prstGeom prst="rect">
            <a:avLst/>
          </a:prstGeom>
          <a:noFill/>
        </p:spPr>
        <p:txBody>
          <a:bodyPr wrap="square">
            <a:spAutoFit/>
          </a:bodyPr>
          <a:lstStyle/>
          <a:p>
            <a:pPr algn="just" fontAlgn="base"/>
            <a:r>
              <a:rPr lang="en-US" b="1" i="0" dirty="0">
                <a:solidFill>
                  <a:schemeClr val="bg1"/>
                </a:solidFill>
                <a:effectLst/>
                <a:latin typeface="-apple-system"/>
              </a:rPr>
              <a:t>JIT Compiler</a:t>
            </a:r>
          </a:p>
          <a:p>
            <a:pPr algn="just" fontAlgn="base"/>
            <a:r>
              <a:rPr lang="en-US" b="0" i="0" dirty="0">
                <a:solidFill>
                  <a:schemeClr val="bg1"/>
                </a:solidFill>
                <a:effectLst/>
                <a:latin typeface="Lato" panose="020F0502020204030203" pitchFamily="34" charset="0"/>
              </a:rPr>
              <a:t>The JIT Compiler overcomes the disadvantage of the interpreter. The Execution Engine first uses the interpreter to execute the byte code, but when it finds some repeated code, it uses the JIT compiler.</a:t>
            </a:r>
          </a:p>
          <a:p>
            <a:pPr algn="just" fontAlgn="base"/>
            <a:r>
              <a:rPr lang="en-US" b="0" i="0" dirty="0">
                <a:solidFill>
                  <a:schemeClr val="bg1"/>
                </a:solidFill>
                <a:effectLst/>
                <a:latin typeface="Lato" panose="020F0502020204030203" pitchFamily="34" charset="0"/>
              </a:rPr>
              <a:t>The JIT compiler then compiles the entire bytecode and changes it to native machine code. This native machine code is used directly for repeated method calls, which improves the performance of the system.</a:t>
            </a:r>
          </a:p>
        </p:txBody>
      </p:sp>
      <p:sp>
        <p:nvSpPr>
          <p:cNvPr id="2" name="Footer Placeholder 1">
            <a:extLst>
              <a:ext uri="{FF2B5EF4-FFF2-40B4-BE49-F238E27FC236}">
                <a16:creationId xmlns:a16="http://schemas.microsoft.com/office/drawing/2014/main" xmlns="" id="{7DAA659B-95B8-5E20-49AA-3B5E849016A0}"/>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78819785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5B6437F9-6295-1489-8475-ED7A34D09855}"/>
              </a:ext>
            </a:extLst>
          </p:cNvPr>
          <p:cNvSpPr txBox="1"/>
          <p:nvPr/>
        </p:nvSpPr>
        <p:spPr>
          <a:xfrm>
            <a:off x="609600" y="1123950"/>
            <a:ext cx="7543800" cy="2031325"/>
          </a:xfrm>
          <a:prstGeom prst="rect">
            <a:avLst/>
          </a:prstGeom>
          <a:noFill/>
        </p:spPr>
        <p:txBody>
          <a:bodyPr wrap="square">
            <a:spAutoFit/>
          </a:bodyPr>
          <a:lstStyle/>
          <a:p>
            <a:pPr algn="just" fontAlgn="base"/>
            <a:r>
              <a:rPr lang="en-IN" b="0" i="0" dirty="0">
                <a:solidFill>
                  <a:srgbClr val="0A0A23"/>
                </a:solidFill>
                <a:effectLst/>
                <a:latin typeface="Lato" panose="020F0502020204030203" pitchFamily="34" charset="0"/>
              </a:rPr>
              <a:t>The JIT Compiler has the following components:</a:t>
            </a:r>
          </a:p>
          <a:p>
            <a:pPr algn="just" fontAlgn="base">
              <a:buFont typeface="+mj-lt"/>
              <a:buAutoNum type="arabicPeriod"/>
            </a:pPr>
            <a:r>
              <a:rPr lang="en-IN" b="1" i="0" dirty="0">
                <a:solidFill>
                  <a:srgbClr val="0A0A23"/>
                </a:solidFill>
                <a:effectLst/>
                <a:latin typeface="inherit"/>
              </a:rPr>
              <a:t>Intermediate Code Generator -</a:t>
            </a:r>
            <a:r>
              <a:rPr lang="en-IN" b="0" i="0" dirty="0">
                <a:solidFill>
                  <a:srgbClr val="0A0A23"/>
                </a:solidFill>
                <a:effectLst/>
                <a:latin typeface="inherit"/>
              </a:rPr>
              <a:t> generates intermediate code</a:t>
            </a:r>
          </a:p>
          <a:p>
            <a:pPr algn="just" fontAlgn="base">
              <a:buFont typeface="+mj-lt"/>
              <a:buAutoNum type="arabicPeriod"/>
            </a:pPr>
            <a:r>
              <a:rPr lang="en-IN" b="1" i="0" dirty="0">
                <a:solidFill>
                  <a:srgbClr val="0A0A23"/>
                </a:solidFill>
                <a:effectLst/>
                <a:latin typeface="inherit"/>
              </a:rPr>
              <a:t>Code Optimizer -</a:t>
            </a:r>
            <a:r>
              <a:rPr lang="en-IN" b="0" i="0" dirty="0">
                <a:solidFill>
                  <a:srgbClr val="0A0A23"/>
                </a:solidFill>
                <a:effectLst/>
                <a:latin typeface="inherit"/>
              </a:rPr>
              <a:t> optimizes the intermediate code for better performance</a:t>
            </a:r>
          </a:p>
          <a:p>
            <a:pPr algn="just" fontAlgn="base">
              <a:buFont typeface="+mj-lt"/>
              <a:buAutoNum type="arabicPeriod"/>
            </a:pPr>
            <a:r>
              <a:rPr lang="en-IN" b="1" i="0" dirty="0">
                <a:solidFill>
                  <a:srgbClr val="0A0A23"/>
                </a:solidFill>
                <a:effectLst/>
                <a:latin typeface="inherit"/>
              </a:rPr>
              <a:t>Target Code Generator -</a:t>
            </a:r>
            <a:r>
              <a:rPr lang="en-IN" b="0" i="0" dirty="0">
                <a:solidFill>
                  <a:srgbClr val="0A0A23"/>
                </a:solidFill>
                <a:effectLst/>
                <a:latin typeface="inherit"/>
              </a:rPr>
              <a:t> converts intermediate code to native machine code</a:t>
            </a:r>
          </a:p>
          <a:p>
            <a:pPr algn="just" fontAlgn="base">
              <a:buFont typeface="+mj-lt"/>
              <a:buAutoNum type="arabicPeriod"/>
            </a:pPr>
            <a:r>
              <a:rPr lang="en-IN" b="1" i="0" dirty="0">
                <a:solidFill>
                  <a:srgbClr val="0A0A23"/>
                </a:solidFill>
                <a:effectLst/>
                <a:latin typeface="inherit"/>
              </a:rPr>
              <a:t>Profiler -</a:t>
            </a:r>
            <a:r>
              <a:rPr lang="en-IN" b="0" i="0" dirty="0">
                <a:solidFill>
                  <a:srgbClr val="0A0A23"/>
                </a:solidFill>
                <a:effectLst/>
                <a:latin typeface="inherit"/>
              </a:rPr>
              <a:t> finds the hotspots (code that is executed repeatedly)</a:t>
            </a:r>
          </a:p>
        </p:txBody>
      </p:sp>
      <p:sp>
        <p:nvSpPr>
          <p:cNvPr id="2" name="Footer Placeholder 1">
            <a:extLst>
              <a:ext uri="{FF2B5EF4-FFF2-40B4-BE49-F238E27FC236}">
                <a16:creationId xmlns:a16="http://schemas.microsoft.com/office/drawing/2014/main" xmlns="" id="{815272D1-EC86-3244-4490-8E1635B45AC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69302701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978F95E5-A9F6-B133-931F-A18E4611EE0C}"/>
              </a:ext>
            </a:extLst>
          </p:cNvPr>
          <p:cNvSpPr>
            <a:spLocks noChangeArrowheads="1"/>
          </p:cNvSpPr>
          <p:nvPr/>
        </p:nvSpPr>
        <p:spPr bwMode="auto">
          <a:xfrm>
            <a:off x="172571" y="1123950"/>
            <a:ext cx="8534400" cy="2954655"/>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A0A23"/>
                </a:solidFill>
                <a:effectLst/>
                <a:latin typeface="+mn-lt"/>
              </a:rPr>
              <a:t>To better understand the difference between interpreter and JIT compiler, assume that you have the following code:</a:t>
            </a:r>
            <a:endParaRPr kumimoji="0" lang="en-US" altLang="en-US" sz="1200" b="0" i="0" u="none" strike="noStrike" cap="none" normalizeH="0" baseline="0" dirty="0">
              <a:ln>
                <a:noFill/>
              </a:ln>
              <a:solidFill>
                <a:srgbClr val="0077AA"/>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7AA"/>
                </a:solidFill>
                <a:effectLst/>
                <a:latin typeface="+mn-lt"/>
              </a:rPr>
              <a:t>int</a:t>
            </a:r>
            <a:r>
              <a:rPr kumimoji="0" lang="en-US" altLang="en-US" sz="1200" b="0" i="0" u="none" strike="noStrike" cap="none" normalizeH="0" baseline="0" dirty="0">
                <a:ln>
                  <a:noFill/>
                </a:ln>
                <a:solidFill>
                  <a:srgbClr val="000000"/>
                </a:solidFill>
                <a:effectLst/>
                <a:latin typeface="+mn-lt"/>
              </a:rPr>
              <a:t> sum </a:t>
            </a:r>
            <a:r>
              <a:rPr kumimoji="0" lang="en-US" altLang="en-US" sz="1200" b="0" i="0" u="none" strike="noStrike" cap="none" normalizeH="0" baseline="0" dirty="0">
                <a:ln>
                  <a:noFill/>
                </a:ln>
                <a:solidFill>
                  <a:srgbClr val="9A6E3A"/>
                </a:solidFill>
                <a:effectLst/>
                <a:latin typeface="+mn-lt"/>
              </a:rPr>
              <a: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90055"/>
                </a:solidFill>
                <a:effectLst/>
                <a:latin typeface="+mn-lt"/>
              </a:rPr>
              <a:t>10</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7AA"/>
                </a:solidFill>
                <a:effectLst/>
                <a:latin typeface="+mn-lt"/>
              </a:rPr>
              <a:t>for</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77AA"/>
                </a:solidFill>
                <a:effectLst/>
                <a:latin typeface="+mn-lt"/>
              </a:rPr>
              <a:t>int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err="1">
                <a:ln>
                  <a:noFill/>
                </a:ln>
                <a:solidFill>
                  <a:srgbClr val="000000"/>
                </a:solidFill>
                <a:effectLst/>
                <a:latin typeface="+mn-lt"/>
              </a:rPr>
              <a:t>i</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A6E3A"/>
                </a:solidFill>
                <a:effectLst/>
                <a:latin typeface="+mn-lt"/>
              </a:rPr>
              <a: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90055"/>
                </a:solidFill>
                <a:effectLst/>
                <a:latin typeface="+mn-lt"/>
              </a:rPr>
              <a:t>0</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err="1">
                <a:ln>
                  <a:noFill/>
                </a:ln>
                <a:solidFill>
                  <a:srgbClr val="000000"/>
                </a:solidFill>
                <a:effectLst/>
                <a:latin typeface="+mn-lt"/>
              </a:rPr>
              <a:t>i</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A6E3A"/>
                </a:solidFill>
                <a:effectLst/>
                <a:latin typeface="+mn-lt"/>
              </a:rPr>
              <a:t>&lt;=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90055"/>
                </a:solidFill>
                <a:effectLst/>
                <a:latin typeface="+mn-lt"/>
              </a:rPr>
              <a:t>10</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err="1">
                <a:ln>
                  <a:noFill/>
                </a:ln>
                <a:solidFill>
                  <a:srgbClr val="000000"/>
                </a:solidFill>
                <a:effectLst/>
                <a:latin typeface="+mn-lt"/>
              </a:rPr>
              <a:t>i</a:t>
            </a:r>
            <a:r>
              <a:rPr kumimoji="0" lang="en-US" altLang="en-US" sz="1200" b="0" i="0" u="none" strike="noStrike" cap="none" normalizeH="0" baseline="0" dirty="0">
                <a:ln>
                  <a:noFill/>
                </a:ln>
                <a:solidFill>
                  <a:srgbClr val="9A6E3A"/>
                </a:solidFill>
                <a:effectLst/>
                <a:latin typeface="+mn-lt"/>
              </a:rPr>
              <a:t>++</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200" dirty="0">
                <a:solidFill>
                  <a:srgbClr val="000000"/>
                </a:solidFill>
                <a:latin typeface="+mn-lt"/>
              </a:rPr>
              <a:t>	</a:t>
            </a:r>
            <a:r>
              <a:rPr kumimoji="0" lang="en-US" altLang="en-US" sz="1200" b="0" i="0" u="none" strike="noStrike" cap="none" normalizeH="0" baseline="0" dirty="0">
                <a:ln>
                  <a:noFill/>
                </a:ln>
                <a:solidFill>
                  <a:srgbClr val="000000"/>
                </a:solidFill>
                <a:effectLst/>
                <a:latin typeface="+mn-lt"/>
              </a:rPr>
              <a:t>sum </a:t>
            </a:r>
            <a:r>
              <a:rPr kumimoji="0" lang="en-US" altLang="en-US" sz="1200" b="0" i="0" u="none" strike="noStrike" cap="none" normalizeH="0" baseline="0" dirty="0">
                <a:ln>
                  <a:noFill/>
                </a:ln>
                <a:solidFill>
                  <a:srgbClr val="9A6E3A"/>
                </a:solidFill>
                <a:effectLst/>
                <a:latin typeface="+mn-lt"/>
              </a:rPr>
              <a:t>+=</a:t>
            </a:r>
            <a:r>
              <a:rPr kumimoji="0" lang="en-US" altLang="en-US" sz="1200" b="0" i="0" u="none" strike="noStrike" cap="none" normalizeH="0" baseline="0" dirty="0">
                <a:ln>
                  <a:noFill/>
                </a:ln>
                <a:solidFill>
                  <a:srgbClr val="000000"/>
                </a:solidFill>
                <a:effectLst/>
                <a:latin typeface="+mn-lt"/>
              </a:rPr>
              <a:t> </a:t>
            </a:r>
            <a:r>
              <a:rPr kumimoji="0" lang="en-US" altLang="en-US" sz="1200" b="0" i="0" u="none" strike="noStrike" cap="none" normalizeH="0" baseline="0" dirty="0" err="1">
                <a:ln>
                  <a:noFill/>
                </a:ln>
                <a:solidFill>
                  <a:srgbClr val="000000"/>
                </a:solidFill>
                <a:effectLst/>
                <a:latin typeface="+mn-lt"/>
              </a:rPr>
              <a:t>i</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DD4A68"/>
                </a:solidFill>
                <a:effectLst/>
                <a:latin typeface="+mn-lt"/>
              </a:rPr>
              <a:t>System</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out</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DD4A68"/>
                </a:solidFill>
                <a:effectLst/>
                <a:latin typeface="+mn-lt"/>
              </a:rPr>
              <a:t>println</a:t>
            </a:r>
            <a:r>
              <a:rPr kumimoji="0" lang="en-US" altLang="en-US" sz="1200" b="0" i="0" u="none" strike="noStrike" cap="none" normalizeH="0" baseline="0" dirty="0">
                <a:ln>
                  <a:noFill/>
                </a:ln>
                <a:solidFill>
                  <a:srgbClr val="999999"/>
                </a:solidFill>
                <a:effectLst/>
                <a:latin typeface="+mn-lt"/>
              </a:rPr>
              <a:t>(</a:t>
            </a:r>
            <a:r>
              <a:rPr kumimoji="0" lang="en-US" altLang="en-US" sz="1200" b="0" i="0" u="none" strike="noStrike" cap="none" normalizeH="0" baseline="0" dirty="0">
                <a:ln>
                  <a:noFill/>
                </a:ln>
                <a:solidFill>
                  <a:srgbClr val="000000"/>
                </a:solidFill>
                <a:effectLst/>
                <a:latin typeface="+mn-lt"/>
              </a:rPr>
              <a:t>sum</a:t>
            </a:r>
            <a:r>
              <a:rPr kumimoji="0" lang="en-US" altLang="en-US" sz="1200" b="0" i="0" u="none" strike="noStrike" cap="none" normalizeH="0" baseline="0" dirty="0">
                <a:ln>
                  <a:noFill/>
                </a:ln>
                <a:solidFill>
                  <a:srgbClr val="999999"/>
                </a:solidFill>
                <a:effectLst/>
                <a:latin typeface="+mn-lt"/>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A0A23"/>
                </a:solidFill>
                <a:effectLst/>
                <a:latin typeface="+mn-lt"/>
              </a:rPr>
              <a:t>An interpreter will fetch the value of sum from memory for each iteration in the loop, add the value of </a:t>
            </a:r>
            <a:r>
              <a:rPr kumimoji="0" lang="en-US" altLang="en-US" sz="1200" b="0" i="0" u="none" strike="noStrike" cap="none" normalizeH="0" baseline="0" dirty="0" err="1">
                <a:ln>
                  <a:noFill/>
                </a:ln>
                <a:solidFill>
                  <a:srgbClr val="0A0A23"/>
                </a:solidFill>
                <a:effectLst/>
                <a:latin typeface="+mn-lt"/>
              </a:rPr>
              <a:t>i</a:t>
            </a:r>
            <a:r>
              <a:rPr kumimoji="0" lang="en-US" altLang="en-US" sz="1200" b="0" i="0" u="none" strike="noStrike" cap="none" normalizeH="0" baseline="0" dirty="0">
                <a:ln>
                  <a:noFill/>
                </a:ln>
                <a:solidFill>
                  <a:srgbClr val="0A0A23"/>
                </a:solidFill>
                <a:effectLst/>
                <a:latin typeface="+mn-lt"/>
              </a:rPr>
              <a:t> to it, and write it back to memory. This is a costly operation because it is accessing the memory each time it enters the loop.</a:t>
            </a:r>
            <a:endParaRPr kumimoji="0" lang="en-US" altLang="en-US" sz="1200"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A0A23"/>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A0A23"/>
                </a:solidFill>
                <a:effectLst/>
                <a:latin typeface="+mn-lt"/>
              </a:rPr>
              <a:t>However, the JIT compiler will recognize that this code has a </a:t>
            </a:r>
            <a:r>
              <a:rPr kumimoji="0" lang="en-US" altLang="en-US" sz="1200" b="0" i="0" u="none" strike="noStrike" cap="none" normalizeH="0" baseline="0" dirty="0" err="1">
                <a:ln>
                  <a:noFill/>
                </a:ln>
                <a:solidFill>
                  <a:srgbClr val="0A0A23"/>
                </a:solidFill>
                <a:effectLst/>
                <a:latin typeface="+mn-lt"/>
              </a:rPr>
              <a:t>HotSpot</a:t>
            </a:r>
            <a:r>
              <a:rPr kumimoji="0" lang="en-US" altLang="en-US" sz="1200" b="0" i="0" u="none" strike="noStrike" cap="none" normalizeH="0" baseline="0" dirty="0">
                <a:ln>
                  <a:noFill/>
                </a:ln>
                <a:solidFill>
                  <a:srgbClr val="0A0A23"/>
                </a:solidFill>
                <a:effectLst/>
                <a:latin typeface="+mn-lt"/>
              </a:rPr>
              <a:t>, and will perform optimizations on it. It will store a local copy of sum in the PC register for the thread and will keep adding the value of </a:t>
            </a:r>
            <a:r>
              <a:rPr kumimoji="0" lang="en-US" altLang="en-US" sz="1200" b="0" i="0" u="none" strike="noStrike" cap="none" normalizeH="0" baseline="0" dirty="0" err="1">
                <a:ln>
                  <a:noFill/>
                </a:ln>
                <a:solidFill>
                  <a:srgbClr val="0A0A23"/>
                </a:solidFill>
                <a:effectLst/>
                <a:latin typeface="+mn-lt"/>
              </a:rPr>
              <a:t>i</a:t>
            </a:r>
            <a:r>
              <a:rPr kumimoji="0" lang="en-US" altLang="en-US" sz="1200" b="0" i="0" u="none" strike="noStrike" cap="none" normalizeH="0" baseline="0" dirty="0">
                <a:ln>
                  <a:noFill/>
                </a:ln>
                <a:solidFill>
                  <a:srgbClr val="0A0A23"/>
                </a:solidFill>
                <a:effectLst/>
                <a:latin typeface="+mn-lt"/>
              </a:rPr>
              <a:t> to it in the loop. Once the loop is complete, it will write the value of sum back to memory.</a:t>
            </a:r>
            <a:endParaRPr kumimoji="0" lang="en-US" altLang="en-US" sz="1200"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rgbClr val="0A0A23"/>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A0A23"/>
                </a:solidFill>
                <a:effectLst/>
                <a:latin typeface="+mn-lt"/>
              </a:rPr>
              <a:t>Note:</a:t>
            </a:r>
            <a:r>
              <a:rPr kumimoji="0" lang="en-US" altLang="en-US" sz="1200" b="0" i="0" u="none" strike="noStrike" cap="none" normalizeH="0" baseline="0" dirty="0">
                <a:ln>
                  <a:noFill/>
                </a:ln>
                <a:solidFill>
                  <a:srgbClr val="0A0A23"/>
                </a:solidFill>
                <a:effectLst/>
                <a:latin typeface="+mn-lt"/>
              </a:rPr>
              <a:t> a JIT compiler takes more time to compile the code than for the interpreter to interpret the code line by line. If you are going to run a program only once, using the interpreter is better.</a:t>
            </a:r>
            <a:endParaRPr kumimoji="0" lang="en-US" altLang="en-US" sz="1200" b="0" i="0" u="none" strike="noStrike" cap="none" normalizeH="0" baseline="0" dirty="0">
              <a:ln>
                <a:noFill/>
              </a:ln>
              <a:solidFill>
                <a:schemeClr val="tx1"/>
              </a:solidFill>
              <a:effectLst/>
              <a:latin typeface="+mn-lt"/>
            </a:endParaRPr>
          </a:p>
        </p:txBody>
      </p:sp>
      <p:sp>
        <p:nvSpPr>
          <p:cNvPr id="3" name="Footer Placeholder 2">
            <a:extLst>
              <a:ext uri="{FF2B5EF4-FFF2-40B4-BE49-F238E27FC236}">
                <a16:creationId xmlns:a16="http://schemas.microsoft.com/office/drawing/2014/main" xmlns="" id="{D8FEDAA2-961F-4DBF-5AD0-3A2E68EAF80F}"/>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34922603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978F95E5-A9F6-B133-931F-A18E4611EE0C}"/>
              </a:ext>
            </a:extLst>
          </p:cNvPr>
          <p:cNvSpPr>
            <a:spLocks noChangeArrowheads="1"/>
          </p:cNvSpPr>
          <p:nvPr/>
        </p:nvSpPr>
        <p:spPr bwMode="auto">
          <a:xfrm>
            <a:off x="190500" y="1170623"/>
            <a:ext cx="8534400" cy="1477328"/>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fontAlgn="base"/>
            <a:r>
              <a:rPr lang="en-US" sz="1600" b="1" i="0" dirty="0">
                <a:solidFill>
                  <a:schemeClr val="bg1"/>
                </a:solidFill>
                <a:effectLst/>
                <a:latin typeface="-apple-system"/>
              </a:rPr>
              <a:t>Garbage Collector</a:t>
            </a:r>
          </a:p>
          <a:p>
            <a:pPr algn="just" fontAlgn="base"/>
            <a:r>
              <a:rPr lang="en-US" sz="1600" b="0" i="0" dirty="0">
                <a:solidFill>
                  <a:schemeClr val="bg1"/>
                </a:solidFill>
                <a:effectLst/>
                <a:latin typeface="Lato" panose="020F0502020204030203" pitchFamily="34" charset="0"/>
              </a:rPr>
              <a:t>The Garbage Collector (GC) collects and removes unreferenced objects from the heap area. It is the process of reclaiming the runtime unused memory automatically by destroying them.</a:t>
            </a:r>
          </a:p>
          <a:p>
            <a:pPr algn="just" fontAlgn="base"/>
            <a:endParaRPr lang="en-US" sz="1600" b="0" i="0" dirty="0">
              <a:solidFill>
                <a:schemeClr val="bg1"/>
              </a:solidFill>
              <a:effectLst/>
              <a:latin typeface="Lato" panose="020F0502020204030203" pitchFamily="34" charset="0"/>
            </a:endParaRPr>
          </a:p>
          <a:p>
            <a:pPr algn="just" fontAlgn="base"/>
            <a:r>
              <a:rPr lang="en-US" sz="1600" b="0" i="0" dirty="0">
                <a:solidFill>
                  <a:schemeClr val="bg1"/>
                </a:solidFill>
                <a:effectLst/>
                <a:latin typeface="Lato" panose="020F0502020204030203" pitchFamily="34" charset="0"/>
              </a:rPr>
              <a:t>Garbage collection makes Java memory efficient because </a:t>
            </a:r>
            <a:r>
              <a:rPr lang="en-US" sz="1600" b="0" i="0" dirty="0" smtClean="0">
                <a:solidFill>
                  <a:schemeClr val="bg1"/>
                </a:solidFill>
                <a:effectLst/>
                <a:latin typeface="Lato" panose="020F0502020204030203" pitchFamily="34" charset="0"/>
              </a:rPr>
              <a:t>it </a:t>
            </a:r>
            <a:r>
              <a:rPr lang="en-US" sz="1600" b="0" i="0" dirty="0">
                <a:solidFill>
                  <a:schemeClr val="bg1"/>
                </a:solidFill>
                <a:effectLst/>
                <a:latin typeface="Lato" panose="020F0502020204030203" pitchFamily="34" charset="0"/>
              </a:rPr>
              <a:t>removes the unreferenced objects from heap memory and makes free space for new objects. It involves two phases:</a:t>
            </a:r>
          </a:p>
        </p:txBody>
      </p:sp>
      <p:sp>
        <p:nvSpPr>
          <p:cNvPr id="3" name="Footer Placeholder 2">
            <a:extLst>
              <a:ext uri="{FF2B5EF4-FFF2-40B4-BE49-F238E27FC236}">
                <a16:creationId xmlns:a16="http://schemas.microsoft.com/office/drawing/2014/main" xmlns="" id="{075C81AC-EB0D-3DE0-7473-304A4561C613}"/>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11879896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3" name="Rectangle 1">
            <a:extLst>
              <a:ext uri="{FF2B5EF4-FFF2-40B4-BE49-F238E27FC236}">
                <a16:creationId xmlns:a16="http://schemas.microsoft.com/office/drawing/2014/main" xmlns="" id="{4B754C6A-DD98-8D12-5A66-70BD7A5DFA61}"/>
              </a:ext>
            </a:extLst>
          </p:cNvPr>
          <p:cNvSpPr>
            <a:spLocks noChangeArrowheads="1"/>
          </p:cNvSpPr>
          <p:nvPr/>
        </p:nvSpPr>
        <p:spPr bwMode="auto">
          <a:xfrm>
            <a:off x="152400" y="1323260"/>
            <a:ext cx="7848600" cy="17235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bg1"/>
                </a:solidFill>
                <a:effectLst/>
                <a:latin typeface="+mn-lt"/>
              </a:rPr>
              <a:t>Mark -</a:t>
            </a:r>
            <a:r>
              <a:rPr kumimoji="0" lang="en-US" altLang="en-US" sz="1600" b="0" i="0" u="none" strike="noStrike" cap="none" normalizeH="0" baseline="0" dirty="0">
                <a:ln>
                  <a:noFill/>
                </a:ln>
                <a:solidFill>
                  <a:schemeClr val="bg1"/>
                </a:solidFill>
                <a:effectLst/>
                <a:latin typeface="+mn-lt"/>
              </a:rPr>
              <a:t> in this step, the GC identifies the unused objects in memory</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bg1"/>
                </a:solidFill>
                <a:effectLst/>
                <a:latin typeface="+mn-lt"/>
              </a:rPr>
              <a:t>Sweep -</a:t>
            </a:r>
            <a:r>
              <a:rPr kumimoji="0" lang="en-US" altLang="en-US" sz="1600" b="0" i="0" u="none" strike="noStrike" cap="none" normalizeH="0" baseline="0" dirty="0">
                <a:ln>
                  <a:noFill/>
                </a:ln>
                <a:solidFill>
                  <a:schemeClr val="bg1"/>
                </a:solidFill>
                <a:effectLst/>
                <a:latin typeface="+mn-lt"/>
              </a:rPr>
              <a:t> in this step, the GC removes the objects identified during the previous phase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Garbage Collections is done automatically by the JVM at regular intervals and does not need to be handled separately. It can also be triggered by calling </a:t>
            </a:r>
            <a:r>
              <a:rPr kumimoji="0" lang="en-US" altLang="en-US" sz="1600" b="0" i="0" u="none" strike="noStrike" cap="none" normalizeH="0" baseline="0" dirty="0" err="1">
                <a:ln>
                  <a:noFill/>
                </a:ln>
                <a:solidFill>
                  <a:schemeClr val="bg1"/>
                </a:solidFill>
                <a:effectLst/>
                <a:latin typeface="+mn-lt"/>
              </a:rPr>
              <a:t>System.gc</a:t>
            </a:r>
            <a:r>
              <a:rPr kumimoji="0" lang="en-US" altLang="en-US" sz="1600" b="0" i="0" u="none" strike="noStrike" cap="none" normalizeH="0" baseline="0" dirty="0">
                <a:ln>
                  <a:noFill/>
                </a:ln>
                <a:solidFill>
                  <a:schemeClr val="bg1"/>
                </a:solidFill>
                <a:effectLst/>
                <a:latin typeface="+mn-lt"/>
              </a:rPr>
              <a:t>(), but the execution is not guaranteed.</a:t>
            </a:r>
          </a:p>
        </p:txBody>
      </p:sp>
      <p:sp>
        <p:nvSpPr>
          <p:cNvPr id="2" name="Footer Placeholder 1">
            <a:extLst>
              <a:ext uri="{FF2B5EF4-FFF2-40B4-BE49-F238E27FC236}">
                <a16:creationId xmlns:a16="http://schemas.microsoft.com/office/drawing/2014/main" xmlns="" id="{5EF7022E-5D30-F1D0-BA8C-A2B363F3BB49}"/>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39754466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Rectangle 2">
            <a:extLst>
              <a:ext uri="{FF2B5EF4-FFF2-40B4-BE49-F238E27FC236}">
                <a16:creationId xmlns:a16="http://schemas.microsoft.com/office/drawing/2014/main" xmlns="" id="{174433FC-7C81-6B47-590F-564F2E82DBAA}"/>
              </a:ext>
            </a:extLst>
          </p:cNvPr>
          <p:cNvSpPr>
            <a:spLocks noChangeArrowheads="1"/>
          </p:cNvSpPr>
          <p:nvPr/>
        </p:nvSpPr>
        <p:spPr bwMode="auto">
          <a:xfrm>
            <a:off x="152400" y="863829"/>
            <a:ext cx="8107127" cy="30162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A0A23"/>
                </a:solidFill>
                <a:effectLst/>
              </a:rPr>
              <a:t>The JVM contains 3 different types of garbage collectors:</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1" i="0" u="none" strike="noStrike" cap="none" normalizeH="0" baseline="0" dirty="0">
                <a:ln>
                  <a:noFill/>
                </a:ln>
                <a:solidFill>
                  <a:srgbClr val="0A0A23"/>
                </a:solidFill>
                <a:effectLst/>
              </a:rPr>
              <a:t>Serial GC -</a:t>
            </a:r>
            <a:r>
              <a:rPr kumimoji="0" lang="en-US" altLang="en-US" sz="1400" b="0" i="0" u="none" strike="noStrike" cap="none" normalizeH="0" baseline="0" dirty="0">
                <a:ln>
                  <a:noFill/>
                </a:ln>
                <a:solidFill>
                  <a:srgbClr val="0A0A23"/>
                </a:solidFill>
                <a:effectLst/>
              </a:rPr>
              <a:t> This is the simplest implementation of GC, and is designed for small applications running on single-threaded environments. It uses a single thread for garbage collection. When it runs, it leads to a "stop the world" event where the entire application is paused. The JVM argument to use Serial Garbage Collector is -XX:+</a:t>
            </a:r>
            <a:r>
              <a:rPr kumimoji="0" lang="en-US" altLang="en-US" sz="1400" b="0" i="0" u="none" strike="noStrike" cap="none" normalizeH="0" baseline="0" dirty="0" err="1">
                <a:ln>
                  <a:noFill/>
                </a:ln>
                <a:solidFill>
                  <a:srgbClr val="0A0A23"/>
                </a:solidFill>
                <a:effectLst/>
              </a:rPr>
              <a:t>UseSerialGC</a:t>
            </a:r>
            <a:endParaRPr kumimoji="0" lang="en-US" altLang="en-US" sz="1400" b="0" i="0" u="none" strike="noStrike" cap="none" normalizeH="0" baseline="0" dirty="0">
              <a:ln>
                <a:noFill/>
              </a:ln>
              <a:solidFill>
                <a:srgbClr val="0A0A23"/>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rgbClr val="0A0A23"/>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rgbClr val="0A0A23"/>
                </a:solidFill>
                <a:effectLst/>
              </a:rPr>
              <a:t>Parallel GC - </a:t>
            </a:r>
            <a:r>
              <a:rPr kumimoji="0" lang="en-US" altLang="en-US" sz="1400" b="0" i="0" u="none" strike="noStrike" cap="none" normalizeH="0" baseline="0" dirty="0">
                <a:ln>
                  <a:noFill/>
                </a:ln>
                <a:solidFill>
                  <a:srgbClr val="0A0A23"/>
                </a:solidFill>
                <a:effectLst/>
              </a:rPr>
              <a:t>This is the default implementation of GC in the JVM, and is also known as Throughput Collector. It uses multiple threads for garbage collection, but still pauses the application when running. The JVM argument to use Parallel Garbage Collector is -XX:+</a:t>
            </a:r>
            <a:r>
              <a:rPr kumimoji="0" lang="en-US" altLang="en-US" sz="1400" b="0" i="0" u="none" strike="noStrike" cap="none" normalizeH="0" baseline="0" dirty="0" err="1">
                <a:ln>
                  <a:noFill/>
                </a:ln>
                <a:solidFill>
                  <a:srgbClr val="0A0A23"/>
                </a:solidFill>
                <a:effectLst/>
              </a:rPr>
              <a:t>UseParallelGC</a:t>
            </a:r>
            <a:r>
              <a:rPr kumimoji="0" lang="en-US" altLang="en-US" sz="1400" b="0" i="0" u="none" strike="noStrike" cap="none" normalizeH="0" baseline="0" dirty="0">
                <a:ln>
                  <a:noFill/>
                </a:ln>
                <a:solidFill>
                  <a:srgbClr val="0A0A23"/>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rgbClr val="0A0A23"/>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rgbClr val="0A0A23"/>
                </a:solidFill>
                <a:effectLst/>
              </a:rPr>
              <a:t>Garbage First (G1) GC -</a:t>
            </a:r>
            <a:r>
              <a:rPr kumimoji="0" lang="en-US" altLang="en-US" sz="1400" b="0" i="0" u="none" strike="noStrike" cap="none" normalizeH="0" baseline="0" dirty="0">
                <a:ln>
                  <a:noFill/>
                </a:ln>
                <a:solidFill>
                  <a:srgbClr val="0A0A23"/>
                </a:solidFill>
                <a:effectLst/>
              </a:rPr>
              <a:t> G1GC was designed for multi-threaded applications that have a large heap size available (more than 4GB). It partitions the heap into a set of equal size regions, and uses multiple threads to scan them. G1GC identifies the regions with the most garbage and performs garbage collection on that region first. The JVM argument to use G1 Garbage Collector is -XX:+UseG1GC</a:t>
            </a:r>
          </a:p>
        </p:txBody>
      </p:sp>
      <p:sp>
        <p:nvSpPr>
          <p:cNvPr id="2" name="Footer Placeholder 1">
            <a:extLst>
              <a:ext uri="{FF2B5EF4-FFF2-40B4-BE49-F238E27FC236}">
                <a16:creationId xmlns:a16="http://schemas.microsoft.com/office/drawing/2014/main" xmlns="" id="{B6AC1174-ECBA-7B7D-139B-CFF0AF6663A9}"/>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929284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Rectangle 2">
            <a:extLst>
              <a:ext uri="{FF2B5EF4-FFF2-40B4-BE49-F238E27FC236}">
                <a16:creationId xmlns:a16="http://schemas.microsoft.com/office/drawing/2014/main" xmlns="" id="{174433FC-7C81-6B47-590F-564F2E82DBAA}"/>
              </a:ext>
            </a:extLst>
          </p:cNvPr>
          <p:cNvSpPr>
            <a:spLocks noChangeArrowheads="1"/>
          </p:cNvSpPr>
          <p:nvPr/>
        </p:nvSpPr>
        <p:spPr bwMode="auto">
          <a:xfrm>
            <a:off x="242328" y="2154335"/>
            <a:ext cx="8520672" cy="4351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400" b="1" i="0" dirty="0">
                <a:solidFill>
                  <a:schemeClr val="bg1"/>
                </a:solidFill>
                <a:effectLst/>
                <a:latin typeface="Lato" panose="020F0502020204030203" pitchFamily="34" charset="0"/>
              </a:rPr>
              <a:t>Note:</a:t>
            </a:r>
            <a:r>
              <a:rPr lang="en-US" sz="1400" b="0" i="0" dirty="0">
                <a:solidFill>
                  <a:schemeClr val="bg1"/>
                </a:solidFill>
                <a:effectLst/>
                <a:latin typeface="Lato" panose="020F0502020204030203" pitchFamily="34" charset="0"/>
              </a:rPr>
              <a:t> There is another type of garbage collector called </a:t>
            </a:r>
            <a:r>
              <a:rPr lang="en-US" sz="1400" b="1" i="0" dirty="0">
                <a:solidFill>
                  <a:schemeClr val="bg1"/>
                </a:solidFill>
                <a:effectLst/>
                <a:latin typeface="Lato" panose="020F0502020204030203" pitchFamily="34" charset="0"/>
              </a:rPr>
              <a:t>Concurrent Mark Sweep (CMS) GC</a:t>
            </a:r>
            <a:r>
              <a:rPr lang="en-US" sz="1400" b="0" i="0" dirty="0">
                <a:solidFill>
                  <a:schemeClr val="bg1"/>
                </a:solidFill>
                <a:effectLst/>
                <a:latin typeface="Lato" panose="020F0502020204030203" pitchFamily="34" charset="0"/>
              </a:rPr>
              <a:t>. However, it has been deprecated since Java 9 and completely removed in Java 14 in </a:t>
            </a:r>
            <a:r>
              <a:rPr lang="en-US" sz="1400" b="0" i="0" dirty="0" err="1">
                <a:solidFill>
                  <a:schemeClr val="bg1"/>
                </a:solidFill>
                <a:effectLst/>
                <a:latin typeface="Lato" panose="020F0502020204030203" pitchFamily="34" charset="0"/>
              </a:rPr>
              <a:t>favour</a:t>
            </a:r>
            <a:r>
              <a:rPr lang="en-US" sz="1400" b="0" i="0" dirty="0">
                <a:solidFill>
                  <a:schemeClr val="bg1"/>
                </a:solidFill>
                <a:effectLst/>
                <a:latin typeface="Lato" panose="020F0502020204030203" pitchFamily="34" charset="0"/>
              </a:rPr>
              <a:t> of G1GC.</a:t>
            </a:r>
            <a:endParaRPr kumimoji="0" lang="en-US" altLang="en-US" sz="1400" b="0" i="0" u="none" strike="noStrike" cap="none" normalizeH="0" baseline="0" dirty="0">
              <a:ln>
                <a:noFill/>
              </a:ln>
              <a:solidFill>
                <a:schemeClr val="bg1"/>
              </a:solidFill>
              <a:effectLst/>
            </a:endParaRPr>
          </a:p>
        </p:txBody>
      </p:sp>
      <p:sp>
        <p:nvSpPr>
          <p:cNvPr id="2" name="Footer Placeholder 1">
            <a:extLst>
              <a:ext uri="{FF2B5EF4-FFF2-40B4-BE49-F238E27FC236}">
                <a16:creationId xmlns:a16="http://schemas.microsoft.com/office/drawing/2014/main" xmlns="" id="{B3A1EDB2-5962-A791-318C-2F531638425A}"/>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412936932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EC5C6671-6BE6-6B99-12C7-DA158E3C876C}"/>
              </a:ext>
            </a:extLst>
          </p:cNvPr>
          <p:cNvSpPr>
            <a:spLocks noChangeArrowheads="1"/>
          </p:cNvSpPr>
          <p:nvPr/>
        </p:nvSpPr>
        <p:spPr bwMode="auto">
          <a:xfrm>
            <a:off x="228601" y="1064895"/>
            <a:ext cx="8762999"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mn-lt"/>
              </a:rPr>
              <a:t>Java Native Interface (JNI)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At times, it is necessary to use native (non-Java) code (for example, C/C++). This can be in cases where we need to interact with hardware, or to overcome the memory management and performance constraints in Java. Java supports the execution of native code via the Java Native Interface (JNI).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JNI acts as a bridge for permitting the supporting packages for other programming languages such as C, C++, and so on. This is especially helpful in cases where you need to write code that is not entirely supported by Java, like some platform specific features that can only be written in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You can use the native keyword to indicate that the method implementation will be provided by a native library. You will also need to invoke </a:t>
            </a:r>
            <a:r>
              <a:rPr kumimoji="0" lang="en-US" altLang="en-US" sz="1600" b="0" i="0" u="none" strike="noStrike" cap="none" normalizeH="0" baseline="0" dirty="0" err="1">
                <a:ln>
                  <a:noFill/>
                </a:ln>
                <a:solidFill>
                  <a:schemeClr val="bg1"/>
                </a:solidFill>
                <a:effectLst/>
                <a:latin typeface="+mn-lt"/>
              </a:rPr>
              <a:t>System.loadLibrary</a:t>
            </a:r>
            <a:r>
              <a:rPr kumimoji="0" lang="en-US" altLang="en-US" sz="1600" b="0" i="0" u="none" strike="noStrike" cap="none" normalizeH="0" baseline="0" dirty="0">
                <a:ln>
                  <a:noFill/>
                </a:ln>
                <a:solidFill>
                  <a:schemeClr val="bg1"/>
                </a:solidFill>
                <a:effectLst/>
                <a:latin typeface="+mn-lt"/>
              </a:rPr>
              <a:t>() to load the shared native library into memory, and make its functions available to Java.</a:t>
            </a:r>
          </a:p>
        </p:txBody>
      </p:sp>
      <p:sp>
        <p:nvSpPr>
          <p:cNvPr id="3" name="Footer Placeholder 2">
            <a:extLst>
              <a:ext uri="{FF2B5EF4-FFF2-40B4-BE49-F238E27FC236}">
                <a16:creationId xmlns:a16="http://schemas.microsoft.com/office/drawing/2014/main" xmlns="" id="{253A8CE5-08CA-9CF2-B392-6DC7EB34583C}"/>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100704441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Rectangle 2">
            <a:extLst>
              <a:ext uri="{FF2B5EF4-FFF2-40B4-BE49-F238E27FC236}">
                <a16:creationId xmlns:a16="http://schemas.microsoft.com/office/drawing/2014/main" xmlns="" id="{842E9173-BA19-76A2-3406-5131D9B13526}"/>
              </a:ext>
            </a:extLst>
          </p:cNvPr>
          <p:cNvSpPr>
            <a:spLocks noChangeArrowheads="1"/>
          </p:cNvSpPr>
          <p:nvPr/>
        </p:nvSpPr>
        <p:spPr bwMode="auto">
          <a:xfrm>
            <a:off x="228600" y="1053465"/>
            <a:ext cx="8458200"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mn-lt"/>
              </a:rPr>
              <a:t>Native Method Libraries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mn-lt"/>
              </a:rPr>
              <a:t>Native Method Libraries are libraries that are written in other programming languages, such as C, C++, and assembly. These libraries are usually present in the form of .</a:t>
            </a:r>
            <a:r>
              <a:rPr kumimoji="0" lang="en-US" altLang="en-US" sz="1600" b="0" i="0" u="none" strike="noStrike" cap="none" normalizeH="0" baseline="0" dirty="0" err="1">
                <a:ln>
                  <a:noFill/>
                </a:ln>
                <a:solidFill>
                  <a:schemeClr val="bg1"/>
                </a:solidFill>
                <a:effectLst/>
                <a:latin typeface="+mn-lt"/>
              </a:rPr>
              <a:t>dll</a:t>
            </a:r>
            <a:r>
              <a:rPr kumimoji="0" lang="en-US" altLang="en-US" sz="1600" b="0" i="0" u="none" strike="noStrike" cap="none" normalizeH="0" baseline="0" dirty="0">
                <a:ln>
                  <a:noFill/>
                </a:ln>
                <a:solidFill>
                  <a:schemeClr val="bg1"/>
                </a:solidFill>
                <a:effectLst/>
                <a:latin typeface="+mn-lt"/>
              </a:rPr>
              <a:t> or .so files. These native libraries can be loaded through JNI.</a:t>
            </a:r>
          </a:p>
        </p:txBody>
      </p:sp>
      <p:sp>
        <p:nvSpPr>
          <p:cNvPr id="2" name="Footer Placeholder 1">
            <a:extLst>
              <a:ext uri="{FF2B5EF4-FFF2-40B4-BE49-F238E27FC236}">
                <a16:creationId xmlns:a16="http://schemas.microsoft.com/office/drawing/2014/main" xmlns="" id="{5B3205D2-F6B7-989C-618F-F7CA8174004D}"/>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51633955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2" name="Rectangle 1">
            <a:extLst>
              <a:ext uri="{FF2B5EF4-FFF2-40B4-BE49-F238E27FC236}">
                <a16:creationId xmlns:a16="http://schemas.microsoft.com/office/drawing/2014/main" xmlns="" id="{82D75781-45C0-28BF-5169-73EA2C3785B7}"/>
              </a:ext>
            </a:extLst>
          </p:cNvPr>
          <p:cNvSpPr>
            <a:spLocks noChangeArrowheads="1"/>
          </p:cNvSpPr>
          <p:nvPr/>
        </p:nvSpPr>
        <p:spPr bwMode="auto">
          <a:xfrm>
            <a:off x="228600" y="1047750"/>
            <a:ext cx="8610600" cy="3200876"/>
          </a:xfrm>
          <a:prstGeom prst="rect">
            <a:avLst/>
          </a:prstGeom>
          <a:noFill/>
          <a:ln>
            <a:noFill/>
          </a:ln>
          <a:effec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rPr>
              <a:t>Common JVM Errors: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err="1">
                <a:ln>
                  <a:noFill/>
                </a:ln>
                <a:solidFill>
                  <a:schemeClr val="bg1"/>
                </a:solidFill>
                <a:effectLst/>
              </a:rPr>
              <a:t>ClassNotFoundExcecption</a:t>
            </a:r>
            <a:r>
              <a:rPr kumimoji="0" lang="en-US" altLang="en-US" sz="1600" b="0" i="0" u="none" strike="noStrike" cap="none" normalizeH="0" baseline="0" dirty="0">
                <a:ln>
                  <a:noFill/>
                </a:ln>
                <a:solidFill>
                  <a:schemeClr val="bg1"/>
                </a:solidFill>
                <a:effectLst/>
              </a:rPr>
              <a:t> - This occurs when the Class Loader is trying to load classes using </a:t>
            </a:r>
            <a:r>
              <a:rPr kumimoji="0" lang="en-US" altLang="en-US" sz="1600" b="0" i="0" u="none" strike="noStrike" cap="none" normalizeH="0" baseline="0" dirty="0" err="1">
                <a:ln>
                  <a:noFill/>
                </a:ln>
                <a:solidFill>
                  <a:schemeClr val="bg1"/>
                </a:solidFill>
                <a:effectLst/>
              </a:rPr>
              <a:t>Class.forName</a:t>
            </a:r>
            <a:r>
              <a:rPr kumimoji="0" lang="en-US" altLang="en-US" sz="1600" b="0" i="0" u="none" strike="noStrike" cap="none" normalizeH="0" baseline="0" dirty="0">
                <a:ln>
                  <a:noFill/>
                </a:ln>
                <a:solidFill>
                  <a:schemeClr val="bg1"/>
                </a:solidFill>
                <a:effectLst/>
              </a:rPr>
              <a:t>(), </a:t>
            </a:r>
            <a:r>
              <a:rPr kumimoji="0" lang="en-US" altLang="en-US" sz="1600" b="0" i="0" u="none" strike="noStrike" cap="none" normalizeH="0" baseline="0" dirty="0" err="1">
                <a:ln>
                  <a:noFill/>
                </a:ln>
                <a:solidFill>
                  <a:schemeClr val="bg1"/>
                </a:solidFill>
                <a:effectLst/>
              </a:rPr>
              <a:t>ClassLoader.loadClass</a:t>
            </a:r>
            <a:r>
              <a:rPr kumimoji="0" lang="en-US" altLang="en-US" sz="1600" b="0" i="0" u="none" strike="noStrike" cap="none" normalizeH="0" baseline="0" dirty="0">
                <a:ln>
                  <a:noFill/>
                </a:ln>
                <a:solidFill>
                  <a:schemeClr val="bg1"/>
                </a:solidFill>
                <a:effectLst/>
              </a:rPr>
              <a:t>() or </a:t>
            </a:r>
            <a:r>
              <a:rPr kumimoji="0" lang="en-US" altLang="en-US" sz="1600" b="0" i="0" u="none" strike="noStrike" cap="none" normalizeH="0" baseline="0" dirty="0" err="1">
                <a:ln>
                  <a:noFill/>
                </a:ln>
                <a:solidFill>
                  <a:schemeClr val="bg1"/>
                </a:solidFill>
                <a:effectLst/>
              </a:rPr>
              <a:t>ClassLoader.findSystemClass</a:t>
            </a:r>
            <a:r>
              <a:rPr kumimoji="0" lang="en-US" altLang="en-US" sz="1600" b="0" i="0" u="none" strike="noStrike" cap="none" normalizeH="0" baseline="0" dirty="0">
                <a:ln>
                  <a:noFill/>
                </a:ln>
                <a:solidFill>
                  <a:schemeClr val="bg1"/>
                </a:solidFill>
                <a:effectLst/>
              </a:rPr>
              <a:t>() but no definition for the class with the specified name is found.</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600" b="0" i="0" u="none" strike="noStrike" cap="none" normalizeH="0" baseline="0" dirty="0">
              <a:ln>
                <a:noFill/>
              </a:ln>
              <a:solidFill>
                <a:schemeClr val="bg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err="1">
                <a:ln>
                  <a:noFill/>
                </a:ln>
                <a:solidFill>
                  <a:schemeClr val="bg1"/>
                </a:solidFill>
                <a:effectLst/>
              </a:rPr>
              <a:t>NoClassDefFoundError</a:t>
            </a:r>
            <a:r>
              <a:rPr kumimoji="0" lang="en-US" altLang="en-US" sz="1600" b="0" i="0" u="none" strike="noStrike" cap="none" normalizeH="0" baseline="0" dirty="0">
                <a:ln>
                  <a:noFill/>
                </a:ln>
                <a:solidFill>
                  <a:schemeClr val="bg1"/>
                </a:solidFill>
                <a:effectLst/>
              </a:rPr>
              <a:t> - This occurs when a compiler has successfully compiled the class, but the Class Loader is not able to locate the class file at the runtime.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600" b="0" i="0" u="none" strike="noStrike" cap="none" normalizeH="0" baseline="0" dirty="0">
              <a:ln>
                <a:noFill/>
              </a:ln>
              <a:solidFill>
                <a:schemeClr val="bg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err="1">
                <a:ln>
                  <a:noFill/>
                </a:ln>
                <a:solidFill>
                  <a:schemeClr val="bg1"/>
                </a:solidFill>
                <a:effectLst/>
              </a:rPr>
              <a:t>OutOfMemoryError</a:t>
            </a:r>
            <a:r>
              <a:rPr kumimoji="0" lang="en-US" altLang="en-US" sz="1600" b="0" i="0" u="none" strike="noStrike" cap="none" normalizeH="0" baseline="0" dirty="0">
                <a:ln>
                  <a:noFill/>
                </a:ln>
                <a:solidFill>
                  <a:schemeClr val="bg1"/>
                </a:solidFill>
                <a:effectLst/>
              </a:rPr>
              <a:t> - This occurs when the JVM cannot allocate an object because it is out of memory, and no more memory could be made available by the garbage collector.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600" b="0" i="0" u="none" strike="noStrike" cap="none" normalizeH="0" baseline="0" dirty="0">
              <a:ln>
                <a:noFill/>
              </a:ln>
              <a:solidFill>
                <a:schemeClr val="bg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err="1">
                <a:ln>
                  <a:noFill/>
                </a:ln>
                <a:solidFill>
                  <a:schemeClr val="bg1"/>
                </a:solidFill>
                <a:effectLst/>
              </a:rPr>
              <a:t>StackOverflowError</a:t>
            </a:r>
            <a:r>
              <a:rPr kumimoji="0" lang="en-US" altLang="en-US" sz="1600" b="0" i="0" u="none" strike="noStrike" cap="none" normalizeH="0" baseline="0" dirty="0">
                <a:ln>
                  <a:noFill/>
                </a:ln>
                <a:solidFill>
                  <a:schemeClr val="bg1"/>
                </a:solidFill>
                <a:effectLst/>
              </a:rPr>
              <a:t> - This occurs if the JVM runs out of space while creating new stack frames while processing a thread.</a:t>
            </a:r>
          </a:p>
        </p:txBody>
      </p:sp>
      <p:sp>
        <p:nvSpPr>
          <p:cNvPr id="3" name="Footer Placeholder 2">
            <a:extLst>
              <a:ext uri="{FF2B5EF4-FFF2-40B4-BE49-F238E27FC236}">
                <a16:creationId xmlns:a16="http://schemas.microsoft.com/office/drawing/2014/main" xmlns="" id="{0400500B-9B78-B5E8-D232-5D20C95E1A56}"/>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28663147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pic>
        <p:nvPicPr>
          <p:cNvPr id="9218" name="Picture 2" descr="jvm2">
            <a:extLst>
              <a:ext uri="{FF2B5EF4-FFF2-40B4-BE49-F238E27FC236}">
                <a16:creationId xmlns:a16="http://schemas.microsoft.com/office/drawing/2014/main" xmlns="" id="{763A3687-093F-FD89-E5FE-8EC3F9959F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895350"/>
            <a:ext cx="5254320" cy="3744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C58013BF-C03E-1F02-DCE5-8934DE752574}"/>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96022190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AF151535-C1A9-34B2-A727-4E21E2DB2274}"/>
              </a:ext>
            </a:extLst>
          </p:cNvPr>
          <p:cNvSpPr txBox="1"/>
          <p:nvPr/>
        </p:nvSpPr>
        <p:spPr>
          <a:xfrm>
            <a:off x="198120" y="895350"/>
            <a:ext cx="8641080" cy="2677656"/>
          </a:xfrm>
          <a:prstGeom prst="rect">
            <a:avLst/>
          </a:prstGeom>
          <a:noFill/>
        </p:spPr>
        <p:txBody>
          <a:bodyPr wrap="square">
            <a:spAutoFit/>
          </a:bodyPr>
          <a:lstStyle/>
          <a:p>
            <a:pPr algn="just" fontAlgn="base"/>
            <a:r>
              <a:rPr lang="en-US" sz="1400" b="1" i="0" dirty="0">
                <a:solidFill>
                  <a:srgbClr val="273239"/>
                </a:solidFill>
                <a:effectLst/>
                <a:latin typeface="urw-din"/>
              </a:rPr>
              <a:t>Execution Engine</a:t>
            </a:r>
            <a:r>
              <a:rPr lang="en-US" sz="1400" b="0" i="0" dirty="0">
                <a:solidFill>
                  <a:srgbClr val="273239"/>
                </a:solidFill>
                <a:effectLst/>
                <a:latin typeface="urw-din"/>
              </a:rPr>
              <a:t> </a:t>
            </a:r>
          </a:p>
          <a:p>
            <a:pPr algn="just" fontAlgn="base"/>
            <a:r>
              <a:rPr lang="en-US" sz="1400" b="0" i="0" dirty="0">
                <a:solidFill>
                  <a:srgbClr val="273239"/>
                </a:solidFill>
                <a:effectLst/>
                <a:latin typeface="urw-din"/>
              </a:rPr>
              <a:t>Execution engine executes the “</a:t>
            </a:r>
            <a:r>
              <a:rPr lang="en-US" sz="1400" b="0" i="1" dirty="0">
                <a:solidFill>
                  <a:srgbClr val="273239"/>
                </a:solidFill>
                <a:effectLst/>
                <a:latin typeface="urw-din"/>
              </a:rPr>
              <a:t>.class”</a:t>
            </a:r>
            <a:r>
              <a:rPr lang="en-US" sz="1400" b="0" i="0" dirty="0">
                <a:solidFill>
                  <a:srgbClr val="273239"/>
                </a:solidFill>
                <a:effectLst/>
                <a:latin typeface="urw-din"/>
              </a:rPr>
              <a:t> (bytecode). It reads the byte-code line by line, uses data and information present in various memory area and executes instructions. It can be classified into three parts</a:t>
            </a:r>
            <a:r>
              <a:rPr lang="en-US" sz="1400" b="0" i="0" dirty="0" smtClean="0">
                <a:solidFill>
                  <a:srgbClr val="273239"/>
                </a:solidFill>
                <a:effectLst/>
                <a:latin typeface="urw-din"/>
              </a:rPr>
              <a:t>:</a:t>
            </a:r>
          </a:p>
          <a:p>
            <a:pPr algn="just" fontAlgn="base"/>
            <a:endParaRPr lang="en-US" sz="1400" b="0" i="0" dirty="0">
              <a:solidFill>
                <a:srgbClr val="273239"/>
              </a:solidFill>
              <a:effectLst/>
              <a:latin typeface="urw-din"/>
            </a:endParaRPr>
          </a:p>
          <a:p>
            <a:pPr algn="just" fontAlgn="base">
              <a:buFont typeface="Arial" panose="020B0604020202020204" pitchFamily="34" charset="0"/>
              <a:buChar char="•"/>
            </a:pPr>
            <a:r>
              <a:rPr lang="en-US" sz="1400" b="1" i="1" dirty="0">
                <a:solidFill>
                  <a:srgbClr val="273239"/>
                </a:solidFill>
                <a:effectLst/>
                <a:latin typeface="urw-din"/>
              </a:rPr>
              <a:t>Interpreter</a:t>
            </a:r>
            <a:r>
              <a:rPr lang="en-US" sz="1400" b="1" i="0" dirty="0">
                <a:solidFill>
                  <a:srgbClr val="273239"/>
                </a:solidFill>
                <a:effectLst/>
                <a:latin typeface="urw-din"/>
              </a:rPr>
              <a:t>:</a:t>
            </a:r>
            <a:r>
              <a:rPr lang="en-US" sz="1400" b="0" i="0" dirty="0">
                <a:solidFill>
                  <a:srgbClr val="273239"/>
                </a:solidFill>
                <a:effectLst/>
                <a:latin typeface="urw-din"/>
              </a:rPr>
              <a:t> It interprets the bytecode line by line and then executes. The disadvantage here is that when one method is called multiple times, every time interpretation is required</a:t>
            </a:r>
            <a:r>
              <a:rPr lang="en-US" sz="1400" b="0" i="0" dirty="0" smtClean="0">
                <a:solidFill>
                  <a:srgbClr val="273239"/>
                </a:solidFill>
                <a:effectLst/>
                <a:latin typeface="urw-din"/>
              </a:rPr>
              <a:t>.</a:t>
            </a:r>
          </a:p>
          <a:p>
            <a:pPr algn="just" fontAlgn="base">
              <a:buFont typeface="Arial" panose="020B0604020202020204" pitchFamily="34" charset="0"/>
              <a:buChar char="•"/>
            </a:pPr>
            <a:endParaRPr lang="en-US" sz="1400" b="0" i="0" dirty="0">
              <a:solidFill>
                <a:srgbClr val="273239"/>
              </a:solidFill>
              <a:effectLst/>
              <a:latin typeface="urw-din"/>
            </a:endParaRPr>
          </a:p>
          <a:p>
            <a:pPr algn="just" fontAlgn="base">
              <a:buFont typeface="Arial" panose="020B0604020202020204" pitchFamily="34" charset="0"/>
              <a:buChar char="•"/>
            </a:pPr>
            <a:r>
              <a:rPr lang="en-US" sz="1400" b="1" i="1" dirty="0">
                <a:solidFill>
                  <a:srgbClr val="273239"/>
                </a:solidFill>
                <a:effectLst/>
                <a:latin typeface="urw-din"/>
              </a:rPr>
              <a:t>Just-In-Time Compiler(JIT</a:t>
            </a:r>
            <a:r>
              <a:rPr lang="en-US" sz="1400" b="1" i="1" dirty="0" smtClean="0">
                <a:solidFill>
                  <a:srgbClr val="273239"/>
                </a:solidFill>
                <a:effectLst/>
                <a:latin typeface="urw-din"/>
              </a:rPr>
              <a:t>)</a:t>
            </a:r>
            <a:r>
              <a:rPr lang="en-US" sz="1400" b="1" i="0" dirty="0" smtClean="0">
                <a:solidFill>
                  <a:srgbClr val="273239"/>
                </a:solidFill>
                <a:effectLst/>
                <a:latin typeface="urw-din"/>
              </a:rPr>
              <a:t>:</a:t>
            </a:r>
            <a:r>
              <a:rPr lang="en-US" sz="1400" b="0" i="0" dirty="0" smtClean="0">
                <a:solidFill>
                  <a:srgbClr val="273239"/>
                </a:solidFill>
                <a:effectLst/>
                <a:latin typeface="urw-din"/>
              </a:rPr>
              <a:t> </a:t>
            </a:r>
            <a:r>
              <a:rPr lang="en-US" sz="1400" b="0" i="0" dirty="0">
                <a:solidFill>
                  <a:srgbClr val="273239"/>
                </a:solidFill>
                <a:effectLst/>
                <a:latin typeface="urw-din"/>
              </a:rPr>
              <a:t>It is used to increase the efficiency of an interpreter. It compiles the entire bytecode and changes it to native code so whenever the interpreter sees repeated method calls, JIT provides direct native code for that part so re-interpretation is not required, thus efficiency is improved</a:t>
            </a:r>
            <a:r>
              <a:rPr lang="en-US" sz="1400" b="0" i="0" dirty="0" smtClean="0">
                <a:solidFill>
                  <a:srgbClr val="273239"/>
                </a:solidFill>
                <a:effectLst/>
                <a:latin typeface="urw-din"/>
              </a:rPr>
              <a:t>.</a:t>
            </a:r>
          </a:p>
          <a:p>
            <a:pPr algn="just" fontAlgn="base">
              <a:buFont typeface="Arial" panose="020B0604020202020204" pitchFamily="34" charset="0"/>
              <a:buChar char="•"/>
            </a:pPr>
            <a:endParaRPr lang="en-US" sz="1400" b="0" i="0" dirty="0">
              <a:solidFill>
                <a:srgbClr val="273239"/>
              </a:solidFill>
              <a:effectLst/>
              <a:latin typeface="urw-din"/>
            </a:endParaRPr>
          </a:p>
          <a:p>
            <a:pPr algn="just" fontAlgn="base">
              <a:buFont typeface="Arial" panose="020B0604020202020204" pitchFamily="34" charset="0"/>
              <a:buChar char="•"/>
            </a:pPr>
            <a:r>
              <a:rPr lang="en-US" sz="1400" b="1" i="1" dirty="0">
                <a:solidFill>
                  <a:srgbClr val="273239"/>
                </a:solidFill>
                <a:effectLst/>
                <a:latin typeface="urw-din"/>
              </a:rPr>
              <a:t>Garbage Collector</a:t>
            </a:r>
            <a:r>
              <a:rPr lang="en-US" sz="1400" b="1" i="0" dirty="0">
                <a:solidFill>
                  <a:srgbClr val="273239"/>
                </a:solidFill>
                <a:effectLst/>
                <a:latin typeface="urw-din"/>
              </a:rPr>
              <a:t>:</a:t>
            </a:r>
            <a:r>
              <a:rPr lang="en-US" sz="1400" b="0" i="0" dirty="0">
                <a:solidFill>
                  <a:srgbClr val="273239"/>
                </a:solidFill>
                <a:effectLst/>
                <a:latin typeface="urw-din"/>
              </a:rPr>
              <a:t> It destroys un-referenced objects</a:t>
            </a:r>
            <a:r>
              <a:rPr lang="en-US" sz="1400" b="0" i="0" dirty="0" smtClean="0">
                <a:solidFill>
                  <a:srgbClr val="273239"/>
                </a:solidFill>
                <a:effectLst/>
                <a:latin typeface="urw-din"/>
              </a:rPr>
              <a:t>.</a:t>
            </a:r>
            <a:endParaRPr lang="en-US" sz="1400" b="0" i="0" dirty="0">
              <a:solidFill>
                <a:srgbClr val="273239"/>
              </a:solidFill>
              <a:effectLst/>
              <a:latin typeface="urw-din"/>
            </a:endParaRPr>
          </a:p>
        </p:txBody>
      </p:sp>
      <p:sp>
        <p:nvSpPr>
          <p:cNvPr id="2" name="Footer Placeholder 1">
            <a:extLst>
              <a:ext uri="{FF2B5EF4-FFF2-40B4-BE49-F238E27FC236}">
                <a16:creationId xmlns:a16="http://schemas.microsoft.com/office/drawing/2014/main" xmlns="" id="{420C64EB-5142-0A60-688B-4515996130BF}"/>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301751028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3000" b="1" dirty="0">
                <a:solidFill>
                  <a:schemeClr val="tx1"/>
                </a:solidFill>
                <a:latin typeface="Calibri" pitchFamily="34" charset="0"/>
                <a:cs typeface="Calibri" pitchFamily="34" charset="0"/>
              </a:rPr>
              <a:t>What is JVM?</a:t>
            </a:r>
          </a:p>
        </p:txBody>
      </p:sp>
      <p:pic>
        <p:nvPicPr>
          <p:cNvPr id="6" name="Picture 6" descr="iarelogo.JPG"/>
          <p:cNvPicPr>
            <a:picLocks noChangeAspect="1"/>
          </p:cNvPicPr>
          <p:nvPr/>
        </p:nvPicPr>
        <p:blipFill>
          <a:blip r:embed="rId2" cstate="print"/>
          <a:srcRect/>
          <a:stretch>
            <a:fillRect/>
          </a:stretch>
        </p:blipFill>
        <p:spPr bwMode="auto">
          <a:xfrm>
            <a:off x="8305800" y="0"/>
            <a:ext cx="838200" cy="685800"/>
          </a:xfrm>
          <a:prstGeom prst="rect">
            <a:avLst/>
          </a:prstGeom>
          <a:noFill/>
          <a:ln w="9525">
            <a:noFill/>
            <a:miter lim="800000"/>
            <a:headEnd/>
            <a:tailEnd/>
          </a:ln>
        </p:spPr>
      </p:pic>
      <p:sp>
        <p:nvSpPr>
          <p:cNvPr id="7" name="TextBox 6">
            <a:extLst>
              <a:ext uri="{FF2B5EF4-FFF2-40B4-BE49-F238E27FC236}">
                <a16:creationId xmlns:a16="http://schemas.microsoft.com/office/drawing/2014/main" xmlns="" id="{AF151535-C1A9-34B2-A727-4E21E2DB2274}"/>
              </a:ext>
            </a:extLst>
          </p:cNvPr>
          <p:cNvSpPr txBox="1"/>
          <p:nvPr/>
        </p:nvSpPr>
        <p:spPr>
          <a:xfrm>
            <a:off x="198120" y="895350"/>
            <a:ext cx="8641080" cy="1815882"/>
          </a:xfrm>
          <a:prstGeom prst="rect">
            <a:avLst/>
          </a:prstGeom>
          <a:noFill/>
        </p:spPr>
        <p:txBody>
          <a:bodyPr wrap="square">
            <a:spAutoFit/>
          </a:bodyPr>
          <a:lstStyle/>
          <a:p>
            <a:pPr algn="just" fontAlgn="base"/>
            <a:r>
              <a:rPr lang="en-US" sz="1600" b="1" i="0" dirty="0">
                <a:solidFill>
                  <a:srgbClr val="273239"/>
                </a:solidFill>
                <a:effectLst/>
                <a:latin typeface="urw-din"/>
              </a:rPr>
              <a:t>Java Native Interface (JNI) : </a:t>
            </a:r>
            <a:endParaRPr lang="en-US" sz="1600" b="0" i="0" dirty="0">
              <a:solidFill>
                <a:srgbClr val="273239"/>
              </a:solidFill>
              <a:effectLst/>
              <a:latin typeface="urw-din"/>
            </a:endParaRPr>
          </a:p>
          <a:p>
            <a:pPr algn="just" fontAlgn="base"/>
            <a:r>
              <a:rPr lang="en-US" sz="1600" b="0" i="0" dirty="0">
                <a:solidFill>
                  <a:srgbClr val="273239"/>
                </a:solidFill>
                <a:effectLst/>
                <a:latin typeface="urw-din"/>
              </a:rPr>
              <a:t>It is an interface that interacts with the Native Method Libraries and provides the native libraries(C, C++) required for the execution. It enables JVM to call C/C++ libraries and to be called by C/C++ libraries which may be specific to hardware</a:t>
            </a:r>
            <a:r>
              <a:rPr lang="en-US" sz="1600" b="0" i="0" dirty="0" smtClean="0">
                <a:solidFill>
                  <a:srgbClr val="273239"/>
                </a:solidFill>
                <a:effectLst/>
                <a:latin typeface="urw-din"/>
              </a:rPr>
              <a:t>.</a:t>
            </a:r>
          </a:p>
          <a:p>
            <a:pPr algn="just" fontAlgn="base"/>
            <a:endParaRPr lang="en-US" sz="1600" b="0" i="0" dirty="0">
              <a:solidFill>
                <a:srgbClr val="273239"/>
              </a:solidFill>
              <a:effectLst/>
              <a:latin typeface="urw-din"/>
            </a:endParaRPr>
          </a:p>
          <a:p>
            <a:pPr algn="just" fontAlgn="base"/>
            <a:r>
              <a:rPr lang="en-US" sz="1600" b="1" i="0" dirty="0">
                <a:solidFill>
                  <a:srgbClr val="273239"/>
                </a:solidFill>
                <a:effectLst/>
                <a:latin typeface="urw-din"/>
              </a:rPr>
              <a:t>Native Method Libraries : </a:t>
            </a:r>
            <a:endParaRPr lang="en-US" sz="1600" b="0" i="0" dirty="0">
              <a:solidFill>
                <a:srgbClr val="273239"/>
              </a:solidFill>
              <a:effectLst/>
              <a:latin typeface="urw-din"/>
            </a:endParaRPr>
          </a:p>
          <a:p>
            <a:pPr algn="just" fontAlgn="base"/>
            <a:r>
              <a:rPr lang="en-US" sz="1600" b="0" i="0" dirty="0">
                <a:solidFill>
                  <a:srgbClr val="273239"/>
                </a:solidFill>
                <a:effectLst/>
                <a:latin typeface="urw-din"/>
              </a:rPr>
              <a:t>It is a collection of the Native Libraries(C, C++) which are required by the Execution Engine.</a:t>
            </a:r>
          </a:p>
        </p:txBody>
      </p:sp>
      <p:sp>
        <p:nvSpPr>
          <p:cNvPr id="2" name="Footer Placeholder 1">
            <a:extLst>
              <a:ext uri="{FF2B5EF4-FFF2-40B4-BE49-F238E27FC236}">
                <a16:creationId xmlns:a16="http://schemas.microsoft.com/office/drawing/2014/main" xmlns="" id="{29179B05-22A9-231D-8F71-47F7D9B0E184}"/>
              </a:ext>
            </a:extLst>
          </p:cNvPr>
          <p:cNvSpPr>
            <a:spLocks noGrp="1"/>
          </p:cNvSpPr>
          <p:nvPr>
            <p:ph type="ftr" sz="quarter" idx="11"/>
          </p:nvPr>
        </p:nvSpPr>
        <p:spPr/>
        <p:txBody>
          <a:bodyPr/>
          <a:lstStyle/>
          <a:p>
            <a:pPr>
              <a:defRPr/>
            </a:pPr>
            <a:r>
              <a:rPr lang="en-US"/>
              <a:t>Suryanarayana</a:t>
            </a:r>
          </a:p>
        </p:txBody>
      </p:sp>
    </p:spTree>
    <p:extLst>
      <p:ext uri="{BB962C8B-B14F-4D97-AF65-F5344CB8AC3E}">
        <p14:creationId xmlns:p14="http://schemas.microsoft.com/office/powerpoint/2010/main" val="2726261045"/>
      </p:ext>
    </p:extLst>
  </p:cSld>
  <p:clrMapOvr>
    <a:masterClrMapping/>
  </p:clrMapOvr>
  <p:transition/>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782</TotalTime>
  <Words>1860</Words>
  <Application>Microsoft Office PowerPoint</Application>
  <PresentationFormat>On-screen Show (16:9)</PresentationFormat>
  <Paragraphs>406</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Technic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dell1</cp:lastModifiedBy>
  <cp:revision>56</cp:revision>
  <dcterms:created xsi:type="dcterms:W3CDTF">2020-03-26T10:04:51Z</dcterms:created>
  <dcterms:modified xsi:type="dcterms:W3CDTF">2024-09-07T14:16:35Z</dcterms:modified>
</cp:coreProperties>
</file>