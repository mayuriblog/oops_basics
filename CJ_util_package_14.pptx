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8" r:id="rId3"/>
    <p:sldId id="312" r:id="rId4"/>
    <p:sldId id="311" r:id="rId5"/>
    <p:sldId id="313" r:id="rId6"/>
    <p:sldId id="259"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28" r:id="rId22"/>
    <p:sldId id="329" r:id="rId23"/>
    <p:sldId id="330" r:id="rId24"/>
    <p:sldId id="364" r:id="rId25"/>
    <p:sldId id="331" r:id="rId26"/>
    <p:sldId id="332" r:id="rId27"/>
    <p:sldId id="333" r:id="rId28"/>
    <p:sldId id="334" r:id="rId29"/>
    <p:sldId id="335" r:id="rId30"/>
    <p:sldId id="336" r:id="rId31"/>
    <p:sldId id="337" r:id="rId32"/>
    <p:sldId id="338" r:id="rId33"/>
    <p:sldId id="339" r:id="rId34"/>
    <p:sldId id="340"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354" r:id="rId49"/>
    <p:sldId id="355" r:id="rId50"/>
    <p:sldId id="356" r:id="rId51"/>
    <p:sldId id="357" r:id="rId52"/>
    <p:sldId id="358" r:id="rId53"/>
    <p:sldId id="359" r:id="rId54"/>
    <p:sldId id="360" r:id="rId55"/>
    <p:sldId id="361" r:id="rId56"/>
    <p:sldId id="362" r:id="rId57"/>
    <p:sldId id="363" r:id="rId58"/>
    <p:sldId id="365" r:id="rId59"/>
    <p:sldId id="366" r:id="rId60"/>
    <p:sldId id="367" r:id="rId61"/>
    <p:sldId id="368" r:id="rId62"/>
    <p:sldId id="36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DF8D377-4646-47CA-AEF9-422AFC4756E5}">
          <p14:sldIdLst>
            <p14:sldId id="256"/>
            <p14:sldId id="258"/>
            <p14:sldId id="312"/>
            <p14:sldId id="311"/>
            <p14:sldId id="313"/>
            <p14:sldId id="259"/>
            <p14:sldId id="314"/>
            <p14:sldId id="315"/>
            <p14:sldId id="316"/>
            <p14:sldId id="317"/>
            <p14:sldId id="318"/>
            <p14:sldId id="319"/>
            <p14:sldId id="320"/>
            <p14:sldId id="321"/>
            <p14:sldId id="322"/>
            <p14:sldId id="323"/>
            <p14:sldId id="324"/>
            <p14:sldId id="325"/>
            <p14:sldId id="326"/>
            <p14:sldId id="327"/>
            <p14:sldId id="328"/>
            <p14:sldId id="329"/>
            <p14:sldId id="330"/>
            <p14:sldId id="364"/>
            <p14:sldId id="331"/>
            <p14:sldId id="332"/>
            <p14:sldId id="333"/>
            <p14:sldId id="334"/>
            <p14:sldId id="335"/>
            <p14:sldId id="336"/>
            <p14:sldId id="337"/>
            <p14:sldId id="338"/>
            <p14:sldId id="339"/>
            <p14:sldId id="340"/>
            <p14:sldId id="341"/>
            <p14:sldId id="342"/>
            <p14:sldId id="343"/>
            <p14:sldId id="344"/>
            <p14:sldId id="345"/>
            <p14:sldId id="346"/>
          </p14:sldIdLst>
        </p14:section>
        <p14:section name="Untitled Section" id="{7EB0E13B-BDB1-4537-B03F-B3D941A8176E}">
          <p14:sldIdLst>
            <p14:sldId id="347"/>
            <p14:sldId id="348"/>
            <p14:sldId id="349"/>
            <p14:sldId id="350"/>
            <p14:sldId id="351"/>
            <p14:sldId id="352"/>
            <p14:sldId id="353"/>
            <p14:sldId id="354"/>
            <p14:sldId id="355"/>
            <p14:sldId id="356"/>
            <p14:sldId id="357"/>
            <p14:sldId id="358"/>
            <p14:sldId id="359"/>
            <p14:sldId id="360"/>
            <p14:sldId id="361"/>
            <p14:sldId id="362"/>
            <p14:sldId id="363"/>
            <p14:sldId id="365"/>
            <p14:sldId id="366"/>
            <p14:sldId id="367"/>
            <p14:sldId id="368"/>
            <p14:sldId id="369"/>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a:srgbClr val="0000FF"/>
    <a:srgbClr val="003F66"/>
    <a:srgbClr val="3399FF"/>
    <a:srgbClr val="FF9933"/>
    <a:srgbClr val="FF5050"/>
    <a:srgbClr val="F105D3"/>
    <a:srgbClr val="902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5T10:10:16.253"/>
    </inkml:context>
    <inkml:brush xml:id="br0">
      <inkml:brushProperty name="width" value="0.05" units="cm"/>
      <inkml:brushProperty name="height" value="0.05" units="cm"/>
    </inkml:brush>
  </inkml:definitions>
  <inkml:trace contextRef="#ctx0" brushRef="#br0">676 0 24575,'0'3'0,"0"0"0,-1 0 0,1-1 0,-1 1 0,1-1 0,-1 1 0,0 0 0,0-1 0,0 1 0,-1-1 0,1 0 0,-1 1 0,1-1 0,-1 0 0,0 0 0,-2 3 0,-2 0 0,1-1 0,-1 1 0,0-1 0,0 0 0,-1-1 0,-7 4 0,-4 0 0,0-1 0,-1 0 0,-36 5 0,29-8 0,2 0 0,-1 2 0,0 0 0,1 2 0,0 1 0,0 1 0,-36 19 0,40-17 0,1 1 0,0 1 0,0 1 0,2 0 0,0 1 0,0 1 0,1 1 0,1 0 0,1 1 0,-20 34 0,24-33 0,2 0 0,0 1 0,1 0 0,1 0 0,0 0 0,2 1 0,1 0 0,0 0 0,2 0 0,1 39 0,0-27 0,0 0 0,1-1 0,2 1 0,7 33 0,-7-54 0,0 0 0,1-1 0,0 1 0,1-1 0,1-1 0,0 1 0,0-1 0,1 0 0,0 0 0,0 0 0,18 15 0,-1-5 0,1-1 0,1-1 0,39 20 0,1 1 0,-24-11-273,2-2 0,0-2 0,2-2 0,78 27 0,-91-40-6553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5T10:10:28.165"/>
    </inkml:context>
    <inkml:brush xml:id="br0">
      <inkml:brushProperty name="width" value="0.05" units="cm"/>
      <inkml:brushProperty name="height" value="0.05" units="cm"/>
    </inkml:brush>
  </inkml:definitions>
  <inkml:trace contextRef="#ctx0" brushRef="#br0">682 1 24575,'-12'9'0,"-1"-1"0,-1 0 0,1 0 0,-1-2 0,0 1 0,-27 6 0,39-12 0,-115 35 0,55-18 0,-100 43 0,144-53 0,1 1 0,0 0 0,1 2 0,0 0 0,1 1 0,0 0 0,1 1 0,1 1 0,0 0 0,-13 18 0,20-22 0,1 1 0,0-1 0,1 1 0,0-1 0,0 1 0,1 0 0,1 1 0,0-1 0,0 0 0,2 1 0,-1 12 0,1-5 0,1 0 0,1 0 0,1 1 0,0-2 0,12 36 0,-10-43 0,0 0 0,0-1 0,1 1 0,1-1 0,0 0 0,0 0 0,1-1 0,0 0 0,11 9 0,13 9 0,48 30 0,-47-35 0,39 35 0,-52-41 0,1-1 0,0-1 0,1-1 0,36 16 0,15 9 0,-38-20 0,1-1 0,1-1 0,48 13 0,-80-28 0,0 1 0,0 0 0,-1 0 0,1 0 0,-1 0 0,0 1 0,6 4 0,-9-7 0,-1 1 0,1-1 0,-1 1 0,1-1 0,-1 1 0,1-1 0,-1 1 0,0-1 0,1 1 0,-1 0 0,0-1 0,0 1 0,1 0 0,-1-1 0,0 1 0,0 0 0,0-1 0,0 1 0,0 0 0,0-1 0,0 1 0,0 1 0,0-1 0,-1 0 0,0 1 0,1-1 0,-1 0 0,0 0 0,0 0 0,0 0 0,0 1 0,0-1 0,0-1 0,0 1 0,0 0 0,0 0 0,-1 0 0,-1 1 0,-81 53 0,57-35 0,-1-2 0,-1-1 0,0-1 0,-44 17 0,57-27 0,1 0 0,0 2 0,0 0 0,1 0 0,0 2 0,-21 17 0,-70 75 0,102-99 0,-4 5 0,1 0 0,0 1 0,0 0 0,0 0 0,1 1 0,0 0 0,1-1 0,1 2 0,-1-1 0,1 0 0,1 1 0,-2 15 0,1 12 0,1 0 0,5 46 0,-1-35 0,-1-33 0,1 0 0,1 0 0,0-1 0,1 0 0,1 0 0,0 0 0,1 0 0,1-1 0,0 1 0,1-2 0,17 24 0,3-1 0,2-2 0,63 56 0,-69-71 0,1-2 0,1 0 0,0-2 0,53 22 0,-28-20-1365,-33-13-5461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5T10:10:32.056"/>
    </inkml:context>
    <inkml:brush xml:id="br0">
      <inkml:brushProperty name="width" value="0.05" units="cm"/>
      <inkml:brushProperty name="height" value="0.0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5T10:11:45.270"/>
    </inkml:context>
    <inkml:brush xml:id="br0">
      <inkml:brushProperty name="width" value="0.05" units="cm"/>
      <inkml:brushProperty name="height" value="0.05" units="cm"/>
    </inkml:brush>
  </inkml:definitions>
  <inkml:trace contextRef="#ctx0" brushRef="#br0">792 0 24575,'-11'3'0,"1"0"0,-1 0 0,1 1 0,0 0 0,0 1 0,0 0 0,1 1 0,-1 0 0,-15 14 0,-5 0 0,-53 32 0,-163 109 0,213-136 0,0 2 0,2 1 0,1 1 0,-48 60 0,65-71 0,0 0 0,1 2 0,1-1 0,1 1 0,1 1 0,1 0 0,1 0 0,0 0 0,2 1 0,-5 38 0,9-56 0,-2 26 0,1 0 0,1 0 0,2 0 0,5 33 0,-6-56 0,2 0 0,-1 0 0,1 0 0,0 0 0,1 0 0,0 0 0,0-1 0,0 1 0,1-1 0,0 0 0,0 0 0,0 0 0,1-1 0,0 0 0,0 1 0,0-2 0,1 1 0,-1-1 0,1 1 0,0-2 0,1 1 0,11 5 0,1-3 0,0-1 0,0 0 0,0-2 0,1 0 0,36 0 0,105-10 0,-48 0 0,-38 7 0,-35 1 0,-1-2 0,0-2 0,55-10 0,-54 5-682,50-3-1,-48 8-6143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5T10:17:23.324"/>
    </inkml:context>
    <inkml:brush xml:id="br0">
      <inkml:brushProperty name="width" value="0.05" units="cm"/>
      <inkml:brushProperty name="height" value="0.0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2C81D-0134-463C-81F6-9103844FD55B}" type="datetimeFigureOut">
              <a:rPr lang="en-IN" smtClean="0"/>
              <a:t>03-03-2024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9AEE5F-A3A6-46EB-B5F8-42CFA637CCBB}" type="slidenum">
              <a:rPr lang="en-IN" smtClean="0"/>
              <a:t>‹#›</a:t>
            </a:fld>
            <a:endParaRPr lang="en-IN"/>
          </a:p>
        </p:txBody>
      </p:sp>
    </p:spTree>
    <p:extLst>
      <p:ext uri="{BB962C8B-B14F-4D97-AF65-F5344CB8AC3E}">
        <p14:creationId xmlns:p14="http://schemas.microsoft.com/office/powerpoint/2010/main" val="1226546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7D53D4-ADD2-48AC-8994-14A51F0D2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70537EA9-7966-48DB-8A37-F2A824B840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865E772E-FB9A-427D-A4FB-DDA4C7000266}"/>
              </a:ext>
            </a:extLst>
          </p:cNvPr>
          <p:cNvSpPr>
            <a:spLocks noGrp="1"/>
          </p:cNvSpPr>
          <p:nvPr>
            <p:ph type="dt" sz="half" idx="10"/>
          </p:nvPr>
        </p:nvSpPr>
        <p:spPr/>
        <p:txBody>
          <a:bodyPr/>
          <a:lstStyle/>
          <a:p>
            <a:fld id="{5622446C-2653-4C74-B814-E4766B4D819D}" type="datetime1">
              <a:rPr lang="en-US" smtClean="0"/>
              <a:t>3/3/2024</a:t>
            </a:fld>
            <a:endParaRPr lang="en-US"/>
          </a:p>
        </p:txBody>
      </p:sp>
      <p:sp>
        <p:nvSpPr>
          <p:cNvPr id="5" name="Footer Placeholder 4">
            <a:extLst>
              <a:ext uri="{FF2B5EF4-FFF2-40B4-BE49-F238E27FC236}">
                <a16:creationId xmlns:a16="http://schemas.microsoft.com/office/drawing/2014/main" xmlns="" id="{F37A32E3-D1D5-46C6-AB63-9F796F5BEC05}"/>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756DE672-2E16-4C2D-BE2B-5E484F17256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274145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69C132-9C22-4029-B989-13CBB40B5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929E3EE7-F4CB-4065-A44E-0318879BB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3DB2CBC-33D2-4A33-B187-2CD7DA66C582}"/>
              </a:ext>
            </a:extLst>
          </p:cNvPr>
          <p:cNvSpPr>
            <a:spLocks noGrp="1"/>
          </p:cNvSpPr>
          <p:nvPr>
            <p:ph type="dt" sz="half" idx="10"/>
          </p:nvPr>
        </p:nvSpPr>
        <p:spPr/>
        <p:txBody>
          <a:bodyPr/>
          <a:lstStyle/>
          <a:p>
            <a:fld id="{7A11DE54-F030-45B4-8F58-76D0EE1447F9}" type="datetime1">
              <a:rPr lang="en-US" smtClean="0"/>
              <a:t>3/3/2024</a:t>
            </a:fld>
            <a:endParaRPr lang="en-US"/>
          </a:p>
        </p:txBody>
      </p:sp>
      <p:sp>
        <p:nvSpPr>
          <p:cNvPr id="5" name="Footer Placeholder 4">
            <a:extLst>
              <a:ext uri="{FF2B5EF4-FFF2-40B4-BE49-F238E27FC236}">
                <a16:creationId xmlns:a16="http://schemas.microsoft.com/office/drawing/2014/main" xmlns="" id="{D98BBEDA-6CC0-4558-9D29-AB6DD426BB7A}"/>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7CAA790F-764D-42B5-A732-7C09D26BA16F}"/>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04894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D30C65-FF2A-4010-8C73-BB6E5013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724171B-58EF-43B4-84A8-E189462C4D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D6566F5-22D5-459C-990D-7013F4D89A32}"/>
              </a:ext>
            </a:extLst>
          </p:cNvPr>
          <p:cNvSpPr>
            <a:spLocks noGrp="1"/>
          </p:cNvSpPr>
          <p:nvPr>
            <p:ph type="dt" sz="half" idx="10"/>
          </p:nvPr>
        </p:nvSpPr>
        <p:spPr/>
        <p:txBody>
          <a:bodyPr/>
          <a:lstStyle/>
          <a:p>
            <a:fld id="{02A890C2-4B28-4083-B1E3-3B67E8427017}" type="datetime1">
              <a:rPr lang="en-US" smtClean="0"/>
              <a:t>3/3/2024</a:t>
            </a:fld>
            <a:endParaRPr lang="en-US"/>
          </a:p>
        </p:txBody>
      </p:sp>
      <p:sp>
        <p:nvSpPr>
          <p:cNvPr id="5" name="Footer Placeholder 4">
            <a:extLst>
              <a:ext uri="{FF2B5EF4-FFF2-40B4-BE49-F238E27FC236}">
                <a16:creationId xmlns:a16="http://schemas.microsoft.com/office/drawing/2014/main" xmlns="" id="{D96CC63D-E273-4AAA-95C9-E401177BF957}"/>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DDBCFC71-6835-40D7-B028-B3CB4223C1F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67427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AD4678-1CB9-4E61-9A69-472A205AB7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2D61F08-F7B7-408E-BEDD-156B3EB71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202C45BB-AABE-4D19-813B-EC4B59505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849E3F09-087B-4D93-9258-8AF6657B21C4}"/>
              </a:ext>
            </a:extLst>
          </p:cNvPr>
          <p:cNvSpPr>
            <a:spLocks noGrp="1"/>
          </p:cNvSpPr>
          <p:nvPr>
            <p:ph type="dt" sz="half" idx="10"/>
          </p:nvPr>
        </p:nvSpPr>
        <p:spPr/>
        <p:txBody>
          <a:bodyPr/>
          <a:lstStyle/>
          <a:p>
            <a:fld id="{38C1A919-159E-4CF5-99FA-24135B8A5191}" type="datetime1">
              <a:rPr lang="en-US" smtClean="0"/>
              <a:t>3/3/2024</a:t>
            </a:fld>
            <a:endParaRPr lang="en-US"/>
          </a:p>
        </p:txBody>
      </p:sp>
      <p:sp>
        <p:nvSpPr>
          <p:cNvPr id="6" name="Footer Placeholder 5">
            <a:extLst>
              <a:ext uri="{FF2B5EF4-FFF2-40B4-BE49-F238E27FC236}">
                <a16:creationId xmlns:a16="http://schemas.microsoft.com/office/drawing/2014/main" xmlns="" id="{60944505-AD8E-4AAE-91A7-1E3E3739CD3F}"/>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9E6EA56F-3ACC-4F18-9178-D44D8FC27BB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93709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E4EF0-CA05-417F-B465-4F0A092954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9F4F7286-079E-4D01-9619-DC462E59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719288F-0A0B-483F-BB13-3EDE5C3DA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672A0B30-266B-488F-B6CB-4AD30D85DF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3F90638-24C7-42C8-8931-B2B348493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9C666EBA-30E0-4DF0-96BE-62BE6AB519DD}"/>
              </a:ext>
            </a:extLst>
          </p:cNvPr>
          <p:cNvSpPr>
            <a:spLocks noGrp="1"/>
          </p:cNvSpPr>
          <p:nvPr>
            <p:ph type="dt" sz="half" idx="10"/>
          </p:nvPr>
        </p:nvSpPr>
        <p:spPr/>
        <p:txBody>
          <a:bodyPr/>
          <a:lstStyle/>
          <a:p>
            <a:fld id="{C9646825-8D92-4529-B19D-508D98A56857}" type="datetime1">
              <a:rPr lang="en-US" smtClean="0"/>
              <a:t>3/3/2024</a:t>
            </a:fld>
            <a:endParaRPr lang="en-US"/>
          </a:p>
        </p:txBody>
      </p:sp>
      <p:sp>
        <p:nvSpPr>
          <p:cNvPr id="8" name="Footer Placeholder 7">
            <a:extLst>
              <a:ext uri="{FF2B5EF4-FFF2-40B4-BE49-F238E27FC236}">
                <a16:creationId xmlns:a16="http://schemas.microsoft.com/office/drawing/2014/main" xmlns="" id="{93E8E635-E195-41C7-81C8-D3344936196F}"/>
              </a:ext>
            </a:extLst>
          </p:cNvPr>
          <p:cNvSpPr>
            <a:spLocks noGrp="1"/>
          </p:cNvSpPr>
          <p:nvPr>
            <p:ph type="ftr" sz="quarter" idx="11"/>
          </p:nvPr>
        </p:nvSpPr>
        <p:spPr/>
        <p:txBody>
          <a:bodyPr/>
          <a:lstStyle/>
          <a:p>
            <a:r>
              <a:rPr lang="en-US"/>
              <a:t>Suryanarayana</a:t>
            </a:r>
          </a:p>
        </p:txBody>
      </p:sp>
      <p:sp>
        <p:nvSpPr>
          <p:cNvPr id="9" name="Slide Number Placeholder 8">
            <a:extLst>
              <a:ext uri="{FF2B5EF4-FFF2-40B4-BE49-F238E27FC236}">
                <a16:creationId xmlns:a16="http://schemas.microsoft.com/office/drawing/2014/main" xmlns="" id="{F9780DF9-B1D9-49B8-81AF-4B716B67A25C}"/>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47652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9DFEEF-8D2B-4F54-B662-31AEFD3DB8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C1297C29-F3EE-4250-9919-93948D0BEEB6}"/>
              </a:ext>
            </a:extLst>
          </p:cNvPr>
          <p:cNvSpPr>
            <a:spLocks noGrp="1"/>
          </p:cNvSpPr>
          <p:nvPr>
            <p:ph type="dt" sz="half" idx="10"/>
          </p:nvPr>
        </p:nvSpPr>
        <p:spPr/>
        <p:txBody>
          <a:bodyPr/>
          <a:lstStyle/>
          <a:p>
            <a:fld id="{3799EE93-B251-49B8-B8E9-E74FDD497A50}" type="datetime1">
              <a:rPr lang="en-US" smtClean="0"/>
              <a:t>3/3/2024</a:t>
            </a:fld>
            <a:endParaRPr lang="en-US"/>
          </a:p>
        </p:txBody>
      </p:sp>
      <p:sp>
        <p:nvSpPr>
          <p:cNvPr id="4" name="Footer Placeholder 3">
            <a:extLst>
              <a:ext uri="{FF2B5EF4-FFF2-40B4-BE49-F238E27FC236}">
                <a16:creationId xmlns:a16="http://schemas.microsoft.com/office/drawing/2014/main" xmlns="" id="{34AADB8D-7767-4295-999A-A9CDFEC2CE05}"/>
              </a:ext>
            </a:extLst>
          </p:cNvPr>
          <p:cNvSpPr>
            <a:spLocks noGrp="1"/>
          </p:cNvSpPr>
          <p:nvPr>
            <p:ph type="ftr" sz="quarter" idx="11"/>
          </p:nvPr>
        </p:nvSpPr>
        <p:spPr/>
        <p:txBody>
          <a:bodyPr/>
          <a:lstStyle/>
          <a:p>
            <a:r>
              <a:rPr lang="en-US"/>
              <a:t>Suryanarayana</a:t>
            </a:r>
          </a:p>
        </p:txBody>
      </p:sp>
      <p:sp>
        <p:nvSpPr>
          <p:cNvPr id="5" name="Slide Number Placeholder 4">
            <a:extLst>
              <a:ext uri="{FF2B5EF4-FFF2-40B4-BE49-F238E27FC236}">
                <a16:creationId xmlns:a16="http://schemas.microsoft.com/office/drawing/2014/main" xmlns="" id="{A0748590-559B-4E6B-AF48-236BD7F81832}"/>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2155143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9AAAFAD-BAB5-47A0-9962-AC707DCEEC4C}"/>
              </a:ext>
            </a:extLst>
          </p:cNvPr>
          <p:cNvSpPr>
            <a:spLocks noGrp="1"/>
          </p:cNvSpPr>
          <p:nvPr>
            <p:ph type="dt" sz="half" idx="10"/>
          </p:nvPr>
        </p:nvSpPr>
        <p:spPr/>
        <p:txBody>
          <a:bodyPr/>
          <a:lstStyle/>
          <a:p>
            <a:fld id="{AAEAC4A8-878F-4F10-968E-627E569CC7E3}" type="datetime1">
              <a:rPr lang="en-US" smtClean="0"/>
              <a:t>3/3/2024</a:t>
            </a:fld>
            <a:endParaRPr lang="en-US"/>
          </a:p>
        </p:txBody>
      </p:sp>
      <p:sp>
        <p:nvSpPr>
          <p:cNvPr id="3" name="Footer Placeholder 2">
            <a:extLst>
              <a:ext uri="{FF2B5EF4-FFF2-40B4-BE49-F238E27FC236}">
                <a16:creationId xmlns:a16="http://schemas.microsoft.com/office/drawing/2014/main" xmlns="" id="{BE7E0FD4-2958-49A6-9B7B-5BCE813DA778}"/>
              </a:ext>
            </a:extLst>
          </p:cNvPr>
          <p:cNvSpPr>
            <a:spLocks noGrp="1"/>
          </p:cNvSpPr>
          <p:nvPr>
            <p:ph type="ftr" sz="quarter" idx="11"/>
          </p:nvPr>
        </p:nvSpPr>
        <p:spPr/>
        <p:txBody>
          <a:bodyPr/>
          <a:lstStyle/>
          <a:p>
            <a:r>
              <a:rPr lang="en-US"/>
              <a:t>Suryanarayana</a:t>
            </a:r>
          </a:p>
        </p:txBody>
      </p:sp>
      <p:sp>
        <p:nvSpPr>
          <p:cNvPr id="4" name="Slide Number Placeholder 3">
            <a:extLst>
              <a:ext uri="{FF2B5EF4-FFF2-40B4-BE49-F238E27FC236}">
                <a16:creationId xmlns:a16="http://schemas.microsoft.com/office/drawing/2014/main" xmlns="" id="{D47CCC7F-90C7-40A3-A729-679A94EC8C3E}"/>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2796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A927E8-8760-4B04-BDEF-1AC275A52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D112E94A-ABB1-48E4-A3B6-4DA4142EC1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1BF4EB3F-9F7E-4886-B5A3-9143917E74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D7C9E36-A297-4BF1-AC4B-B05E7A56454F}"/>
              </a:ext>
            </a:extLst>
          </p:cNvPr>
          <p:cNvSpPr>
            <a:spLocks noGrp="1"/>
          </p:cNvSpPr>
          <p:nvPr>
            <p:ph type="dt" sz="half" idx="10"/>
          </p:nvPr>
        </p:nvSpPr>
        <p:spPr/>
        <p:txBody>
          <a:bodyPr/>
          <a:lstStyle/>
          <a:p>
            <a:fld id="{E5B73572-5EC5-4F0F-B3D6-987DE15B2A69}" type="datetime1">
              <a:rPr lang="en-US" smtClean="0"/>
              <a:t>3/3/2024</a:t>
            </a:fld>
            <a:endParaRPr lang="en-US"/>
          </a:p>
        </p:txBody>
      </p:sp>
      <p:sp>
        <p:nvSpPr>
          <p:cNvPr id="6" name="Footer Placeholder 5">
            <a:extLst>
              <a:ext uri="{FF2B5EF4-FFF2-40B4-BE49-F238E27FC236}">
                <a16:creationId xmlns:a16="http://schemas.microsoft.com/office/drawing/2014/main" xmlns="" id="{3C0882DF-10C8-41FD-B12B-C4E3CD891900}"/>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3A6D6DCD-5CAB-493D-B90D-5FB3795C302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62865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8D295E-4A9D-40B5-962D-C4201C17D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68576C82-F6F1-4481-84C6-40A1DE0A0A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E08E40E7-4BEF-4AE8-A81B-8308860BF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DED0C40-7C93-47EE-B801-F4B254FD1134}"/>
              </a:ext>
            </a:extLst>
          </p:cNvPr>
          <p:cNvSpPr>
            <a:spLocks noGrp="1"/>
          </p:cNvSpPr>
          <p:nvPr>
            <p:ph type="dt" sz="half" idx="10"/>
          </p:nvPr>
        </p:nvSpPr>
        <p:spPr/>
        <p:txBody>
          <a:bodyPr/>
          <a:lstStyle/>
          <a:p>
            <a:fld id="{5503FFC8-6773-4CC2-A415-FF2278E783E9}" type="datetime1">
              <a:rPr lang="en-US" smtClean="0"/>
              <a:t>3/3/2024</a:t>
            </a:fld>
            <a:endParaRPr lang="en-US"/>
          </a:p>
        </p:txBody>
      </p:sp>
      <p:sp>
        <p:nvSpPr>
          <p:cNvPr id="6" name="Footer Placeholder 5">
            <a:extLst>
              <a:ext uri="{FF2B5EF4-FFF2-40B4-BE49-F238E27FC236}">
                <a16:creationId xmlns:a16="http://schemas.microsoft.com/office/drawing/2014/main" xmlns="" id="{F08C15F7-71FB-46EE-9034-CEFA37850DE6}"/>
              </a:ext>
            </a:extLst>
          </p:cNvPr>
          <p:cNvSpPr>
            <a:spLocks noGrp="1"/>
          </p:cNvSpPr>
          <p:nvPr>
            <p:ph type="ftr" sz="quarter" idx="11"/>
          </p:nvPr>
        </p:nvSpPr>
        <p:spPr/>
        <p:txBody>
          <a:bodyPr/>
          <a:lstStyle/>
          <a:p>
            <a:r>
              <a:rPr lang="en-US"/>
              <a:t>Suryanarayana</a:t>
            </a:r>
          </a:p>
        </p:txBody>
      </p:sp>
      <p:sp>
        <p:nvSpPr>
          <p:cNvPr id="7" name="Slide Number Placeholder 6">
            <a:extLst>
              <a:ext uri="{FF2B5EF4-FFF2-40B4-BE49-F238E27FC236}">
                <a16:creationId xmlns:a16="http://schemas.microsoft.com/office/drawing/2014/main" xmlns="" id="{0A5B243A-27C1-407B-995C-C80EDDD36005}"/>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1060794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B3B020-63B9-4BF9-B46E-630CCA8D1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F7A50300-809F-4B1C-BF1F-2C1EF82E1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7BD4618-E7CC-4722-B3AA-20767EE3B7EC}"/>
              </a:ext>
            </a:extLst>
          </p:cNvPr>
          <p:cNvSpPr>
            <a:spLocks noGrp="1"/>
          </p:cNvSpPr>
          <p:nvPr>
            <p:ph type="dt" sz="half" idx="10"/>
          </p:nvPr>
        </p:nvSpPr>
        <p:spPr/>
        <p:txBody>
          <a:bodyPr/>
          <a:lstStyle/>
          <a:p>
            <a:fld id="{381F3957-A30B-4F5E-9D11-E66AB996FE4C}" type="datetime1">
              <a:rPr lang="en-US" smtClean="0"/>
              <a:t>3/3/2024</a:t>
            </a:fld>
            <a:endParaRPr lang="en-US"/>
          </a:p>
        </p:txBody>
      </p:sp>
      <p:sp>
        <p:nvSpPr>
          <p:cNvPr id="5" name="Footer Placeholder 4">
            <a:extLst>
              <a:ext uri="{FF2B5EF4-FFF2-40B4-BE49-F238E27FC236}">
                <a16:creationId xmlns:a16="http://schemas.microsoft.com/office/drawing/2014/main" xmlns="" id="{6EEC0B0F-962D-40AE-ABD3-0EA484E15F63}"/>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0740AE87-E966-4036-A783-F3B9616652AB}"/>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271180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03D95C4-7F0B-4781-8E51-FCBD7CF6CD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636C176-4EC6-451D-9FCF-4E0B4E7988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E842DD7-D7F2-4D2D-B342-780C9519A101}"/>
              </a:ext>
            </a:extLst>
          </p:cNvPr>
          <p:cNvSpPr>
            <a:spLocks noGrp="1"/>
          </p:cNvSpPr>
          <p:nvPr>
            <p:ph type="dt" sz="half" idx="10"/>
          </p:nvPr>
        </p:nvSpPr>
        <p:spPr/>
        <p:txBody>
          <a:bodyPr/>
          <a:lstStyle/>
          <a:p>
            <a:fld id="{59CD8B14-95A8-46B2-A3DA-37E5B553EEFB}" type="datetime1">
              <a:rPr lang="en-US" smtClean="0"/>
              <a:t>3/3/2024</a:t>
            </a:fld>
            <a:endParaRPr lang="en-US"/>
          </a:p>
        </p:txBody>
      </p:sp>
      <p:sp>
        <p:nvSpPr>
          <p:cNvPr id="5" name="Footer Placeholder 4">
            <a:extLst>
              <a:ext uri="{FF2B5EF4-FFF2-40B4-BE49-F238E27FC236}">
                <a16:creationId xmlns:a16="http://schemas.microsoft.com/office/drawing/2014/main" xmlns="" id="{FB1DD1C9-3310-40BF-A04F-E566FCA50C24}"/>
              </a:ext>
            </a:extLst>
          </p:cNvPr>
          <p:cNvSpPr>
            <a:spLocks noGrp="1"/>
          </p:cNvSpPr>
          <p:nvPr>
            <p:ph type="ftr" sz="quarter" idx="11"/>
          </p:nvPr>
        </p:nvSpPr>
        <p:spPr/>
        <p:txBody>
          <a:bodyPr/>
          <a:lstStyle/>
          <a:p>
            <a:r>
              <a:rPr lang="en-US"/>
              <a:t>Suryanarayana</a:t>
            </a:r>
          </a:p>
        </p:txBody>
      </p:sp>
      <p:sp>
        <p:nvSpPr>
          <p:cNvPr id="6" name="Slide Number Placeholder 5">
            <a:extLst>
              <a:ext uri="{FF2B5EF4-FFF2-40B4-BE49-F238E27FC236}">
                <a16:creationId xmlns:a16="http://schemas.microsoft.com/office/drawing/2014/main" xmlns="" id="{CD9A0831-D597-4CA4-AB0B-B9DDC151CB09}"/>
              </a:ext>
            </a:extLst>
          </p:cNvPr>
          <p:cNvSpPr>
            <a:spLocks noGrp="1"/>
          </p:cNvSpPr>
          <p:nvPr>
            <p:ph type="sldNum" sz="quarter" idx="12"/>
          </p:nvPr>
        </p:nvSpPr>
        <p:spPr/>
        <p:txBody>
          <a:bodyPr/>
          <a:lstStyle/>
          <a:p>
            <a:fld id="{589A21A4-CB3A-4A18-A46B-5DD19456934C}" type="slidenum">
              <a:rPr lang="en-US" smtClean="0"/>
              <a:t>‹#›</a:t>
            </a:fld>
            <a:endParaRPr lang="en-US"/>
          </a:p>
        </p:txBody>
      </p:sp>
    </p:spTree>
    <p:extLst>
      <p:ext uri="{BB962C8B-B14F-4D97-AF65-F5344CB8AC3E}">
        <p14:creationId xmlns:p14="http://schemas.microsoft.com/office/powerpoint/2010/main" val="3545315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3B9F031-B0EE-4257-8C48-672A5B27A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EACC5C53-8193-4B94-A5A2-9272C0FC2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A7540B0-D806-4E03-A997-E808A0A9A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07B977-79F5-4D28-A9BE-F373A1B8452F}" type="datetime1">
              <a:rPr lang="en-US" smtClean="0"/>
              <a:t>3/3/2024</a:t>
            </a:fld>
            <a:endParaRPr lang="en-US"/>
          </a:p>
        </p:txBody>
      </p:sp>
      <p:sp>
        <p:nvSpPr>
          <p:cNvPr id="5" name="Footer Placeholder 4">
            <a:extLst>
              <a:ext uri="{FF2B5EF4-FFF2-40B4-BE49-F238E27FC236}">
                <a16:creationId xmlns:a16="http://schemas.microsoft.com/office/drawing/2014/main" xmlns="" id="{44CBE7AA-0209-485D-98A0-22386CF87E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Suryanarayana</a:t>
            </a:r>
          </a:p>
        </p:txBody>
      </p:sp>
      <p:sp>
        <p:nvSpPr>
          <p:cNvPr id="6" name="Slide Number Placeholder 5">
            <a:extLst>
              <a:ext uri="{FF2B5EF4-FFF2-40B4-BE49-F238E27FC236}">
                <a16:creationId xmlns:a16="http://schemas.microsoft.com/office/drawing/2014/main" xmlns="" id="{7362E21E-194A-44F2-8CEA-40483DA3B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A21A4-CB3A-4A18-A46B-5DD19456934C}" type="slidenum">
              <a:rPr lang="en-US" smtClean="0"/>
              <a:t>‹#›</a:t>
            </a:fld>
            <a:endParaRPr lang="en-US"/>
          </a:p>
        </p:txBody>
      </p:sp>
    </p:spTree>
    <p:extLst>
      <p:ext uri="{BB962C8B-B14F-4D97-AF65-F5344CB8AC3E}">
        <p14:creationId xmlns:p14="http://schemas.microsoft.com/office/powerpoint/2010/main" val="3934378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5.png"/><Relationship Id="rId4" Type="http://schemas.openxmlformats.org/officeDocument/2006/relationships/image" Target="../media/image20.png"/><Relationship Id="rId9" Type="http://schemas.openxmlformats.org/officeDocument/2006/relationships/customXml" Target="../ink/ink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err="1">
                    <a:solidFill>
                      <a:schemeClr val="bg1"/>
                    </a:solidFill>
                    <a:latin typeface="Bookman Old Style" panose="02050604050505020204" pitchFamily="18" charset="0"/>
                  </a:rPr>
                  <a:t>java.util</a:t>
                </a:r>
                <a:r>
                  <a:rPr lang="en-US" b="1" dirty="0">
                    <a:solidFill>
                      <a:schemeClr val="bg1"/>
                    </a:solidFill>
                    <a:latin typeface="Bookman Old Style" panose="02050604050505020204" pitchFamily="18" charset="0"/>
                  </a:rPr>
                  <a:t> package</a:t>
                </a:r>
              </a:p>
            </p:txBody>
          </p:sp>
        </p:grpSp>
        <p:sp>
          <p:nvSpPr>
            <p:cNvPr id="15" name="Flowchart: Multidocument 14">
              <a:extLst>
                <a:ext uri="{FF2B5EF4-FFF2-40B4-BE49-F238E27FC236}">
                  <a16:creationId xmlns:a16="http://schemas.microsoft.com/office/drawing/2014/main" xmlns=""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1716988" y="1407376"/>
            <a:ext cx="7370929" cy="2800767"/>
          </a:xfrm>
          <a:prstGeom prst="rect">
            <a:avLst/>
          </a:prstGeom>
          <a:noFill/>
        </p:spPr>
        <p:txBody>
          <a:bodyPr wrap="none" rtlCol="0">
            <a:spAutoFit/>
          </a:bodyPr>
          <a:lstStyle/>
          <a:p>
            <a:r>
              <a:rPr lang="en-US" sz="4400" b="1" dirty="0">
                <a:solidFill>
                  <a:srgbClr val="0000FF"/>
                </a:solidFill>
                <a:latin typeface="Arial" panose="020B0604020202020204" pitchFamily="34" charset="0"/>
                <a:cs typeface="Arial" panose="020B0604020202020204" pitchFamily="34" charset="0"/>
              </a:rPr>
              <a:t>java.util package contains:</a:t>
            </a:r>
          </a:p>
          <a:p>
            <a:pPr marL="571500" indent="-571500">
              <a:buFont typeface="Wingdings" panose="05000000000000000000" pitchFamily="2" charset="2"/>
              <a:buChar char="v"/>
            </a:pPr>
            <a:r>
              <a:rPr lang="en-US" sz="4400" b="1" dirty="0">
                <a:solidFill>
                  <a:srgbClr val="0000FF"/>
                </a:solidFill>
                <a:latin typeface="Arial" panose="020B0604020202020204" pitchFamily="34" charset="0"/>
                <a:cs typeface="Arial" panose="020B0604020202020204" pitchFamily="34" charset="0"/>
              </a:rPr>
              <a:t>Legacy classes</a:t>
            </a:r>
          </a:p>
          <a:p>
            <a:pPr marL="571500" indent="-571500">
              <a:buFont typeface="Wingdings" panose="05000000000000000000" pitchFamily="2" charset="2"/>
              <a:buChar char="v"/>
            </a:pPr>
            <a:r>
              <a:rPr lang="en-US" sz="4400" b="1" dirty="0">
                <a:solidFill>
                  <a:srgbClr val="0000FF"/>
                </a:solidFill>
                <a:latin typeface="Arial" panose="020B0604020202020204" pitchFamily="34" charset="0"/>
                <a:cs typeface="Arial" panose="020B0604020202020204" pitchFamily="34" charset="0"/>
              </a:rPr>
              <a:t>Collection classes</a:t>
            </a:r>
          </a:p>
          <a:p>
            <a:pPr marL="571500" indent="-571500">
              <a:buFont typeface="Wingdings" panose="05000000000000000000" pitchFamily="2" charset="2"/>
              <a:buChar char="v"/>
            </a:pPr>
            <a:r>
              <a:rPr lang="en-US" sz="4400" b="1" dirty="0">
                <a:solidFill>
                  <a:srgbClr val="0000FF"/>
                </a:solidFill>
                <a:latin typeface="Arial" panose="020B0604020202020204" pitchFamily="34" charset="0"/>
                <a:cs typeface="Arial" panose="020B0604020202020204" pitchFamily="34" charset="0"/>
              </a:rPr>
              <a:t>Miscellaneous classes</a:t>
            </a:r>
          </a:p>
        </p:txBody>
      </p:sp>
      <p:sp>
        <p:nvSpPr>
          <p:cNvPr id="7"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5343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3F04D6D2-566D-4C51-8EA8-203F63757A32}"/>
              </a:ext>
            </a:extLst>
          </p:cNvPr>
          <p:cNvSpPr/>
          <p:nvPr/>
        </p:nvSpPr>
        <p:spPr>
          <a:xfrm>
            <a:off x="424072" y="18727"/>
            <a:ext cx="11343858" cy="461665"/>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ctr"/>
            <a:r>
              <a:rPr lang="en-US" sz="2400" b="1" dirty="0">
                <a:solidFill>
                  <a:srgbClr val="0000FF"/>
                </a:solidFill>
                <a:latin typeface="Times New Roman" panose="02020603050405020304" pitchFamily="18" charset="0"/>
              </a:rPr>
              <a:t>java.util package</a:t>
            </a:r>
          </a:p>
        </p:txBody>
      </p:sp>
      <p:grpSp>
        <p:nvGrpSpPr>
          <p:cNvPr id="11" name="Group 10">
            <a:extLst>
              <a:ext uri="{FF2B5EF4-FFF2-40B4-BE49-F238E27FC236}">
                <a16:creationId xmlns:a16="http://schemas.microsoft.com/office/drawing/2014/main" xmlns="" id="{1099EF62-02B2-4132-A5FB-DF6F0A4B88D7}"/>
              </a:ext>
            </a:extLst>
          </p:cNvPr>
          <p:cNvGrpSpPr/>
          <p:nvPr/>
        </p:nvGrpSpPr>
        <p:grpSpPr>
          <a:xfrm>
            <a:off x="0" y="0"/>
            <a:ext cx="12192000" cy="6876727"/>
            <a:chOff x="0" y="0"/>
            <a:chExt cx="12192000" cy="6876727"/>
          </a:xfrm>
        </p:grpSpPr>
        <p:sp>
          <p:nvSpPr>
            <p:cNvPr id="2" name="Rectangle: Rounded Corners 1">
              <a:extLst>
                <a:ext uri="{FF2B5EF4-FFF2-40B4-BE49-F238E27FC236}">
                  <a16:creationId xmlns:a16="http://schemas.microsoft.com/office/drawing/2014/main" xmlns="" id="{1A389E54-CAB2-4D02-87CC-0E364919A23F}"/>
                </a:ext>
              </a:extLst>
            </p:cNvPr>
            <p:cNvSpPr/>
            <p:nvPr/>
          </p:nvSpPr>
          <p:spPr>
            <a:xfrm>
              <a:off x="0" y="480392"/>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4" name="Rectangle: Rounded Corners 3">
              <a:extLst>
                <a:ext uri="{FF2B5EF4-FFF2-40B4-BE49-F238E27FC236}">
                  <a16:creationId xmlns:a16="http://schemas.microsoft.com/office/drawing/2014/main" xmlns="" id="{5EF6FAF3-F8DC-464C-96F3-96CE200FFC06}"/>
                </a:ext>
              </a:extLst>
            </p:cNvPr>
            <p:cNvSpPr/>
            <p:nvPr/>
          </p:nvSpPr>
          <p:spPr>
            <a:xfrm>
              <a:off x="109333" y="18727"/>
              <a:ext cx="182924"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dirty="0">
                <a:solidFill>
                  <a:srgbClr val="FFFFFF"/>
                </a:solidFill>
              </a:endParaRPr>
            </a:p>
          </p:txBody>
        </p:sp>
        <p:sp>
          <p:nvSpPr>
            <p:cNvPr id="7" name="Rectangle 6">
              <a:extLst>
                <a:ext uri="{FF2B5EF4-FFF2-40B4-BE49-F238E27FC236}">
                  <a16:creationId xmlns:a16="http://schemas.microsoft.com/office/drawing/2014/main" xmlns="" id="{D27D3A81-17A9-49B4-9D83-ABE62F99B5F5}"/>
                </a:ext>
              </a:extLst>
            </p:cNvPr>
            <p:cNvSpPr/>
            <p:nvPr/>
          </p:nvSpPr>
          <p:spPr>
            <a:xfrm>
              <a:off x="9264316" y="3801979"/>
              <a:ext cx="2715648" cy="29657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8" name="Rectangle: Rounded Corners 7">
              <a:extLst>
                <a:ext uri="{FF2B5EF4-FFF2-40B4-BE49-F238E27FC236}">
                  <a16:creationId xmlns:a16="http://schemas.microsoft.com/office/drawing/2014/main" xmlns="" id="{BE8AF6E0-0662-494A-9C8F-D3B557536E59}"/>
                </a:ext>
              </a:extLst>
            </p:cNvPr>
            <p:cNvSpPr/>
            <p:nvPr/>
          </p:nvSpPr>
          <p:spPr>
            <a:xfrm>
              <a:off x="0" y="6584870"/>
              <a:ext cx="12192000" cy="188844"/>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sp>
          <p:nvSpPr>
            <p:cNvPr id="9" name="Rectangle: Rounded Corners 8">
              <a:extLst>
                <a:ext uri="{FF2B5EF4-FFF2-40B4-BE49-F238E27FC236}">
                  <a16:creationId xmlns:a16="http://schemas.microsoft.com/office/drawing/2014/main" xmlns="" id="{F446F034-E706-4647-B17D-6CE86EE4C330}"/>
                </a:ext>
              </a:extLst>
            </p:cNvPr>
            <p:cNvSpPr/>
            <p:nvPr/>
          </p:nvSpPr>
          <p:spPr>
            <a:xfrm>
              <a:off x="11877260" y="0"/>
              <a:ext cx="205409" cy="6858000"/>
            </a:xfrm>
            <a:prstGeom prst="roundRect">
              <a:avLst/>
            </a:prstGeom>
            <a:gradFill>
              <a:gsLst>
                <a:gs pos="0">
                  <a:srgbClr val="0CB100"/>
                </a:gs>
                <a:gs pos="46821">
                  <a:srgbClr val="67CE02"/>
                </a:gs>
                <a:gs pos="99075">
                  <a:srgbClr val="C3EA03"/>
                </a:gs>
              </a:gsLst>
            </a:gradFill>
            <a:ln w="12700">
              <a:miter lim="400000"/>
            </a:ln>
            <a:scene3d>
              <a:camera prst="orthographicFront"/>
              <a:lightRig rig="threePt" dir="t"/>
            </a:scene3d>
            <a:sp3d>
              <a:bevelT prst="slope"/>
            </a:sp3d>
          </p:spPr>
          <p:txBody>
            <a:bodyPr lIns="45719" rIns="45719" anchor="ctr"/>
            <a:lstStyle/>
            <a:p>
              <a:pPr algn="ctr"/>
              <a:endParaRPr lang="en-IN">
                <a:solidFill>
                  <a:srgbClr val="FFFFFF"/>
                </a:solidFill>
              </a:endParaRPr>
            </a:p>
          </p:txBody>
        </p:sp>
        <p:pic>
          <p:nvPicPr>
            <p:cNvPr id="10" name="Picture 9">
              <a:extLst>
                <a:ext uri="{FF2B5EF4-FFF2-40B4-BE49-F238E27FC236}">
                  <a16:creationId xmlns:a16="http://schemas.microsoft.com/office/drawing/2014/main" xmlns="" id="{B961A074-E68F-49BA-A38E-4E9581D34A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07194" y="0"/>
              <a:ext cx="752990" cy="824163"/>
            </a:xfrm>
            <a:prstGeom prst="roundRect">
              <a:avLst>
                <a:gd name="adj" fmla="val 2010"/>
              </a:avLst>
            </a:prstGeom>
            <a:ln>
              <a:solidFill>
                <a:srgbClr val="00B05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2" name="TextBox 11">
            <a:extLst>
              <a:ext uri="{FF2B5EF4-FFF2-40B4-BE49-F238E27FC236}">
                <a16:creationId xmlns:a16="http://schemas.microsoft.com/office/drawing/2014/main" xmlns="" id="{86816F5F-9652-4926-B0A3-4399ADF0FAD5}"/>
              </a:ext>
            </a:extLst>
          </p:cNvPr>
          <p:cNvSpPr txBox="1"/>
          <p:nvPr/>
        </p:nvSpPr>
        <p:spPr>
          <a:xfrm>
            <a:off x="462659" y="854858"/>
            <a:ext cx="8600658" cy="4401205"/>
          </a:xfrm>
          <a:prstGeom prst="rect">
            <a:avLst/>
          </a:prstGeom>
          <a:noFill/>
        </p:spPr>
        <p:txBody>
          <a:bodyPr wrap="square" rtlCol="0">
            <a:spAutoFit/>
          </a:bodyPr>
          <a:lstStyle/>
          <a:p>
            <a:pPr algn="just"/>
            <a:r>
              <a:rPr lang="en-US" sz="2000" b="1" dirty="0">
                <a:solidFill>
                  <a:srgbClr val="0000FF"/>
                </a:solidFill>
                <a:latin typeface="Arial" panose="020B0604020202020204" pitchFamily="34" charset="0"/>
                <a:cs typeface="Arial" panose="020B0604020202020204" pitchFamily="34" charset="0"/>
              </a:rPr>
              <a:t>If we want to declare 10 int variables:</a:t>
            </a:r>
          </a:p>
          <a:p>
            <a:pPr algn="just"/>
            <a:r>
              <a:rPr lang="en-US" sz="2000" dirty="0">
                <a:solidFill>
                  <a:srgbClr val="0000FF"/>
                </a:solidFill>
                <a:latin typeface="Arial" panose="020B0604020202020204" pitchFamily="34" charset="0"/>
                <a:cs typeface="Arial" panose="020B0604020202020204" pitchFamily="34" charset="0"/>
              </a:rPr>
              <a:t>int i1=1, i2=2, i3=3, i4=4, i5=5, i6=6, i7=7, i8=8, i9=9, i10=10;</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b="1" dirty="0">
                <a:solidFill>
                  <a:srgbClr val="0000FF"/>
                </a:solidFill>
                <a:latin typeface="Arial" panose="020B0604020202020204" pitchFamily="34" charset="0"/>
                <a:cs typeface="Arial" panose="020B0604020202020204" pitchFamily="34" charset="0"/>
              </a:rPr>
              <a:t>Instead we can array of int type:</a:t>
            </a:r>
          </a:p>
          <a:p>
            <a:pPr algn="just"/>
            <a:r>
              <a:rPr lang="en-US" sz="2000" dirty="0">
                <a:solidFill>
                  <a:srgbClr val="0000FF"/>
                </a:solidFill>
                <a:latin typeface="Arial" panose="020B0604020202020204" pitchFamily="34" charset="0"/>
                <a:cs typeface="Arial" panose="020B0604020202020204" pitchFamily="34" charset="0"/>
              </a:rPr>
              <a:t>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[]=new int[10]; // array declaration</a:t>
            </a:r>
          </a:p>
          <a:p>
            <a:pPr algn="just"/>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[0]=1; // array initialization</a:t>
            </a:r>
          </a:p>
          <a:p>
            <a:pPr algn="just"/>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[1]=2;</a:t>
            </a:r>
          </a:p>
          <a:p>
            <a:pPr algn="just"/>
            <a:r>
              <a:rPr lang="en-US" sz="2000" dirty="0">
                <a:solidFill>
                  <a:srgbClr val="0000FF"/>
                </a:solidFill>
                <a:latin typeface="Arial" panose="020B0604020202020204" pitchFamily="34" charset="0"/>
                <a:cs typeface="Arial" panose="020B0604020202020204" pitchFamily="34" charset="0"/>
              </a:rPr>
              <a:t>..</a:t>
            </a:r>
          </a:p>
          <a:p>
            <a:pPr algn="just"/>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[9]=10;</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System.out.println(</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[7]); // 6 // accessing array element @ index 7</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Arrays are used to reduce declaring many variables of the same datatype (homogeneous type).</a:t>
            </a:r>
          </a:p>
        </p:txBody>
      </p:sp>
      <p:sp>
        <p:nvSpPr>
          <p:cNvPr id="13" name="Footer Placeholder 6">
            <a:extLst>
              <a:ext uri="{FF2B5EF4-FFF2-40B4-BE49-F238E27FC236}">
                <a16:creationId xmlns:a16="http://schemas.microsoft.com/office/drawing/2014/main" xmlns="" id="{91104A4B-9DF2-5A7B-6B22-957240982562}"/>
              </a:ext>
            </a:extLst>
          </p:cNvPr>
          <p:cNvSpPr txBox="1">
            <a:spLocks/>
          </p:cNvSpPr>
          <p:nvPr/>
        </p:nvSpPr>
        <p:spPr>
          <a:xfrm>
            <a:off x="4191000" y="646479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smtClean="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038161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0CDE3D9-0B21-4D8D-A564-A4E4F4ECF5B0}"/>
              </a:ext>
            </a:extLst>
          </p:cNvPr>
          <p:cNvGrpSpPr/>
          <p:nvPr/>
        </p:nvGrpSpPr>
        <p:grpSpPr>
          <a:xfrm>
            <a:off x="-1" y="-1"/>
            <a:ext cx="12192001" cy="6858001"/>
            <a:chOff x="-1" y="-1"/>
            <a:chExt cx="12192001" cy="6858001"/>
          </a:xfrm>
        </p:grpSpPr>
        <p:sp>
          <p:nvSpPr>
            <p:cNvPr id="8" name="Rectangle 7">
              <a:extLst>
                <a:ext uri="{FF2B5EF4-FFF2-40B4-BE49-F238E27FC236}">
                  <a16:creationId xmlns:a16="http://schemas.microsoft.com/office/drawing/2014/main" xmlns="" id="{5A446737-F293-42BF-8771-D6E55FCE53C3}"/>
                </a:ext>
              </a:extLst>
            </p:cNvPr>
            <p:cNvSpPr/>
            <p:nvPr/>
          </p:nvSpPr>
          <p:spPr>
            <a:xfrm>
              <a:off x="9524478" y="3892216"/>
              <a:ext cx="2667522" cy="2965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4" name="Rectangle 13">
              <a:extLst>
                <a:ext uri="{FF2B5EF4-FFF2-40B4-BE49-F238E27FC236}">
                  <a16:creationId xmlns:a16="http://schemas.microsoft.com/office/drawing/2014/main" xmlns="" id="{F1DE234E-2274-4FC8-931E-288A5A166015}"/>
                </a:ext>
              </a:extLst>
            </p:cNvPr>
            <p:cNvSpPr/>
            <p:nvPr/>
          </p:nvSpPr>
          <p:spPr>
            <a:xfrm>
              <a:off x="4553953"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chemeClr val="bg1"/>
                  </a:solidFill>
                  <a:latin typeface="Times New Roman" panose="02020603050405020304" pitchFamily="18" charset="0"/>
                </a:rPr>
                <a:t>Topic Name</a:t>
              </a:r>
            </a:p>
          </p:txBody>
        </p:sp>
        <p:sp>
          <p:nvSpPr>
            <p:cNvPr id="15" name="Right Triangle 14">
              <a:extLst>
                <a:ext uri="{FF2B5EF4-FFF2-40B4-BE49-F238E27FC236}">
                  <a16:creationId xmlns:a16="http://schemas.microsoft.com/office/drawing/2014/main" xmlns="" id="{B7C1728C-187B-43E2-B374-3C8C140D2454}"/>
                </a:ext>
              </a:extLst>
            </p:cNvPr>
            <p:cNvSpPr/>
            <p:nvPr/>
          </p:nvSpPr>
          <p:spPr>
            <a:xfrm>
              <a:off x="0" y="6250405"/>
              <a:ext cx="6341165" cy="607594"/>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6" name="Right Triangle 15">
              <a:extLst>
                <a:ext uri="{FF2B5EF4-FFF2-40B4-BE49-F238E27FC236}">
                  <a16:creationId xmlns:a16="http://schemas.microsoft.com/office/drawing/2014/main" xmlns="" id="{90DD2B8C-EB32-44D4-837F-B0B6A860067F}"/>
                </a:ext>
              </a:extLst>
            </p:cNvPr>
            <p:cNvSpPr/>
            <p:nvPr/>
          </p:nvSpPr>
          <p:spPr>
            <a:xfrm flipV="1">
              <a:off x="-1" y="-1"/>
              <a:ext cx="1678406"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7" name="Right Triangle 16">
              <a:extLst>
                <a:ext uri="{FF2B5EF4-FFF2-40B4-BE49-F238E27FC236}">
                  <a16:creationId xmlns:a16="http://schemas.microsoft.com/office/drawing/2014/main" xmlns="" id="{1B7530A7-B5FE-4BE1-9BB7-DEEB156359BD}"/>
                </a:ext>
              </a:extLst>
            </p:cNvPr>
            <p:cNvSpPr/>
            <p:nvPr/>
          </p:nvSpPr>
          <p:spPr>
            <a:xfrm flipH="1">
              <a:off x="6341164" y="6160168"/>
              <a:ext cx="5850835" cy="697832"/>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sp>
          <p:nvSpPr>
            <p:cNvPr id="18" name="Right Triangle 17">
              <a:extLst>
                <a:ext uri="{FF2B5EF4-FFF2-40B4-BE49-F238E27FC236}">
                  <a16:creationId xmlns:a16="http://schemas.microsoft.com/office/drawing/2014/main" xmlns="" id="{8D0E11FF-8E9C-4B36-AA58-488E4C0ADFB3}"/>
                </a:ext>
              </a:extLst>
            </p:cNvPr>
            <p:cNvSpPr/>
            <p:nvPr/>
          </p:nvSpPr>
          <p:spPr>
            <a:xfrm flipH="1" flipV="1">
              <a:off x="10513594" y="0"/>
              <a:ext cx="1678405" cy="1530626"/>
            </a:xfrm>
            <a:prstGeom prst="rtTriangle">
              <a:avLst/>
            </a:prstGeom>
            <a:gradFill>
              <a:gsLst>
                <a:gs pos="0">
                  <a:srgbClr val="8016EF"/>
                </a:gs>
                <a:gs pos="52282">
                  <a:srgbClr val="6761F7"/>
                </a:gs>
                <a:gs pos="100000">
                  <a:srgbClr val="4FACFE"/>
                </a:gs>
              </a:gsLst>
            </a:gradFill>
            <a:ln w="12700">
              <a:miter lim="400000"/>
            </a:ln>
            <a:scene3d>
              <a:camera prst="orthographicFront"/>
              <a:lightRig rig="threePt" dir="t"/>
            </a:scene3d>
            <a:sp3d>
              <a:bevelT w="165100" prst="coolSlant"/>
            </a:sp3d>
          </p:spPr>
          <p:txBody>
            <a:bodyPr lIns="45719" rIns="45719" anchor="ctr"/>
            <a:lstStyle/>
            <a:p>
              <a:pPr algn="ctr"/>
              <a:endParaRPr lang="en-IN">
                <a:solidFill>
                  <a:srgbClr val="FFFFFF"/>
                </a:solidFill>
              </a:endParaRPr>
            </a:p>
          </p:txBody>
        </p:sp>
        <p:pic>
          <p:nvPicPr>
            <p:cNvPr id="19" name="Picture 18">
              <a:extLst>
                <a:ext uri="{FF2B5EF4-FFF2-40B4-BE49-F238E27FC236}">
                  <a16:creationId xmlns:a16="http://schemas.microsoft.com/office/drawing/2014/main" xmlns="" id="{A601BD45-3342-4071-863C-308B54334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42032" y="48127"/>
              <a:ext cx="663754" cy="726492"/>
            </a:xfrm>
            <a:prstGeom prst="roundRect">
              <a:avLst>
                <a:gd name="adj" fmla="val 2010"/>
              </a:avLst>
            </a:prstGeom>
            <a:ln>
              <a:solidFill>
                <a:srgbClr val="C0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 name="Rectangle 10">
              <a:extLst>
                <a:ext uri="{FF2B5EF4-FFF2-40B4-BE49-F238E27FC236}">
                  <a16:creationId xmlns:a16="http://schemas.microsoft.com/office/drawing/2014/main" xmlns="" id="{8C7928AC-71AB-F6ED-328A-C4EBE8318139}"/>
                </a:ext>
              </a:extLst>
            </p:cNvPr>
            <p:cNvSpPr/>
            <p:nvPr/>
          </p:nvSpPr>
          <p:spPr>
            <a:xfrm>
              <a:off x="4513612" y="0"/>
              <a:ext cx="2442410" cy="519727"/>
            </a:xfrm>
            <a:prstGeom prst="rect">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slope"/>
            </a:sp3d>
          </p:spPr>
          <p:txBody>
            <a:bodyPr lIns="45719" rIns="45719" anchor="ctr"/>
            <a:lstStyle/>
            <a:p>
              <a:pPr algn="ctr"/>
              <a:r>
                <a:rPr lang="en-US" sz="2000" b="1" dirty="0">
                  <a:solidFill>
                    <a:srgbClr val="0000FF"/>
                  </a:solidFill>
                  <a:latin typeface="Times New Roman" panose="02020603050405020304" pitchFamily="18" charset="0"/>
                </a:rPr>
                <a:t>java.util package</a:t>
              </a:r>
            </a:p>
          </p:txBody>
        </p:sp>
      </p:grpSp>
      <p:sp>
        <p:nvSpPr>
          <p:cNvPr id="20" name="TextBox 19">
            <a:extLst>
              <a:ext uri="{FF2B5EF4-FFF2-40B4-BE49-F238E27FC236}">
                <a16:creationId xmlns:a16="http://schemas.microsoft.com/office/drawing/2014/main" xmlns="" id="{68348499-B941-4AD2-8393-403E990A7E98}"/>
              </a:ext>
            </a:extLst>
          </p:cNvPr>
          <p:cNvSpPr txBox="1"/>
          <p:nvPr/>
        </p:nvSpPr>
        <p:spPr>
          <a:xfrm>
            <a:off x="965889" y="1688511"/>
            <a:ext cx="8733402" cy="2862322"/>
          </a:xfrm>
          <a:prstGeom prst="rect">
            <a:avLst/>
          </a:prstGeom>
          <a:noFill/>
        </p:spPr>
        <p:txBody>
          <a:bodyPr wrap="square" rtlCol="0">
            <a:spAutoFit/>
          </a:bodyPr>
          <a:lstStyle/>
          <a:p>
            <a:r>
              <a:rPr lang="en-US" sz="2000" dirty="0">
                <a:solidFill>
                  <a:srgbClr val="0000FF"/>
                </a:solidFill>
                <a:latin typeface="Arial" panose="020B0604020202020204" pitchFamily="34" charset="0"/>
                <a:cs typeface="Arial" panose="020B0604020202020204" pitchFamily="34" charset="0"/>
              </a:rPr>
              <a:t>java.util package classes are introduced as an alternative to arrays. The limitations of array are: </a:t>
            </a:r>
          </a:p>
          <a:p>
            <a:r>
              <a:rPr lang="en-US" sz="2000" dirty="0">
                <a:solidFill>
                  <a:srgbClr val="0000FF"/>
                </a:solidFill>
                <a:latin typeface="Arial" panose="020B0604020202020204" pitchFamily="34" charset="0"/>
                <a:cs typeface="Arial" panose="020B0604020202020204" pitchFamily="34" charset="0"/>
              </a:rPr>
              <a:t>	int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[]=new int[10];</a:t>
            </a:r>
          </a:p>
          <a:p>
            <a:endParaRPr lang="en-US" sz="2000" dirty="0">
              <a:solidFill>
                <a:srgbClr val="0000FF"/>
              </a:solidFill>
              <a:latin typeface="Arial" panose="020B0604020202020204" pitchFamily="34" charset="0"/>
              <a:cs typeface="Arial" panose="020B0604020202020204" pitchFamily="34" charset="0"/>
            </a:endParaRPr>
          </a:p>
          <a:p>
            <a:pPr marL="457200" indent="-457200">
              <a:buFont typeface="+mj-lt"/>
              <a:buAutoNum type="alphaLcParenR"/>
            </a:pPr>
            <a:r>
              <a:rPr lang="en-US" sz="2000" dirty="0">
                <a:solidFill>
                  <a:srgbClr val="0000FF"/>
                </a:solidFill>
                <a:latin typeface="Arial" panose="020B0604020202020204" pitchFamily="34" charset="0"/>
                <a:cs typeface="Arial" panose="020B0604020202020204" pitchFamily="34" charset="0"/>
              </a:rPr>
              <a:t>Homogeneous (same datatype)</a:t>
            </a:r>
          </a:p>
          <a:p>
            <a:pPr marL="457200" indent="-457200">
              <a:buFont typeface="+mj-lt"/>
              <a:buAutoNum type="alphaLcParenR"/>
            </a:pPr>
            <a:r>
              <a:rPr lang="en-US" sz="2000" dirty="0">
                <a:solidFill>
                  <a:srgbClr val="0000FF"/>
                </a:solidFill>
                <a:latin typeface="Arial" panose="020B0604020202020204" pitchFamily="34" charset="0"/>
                <a:cs typeface="Arial" panose="020B0604020202020204" pitchFamily="34" charset="0"/>
              </a:rPr>
              <a:t>Fixed in size they cannot grow or shrink, memory wastage</a:t>
            </a:r>
          </a:p>
          <a:p>
            <a:pPr marL="457200" indent="-457200">
              <a:buFont typeface="+mj-lt"/>
              <a:buAutoNum type="alphaLcParenR"/>
            </a:pPr>
            <a:r>
              <a:rPr lang="en-US" sz="2000" dirty="0">
                <a:solidFill>
                  <a:srgbClr val="0000FF"/>
                </a:solidFill>
                <a:latin typeface="Arial" panose="020B0604020202020204" pitchFamily="34" charset="0"/>
                <a:cs typeface="Arial" panose="020B0604020202020204" pitchFamily="34" charset="0"/>
              </a:rPr>
              <a:t>dealing with indexes increases complexity of the program, sometimes leads to error prone for accessing array beyond index</a:t>
            </a:r>
          </a:p>
          <a:p>
            <a:endParaRPr lang="en-US" sz="2000" dirty="0">
              <a:solidFill>
                <a:srgbClr val="0000FF"/>
              </a:solidFill>
              <a:latin typeface="Arial" panose="020B0604020202020204" pitchFamily="34" charset="0"/>
              <a:cs typeface="Arial" panose="020B0604020202020204" pitchFamily="34" charset="0"/>
            </a:endParaRPr>
          </a:p>
        </p:txBody>
      </p:sp>
      <p:sp>
        <p:nvSpPr>
          <p:cNvPr id="13" name="Footer Placeholder 6">
            <a:extLst>
              <a:ext uri="{FF2B5EF4-FFF2-40B4-BE49-F238E27FC236}">
                <a16:creationId xmlns:a16="http://schemas.microsoft.com/office/drawing/2014/main" xmlns="" id="{91104A4B-9DF2-5A7B-6B22-957240982562}"/>
              </a:ext>
            </a:extLst>
          </p:cNvPr>
          <p:cNvSpPr txBox="1">
            <a:spLocks/>
          </p:cNvSpPr>
          <p:nvPr/>
        </p:nvSpPr>
        <p:spPr>
          <a:xfrm>
            <a:off x="4191000" y="64735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smtClean="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05358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7E98CE76-E576-4132-956F-6E4B91556344}"/>
              </a:ext>
            </a:extLst>
          </p:cNvPr>
          <p:cNvSpPr txBox="1"/>
          <p:nvPr/>
        </p:nvSpPr>
        <p:spPr>
          <a:xfrm>
            <a:off x="716056" y="1823582"/>
            <a:ext cx="8011085" cy="1631216"/>
          </a:xfrm>
          <a:prstGeom prst="rect">
            <a:avLst/>
          </a:prstGeom>
          <a:noFill/>
        </p:spPr>
        <p:txBody>
          <a:bodyPr wrap="square" rtlCol="0">
            <a:spAutoFit/>
          </a:bodyPr>
          <a:lstStyle/>
          <a:p>
            <a:pPr algn="just"/>
            <a:r>
              <a:rPr lang="en-IN" sz="2000" dirty="0">
                <a:solidFill>
                  <a:srgbClr val="0000FF"/>
                </a:solidFill>
              </a:rPr>
              <a:t>In java.util package we will deal with </a:t>
            </a:r>
          </a:p>
          <a:p>
            <a:pPr marL="342900" indent="-342900" algn="just">
              <a:buFont typeface="Wingdings" panose="05000000000000000000" pitchFamily="2" charset="2"/>
              <a:buChar char="v"/>
            </a:pPr>
            <a:r>
              <a:rPr lang="en-IN" sz="2000" dirty="0">
                <a:solidFill>
                  <a:srgbClr val="0000FF"/>
                </a:solidFill>
              </a:rPr>
              <a:t>legacy classes (classes exist from the first version of JDK-JDK 1.0)</a:t>
            </a:r>
          </a:p>
          <a:p>
            <a:pPr marL="342900" indent="-342900" algn="just">
              <a:buFont typeface="Wingdings" panose="05000000000000000000" pitchFamily="2" charset="2"/>
              <a:buChar char="v"/>
            </a:pPr>
            <a:r>
              <a:rPr lang="en-IN" sz="2000" dirty="0">
                <a:solidFill>
                  <a:srgbClr val="0000FF"/>
                </a:solidFill>
              </a:rPr>
              <a:t>collection classes (classes introduced in JDK 1.1.x version and include in JDK 1.2 version)</a:t>
            </a:r>
          </a:p>
          <a:p>
            <a:pPr marL="342900" indent="-342900" algn="just">
              <a:buFont typeface="Wingdings" panose="05000000000000000000" pitchFamily="2" charset="2"/>
              <a:buChar char="v"/>
            </a:pPr>
            <a:r>
              <a:rPr lang="en-IN" sz="2000" dirty="0">
                <a:solidFill>
                  <a:srgbClr val="0000FF"/>
                </a:solidFill>
              </a:rPr>
              <a:t>and miscellaneous classes (since JDK 1.0, 1.1)</a:t>
            </a:r>
          </a:p>
        </p:txBody>
      </p:sp>
      <p:grpSp>
        <p:nvGrpSpPr>
          <p:cNvPr id="3" name="Group 2">
            <a:extLst>
              <a:ext uri="{FF2B5EF4-FFF2-40B4-BE49-F238E27FC236}">
                <a16:creationId xmlns:a16="http://schemas.microsoft.com/office/drawing/2014/main" xmlns="" id="{E084F061-165F-4D26-957A-46A3784E1269}"/>
              </a:ext>
            </a:extLst>
          </p:cNvPr>
          <p:cNvGrpSpPr/>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xmlns="" id="{44537FEC-1229-42DE-A189-FF88D373368B}"/>
                </a:ext>
              </a:extLst>
            </p:cNvPr>
            <p:cNvSpPr/>
            <p:nvPr/>
          </p:nvSpPr>
          <p:spPr>
            <a:xfrm>
              <a:off x="9408695" y="3928311"/>
              <a:ext cx="2667522" cy="27672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3" name="Frame 12">
              <a:extLst>
                <a:ext uri="{FF2B5EF4-FFF2-40B4-BE49-F238E27FC236}">
                  <a16:creationId xmlns:a16="http://schemas.microsoft.com/office/drawing/2014/main" xmlns="" id="{DC86F9FE-37E8-4FF6-A7BC-43BCCF9D2009}"/>
                </a:ext>
              </a:extLst>
            </p:cNvPr>
            <p:cNvSpPr/>
            <p:nvPr/>
          </p:nvSpPr>
          <p:spPr>
            <a:xfrm>
              <a:off x="0" y="0"/>
              <a:ext cx="12192000" cy="6858000"/>
            </a:xfrm>
            <a:prstGeom prst="frame">
              <a:avLst>
                <a:gd name="adj1" fmla="val 2392"/>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14" name="Frame 13">
              <a:extLst>
                <a:ext uri="{FF2B5EF4-FFF2-40B4-BE49-F238E27FC236}">
                  <a16:creationId xmlns:a16="http://schemas.microsoft.com/office/drawing/2014/main" xmlns="" id="{B609A78E-1910-454E-860F-E7CA75EEE587}"/>
                </a:ext>
              </a:extLst>
            </p:cNvPr>
            <p:cNvSpPr/>
            <p:nvPr/>
          </p:nvSpPr>
          <p:spPr>
            <a:xfrm>
              <a:off x="2428875" y="0"/>
              <a:ext cx="7162800" cy="762000"/>
            </a:xfrm>
            <a:prstGeom prst="frame">
              <a:avLst>
                <a:gd name="adj1" fmla="val 20853"/>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pPr algn="ctr"/>
              <a:r>
                <a:rPr lang="en-US" sz="2400" b="1" dirty="0">
                  <a:solidFill>
                    <a:srgbClr val="0000FF"/>
                  </a:solidFill>
                  <a:latin typeface="Times New Roman" panose="02020603050405020304" pitchFamily="18" charset="0"/>
                </a:rPr>
                <a:t>java.util package</a:t>
              </a:r>
            </a:p>
          </p:txBody>
        </p:sp>
        <p:pic>
          <p:nvPicPr>
            <p:cNvPr id="15" name="Picture 14">
              <a:extLst>
                <a:ext uri="{FF2B5EF4-FFF2-40B4-BE49-F238E27FC236}">
                  <a16:creationId xmlns:a16="http://schemas.microsoft.com/office/drawing/2014/main" xmlns="" id="{3B934CBA-96C4-40FF-925C-482D211BAC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67560" y="162426"/>
              <a:ext cx="752990" cy="824163"/>
            </a:xfrm>
            <a:prstGeom prst="roundRect">
              <a:avLst>
                <a:gd name="adj" fmla="val 2010"/>
              </a:avLst>
            </a:prstGeom>
            <a:gradFill>
              <a:gsLst>
                <a:gs pos="0">
                  <a:srgbClr val="00F2FE"/>
                </a:gs>
                <a:gs pos="41897">
                  <a:srgbClr val="28CFFE"/>
                </a:gs>
                <a:gs pos="97514">
                  <a:srgbClr val="4FACFE"/>
                </a:gs>
              </a:gsLst>
              <a:lin ang="8471591"/>
            </a:gradFill>
            <a:ln w="12700">
              <a:miter lim="400000"/>
            </a:ln>
            <a:effectLst>
              <a:outerShdw blurRad="38100" dist="26654" dir="2315233" rotWithShape="0">
                <a:srgbClr val="000000">
                  <a:alpha val="28814"/>
                </a:srgbClr>
              </a:outerShdw>
            </a:effectLst>
          </p:spPr>
        </p:pic>
      </p:grpSp>
      <p:sp>
        <p:nvSpPr>
          <p:cNvPr id="9"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35391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xmlns="" id="{4A50334D-EFFE-490A-A4B2-DBFF18B49D37}"/>
                </a:ext>
              </a:extLst>
            </p:cNvPr>
            <p:cNvSpPr/>
            <p:nvPr/>
          </p:nvSpPr>
          <p:spPr>
            <a:xfrm>
              <a:off x="0" y="0"/>
              <a:ext cx="571500" cy="3374858"/>
            </a:xfrm>
            <a:prstGeom prst="halfFrame">
              <a:avLst>
                <a:gd name="adj1" fmla="val 21754"/>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5" name="Half Frame 4">
              <a:extLst>
                <a:ext uri="{FF2B5EF4-FFF2-40B4-BE49-F238E27FC236}">
                  <a16:creationId xmlns:a16="http://schemas.microsoft.com/office/drawing/2014/main" xmlns="" id="{19E3DEFD-912C-4784-B415-0FCF6B69EE26}"/>
                </a:ext>
              </a:extLst>
            </p:cNvPr>
            <p:cNvSpPr/>
            <p:nvPr/>
          </p:nvSpPr>
          <p:spPr>
            <a:xfrm flipH="1">
              <a:off x="11620500" y="0"/>
              <a:ext cx="571499" cy="3188368"/>
            </a:xfrm>
            <a:prstGeom prst="halfFrame">
              <a:avLst>
                <a:gd name="adj1" fmla="val 22807"/>
                <a:gd name="adj2" fmla="val 23860"/>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6" name="Half Frame 5">
              <a:extLst>
                <a:ext uri="{FF2B5EF4-FFF2-40B4-BE49-F238E27FC236}">
                  <a16:creationId xmlns:a16="http://schemas.microsoft.com/office/drawing/2014/main" xmlns="" id="{1FADA394-9CE6-47B8-9423-22A6A7E6042F}"/>
                </a:ext>
              </a:extLst>
            </p:cNvPr>
            <p:cNvSpPr/>
            <p:nvPr/>
          </p:nvSpPr>
          <p:spPr>
            <a:xfrm rot="10800000" flipH="1">
              <a:off x="1" y="3429000"/>
              <a:ext cx="571499" cy="3429000"/>
            </a:xfrm>
            <a:prstGeom prst="halfFrame">
              <a:avLst>
                <a:gd name="adj1" fmla="val 23859"/>
                <a:gd name="adj2" fmla="val 22807"/>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dirty="0">
                <a:solidFill>
                  <a:srgbClr val="FFFFFF"/>
                </a:solidFill>
              </a:endParaRPr>
            </a:p>
          </p:txBody>
        </p:sp>
        <p:sp>
          <p:nvSpPr>
            <p:cNvPr id="20" name="Rectangle 19">
              <a:extLst>
                <a:ext uri="{FF2B5EF4-FFF2-40B4-BE49-F238E27FC236}">
                  <a16:creationId xmlns:a16="http://schemas.microsoft.com/office/drawing/2014/main" xmlns="" id="{9F592831-48C2-4F5E-BCE8-029CAF5E3037}"/>
                </a:ext>
              </a:extLst>
            </p:cNvPr>
            <p:cNvSpPr/>
            <p:nvPr/>
          </p:nvSpPr>
          <p:spPr>
            <a:xfrm>
              <a:off x="0" y="-6016"/>
              <a:ext cx="12191996"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nvGrpSpPr>
            <p:cNvPr id="21" name="Group 20">
              <a:extLst>
                <a:ext uri="{FF2B5EF4-FFF2-40B4-BE49-F238E27FC236}">
                  <a16:creationId xmlns:a16="http://schemas.microsoft.com/office/drawing/2014/main" xmlns=""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xmlns="" id="{EC09E713-EDB5-4C72-9BF3-C3CCEC62B0A3}"/>
                  </a:ext>
                </a:extLst>
              </p:cNvPr>
              <p:cNvSpPr/>
              <p:nvPr/>
            </p:nvSpPr>
            <p:spPr>
              <a:xfrm>
                <a:off x="2877550" y="55045"/>
                <a:ext cx="6436895" cy="648690"/>
              </a:xfrm>
              <a:prstGeom prst="flowChartTerminator">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dirty="0">
                  <a:solidFill>
                    <a:srgbClr val="FFFFFF"/>
                  </a:solidFill>
                </a:endParaRPr>
              </a:p>
            </p:txBody>
          </p:sp>
          <p:sp>
            <p:nvSpPr>
              <p:cNvPr id="23" name="TextBox 22">
                <a:extLst>
                  <a:ext uri="{FF2B5EF4-FFF2-40B4-BE49-F238E27FC236}">
                    <a16:creationId xmlns:a16="http://schemas.microsoft.com/office/drawing/2014/main" xmlns="" id="{BB13E557-7C61-4001-8226-000F4916CFF2}"/>
                  </a:ext>
                </a:extLst>
              </p:cNvPr>
              <p:cNvSpPr txBox="1"/>
              <p:nvPr/>
            </p:nvSpPr>
            <p:spPr>
              <a:xfrm>
                <a:off x="2977813" y="210113"/>
                <a:ext cx="6236368" cy="400110"/>
              </a:xfrm>
              <a:prstGeom prst="rect">
                <a:avLst/>
              </a:prstGeom>
            </p:spPr>
            <p:txBody>
              <a:bodyPr wrap="square">
                <a:spAutoFit/>
              </a:bodyPr>
              <a:lstStyle/>
              <a:p>
                <a:pPr algn="ctr"/>
                <a:r>
                  <a:rPr lang="en-US" sz="2000" b="1" dirty="0">
                    <a:solidFill>
                      <a:schemeClr val="bg1"/>
                    </a:solidFill>
                    <a:latin typeface="Times New Roman" panose="02020603050405020304" pitchFamily="18" charset="0"/>
                  </a:rPr>
                  <a:t>java.util package</a:t>
                </a:r>
                <a:endParaRPr lang="en-US" sz="1800" b="1" dirty="0">
                  <a:solidFill>
                    <a:schemeClr val="bg1"/>
                  </a:solidFill>
                  <a:latin typeface="Times New Roman" panose="02020603050405020304" pitchFamily="18" charset="0"/>
                </a:endParaRPr>
              </a:p>
            </p:txBody>
          </p:sp>
        </p:grpSp>
        <p:pic>
          <p:nvPicPr>
            <p:cNvPr id="16" name="Picture 15">
              <a:extLst>
                <a:ext uri="{FF2B5EF4-FFF2-40B4-BE49-F238E27FC236}">
                  <a16:creationId xmlns:a16="http://schemas.microsoft.com/office/drawing/2014/main" xmlns="" id="{5A11C925-F9FE-4A17-99BD-C9170152C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98860" y="110180"/>
              <a:ext cx="659841" cy="722210"/>
            </a:xfrm>
            <a:prstGeom prst="roundRect">
              <a:avLst>
                <a:gd name="adj" fmla="val 16667"/>
              </a:avLst>
            </a:prstGeom>
            <a:ln>
              <a:solidFill>
                <a:srgbClr val="FF00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xmlns=""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xmlns="" id="{457E8BC2-FE67-470A-B461-43D1BB07A778}"/>
                </a:ext>
              </a:extLst>
            </p:cNvPr>
            <p:cNvSpPr/>
            <p:nvPr/>
          </p:nvSpPr>
          <p:spPr>
            <a:xfrm rot="10800000">
              <a:off x="11620497" y="3302668"/>
              <a:ext cx="571499" cy="3555332"/>
            </a:xfrm>
            <a:prstGeom prst="halfFrame">
              <a:avLst>
                <a:gd name="adj1" fmla="val 22807"/>
                <a:gd name="adj2" fmla="val 23859"/>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sp>
          <p:nvSpPr>
            <p:cNvPr id="18" name="Rectangle 17">
              <a:extLst>
                <a:ext uri="{FF2B5EF4-FFF2-40B4-BE49-F238E27FC236}">
                  <a16:creationId xmlns:a16="http://schemas.microsoft.com/office/drawing/2014/main" xmlns="" id="{BE9D28D4-0E0A-46F5-BE01-538824D4D675}"/>
                </a:ext>
              </a:extLst>
            </p:cNvPr>
            <p:cNvSpPr/>
            <p:nvPr/>
          </p:nvSpPr>
          <p:spPr>
            <a:xfrm>
              <a:off x="1" y="6731668"/>
              <a:ext cx="12192000" cy="126332"/>
            </a:xfrm>
            <a:prstGeom prst="rect">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a:scene3d>
              <a:camera prst="orthographicFront"/>
              <a:lightRig rig="threePt" dir="t"/>
            </a:scene3d>
            <a:sp3d>
              <a:bevelT prst="slope"/>
            </a:sp3d>
          </p:spPr>
          <p:txBody>
            <a:bodyPr lIns="45719" rIns="45719" anchor="ctr"/>
            <a:lstStyle/>
            <a:p>
              <a:endParaRPr lang="en-US">
                <a:solidFill>
                  <a:srgbClr val="FFFFFF"/>
                </a:solidFill>
              </a:endParaRPr>
            </a:p>
          </p:txBody>
        </p:sp>
      </p:grpSp>
      <p:sp>
        <p:nvSpPr>
          <p:cNvPr id="8" name="TextBox 7">
            <a:extLst>
              <a:ext uri="{FF2B5EF4-FFF2-40B4-BE49-F238E27FC236}">
                <a16:creationId xmlns:a16="http://schemas.microsoft.com/office/drawing/2014/main" xmlns="" id="{8926E692-C2BA-4CA4-96A9-4894146636A4}"/>
              </a:ext>
            </a:extLst>
          </p:cNvPr>
          <p:cNvSpPr txBox="1"/>
          <p:nvPr/>
        </p:nvSpPr>
        <p:spPr>
          <a:xfrm>
            <a:off x="285750" y="1724624"/>
            <a:ext cx="8831356" cy="1631216"/>
          </a:xfrm>
          <a:prstGeom prst="rect">
            <a:avLst/>
          </a:prstGeom>
          <a:noFill/>
        </p:spPr>
        <p:txBody>
          <a:bodyPr wrap="square" rtlCol="0">
            <a:spAutoFit/>
          </a:bodyPr>
          <a:lstStyle/>
          <a:p>
            <a:pPr algn="just"/>
            <a:r>
              <a:rPr lang="en-US" sz="2000" b="1" dirty="0">
                <a:solidFill>
                  <a:srgbClr val="0000FF"/>
                </a:solidFill>
                <a:latin typeface="Arial" panose="020B0604020202020204" pitchFamily="34" charset="0"/>
                <a:cs typeface="Arial" panose="020B0604020202020204" pitchFamily="34" charset="0"/>
              </a:rPr>
              <a:t>java.util package collection classes:</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they can store objects of different data types, they are "heterogeneous</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size can grow and shrink, no wastage of memory</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convenient methods are provided to store, retrieve and remove objects from these classes (add(), get(), remove(), contains(), elements())</a:t>
            </a:r>
          </a:p>
        </p:txBody>
      </p:sp>
      <p:sp>
        <p:nvSpPr>
          <p:cNvPr id="19"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1164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xmlns="" id="{F04DBC6C-E9A2-43DD-8AE4-8D0DDE4523E5}"/>
              </a:ext>
            </a:extLst>
          </p:cNvPr>
          <p:cNvGrpSpPr/>
          <p:nvPr/>
        </p:nvGrpSpPr>
        <p:grpSpPr>
          <a:xfrm>
            <a:off x="0" y="-3010"/>
            <a:ext cx="12226085" cy="6861011"/>
            <a:chOff x="0" y="-3010"/>
            <a:chExt cx="12226085" cy="6861011"/>
          </a:xfrm>
        </p:grpSpPr>
        <p:sp>
          <p:nvSpPr>
            <p:cNvPr id="14" name="Rectangle 13">
              <a:extLst>
                <a:ext uri="{FF2B5EF4-FFF2-40B4-BE49-F238E27FC236}">
                  <a16:creationId xmlns:a16="http://schemas.microsoft.com/office/drawing/2014/main" xmlns="" id="{C9DCF868-6E93-4982-AB2D-FFEEE7478913}"/>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5" name="Arrow: Chevron 14">
              <a:extLst>
                <a:ext uri="{FF2B5EF4-FFF2-40B4-BE49-F238E27FC236}">
                  <a16:creationId xmlns:a16="http://schemas.microsoft.com/office/drawing/2014/main" xmlns="" id="{F5FB86E3-5182-4C43-8464-D4B43C073FD3}"/>
                </a:ext>
              </a:extLst>
            </p:cNvPr>
            <p:cNvSpPr/>
            <p:nvPr/>
          </p:nvSpPr>
          <p:spPr>
            <a:xfrm>
              <a:off x="2935705" y="0"/>
              <a:ext cx="6039853" cy="718885"/>
            </a:xfrm>
            <a:prstGeom prst="chevron">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pPr algn="ctr"/>
              <a:r>
                <a:rPr lang="en-US" sz="1800" b="1" dirty="0">
                  <a:solidFill>
                    <a:schemeClr val="bg1"/>
                  </a:solidFill>
                  <a:latin typeface="Times New Roman" panose="02020603050405020304" pitchFamily="18" charset="0"/>
                </a:rPr>
                <a:t>java.util package</a:t>
              </a:r>
            </a:p>
          </p:txBody>
        </p:sp>
        <p:sp>
          <p:nvSpPr>
            <p:cNvPr id="16" name="Half Frame 15">
              <a:extLst>
                <a:ext uri="{FF2B5EF4-FFF2-40B4-BE49-F238E27FC236}">
                  <a16:creationId xmlns:a16="http://schemas.microsoft.com/office/drawing/2014/main" xmlns="" id="{D42E4D77-9E3B-4372-9B15-2E2A4737FA1A}"/>
                </a:ext>
              </a:extLst>
            </p:cNvPr>
            <p:cNvSpPr/>
            <p:nvPr/>
          </p:nvSpPr>
          <p:spPr>
            <a:xfrm rot="16200000">
              <a:off x="27072" y="5441282"/>
              <a:ext cx="1389649" cy="1443790"/>
            </a:xfrm>
            <a:prstGeom prst="halfFrame">
              <a:avLst>
                <a:gd name="adj1" fmla="val 12531"/>
                <a:gd name="adj2" fmla="val 134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Half Frame 16">
              <a:extLst>
                <a:ext uri="{FF2B5EF4-FFF2-40B4-BE49-F238E27FC236}">
                  <a16:creationId xmlns:a16="http://schemas.microsoft.com/office/drawing/2014/main" xmlns="" id="{94B64B7C-6927-47F2-A370-51DB6CB7DB7C}"/>
                </a:ext>
              </a:extLst>
            </p:cNvPr>
            <p:cNvSpPr/>
            <p:nvPr/>
          </p:nvSpPr>
          <p:spPr>
            <a:xfrm>
              <a:off x="0" y="-30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8" name="Half Frame 17">
              <a:extLst>
                <a:ext uri="{FF2B5EF4-FFF2-40B4-BE49-F238E27FC236}">
                  <a16:creationId xmlns:a16="http://schemas.microsoft.com/office/drawing/2014/main" xmlns="" id="{D0D65A0A-0D35-43C7-8FFB-8766B0E0CFF5}"/>
                </a:ext>
              </a:extLst>
            </p:cNvPr>
            <p:cNvSpPr/>
            <p:nvPr/>
          </p:nvSpPr>
          <p:spPr>
            <a:xfrm rot="5400000">
              <a:off x="10775281" y="-2707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19" name="Half Frame 18">
              <a:extLst>
                <a:ext uri="{FF2B5EF4-FFF2-40B4-BE49-F238E27FC236}">
                  <a16:creationId xmlns:a16="http://schemas.microsoft.com/office/drawing/2014/main" xmlns="" id="{5F0E1DE4-5900-4FD7-8376-F2806B3FD10B}"/>
                </a:ext>
              </a:extLst>
            </p:cNvPr>
            <p:cNvSpPr/>
            <p:nvPr/>
          </p:nvSpPr>
          <p:spPr>
            <a:xfrm rot="16200000">
              <a:off x="27073" y="5441282"/>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0" name="Half Frame 19">
              <a:extLst>
                <a:ext uri="{FF2B5EF4-FFF2-40B4-BE49-F238E27FC236}">
                  <a16:creationId xmlns:a16="http://schemas.microsoft.com/office/drawing/2014/main" xmlns="" id="{AF515097-FF0D-4D2D-8ABE-40C71D119BD4}"/>
                </a:ext>
              </a:extLst>
            </p:cNvPr>
            <p:cNvSpPr/>
            <p:nvPr/>
          </p:nvSpPr>
          <p:spPr>
            <a:xfrm rot="10800000">
              <a:off x="10802349" y="5414210"/>
              <a:ext cx="1389649" cy="1443790"/>
            </a:xfrm>
            <a:prstGeom prst="halfFrame">
              <a:avLst>
                <a:gd name="adj1" fmla="val 12531"/>
                <a:gd name="adj2" fmla="val 13479"/>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1" name="Rectangle 20">
              <a:extLst>
                <a:ext uri="{FF2B5EF4-FFF2-40B4-BE49-F238E27FC236}">
                  <a16:creationId xmlns:a16="http://schemas.microsoft.com/office/drawing/2014/main" xmlns="" id="{BCDA0A01-2100-4CCD-9D0E-EDE971F85C5A}"/>
                </a:ext>
              </a:extLst>
            </p:cNvPr>
            <p:cNvSpPr/>
            <p:nvPr/>
          </p:nvSpPr>
          <p:spPr>
            <a:xfrm>
              <a:off x="12045611" y="2756732"/>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sp>
          <p:nvSpPr>
            <p:cNvPr id="22" name="Rectangle 21">
              <a:extLst>
                <a:ext uri="{FF2B5EF4-FFF2-40B4-BE49-F238E27FC236}">
                  <a16:creationId xmlns:a16="http://schemas.microsoft.com/office/drawing/2014/main" xmlns="" id="{724ED9EE-B382-4495-BB26-9ABF91230913}"/>
                </a:ext>
              </a:extLst>
            </p:cNvPr>
            <p:cNvSpPr/>
            <p:nvPr/>
          </p:nvSpPr>
          <p:spPr>
            <a:xfrm>
              <a:off x="0" y="2756733"/>
              <a:ext cx="180474" cy="1112921"/>
            </a:xfrm>
            <a:prstGeom prst="rect">
              <a:avLst/>
            </a:prstGeom>
            <a:gradFill>
              <a:gsLst>
                <a:gs pos="0">
                  <a:srgbClr val="F000C6"/>
                </a:gs>
                <a:gs pos="46532">
                  <a:srgbClr val="B800C4"/>
                </a:gs>
                <a:gs pos="100000">
                  <a:srgbClr val="8000C2"/>
                </a:gs>
              </a:gsLst>
            </a:gradFill>
            <a:ln w="12700">
              <a:miter lim="400000"/>
            </a:ln>
            <a:effectLst>
              <a:outerShdw blurRad="38100" dist="26654" dir="2315233" rotWithShape="0">
                <a:srgbClr val="000000">
                  <a:alpha val="28814"/>
                </a:srgbClr>
              </a:outerShdw>
            </a:effectLst>
            <a:scene3d>
              <a:camera prst="orthographicFront"/>
              <a:lightRig rig="threePt" dir="t"/>
            </a:scene3d>
            <a:sp3d>
              <a:bevelT w="114300" prst="hardEdge"/>
            </a:sp3d>
          </p:spPr>
          <p:txBody>
            <a:bodyPr lIns="45719" rIns="45719" anchor="ctr"/>
            <a:lstStyle/>
            <a:p>
              <a:endParaRPr lang="en-US">
                <a:solidFill>
                  <a:srgbClr val="FFFFFF"/>
                </a:solidFill>
              </a:endParaRPr>
            </a:p>
          </p:txBody>
        </p:sp>
        <p:pic>
          <p:nvPicPr>
            <p:cNvPr id="23" name="Picture 22">
              <a:extLst>
                <a:ext uri="{FF2B5EF4-FFF2-40B4-BE49-F238E27FC236}">
                  <a16:creationId xmlns:a16="http://schemas.microsoft.com/office/drawing/2014/main" xmlns="" id="{576829B0-3EDD-4874-A380-B94C3CAC5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41999" y="198519"/>
              <a:ext cx="752990" cy="824163"/>
            </a:xfrm>
            <a:prstGeom prst="roundRect">
              <a:avLst>
                <a:gd name="adj" fmla="val 2010"/>
              </a:avLst>
            </a:prstGeom>
            <a:gradFill>
              <a:gsLst>
                <a:gs pos="0">
                  <a:srgbClr val="00F2FE"/>
                </a:gs>
                <a:gs pos="41897">
                  <a:srgbClr val="28CFFE"/>
                </a:gs>
                <a:gs pos="97514">
                  <a:srgbClr val="4FACFE"/>
                </a:gs>
              </a:gsLst>
              <a:lin ang="8471591"/>
            </a:gradFill>
            <a:ln w="12700">
              <a:solidFill>
                <a:srgbClr val="F105D3"/>
              </a:solidFill>
              <a:miter lim="400000"/>
            </a:ln>
            <a:effectLst>
              <a:outerShdw blurRad="38100" dist="26654" dir="2315233" rotWithShape="0">
                <a:srgbClr val="000000">
                  <a:alpha val="28814"/>
                </a:srgbClr>
              </a:outerShdw>
            </a:effectLst>
          </p:spPr>
        </p:pic>
      </p:grpSp>
      <p:sp>
        <p:nvSpPr>
          <p:cNvPr id="27" name="TextBox 26">
            <a:extLst>
              <a:ext uri="{FF2B5EF4-FFF2-40B4-BE49-F238E27FC236}">
                <a16:creationId xmlns:a16="http://schemas.microsoft.com/office/drawing/2014/main" xmlns="" id="{1CA9E27B-21BF-4C5F-B264-677E6394AC86}"/>
              </a:ext>
            </a:extLst>
          </p:cNvPr>
          <p:cNvSpPr txBox="1"/>
          <p:nvPr/>
        </p:nvSpPr>
        <p:spPr>
          <a:xfrm>
            <a:off x="589549" y="1227693"/>
            <a:ext cx="8750802" cy="4401205"/>
          </a:xfrm>
          <a:prstGeom prst="rect">
            <a:avLst/>
          </a:prstGeom>
          <a:noFill/>
        </p:spPr>
        <p:txBody>
          <a:bodyPr wrap="square" rtlCol="0">
            <a:spAutoFit/>
          </a:bodyPr>
          <a:lstStyle/>
          <a:p>
            <a:pPr algn="just"/>
            <a:r>
              <a:rPr lang="en-US" sz="2000" dirty="0" err="1">
                <a:solidFill>
                  <a:srgbClr val="0000FF"/>
                </a:solidFill>
                <a:latin typeface="Arial" panose="020B0604020202020204" pitchFamily="34" charset="0"/>
                <a:cs typeface="Arial" panose="020B0604020202020204" pitchFamily="34" charset="0"/>
              </a:rPr>
              <a:t>java.util.package</a:t>
            </a:r>
            <a:r>
              <a:rPr lang="en-US" sz="2000" dirty="0">
                <a:solidFill>
                  <a:srgbClr val="0000FF"/>
                </a:solidFill>
                <a:latin typeface="Arial" panose="020B0604020202020204" pitchFamily="34" charset="0"/>
                <a:cs typeface="Arial" panose="020B0604020202020204" pitchFamily="34" charset="0"/>
              </a:rPr>
              <a:t> is introduced in JDK 1.0 (1995) in which limited number of classes are released. They are:</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Vector (c) (FIFO)</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Stack (c) (LIFO)</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Dictionary (ac)</a:t>
            </a:r>
          </a:p>
          <a:p>
            <a:pPr marL="971550" lvl="1" indent="-514350" algn="just">
              <a:buFont typeface="+mj-lt"/>
              <a:buAutoNum type="alphaLcPeriod"/>
            </a:pPr>
            <a:r>
              <a:rPr lang="en-US" sz="2000" dirty="0">
                <a:solidFill>
                  <a:srgbClr val="0000FF"/>
                </a:solidFill>
                <a:latin typeface="Arial" panose="020B0604020202020204" pitchFamily="34" charset="0"/>
                <a:cs typeface="Arial" panose="020B0604020202020204" pitchFamily="34" charset="0"/>
              </a:rPr>
              <a:t>Hashtable (c)</a:t>
            </a:r>
          </a:p>
          <a:p>
            <a:pPr marL="1428750" lvl="2"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Properties (c)</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Enumeration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a:t>
            </a:r>
          </a:p>
          <a:p>
            <a:pPr marL="514350" indent="-514350" algn="just">
              <a:buFont typeface="+mj-lt"/>
              <a:buAutoNum type="romanLcPeriod"/>
            </a:pPr>
            <a:endParaRPr lang="en-US" sz="2000" dirty="0">
              <a:solidFill>
                <a:srgbClr val="0000FF"/>
              </a:solidFill>
              <a:latin typeface="Arial" panose="020B0604020202020204" pitchFamily="34" charset="0"/>
              <a:cs typeface="Arial" panose="020B0604020202020204" pitchFamily="34" charset="0"/>
            </a:endParaRP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Observable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a:t>
            </a:r>
          </a:p>
          <a:p>
            <a:pPr marL="514350" indent="-514350" algn="just">
              <a:buFont typeface="+mj-lt"/>
              <a:buAutoNum type="romanLcPeriod"/>
            </a:pPr>
            <a:r>
              <a:rPr lang="en-US" sz="2000" dirty="0" err="1">
                <a:solidFill>
                  <a:srgbClr val="0000FF"/>
                </a:solidFill>
                <a:latin typeface="Arial" panose="020B0604020202020204" pitchFamily="34" charset="0"/>
                <a:cs typeface="Arial" panose="020B0604020202020204" pitchFamily="34" charset="0"/>
              </a:rPr>
              <a:t>EventObject</a:t>
            </a:r>
            <a:r>
              <a:rPr lang="en-US" sz="2000" dirty="0">
                <a:solidFill>
                  <a:srgbClr val="0000FF"/>
                </a:solidFill>
                <a:latin typeface="Arial" panose="020B0604020202020204" pitchFamily="34" charset="0"/>
                <a:cs typeface="Arial" panose="020B0604020202020204" pitchFamily="34" charset="0"/>
              </a:rPr>
              <a:t> (</a:t>
            </a:r>
            <a:r>
              <a:rPr lang="en-US" sz="2000" dirty="0" err="1">
                <a:solidFill>
                  <a:srgbClr val="0000FF"/>
                </a:solidFill>
                <a:latin typeface="Arial" panose="020B0604020202020204" pitchFamily="34" charset="0"/>
                <a:cs typeface="Arial" panose="020B0604020202020204" pitchFamily="34" charset="0"/>
              </a:rPr>
              <a:t>i</a:t>
            </a:r>
            <a:r>
              <a:rPr lang="en-US" sz="2000" dirty="0">
                <a:solidFill>
                  <a:srgbClr val="0000FF"/>
                </a:solidFill>
                <a:latin typeface="Arial" panose="020B0604020202020204" pitchFamily="34" charset="0"/>
                <a:cs typeface="Arial" panose="020B0604020202020204" pitchFamily="34" charset="0"/>
              </a:rPr>
              <a:t>)</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Date (c)</a:t>
            </a:r>
          </a:p>
          <a:p>
            <a:pPr marL="514350" indent="-514350" algn="just">
              <a:buFont typeface="+mj-lt"/>
              <a:buAutoNum type="romanLcPeriod"/>
            </a:pPr>
            <a:r>
              <a:rPr lang="en-US" sz="2000" dirty="0">
                <a:solidFill>
                  <a:srgbClr val="0000FF"/>
                </a:solidFill>
                <a:latin typeface="Arial" panose="020B0604020202020204" pitchFamily="34" charset="0"/>
                <a:cs typeface="Arial" panose="020B0604020202020204" pitchFamily="34" charset="0"/>
              </a:rPr>
              <a:t>Random (c)</a:t>
            </a:r>
          </a:p>
          <a:p>
            <a:pPr marL="514350" indent="-514350" algn="just">
              <a:buFont typeface="+mj-lt"/>
              <a:buAutoNum type="romanLcPeriod"/>
            </a:pPr>
            <a:r>
              <a:rPr lang="en-US" sz="2000" dirty="0" err="1">
                <a:solidFill>
                  <a:srgbClr val="0000FF"/>
                </a:solidFill>
                <a:latin typeface="Arial" panose="020B0604020202020204" pitchFamily="34" charset="0"/>
                <a:cs typeface="Arial" panose="020B0604020202020204" pitchFamily="34" charset="0"/>
              </a:rPr>
              <a:t>StringTokenizer</a:t>
            </a:r>
            <a:r>
              <a:rPr lang="en-US" sz="2000" dirty="0">
                <a:solidFill>
                  <a:srgbClr val="0000FF"/>
                </a:solidFill>
                <a:latin typeface="Arial" panose="020B0604020202020204" pitchFamily="34" charset="0"/>
                <a:cs typeface="Arial" panose="020B0604020202020204" pitchFamily="34" charset="0"/>
              </a:rPr>
              <a:t> (c)</a:t>
            </a:r>
          </a:p>
        </p:txBody>
      </p:sp>
      <p:sp>
        <p:nvSpPr>
          <p:cNvPr id="25" name="Footer Placeholder 6">
            <a:extLst>
              <a:ext uri="{FF2B5EF4-FFF2-40B4-BE49-F238E27FC236}">
                <a16:creationId xmlns:a16="http://schemas.microsoft.com/office/drawing/2014/main" xmlns="" id="{91104A4B-9DF2-5A7B-6B22-957240982562}"/>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smtClean="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835088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D42BBEC7-9B24-4B29-8AC8-7DA4FE31D11A}"/>
              </a:ext>
            </a:extLst>
          </p:cNvPr>
          <p:cNvGrpSpPr/>
          <p:nvPr/>
        </p:nvGrpSpPr>
        <p:grpSpPr>
          <a:xfrm>
            <a:off x="2984500" y="0"/>
            <a:ext cx="9207500" cy="6858000"/>
            <a:chOff x="2984500" y="0"/>
            <a:chExt cx="9207500" cy="6858000"/>
          </a:xfrm>
        </p:grpSpPr>
        <p:sp>
          <p:nvSpPr>
            <p:cNvPr id="2" name="Rectangle: Top Corners Rounded 1">
              <a:extLst>
                <a:ext uri="{FF2B5EF4-FFF2-40B4-BE49-F238E27FC236}">
                  <a16:creationId xmlns:a16="http://schemas.microsoft.com/office/drawing/2014/main" xmlns="" id="{2F21D5CB-8D83-489E-A8D5-0914A1FA0E53}"/>
                </a:ext>
              </a:extLst>
            </p:cNvPr>
            <p:cNvSpPr/>
            <p:nvPr/>
          </p:nvSpPr>
          <p:spPr>
            <a:xfrm>
              <a:off x="2984500" y="0"/>
              <a:ext cx="5803900" cy="704850"/>
            </a:xfrm>
            <a:prstGeom prst="round2SameRect">
              <a:avLst>
                <a:gd name="adj1" fmla="val 36087"/>
                <a:gd name="adj2" fmla="val 0"/>
              </a:avLst>
            </a:prstGeom>
            <a:gradFill>
              <a:gsLst>
                <a:gs pos="2372">
                  <a:srgbClr val="FF0040"/>
                </a:gs>
                <a:gs pos="37053">
                  <a:srgbClr val="FF0071"/>
                </a:gs>
                <a:gs pos="99150">
                  <a:srgbClr val="FF00A2"/>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b="1" dirty="0">
                  <a:solidFill>
                    <a:schemeClr val="bg1"/>
                  </a:solidFill>
                  <a:latin typeface="Bookman Old Style" panose="02050604050505020204" pitchFamily="18" charset="0"/>
                </a:rPr>
                <a:t>java.util package (Legacy Classes)</a:t>
              </a:r>
            </a:p>
          </p:txBody>
        </p:sp>
        <p:grpSp>
          <p:nvGrpSpPr>
            <p:cNvPr id="7" name="Group 6">
              <a:extLst>
                <a:ext uri="{FF2B5EF4-FFF2-40B4-BE49-F238E27FC236}">
                  <a16:creationId xmlns:a16="http://schemas.microsoft.com/office/drawing/2014/main" xmlns="" id="{28F4983B-6C95-4254-80DC-829F0BD7B620}"/>
                </a:ext>
              </a:extLst>
            </p:cNvPr>
            <p:cNvGrpSpPr/>
            <p:nvPr/>
          </p:nvGrpSpPr>
          <p:grpSpPr>
            <a:xfrm>
              <a:off x="10763250" y="0"/>
              <a:ext cx="1428750" cy="1416050"/>
              <a:chOff x="10763250" y="0"/>
              <a:chExt cx="1428750" cy="1416050"/>
            </a:xfrm>
          </p:grpSpPr>
          <p:sp>
            <p:nvSpPr>
              <p:cNvPr id="3" name="Star: 10 Points 2">
                <a:extLst>
                  <a:ext uri="{FF2B5EF4-FFF2-40B4-BE49-F238E27FC236}">
                    <a16:creationId xmlns:a16="http://schemas.microsoft.com/office/drawing/2014/main" xmlns="" id="{2125074D-F2AD-4CDA-B232-556A538E7052}"/>
                  </a:ext>
                </a:extLst>
              </p:cNvPr>
              <p:cNvSpPr/>
              <p:nvPr/>
            </p:nvSpPr>
            <p:spPr>
              <a:xfrm>
                <a:off x="10763250" y="0"/>
                <a:ext cx="1428750" cy="1416050"/>
              </a:xfrm>
              <a:prstGeom prst="star10">
                <a:avLst>
                  <a:gd name="adj" fmla="val 40291"/>
                  <a:gd name="hf" fmla="val 105146"/>
                </a:avLst>
              </a:prstGeom>
              <a:gradFill>
                <a:gsLst>
                  <a:gs pos="0">
                    <a:srgbClr val="FF9933"/>
                  </a:gs>
                  <a:gs pos="36657">
                    <a:srgbClr val="FF5050"/>
                  </a:gs>
                  <a:gs pos="77153">
                    <a:srgbClr val="C00000"/>
                  </a:gs>
                </a:gsLst>
              </a:gradFill>
              <a:ln w="12700">
                <a:miter lim="400000"/>
              </a:ln>
              <a:scene3d>
                <a:camera prst="orthographicFront"/>
                <a:lightRig rig="threePt" dir="t"/>
              </a:scene3d>
              <a:sp3d>
                <a:bevelT prst="slope"/>
              </a:sp3d>
            </p:spPr>
            <p:txBody>
              <a:bodyPr lIns="45718" tIns="45718" rIns="45718" bIns="45718" anchor="ctr"/>
              <a:lstStyle/>
              <a:p>
                <a:pPr algn="ctr"/>
                <a:endParaRPr lang="en-US">
                  <a:solidFill>
                    <a:srgbClr val="FFFFFF"/>
                  </a:solidFill>
                </a:endParaRPr>
              </a:p>
            </p:txBody>
          </p:sp>
          <p:pic>
            <p:nvPicPr>
              <p:cNvPr id="4" name="Picture 3">
                <a:extLst>
                  <a:ext uri="{FF2B5EF4-FFF2-40B4-BE49-F238E27FC236}">
                    <a16:creationId xmlns:a16="http://schemas.microsoft.com/office/drawing/2014/main" xmlns="" id="{4D4523C6-7161-49A7-843D-CEB5A84B03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01130" y="292769"/>
                <a:ext cx="752990" cy="82416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5" name="Rectangle 4">
              <a:extLst>
                <a:ext uri="{FF2B5EF4-FFF2-40B4-BE49-F238E27FC236}">
                  <a16:creationId xmlns:a16="http://schemas.microsoft.com/office/drawing/2014/main" xmlns="" id="{F232EA7C-96FC-445C-9469-5B82D2FB55AD}"/>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grpSp>
      <p:sp>
        <p:nvSpPr>
          <p:cNvPr id="9" name="TextBox 8">
            <a:extLst>
              <a:ext uri="{FF2B5EF4-FFF2-40B4-BE49-F238E27FC236}">
                <a16:creationId xmlns:a16="http://schemas.microsoft.com/office/drawing/2014/main" xmlns="" id="{587FAE38-A057-454A-9D2B-97FA83295286}"/>
              </a:ext>
            </a:extLst>
          </p:cNvPr>
          <p:cNvSpPr txBox="1"/>
          <p:nvPr/>
        </p:nvSpPr>
        <p:spPr>
          <a:xfrm>
            <a:off x="285751" y="958753"/>
            <a:ext cx="8918782" cy="2554545"/>
          </a:xfrm>
          <a:prstGeom prst="rect">
            <a:avLst/>
          </a:prstGeom>
          <a:noFill/>
        </p:spPr>
        <p:txBody>
          <a:bodyPr wrap="square" rtlCol="0">
            <a:spAutoFit/>
          </a:bodyPr>
          <a:lstStyle/>
          <a:p>
            <a:r>
              <a:rPr lang="en-US" sz="2000" b="1" u="sng" dirty="0">
                <a:solidFill>
                  <a:srgbClr val="0000FF"/>
                </a:solidFill>
                <a:latin typeface="Arial" panose="020B0604020202020204" pitchFamily="34" charset="0"/>
                <a:cs typeface="Arial" panose="020B0604020202020204" pitchFamily="34" charset="0"/>
              </a:rPr>
              <a:t>class Vector:</a:t>
            </a:r>
          </a:p>
          <a:p>
            <a:pPr algn="just"/>
            <a:r>
              <a:rPr lang="en-US" sz="2000" dirty="0">
                <a:solidFill>
                  <a:srgbClr val="0000FF"/>
                </a:solidFill>
                <a:latin typeface="Arial" panose="020B0604020202020204" pitchFamily="34" charset="0"/>
                <a:cs typeface="Arial" panose="020B0604020202020204" pitchFamily="34" charset="0"/>
              </a:rPr>
              <a:t>Vector is a incremental integer index based array. The index value starts from 0 ... n-1. In Vector given order is maintained.</a:t>
            </a:r>
          </a:p>
          <a:p>
            <a:pPr algn="just"/>
            <a:endParaRPr lang="en-US" sz="2000" dirty="0">
              <a:solidFill>
                <a:srgbClr val="0000FF"/>
              </a:solidFill>
              <a:latin typeface="Arial" panose="020B0604020202020204" pitchFamily="34" charset="0"/>
              <a:cs typeface="Arial" panose="020B0604020202020204" pitchFamily="34" charset="0"/>
            </a:endParaRPr>
          </a:p>
          <a:p>
            <a:pPr algn="just"/>
            <a:r>
              <a:rPr lang="en-US" sz="2000" dirty="0">
                <a:solidFill>
                  <a:srgbClr val="0000FF"/>
                </a:solidFill>
                <a:latin typeface="Arial" panose="020B0604020202020204" pitchFamily="34" charset="0"/>
                <a:cs typeface="Arial" panose="020B0604020202020204" pitchFamily="34" charset="0"/>
              </a:rPr>
              <a:t>Vector v1=new Vector();</a:t>
            </a:r>
          </a:p>
          <a:p>
            <a:pPr algn="just"/>
            <a:r>
              <a:rPr lang="en-US" sz="2000" dirty="0">
                <a:solidFill>
                  <a:srgbClr val="0000FF"/>
                </a:solidFill>
                <a:latin typeface="Arial" panose="020B0604020202020204" pitchFamily="34" charset="0"/>
                <a:cs typeface="Arial" panose="020B0604020202020204" pitchFamily="34" charset="0"/>
              </a:rPr>
              <a:t>v1.add("one");	// 0</a:t>
            </a:r>
            <a:r>
              <a:rPr lang="en-US" sz="2000" baseline="30000" dirty="0">
                <a:solidFill>
                  <a:srgbClr val="0000FF"/>
                </a:solidFill>
                <a:latin typeface="Arial" panose="020B0604020202020204" pitchFamily="34" charset="0"/>
                <a:cs typeface="Arial" panose="020B0604020202020204" pitchFamily="34" charset="0"/>
              </a:rPr>
              <a:t>th</a:t>
            </a:r>
            <a:r>
              <a:rPr lang="en-US" sz="2000" dirty="0">
                <a:solidFill>
                  <a:srgbClr val="0000FF"/>
                </a:solidFill>
                <a:latin typeface="Arial" panose="020B0604020202020204" pitchFamily="34" charset="0"/>
                <a:cs typeface="Arial" panose="020B0604020202020204" pitchFamily="34" charset="0"/>
              </a:rPr>
              <a:t> index</a:t>
            </a:r>
          </a:p>
          <a:p>
            <a:pPr algn="just"/>
            <a:r>
              <a:rPr lang="en-US" sz="2000" dirty="0">
                <a:solidFill>
                  <a:srgbClr val="0000FF"/>
                </a:solidFill>
                <a:latin typeface="Arial" panose="020B0604020202020204" pitchFamily="34" charset="0"/>
                <a:cs typeface="Arial" panose="020B0604020202020204" pitchFamily="34" charset="0"/>
              </a:rPr>
              <a:t>v1.add(2); // 1</a:t>
            </a:r>
            <a:r>
              <a:rPr lang="en-US" sz="2000" baseline="30000" dirty="0">
                <a:solidFill>
                  <a:srgbClr val="0000FF"/>
                </a:solidFill>
                <a:latin typeface="Arial" panose="020B0604020202020204" pitchFamily="34" charset="0"/>
                <a:cs typeface="Arial" panose="020B0604020202020204" pitchFamily="34" charset="0"/>
              </a:rPr>
              <a:t>st</a:t>
            </a:r>
            <a:r>
              <a:rPr lang="en-US" sz="2000" dirty="0">
                <a:solidFill>
                  <a:srgbClr val="0000FF"/>
                </a:solidFill>
                <a:latin typeface="Arial" panose="020B0604020202020204" pitchFamily="34" charset="0"/>
                <a:cs typeface="Arial" panose="020B0604020202020204" pitchFamily="34" charset="0"/>
              </a:rPr>
              <a:t> index</a:t>
            </a:r>
          </a:p>
          <a:p>
            <a:pPr algn="just"/>
            <a:r>
              <a:rPr lang="en-US" sz="2000" dirty="0">
                <a:solidFill>
                  <a:srgbClr val="0000FF"/>
                </a:solidFill>
                <a:latin typeface="Arial" panose="020B0604020202020204" pitchFamily="34" charset="0"/>
                <a:cs typeface="Arial" panose="020B0604020202020204" pitchFamily="34" charset="0"/>
              </a:rPr>
              <a:t>v1.add(3.0); // 2</a:t>
            </a:r>
            <a:r>
              <a:rPr lang="en-US" sz="2000" baseline="30000" dirty="0">
                <a:solidFill>
                  <a:srgbClr val="0000FF"/>
                </a:solidFill>
                <a:latin typeface="Arial" panose="020B0604020202020204" pitchFamily="34" charset="0"/>
                <a:cs typeface="Arial" panose="020B0604020202020204" pitchFamily="34" charset="0"/>
              </a:rPr>
              <a:t>nd</a:t>
            </a:r>
            <a:r>
              <a:rPr lang="en-US" sz="2000" dirty="0">
                <a:solidFill>
                  <a:srgbClr val="0000FF"/>
                </a:solidFill>
                <a:latin typeface="Arial" panose="020B0604020202020204" pitchFamily="34" charset="0"/>
                <a:cs typeface="Arial" panose="020B0604020202020204" pitchFamily="34" charset="0"/>
              </a:rPr>
              <a:t> index</a:t>
            </a:r>
          </a:p>
        </p:txBody>
      </p:sp>
      <p:graphicFrame>
        <p:nvGraphicFramePr>
          <p:cNvPr id="6" name="Table 9">
            <a:extLst>
              <a:ext uri="{FF2B5EF4-FFF2-40B4-BE49-F238E27FC236}">
                <a16:creationId xmlns:a16="http://schemas.microsoft.com/office/drawing/2014/main" xmlns="" id="{BFE7DC37-FC38-B30E-FD6E-822E6282B4B4}"/>
              </a:ext>
            </a:extLst>
          </p:cNvPr>
          <p:cNvGraphicFramePr>
            <a:graphicFrameLocks noGrp="1"/>
          </p:cNvGraphicFramePr>
          <p:nvPr>
            <p:extLst>
              <p:ext uri="{D42A27DB-BD31-4B8C-83A1-F6EECF244321}">
                <p14:modId xmlns:p14="http://schemas.microsoft.com/office/powerpoint/2010/main" val="2927864046"/>
              </p:ext>
            </p:extLst>
          </p:nvPr>
        </p:nvGraphicFramePr>
        <p:xfrm>
          <a:off x="5886450" y="2283841"/>
          <a:ext cx="2782048" cy="1483360"/>
        </p:xfrm>
        <a:graphic>
          <a:graphicData uri="http://schemas.openxmlformats.org/drawingml/2006/table">
            <a:tbl>
              <a:tblPr firstRow="1" bandRow="1">
                <a:tableStyleId>{5C22544A-7EE6-4342-B048-85BDC9FD1C3A}</a:tableStyleId>
              </a:tblPr>
              <a:tblGrid>
                <a:gridCol w="1391024">
                  <a:extLst>
                    <a:ext uri="{9D8B030D-6E8A-4147-A177-3AD203B41FA5}">
                      <a16:colId xmlns:a16="http://schemas.microsoft.com/office/drawing/2014/main" xmlns="" val="3298802296"/>
                    </a:ext>
                  </a:extLst>
                </a:gridCol>
                <a:gridCol w="1391024">
                  <a:extLst>
                    <a:ext uri="{9D8B030D-6E8A-4147-A177-3AD203B41FA5}">
                      <a16:colId xmlns:a16="http://schemas.microsoft.com/office/drawing/2014/main" xmlns="" val="3798317369"/>
                    </a:ext>
                  </a:extLst>
                </a:gridCol>
              </a:tblGrid>
              <a:tr h="370840">
                <a:tc>
                  <a:txBody>
                    <a:bodyPr/>
                    <a:lstStyle/>
                    <a:p>
                      <a:r>
                        <a:rPr lang="en-IN" dirty="0"/>
                        <a:t>index</a:t>
                      </a:r>
                    </a:p>
                  </a:txBody>
                  <a:tcPr/>
                </a:tc>
                <a:tc>
                  <a:txBody>
                    <a:bodyPr/>
                    <a:lstStyle/>
                    <a:p>
                      <a:r>
                        <a:rPr lang="en-IN" dirty="0"/>
                        <a:t>value</a:t>
                      </a:r>
                    </a:p>
                  </a:txBody>
                  <a:tcPr/>
                </a:tc>
                <a:extLst>
                  <a:ext uri="{0D108BD9-81ED-4DB2-BD59-A6C34878D82A}">
                    <a16:rowId xmlns:a16="http://schemas.microsoft.com/office/drawing/2014/main" xmlns="" val="118023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One</a:t>
                      </a:r>
                    </a:p>
                  </a:txBody>
                  <a:tcPr/>
                </a:tc>
                <a:extLst>
                  <a:ext uri="{0D108BD9-81ED-4DB2-BD59-A6C34878D82A}">
                    <a16:rowId xmlns:a16="http://schemas.microsoft.com/office/drawing/2014/main" xmlns="" val="17900987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2</a:t>
                      </a:r>
                    </a:p>
                  </a:txBody>
                  <a:tcPr/>
                </a:tc>
                <a:extLst>
                  <a:ext uri="{0D108BD9-81ED-4DB2-BD59-A6C34878D82A}">
                    <a16:rowId xmlns:a16="http://schemas.microsoft.com/office/drawing/2014/main" xmlns="" val="12724390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3.0</a:t>
                      </a:r>
                    </a:p>
                  </a:txBody>
                  <a:tcPr/>
                </a:tc>
                <a:extLst>
                  <a:ext uri="{0D108BD9-81ED-4DB2-BD59-A6C34878D82A}">
                    <a16:rowId xmlns:a16="http://schemas.microsoft.com/office/drawing/2014/main" xmlns="" val="400751657"/>
                  </a:ext>
                </a:extLst>
              </a:tr>
            </a:tbl>
          </a:graphicData>
        </a:graphic>
      </p:graphicFrame>
      <p:sp>
        <p:nvSpPr>
          <p:cNvPr id="10" name="TextBox 9">
            <a:extLst>
              <a:ext uri="{FF2B5EF4-FFF2-40B4-BE49-F238E27FC236}">
                <a16:creationId xmlns:a16="http://schemas.microsoft.com/office/drawing/2014/main" xmlns="" id="{25055A50-1926-89C2-FC34-5FC94A3BC2F0}"/>
              </a:ext>
            </a:extLst>
          </p:cNvPr>
          <p:cNvSpPr txBox="1"/>
          <p:nvPr/>
        </p:nvSpPr>
        <p:spPr>
          <a:xfrm>
            <a:off x="470647" y="3922295"/>
            <a:ext cx="3703193" cy="1200329"/>
          </a:xfrm>
          <a:prstGeom prst="rect">
            <a:avLst/>
          </a:prstGeom>
          <a:noFill/>
        </p:spPr>
        <p:txBody>
          <a:bodyPr wrap="none" rtlCol="0">
            <a:spAutoFit/>
          </a:bodyPr>
          <a:lstStyle/>
          <a:p>
            <a:r>
              <a:rPr lang="en-IN" dirty="0"/>
              <a:t>Enumeration </a:t>
            </a:r>
            <a:r>
              <a:rPr lang="en-IN" dirty="0" err="1"/>
              <a:t>en</a:t>
            </a:r>
            <a:r>
              <a:rPr lang="en-IN" dirty="0"/>
              <a:t>=</a:t>
            </a:r>
            <a:r>
              <a:rPr lang="en-IN" dirty="0" err="1"/>
              <a:t>v.elements</a:t>
            </a:r>
            <a:r>
              <a:rPr lang="en-IN" dirty="0"/>
              <a:t>();</a:t>
            </a:r>
          </a:p>
          <a:p>
            <a:r>
              <a:rPr lang="en-IN" dirty="0"/>
              <a:t>while(</a:t>
            </a:r>
            <a:r>
              <a:rPr lang="en-IN" dirty="0" err="1"/>
              <a:t>en.hasMoreElements</a:t>
            </a:r>
            <a:r>
              <a:rPr lang="en-IN" dirty="0"/>
              <a:t>() {</a:t>
            </a:r>
          </a:p>
          <a:p>
            <a:r>
              <a:rPr lang="en-IN" dirty="0"/>
              <a:t>	Object o=</a:t>
            </a:r>
            <a:r>
              <a:rPr lang="en-IN" dirty="0" err="1"/>
              <a:t>en.nextElement</a:t>
            </a:r>
            <a:r>
              <a:rPr lang="en-IN" dirty="0"/>
              <a:t>();</a:t>
            </a:r>
          </a:p>
          <a:p>
            <a:r>
              <a:rPr lang="en-IN" dirty="0"/>
              <a:t>}</a:t>
            </a:r>
          </a:p>
        </p:txBody>
      </p:sp>
      <p:cxnSp>
        <p:nvCxnSpPr>
          <p:cNvPr id="12" name="Connector: Curved 11">
            <a:extLst>
              <a:ext uri="{FF2B5EF4-FFF2-40B4-BE49-F238E27FC236}">
                <a16:creationId xmlns:a16="http://schemas.microsoft.com/office/drawing/2014/main" xmlns="" id="{1D1AFF9F-DE07-209F-6022-278260CF1DB0}"/>
              </a:ext>
            </a:extLst>
          </p:cNvPr>
          <p:cNvCxnSpPr>
            <a:cxnSpLocks/>
            <a:stCxn id="10" idx="0"/>
          </p:cNvCxnSpPr>
          <p:nvPr/>
        </p:nvCxnSpPr>
        <p:spPr>
          <a:xfrm rot="5400000" flipH="1" flipV="1">
            <a:off x="3261210" y="1297059"/>
            <a:ext cx="1686270" cy="356420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xmlns="" id="{D2C39251-1A52-5673-78C1-C51C262007EB}"/>
                  </a:ext>
                </a:extLst>
              </p14:cNvPr>
              <p14:cNvContentPartPr/>
              <p14:nvPr/>
            </p14:nvContentPartPr>
            <p14:xfrm>
              <a:off x="5538621" y="2326108"/>
              <a:ext cx="243720" cy="456840"/>
            </p14:xfrm>
          </p:contentPart>
        </mc:Choice>
        <mc:Fallback xmlns="">
          <p:pic>
            <p:nvPicPr>
              <p:cNvPr id="15" name="Ink 14">
                <a:extLst>
                  <a:ext uri="{FF2B5EF4-FFF2-40B4-BE49-F238E27FC236}">
                    <a16:creationId xmlns:a16="http://schemas.microsoft.com/office/drawing/2014/main" id="{D2C39251-1A52-5673-78C1-C51C262007EB}"/>
                  </a:ext>
                </a:extLst>
              </p:cNvPr>
              <p:cNvPicPr/>
              <p:nvPr/>
            </p:nvPicPr>
            <p:blipFill>
              <a:blip r:embed="rId4"/>
              <a:stretch>
                <a:fillRect/>
              </a:stretch>
            </p:blipFill>
            <p:spPr>
              <a:xfrm>
                <a:off x="5529981" y="2317108"/>
                <a:ext cx="261360" cy="474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xmlns="" id="{414E18EA-5291-95C5-8F96-3D62C9FF6121}"/>
                  </a:ext>
                </a:extLst>
              </p14:cNvPr>
              <p14:cNvContentPartPr/>
              <p14:nvPr/>
            </p14:nvContentPartPr>
            <p14:xfrm>
              <a:off x="5536461" y="2783308"/>
              <a:ext cx="279000" cy="834840"/>
            </p14:xfrm>
          </p:contentPart>
        </mc:Choice>
        <mc:Fallback xmlns="">
          <p:pic>
            <p:nvPicPr>
              <p:cNvPr id="16" name="Ink 15">
                <a:extLst>
                  <a:ext uri="{FF2B5EF4-FFF2-40B4-BE49-F238E27FC236}">
                    <a16:creationId xmlns:a16="http://schemas.microsoft.com/office/drawing/2014/main" id="{414E18EA-5291-95C5-8F96-3D62C9FF6121}"/>
                  </a:ext>
                </a:extLst>
              </p:cNvPr>
              <p:cNvPicPr/>
              <p:nvPr/>
            </p:nvPicPr>
            <p:blipFill>
              <a:blip r:embed="rId6"/>
              <a:stretch>
                <a:fillRect/>
              </a:stretch>
            </p:blipFill>
            <p:spPr>
              <a:xfrm>
                <a:off x="5527461" y="2774668"/>
                <a:ext cx="296640" cy="852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xmlns="" id="{2B2BCF1A-7C75-9800-D5A8-1D0EEDFB5DD1}"/>
                  </a:ext>
                </a:extLst>
              </p14:cNvPr>
              <p14:cNvContentPartPr/>
              <p14:nvPr/>
            </p14:nvContentPartPr>
            <p14:xfrm>
              <a:off x="7920021" y="3765028"/>
              <a:ext cx="360" cy="360"/>
            </p14:xfrm>
          </p:contentPart>
        </mc:Choice>
        <mc:Fallback xmlns="">
          <p:pic>
            <p:nvPicPr>
              <p:cNvPr id="17" name="Ink 16">
                <a:extLst>
                  <a:ext uri="{FF2B5EF4-FFF2-40B4-BE49-F238E27FC236}">
                    <a16:creationId xmlns:a16="http://schemas.microsoft.com/office/drawing/2014/main" id="{2B2BCF1A-7C75-9800-D5A8-1D0EEDFB5DD1}"/>
                  </a:ext>
                </a:extLst>
              </p:cNvPr>
              <p:cNvPicPr/>
              <p:nvPr/>
            </p:nvPicPr>
            <p:blipFill>
              <a:blip r:embed="rId8"/>
              <a:stretch>
                <a:fillRect/>
              </a:stretch>
            </p:blipFill>
            <p:spPr>
              <a:xfrm>
                <a:off x="7911021" y="375602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xmlns="" id="{DC23C9C9-FD53-C7B1-D40F-6211D32CA9A7}"/>
                  </a:ext>
                </a:extLst>
              </p14:cNvPr>
              <p14:cNvContentPartPr/>
              <p14:nvPr/>
            </p14:nvContentPartPr>
            <p14:xfrm>
              <a:off x="5510541" y="3617068"/>
              <a:ext cx="358200" cy="396000"/>
            </p14:xfrm>
          </p:contentPart>
        </mc:Choice>
        <mc:Fallback xmlns="">
          <p:pic>
            <p:nvPicPr>
              <p:cNvPr id="18" name="Ink 17">
                <a:extLst>
                  <a:ext uri="{FF2B5EF4-FFF2-40B4-BE49-F238E27FC236}">
                    <a16:creationId xmlns:a16="http://schemas.microsoft.com/office/drawing/2014/main" id="{DC23C9C9-FD53-C7B1-D40F-6211D32CA9A7}"/>
                  </a:ext>
                </a:extLst>
              </p:cNvPr>
              <p:cNvPicPr/>
              <p:nvPr/>
            </p:nvPicPr>
            <p:blipFill>
              <a:blip r:embed="rId10"/>
              <a:stretch>
                <a:fillRect/>
              </a:stretch>
            </p:blipFill>
            <p:spPr>
              <a:xfrm>
                <a:off x="5501541" y="3608068"/>
                <a:ext cx="37584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xmlns="" id="{4948D846-501E-934B-6376-1A1BA7B33B5D}"/>
                  </a:ext>
                </a:extLst>
              </p14:cNvPr>
              <p14:cNvContentPartPr/>
              <p14:nvPr/>
            </p14:nvContentPartPr>
            <p14:xfrm>
              <a:off x="8121621" y="5889748"/>
              <a:ext cx="360" cy="360"/>
            </p14:xfrm>
          </p:contentPart>
        </mc:Choice>
        <mc:Fallback xmlns="">
          <p:pic>
            <p:nvPicPr>
              <p:cNvPr id="19" name="Ink 18">
                <a:extLst>
                  <a:ext uri="{FF2B5EF4-FFF2-40B4-BE49-F238E27FC236}">
                    <a16:creationId xmlns:a16="http://schemas.microsoft.com/office/drawing/2014/main" id="{4948D846-501E-934B-6376-1A1BA7B33B5D}"/>
                  </a:ext>
                </a:extLst>
              </p:cNvPr>
              <p:cNvPicPr/>
              <p:nvPr/>
            </p:nvPicPr>
            <p:blipFill>
              <a:blip r:embed="rId8"/>
              <a:stretch>
                <a:fillRect/>
              </a:stretch>
            </p:blipFill>
            <p:spPr>
              <a:xfrm>
                <a:off x="8112981" y="5881108"/>
                <a:ext cx="18000" cy="18000"/>
              </a:xfrm>
              <a:prstGeom prst="rect">
                <a:avLst/>
              </a:prstGeom>
            </p:spPr>
          </p:pic>
        </mc:Fallback>
      </mc:AlternateContent>
      <p:sp>
        <p:nvSpPr>
          <p:cNvPr id="20" name="TextBox 19">
            <a:extLst>
              <a:ext uri="{FF2B5EF4-FFF2-40B4-BE49-F238E27FC236}">
                <a16:creationId xmlns:a16="http://schemas.microsoft.com/office/drawing/2014/main" xmlns="" id="{A72BC02A-A096-75A9-A7EC-B7F0AF9E8841}"/>
              </a:ext>
            </a:extLst>
          </p:cNvPr>
          <p:cNvSpPr txBox="1"/>
          <p:nvPr/>
        </p:nvSpPr>
        <p:spPr>
          <a:xfrm>
            <a:off x="820270" y="3599567"/>
            <a:ext cx="3624838" cy="276999"/>
          </a:xfrm>
          <a:prstGeom prst="rect">
            <a:avLst/>
          </a:prstGeom>
          <a:noFill/>
        </p:spPr>
        <p:txBody>
          <a:bodyPr wrap="none" rtlCol="0">
            <a:spAutoFit/>
          </a:bodyPr>
          <a:lstStyle/>
          <a:p>
            <a:r>
              <a:rPr lang="en-IN" sz="1200" dirty="0"/>
              <a:t>Enumeration is a pointer to the elements in the vector</a:t>
            </a:r>
          </a:p>
        </p:txBody>
      </p:sp>
      <p:cxnSp>
        <p:nvCxnSpPr>
          <p:cNvPr id="22" name="Straight Arrow Connector 21">
            <a:extLst>
              <a:ext uri="{FF2B5EF4-FFF2-40B4-BE49-F238E27FC236}">
                <a16:creationId xmlns:a16="http://schemas.microsoft.com/office/drawing/2014/main" xmlns="" id="{A8AAEDC1-799D-EAC2-E4B5-C9AFA2C1745A}"/>
              </a:ext>
            </a:extLst>
          </p:cNvPr>
          <p:cNvCxnSpPr/>
          <p:nvPr/>
        </p:nvCxnSpPr>
        <p:spPr>
          <a:xfrm>
            <a:off x="1922929" y="3876566"/>
            <a:ext cx="0" cy="136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983878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CD4CE179-219B-46A3-88FD-BC782BF513DE}"/>
              </a:ext>
            </a:extLst>
          </p:cNvPr>
          <p:cNvSpPr txBox="1"/>
          <p:nvPr/>
        </p:nvSpPr>
        <p:spPr>
          <a:xfrm>
            <a:off x="285750" y="824283"/>
            <a:ext cx="3724096" cy="4801314"/>
          </a:xfrm>
          <a:prstGeom prst="rect">
            <a:avLst/>
          </a:prstGeom>
          <a:noFill/>
        </p:spPr>
        <p:txBody>
          <a:bodyPr wrap="none" rtlCol="0">
            <a:spAutoFit/>
          </a:bodyPr>
          <a:lstStyle/>
          <a:p>
            <a:r>
              <a:rPr lang="en-US" b="1" dirty="0">
                <a:solidFill>
                  <a:srgbClr val="0000FF"/>
                </a:solidFill>
                <a:latin typeface="Arial" panose="020B0604020202020204" pitchFamily="34" charset="0"/>
                <a:cs typeface="Arial" panose="020B0604020202020204" pitchFamily="34" charset="0"/>
              </a:rPr>
              <a:t>Vector class methods are:</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add(Object element)</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add(int index, Object element)</a:t>
            </a:r>
          </a:p>
          <a:p>
            <a:pPr marL="457200" indent="-457200">
              <a:buFont typeface="+mj-lt"/>
              <a:buAutoNum type="arabicPeriod"/>
            </a:pPr>
            <a:r>
              <a:rPr lang="en-US" dirty="0" err="1">
                <a:solidFill>
                  <a:srgbClr val="0000FF"/>
                </a:solidFill>
                <a:latin typeface="Arial" panose="020B0604020202020204" pitchFamily="34" charset="0"/>
                <a:cs typeface="Arial" panose="020B0604020202020204" pitchFamily="34" charset="0"/>
              </a:rPr>
              <a:t>addElement</a:t>
            </a:r>
            <a:r>
              <a:rPr lang="en-US" dirty="0">
                <a:solidFill>
                  <a:srgbClr val="0000FF"/>
                </a:solidFill>
                <a:latin typeface="Arial" panose="020B0604020202020204" pitchFamily="34" charset="0"/>
                <a:cs typeface="Arial" panose="020B0604020202020204" pitchFamily="34" charset="0"/>
              </a:rPr>
              <a:t>(Object element)</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Object get(int index)</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Enumeration elements() </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int </a:t>
            </a:r>
            <a:r>
              <a:rPr lang="en-US" dirty="0" err="1">
                <a:solidFill>
                  <a:srgbClr val="0000FF"/>
                </a:solidFill>
                <a:latin typeface="Arial" panose="020B0604020202020204" pitchFamily="34" charset="0"/>
                <a:cs typeface="Arial" panose="020B0604020202020204" pitchFamily="34" charset="0"/>
              </a:rPr>
              <a:t>indexOf</a:t>
            </a:r>
            <a:r>
              <a:rPr lang="en-US" dirty="0">
                <a:solidFill>
                  <a:srgbClr val="0000FF"/>
                </a:solidFill>
                <a:latin typeface="Arial" panose="020B0604020202020204" pitchFamily="34" charset="0"/>
                <a:cs typeface="Arial" panose="020B0604020202020204" pitchFamily="34" charset="0"/>
              </a:rPr>
              <a:t>(Object o)</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int </a:t>
            </a:r>
            <a:r>
              <a:rPr lang="en-US" dirty="0" err="1">
                <a:solidFill>
                  <a:srgbClr val="0000FF"/>
                </a:solidFill>
                <a:latin typeface="Arial" panose="020B0604020202020204" pitchFamily="34" charset="0"/>
                <a:cs typeface="Arial" panose="020B0604020202020204" pitchFamily="34" charset="0"/>
              </a:rPr>
              <a:t>lastIndexOf</a:t>
            </a:r>
            <a:r>
              <a:rPr lang="en-US" dirty="0">
                <a:solidFill>
                  <a:srgbClr val="0000FF"/>
                </a:solidFill>
                <a:latin typeface="Arial" panose="020B0604020202020204" pitchFamily="34" charset="0"/>
                <a:cs typeface="Arial" panose="020B0604020202020204" pitchFamily="34" charset="0"/>
              </a:rPr>
              <a:t>(Object o)</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remove(int index)</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remove(Object o)</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set(int index, Object o)</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Object </a:t>
            </a:r>
            <a:r>
              <a:rPr lang="en-US" dirty="0" err="1">
                <a:solidFill>
                  <a:srgbClr val="0000FF"/>
                </a:solidFill>
                <a:latin typeface="Arial" panose="020B0604020202020204" pitchFamily="34" charset="0"/>
                <a:cs typeface="Arial" panose="020B0604020202020204" pitchFamily="34" charset="0"/>
              </a:rPr>
              <a:t>firstElement</a:t>
            </a:r>
            <a:r>
              <a:rPr lang="en-US" dirty="0">
                <a:solidFill>
                  <a:srgbClr val="0000FF"/>
                </a:solidFill>
                <a:latin typeface="Arial" panose="020B0604020202020204" pitchFamily="34" charset="0"/>
                <a:cs typeface="Arial" panose="020B0604020202020204" pitchFamily="34" charset="0"/>
              </a:rPr>
              <a:t>()</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Object </a:t>
            </a:r>
            <a:r>
              <a:rPr lang="en-US" dirty="0" err="1">
                <a:solidFill>
                  <a:srgbClr val="0000FF"/>
                </a:solidFill>
                <a:latin typeface="Arial" panose="020B0604020202020204" pitchFamily="34" charset="0"/>
                <a:cs typeface="Arial" panose="020B0604020202020204" pitchFamily="34" charset="0"/>
              </a:rPr>
              <a:t>lastElement</a:t>
            </a:r>
            <a:r>
              <a:rPr lang="en-US" dirty="0">
                <a:solidFill>
                  <a:srgbClr val="0000FF"/>
                </a:solidFill>
                <a:latin typeface="Arial" panose="020B0604020202020204" pitchFamily="34" charset="0"/>
                <a:cs typeface="Arial" panose="020B0604020202020204" pitchFamily="34" charset="0"/>
              </a:rPr>
              <a:t>()</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int size()</a:t>
            </a:r>
          </a:p>
          <a:p>
            <a:pPr marL="457200" indent="-457200">
              <a:buFont typeface="+mj-lt"/>
              <a:buAutoNum type="arabicPeriod"/>
            </a:pPr>
            <a:r>
              <a:rPr lang="en-US" dirty="0" err="1">
                <a:solidFill>
                  <a:srgbClr val="0000FF"/>
                </a:solidFill>
                <a:latin typeface="Arial" panose="020B0604020202020204" pitchFamily="34" charset="0"/>
                <a:cs typeface="Arial" panose="020B0604020202020204" pitchFamily="34" charset="0"/>
              </a:rPr>
              <a:t>setSize</a:t>
            </a:r>
            <a:r>
              <a:rPr lang="en-US" dirty="0">
                <a:solidFill>
                  <a:srgbClr val="0000FF"/>
                </a:solidFill>
                <a:latin typeface="Arial" panose="020B0604020202020204" pitchFamily="34" charset="0"/>
                <a:cs typeface="Arial" panose="020B0604020202020204" pitchFamily="34" charset="0"/>
              </a:rPr>
              <a:t>(int </a:t>
            </a:r>
            <a:r>
              <a:rPr lang="en-US" dirty="0" err="1">
                <a:solidFill>
                  <a:srgbClr val="0000FF"/>
                </a:solidFill>
                <a:latin typeface="Arial" panose="020B0604020202020204" pitchFamily="34" charset="0"/>
                <a:cs typeface="Arial" panose="020B0604020202020204" pitchFamily="34" charset="0"/>
              </a:rPr>
              <a:t>requiredSize</a:t>
            </a:r>
            <a:r>
              <a:rPr lang="en-US" dirty="0">
                <a:solidFill>
                  <a:srgbClr val="0000FF"/>
                </a:solidFill>
                <a:latin typeface="Arial" panose="020B0604020202020204" pitchFamily="34" charset="0"/>
                <a:cs typeface="Arial" panose="020B0604020202020204" pitchFamily="34" charset="0"/>
              </a:rPr>
              <a:t>) </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capacity()</a:t>
            </a:r>
          </a:p>
          <a:p>
            <a:pPr marL="457200" indent="-457200">
              <a:buFont typeface="+mj-lt"/>
              <a:buAutoNum type="arabicPeriod"/>
            </a:pPr>
            <a:r>
              <a:rPr lang="en-US" dirty="0">
                <a:solidFill>
                  <a:srgbClr val="0000FF"/>
                </a:solidFill>
                <a:latin typeface="Arial" panose="020B0604020202020204" pitchFamily="34" charset="0"/>
                <a:cs typeface="Arial" panose="020B0604020202020204" pitchFamily="34" charset="0"/>
              </a:rPr>
              <a:t>clear()</a:t>
            </a:r>
          </a:p>
        </p:txBody>
      </p:sp>
      <p:grpSp>
        <p:nvGrpSpPr>
          <p:cNvPr id="11" name="Group 10">
            <a:extLst>
              <a:ext uri="{FF2B5EF4-FFF2-40B4-BE49-F238E27FC236}">
                <a16:creationId xmlns:a16="http://schemas.microsoft.com/office/drawing/2014/main" xmlns="" id="{267339E1-7D7C-4DB3-BE05-9590857DC870}"/>
              </a:ext>
            </a:extLst>
          </p:cNvPr>
          <p:cNvGrpSpPr/>
          <p:nvPr/>
        </p:nvGrpSpPr>
        <p:grpSpPr>
          <a:xfrm>
            <a:off x="3016250" y="0"/>
            <a:ext cx="9175750" cy="6858000"/>
            <a:chOff x="3016250" y="0"/>
            <a:chExt cx="9175750" cy="6858000"/>
          </a:xfrm>
        </p:grpSpPr>
        <p:sp>
          <p:nvSpPr>
            <p:cNvPr id="2" name="Scroll: Horizontal 1">
              <a:extLst>
                <a:ext uri="{FF2B5EF4-FFF2-40B4-BE49-F238E27FC236}">
                  <a16:creationId xmlns:a16="http://schemas.microsoft.com/office/drawing/2014/main" xmlns="" id="{BA379904-C2E0-4BDF-BB0E-5E815CA1234D}"/>
                </a:ext>
              </a:extLst>
            </p:cNvPr>
            <p:cNvSpPr/>
            <p:nvPr/>
          </p:nvSpPr>
          <p:spPr>
            <a:xfrm>
              <a:off x="3016250" y="0"/>
              <a:ext cx="6007100" cy="838200"/>
            </a:xfrm>
            <a:prstGeom prst="horizontalScroll">
              <a:avLst>
                <a:gd name="adj" fmla="val 14773"/>
              </a:avLst>
            </a:prstGeom>
            <a:gradFill>
              <a:gsLst>
                <a:gs pos="0">
                  <a:srgbClr val="F000C6"/>
                </a:gs>
                <a:gs pos="46532">
                  <a:srgbClr val="B800C4"/>
                </a:gs>
                <a:gs pos="100000">
                  <a:srgbClr val="8000C2"/>
                </a:gs>
              </a:gsLst>
            </a:gradFill>
            <a:ln w="12700">
              <a:solidFill>
                <a:srgbClr val="002060"/>
              </a:solidFill>
              <a:miter lim="400000"/>
            </a:ln>
          </p:spPr>
          <p:txBody>
            <a:bodyPr lIns="45718" tIns="45718" rIns="45718" bIns="45718" anchor="ctr"/>
            <a:lstStyle/>
            <a:p>
              <a:pPr algn="ctr"/>
              <a:r>
                <a:rPr lang="en-US" b="1" dirty="0">
                  <a:solidFill>
                    <a:schemeClr val="bg1"/>
                  </a:solidFill>
                  <a:latin typeface="Bookman Old Style" panose="02050604050505020204" pitchFamily="18" charset="0"/>
                </a:rPr>
                <a:t>java.util package (Legacy Classes)</a:t>
              </a:r>
            </a:p>
          </p:txBody>
        </p:sp>
        <p:grpSp>
          <p:nvGrpSpPr>
            <p:cNvPr id="8" name="Group 7">
              <a:extLst>
                <a:ext uri="{FF2B5EF4-FFF2-40B4-BE49-F238E27FC236}">
                  <a16:creationId xmlns:a16="http://schemas.microsoft.com/office/drawing/2014/main" xmlns="" id="{DDE26D0B-FC47-416B-9119-2CB124ED680B}"/>
                </a:ext>
              </a:extLst>
            </p:cNvPr>
            <p:cNvGrpSpPr/>
            <p:nvPr/>
          </p:nvGrpSpPr>
          <p:grpSpPr>
            <a:xfrm>
              <a:off x="10750550" y="0"/>
              <a:ext cx="1441450" cy="1041400"/>
              <a:chOff x="10750550" y="0"/>
              <a:chExt cx="1441450" cy="1041400"/>
            </a:xfrm>
          </p:grpSpPr>
          <p:sp>
            <p:nvSpPr>
              <p:cNvPr id="6" name="Flowchart: Document 5">
                <a:extLst>
                  <a:ext uri="{FF2B5EF4-FFF2-40B4-BE49-F238E27FC236}">
                    <a16:creationId xmlns:a16="http://schemas.microsoft.com/office/drawing/2014/main" xmlns="" id="{07AEE433-BDB1-4F6B-A9A6-7582D9C7B865}"/>
                  </a:ext>
                </a:extLst>
              </p:cNvPr>
              <p:cNvSpPr/>
              <p:nvPr/>
            </p:nvSpPr>
            <p:spPr>
              <a:xfrm>
                <a:off x="10750550" y="0"/>
                <a:ext cx="1441450" cy="1041400"/>
              </a:xfrm>
              <a:prstGeom prst="flowChartDocument">
                <a:avLst/>
              </a:prstGeom>
              <a:gradFill>
                <a:gsLst>
                  <a:gs pos="0">
                    <a:srgbClr val="F000C6"/>
                  </a:gs>
                  <a:gs pos="46532">
                    <a:srgbClr val="B800C4"/>
                  </a:gs>
                  <a:gs pos="100000">
                    <a:srgbClr val="8000C2"/>
                  </a:gs>
                </a:gsLst>
              </a:gradFill>
              <a:ln w="12700">
                <a:solidFill>
                  <a:srgbClr val="0070C0"/>
                </a:solidFill>
                <a:miter lim="400000"/>
              </a:ln>
              <a:scene3d>
                <a:camera prst="orthographicFront"/>
                <a:lightRig rig="threePt" dir="t"/>
              </a:scene3d>
              <a:sp3d>
                <a:bevelT prst="slope"/>
              </a:sp3d>
            </p:spPr>
            <p:txBody>
              <a:bodyPr lIns="45718" tIns="45718" rIns="45718" bIns="45718" anchor="ctr"/>
              <a:lstStyle/>
              <a:p>
                <a:pPr algn="ctr"/>
                <a:endParaRPr lang="en-US">
                  <a:solidFill>
                    <a:srgbClr val="FFFFFF"/>
                  </a:solidFill>
                </a:endParaRPr>
              </a:p>
            </p:txBody>
          </p:sp>
          <p:pic>
            <p:nvPicPr>
              <p:cNvPr id="7" name="Picture 6">
                <a:extLst>
                  <a:ext uri="{FF2B5EF4-FFF2-40B4-BE49-F238E27FC236}">
                    <a16:creationId xmlns:a16="http://schemas.microsoft.com/office/drawing/2014/main" xmlns="" id="{D69E57AC-86E1-412C-9CDA-4B913EA0C9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8090" y="49516"/>
                <a:ext cx="773370" cy="84646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10" name="Rectangle 9">
              <a:extLst>
                <a:ext uri="{FF2B5EF4-FFF2-40B4-BE49-F238E27FC236}">
                  <a16:creationId xmlns:a16="http://schemas.microsoft.com/office/drawing/2014/main" xmlns="" id="{0DD0E726-9ABC-4647-8D57-65DD319B53F8}"/>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grpSp>
      <p:sp>
        <p:nvSpPr>
          <p:cNvPr id="12" name="TextBox 11">
            <a:extLst>
              <a:ext uri="{FF2B5EF4-FFF2-40B4-BE49-F238E27FC236}">
                <a16:creationId xmlns:a16="http://schemas.microsoft.com/office/drawing/2014/main" xmlns="" id="{13E405FF-5452-887F-CD15-587CDDAA587C}"/>
              </a:ext>
            </a:extLst>
          </p:cNvPr>
          <p:cNvSpPr txBox="1"/>
          <p:nvPr/>
        </p:nvSpPr>
        <p:spPr>
          <a:xfrm>
            <a:off x="4167386" y="824283"/>
            <a:ext cx="4613543" cy="1477328"/>
          </a:xfrm>
          <a:prstGeom prst="rect">
            <a:avLst/>
          </a:prstGeom>
          <a:noFill/>
        </p:spPr>
        <p:txBody>
          <a:bodyPr wrap="square">
            <a:spAutoFit/>
          </a:bodyPr>
          <a:lstStyle/>
          <a:p>
            <a:pPr marL="342900" indent="-342900">
              <a:buFont typeface="+mj-lt"/>
              <a:buAutoNum type="arabicPeriod" startAt="17"/>
            </a:pPr>
            <a:r>
              <a:rPr lang="en-US" dirty="0" err="1">
                <a:solidFill>
                  <a:srgbClr val="0000FF"/>
                </a:solidFill>
                <a:latin typeface="Arial" panose="020B0604020202020204" pitchFamily="34" charset="0"/>
                <a:cs typeface="Arial" panose="020B0604020202020204" pitchFamily="34" charset="0"/>
              </a:rPr>
              <a:t>ensureCapacity</a:t>
            </a:r>
            <a:r>
              <a:rPr lang="en-US" dirty="0">
                <a:solidFill>
                  <a:srgbClr val="0000FF"/>
                </a:solidFill>
                <a:latin typeface="Arial" panose="020B0604020202020204" pitchFamily="34" charset="0"/>
                <a:cs typeface="Arial" panose="020B0604020202020204" pitchFamily="34" charset="0"/>
              </a:rPr>
              <a:t>(int </a:t>
            </a:r>
            <a:r>
              <a:rPr lang="en-US" dirty="0" err="1">
                <a:solidFill>
                  <a:srgbClr val="0000FF"/>
                </a:solidFill>
                <a:latin typeface="Arial" panose="020B0604020202020204" pitchFamily="34" charset="0"/>
                <a:cs typeface="Arial" panose="020B0604020202020204" pitchFamily="34" charset="0"/>
              </a:rPr>
              <a:t>expectedCapacity</a:t>
            </a:r>
            <a:r>
              <a:rPr lang="en-US" dirty="0">
                <a:solidFill>
                  <a:srgbClr val="0000FF"/>
                </a:solidFill>
                <a:latin typeface="Arial" panose="020B0604020202020204" pitchFamily="34" charset="0"/>
                <a:cs typeface="Arial" panose="020B0604020202020204" pitchFamily="34" charset="0"/>
              </a:rPr>
              <a:t>)</a:t>
            </a:r>
          </a:p>
          <a:p>
            <a:pPr marL="342900" indent="-342900">
              <a:buFont typeface="+mj-lt"/>
              <a:buAutoNum type="arabicPeriod" startAt="17"/>
            </a:pPr>
            <a:r>
              <a:rPr lang="en-US" dirty="0">
                <a:solidFill>
                  <a:srgbClr val="0000FF"/>
                </a:solidFill>
                <a:latin typeface="Arial" panose="020B0604020202020204" pitchFamily="34" charset="0"/>
                <a:cs typeface="Arial" panose="020B0604020202020204" pitchFamily="34" charset="0"/>
              </a:rPr>
              <a:t>boolean </a:t>
            </a:r>
            <a:r>
              <a:rPr lang="en-US" dirty="0" err="1">
                <a:solidFill>
                  <a:srgbClr val="0000FF"/>
                </a:solidFill>
                <a:latin typeface="Arial" panose="020B0604020202020204" pitchFamily="34" charset="0"/>
                <a:cs typeface="Arial" panose="020B0604020202020204" pitchFamily="34" charset="0"/>
              </a:rPr>
              <a:t>isEmpty</a:t>
            </a:r>
            <a:r>
              <a:rPr lang="en-US" dirty="0">
                <a:solidFill>
                  <a:srgbClr val="0000FF"/>
                </a:solidFill>
                <a:latin typeface="Arial" panose="020B0604020202020204" pitchFamily="34" charset="0"/>
                <a:cs typeface="Arial" panose="020B0604020202020204" pitchFamily="34" charset="0"/>
              </a:rPr>
              <a:t>()</a:t>
            </a:r>
          </a:p>
          <a:p>
            <a:pPr marL="342900" indent="-342900">
              <a:buFont typeface="+mj-lt"/>
              <a:buAutoNum type="arabicPeriod" startAt="17"/>
            </a:pPr>
            <a:r>
              <a:rPr lang="en-US" dirty="0" err="1">
                <a:solidFill>
                  <a:srgbClr val="0000FF"/>
                </a:solidFill>
                <a:latin typeface="Arial" panose="020B0604020202020204" pitchFamily="34" charset="0"/>
                <a:cs typeface="Arial" panose="020B0604020202020204" pitchFamily="34" charset="0"/>
              </a:rPr>
              <a:t>retainAll</a:t>
            </a:r>
            <a:r>
              <a:rPr lang="en-US" dirty="0">
                <a:solidFill>
                  <a:srgbClr val="0000FF"/>
                </a:solidFill>
                <a:latin typeface="Arial" panose="020B0604020202020204" pitchFamily="34" charset="0"/>
                <a:cs typeface="Arial" panose="020B0604020202020204" pitchFamily="34" charset="0"/>
              </a:rPr>
              <a:t>(Collection c)</a:t>
            </a:r>
          </a:p>
          <a:p>
            <a:pPr marL="342900" indent="-342900">
              <a:buFont typeface="+mj-lt"/>
              <a:buAutoNum type="arabicPeriod" startAt="17"/>
            </a:pPr>
            <a:r>
              <a:rPr lang="en-US" dirty="0">
                <a:solidFill>
                  <a:srgbClr val="0000FF"/>
                </a:solidFill>
                <a:latin typeface="Arial" panose="020B0604020202020204" pitchFamily="34" charset="0"/>
                <a:cs typeface="Arial" panose="020B0604020202020204" pitchFamily="34" charset="0"/>
              </a:rPr>
              <a:t>List </a:t>
            </a:r>
            <a:r>
              <a:rPr lang="en-US" dirty="0" err="1">
                <a:solidFill>
                  <a:srgbClr val="0000FF"/>
                </a:solidFill>
                <a:latin typeface="Arial" panose="020B0604020202020204" pitchFamily="34" charset="0"/>
                <a:cs typeface="Arial" panose="020B0604020202020204" pitchFamily="34" charset="0"/>
              </a:rPr>
              <a:t>subList</a:t>
            </a:r>
            <a:r>
              <a:rPr lang="en-US" dirty="0">
                <a:solidFill>
                  <a:srgbClr val="0000FF"/>
                </a:solidFill>
                <a:latin typeface="Arial" panose="020B0604020202020204" pitchFamily="34" charset="0"/>
                <a:cs typeface="Arial" panose="020B0604020202020204" pitchFamily="34" charset="0"/>
              </a:rPr>
              <a:t>(int </a:t>
            </a:r>
            <a:r>
              <a:rPr lang="en-US" dirty="0" err="1">
                <a:solidFill>
                  <a:srgbClr val="0000FF"/>
                </a:solidFill>
                <a:latin typeface="Arial" panose="020B0604020202020204" pitchFamily="34" charset="0"/>
                <a:cs typeface="Arial" panose="020B0604020202020204" pitchFamily="34" charset="0"/>
              </a:rPr>
              <a:t>fromIndex</a:t>
            </a:r>
            <a:r>
              <a:rPr lang="en-US" dirty="0">
                <a:solidFill>
                  <a:srgbClr val="0000FF"/>
                </a:solidFill>
                <a:latin typeface="Arial" panose="020B0604020202020204" pitchFamily="34" charset="0"/>
                <a:cs typeface="Arial" panose="020B0604020202020204" pitchFamily="34" charset="0"/>
              </a:rPr>
              <a:t>, int toIndex-1)</a:t>
            </a:r>
          </a:p>
          <a:p>
            <a:pPr marL="342900" indent="-342900">
              <a:buFont typeface="+mj-lt"/>
              <a:buAutoNum type="arabicPeriod" startAt="17"/>
            </a:pPr>
            <a:r>
              <a:rPr lang="en-US" dirty="0">
                <a:solidFill>
                  <a:srgbClr val="0000FF"/>
                </a:solidFill>
                <a:latin typeface="Arial" panose="020B0604020202020204" pitchFamily="34" charset="0"/>
                <a:cs typeface="Arial" panose="020B0604020202020204" pitchFamily="34" charset="0"/>
              </a:rPr>
              <a:t>Object[] </a:t>
            </a:r>
            <a:r>
              <a:rPr lang="en-US" dirty="0" err="1">
                <a:solidFill>
                  <a:srgbClr val="0000FF"/>
                </a:solidFill>
                <a:latin typeface="Arial" panose="020B0604020202020204" pitchFamily="34" charset="0"/>
                <a:cs typeface="Arial" panose="020B0604020202020204" pitchFamily="34" charset="0"/>
              </a:rPr>
              <a:t>toArray</a:t>
            </a:r>
            <a:r>
              <a:rPr lang="en-US" dirty="0">
                <a:solidFill>
                  <a:srgbClr val="0000FF"/>
                </a:solidFill>
                <a:latin typeface="Arial" panose="020B0604020202020204" pitchFamily="34" charset="0"/>
                <a:cs typeface="Arial" panose="020B0604020202020204" pitchFamily="34" charset="0"/>
              </a:rPr>
              <a:t>()</a:t>
            </a:r>
          </a:p>
        </p:txBody>
      </p:sp>
      <p:sp>
        <p:nvSpPr>
          <p:cNvPr id="13" name="TextBox 12">
            <a:extLst>
              <a:ext uri="{FF2B5EF4-FFF2-40B4-BE49-F238E27FC236}">
                <a16:creationId xmlns:a16="http://schemas.microsoft.com/office/drawing/2014/main" xmlns="" id="{697871B9-6AAE-6D84-F9E8-00E4F189FFBD}"/>
              </a:ext>
            </a:extLst>
          </p:cNvPr>
          <p:cNvSpPr txBox="1"/>
          <p:nvPr/>
        </p:nvSpPr>
        <p:spPr>
          <a:xfrm>
            <a:off x="4167386" y="2664229"/>
            <a:ext cx="3724096" cy="923330"/>
          </a:xfrm>
          <a:prstGeom prst="rect">
            <a:avLst/>
          </a:prstGeom>
          <a:noFill/>
        </p:spPr>
        <p:txBody>
          <a:bodyPr wrap="square">
            <a:spAutoFit/>
          </a:bodyPr>
          <a:lstStyle/>
          <a:p>
            <a:r>
              <a:rPr lang="en-IN" b="1" dirty="0">
                <a:solidFill>
                  <a:srgbClr val="0000FF"/>
                </a:solidFill>
              </a:rPr>
              <a:t>Enumeration interface methods are:</a:t>
            </a:r>
          </a:p>
          <a:p>
            <a:pPr marL="342900" indent="-342900">
              <a:buFont typeface="+mj-lt"/>
              <a:buAutoNum type="arabicPeriod"/>
            </a:pPr>
            <a:r>
              <a:rPr lang="en-IN" dirty="0">
                <a:solidFill>
                  <a:srgbClr val="0000FF"/>
                </a:solidFill>
              </a:rPr>
              <a:t>boolean </a:t>
            </a:r>
            <a:r>
              <a:rPr lang="en-IN" dirty="0" err="1">
                <a:solidFill>
                  <a:srgbClr val="0000FF"/>
                </a:solidFill>
              </a:rPr>
              <a:t>hasMoreElements</a:t>
            </a:r>
            <a:r>
              <a:rPr lang="en-IN" dirty="0">
                <a:solidFill>
                  <a:srgbClr val="0000FF"/>
                </a:solidFill>
              </a:rPr>
              <a:t>()</a:t>
            </a:r>
          </a:p>
          <a:p>
            <a:pPr marL="342900" indent="-342900">
              <a:buFont typeface="+mj-lt"/>
              <a:buAutoNum type="arabicPeriod"/>
            </a:pPr>
            <a:r>
              <a:rPr lang="en-IN" dirty="0">
                <a:solidFill>
                  <a:srgbClr val="0000FF"/>
                </a:solidFill>
              </a:rPr>
              <a:t>Object </a:t>
            </a:r>
            <a:r>
              <a:rPr lang="en-IN" dirty="0" err="1">
                <a:solidFill>
                  <a:srgbClr val="0000FF"/>
                </a:solidFill>
              </a:rPr>
              <a:t>nextElement</a:t>
            </a:r>
            <a:r>
              <a:rPr lang="en-IN" dirty="0">
                <a:solidFill>
                  <a:srgbClr val="0000FF"/>
                </a:solidFill>
              </a:rPr>
              <a:t>()</a:t>
            </a:r>
          </a:p>
        </p:txBody>
      </p:sp>
      <p:sp>
        <p:nvSpPr>
          <p:cNvPr id="14"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83271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0D38F90B-5513-432E-A804-FE763D85C077}"/>
              </a:ext>
            </a:extLst>
          </p:cNvPr>
          <p:cNvGrpSpPr/>
          <p:nvPr/>
        </p:nvGrpSpPr>
        <p:grpSpPr>
          <a:xfrm>
            <a:off x="2766059" y="125716"/>
            <a:ext cx="9425939" cy="6732284"/>
            <a:chOff x="2766059" y="125716"/>
            <a:chExt cx="9425939" cy="6732284"/>
          </a:xfrm>
        </p:grpSpPr>
        <p:cxnSp>
          <p:nvCxnSpPr>
            <p:cNvPr id="3" name="Straight Arrow Connector 2">
              <a:extLst>
                <a:ext uri="{FF2B5EF4-FFF2-40B4-BE49-F238E27FC236}">
                  <a16:creationId xmlns:a16="http://schemas.microsoft.com/office/drawing/2014/main" xmlns="" id="{FBACF553-BEE5-4FF8-BCC5-5C3E073D177C}"/>
                </a:ext>
              </a:extLst>
            </p:cNvPr>
            <p:cNvCxnSpPr>
              <a:cxnSpLocks/>
            </p:cNvCxnSpPr>
            <p:nvPr/>
          </p:nvCxnSpPr>
          <p:spPr>
            <a:xfrm>
              <a:off x="2766060" y="701040"/>
              <a:ext cx="6210300" cy="0"/>
            </a:xfrm>
            <a:prstGeom prst="straightConnector1">
              <a:avLst/>
            </a:prstGeom>
            <a:ln w="69850" cmpd="tri">
              <a:gradFill>
                <a:gsLst>
                  <a:gs pos="0">
                    <a:srgbClr val="0000FF"/>
                  </a:gs>
                  <a:gs pos="35000">
                    <a:srgbClr val="0000FF"/>
                  </a:gs>
                  <a:gs pos="65000">
                    <a:srgbClr val="3399FF"/>
                  </a:gs>
                  <a:gs pos="92000">
                    <a:srgbClr val="0000FF"/>
                  </a:gs>
                </a:gsLst>
                <a:lin ang="5400000" scaled="1"/>
              </a:gradFill>
              <a:prstDash val="solid"/>
              <a:headEnd type="triangle"/>
              <a:tailEnd type="triangle"/>
            </a:ln>
            <a:scene3d>
              <a:camera prst="orthographicFront"/>
              <a:lightRig rig="threePt" dir="t"/>
            </a:scene3d>
            <a:sp3d>
              <a:bevelT prst="slope"/>
            </a:sp3d>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xmlns=""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5EB30D1A-AF7C-49B6-99AB-6CE77D80D741}"/>
                </a:ext>
              </a:extLst>
            </p:cNvPr>
            <p:cNvSpPr txBox="1"/>
            <p:nvPr/>
          </p:nvSpPr>
          <p:spPr>
            <a:xfrm>
              <a:off x="2766059" y="268724"/>
              <a:ext cx="6210300" cy="369332"/>
            </a:xfrm>
            <a:prstGeom prst="rect">
              <a:avLst/>
            </a:prstGeom>
            <a:noFill/>
          </p:spPr>
          <p:txBody>
            <a:bodyPr wrap="square">
              <a:spAutoFit/>
            </a:bodyPr>
            <a:lstStyle/>
            <a:p>
              <a:pPr algn="ctr"/>
              <a:r>
                <a:rPr lang="en-US" b="1" dirty="0">
                  <a:solidFill>
                    <a:srgbClr val="002060"/>
                  </a:solidFill>
                  <a:latin typeface="Bookman Old Style" panose="02050604050505020204" pitchFamily="18" charset="0"/>
                </a:rPr>
                <a:t>java.util package (Legacy Classes) </a:t>
              </a:r>
            </a:p>
          </p:txBody>
        </p:sp>
        <p:pic>
          <p:nvPicPr>
            <p:cNvPr id="8" name="Picture 7">
              <a:extLst>
                <a:ext uri="{FF2B5EF4-FFF2-40B4-BE49-F238E27FC236}">
                  <a16:creationId xmlns:a16="http://schemas.microsoft.com/office/drawing/2014/main" xmlns="" id="{335F4052-8E0D-4041-86F8-5718760060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9" name="TextBox 8">
            <a:extLst>
              <a:ext uri="{FF2B5EF4-FFF2-40B4-BE49-F238E27FC236}">
                <a16:creationId xmlns:a16="http://schemas.microsoft.com/office/drawing/2014/main" xmlns="" id="{9902A02D-3736-45D4-B30F-732D57A929F6}"/>
              </a:ext>
            </a:extLst>
          </p:cNvPr>
          <p:cNvSpPr txBox="1"/>
          <p:nvPr/>
        </p:nvSpPr>
        <p:spPr>
          <a:xfrm>
            <a:off x="231962" y="904965"/>
            <a:ext cx="4649321" cy="5355312"/>
          </a:xfrm>
          <a:prstGeom prst="rect">
            <a:avLst/>
          </a:prstGeom>
          <a:noFill/>
        </p:spPr>
        <p:txBody>
          <a:bodyPr wrap="square" rtlCol="0">
            <a:spAutoFit/>
          </a:bodyPr>
          <a:lstStyle/>
          <a:p>
            <a:r>
              <a:rPr lang="en-US" b="1" dirty="0">
                <a:solidFill>
                  <a:srgbClr val="0000FF"/>
                </a:solidFill>
                <a:latin typeface="Arial" panose="020B0604020202020204" pitchFamily="34" charset="0"/>
                <a:cs typeface="Arial" panose="020B0604020202020204" pitchFamily="34" charset="0"/>
              </a:rPr>
              <a:t>// VectorEx1.java</a:t>
            </a:r>
          </a:p>
          <a:p>
            <a:r>
              <a:rPr lang="en-US" dirty="0">
                <a:solidFill>
                  <a:srgbClr val="0000FF"/>
                </a:solidFill>
                <a:latin typeface="Arial" panose="020B0604020202020204" pitchFamily="34" charset="0"/>
                <a:cs typeface="Arial" panose="020B0604020202020204" pitchFamily="34" charset="0"/>
              </a:rPr>
              <a:t>import java.util.*;</a:t>
            </a:r>
          </a:p>
          <a:p>
            <a:r>
              <a:rPr lang="en-US" dirty="0">
                <a:solidFill>
                  <a:srgbClr val="0000FF"/>
                </a:solidFill>
                <a:latin typeface="Arial" panose="020B0604020202020204" pitchFamily="34" charset="0"/>
                <a:cs typeface="Arial" panose="020B0604020202020204" pitchFamily="34" charset="0"/>
              </a:rPr>
              <a:t>public class VectorEx1 {</a:t>
            </a:r>
          </a:p>
          <a:p>
            <a:r>
              <a:rPr lang="en-US" dirty="0">
                <a:solidFill>
                  <a:srgbClr val="0000FF"/>
                </a:solidFill>
                <a:latin typeface="Arial" panose="020B0604020202020204" pitchFamily="34" charset="0"/>
                <a:cs typeface="Arial" panose="020B0604020202020204" pitchFamily="34" charset="0"/>
              </a:rPr>
              <a:t>  public static void main(String rags[]) throws Exception {</a:t>
            </a:r>
          </a:p>
          <a:p>
            <a:r>
              <a:rPr lang="en-US" dirty="0">
                <a:solidFill>
                  <a:srgbClr val="0000FF"/>
                </a:solidFill>
                <a:latin typeface="Arial" panose="020B0604020202020204" pitchFamily="34" charset="0"/>
                <a:cs typeface="Arial" panose="020B0604020202020204" pitchFamily="34" charset="0"/>
              </a:rPr>
              <a:t>    Vector v=new Vector();</a:t>
            </a:r>
          </a:p>
          <a:p>
            <a:endParaRPr lang="en-US" dirty="0">
              <a:solidFill>
                <a:srgbClr val="0000FF"/>
              </a:solidFill>
              <a:latin typeface="Arial" panose="020B0604020202020204" pitchFamily="34" charset="0"/>
              <a:cs typeface="Arial" panose="020B0604020202020204" pitchFamily="34" charset="0"/>
            </a:endParaRP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v.addElement</a:t>
            </a:r>
            <a:r>
              <a:rPr lang="en-US" dirty="0">
                <a:solidFill>
                  <a:srgbClr val="0000FF"/>
                </a:solidFill>
                <a:latin typeface="Arial" panose="020B0604020202020204" pitchFamily="34" charset="0"/>
                <a:cs typeface="Arial" panose="020B0604020202020204" pitchFamily="34" charset="0"/>
              </a:rPr>
              <a:t>("First Element");</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v.addElement</a:t>
            </a:r>
            <a:r>
              <a:rPr lang="en-US" dirty="0">
                <a:solidFill>
                  <a:srgbClr val="0000FF"/>
                </a:solidFill>
                <a:latin typeface="Arial" panose="020B0604020202020204" pitchFamily="34" charset="0"/>
                <a:cs typeface="Arial" panose="020B0604020202020204" pitchFamily="34" charset="0"/>
              </a:rPr>
              <a:t>("Second Element");</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v.addElement</a:t>
            </a:r>
            <a:r>
              <a:rPr lang="en-US" dirty="0">
                <a:solidFill>
                  <a:srgbClr val="0000FF"/>
                </a:solidFill>
                <a:latin typeface="Arial" panose="020B0604020202020204" pitchFamily="34" charset="0"/>
                <a:cs typeface="Arial" panose="020B0604020202020204" pitchFamily="34" charset="0"/>
              </a:rPr>
              <a:t>("Third Element");</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v.addElement</a:t>
            </a:r>
            <a:r>
              <a:rPr lang="en-US" dirty="0">
                <a:solidFill>
                  <a:srgbClr val="0000FF"/>
                </a:solidFill>
                <a:latin typeface="Arial" panose="020B0604020202020204" pitchFamily="34" charset="0"/>
                <a:cs typeface="Arial" panose="020B0604020202020204" pitchFamily="34" charset="0"/>
              </a:rPr>
              <a:t>("Fourth Element");</a:t>
            </a:r>
          </a:p>
          <a:p>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 </a:t>
            </a:r>
            <a:r>
              <a:rPr lang="en-US" dirty="0" err="1">
                <a:solidFill>
                  <a:srgbClr val="0000FF"/>
                </a:solidFill>
                <a:latin typeface="Arial" panose="020B0604020202020204" pitchFamily="34" charset="0"/>
                <a:cs typeface="Arial" panose="020B0604020202020204" pitchFamily="34" charset="0"/>
              </a:rPr>
              <a:t>v.trimToSize</a:t>
            </a:r>
            <a:r>
              <a:rPr lang="en-US" dirty="0">
                <a:solidFill>
                  <a:srgbClr val="0000FF"/>
                </a:solidFill>
                <a:latin typeface="Arial" panose="020B0604020202020204" pitchFamily="34" charset="0"/>
                <a:cs typeface="Arial" panose="020B0604020202020204" pitchFamily="34" charset="0"/>
              </a:rPr>
              <a:t>();</a:t>
            </a:r>
          </a:p>
          <a:p>
            <a:endParaRPr lang="en-US" dirty="0">
              <a:solidFill>
                <a:srgbClr val="0000FF"/>
              </a:solidFill>
              <a:latin typeface="Arial" panose="020B0604020202020204" pitchFamily="34" charset="0"/>
              <a:cs typeface="Arial" panose="020B0604020202020204" pitchFamily="34" charset="0"/>
            </a:endParaRP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v.addElement</a:t>
            </a:r>
            <a:r>
              <a:rPr lang="en-US" dirty="0">
                <a:solidFill>
                  <a:srgbClr val="0000FF"/>
                </a:solidFill>
                <a:latin typeface="Arial" panose="020B0604020202020204" pitchFamily="34" charset="0"/>
                <a:cs typeface="Arial" panose="020B0604020202020204" pitchFamily="34" charset="0"/>
              </a:rPr>
              <a:t>("Fifth Element");</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v.addElement</a:t>
            </a:r>
            <a:r>
              <a:rPr lang="en-US" dirty="0">
                <a:solidFill>
                  <a:srgbClr val="0000FF"/>
                </a:solidFill>
                <a:latin typeface="Arial" panose="020B0604020202020204" pitchFamily="34" charset="0"/>
                <a:cs typeface="Arial" panose="020B0604020202020204" pitchFamily="34" charset="0"/>
              </a:rPr>
              <a:t>("Sixth Element");</a:t>
            </a:r>
          </a:p>
          <a:p>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System.out.println(</a:t>
            </a:r>
            <a:r>
              <a:rPr lang="en-US" dirty="0" err="1">
                <a:solidFill>
                  <a:srgbClr val="0000FF"/>
                </a:solidFill>
                <a:latin typeface="Arial" panose="020B0604020202020204" pitchFamily="34" charset="0"/>
                <a:cs typeface="Arial" panose="020B0604020202020204" pitchFamily="34" charset="0"/>
              </a:rPr>
              <a:t>v.get</a:t>
            </a:r>
            <a:r>
              <a:rPr lang="en-US" dirty="0">
                <a:solidFill>
                  <a:srgbClr val="0000FF"/>
                </a:solidFill>
                <a:latin typeface="Arial" panose="020B0604020202020204" pitchFamily="34" charset="0"/>
                <a:cs typeface="Arial" panose="020B0604020202020204" pitchFamily="34" charset="0"/>
              </a:rPr>
              <a:t>(3));</a:t>
            </a:r>
          </a:p>
          <a:p>
            <a:endParaRPr lang="en-US" dirty="0">
              <a:solidFill>
                <a:srgbClr val="0000FF"/>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xmlns="" id="{CB486A71-1DD8-DD87-91B5-365F4BF615FF}"/>
              </a:ext>
            </a:extLst>
          </p:cNvPr>
          <p:cNvSpPr txBox="1"/>
          <p:nvPr/>
        </p:nvSpPr>
        <p:spPr>
          <a:xfrm>
            <a:off x="4193163" y="824283"/>
            <a:ext cx="4291932" cy="5909310"/>
          </a:xfrm>
          <a:prstGeom prst="rect">
            <a:avLst/>
          </a:prstGeom>
          <a:noFill/>
        </p:spPr>
        <p:txBody>
          <a:bodyPr wrap="square">
            <a:spAutoFit/>
          </a:bodyPr>
          <a:lstStyle/>
          <a:p>
            <a:r>
              <a:rPr lang="en-US" sz="1800" dirty="0">
                <a:solidFill>
                  <a:srgbClr val="0000FF"/>
                </a:solidFill>
                <a:latin typeface="Arial" panose="020B0604020202020204" pitchFamily="34" charset="0"/>
                <a:cs typeface="Arial" panose="020B0604020202020204" pitchFamily="34" charset="0"/>
              </a:rPr>
              <a:t> Enumeration </a:t>
            </a:r>
            <a:r>
              <a:rPr lang="en-US" sz="1800" dirty="0" err="1">
                <a:solidFill>
                  <a:srgbClr val="0000FF"/>
                </a:solidFill>
                <a:latin typeface="Arial" panose="020B0604020202020204" pitchFamily="34" charset="0"/>
                <a:cs typeface="Arial" panose="020B0604020202020204" pitchFamily="34" charset="0"/>
              </a:rPr>
              <a:t>en</a:t>
            </a:r>
            <a:r>
              <a:rPr lang="en-US" sz="1800" dirty="0">
                <a:solidFill>
                  <a:srgbClr val="0000FF"/>
                </a:solidFill>
                <a:latin typeface="Arial" panose="020B0604020202020204" pitchFamily="34" charset="0"/>
                <a:cs typeface="Arial" panose="020B0604020202020204" pitchFamily="34" charset="0"/>
              </a:rPr>
              <a:t>=</a:t>
            </a:r>
            <a:r>
              <a:rPr lang="en-US" sz="1800" dirty="0" err="1">
                <a:solidFill>
                  <a:srgbClr val="0000FF"/>
                </a:solidFill>
                <a:latin typeface="Arial" panose="020B0604020202020204" pitchFamily="34" charset="0"/>
                <a:cs typeface="Arial" panose="020B0604020202020204" pitchFamily="34" charset="0"/>
              </a:rPr>
              <a:t>v.elements</a:t>
            </a:r>
            <a:r>
              <a:rPr lang="en-US" sz="1800" dirty="0">
                <a:solidFill>
                  <a:srgbClr val="0000FF"/>
                </a:solidFill>
                <a:latin typeface="Arial" panose="020B0604020202020204" pitchFamily="34" charset="0"/>
                <a:cs typeface="Arial" panose="020B0604020202020204" pitchFamily="34" charset="0"/>
              </a:rPr>
              <a:t>();</a:t>
            </a:r>
          </a:p>
          <a:p>
            <a:r>
              <a:rPr lang="en-US" sz="1800" dirty="0">
                <a:solidFill>
                  <a:srgbClr val="0000FF"/>
                </a:solidFill>
                <a:latin typeface="Arial" panose="020B0604020202020204" pitchFamily="34" charset="0"/>
                <a:cs typeface="Arial" panose="020B0604020202020204" pitchFamily="34" charset="0"/>
              </a:rPr>
              <a:t> while(</a:t>
            </a:r>
            <a:r>
              <a:rPr lang="en-US" sz="1800" dirty="0" err="1">
                <a:solidFill>
                  <a:srgbClr val="0000FF"/>
                </a:solidFill>
                <a:latin typeface="Arial" panose="020B0604020202020204" pitchFamily="34" charset="0"/>
                <a:cs typeface="Arial" panose="020B0604020202020204" pitchFamily="34" charset="0"/>
              </a:rPr>
              <a:t>en.hasMoreElements</a:t>
            </a:r>
            <a:r>
              <a:rPr lang="en-US" sz="1800" dirty="0">
                <a:solidFill>
                  <a:srgbClr val="0000FF"/>
                </a:solidFill>
                <a:latin typeface="Arial" panose="020B0604020202020204" pitchFamily="34" charset="0"/>
                <a:cs typeface="Arial" panose="020B0604020202020204" pitchFamily="34" charset="0"/>
              </a:rPr>
              <a:t>()) {</a:t>
            </a:r>
          </a:p>
          <a:p>
            <a:r>
              <a:rPr lang="en-US" sz="1800" dirty="0">
                <a:solidFill>
                  <a:srgbClr val="0000FF"/>
                </a:solidFill>
                <a:latin typeface="Arial" panose="020B0604020202020204" pitchFamily="34" charset="0"/>
                <a:cs typeface="Arial" panose="020B0604020202020204" pitchFamily="34" charset="0"/>
              </a:rPr>
              <a:t>     Object o=</a:t>
            </a:r>
            <a:r>
              <a:rPr lang="en-US" sz="1800" dirty="0" err="1">
                <a:solidFill>
                  <a:srgbClr val="0000FF"/>
                </a:solidFill>
                <a:latin typeface="Arial" panose="020B0604020202020204" pitchFamily="34" charset="0"/>
                <a:cs typeface="Arial" panose="020B0604020202020204" pitchFamily="34" charset="0"/>
              </a:rPr>
              <a:t>en.nextElement</a:t>
            </a:r>
            <a:r>
              <a:rPr lang="en-US" sz="1800" dirty="0">
                <a:solidFill>
                  <a:srgbClr val="0000FF"/>
                </a:solidFill>
                <a:latin typeface="Arial" panose="020B0604020202020204" pitchFamily="34" charset="0"/>
                <a:cs typeface="Arial" panose="020B0604020202020204" pitchFamily="34" charset="0"/>
              </a:rPr>
              <a:t>();</a:t>
            </a:r>
          </a:p>
          <a:p>
            <a:r>
              <a:rPr lang="en-US" sz="1800" dirty="0">
                <a:solidFill>
                  <a:srgbClr val="0000FF"/>
                </a:solidFill>
                <a:latin typeface="Arial" panose="020B0604020202020204" pitchFamily="34" charset="0"/>
                <a:cs typeface="Arial" panose="020B0604020202020204" pitchFamily="34" charset="0"/>
              </a:rPr>
              <a:t>     System.out.println((String)o);</a:t>
            </a:r>
          </a:p>
          <a:p>
            <a:r>
              <a:rPr lang="en-US" sz="1800" dirty="0">
                <a:solidFill>
                  <a:srgbClr val="0000FF"/>
                </a:solidFill>
                <a:latin typeface="Arial" panose="020B0604020202020204" pitchFamily="34" charset="0"/>
                <a:cs typeface="Arial" panose="020B0604020202020204" pitchFamily="34" charset="0"/>
              </a:rPr>
              <a:t> }</a:t>
            </a:r>
          </a:p>
          <a:p>
            <a:endParaRPr lang="en-US" sz="1800" dirty="0">
              <a:solidFill>
                <a:srgbClr val="0000FF"/>
              </a:solidFill>
              <a:latin typeface="Arial" panose="020B0604020202020204" pitchFamily="34" charset="0"/>
              <a:cs typeface="Arial" panose="020B0604020202020204" pitchFamily="34" charset="0"/>
            </a:endParaRPr>
          </a:p>
          <a:p>
            <a:r>
              <a:rPr lang="en-US" sz="1800" dirty="0">
                <a:solidFill>
                  <a:srgbClr val="0000FF"/>
                </a:solidFill>
                <a:latin typeface="Arial" panose="020B0604020202020204" pitchFamily="34" charset="0"/>
                <a:cs typeface="Arial" panose="020B0604020202020204" pitchFamily="34" charset="0"/>
              </a:rPr>
              <a:t> </a:t>
            </a:r>
            <a:r>
              <a:rPr lang="en-US" sz="1800" dirty="0" err="1">
                <a:solidFill>
                  <a:srgbClr val="0000FF"/>
                </a:solidFill>
                <a:latin typeface="Arial" panose="020B0604020202020204" pitchFamily="34" charset="0"/>
                <a:cs typeface="Arial" panose="020B0604020202020204" pitchFamily="34" charset="0"/>
              </a:rPr>
              <a:t>v.add</a:t>
            </a:r>
            <a:r>
              <a:rPr lang="en-US" sz="1800" dirty="0">
                <a:solidFill>
                  <a:srgbClr val="0000FF"/>
                </a:solidFill>
                <a:latin typeface="Arial" panose="020B0604020202020204" pitchFamily="34" charset="0"/>
                <a:cs typeface="Arial" panose="020B0604020202020204" pitchFamily="34" charset="0"/>
              </a:rPr>
              <a:t>(1,"Second-and-half element ");</a:t>
            </a:r>
          </a:p>
          <a:p>
            <a:endParaRPr lang="en-US" sz="1800" dirty="0">
              <a:solidFill>
                <a:srgbClr val="0000FF"/>
              </a:solidFill>
              <a:latin typeface="Arial" panose="020B0604020202020204" pitchFamily="34" charset="0"/>
              <a:cs typeface="Arial" panose="020B0604020202020204" pitchFamily="34" charset="0"/>
            </a:endParaRPr>
          </a:p>
          <a:p>
            <a:r>
              <a:rPr lang="en-US" sz="1800" dirty="0">
                <a:solidFill>
                  <a:srgbClr val="0000FF"/>
                </a:solidFill>
                <a:latin typeface="Arial" panose="020B0604020202020204" pitchFamily="34" charset="0"/>
                <a:cs typeface="Arial" panose="020B0604020202020204" pitchFamily="34" charset="0"/>
              </a:rPr>
              <a:t> </a:t>
            </a:r>
            <a:r>
              <a:rPr lang="en-US" sz="1800" dirty="0" err="1">
                <a:solidFill>
                  <a:srgbClr val="0000FF"/>
                </a:solidFill>
                <a:latin typeface="Arial" panose="020B0604020202020204" pitchFamily="34" charset="0"/>
                <a:cs typeface="Arial" panose="020B0604020202020204" pitchFamily="34" charset="0"/>
              </a:rPr>
              <a:t>en</a:t>
            </a:r>
            <a:r>
              <a:rPr lang="en-US" sz="1800" dirty="0">
                <a:solidFill>
                  <a:srgbClr val="0000FF"/>
                </a:solidFill>
                <a:latin typeface="Arial" panose="020B0604020202020204" pitchFamily="34" charset="0"/>
                <a:cs typeface="Arial" panose="020B0604020202020204" pitchFamily="34" charset="0"/>
              </a:rPr>
              <a:t>=</a:t>
            </a:r>
            <a:r>
              <a:rPr lang="en-US" sz="1800" dirty="0" err="1">
                <a:solidFill>
                  <a:srgbClr val="0000FF"/>
                </a:solidFill>
                <a:latin typeface="Arial" panose="020B0604020202020204" pitchFamily="34" charset="0"/>
                <a:cs typeface="Arial" panose="020B0604020202020204" pitchFamily="34" charset="0"/>
              </a:rPr>
              <a:t>v.elements</a:t>
            </a:r>
            <a:r>
              <a:rPr lang="en-US" sz="1800" dirty="0">
                <a:solidFill>
                  <a:srgbClr val="0000FF"/>
                </a:solidFill>
                <a:latin typeface="Arial" panose="020B0604020202020204" pitchFamily="34" charset="0"/>
                <a:cs typeface="Arial" panose="020B0604020202020204" pitchFamily="34" charset="0"/>
              </a:rPr>
              <a:t>();</a:t>
            </a:r>
          </a:p>
          <a:p>
            <a:r>
              <a:rPr lang="en-US" sz="1800" dirty="0">
                <a:solidFill>
                  <a:srgbClr val="0000FF"/>
                </a:solidFill>
                <a:latin typeface="Arial" panose="020B0604020202020204" pitchFamily="34" charset="0"/>
                <a:cs typeface="Arial" panose="020B0604020202020204" pitchFamily="34" charset="0"/>
              </a:rPr>
              <a:t> while(</a:t>
            </a:r>
            <a:r>
              <a:rPr lang="en-US" sz="1800" dirty="0" err="1">
                <a:solidFill>
                  <a:srgbClr val="0000FF"/>
                </a:solidFill>
                <a:latin typeface="Arial" panose="020B0604020202020204" pitchFamily="34" charset="0"/>
                <a:cs typeface="Arial" panose="020B0604020202020204" pitchFamily="34" charset="0"/>
              </a:rPr>
              <a:t>en.hasMoreElements</a:t>
            </a:r>
            <a:r>
              <a:rPr lang="en-US" sz="1800" dirty="0">
                <a:solidFill>
                  <a:srgbClr val="0000FF"/>
                </a:solidFill>
                <a:latin typeface="Arial" panose="020B0604020202020204" pitchFamily="34" charset="0"/>
                <a:cs typeface="Arial" panose="020B0604020202020204" pitchFamily="34" charset="0"/>
              </a:rPr>
              <a:t>()) {</a:t>
            </a:r>
          </a:p>
          <a:p>
            <a:r>
              <a:rPr lang="en-US" sz="1800" dirty="0">
                <a:solidFill>
                  <a:srgbClr val="0000FF"/>
                </a:solidFill>
                <a:latin typeface="Arial" panose="020B0604020202020204" pitchFamily="34" charset="0"/>
                <a:cs typeface="Arial" panose="020B0604020202020204" pitchFamily="34" charset="0"/>
              </a:rPr>
              <a:t>   Object o=</a:t>
            </a:r>
            <a:r>
              <a:rPr lang="en-US" sz="1800" dirty="0" err="1">
                <a:solidFill>
                  <a:srgbClr val="0000FF"/>
                </a:solidFill>
                <a:latin typeface="Arial" panose="020B0604020202020204" pitchFamily="34" charset="0"/>
                <a:cs typeface="Arial" panose="020B0604020202020204" pitchFamily="34" charset="0"/>
              </a:rPr>
              <a:t>en.nextElement</a:t>
            </a:r>
            <a:r>
              <a:rPr lang="en-US" sz="1800" dirty="0">
                <a:solidFill>
                  <a:srgbClr val="0000FF"/>
                </a:solidFill>
                <a:latin typeface="Arial" panose="020B0604020202020204" pitchFamily="34" charset="0"/>
                <a:cs typeface="Arial" panose="020B0604020202020204" pitchFamily="34" charset="0"/>
              </a:rPr>
              <a:t>();</a:t>
            </a:r>
          </a:p>
          <a:p>
            <a:r>
              <a:rPr lang="en-US" sz="1800" dirty="0">
                <a:solidFill>
                  <a:srgbClr val="0000FF"/>
                </a:solidFill>
                <a:latin typeface="Arial" panose="020B0604020202020204" pitchFamily="34" charset="0"/>
                <a:cs typeface="Arial" panose="020B0604020202020204" pitchFamily="34" charset="0"/>
              </a:rPr>
              <a:t>   System.out.println((String)o);</a:t>
            </a:r>
          </a:p>
          <a:p>
            <a:r>
              <a:rPr lang="en-US" sz="1800" dirty="0">
                <a:solidFill>
                  <a:srgbClr val="0000FF"/>
                </a:solidFill>
                <a:latin typeface="Arial" panose="020B0604020202020204" pitchFamily="34" charset="0"/>
                <a:cs typeface="Arial" panose="020B0604020202020204" pitchFamily="34" charset="0"/>
              </a:rPr>
              <a:t> }</a:t>
            </a:r>
          </a:p>
          <a:p>
            <a:r>
              <a:rPr lang="en-US" sz="1800" dirty="0">
                <a:solidFill>
                  <a:srgbClr val="0000FF"/>
                </a:solidFill>
                <a:latin typeface="Arial" panose="020B0604020202020204" pitchFamily="34" charset="0"/>
                <a:cs typeface="Arial" panose="020B0604020202020204" pitchFamily="34" charset="0"/>
              </a:rPr>
              <a:t> </a:t>
            </a:r>
          </a:p>
          <a:p>
            <a:r>
              <a:rPr lang="en-US" sz="1800" dirty="0">
                <a:solidFill>
                  <a:srgbClr val="0000FF"/>
                </a:solidFill>
                <a:latin typeface="Arial" panose="020B0604020202020204" pitchFamily="34" charset="0"/>
                <a:cs typeface="Arial" panose="020B0604020202020204" pitchFamily="34" charset="0"/>
              </a:rPr>
              <a:t> </a:t>
            </a:r>
            <a:r>
              <a:rPr lang="en-US" sz="1800" dirty="0" err="1">
                <a:solidFill>
                  <a:srgbClr val="0000FF"/>
                </a:solidFill>
                <a:latin typeface="Arial" panose="020B0604020202020204" pitchFamily="34" charset="0"/>
                <a:cs typeface="Arial" panose="020B0604020202020204" pitchFamily="34" charset="0"/>
              </a:rPr>
              <a:t>v.set</a:t>
            </a:r>
            <a:r>
              <a:rPr lang="en-US" sz="1800" dirty="0">
                <a:solidFill>
                  <a:srgbClr val="0000FF"/>
                </a:solidFill>
                <a:latin typeface="Arial" panose="020B0604020202020204" pitchFamily="34" charset="0"/>
                <a:cs typeface="Arial" panose="020B0604020202020204" pitchFamily="34" charset="0"/>
              </a:rPr>
              <a:t>(1,"");   </a:t>
            </a:r>
          </a:p>
          <a:p>
            <a:endParaRPr lang="en-US" sz="1800" dirty="0">
              <a:solidFill>
                <a:srgbClr val="0000FF"/>
              </a:solidFill>
              <a:latin typeface="Arial" panose="020B0604020202020204" pitchFamily="34" charset="0"/>
              <a:cs typeface="Arial" panose="020B0604020202020204" pitchFamily="34" charset="0"/>
            </a:endParaRPr>
          </a:p>
          <a:p>
            <a:r>
              <a:rPr lang="en-US" sz="1800" dirty="0">
                <a:solidFill>
                  <a:srgbClr val="0000FF"/>
                </a:solidFill>
                <a:latin typeface="Arial" panose="020B0604020202020204" pitchFamily="34" charset="0"/>
                <a:cs typeface="Arial" panose="020B0604020202020204" pitchFamily="34" charset="0"/>
              </a:rPr>
              <a:t> </a:t>
            </a:r>
            <a:r>
              <a:rPr lang="en-US" sz="1800" dirty="0" err="1">
                <a:solidFill>
                  <a:srgbClr val="0000FF"/>
                </a:solidFill>
                <a:latin typeface="Arial" panose="020B0604020202020204" pitchFamily="34" charset="0"/>
                <a:cs typeface="Arial" panose="020B0604020202020204" pitchFamily="34" charset="0"/>
              </a:rPr>
              <a:t>en</a:t>
            </a:r>
            <a:r>
              <a:rPr lang="en-US" sz="1800" dirty="0">
                <a:solidFill>
                  <a:srgbClr val="0000FF"/>
                </a:solidFill>
                <a:latin typeface="Arial" panose="020B0604020202020204" pitchFamily="34" charset="0"/>
                <a:cs typeface="Arial" panose="020B0604020202020204" pitchFamily="34" charset="0"/>
              </a:rPr>
              <a:t>=</a:t>
            </a:r>
            <a:r>
              <a:rPr lang="en-US" sz="1800" dirty="0" err="1">
                <a:solidFill>
                  <a:srgbClr val="0000FF"/>
                </a:solidFill>
                <a:latin typeface="Arial" panose="020B0604020202020204" pitchFamily="34" charset="0"/>
                <a:cs typeface="Arial" panose="020B0604020202020204" pitchFamily="34" charset="0"/>
              </a:rPr>
              <a:t>v.elements</a:t>
            </a:r>
            <a:r>
              <a:rPr lang="en-US" sz="1800" dirty="0">
                <a:solidFill>
                  <a:srgbClr val="0000FF"/>
                </a:solidFill>
                <a:latin typeface="Arial" panose="020B0604020202020204" pitchFamily="34" charset="0"/>
                <a:cs typeface="Arial" panose="020B0604020202020204" pitchFamily="34" charset="0"/>
              </a:rPr>
              <a:t>();</a:t>
            </a:r>
          </a:p>
          <a:p>
            <a:r>
              <a:rPr lang="en-US" sz="1800" dirty="0">
                <a:solidFill>
                  <a:srgbClr val="0000FF"/>
                </a:solidFill>
                <a:latin typeface="Arial" panose="020B0604020202020204" pitchFamily="34" charset="0"/>
                <a:cs typeface="Arial" panose="020B0604020202020204" pitchFamily="34" charset="0"/>
              </a:rPr>
              <a:t> while(</a:t>
            </a:r>
            <a:r>
              <a:rPr lang="en-US" sz="1800" dirty="0" err="1">
                <a:solidFill>
                  <a:srgbClr val="0000FF"/>
                </a:solidFill>
                <a:latin typeface="Arial" panose="020B0604020202020204" pitchFamily="34" charset="0"/>
                <a:cs typeface="Arial" panose="020B0604020202020204" pitchFamily="34" charset="0"/>
              </a:rPr>
              <a:t>en.hasMoreElements</a:t>
            </a:r>
            <a:r>
              <a:rPr lang="en-US" sz="1800" dirty="0">
                <a:solidFill>
                  <a:srgbClr val="0000FF"/>
                </a:solidFill>
                <a:latin typeface="Arial" panose="020B0604020202020204" pitchFamily="34" charset="0"/>
                <a:cs typeface="Arial" panose="020B0604020202020204" pitchFamily="34" charset="0"/>
              </a:rPr>
              <a:t>()) {</a:t>
            </a:r>
          </a:p>
          <a:p>
            <a:r>
              <a:rPr lang="en-US" sz="1800" dirty="0">
                <a:solidFill>
                  <a:srgbClr val="0000FF"/>
                </a:solidFill>
                <a:latin typeface="Arial" panose="020B0604020202020204" pitchFamily="34" charset="0"/>
                <a:cs typeface="Arial" panose="020B0604020202020204" pitchFamily="34" charset="0"/>
              </a:rPr>
              <a:t>   Object o=</a:t>
            </a:r>
            <a:r>
              <a:rPr lang="en-US" sz="1800" dirty="0" err="1">
                <a:solidFill>
                  <a:srgbClr val="0000FF"/>
                </a:solidFill>
                <a:latin typeface="Arial" panose="020B0604020202020204" pitchFamily="34" charset="0"/>
                <a:cs typeface="Arial" panose="020B0604020202020204" pitchFamily="34" charset="0"/>
              </a:rPr>
              <a:t>en.nextElement</a:t>
            </a:r>
            <a:r>
              <a:rPr lang="en-US" sz="1800" dirty="0">
                <a:solidFill>
                  <a:srgbClr val="0000FF"/>
                </a:solidFill>
                <a:latin typeface="Arial" panose="020B0604020202020204" pitchFamily="34" charset="0"/>
                <a:cs typeface="Arial" panose="020B0604020202020204" pitchFamily="34" charset="0"/>
              </a:rPr>
              <a:t>();</a:t>
            </a:r>
          </a:p>
          <a:p>
            <a:r>
              <a:rPr lang="en-US" sz="1800" dirty="0">
                <a:solidFill>
                  <a:srgbClr val="0000FF"/>
                </a:solidFill>
                <a:latin typeface="Arial" panose="020B0604020202020204" pitchFamily="34" charset="0"/>
                <a:cs typeface="Arial" panose="020B0604020202020204" pitchFamily="34" charset="0"/>
              </a:rPr>
              <a:t>   System.out.println((String)o);</a:t>
            </a:r>
          </a:p>
          <a:p>
            <a:r>
              <a:rPr lang="en-US" sz="1800" dirty="0">
                <a:solidFill>
                  <a:srgbClr val="0000FF"/>
                </a:solidFill>
                <a:latin typeface="Arial" panose="020B0604020202020204" pitchFamily="34" charset="0"/>
                <a:cs typeface="Arial" panose="020B0604020202020204" pitchFamily="34" charset="0"/>
              </a:rPr>
              <a:t> }</a:t>
            </a:r>
          </a:p>
        </p:txBody>
      </p:sp>
      <p:sp>
        <p:nvSpPr>
          <p:cNvPr id="12" name="TextBox 11">
            <a:extLst>
              <a:ext uri="{FF2B5EF4-FFF2-40B4-BE49-F238E27FC236}">
                <a16:creationId xmlns:a16="http://schemas.microsoft.com/office/drawing/2014/main" xmlns="" id="{069FFA06-238D-D320-3C5C-FD1B780F1DE8}"/>
              </a:ext>
            </a:extLst>
          </p:cNvPr>
          <p:cNvSpPr txBox="1"/>
          <p:nvPr/>
        </p:nvSpPr>
        <p:spPr>
          <a:xfrm>
            <a:off x="8176851" y="1046365"/>
            <a:ext cx="3508642" cy="2893100"/>
          </a:xfrm>
          <a:prstGeom prst="rect">
            <a:avLst/>
          </a:prstGeom>
          <a:noFill/>
        </p:spPr>
        <p:txBody>
          <a:bodyPr wrap="square">
            <a:spAutoFit/>
          </a:bodyPr>
          <a:lstStyle/>
          <a:p>
            <a:r>
              <a:rPr lang="en-US" sz="1400" dirty="0">
                <a:solidFill>
                  <a:srgbClr val="0000FF"/>
                </a:solidFill>
                <a:latin typeface="Arial" panose="020B0604020202020204" pitchFamily="34" charset="0"/>
                <a:cs typeface="Arial" panose="020B0604020202020204" pitchFamily="34" charset="0"/>
              </a:rPr>
              <a:t> Object o[]=</a:t>
            </a:r>
            <a:r>
              <a:rPr lang="en-US" sz="1400" dirty="0" err="1">
                <a:solidFill>
                  <a:srgbClr val="0000FF"/>
                </a:solidFill>
                <a:latin typeface="Arial" panose="020B0604020202020204" pitchFamily="34" charset="0"/>
                <a:cs typeface="Arial" panose="020B0604020202020204" pitchFamily="34" charset="0"/>
              </a:rPr>
              <a:t>v.toArray</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int </a:t>
            </a:r>
            <a:r>
              <a:rPr lang="en-US" sz="1400" dirty="0" err="1">
                <a:solidFill>
                  <a:srgbClr val="0000FF"/>
                </a:solidFill>
                <a:latin typeface="Arial" panose="020B0604020202020204" pitchFamily="34" charset="0"/>
                <a:cs typeface="Arial" panose="020B0604020202020204" pitchFamily="34" charset="0"/>
              </a:rPr>
              <a:t>len</a:t>
            </a:r>
            <a:r>
              <a:rPr lang="en-US" sz="1400" dirty="0">
                <a:solidFill>
                  <a:srgbClr val="0000FF"/>
                </a:solidFill>
                <a:latin typeface="Arial" panose="020B0604020202020204" pitchFamily="34" charset="0"/>
                <a:cs typeface="Arial" panose="020B0604020202020204" pitchFamily="34" charset="0"/>
              </a:rPr>
              <a:t>=</a:t>
            </a:r>
            <a:r>
              <a:rPr lang="en-US" sz="1400" dirty="0" err="1">
                <a:solidFill>
                  <a:srgbClr val="0000FF"/>
                </a:solidFill>
                <a:latin typeface="Arial" panose="020B0604020202020204" pitchFamily="34" charset="0"/>
                <a:cs typeface="Arial" panose="020B0604020202020204" pitchFamily="34" charset="0"/>
              </a:rPr>
              <a:t>o.length</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for(int </a:t>
            </a:r>
            <a:r>
              <a:rPr lang="en-US" sz="1400" dirty="0" err="1">
                <a:solidFill>
                  <a:srgbClr val="0000FF"/>
                </a:solidFill>
                <a:latin typeface="Arial" panose="020B0604020202020204" pitchFamily="34" charset="0"/>
                <a:cs typeface="Arial" panose="020B0604020202020204" pitchFamily="34" charset="0"/>
              </a:rPr>
              <a:t>i</a:t>
            </a:r>
            <a:r>
              <a:rPr lang="en-US" sz="1400" dirty="0">
                <a:solidFill>
                  <a:srgbClr val="0000FF"/>
                </a:solidFill>
                <a:latin typeface="Arial" panose="020B0604020202020204" pitchFamily="34" charset="0"/>
                <a:cs typeface="Arial" panose="020B0604020202020204" pitchFamily="34" charset="0"/>
              </a:rPr>
              <a:t>=0;i&lt;</a:t>
            </a:r>
            <a:r>
              <a:rPr lang="en-US" sz="1400" dirty="0" err="1">
                <a:solidFill>
                  <a:srgbClr val="0000FF"/>
                </a:solidFill>
                <a:latin typeface="Arial" panose="020B0604020202020204" pitchFamily="34" charset="0"/>
                <a:cs typeface="Arial" panose="020B0604020202020204" pitchFamily="34" charset="0"/>
              </a:rPr>
              <a:t>len;i</a:t>
            </a:r>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System.out.println((String)o[</a:t>
            </a:r>
            <a:r>
              <a:rPr lang="en-US" sz="1400" dirty="0" err="1">
                <a:solidFill>
                  <a:srgbClr val="0000FF"/>
                </a:solidFill>
                <a:latin typeface="Arial" panose="020B0604020202020204" pitchFamily="34" charset="0"/>
                <a:cs typeface="Arial" panose="020B0604020202020204" pitchFamily="34" charset="0"/>
              </a:rPr>
              <a:t>i</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a:t>
            </a:r>
          </a:p>
          <a:p>
            <a:endParaRPr lang="en-US" sz="1400" dirty="0">
              <a:solidFill>
                <a:srgbClr val="0000FF"/>
              </a:solidFill>
              <a:latin typeface="Arial" panose="020B0604020202020204" pitchFamily="34" charset="0"/>
              <a:cs typeface="Arial" panose="020B0604020202020204" pitchFamily="34" charset="0"/>
            </a:endParaRPr>
          </a:p>
          <a:p>
            <a:r>
              <a:rPr lang="en-US" sz="1400" dirty="0">
                <a:solidFill>
                  <a:srgbClr val="0000FF"/>
                </a:solidFill>
                <a:latin typeface="Arial" panose="020B0604020202020204" pitchFamily="34" charset="0"/>
                <a:cs typeface="Arial" panose="020B0604020202020204" pitchFamily="34" charset="0"/>
              </a:rPr>
              <a:t> Collection c=</a:t>
            </a:r>
            <a:r>
              <a:rPr lang="en-US" sz="1400" dirty="0" err="1">
                <a:solidFill>
                  <a:srgbClr val="0000FF"/>
                </a:solidFill>
                <a:latin typeface="Arial" panose="020B0604020202020204" pitchFamily="34" charset="0"/>
                <a:cs typeface="Arial" panose="020B0604020202020204" pitchFamily="34" charset="0"/>
              </a:rPr>
              <a:t>v.subList</a:t>
            </a:r>
            <a:r>
              <a:rPr lang="en-US" sz="1400" dirty="0">
                <a:solidFill>
                  <a:srgbClr val="0000FF"/>
                </a:solidFill>
                <a:latin typeface="Arial" panose="020B0604020202020204" pitchFamily="34" charset="0"/>
                <a:cs typeface="Arial" panose="020B0604020202020204" pitchFamily="34" charset="0"/>
              </a:rPr>
              <a:t>(0,3);</a:t>
            </a:r>
          </a:p>
          <a:p>
            <a:r>
              <a:rPr lang="en-US" sz="1400" dirty="0">
                <a:solidFill>
                  <a:srgbClr val="0000FF"/>
                </a:solidFill>
                <a:latin typeface="Arial" panose="020B0604020202020204" pitchFamily="34" charset="0"/>
                <a:cs typeface="Arial" panose="020B0604020202020204" pitchFamily="34" charset="0"/>
              </a:rPr>
              <a:t> Iterator </a:t>
            </a:r>
            <a:r>
              <a:rPr lang="en-US" sz="1400" dirty="0" err="1">
                <a:solidFill>
                  <a:srgbClr val="0000FF"/>
                </a:solidFill>
                <a:latin typeface="Arial" panose="020B0604020202020204" pitchFamily="34" charset="0"/>
                <a:cs typeface="Arial" panose="020B0604020202020204" pitchFamily="34" charset="0"/>
              </a:rPr>
              <a:t>i</a:t>
            </a:r>
            <a:r>
              <a:rPr lang="en-US" sz="1400" dirty="0">
                <a:solidFill>
                  <a:srgbClr val="0000FF"/>
                </a:solidFill>
                <a:latin typeface="Arial" panose="020B0604020202020204" pitchFamily="34" charset="0"/>
                <a:cs typeface="Arial" panose="020B0604020202020204" pitchFamily="34" charset="0"/>
              </a:rPr>
              <a:t>=</a:t>
            </a:r>
            <a:r>
              <a:rPr lang="en-US" sz="1400" dirty="0" err="1">
                <a:solidFill>
                  <a:srgbClr val="0000FF"/>
                </a:solidFill>
                <a:latin typeface="Arial" panose="020B0604020202020204" pitchFamily="34" charset="0"/>
                <a:cs typeface="Arial" panose="020B0604020202020204" pitchFamily="34" charset="0"/>
              </a:rPr>
              <a:t>c.iterator</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while(</a:t>
            </a:r>
            <a:r>
              <a:rPr lang="en-US" sz="1400" dirty="0" err="1">
                <a:solidFill>
                  <a:srgbClr val="0000FF"/>
                </a:solidFill>
                <a:latin typeface="Arial" panose="020B0604020202020204" pitchFamily="34" charset="0"/>
                <a:cs typeface="Arial" panose="020B0604020202020204" pitchFamily="34" charset="0"/>
              </a:rPr>
              <a:t>i.hasNext</a:t>
            </a:r>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System.out.println(</a:t>
            </a:r>
            <a:r>
              <a:rPr lang="en-US" sz="1400" dirty="0" err="1">
                <a:solidFill>
                  <a:srgbClr val="0000FF"/>
                </a:solidFill>
                <a:latin typeface="Arial" panose="020B0604020202020204" pitchFamily="34" charset="0"/>
                <a:cs typeface="Arial" panose="020B0604020202020204" pitchFamily="34" charset="0"/>
              </a:rPr>
              <a:t>i.next</a:t>
            </a:r>
            <a:r>
              <a:rPr lang="en-US" sz="1400" dirty="0">
                <a:solidFill>
                  <a:srgbClr val="0000FF"/>
                </a:solidFill>
                <a:latin typeface="Arial" panose="020B0604020202020204" pitchFamily="34" charset="0"/>
                <a:cs typeface="Arial" panose="020B0604020202020204" pitchFamily="34" charset="0"/>
              </a:rPr>
              <a:t>().</a:t>
            </a:r>
            <a:r>
              <a:rPr lang="en-US" sz="1400" dirty="0" err="1">
                <a:solidFill>
                  <a:srgbClr val="0000FF"/>
                </a:solidFill>
                <a:latin typeface="Arial" panose="020B0604020202020204" pitchFamily="34" charset="0"/>
                <a:cs typeface="Arial" panose="020B0604020202020204" pitchFamily="34" charset="0"/>
              </a:rPr>
              <a:t>toString</a:t>
            </a:r>
            <a:r>
              <a:rPr lang="en-US" sz="1400" dirty="0">
                <a:solidFill>
                  <a:srgbClr val="0000FF"/>
                </a:solidFill>
                <a:latin typeface="Arial" panose="020B0604020202020204" pitchFamily="34" charset="0"/>
                <a:cs typeface="Arial" panose="020B0604020202020204" pitchFamily="34" charset="0"/>
              </a:rPr>
              <a:t>());</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 }</a:t>
            </a:r>
          </a:p>
          <a:p>
            <a:r>
              <a:rPr lang="en-US" sz="1400" dirty="0">
                <a:solidFill>
                  <a:srgbClr val="0000FF"/>
                </a:solidFill>
                <a:latin typeface="Arial" panose="020B0604020202020204" pitchFamily="34" charset="0"/>
                <a:cs typeface="Arial" panose="020B0604020202020204" pitchFamily="34" charset="0"/>
              </a:rPr>
              <a:t>}</a:t>
            </a:r>
            <a:endParaRPr lang="en-IN" sz="1400" dirty="0"/>
          </a:p>
        </p:txBody>
      </p:sp>
      <p:sp>
        <p:nvSpPr>
          <p:cNvPr id="13"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dirty="0">
                <a:solidFill>
                  <a:schemeClr val="tx1">
                    <a:lumMod val="95000"/>
                    <a:lumOff val="5000"/>
                  </a:schemeClr>
                </a:solidFill>
              </a:rPr>
              <a:t>Suryanarayana</a:t>
            </a:r>
            <a:endParaRPr lang="en-US" dirty="0">
              <a:solidFill>
                <a:schemeClr val="tx1">
                  <a:lumMod val="95000"/>
                  <a:lumOff val="5000"/>
                </a:schemeClr>
              </a:solidFill>
            </a:endParaRPr>
          </a:p>
        </p:txBody>
      </p:sp>
    </p:spTree>
    <p:extLst>
      <p:ext uri="{BB962C8B-B14F-4D97-AF65-F5344CB8AC3E}">
        <p14:creationId xmlns:p14="http://schemas.microsoft.com/office/powerpoint/2010/main" val="19579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F522F05F-FC8D-4CEB-A2D5-7897A5CBD9E8}"/>
              </a:ext>
            </a:extLst>
          </p:cNvPr>
          <p:cNvGrpSpPr/>
          <p:nvPr/>
        </p:nvGrpSpPr>
        <p:grpSpPr>
          <a:xfrm>
            <a:off x="-169948" y="0"/>
            <a:ext cx="12361946" cy="6858000"/>
            <a:chOff x="-169948" y="0"/>
            <a:chExt cx="12361946" cy="6858000"/>
          </a:xfrm>
        </p:grpSpPr>
        <p:sp>
          <p:nvSpPr>
            <p:cNvPr id="5" name="Rectangle 4">
              <a:extLst>
                <a:ext uri="{FF2B5EF4-FFF2-40B4-BE49-F238E27FC236}">
                  <a16:creationId xmlns:a16="http://schemas.microsoft.com/office/drawing/2014/main" xmlns="" id="{B8F0AE46-61FC-4705-BC4A-D15A7356FFA4}"/>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8" name="Picture 7">
              <a:extLst>
                <a:ext uri="{FF2B5EF4-FFF2-40B4-BE49-F238E27FC236}">
                  <a16:creationId xmlns:a16="http://schemas.microsoft.com/office/drawing/2014/main" xmlns="" id="{335F4052-8E0D-4041-86F8-5718760060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04330" y="12571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Arrow: Pentagon 1">
              <a:extLst>
                <a:ext uri="{FF2B5EF4-FFF2-40B4-BE49-F238E27FC236}">
                  <a16:creationId xmlns:a16="http://schemas.microsoft.com/office/drawing/2014/main" xmlns="" id="{7C96DA53-CA62-4098-A7D5-8461D84A0B27}"/>
                </a:ext>
              </a:extLst>
            </p:cNvPr>
            <p:cNvSpPr/>
            <p:nvPr/>
          </p:nvSpPr>
          <p:spPr>
            <a:xfrm>
              <a:off x="0" y="0"/>
              <a:ext cx="922020" cy="674946"/>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1" name="Arrow: Pentagon 10">
              <a:extLst>
                <a:ext uri="{FF2B5EF4-FFF2-40B4-BE49-F238E27FC236}">
                  <a16:creationId xmlns:a16="http://schemas.microsoft.com/office/drawing/2014/main" xmlns="" id="{9F85281B-B11C-4504-A05E-B018368DAF6E}"/>
                </a:ext>
              </a:extLst>
            </p:cNvPr>
            <p:cNvSpPr/>
            <p:nvPr/>
          </p:nvSpPr>
          <p:spPr>
            <a:xfrm>
              <a:off x="0" y="6240780"/>
              <a:ext cx="922020" cy="617220"/>
            </a:xfrm>
            <a:prstGeom prst="homePlate">
              <a:avLst>
                <a:gd name="adj" fmla="val 29518"/>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4" name="Diagonal Stripe 3">
              <a:extLst>
                <a:ext uri="{FF2B5EF4-FFF2-40B4-BE49-F238E27FC236}">
                  <a16:creationId xmlns:a16="http://schemas.microsoft.com/office/drawing/2014/main" xmlns="" id="{510238AE-9587-4CF9-992E-A0E3079FDE65}"/>
                </a:ext>
              </a:extLst>
            </p:cNvPr>
            <p:cNvSpPr/>
            <p:nvPr/>
          </p:nvSpPr>
          <p:spPr>
            <a:xfrm rot="5800169">
              <a:off x="-1422161" y="3313176"/>
              <a:ext cx="2847139" cy="342714"/>
            </a:xfrm>
            <a:prstGeom prst="diagStripe">
              <a:avLst>
                <a:gd name="adj" fmla="val 54161"/>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endParaRPr lang="en-US">
                <a:solidFill>
                  <a:srgbClr val="FFFFFF"/>
                </a:solidFill>
              </a:endParaRPr>
            </a:p>
          </p:txBody>
        </p:sp>
        <p:sp>
          <p:nvSpPr>
            <p:cNvPr id="13" name="Flowchart: Punched Tape 12">
              <a:extLst>
                <a:ext uri="{FF2B5EF4-FFF2-40B4-BE49-F238E27FC236}">
                  <a16:creationId xmlns:a16="http://schemas.microsoft.com/office/drawing/2014/main" xmlns="" id="{5443FD4F-93F9-4EEA-8E7A-B81D9448263E}"/>
                </a:ext>
              </a:extLst>
            </p:cNvPr>
            <p:cNvSpPr/>
            <p:nvPr/>
          </p:nvSpPr>
          <p:spPr>
            <a:xfrm>
              <a:off x="3573780" y="0"/>
              <a:ext cx="5692140" cy="846469"/>
            </a:xfrm>
            <a:prstGeom prst="flowChartPunchedTape">
              <a:avLst/>
            </a:prstGeom>
            <a:gradFill>
              <a:gsLst>
                <a:gs pos="0">
                  <a:srgbClr val="8016EF"/>
                </a:gs>
                <a:gs pos="52282">
                  <a:srgbClr val="6761F7"/>
                </a:gs>
                <a:gs pos="100000">
                  <a:srgbClr val="4FACFE"/>
                </a:gs>
              </a:gsLst>
            </a:gradFill>
            <a:ln w="12700">
              <a:miter lim="400000"/>
            </a:ln>
            <a:scene3d>
              <a:camera prst="orthographicFront"/>
              <a:lightRig rig="threePt" dir="t"/>
            </a:scene3d>
            <a:sp3d>
              <a:bevelT prst="relaxedInset"/>
            </a:sp3d>
          </p:spPr>
          <p:txBody>
            <a:bodyPr lIns="45718" tIns="45718" rIns="45718" bIns="45718" anchor="ctr"/>
            <a:lstStyle/>
            <a:p>
              <a:pPr algn="ctr"/>
              <a:r>
                <a:rPr lang="en-US" b="1" dirty="0">
                  <a:solidFill>
                    <a:schemeClr val="bg1"/>
                  </a:solidFill>
                  <a:latin typeface="Bookman Old Style" panose="02050604050505020204" pitchFamily="18" charset="0"/>
                </a:rPr>
                <a:t>java.util package (Legacy Classes)</a:t>
              </a:r>
            </a:p>
          </p:txBody>
        </p:sp>
      </p:grpSp>
      <p:sp>
        <p:nvSpPr>
          <p:cNvPr id="17" name="TextBox 16">
            <a:extLst>
              <a:ext uri="{FF2B5EF4-FFF2-40B4-BE49-F238E27FC236}">
                <a16:creationId xmlns:a16="http://schemas.microsoft.com/office/drawing/2014/main" xmlns="" id="{ADC4DB27-5802-4175-A8D7-E2262C505D65}"/>
              </a:ext>
            </a:extLst>
          </p:cNvPr>
          <p:cNvSpPr txBox="1"/>
          <p:nvPr/>
        </p:nvSpPr>
        <p:spPr>
          <a:xfrm>
            <a:off x="285751" y="1106670"/>
            <a:ext cx="9113744" cy="3139321"/>
          </a:xfrm>
          <a:prstGeom prst="rect">
            <a:avLst/>
          </a:prstGeom>
          <a:noFill/>
        </p:spPr>
        <p:txBody>
          <a:bodyPr wrap="square" rtlCol="0">
            <a:spAutoFit/>
          </a:bodyPr>
          <a:lstStyle/>
          <a:p>
            <a:pPr algn="just"/>
            <a:r>
              <a:rPr lang="en-US" dirty="0">
                <a:solidFill>
                  <a:srgbClr val="0000FF"/>
                </a:solidFill>
                <a:latin typeface="Arial" panose="020B0604020202020204" pitchFamily="34" charset="0"/>
                <a:cs typeface="Arial" panose="020B0604020202020204" pitchFamily="34" charset="0"/>
              </a:rPr>
              <a:t>But index based search is always slower because until we go through objects of all the indexes we cannot determine where the desired object exist. Vector paradigm/model is FIFO. Vector allows duplication.</a:t>
            </a:r>
          </a:p>
          <a:p>
            <a:pPr algn="just"/>
            <a:endParaRPr lang="en-US" dirty="0">
              <a:solidFill>
                <a:srgbClr val="0000FF"/>
              </a:solidFill>
              <a:latin typeface="Arial" panose="020B0604020202020204" pitchFamily="34" charset="0"/>
              <a:cs typeface="Arial" panose="020B0604020202020204" pitchFamily="34" charset="0"/>
            </a:endParaRPr>
          </a:p>
          <a:p>
            <a:pPr algn="just"/>
            <a:r>
              <a:rPr lang="en-US" dirty="0">
                <a:solidFill>
                  <a:srgbClr val="0000FF"/>
                </a:solidFill>
                <a:latin typeface="Arial" panose="020B0604020202020204" pitchFamily="34" charset="0"/>
                <a:cs typeface="Arial" panose="020B0604020202020204" pitchFamily="34" charset="0"/>
              </a:rPr>
              <a:t>Hence if objects are stored with a easily rememberable key as a index to store the value. Searching object with that user defined key based becomes faster than index based search. The </a:t>
            </a:r>
            <a:r>
              <a:rPr lang="en-US" b="1" dirty="0">
                <a:solidFill>
                  <a:srgbClr val="0000FF"/>
                </a:solidFill>
                <a:latin typeface="Arial" panose="020B0604020202020204" pitchFamily="34" charset="0"/>
                <a:cs typeface="Arial" panose="020B0604020202020204" pitchFamily="34" charset="0"/>
              </a:rPr>
              <a:t>Dictionary</a:t>
            </a:r>
            <a:r>
              <a:rPr lang="en-US" dirty="0">
                <a:solidFill>
                  <a:srgbClr val="0000FF"/>
                </a:solidFill>
                <a:latin typeface="Arial" panose="020B0604020202020204" pitchFamily="34" charset="0"/>
                <a:cs typeface="Arial" panose="020B0604020202020204" pitchFamily="34" charset="0"/>
              </a:rPr>
              <a:t> sub classes are used for user defined key based indexes. One is </a:t>
            </a:r>
            <a:r>
              <a:rPr lang="en-US" b="1" dirty="0">
                <a:solidFill>
                  <a:srgbClr val="0000FF"/>
                </a:solidFill>
                <a:latin typeface="Arial" panose="020B0604020202020204" pitchFamily="34" charset="0"/>
                <a:cs typeface="Arial" panose="020B0604020202020204" pitchFamily="34" charset="0"/>
              </a:rPr>
              <a:t>Hashtable</a:t>
            </a:r>
            <a:r>
              <a:rPr lang="en-US" dirty="0">
                <a:solidFill>
                  <a:srgbClr val="0000FF"/>
                </a:solidFill>
                <a:latin typeface="Arial" panose="020B0604020202020204" pitchFamily="34" charset="0"/>
                <a:cs typeface="Arial" panose="020B0604020202020204" pitchFamily="34" charset="0"/>
              </a:rPr>
              <a:t> and the other one is </a:t>
            </a:r>
            <a:r>
              <a:rPr lang="en-US" b="1" dirty="0">
                <a:solidFill>
                  <a:srgbClr val="0000FF"/>
                </a:solidFill>
                <a:latin typeface="Arial" panose="020B0604020202020204" pitchFamily="34" charset="0"/>
                <a:cs typeface="Arial" panose="020B0604020202020204" pitchFamily="34" charset="0"/>
              </a:rPr>
              <a:t>Properties </a:t>
            </a:r>
            <a:r>
              <a:rPr lang="en-US" dirty="0">
                <a:solidFill>
                  <a:srgbClr val="0000FF"/>
                </a:solidFill>
                <a:latin typeface="Arial" panose="020B0604020202020204" pitchFamily="34" charset="0"/>
                <a:cs typeface="Arial" panose="020B0604020202020204" pitchFamily="34" charset="0"/>
              </a:rPr>
              <a:t>class. In both the objects user defined key hashCode value is stored as index to store values. Hence the given order cannot be guaranteed. Here also the index is an integer, but the integer is not incremental integer index, instead it is given key hashCode based index.</a:t>
            </a:r>
          </a:p>
        </p:txBody>
      </p:sp>
      <p:sp>
        <p:nvSpPr>
          <p:cNvPr id="6" name="Rectangle: Rounded Corners 5">
            <a:extLst>
              <a:ext uri="{FF2B5EF4-FFF2-40B4-BE49-F238E27FC236}">
                <a16:creationId xmlns:a16="http://schemas.microsoft.com/office/drawing/2014/main" xmlns="" id="{6E0F93BA-3446-6E8D-799B-8ECEC8514B65}"/>
              </a:ext>
            </a:extLst>
          </p:cNvPr>
          <p:cNvSpPr/>
          <p:nvPr/>
        </p:nvSpPr>
        <p:spPr>
          <a:xfrm>
            <a:off x="2926079" y="4262718"/>
            <a:ext cx="1713155" cy="5077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Object</a:t>
            </a:r>
          </a:p>
        </p:txBody>
      </p:sp>
      <p:sp>
        <p:nvSpPr>
          <p:cNvPr id="12" name="Rectangle: Rounded Corners 11">
            <a:extLst>
              <a:ext uri="{FF2B5EF4-FFF2-40B4-BE49-F238E27FC236}">
                <a16:creationId xmlns:a16="http://schemas.microsoft.com/office/drawing/2014/main" xmlns="" id="{757468CA-1D02-6781-7F7C-18A89D8F2F07}"/>
              </a:ext>
            </a:extLst>
          </p:cNvPr>
          <p:cNvSpPr/>
          <p:nvPr/>
        </p:nvSpPr>
        <p:spPr>
          <a:xfrm>
            <a:off x="3078479" y="4858869"/>
            <a:ext cx="1713155" cy="5077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Dictionary</a:t>
            </a:r>
          </a:p>
        </p:txBody>
      </p:sp>
      <p:sp>
        <p:nvSpPr>
          <p:cNvPr id="14" name="Rectangle: Rounded Corners 13">
            <a:extLst>
              <a:ext uri="{FF2B5EF4-FFF2-40B4-BE49-F238E27FC236}">
                <a16:creationId xmlns:a16="http://schemas.microsoft.com/office/drawing/2014/main" xmlns="" id="{66323C00-AF56-9A6C-3608-45953F4DB93B}"/>
              </a:ext>
            </a:extLst>
          </p:cNvPr>
          <p:cNvSpPr/>
          <p:nvPr/>
        </p:nvSpPr>
        <p:spPr>
          <a:xfrm>
            <a:off x="3230879" y="5441573"/>
            <a:ext cx="1713155" cy="5077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Hashtable</a:t>
            </a:r>
          </a:p>
        </p:txBody>
      </p:sp>
      <p:sp>
        <p:nvSpPr>
          <p:cNvPr id="15" name="Rectangle: Rounded Corners 14">
            <a:extLst>
              <a:ext uri="{FF2B5EF4-FFF2-40B4-BE49-F238E27FC236}">
                <a16:creationId xmlns:a16="http://schemas.microsoft.com/office/drawing/2014/main" xmlns="" id="{4A68B5E9-8FC6-1822-3709-53CB07278A00}"/>
              </a:ext>
            </a:extLst>
          </p:cNvPr>
          <p:cNvSpPr/>
          <p:nvPr/>
        </p:nvSpPr>
        <p:spPr>
          <a:xfrm>
            <a:off x="3383279" y="6051171"/>
            <a:ext cx="1713155" cy="5077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Properties</a:t>
            </a:r>
          </a:p>
        </p:txBody>
      </p:sp>
      <p:sp>
        <p:nvSpPr>
          <p:cNvPr id="7" name="TextBox 6">
            <a:extLst>
              <a:ext uri="{FF2B5EF4-FFF2-40B4-BE49-F238E27FC236}">
                <a16:creationId xmlns:a16="http://schemas.microsoft.com/office/drawing/2014/main" xmlns="" id="{1CAEFE95-1750-682A-23CC-20F0373878B5}"/>
              </a:ext>
            </a:extLst>
          </p:cNvPr>
          <p:cNvSpPr txBox="1"/>
          <p:nvPr/>
        </p:nvSpPr>
        <p:spPr>
          <a:xfrm>
            <a:off x="5177118" y="5513295"/>
            <a:ext cx="1612942" cy="369332"/>
          </a:xfrm>
          <a:prstGeom prst="rect">
            <a:avLst/>
          </a:prstGeom>
          <a:noFill/>
        </p:spPr>
        <p:txBody>
          <a:bodyPr wrap="none" rtlCol="0">
            <a:spAutoFit/>
          </a:bodyPr>
          <a:lstStyle/>
          <a:p>
            <a:r>
              <a:rPr lang="en-IN" dirty="0"/>
              <a:t>[object, object]</a:t>
            </a:r>
          </a:p>
        </p:txBody>
      </p:sp>
      <p:sp>
        <p:nvSpPr>
          <p:cNvPr id="16" name="TextBox 15">
            <a:extLst>
              <a:ext uri="{FF2B5EF4-FFF2-40B4-BE49-F238E27FC236}">
                <a16:creationId xmlns:a16="http://schemas.microsoft.com/office/drawing/2014/main" xmlns="" id="{0DB1CC07-438D-AF77-D404-41AF6F53B704}"/>
              </a:ext>
            </a:extLst>
          </p:cNvPr>
          <p:cNvSpPr txBox="1"/>
          <p:nvPr/>
        </p:nvSpPr>
        <p:spPr>
          <a:xfrm>
            <a:off x="5262283" y="6082552"/>
            <a:ext cx="1494961" cy="369332"/>
          </a:xfrm>
          <a:prstGeom prst="rect">
            <a:avLst/>
          </a:prstGeom>
          <a:noFill/>
        </p:spPr>
        <p:txBody>
          <a:bodyPr wrap="none" rtlCol="0">
            <a:spAutoFit/>
          </a:bodyPr>
          <a:lstStyle/>
          <a:p>
            <a:r>
              <a:rPr lang="en-IN" dirty="0"/>
              <a:t>[string, string]</a:t>
            </a:r>
          </a:p>
        </p:txBody>
      </p:sp>
      <p:sp>
        <p:nvSpPr>
          <p:cNvPr id="18"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79379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22" presetClass="exit" presetSubtype="4" fill="hold" grpId="0" nodeType="withEffect">
                                  <p:stCondLst>
                                    <p:cond delay="0"/>
                                  </p:stCondLst>
                                  <p:childTnLst>
                                    <p:animEffect transition="out" filter="wipe(down)">
                                      <p:cBhvr>
                                        <p:cTn id="9" dur="500"/>
                                        <p:tgtEl>
                                          <p:spTgt spid="14"/>
                                        </p:tgtEl>
                                      </p:cBhvr>
                                    </p:animEffect>
                                    <p:set>
                                      <p:cBhvr>
                                        <p:cTn id="10" dur="1" fill="hold">
                                          <p:stCondLst>
                                            <p:cond delay="499"/>
                                          </p:stCondLst>
                                        </p:cTn>
                                        <p:tgtEl>
                                          <p:spTgt spid="14"/>
                                        </p:tgtEl>
                                        <p:attrNameLst>
                                          <p:attrName>style.visibility</p:attrName>
                                        </p:attrNameLst>
                                      </p:cBhvr>
                                      <p:to>
                                        <p:strVal val="hidden"/>
                                      </p:to>
                                    </p:set>
                                  </p:childTnLst>
                                </p:cTn>
                              </p:par>
                              <p:par>
                                <p:cTn id="11" presetID="22" presetClass="exit" presetSubtype="4" fill="hold" grpId="0" nodeType="withEffect">
                                  <p:stCondLst>
                                    <p:cond delay="0"/>
                                  </p:stCondLst>
                                  <p:childTnLst>
                                    <p:animEffect transition="out" filter="wipe(down)">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par>
                                <p:cTn id="14" presetID="22" presetClass="exit" presetSubtype="4" fill="hold" grpId="0" nodeType="withEffect">
                                  <p:stCondLst>
                                    <p:cond delay="0"/>
                                  </p:stCondLst>
                                  <p:childTnLst>
                                    <p:animEffect transition="out" filter="wipe(down)">
                                      <p:cBhvr>
                                        <p:cTn id="15" dur="500"/>
                                        <p:tgtEl>
                                          <p:spTgt spid="6"/>
                                        </p:tgtEl>
                                      </p:cBhvr>
                                    </p:animEffect>
                                    <p:set>
                                      <p:cBhvr>
                                        <p:cTn id="16"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ABA95FDE-BF94-4528-A8C2-0E894E086D76}"/>
              </a:ext>
            </a:extLst>
          </p:cNvPr>
          <p:cNvGrpSpPr/>
          <p:nvPr/>
        </p:nvGrpSpPr>
        <p:grpSpPr>
          <a:xfrm>
            <a:off x="-570497" y="-1"/>
            <a:ext cx="13347833" cy="7532371"/>
            <a:chOff x="-570497" y="-1"/>
            <a:chExt cx="13347833" cy="7532371"/>
          </a:xfrm>
        </p:grpSpPr>
        <p:sp>
          <p:nvSpPr>
            <p:cNvPr id="11" name="Rectangle 10">
              <a:extLst>
                <a:ext uri="{FF2B5EF4-FFF2-40B4-BE49-F238E27FC236}">
                  <a16:creationId xmlns:a16="http://schemas.microsoft.com/office/drawing/2014/main" xmlns="" id="{A4AA83AB-2A44-4D4C-AD40-AB708A7E2B5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12" name="Picture 6" descr="Pencil Transparent PNG Clipart Free Download - Free Transparent PNG Logos">
              <a:extLst>
                <a:ext uri="{FF2B5EF4-FFF2-40B4-BE49-F238E27FC236}">
                  <a16:creationId xmlns:a16="http://schemas.microsoft.com/office/drawing/2014/main" xmlns="" id="{F1685DFA-2EF0-4C00-9475-33E9305FE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176537" y="2606040"/>
              <a:ext cx="662178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encil Transparent PNG Clipart Free Download - Free Transparent PNG Logos">
              <a:extLst>
                <a:ext uri="{FF2B5EF4-FFF2-40B4-BE49-F238E27FC236}">
                  <a16:creationId xmlns:a16="http://schemas.microsoft.com/office/drawing/2014/main" xmlns="" id="{2ECD9728-D2BA-4010-9E09-E490C3093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8807315" y="2560320"/>
              <a:ext cx="6530341"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Pencil Transparent PNG Clipart Free Download - Free Transparent PNG Logos">
              <a:extLst>
                <a:ext uri="{FF2B5EF4-FFF2-40B4-BE49-F238E27FC236}">
                  <a16:creationId xmlns:a16="http://schemas.microsoft.com/office/drawing/2014/main" xmlns="" id="{D405FFAE-7540-4062-A41B-7B7C21D74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2" y="5951220"/>
              <a:ext cx="12192001" cy="158115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xmlns="" id="{2E920D22-292C-4AE2-AF03-0097111489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36690" y="57136"/>
              <a:ext cx="773370" cy="846469"/>
            </a:xfrm>
            <a:prstGeom prst="roundRect">
              <a:avLst>
                <a:gd name="adj" fmla="val 16667"/>
              </a:avLst>
            </a:prstGeom>
            <a:ln>
              <a:solidFill>
                <a:srgbClr val="0000FF"/>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6" name="Arrow: Left-Right 15">
              <a:extLst>
                <a:ext uri="{FF2B5EF4-FFF2-40B4-BE49-F238E27FC236}">
                  <a16:creationId xmlns:a16="http://schemas.microsoft.com/office/drawing/2014/main" xmlns="" id="{23D9331D-7EAC-4B17-907C-8337CDFF258A}"/>
                </a:ext>
              </a:extLst>
            </p:cNvPr>
            <p:cNvSpPr/>
            <p:nvPr/>
          </p:nvSpPr>
          <p:spPr>
            <a:xfrm>
              <a:off x="1821180" y="434340"/>
              <a:ext cx="7871460" cy="312420"/>
            </a:xfrm>
            <a:prstGeom prst="leftRightArrow">
              <a:avLst>
                <a:gd name="adj1" fmla="val 48266"/>
                <a:gd name="adj2" fmla="val 22414"/>
              </a:avLst>
            </a:prstGeom>
            <a:solidFill>
              <a:srgbClr val="FFC000"/>
            </a:solidFill>
            <a:scene3d>
              <a:camera prst="orthographicFront"/>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xmlns="" id="{3907E2EC-1D89-4455-8E5B-D30EFDDA17C2}"/>
                </a:ext>
              </a:extLst>
            </p:cNvPr>
            <p:cNvSpPr txBox="1"/>
            <p:nvPr/>
          </p:nvSpPr>
          <p:spPr>
            <a:xfrm>
              <a:off x="1935480" y="111038"/>
              <a:ext cx="7650480" cy="369332"/>
            </a:xfrm>
            <a:prstGeom prst="rect">
              <a:avLst/>
            </a:prstGeom>
            <a:noFill/>
          </p:spPr>
          <p:txBody>
            <a:bodyPr wrap="square">
              <a:spAutoFit/>
            </a:bodyPr>
            <a:lstStyle/>
            <a:p>
              <a:pPr algn="ctr"/>
              <a:r>
                <a:rPr lang="en-US" b="1" dirty="0">
                  <a:solidFill>
                    <a:srgbClr val="002060"/>
                  </a:solidFill>
                  <a:latin typeface="Bookman Old Style" panose="02050604050505020204" pitchFamily="18" charset="0"/>
                </a:rPr>
                <a:t>java.util package (Legacy classes)</a:t>
              </a:r>
            </a:p>
          </p:txBody>
        </p:sp>
      </p:grpSp>
      <p:sp>
        <p:nvSpPr>
          <p:cNvPr id="19" name="TextBox 18">
            <a:extLst>
              <a:ext uri="{FF2B5EF4-FFF2-40B4-BE49-F238E27FC236}">
                <a16:creationId xmlns:a16="http://schemas.microsoft.com/office/drawing/2014/main" xmlns="" id="{3EC0154E-540D-4BCC-A7D5-07D90ECE43A4}"/>
              </a:ext>
            </a:extLst>
          </p:cNvPr>
          <p:cNvSpPr txBox="1"/>
          <p:nvPr/>
        </p:nvSpPr>
        <p:spPr>
          <a:xfrm>
            <a:off x="2430276" y="2126833"/>
            <a:ext cx="3865161" cy="1631216"/>
          </a:xfrm>
          <a:prstGeom prst="rect">
            <a:avLst/>
          </a:prstGeom>
          <a:noFill/>
        </p:spPr>
        <p:txBody>
          <a:bodyPr wrap="none" rtlCol="0">
            <a:spAutoFit/>
          </a:bodyPr>
          <a:lstStyle/>
          <a:p>
            <a:r>
              <a:rPr lang="en-US" sz="2000" dirty="0">
                <a:solidFill>
                  <a:srgbClr val="0000FF"/>
                </a:solidFill>
                <a:latin typeface="Arial" panose="020B0604020202020204" pitchFamily="34" charset="0"/>
                <a:cs typeface="Arial" panose="020B0604020202020204" pitchFamily="34" charset="0"/>
              </a:rPr>
              <a:t>***********************************</a:t>
            </a:r>
          </a:p>
          <a:p>
            <a:r>
              <a:rPr lang="en-US" sz="2000" b="1" dirty="0">
                <a:solidFill>
                  <a:srgbClr val="0000FF"/>
                </a:solidFill>
                <a:latin typeface="Arial" panose="020B0604020202020204" pitchFamily="34" charset="0"/>
                <a:cs typeface="Arial" panose="020B0604020202020204" pitchFamily="34" charset="0"/>
              </a:rPr>
              <a:t>There are two types of arrays:</a:t>
            </a:r>
          </a:p>
          <a:p>
            <a:pPr marL="457200" indent="-457200">
              <a:buFont typeface="+mj-lt"/>
              <a:buAutoNum type="arabicPeriod"/>
            </a:pPr>
            <a:r>
              <a:rPr lang="en-US" sz="2000" dirty="0">
                <a:solidFill>
                  <a:srgbClr val="0000FF"/>
                </a:solidFill>
                <a:latin typeface="Arial" panose="020B0604020202020204" pitchFamily="34" charset="0"/>
                <a:cs typeface="Arial" panose="020B0604020202020204" pitchFamily="34" charset="0"/>
              </a:rPr>
              <a:t>index based array (Vector)</a:t>
            </a:r>
          </a:p>
          <a:p>
            <a:pPr marL="457200" indent="-457200">
              <a:buFont typeface="+mj-lt"/>
              <a:buAutoNum type="arabicPeriod"/>
            </a:pPr>
            <a:r>
              <a:rPr lang="en-US" sz="2000" dirty="0">
                <a:solidFill>
                  <a:srgbClr val="0000FF"/>
                </a:solidFill>
                <a:latin typeface="Arial" panose="020B0604020202020204" pitchFamily="34" charset="0"/>
                <a:cs typeface="Arial" panose="020B0604020202020204" pitchFamily="34" charset="0"/>
              </a:rPr>
              <a:t>key based array (Hashtable)</a:t>
            </a:r>
          </a:p>
          <a:p>
            <a:r>
              <a:rPr lang="en-US" sz="2000" dirty="0">
                <a:solidFill>
                  <a:srgbClr val="0000FF"/>
                </a:solidFill>
                <a:latin typeface="Arial" panose="020B0604020202020204" pitchFamily="34" charset="0"/>
                <a:cs typeface="Arial" panose="020B0604020202020204" pitchFamily="34" charset="0"/>
              </a:rPr>
              <a:t>***********************************</a:t>
            </a:r>
          </a:p>
        </p:txBody>
      </p:sp>
      <p:graphicFrame>
        <p:nvGraphicFramePr>
          <p:cNvPr id="2" name="Table 2">
            <a:extLst>
              <a:ext uri="{FF2B5EF4-FFF2-40B4-BE49-F238E27FC236}">
                <a16:creationId xmlns:a16="http://schemas.microsoft.com/office/drawing/2014/main" xmlns="" id="{F6700B96-4032-105E-E4FD-0075C07061E2}"/>
              </a:ext>
            </a:extLst>
          </p:cNvPr>
          <p:cNvGraphicFramePr>
            <a:graphicFrameLocks noGrp="1"/>
          </p:cNvGraphicFramePr>
          <p:nvPr>
            <p:extLst>
              <p:ext uri="{D42A27DB-BD31-4B8C-83A1-F6EECF244321}">
                <p14:modId xmlns:p14="http://schemas.microsoft.com/office/powerpoint/2010/main" val="3878145912"/>
              </p:ext>
            </p:extLst>
          </p:nvPr>
        </p:nvGraphicFramePr>
        <p:xfrm>
          <a:off x="7620743" y="1373970"/>
          <a:ext cx="1409704" cy="1854200"/>
        </p:xfrm>
        <a:graphic>
          <a:graphicData uri="http://schemas.openxmlformats.org/drawingml/2006/table">
            <a:tbl>
              <a:tblPr firstRow="1" bandRow="1">
                <a:tableStyleId>{BC89EF96-8CEA-46FF-86C4-4CE0E7609802}</a:tableStyleId>
              </a:tblPr>
              <a:tblGrid>
                <a:gridCol w="704852">
                  <a:extLst>
                    <a:ext uri="{9D8B030D-6E8A-4147-A177-3AD203B41FA5}">
                      <a16:colId xmlns:a16="http://schemas.microsoft.com/office/drawing/2014/main" xmlns="" val="3776264815"/>
                    </a:ext>
                  </a:extLst>
                </a:gridCol>
                <a:gridCol w="704852">
                  <a:extLst>
                    <a:ext uri="{9D8B030D-6E8A-4147-A177-3AD203B41FA5}">
                      <a16:colId xmlns:a16="http://schemas.microsoft.com/office/drawing/2014/main" xmlns="" val="1740221659"/>
                    </a:ext>
                  </a:extLst>
                </a:gridCol>
              </a:tblGrid>
              <a:tr h="370840">
                <a:tc>
                  <a:txBody>
                    <a:bodyPr/>
                    <a:lstStyle/>
                    <a:p>
                      <a:r>
                        <a:rPr lang="en-IN" b="1" dirty="0"/>
                        <a:t>index</a:t>
                      </a:r>
                    </a:p>
                  </a:txBody>
                  <a:tcPr/>
                </a:tc>
                <a:tc>
                  <a:txBody>
                    <a:bodyPr/>
                    <a:lstStyle/>
                    <a:p>
                      <a:r>
                        <a:rPr lang="en-IN" b="1" dirty="0"/>
                        <a:t>value</a:t>
                      </a:r>
                    </a:p>
                  </a:txBody>
                  <a:tcPr/>
                </a:tc>
                <a:extLst>
                  <a:ext uri="{0D108BD9-81ED-4DB2-BD59-A6C34878D82A}">
                    <a16:rowId xmlns:a16="http://schemas.microsoft.com/office/drawing/2014/main" xmlns="" val="2870055013"/>
                  </a:ext>
                </a:extLst>
              </a:tr>
              <a:tr h="370840">
                <a:tc>
                  <a:txBody>
                    <a:bodyPr/>
                    <a:lstStyle/>
                    <a:p>
                      <a:r>
                        <a:rPr lang="en-IN" b="1" dirty="0"/>
                        <a:t>0</a:t>
                      </a:r>
                    </a:p>
                  </a:txBody>
                  <a:tcPr/>
                </a:tc>
                <a:tc>
                  <a:txBody>
                    <a:bodyPr/>
                    <a:lstStyle/>
                    <a:p>
                      <a:r>
                        <a:rPr lang="en-IN" b="1" dirty="0"/>
                        <a:t>10</a:t>
                      </a:r>
                    </a:p>
                  </a:txBody>
                  <a:tcPr/>
                </a:tc>
                <a:extLst>
                  <a:ext uri="{0D108BD9-81ED-4DB2-BD59-A6C34878D82A}">
                    <a16:rowId xmlns:a16="http://schemas.microsoft.com/office/drawing/2014/main" xmlns="" val="3061134397"/>
                  </a:ext>
                </a:extLst>
              </a:tr>
              <a:tr h="370840">
                <a:tc>
                  <a:txBody>
                    <a:bodyPr/>
                    <a:lstStyle/>
                    <a:p>
                      <a:r>
                        <a:rPr lang="en-IN" b="1" dirty="0"/>
                        <a:t>1</a:t>
                      </a:r>
                    </a:p>
                  </a:txBody>
                  <a:tcPr/>
                </a:tc>
                <a:tc>
                  <a:txBody>
                    <a:bodyPr/>
                    <a:lstStyle/>
                    <a:p>
                      <a:r>
                        <a:rPr lang="en-IN" b="1" dirty="0"/>
                        <a:t>20</a:t>
                      </a:r>
                    </a:p>
                  </a:txBody>
                  <a:tcPr/>
                </a:tc>
                <a:extLst>
                  <a:ext uri="{0D108BD9-81ED-4DB2-BD59-A6C34878D82A}">
                    <a16:rowId xmlns:a16="http://schemas.microsoft.com/office/drawing/2014/main" xmlns="" val="3743067784"/>
                  </a:ext>
                </a:extLst>
              </a:tr>
              <a:tr h="370840">
                <a:tc>
                  <a:txBody>
                    <a:bodyPr/>
                    <a:lstStyle/>
                    <a:p>
                      <a:r>
                        <a:rPr lang="en-IN" b="1" dirty="0"/>
                        <a:t>2</a:t>
                      </a:r>
                    </a:p>
                  </a:txBody>
                  <a:tcPr/>
                </a:tc>
                <a:tc>
                  <a:txBody>
                    <a:bodyPr/>
                    <a:lstStyle/>
                    <a:p>
                      <a:r>
                        <a:rPr lang="en-IN" b="1" dirty="0"/>
                        <a:t>30</a:t>
                      </a:r>
                    </a:p>
                  </a:txBody>
                  <a:tcPr/>
                </a:tc>
                <a:extLst>
                  <a:ext uri="{0D108BD9-81ED-4DB2-BD59-A6C34878D82A}">
                    <a16:rowId xmlns:a16="http://schemas.microsoft.com/office/drawing/2014/main" xmlns="" val="2126141286"/>
                  </a:ext>
                </a:extLst>
              </a:tr>
              <a:tr h="370840">
                <a:tc>
                  <a:txBody>
                    <a:bodyPr/>
                    <a:lstStyle/>
                    <a:p>
                      <a:r>
                        <a:rPr lang="en-IN" b="1" dirty="0"/>
                        <a:t>3</a:t>
                      </a:r>
                    </a:p>
                  </a:txBody>
                  <a:tcPr/>
                </a:tc>
                <a:tc>
                  <a:txBody>
                    <a:bodyPr/>
                    <a:lstStyle/>
                    <a:p>
                      <a:r>
                        <a:rPr lang="en-IN" b="1" dirty="0"/>
                        <a:t>40</a:t>
                      </a:r>
                    </a:p>
                  </a:txBody>
                  <a:tcPr/>
                </a:tc>
                <a:extLst>
                  <a:ext uri="{0D108BD9-81ED-4DB2-BD59-A6C34878D82A}">
                    <a16:rowId xmlns:a16="http://schemas.microsoft.com/office/drawing/2014/main" xmlns="" val="472231230"/>
                  </a:ext>
                </a:extLst>
              </a:tr>
            </a:tbl>
          </a:graphicData>
        </a:graphic>
      </p:graphicFrame>
      <p:graphicFrame>
        <p:nvGraphicFramePr>
          <p:cNvPr id="3" name="Table 2">
            <a:extLst>
              <a:ext uri="{FF2B5EF4-FFF2-40B4-BE49-F238E27FC236}">
                <a16:creationId xmlns:a16="http://schemas.microsoft.com/office/drawing/2014/main" xmlns="" id="{BA1BD4C3-9576-FB62-6096-C061FC26B43B}"/>
              </a:ext>
            </a:extLst>
          </p:cNvPr>
          <p:cNvGraphicFramePr>
            <a:graphicFrameLocks noGrp="1"/>
          </p:cNvGraphicFramePr>
          <p:nvPr>
            <p:extLst>
              <p:ext uri="{D42A27DB-BD31-4B8C-83A1-F6EECF244321}">
                <p14:modId xmlns:p14="http://schemas.microsoft.com/office/powerpoint/2010/main" val="1855042411"/>
              </p:ext>
            </p:extLst>
          </p:nvPr>
        </p:nvGraphicFramePr>
        <p:xfrm>
          <a:off x="4643702" y="4098169"/>
          <a:ext cx="2716316" cy="1854200"/>
        </p:xfrm>
        <a:graphic>
          <a:graphicData uri="http://schemas.openxmlformats.org/drawingml/2006/table">
            <a:tbl>
              <a:tblPr firstRow="1" bandRow="1">
                <a:tableStyleId>{BC89EF96-8CEA-46FF-86C4-4CE0E7609802}</a:tableStyleId>
              </a:tblPr>
              <a:tblGrid>
                <a:gridCol w="1358158">
                  <a:extLst>
                    <a:ext uri="{9D8B030D-6E8A-4147-A177-3AD203B41FA5}">
                      <a16:colId xmlns:a16="http://schemas.microsoft.com/office/drawing/2014/main" xmlns="" val="1007872503"/>
                    </a:ext>
                  </a:extLst>
                </a:gridCol>
                <a:gridCol w="1358158">
                  <a:extLst>
                    <a:ext uri="{9D8B030D-6E8A-4147-A177-3AD203B41FA5}">
                      <a16:colId xmlns:a16="http://schemas.microsoft.com/office/drawing/2014/main" xmlns="" val="3491156137"/>
                    </a:ext>
                  </a:extLst>
                </a:gridCol>
              </a:tblGrid>
              <a:tr h="370840">
                <a:tc>
                  <a:txBody>
                    <a:bodyPr/>
                    <a:lstStyle/>
                    <a:p>
                      <a:r>
                        <a:rPr lang="en-IN" b="1" dirty="0"/>
                        <a:t>key as index</a:t>
                      </a:r>
                    </a:p>
                  </a:txBody>
                  <a:tcPr/>
                </a:tc>
                <a:tc>
                  <a:txBody>
                    <a:bodyPr/>
                    <a:lstStyle/>
                    <a:p>
                      <a:r>
                        <a:rPr lang="en-IN" b="1" dirty="0"/>
                        <a:t>value</a:t>
                      </a:r>
                    </a:p>
                  </a:txBody>
                  <a:tcPr/>
                </a:tc>
                <a:extLst>
                  <a:ext uri="{0D108BD9-81ED-4DB2-BD59-A6C34878D82A}">
                    <a16:rowId xmlns:a16="http://schemas.microsoft.com/office/drawing/2014/main" xmlns="" val="155886395"/>
                  </a:ext>
                </a:extLst>
              </a:tr>
              <a:tr h="370840">
                <a:tc>
                  <a:txBody>
                    <a:bodyPr/>
                    <a:lstStyle/>
                    <a:p>
                      <a:r>
                        <a:rPr lang="en-IN" b="1" dirty="0" err="1"/>
                        <a:t>surya</a:t>
                      </a:r>
                      <a:endParaRPr lang="en-IN" b="1" dirty="0"/>
                    </a:p>
                  </a:txBody>
                  <a:tcPr/>
                </a:tc>
                <a:tc>
                  <a:txBody>
                    <a:bodyPr/>
                    <a:lstStyle/>
                    <a:p>
                      <a:r>
                        <a:rPr lang="en-IN" b="1" dirty="0"/>
                        <a:t>9848111288</a:t>
                      </a:r>
                    </a:p>
                  </a:txBody>
                  <a:tcPr/>
                </a:tc>
                <a:extLst>
                  <a:ext uri="{0D108BD9-81ED-4DB2-BD59-A6C34878D82A}">
                    <a16:rowId xmlns:a16="http://schemas.microsoft.com/office/drawing/2014/main" xmlns="" val="1119614194"/>
                  </a:ext>
                </a:extLst>
              </a:tr>
              <a:tr h="370840">
                <a:tc>
                  <a:txBody>
                    <a:bodyPr/>
                    <a:lstStyle/>
                    <a:p>
                      <a:r>
                        <a:rPr lang="en-IN" b="1" dirty="0" err="1"/>
                        <a:t>abc</a:t>
                      </a:r>
                      <a:endParaRPr lang="en-IN" b="1" dirty="0"/>
                    </a:p>
                  </a:txBody>
                  <a:tcPr/>
                </a:tc>
                <a:tc>
                  <a:txBody>
                    <a:bodyPr/>
                    <a:lstStyle/>
                    <a:p>
                      <a:r>
                        <a:rPr lang="en-IN" b="1" dirty="0"/>
                        <a:t>9848012345</a:t>
                      </a:r>
                    </a:p>
                  </a:txBody>
                  <a:tcPr/>
                </a:tc>
                <a:extLst>
                  <a:ext uri="{0D108BD9-81ED-4DB2-BD59-A6C34878D82A}">
                    <a16:rowId xmlns:a16="http://schemas.microsoft.com/office/drawing/2014/main" xmlns="" val="4277183665"/>
                  </a:ext>
                </a:extLst>
              </a:tr>
              <a:tr h="370840">
                <a:tc>
                  <a:txBody>
                    <a:bodyPr/>
                    <a:lstStyle/>
                    <a:p>
                      <a:r>
                        <a:rPr lang="en-IN" b="1" dirty="0" err="1"/>
                        <a:t>xyz</a:t>
                      </a:r>
                      <a:endParaRPr lang="en-IN" b="1" dirty="0"/>
                    </a:p>
                  </a:txBody>
                  <a:tcPr/>
                </a:tc>
                <a:tc>
                  <a:txBody>
                    <a:bodyPr/>
                    <a:lstStyle/>
                    <a:p>
                      <a:r>
                        <a:rPr lang="en-IN" b="1" dirty="0"/>
                        <a:t>9849012345</a:t>
                      </a:r>
                    </a:p>
                  </a:txBody>
                  <a:tcPr/>
                </a:tc>
                <a:extLst>
                  <a:ext uri="{0D108BD9-81ED-4DB2-BD59-A6C34878D82A}">
                    <a16:rowId xmlns:a16="http://schemas.microsoft.com/office/drawing/2014/main" xmlns="" val="1992900996"/>
                  </a:ext>
                </a:extLst>
              </a:tr>
              <a:tr h="370840">
                <a:tc>
                  <a:txBody>
                    <a:bodyPr/>
                    <a:lstStyle/>
                    <a:p>
                      <a:r>
                        <a:rPr lang="en-IN" b="1" dirty="0" err="1"/>
                        <a:t>lmn</a:t>
                      </a:r>
                      <a:endParaRPr lang="en-IN" b="1" dirty="0"/>
                    </a:p>
                  </a:txBody>
                  <a:tcPr/>
                </a:tc>
                <a:tc>
                  <a:txBody>
                    <a:bodyPr/>
                    <a:lstStyle/>
                    <a:p>
                      <a:r>
                        <a:rPr lang="en-IN" b="1" dirty="0"/>
                        <a:t>6302151056</a:t>
                      </a:r>
                    </a:p>
                  </a:txBody>
                  <a:tcPr/>
                </a:tc>
                <a:extLst>
                  <a:ext uri="{0D108BD9-81ED-4DB2-BD59-A6C34878D82A}">
                    <a16:rowId xmlns:a16="http://schemas.microsoft.com/office/drawing/2014/main" xmlns="" val="2940242732"/>
                  </a:ext>
                </a:extLst>
              </a:tr>
            </a:tbl>
          </a:graphicData>
        </a:graphic>
      </p:graphicFrame>
      <p:sp>
        <p:nvSpPr>
          <p:cNvPr id="5" name="TextBox 4">
            <a:extLst>
              <a:ext uri="{FF2B5EF4-FFF2-40B4-BE49-F238E27FC236}">
                <a16:creationId xmlns:a16="http://schemas.microsoft.com/office/drawing/2014/main" xmlns="" id="{4E960964-3AB2-F0EC-B307-8704D0257A78}"/>
              </a:ext>
            </a:extLst>
          </p:cNvPr>
          <p:cNvSpPr txBox="1"/>
          <p:nvPr/>
        </p:nvSpPr>
        <p:spPr>
          <a:xfrm>
            <a:off x="3039035" y="3707143"/>
            <a:ext cx="3109377" cy="369332"/>
          </a:xfrm>
          <a:prstGeom prst="rect">
            <a:avLst/>
          </a:prstGeom>
          <a:noFill/>
        </p:spPr>
        <p:txBody>
          <a:bodyPr wrap="none" rtlCol="0">
            <a:spAutoFit/>
          </a:bodyPr>
          <a:lstStyle/>
          <a:p>
            <a:r>
              <a:rPr lang="en-IN" b="1" dirty="0"/>
              <a:t>Hashtable &amp; Properties classes</a:t>
            </a:r>
          </a:p>
        </p:txBody>
      </p:sp>
      <p:sp>
        <p:nvSpPr>
          <p:cNvPr id="18" name="TextBox 17">
            <a:extLst>
              <a:ext uri="{FF2B5EF4-FFF2-40B4-BE49-F238E27FC236}">
                <a16:creationId xmlns:a16="http://schemas.microsoft.com/office/drawing/2014/main" xmlns="" id="{A836AA68-6B84-F55C-6C08-F36452216C5A}"/>
              </a:ext>
            </a:extLst>
          </p:cNvPr>
          <p:cNvSpPr txBox="1"/>
          <p:nvPr/>
        </p:nvSpPr>
        <p:spPr>
          <a:xfrm>
            <a:off x="7104520" y="995324"/>
            <a:ext cx="1305486" cy="369332"/>
          </a:xfrm>
          <a:prstGeom prst="rect">
            <a:avLst/>
          </a:prstGeom>
          <a:noFill/>
        </p:spPr>
        <p:txBody>
          <a:bodyPr wrap="none" rtlCol="0">
            <a:spAutoFit/>
          </a:bodyPr>
          <a:lstStyle/>
          <a:p>
            <a:r>
              <a:rPr lang="en-IN" b="1" dirty="0"/>
              <a:t>Vector class</a:t>
            </a:r>
          </a:p>
        </p:txBody>
      </p:sp>
      <p:sp>
        <p:nvSpPr>
          <p:cNvPr id="2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722148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xmlns="" id="{B389D850-98FE-4455-82A0-55DB91533358}"/>
              </a:ext>
            </a:extLst>
          </p:cNvPr>
          <p:cNvGrpSpPr/>
          <p:nvPr/>
        </p:nvGrpSpPr>
        <p:grpSpPr>
          <a:xfrm>
            <a:off x="0" y="-26656"/>
            <a:ext cx="12192000" cy="6884656"/>
            <a:chOff x="0" y="-26656"/>
            <a:chExt cx="12192000" cy="6884656"/>
          </a:xfrm>
        </p:grpSpPr>
        <p:pic>
          <p:nvPicPr>
            <p:cNvPr id="5" name="Picture 4">
              <a:extLst>
                <a:ext uri="{FF2B5EF4-FFF2-40B4-BE49-F238E27FC236}">
                  <a16:creationId xmlns:a16="http://schemas.microsoft.com/office/drawing/2014/main" xmlns="" id="{22217AF6-E6FB-4A70-97C7-0EEA265A34EF}"/>
                </a:ext>
              </a:extLst>
            </p:cNvPr>
            <p:cNvPicPr>
              <a:picLocks noChangeAspect="1"/>
            </p:cNvPicPr>
            <p:nvPr/>
          </p:nvPicPr>
          <p:blipFill>
            <a:blip r:embed="rId2"/>
            <a:stretch>
              <a:fillRect/>
            </a:stretch>
          </p:blipFill>
          <p:spPr>
            <a:xfrm>
              <a:off x="0" y="-26656"/>
              <a:ext cx="12192000" cy="930261"/>
            </a:xfrm>
            <a:prstGeom prst="rect">
              <a:avLst/>
            </a:prstGeom>
          </p:spPr>
        </p:pic>
        <p:pic>
          <p:nvPicPr>
            <p:cNvPr id="12" name="Picture 11">
              <a:extLst>
                <a:ext uri="{FF2B5EF4-FFF2-40B4-BE49-F238E27FC236}">
                  <a16:creationId xmlns:a16="http://schemas.microsoft.com/office/drawing/2014/main" xmlns="" id="{54E86C49-5A53-4352-9E18-AD739D7F15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42430" y="3048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0" name="TextBox 19">
              <a:extLst>
                <a:ext uri="{FF2B5EF4-FFF2-40B4-BE49-F238E27FC236}">
                  <a16:creationId xmlns:a16="http://schemas.microsoft.com/office/drawing/2014/main" xmlns="" id="{69E55383-FF23-40A3-A4CE-EA528A897641}"/>
                </a:ext>
              </a:extLst>
            </p:cNvPr>
            <p:cNvSpPr txBox="1"/>
            <p:nvPr/>
          </p:nvSpPr>
          <p:spPr>
            <a:xfrm>
              <a:off x="0" y="115308"/>
              <a:ext cx="12191998" cy="646331"/>
            </a:xfrm>
            <a:prstGeom prst="rect">
              <a:avLst/>
            </a:prstGeom>
            <a:noFill/>
          </p:spPr>
          <p:txBody>
            <a:bodyPr wrap="square">
              <a:spAutoFit/>
            </a:bodyPr>
            <a:lstStyle/>
            <a:p>
              <a:pPr algn="ctr"/>
              <a:r>
                <a:rPr lang="en-US" sz="3600" b="1" dirty="0">
                  <a:solidFill>
                    <a:srgbClr val="FFFF00"/>
                  </a:solidFill>
                  <a:latin typeface="Bookman Old Style" panose="02050604050505020204" pitchFamily="18" charset="0"/>
                </a:rPr>
                <a:t>java.util package (Legacy Classes)</a:t>
              </a:r>
            </a:p>
          </p:txBody>
        </p:sp>
        <p:sp>
          <p:nvSpPr>
            <p:cNvPr id="22" name="Rectangle 21">
              <a:extLst>
                <a:ext uri="{FF2B5EF4-FFF2-40B4-BE49-F238E27FC236}">
                  <a16:creationId xmlns:a16="http://schemas.microsoft.com/office/drawing/2014/main" xmlns="" id="{BF217E6B-3517-4674-B064-F13129F7EDDA}"/>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grpSp>
      <p:sp>
        <p:nvSpPr>
          <p:cNvPr id="23" name="TextBox 22">
            <a:extLst>
              <a:ext uri="{FF2B5EF4-FFF2-40B4-BE49-F238E27FC236}">
                <a16:creationId xmlns:a16="http://schemas.microsoft.com/office/drawing/2014/main" xmlns="" id="{25616D0F-1355-494D-94AD-9BD26E7F4A09}"/>
              </a:ext>
            </a:extLst>
          </p:cNvPr>
          <p:cNvSpPr txBox="1"/>
          <p:nvPr/>
        </p:nvSpPr>
        <p:spPr>
          <a:xfrm>
            <a:off x="224341" y="1422229"/>
            <a:ext cx="8935143" cy="3477875"/>
          </a:xfrm>
          <a:prstGeom prst="rect">
            <a:avLst/>
          </a:prstGeom>
          <a:noFill/>
        </p:spPr>
        <p:txBody>
          <a:bodyPr wrap="square" rtlCol="0">
            <a:spAutoFit/>
          </a:bodyPr>
          <a:lstStyle/>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In Hashtable both key and value pairs can be any type of objects. </a:t>
            </a: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The key value pairs can be stored, retrieved and removed only within the program but cannot be loaded from external properties file</a:t>
            </a:r>
          </a:p>
          <a:p>
            <a:pPr marL="342900" indent="-342900" algn="just">
              <a:buFont typeface="Wingdings" panose="05000000000000000000" pitchFamily="2" charset="2"/>
              <a:buChar char="v"/>
            </a:pPr>
            <a:endParaRPr lang="en-US" sz="2000" dirty="0">
              <a:solidFill>
                <a:srgbClr val="0000FF"/>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Both Hashtable &amp; Properties classes maintains keys as unique and values can be duplicate</a:t>
            </a:r>
          </a:p>
          <a:p>
            <a:pPr marL="342900" indent="-342900" algn="just">
              <a:buFont typeface="Wingdings" panose="05000000000000000000" pitchFamily="2" charset="2"/>
              <a:buChar char="v"/>
            </a:pPr>
            <a:endParaRPr lang="en-US" sz="2000" dirty="0">
              <a:solidFill>
                <a:srgbClr val="0000FF"/>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Properties class also maintains key and value pair but they are called as </a:t>
            </a:r>
            <a:r>
              <a:rPr lang="en-US" sz="2000" dirty="0" err="1">
                <a:solidFill>
                  <a:srgbClr val="0000FF"/>
                </a:solidFill>
                <a:latin typeface="Arial" panose="020B0604020202020204" pitchFamily="34" charset="0"/>
                <a:cs typeface="Arial" panose="020B0604020202020204" pitchFamily="34" charset="0"/>
              </a:rPr>
              <a:t>propertyName</a:t>
            </a:r>
            <a:r>
              <a:rPr lang="en-US" sz="2000" dirty="0">
                <a:solidFill>
                  <a:srgbClr val="0000FF"/>
                </a:solidFill>
                <a:latin typeface="Arial" panose="020B0604020202020204" pitchFamily="34" charset="0"/>
                <a:cs typeface="Arial" panose="020B0604020202020204" pitchFamily="34" charset="0"/>
              </a:rPr>
              <a:t> and </a:t>
            </a:r>
            <a:r>
              <a:rPr lang="en-US" sz="2000" dirty="0" err="1">
                <a:solidFill>
                  <a:srgbClr val="0000FF"/>
                </a:solidFill>
                <a:latin typeface="Arial" panose="020B0604020202020204" pitchFamily="34" charset="0"/>
                <a:cs typeface="Arial" panose="020B0604020202020204" pitchFamily="34" charset="0"/>
              </a:rPr>
              <a:t>propertyValue</a:t>
            </a:r>
            <a:endParaRPr lang="en-US" sz="2000" dirty="0">
              <a:solidFill>
                <a:srgbClr val="0000FF"/>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Both </a:t>
            </a:r>
            <a:r>
              <a:rPr lang="en-US" sz="2000" dirty="0" err="1">
                <a:solidFill>
                  <a:srgbClr val="0000FF"/>
                </a:solidFill>
                <a:latin typeface="Arial" panose="020B0604020202020204" pitchFamily="34" charset="0"/>
                <a:cs typeface="Arial" panose="020B0604020202020204" pitchFamily="34" charset="0"/>
              </a:rPr>
              <a:t>propertyName</a:t>
            </a:r>
            <a:r>
              <a:rPr lang="en-US" sz="2000" dirty="0">
                <a:solidFill>
                  <a:srgbClr val="0000FF"/>
                </a:solidFill>
                <a:latin typeface="Arial" panose="020B0604020202020204" pitchFamily="34" charset="0"/>
                <a:cs typeface="Arial" panose="020B0604020202020204" pitchFamily="34" charset="0"/>
              </a:rPr>
              <a:t> and </a:t>
            </a:r>
            <a:r>
              <a:rPr lang="en-US" sz="2000" dirty="0" err="1">
                <a:solidFill>
                  <a:srgbClr val="0000FF"/>
                </a:solidFill>
                <a:latin typeface="Arial" panose="020B0604020202020204" pitchFamily="34" charset="0"/>
                <a:cs typeface="Arial" panose="020B0604020202020204" pitchFamily="34" charset="0"/>
              </a:rPr>
              <a:t>propertyValue</a:t>
            </a:r>
            <a:r>
              <a:rPr lang="en-US" sz="2000" dirty="0">
                <a:solidFill>
                  <a:srgbClr val="0000FF"/>
                </a:solidFill>
                <a:latin typeface="Arial" panose="020B0604020202020204" pitchFamily="34" charset="0"/>
                <a:cs typeface="Arial" panose="020B0604020202020204" pitchFamily="34" charset="0"/>
              </a:rPr>
              <a:t> are Strings</a:t>
            </a: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Properties can load properties from an external properties file</a:t>
            </a:r>
          </a:p>
        </p:txBody>
      </p:sp>
      <p:sp>
        <p:nvSpPr>
          <p:cNvPr id="9" name="Footer Placeholder 6">
            <a:extLst>
              <a:ext uri="{FF2B5EF4-FFF2-40B4-BE49-F238E27FC236}">
                <a16:creationId xmlns:a16="http://schemas.microsoft.com/office/drawing/2014/main" xmlns="" id="{91104A4B-9DF2-5A7B-6B22-957240982562}"/>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smtClean="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580979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xmlns="" id="{F3AB72BF-C7A3-492E-88BE-A5C3E8891529}"/>
              </a:ext>
            </a:extLst>
          </p:cNvPr>
          <p:cNvGrpSpPr/>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xmlns="" id="{C1FBA0B9-32F0-4E2B-8962-2074254DDBB6}"/>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12" name="Picture 11">
              <a:extLst>
                <a:ext uri="{FF2B5EF4-FFF2-40B4-BE49-F238E27FC236}">
                  <a16:creationId xmlns:a16="http://schemas.microsoft.com/office/drawing/2014/main" xmlns="" id="{4785E5A0-793A-4F29-8131-FEE9C84E1212}"/>
                </a:ext>
              </a:extLst>
            </p:cNvPr>
            <p:cNvPicPr>
              <a:picLocks noChangeAspect="1"/>
            </p:cNvPicPr>
            <p:nvPr/>
          </p:nvPicPr>
          <p:blipFill>
            <a:blip r:embed="rId2"/>
            <a:stretch>
              <a:fillRect/>
            </a:stretch>
          </p:blipFill>
          <p:spPr>
            <a:xfrm>
              <a:off x="2024062" y="76198"/>
              <a:ext cx="8143875" cy="846469"/>
            </a:xfrm>
            <a:prstGeom prst="rect">
              <a:avLst/>
            </a:prstGeom>
          </p:spPr>
        </p:pic>
        <p:sp>
          <p:nvSpPr>
            <p:cNvPr id="13" name="Frame 12">
              <a:extLst>
                <a:ext uri="{FF2B5EF4-FFF2-40B4-BE49-F238E27FC236}">
                  <a16:creationId xmlns:a16="http://schemas.microsoft.com/office/drawing/2014/main" xmlns="" id="{4B249E48-6E58-412F-BA5A-5A9835F61939}"/>
                </a:ext>
              </a:extLst>
            </p:cNvPr>
            <p:cNvSpPr/>
            <p:nvPr/>
          </p:nvSpPr>
          <p:spPr>
            <a:xfrm>
              <a:off x="0" y="0"/>
              <a:ext cx="12192000" cy="6858000"/>
            </a:xfrm>
            <a:prstGeom prst="frame">
              <a:avLst>
                <a:gd name="adj1" fmla="val 1389"/>
              </a:avLst>
            </a:prstGeom>
            <a:solidFill>
              <a:srgbClr val="003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4" name="Picture 13">
              <a:extLst>
                <a:ext uri="{FF2B5EF4-FFF2-40B4-BE49-F238E27FC236}">
                  <a16:creationId xmlns:a16="http://schemas.microsoft.com/office/drawing/2014/main" xmlns="" id="{90D13227-97FA-4390-B099-83C3AFCF0E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0050" y="76199"/>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TextBox 14">
              <a:extLst>
                <a:ext uri="{FF2B5EF4-FFF2-40B4-BE49-F238E27FC236}">
                  <a16:creationId xmlns:a16="http://schemas.microsoft.com/office/drawing/2014/main" xmlns="" id="{750E2B70-4790-4092-BB44-B6D6D52BE742}"/>
                </a:ext>
              </a:extLst>
            </p:cNvPr>
            <p:cNvSpPr txBox="1"/>
            <p:nvPr/>
          </p:nvSpPr>
          <p:spPr>
            <a:xfrm>
              <a:off x="2024061" y="314766"/>
              <a:ext cx="8143875" cy="369332"/>
            </a:xfrm>
            <a:prstGeom prst="rect">
              <a:avLst/>
            </a:prstGeom>
            <a:noFill/>
          </p:spPr>
          <p:txBody>
            <a:bodyPr wrap="square">
              <a:spAutoFit/>
            </a:bodyPr>
            <a:lstStyle/>
            <a:p>
              <a:pPr algn="ctr"/>
              <a:r>
                <a:rPr lang="en-US" sz="1800" b="1" dirty="0">
                  <a:solidFill>
                    <a:srgbClr val="FFFF00"/>
                  </a:solidFill>
                  <a:latin typeface="Bookman Old Style" panose="02050604050505020204" pitchFamily="18" charset="0"/>
                </a:rPr>
                <a:t>Topic Name</a:t>
              </a:r>
            </a:p>
          </p:txBody>
        </p:sp>
      </p:grpSp>
      <p:sp>
        <p:nvSpPr>
          <p:cNvPr id="16" name="TextBox 15">
            <a:extLst>
              <a:ext uri="{FF2B5EF4-FFF2-40B4-BE49-F238E27FC236}">
                <a16:creationId xmlns:a16="http://schemas.microsoft.com/office/drawing/2014/main" xmlns="" id="{26B2D17A-1BED-463E-9268-0B67C3BB63F0}"/>
              </a:ext>
            </a:extLst>
          </p:cNvPr>
          <p:cNvSpPr txBox="1"/>
          <p:nvPr/>
        </p:nvSpPr>
        <p:spPr>
          <a:xfrm>
            <a:off x="278131" y="1529803"/>
            <a:ext cx="11541834" cy="1938992"/>
          </a:xfrm>
          <a:prstGeom prst="rect">
            <a:avLst/>
          </a:prstGeom>
          <a:noFill/>
        </p:spPr>
        <p:txBody>
          <a:bodyPr wrap="square" rtlCol="0">
            <a:spAutoFit/>
          </a:bodyPr>
          <a:lstStyle/>
          <a:p>
            <a:pPr algn="just"/>
            <a:r>
              <a:rPr lang="en-US" sz="2000" b="1" u="sng" dirty="0">
                <a:solidFill>
                  <a:srgbClr val="0000FF"/>
                </a:solidFill>
                <a:latin typeface="Arial" panose="020B0604020202020204" pitchFamily="34" charset="0"/>
                <a:cs typeface="Arial" panose="020B0604020202020204" pitchFamily="34" charset="0"/>
              </a:rPr>
              <a:t>class Hashtable:</a:t>
            </a:r>
          </a:p>
          <a:p>
            <a:pPr algn="just"/>
            <a:r>
              <a:rPr lang="en-US" sz="2000" dirty="0">
                <a:solidFill>
                  <a:srgbClr val="0000FF"/>
                </a:solidFill>
                <a:latin typeface="Arial" panose="020B0604020202020204" pitchFamily="34" charset="0"/>
                <a:cs typeface="Arial" panose="020B0604020202020204" pitchFamily="34" charset="0"/>
              </a:rPr>
              <a:t>Hashtable is a sub class of Dictionary abstract class. Vector is a integer index based array. Hashtable is user defined key's hashCode index based array. Based on the key’s hashCode it arranges the objects hence it cannot guarantee the given order. Whichever class object is used as a key, that class  is responsible to implement hashCode() method. In Hashtable both key and value can be any type of class objects. Its important methods are:</a:t>
            </a:r>
          </a:p>
        </p:txBody>
      </p:sp>
      <p:sp>
        <p:nvSpPr>
          <p:cNvPr id="10" name="TextBox 9">
            <a:extLst>
              <a:ext uri="{FF2B5EF4-FFF2-40B4-BE49-F238E27FC236}">
                <a16:creationId xmlns:a16="http://schemas.microsoft.com/office/drawing/2014/main" xmlns="" id="{2C5D215D-976B-25C8-BCD5-03CBB213B755}"/>
              </a:ext>
            </a:extLst>
          </p:cNvPr>
          <p:cNvSpPr txBox="1"/>
          <p:nvPr/>
        </p:nvSpPr>
        <p:spPr>
          <a:xfrm>
            <a:off x="339541" y="3862920"/>
            <a:ext cx="4918259" cy="1754326"/>
          </a:xfrm>
          <a:prstGeom prst="rect">
            <a:avLst/>
          </a:prstGeom>
          <a:noFill/>
        </p:spPr>
        <p:txBody>
          <a:bodyPr wrap="square">
            <a:spAutoFit/>
          </a:bodyPr>
          <a:lstStyle/>
          <a:p>
            <a:r>
              <a:rPr lang="en-IN" dirty="0"/>
              <a:t>public void put(Object key, Object value)</a:t>
            </a:r>
          </a:p>
          <a:p>
            <a:r>
              <a:rPr lang="en-IN" dirty="0"/>
              <a:t>public Object get(Object key)</a:t>
            </a:r>
          </a:p>
          <a:p>
            <a:r>
              <a:rPr lang="en-IN" dirty="0"/>
              <a:t>public void remove(Object key)</a:t>
            </a:r>
          </a:p>
          <a:p>
            <a:r>
              <a:rPr lang="en-IN" dirty="0"/>
              <a:t>public Enumeration keys() // return keys</a:t>
            </a:r>
          </a:p>
          <a:p>
            <a:r>
              <a:rPr lang="en-IN" dirty="0"/>
              <a:t>public Enumeration elements() // returns values</a:t>
            </a:r>
          </a:p>
          <a:p>
            <a:r>
              <a:rPr lang="en-IN" dirty="0"/>
              <a:t>public Set </a:t>
            </a:r>
            <a:r>
              <a:rPr lang="en-IN" dirty="0" err="1"/>
              <a:t>keySet</a:t>
            </a:r>
            <a:r>
              <a:rPr lang="en-IN" dirty="0"/>
              <a:t>()</a:t>
            </a:r>
          </a:p>
        </p:txBody>
      </p:sp>
      <p:sp>
        <p:nvSpPr>
          <p:cNvPr id="18" name="TextBox 17">
            <a:extLst>
              <a:ext uri="{FF2B5EF4-FFF2-40B4-BE49-F238E27FC236}">
                <a16:creationId xmlns:a16="http://schemas.microsoft.com/office/drawing/2014/main" xmlns="" id="{322D16C3-FF6B-165B-79C3-59CB6FB4E82B}"/>
              </a:ext>
            </a:extLst>
          </p:cNvPr>
          <p:cNvSpPr txBox="1"/>
          <p:nvPr/>
        </p:nvSpPr>
        <p:spPr>
          <a:xfrm>
            <a:off x="5293661" y="3829299"/>
            <a:ext cx="3729315" cy="2031325"/>
          </a:xfrm>
          <a:prstGeom prst="rect">
            <a:avLst/>
          </a:prstGeom>
          <a:noFill/>
        </p:spPr>
        <p:txBody>
          <a:bodyPr wrap="square">
            <a:spAutoFit/>
          </a:bodyPr>
          <a:lstStyle/>
          <a:p>
            <a:r>
              <a:rPr lang="en-IN" dirty="0"/>
              <a:t>boolean </a:t>
            </a:r>
            <a:r>
              <a:rPr lang="en-IN" dirty="0" err="1"/>
              <a:t>isEmpty</a:t>
            </a:r>
            <a:r>
              <a:rPr lang="en-IN" dirty="0"/>
              <a:t>()</a:t>
            </a:r>
          </a:p>
          <a:p>
            <a:r>
              <a:rPr lang="en-IN" dirty="0"/>
              <a:t>void clear()</a:t>
            </a:r>
          </a:p>
          <a:p>
            <a:r>
              <a:rPr lang="en-IN" dirty="0"/>
              <a:t>boolean contains(Object value)</a:t>
            </a:r>
          </a:p>
          <a:p>
            <a:r>
              <a:rPr lang="en-IN" dirty="0"/>
              <a:t>boolean </a:t>
            </a:r>
            <a:r>
              <a:rPr lang="en-IN" dirty="0" err="1"/>
              <a:t>containsKey</a:t>
            </a:r>
            <a:r>
              <a:rPr lang="en-IN" dirty="0"/>
              <a:t>(Object key)</a:t>
            </a:r>
          </a:p>
          <a:p>
            <a:r>
              <a:rPr lang="en-IN" dirty="0"/>
              <a:t>boolean </a:t>
            </a:r>
            <a:r>
              <a:rPr lang="en-IN" dirty="0" err="1"/>
              <a:t>containsValue</a:t>
            </a:r>
            <a:r>
              <a:rPr lang="en-IN" dirty="0"/>
              <a:t>(Object value)</a:t>
            </a:r>
          </a:p>
          <a:p>
            <a:r>
              <a:rPr lang="en-IN" dirty="0"/>
              <a:t>int size()</a:t>
            </a:r>
          </a:p>
          <a:p>
            <a:r>
              <a:rPr lang="en-IN" dirty="0"/>
              <a:t>Collection values()</a:t>
            </a:r>
          </a:p>
        </p:txBody>
      </p:sp>
      <p:sp>
        <p:nvSpPr>
          <p:cNvPr id="19"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91809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xmlns="" id="{550F5902-A46E-4711-A773-D84668E4DFCC}"/>
              </a:ext>
            </a:extLst>
          </p:cNvPr>
          <p:cNvGrpSpPr/>
          <p:nvPr/>
        </p:nvGrpSpPr>
        <p:grpSpPr>
          <a:xfrm>
            <a:off x="0" y="0"/>
            <a:ext cx="12192000" cy="6858000"/>
            <a:chOff x="0" y="0"/>
            <a:chExt cx="12192000" cy="6858000"/>
          </a:xfrm>
        </p:grpSpPr>
        <p:sp>
          <p:nvSpPr>
            <p:cNvPr id="3" name="Rectangle 2">
              <a:extLst>
                <a:ext uri="{FF2B5EF4-FFF2-40B4-BE49-F238E27FC236}">
                  <a16:creationId xmlns:a16="http://schemas.microsoft.com/office/drawing/2014/main" xmlns="" id="{CC57CF0F-0BE2-40EF-8BA2-288A940FDB1A}"/>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pic>
          <p:nvPicPr>
            <p:cNvPr id="4" name="Picture 2" descr="PPT – Emergency Electrical Services in Bristol PowerPoint presentation |  free to download - id: 907ff2-M2FkY">
              <a:extLst>
                <a:ext uri="{FF2B5EF4-FFF2-40B4-BE49-F238E27FC236}">
                  <a16:creationId xmlns:a16="http://schemas.microsoft.com/office/drawing/2014/main" xmlns="" id="{E1D692FD-5DB1-48DE-97C5-E6C20FB1D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91100"/>
              <a:ext cx="12192000" cy="18669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xmlns="" id="{B5EF17FF-AF9B-4BD1-8BB2-F4AE8FCD78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0050" y="76199"/>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Beveled 1">
              <a:extLst>
                <a:ext uri="{FF2B5EF4-FFF2-40B4-BE49-F238E27FC236}">
                  <a16:creationId xmlns:a16="http://schemas.microsoft.com/office/drawing/2014/main" xmlns="" id="{AAE4FC2D-3254-4E92-A27C-80202CF47C95}"/>
                </a:ext>
              </a:extLst>
            </p:cNvPr>
            <p:cNvSpPr/>
            <p:nvPr/>
          </p:nvSpPr>
          <p:spPr>
            <a:xfrm>
              <a:off x="2712720" y="0"/>
              <a:ext cx="6743700" cy="739140"/>
            </a:xfrm>
            <a:prstGeom prst="bevel">
              <a:avLst>
                <a:gd name="adj" fmla="val 15593"/>
              </a:avLst>
            </a:prstGeom>
            <a:gradFill>
              <a:gsLst>
                <a:gs pos="22847">
                  <a:srgbClr val="FF3847"/>
                </a:gs>
                <a:gs pos="63343">
                  <a:srgbClr val="FF7D25"/>
                </a:gs>
                <a:gs pos="100000">
                  <a:srgbClr val="FFC203"/>
                </a:gs>
              </a:gsLst>
            </a:gradFill>
            <a:ln w="12700">
              <a:miter lim="400000"/>
            </a:ln>
            <a:effectLst>
              <a:outerShdw blurRad="38100" dist="26654" dir="2315233" rotWithShape="0">
                <a:srgbClr val="000000">
                  <a:alpha val="28814"/>
                </a:srgbClr>
              </a:outerShdw>
            </a:effectLst>
          </p:spPr>
          <p:txBody>
            <a:bodyPr lIns="45719" rIns="45719" anchor="ctr"/>
            <a:lstStyle/>
            <a:p>
              <a:pPr algn="ctr"/>
              <a:r>
                <a:rPr lang="en-US" b="1" dirty="0">
                  <a:solidFill>
                    <a:schemeClr val="bg1"/>
                  </a:solidFill>
                  <a:latin typeface="Bookman Old Style" panose="02050604050505020204" pitchFamily="18" charset="0"/>
                </a:rPr>
                <a:t>java.util package (Legacy Classes)</a:t>
              </a:r>
            </a:p>
          </p:txBody>
        </p:sp>
      </p:grpSp>
      <p:sp>
        <p:nvSpPr>
          <p:cNvPr id="7" name="TextBox 6">
            <a:extLst>
              <a:ext uri="{FF2B5EF4-FFF2-40B4-BE49-F238E27FC236}">
                <a16:creationId xmlns:a16="http://schemas.microsoft.com/office/drawing/2014/main" xmlns="" id="{E8143874-96FF-4302-B402-1BC9F48D899C}"/>
              </a:ext>
            </a:extLst>
          </p:cNvPr>
          <p:cNvSpPr txBox="1"/>
          <p:nvPr/>
        </p:nvSpPr>
        <p:spPr>
          <a:xfrm>
            <a:off x="278131" y="830559"/>
            <a:ext cx="9178290" cy="1938992"/>
          </a:xfrm>
          <a:prstGeom prst="rect">
            <a:avLst/>
          </a:prstGeom>
          <a:noFill/>
        </p:spPr>
        <p:txBody>
          <a:bodyPr wrap="square" rtlCol="0">
            <a:spAutoFit/>
          </a:bodyPr>
          <a:lstStyle/>
          <a:p>
            <a:r>
              <a:rPr lang="en-US" sz="2000" b="1" u="sng" dirty="0">
                <a:solidFill>
                  <a:srgbClr val="0000FF"/>
                </a:solidFill>
                <a:latin typeface="Arial" panose="020B0604020202020204" pitchFamily="34" charset="0"/>
                <a:cs typeface="Arial" panose="020B0604020202020204" pitchFamily="34" charset="0"/>
              </a:rPr>
              <a:t>class Properties:</a:t>
            </a:r>
          </a:p>
          <a:p>
            <a:pPr algn="just"/>
            <a:r>
              <a:rPr lang="en-US" sz="2000" dirty="0">
                <a:solidFill>
                  <a:srgbClr val="0000FF"/>
                </a:solidFill>
                <a:latin typeface="Arial" panose="020B0604020202020204" pitchFamily="34" charset="0"/>
                <a:cs typeface="Arial" panose="020B0604020202020204" pitchFamily="34" charset="0"/>
              </a:rPr>
              <a:t>Properties class is derived from Hashtable. In Hashtable both key and values pairs must be stored and retrieved within the program. Whereas in Properties class we can retrieve such key and value pairs from an external .properties extension file. In Properties class both key and value must be String. Its methods are:</a:t>
            </a:r>
          </a:p>
        </p:txBody>
      </p:sp>
      <p:sp>
        <p:nvSpPr>
          <p:cNvPr id="9" name="TextBox 8">
            <a:extLst>
              <a:ext uri="{FF2B5EF4-FFF2-40B4-BE49-F238E27FC236}">
                <a16:creationId xmlns:a16="http://schemas.microsoft.com/office/drawing/2014/main" xmlns="" id="{AECE4781-EB34-AE37-EEB2-0DAD2E365DDB}"/>
              </a:ext>
            </a:extLst>
          </p:cNvPr>
          <p:cNvSpPr txBox="1"/>
          <p:nvPr/>
        </p:nvSpPr>
        <p:spPr>
          <a:xfrm>
            <a:off x="278129" y="2714384"/>
            <a:ext cx="4213189" cy="2308324"/>
          </a:xfrm>
          <a:prstGeom prst="rect">
            <a:avLst/>
          </a:prstGeom>
          <a:noFill/>
        </p:spPr>
        <p:txBody>
          <a:bodyPr wrap="square">
            <a:spAutoFit/>
          </a:bodyPr>
          <a:lstStyle/>
          <a:p>
            <a:r>
              <a:rPr lang="en-IN" dirty="0"/>
              <a:t>public void load(</a:t>
            </a:r>
            <a:r>
              <a:rPr lang="en-IN" dirty="0" err="1"/>
              <a:t>InputStream</a:t>
            </a:r>
            <a:r>
              <a:rPr lang="en-IN" dirty="0"/>
              <a:t> is)</a:t>
            </a:r>
          </a:p>
          <a:p>
            <a:r>
              <a:rPr lang="en-IN" dirty="0"/>
              <a:t>public void load(Reader r)</a:t>
            </a:r>
          </a:p>
          <a:p>
            <a:r>
              <a:rPr lang="en-IN" dirty="0"/>
              <a:t>public void store(</a:t>
            </a:r>
            <a:r>
              <a:rPr lang="en-IN" dirty="0" err="1"/>
              <a:t>OutputStream</a:t>
            </a:r>
            <a:r>
              <a:rPr lang="en-IN" dirty="0"/>
              <a:t> </a:t>
            </a:r>
            <a:r>
              <a:rPr lang="en-IN" dirty="0" err="1"/>
              <a:t>os</a:t>
            </a:r>
            <a:r>
              <a:rPr lang="en-IN" dirty="0"/>
              <a:t>, String comments)</a:t>
            </a:r>
          </a:p>
          <a:p>
            <a:r>
              <a:rPr lang="en-IN" dirty="0"/>
              <a:t>public void store(Writer w, String comments)</a:t>
            </a:r>
          </a:p>
          <a:p>
            <a:r>
              <a:rPr lang="en-IN" dirty="0"/>
              <a:t>public void list(</a:t>
            </a:r>
            <a:r>
              <a:rPr lang="en-IN" dirty="0" err="1"/>
              <a:t>PrintStream</a:t>
            </a:r>
            <a:r>
              <a:rPr lang="en-IN" dirty="0"/>
              <a:t> </a:t>
            </a:r>
            <a:r>
              <a:rPr lang="en-IN" dirty="0" err="1"/>
              <a:t>ps</a:t>
            </a:r>
            <a:r>
              <a:rPr lang="en-IN" dirty="0"/>
              <a:t>)</a:t>
            </a:r>
          </a:p>
          <a:p>
            <a:r>
              <a:rPr lang="en-IN" dirty="0"/>
              <a:t>public void list(</a:t>
            </a:r>
            <a:r>
              <a:rPr lang="en-IN" dirty="0" err="1"/>
              <a:t>PrintWriter</a:t>
            </a:r>
            <a:r>
              <a:rPr lang="en-IN" dirty="0"/>
              <a:t> pw)</a:t>
            </a:r>
          </a:p>
        </p:txBody>
      </p:sp>
      <p:sp>
        <p:nvSpPr>
          <p:cNvPr id="11" name="TextBox 10">
            <a:extLst>
              <a:ext uri="{FF2B5EF4-FFF2-40B4-BE49-F238E27FC236}">
                <a16:creationId xmlns:a16="http://schemas.microsoft.com/office/drawing/2014/main" xmlns="" id="{2F00DF30-BFFA-2216-D5C8-3D7278E720F1}"/>
              </a:ext>
            </a:extLst>
          </p:cNvPr>
          <p:cNvSpPr txBox="1"/>
          <p:nvPr/>
        </p:nvSpPr>
        <p:spPr>
          <a:xfrm>
            <a:off x="4618168" y="2670978"/>
            <a:ext cx="4838252" cy="1477328"/>
          </a:xfrm>
          <a:prstGeom prst="rect">
            <a:avLst/>
          </a:prstGeom>
          <a:noFill/>
        </p:spPr>
        <p:txBody>
          <a:bodyPr wrap="square">
            <a:spAutoFit/>
          </a:bodyPr>
          <a:lstStyle/>
          <a:p>
            <a:r>
              <a:rPr lang="en-IN" dirty="0"/>
              <a:t>public void </a:t>
            </a:r>
            <a:r>
              <a:rPr lang="en-IN" dirty="0" err="1"/>
              <a:t>setProperty</a:t>
            </a:r>
            <a:r>
              <a:rPr lang="en-IN" dirty="0"/>
              <a:t>(String key, String value)</a:t>
            </a:r>
          </a:p>
          <a:p>
            <a:r>
              <a:rPr lang="en-IN" dirty="0"/>
              <a:t>public String </a:t>
            </a:r>
            <a:r>
              <a:rPr lang="en-IN" dirty="0" err="1"/>
              <a:t>getProperty</a:t>
            </a:r>
            <a:r>
              <a:rPr lang="en-IN" dirty="0"/>
              <a:t>(String key)</a:t>
            </a:r>
          </a:p>
          <a:p>
            <a:r>
              <a:rPr lang="en-IN" dirty="0"/>
              <a:t>public void </a:t>
            </a:r>
            <a:r>
              <a:rPr lang="en-IN" dirty="0" err="1"/>
              <a:t>removeProperty</a:t>
            </a:r>
            <a:r>
              <a:rPr lang="en-IN" dirty="0"/>
              <a:t>(String key)</a:t>
            </a:r>
          </a:p>
          <a:p>
            <a:r>
              <a:rPr lang="en-IN" dirty="0"/>
              <a:t>Enumeration </a:t>
            </a:r>
            <a:r>
              <a:rPr lang="en-IN" dirty="0" err="1"/>
              <a:t>propertyNames</a:t>
            </a:r>
            <a:r>
              <a:rPr lang="en-IN" dirty="0"/>
              <a:t>() // returns keys</a:t>
            </a:r>
          </a:p>
          <a:p>
            <a:r>
              <a:rPr lang="en-IN" dirty="0"/>
              <a:t>Set&lt;String&gt; </a:t>
            </a:r>
            <a:r>
              <a:rPr lang="en-IN" dirty="0" err="1"/>
              <a:t>stringPropertyNames</a:t>
            </a:r>
            <a:r>
              <a:rPr lang="en-IN" dirty="0"/>
              <a:t>() // returns keys</a:t>
            </a:r>
          </a:p>
        </p:txBody>
      </p:sp>
      <p:sp>
        <p:nvSpPr>
          <p:cNvPr id="12"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973509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(Legacy Classes)</a:t>
              </a:r>
            </a:p>
          </p:txBody>
        </p:sp>
      </p:grpSp>
      <p:sp>
        <p:nvSpPr>
          <p:cNvPr id="8" name="TextBox 7">
            <a:extLst>
              <a:ext uri="{FF2B5EF4-FFF2-40B4-BE49-F238E27FC236}">
                <a16:creationId xmlns:a16="http://schemas.microsoft.com/office/drawing/2014/main" xmlns="" id="{8A1ECDA6-749D-444C-9BC3-C2098EAD7745}"/>
              </a:ext>
            </a:extLst>
          </p:cNvPr>
          <p:cNvSpPr txBox="1"/>
          <p:nvPr/>
        </p:nvSpPr>
        <p:spPr>
          <a:xfrm>
            <a:off x="278131" y="1301204"/>
            <a:ext cx="9010649" cy="2246769"/>
          </a:xfrm>
          <a:prstGeom prst="rect">
            <a:avLst/>
          </a:prstGeom>
          <a:noFill/>
        </p:spPr>
        <p:txBody>
          <a:bodyPr wrap="square" rtlCol="0">
            <a:spAutoFit/>
          </a:bodyPr>
          <a:lstStyle/>
          <a:p>
            <a:r>
              <a:rPr lang="en-US" sz="2000" b="1" u="sng" dirty="0">
                <a:solidFill>
                  <a:srgbClr val="0000FF"/>
                </a:solidFill>
                <a:latin typeface="Arial" panose="020B0604020202020204" pitchFamily="34" charset="0"/>
                <a:cs typeface="Arial" panose="020B0604020202020204" pitchFamily="34" charset="0"/>
              </a:rPr>
              <a:t>interface Enumeration:</a:t>
            </a:r>
          </a:p>
          <a:p>
            <a:pPr algn="just"/>
            <a:r>
              <a:rPr lang="en-US" sz="2000" dirty="0">
                <a:solidFill>
                  <a:srgbClr val="0000FF"/>
                </a:solidFill>
                <a:latin typeface="Arial" panose="020B0604020202020204" pitchFamily="34" charset="0"/>
                <a:cs typeface="Arial" panose="020B0604020202020204" pitchFamily="34" charset="0"/>
              </a:rPr>
              <a:t>Enumeration is an interface. Enumeration is not a data-structure like Vector or Hashtable or Properties class. Instead it only acts as pointer to values in a Vector or keys or </a:t>
            </a:r>
            <a:r>
              <a:rPr lang="en-US" sz="2000" dirty="0" err="1">
                <a:solidFill>
                  <a:srgbClr val="0000FF"/>
                </a:solidFill>
                <a:latin typeface="Arial" panose="020B0604020202020204" pitchFamily="34" charset="0"/>
                <a:cs typeface="Arial" panose="020B0604020202020204" pitchFamily="34" charset="0"/>
              </a:rPr>
              <a:t>propertyNames</a:t>
            </a:r>
            <a:r>
              <a:rPr lang="en-US" sz="2000" dirty="0">
                <a:solidFill>
                  <a:srgbClr val="0000FF"/>
                </a:solidFill>
                <a:latin typeface="Arial" panose="020B0604020202020204" pitchFamily="34" charset="0"/>
                <a:cs typeface="Arial" panose="020B0604020202020204" pitchFamily="34" charset="0"/>
              </a:rPr>
              <a:t> in a Hashtable or Properties class. Enumeration interface is having two methods called </a:t>
            </a: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boolean </a:t>
            </a:r>
            <a:r>
              <a:rPr lang="en-US" sz="2000" dirty="0" err="1">
                <a:solidFill>
                  <a:srgbClr val="0000FF"/>
                </a:solidFill>
                <a:latin typeface="Arial" panose="020B0604020202020204" pitchFamily="34" charset="0"/>
                <a:cs typeface="Arial" panose="020B0604020202020204" pitchFamily="34" charset="0"/>
              </a:rPr>
              <a:t>hasMoreElements</a:t>
            </a:r>
            <a:r>
              <a:rPr lang="en-US" sz="2000" dirty="0">
                <a:solidFill>
                  <a:srgbClr val="0000FF"/>
                </a:solidFill>
                <a:latin typeface="Arial" panose="020B0604020202020204" pitchFamily="34" charset="0"/>
                <a:cs typeface="Arial" panose="020B0604020202020204" pitchFamily="34" charset="0"/>
              </a:rPr>
              <a:t>() </a:t>
            </a:r>
          </a:p>
          <a:p>
            <a:pPr marL="342900" indent="-342900" algn="just">
              <a:buFont typeface="Wingdings" panose="05000000000000000000" pitchFamily="2" charset="2"/>
              <a:buChar char="v"/>
            </a:pPr>
            <a:r>
              <a:rPr lang="en-US" sz="2000" dirty="0">
                <a:solidFill>
                  <a:srgbClr val="0000FF"/>
                </a:solidFill>
                <a:latin typeface="Arial" panose="020B0604020202020204" pitchFamily="34" charset="0"/>
                <a:cs typeface="Arial" panose="020B0604020202020204" pitchFamily="34" charset="0"/>
              </a:rPr>
              <a:t>Object </a:t>
            </a:r>
            <a:r>
              <a:rPr lang="en-US" sz="2000" dirty="0" err="1">
                <a:solidFill>
                  <a:srgbClr val="0000FF"/>
                </a:solidFill>
                <a:latin typeface="Arial" panose="020B0604020202020204" pitchFamily="34" charset="0"/>
                <a:cs typeface="Arial" panose="020B0604020202020204" pitchFamily="34" charset="0"/>
              </a:rPr>
              <a:t>nextElement</a:t>
            </a:r>
            <a:r>
              <a:rPr lang="en-US" sz="2000" dirty="0">
                <a:solidFill>
                  <a:srgbClr val="0000FF"/>
                </a:solidFill>
                <a:latin typeface="Arial" panose="020B0604020202020204" pitchFamily="34" charset="0"/>
                <a:cs typeface="Arial" panose="020B0604020202020204" pitchFamily="34" charset="0"/>
              </a:rPr>
              <a:t>()</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146357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(Legacy Classes)</a:t>
              </a:r>
            </a:p>
          </p:txBody>
        </p:sp>
      </p:grpSp>
      <p:sp>
        <p:nvSpPr>
          <p:cNvPr id="8" name="TextBox 7">
            <a:extLst>
              <a:ext uri="{FF2B5EF4-FFF2-40B4-BE49-F238E27FC236}">
                <a16:creationId xmlns:a16="http://schemas.microsoft.com/office/drawing/2014/main" xmlns="" id="{8A1ECDA6-749D-444C-9BC3-C2098EAD7745}"/>
              </a:ext>
            </a:extLst>
          </p:cNvPr>
          <p:cNvSpPr txBox="1"/>
          <p:nvPr/>
        </p:nvSpPr>
        <p:spPr>
          <a:xfrm>
            <a:off x="259223" y="913291"/>
            <a:ext cx="6060895" cy="5909310"/>
          </a:xfrm>
          <a:prstGeom prst="rect">
            <a:avLst/>
          </a:prstGeom>
          <a:noFill/>
        </p:spPr>
        <p:txBody>
          <a:bodyPr wrap="square" rtlCol="0">
            <a:spAutoFit/>
          </a:bodyPr>
          <a:lstStyle/>
          <a:p>
            <a:r>
              <a:rPr lang="en-US" b="1" dirty="0">
                <a:solidFill>
                  <a:srgbClr val="0000FF"/>
                </a:solidFill>
                <a:latin typeface="Arial" panose="020B0604020202020204" pitchFamily="34" charset="0"/>
                <a:cs typeface="Arial" panose="020B0604020202020204" pitchFamily="34" charset="0"/>
              </a:rPr>
              <a:t>// HashtableEx2.java</a:t>
            </a:r>
          </a:p>
          <a:p>
            <a:r>
              <a:rPr lang="en-US" dirty="0">
                <a:solidFill>
                  <a:srgbClr val="0000FF"/>
                </a:solidFill>
                <a:latin typeface="Arial" panose="020B0604020202020204" pitchFamily="34" charset="0"/>
                <a:cs typeface="Arial" panose="020B0604020202020204" pitchFamily="34" charset="0"/>
              </a:rPr>
              <a:t>import java.util.*;</a:t>
            </a:r>
          </a:p>
          <a:p>
            <a:r>
              <a:rPr lang="en-US" dirty="0">
                <a:solidFill>
                  <a:srgbClr val="0000FF"/>
                </a:solidFill>
                <a:latin typeface="Arial" panose="020B0604020202020204" pitchFamily="34" charset="0"/>
                <a:cs typeface="Arial" panose="020B0604020202020204" pitchFamily="34" charset="0"/>
              </a:rPr>
              <a:t>public class HashtableEx2 {</a:t>
            </a:r>
          </a:p>
          <a:p>
            <a:r>
              <a:rPr lang="en-US" dirty="0">
                <a:solidFill>
                  <a:srgbClr val="0000FF"/>
                </a:solidFill>
                <a:latin typeface="Arial" panose="020B0604020202020204" pitchFamily="34" charset="0"/>
                <a:cs typeface="Arial" panose="020B0604020202020204" pitchFamily="34" charset="0"/>
              </a:rPr>
              <a:t>  public static void main(String rags[]) throws Exception {</a:t>
            </a:r>
          </a:p>
          <a:p>
            <a:r>
              <a:rPr lang="en-US" dirty="0">
                <a:solidFill>
                  <a:srgbClr val="0000FF"/>
                </a:solidFill>
                <a:latin typeface="Arial" panose="020B0604020202020204" pitchFamily="34" charset="0"/>
                <a:cs typeface="Arial" panose="020B0604020202020204" pitchFamily="34" charset="0"/>
              </a:rPr>
              <a:t>    Hashtable </a:t>
            </a:r>
            <a:r>
              <a:rPr lang="en-US" dirty="0" err="1">
                <a:solidFill>
                  <a:srgbClr val="0000FF"/>
                </a:solidFill>
                <a:latin typeface="Arial" panose="020B0604020202020204" pitchFamily="34" charset="0"/>
                <a:cs typeface="Arial" panose="020B0604020202020204" pitchFamily="34" charset="0"/>
              </a:rPr>
              <a:t>ht</a:t>
            </a:r>
            <a:r>
              <a:rPr lang="en-US" dirty="0">
                <a:solidFill>
                  <a:srgbClr val="0000FF"/>
                </a:solidFill>
                <a:latin typeface="Arial" panose="020B0604020202020204" pitchFamily="34" charset="0"/>
                <a:cs typeface="Arial" panose="020B0604020202020204" pitchFamily="34" charset="0"/>
              </a:rPr>
              <a:t>=new Hashtable();</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ht.put</a:t>
            </a:r>
            <a:r>
              <a:rPr lang="en-US" dirty="0">
                <a:solidFill>
                  <a:srgbClr val="0000FF"/>
                </a:solidFill>
                <a:latin typeface="Arial" panose="020B0604020202020204" pitchFamily="34" charset="0"/>
                <a:cs typeface="Arial" panose="020B0604020202020204" pitchFamily="34" charset="0"/>
              </a:rPr>
              <a:t>("1st down", "Surya");</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ht.put</a:t>
            </a:r>
            <a:r>
              <a:rPr lang="en-US" dirty="0">
                <a:solidFill>
                  <a:srgbClr val="0000FF"/>
                </a:solidFill>
                <a:latin typeface="Arial" panose="020B0604020202020204" pitchFamily="34" charset="0"/>
                <a:cs typeface="Arial" panose="020B0604020202020204" pitchFamily="34" charset="0"/>
              </a:rPr>
              <a:t>("2nd down", “ABC");</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ht.put</a:t>
            </a:r>
            <a:r>
              <a:rPr lang="en-US" dirty="0">
                <a:solidFill>
                  <a:srgbClr val="0000FF"/>
                </a:solidFill>
                <a:latin typeface="Arial" panose="020B0604020202020204" pitchFamily="34" charset="0"/>
                <a:cs typeface="Arial" panose="020B0604020202020204" pitchFamily="34" charset="0"/>
              </a:rPr>
              <a:t>("3rd down", “XYZ");</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ht.put</a:t>
            </a:r>
            <a:r>
              <a:rPr lang="en-US" dirty="0">
                <a:solidFill>
                  <a:srgbClr val="0000FF"/>
                </a:solidFill>
                <a:latin typeface="Arial" panose="020B0604020202020204" pitchFamily="34" charset="0"/>
                <a:cs typeface="Arial" panose="020B0604020202020204" pitchFamily="34" charset="0"/>
              </a:rPr>
              <a:t>("4th down", “LMN");</a:t>
            </a:r>
          </a:p>
          <a:p>
            <a:r>
              <a:rPr lang="en-US" dirty="0">
                <a:solidFill>
                  <a:srgbClr val="0000FF"/>
                </a:solidFill>
                <a:latin typeface="Arial" panose="020B0604020202020204" pitchFamily="34" charset="0"/>
                <a:cs typeface="Arial" panose="020B0604020202020204" pitchFamily="34" charset="0"/>
              </a:rPr>
              <a:t>    </a:t>
            </a:r>
            <a:r>
              <a:rPr lang="en-US" dirty="0" err="1">
                <a:solidFill>
                  <a:srgbClr val="0000FF"/>
                </a:solidFill>
                <a:latin typeface="Arial" panose="020B0604020202020204" pitchFamily="34" charset="0"/>
                <a:cs typeface="Arial" panose="020B0604020202020204" pitchFamily="34" charset="0"/>
              </a:rPr>
              <a:t>ht.put</a:t>
            </a:r>
            <a:r>
              <a:rPr lang="en-US" dirty="0">
                <a:solidFill>
                  <a:srgbClr val="0000FF"/>
                </a:solidFill>
                <a:latin typeface="Arial" panose="020B0604020202020204" pitchFamily="34" charset="0"/>
                <a:cs typeface="Arial" panose="020B0604020202020204" pitchFamily="34" charset="0"/>
              </a:rPr>
              <a:t>("5th down", “PQR");</a:t>
            </a:r>
          </a:p>
          <a:p>
            <a:endParaRPr lang="en-US" dirty="0">
              <a:solidFill>
                <a:srgbClr val="0000FF"/>
              </a:solidFill>
              <a:latin typeface="Arial" panose="020B0604020202020204" pitchFamily="34" charset="0"/>
              <a:cs typeface="Arial" panose="020B0604020202020204" pitchFamily="34" charset="0"/>
            </a:endParaRPr>
          </a:p>
          <a:p>
            <a:r>
              <a:rPr lang="en-US" dirty="0">
                <a:solidFill>
                  <a:srgbClr val="0000FF"/>
                </a:solidFill>
                <a:latin typeface="Arial" panose="020B0604020202020204" pitchFamily="34" charset="0"/>
                <a:cs typeface="Arial" panose="020B0604020202020204" pitchFamily="34" charset="0"/>
              </a:rPr>
              <a:t>    System.out.println(</a:t>
            </a:r>
            <a:r>
              <a:rPr lang="en-US" dirty="0" err="1">
                <a:solidFill>
                  <a:srgbClr val="0000FF"/>
                </a:solidFill>
                <a:latin typeface="Arial" panose="020B0604020202020204" pitchFamily="34" charset="0"/>
                <a:cs typeface="Arial" panose="020B0604020202020204" pitchFamily="34" charset="0"/>
              </a:rPr>
              <a:t>ht.get</a:t>
            </a:r>
            <a:r>
              <a:rPr lang="en-US" dirty="0">
                <a:solidFill>
                  <a:srgbClr val="0000FF"/>
                </a:solidFill>
                <a:latin typeface="Arial" panose="020B0604020202020204" pitchFamily="34" charset="0"/>
                <a:cs typeface="Arial" panose="020B0604020202020204" pitchFamily="34" charset="0"/>
              </a:rPr>
              <a:t>("3rd down"));</a:t>
            </a:r>
          </a:p>
          <a:p>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 returns all the keys as a Enumeration object</a:t>
            </a:r>
          </a:p>
          <a:p>
            <a:r>
              <a:rPr lang="en-US" dirty="0">
                <a:solidFill>
                  <a:srgbClr val="0000FF"/>
                </a:solidFill>
                <a:latin typeface="Arial" panose="020B0604020202020204" pitchFamily="34" charset="0"/>
                <a:cs typeface="Arial" panose="020B0604020202020204" pitchFamily="34" charset="0"/>
              </a:rPr>
              <a:t>    Enumeration </a:t>
            </a:r>
            <a:r>
              <a:rPr lang="en-US" dirty="0" err="1">
                <a:solidFill>
                  <a:srgbClr val="0000FF"/>
                </a:solidFill>
                <a:latin typeface="Arial" panose="020B0604020202020204" pitchFamily="34" charset="0"/>
                <a:cs typeface="Arial" panose="020B0604020202020204" pitchFamily="34" charset="0"/>
              </a:rPr>
              <a:t>en</a:t>
            </a:r>
            <a:r>
              <a:rPr lang="en-US" dirty="0">
                <a:solidFill>
                  <a:srgbClr val="0000FF"/>
                </a:solidFill>
                <a:latin typeface="Arial" panose="020B0604020202020204" pitchFamily="34" charset="0"/>
                <a:cs typeface="Arial" panose="020B0604020202020204" pitchFamily="34" charset="0"/>
              </a:rPr>
              <a:t>=</a:t>
            </a:r>
            <a:r>
              <a:rPr lang="en-US" dirty="0" err="1">
                <a:solidFill>
                  <a:srgbClr val="0000FF"/>
                </a:solidFill>
                <a:latin typeface="Arial" panose="020B0604020202020204" pitchFamily="34" charset="0"/>
                <a:cs typeface="Arial" panose="020B0604020202020204" pitchFamily="34" charset="0"/>
              </a:rPr>
              <a:t>ht.keys</a:t>
            </a:r>
            <a:r>
              <a:rPr lang="en-US" dirty="0">
                <a:solidFill>
                  <a:srgbClr val="0000FF"/>
                </a:solidFill>
                <a:latin typeface="Arial" panose="020B0604020202020204" pitchFamily="34" charset="0"/>
                <a:cs typeface="Arial" panose="020B0604020202020204" pitchFamily="34" charset="0"/>
              </a:rPr>
              <a:t>();</a:t>
            </a:r>
          </a:p>
          <a:p>
            <a:r>
              <a:rPr lang="en-US" dirty="0">
                <a:solidFill>
                  <a:srgbClr val="0000FF"/>
                </a:solidFill>
                <a:latin typeface="Arial" panose="020B0604020202020204" pitchFamily="34" charset="0"/>
                <a:cs typeface="Arial" panose="020B0604020202020204" pitchFamily="34" charset="0"/>
              </a:rPr>
              <a:t>    while(</a:t>
            </a:r>
            <a:r>
              <a:rPr lang="en-US" dirty="0" err="1">
                <a:solidFill>
                  <a:srgbClr val="0000FF"/>
                </a:solidFill>
                <a:latin typeface="Arial" panose="020B0604020202020204" pitchFamily="34" charset="0"/>
                <a:cs typeface="Arial" panose="020B0604020202020204" pitchFamily="34" charset="0"/>
              </a:rPr>
              <a:t>en.hasMoreElements</a:t>
            </a:r>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String key=</a:t>
            </a:r>
            <a:r>
              <a:rPr lang="en-US" dirty="0" err="1">
                <a:solidFill>
                  <a:srgbClr val="0000FF"/>
                </a:solidFill>
                <a:latin typeface="Arial" panose="020B0604020202020204" pitchFamily="34" charset="0"/>
                <a:cs typeface="Arial" panose="020B0604020202020204" pitchFamily="34" charset="0"/>
              </a:rPr>
              <a:t>en.nextElement</a:t>
            </a:r>
            <a:r>
              <a:rPr lang="en-US" dirty="0">
                <a:solidFill>
                  <a:srgbClr val="0000FF"/>
                </a:solidFill>
                <a:latin typeface="Arial" panose="020B0604020202020204" pitchFamily="34" charset="0"/>
                <a:cs typeface="Arial" panose="020B0604020202020204" pitchFamily="34" charset="0"/>
              </a:rPr>
              <a:t>().</a:t>
            </a:r>
            <a:r>
              <a:rPr lang="en-US" dirty="0" err="1">
                <a:solidFill>
                  <a:srgbClr val="0000FF"/>
                </a:solidFill>
                <a:latin typeface="Arial" panose="020B0604020202020204" pitchFamily="34" charset="0"/>
                <a:cs typeface="Arial" panose="020B0604020202020204" pitchFamily="34" charset="0"/>
              </a:rPr>
              <a:t>toString</a:t>
            </a:r>
            <a:r>
              <a:rPr lang="en-US" dirty="0">
                <a:solidFill>
                  <a:srgbClr val="0000FF"/>
                </a:solidFill>
                <a:latin typeface="Arial" panose="020B0604020202020204" pitchFamily="34" charset="0"/>
                <a:cs typeface="Arial" panose="020B0604020202020204" pitchFamily="34" charset="0"/>
              </a:rPr>
              <a:t>();</a:t>
            </a:r>
          </a:p>
          <a:p>
            <a:r>
              <a:rPr lang="en-US" dirty="0">
                <a:solidFill>
                  <a:srgbClr val="0000FF"/>
                </a:solidFill>
                <a:latin typeface="Arial" panose="020B0604020202020204" pitchFamily="34" charset="0"/>
                <a:cs typeface="Arial" panose="020B0604020202020204" pitchFamily="34" charset="0"/>
              </a:rPr>
              <a:t>      String value=</a:t>
            </a:r>
            <a:r>
              <a:rPr lang="en-US" dirty="0" err="1">
                <a:solidFill>
                  <a:srgbClr val="0000FF"/>
                </a:solidFill>
                <a:latin typeface="Arial" panose="020B0604020202020204" pitchFamily="34" charset="0"/>
                <a:cs typeface="Arial" panose="020B0604020202020204" pitchFamily="34" charset="0"/>
              </a:rPr>
              <a:t>ht.get</a:t>
            </a:r>
            <a:r>
              <a:rPr lang="en-US" dirty="0">
                <a:solidFill>
                  <a:srgbClr val="0000FF"/>
                </a:solidFill>
                <a:latin typeface="Arial" panose="020B0604020202020204" pitchFamily="34" charset="0"/>
                <a:cs typeface="Arial" panose="020B0604020202020204" pitchFamily="34" charset="0"/>
              </a:rPr>
              <a:t>(key).</a:t>
            </a:r>
            <a:r>
              <a:rPr lang="en-US" dirty="0" err="1">
                <a:solidFill>
                  <a:srgbClr val="0000FF"/>
                </a:solidFill>
                <a:latin typeface="Arial" panose="020B0604020202020204" pitchFamily="34" charset="0"/>
                <a:cs typeface="Arial" panose="020B0604020202020204" pitchFamily="34" charset="0"/>
              </a:rPr>
              <a:t>toString</a:t>
            </a:r>
            <a:r>
              <a:rPr lang="en-US" dirty="0">
                <a:solidFill>
                  <a:srgbClr val="0000FF"/>
                </a:solidFill>
                <a:latin typeface="Arial" panose="020B0604020202020204" pitchFamily="34" charset="0"/>
                <a:cs typeface="Arial" panose="020B0604020202020204" pitchFamily="34" charset="0"/>
              </a:rPr>
              <a:t>();</a:t>
            </a:r>
          </a:p>
          <a:p>
            <a:r>
              <a:rPr lang="en-US" dirty="0">
                <a:solidFill>
                  <a:srgbClr val="0000FF"/>
                </a:solidFill>
                <a:latin typeface="Arial" panose="020B0604020202020204" pitchFamily="34" charset="0"/>
                <a:cs typeface="Arial" panose="020B0604020202020204" pitchFamily="34" charset="0"/>
              </a:rPr>
              <a:t>      System.out.println(key+" "+value);</a:t>
            </a:r>
          </a:p>
          <a:p>
            <a:r>
              <a:rPr lang="en-US" dirty="0">
                <a:solidFill>
                  <a:srgbClr val="0000FF"/>
                </a:solidFill>
                <a:latin typeface="Arial" panose="020B0604020202020204" pitchFamily="34" charset="0"/>
                <a:cs typeface="Arial" panose="020B0604020202020204" pitchFamily="34" charset="0"/>
              </a:rPr>
              <a:t>    }</a:t>
            </a:r>
          </a:p>
          <a:p>
            <a:r>
              <a:rPr lang="en-US" dirty="0">
                <a:solidFill>
                  <a:srgbClr val="0000FF"/>
                </a:solidFill>
                <a:latin typeface="Arial" panose="020B0604020202020204" pitchFamily="34" charset="0"/>
                <a:cs typeface="Arial" panose="020B0604020202020204" pitchFamily="34" charset="0"/>
              </a:rPr>
              <a:t>    System.out.println("****************************");</a:t>
            </a:r>
          </a:p>
        </p:txBody>
      </p:sp>
      <p:sp>
        <p:nvSpPr>
          <p:cNvPr id="10" name="TextBox 9">
            <a:extLst>
              <a:ext uri="{FF2B5EF4-FFF2-40B4-BE49-F238E27FC236}">
                <a16:creationId xmlns:a16="http://schemas.microsoft.com/office/drawing/2014/main" xmlns="" id="{94F553B1-D891-4B85-E895-E651010D3477}"/>
              </a:ext>
            </a:extLst>
          </p:cNvPr>
          <p:cNvSpPr txBox="1"/>
          <p:nvPr/>
        </p:nvSpPr>
        <p:spPr>
          <a:xfrm>
            <a:off x="5913345" y="926738"/>
            <a:ext cx="6125134" cy="4801314"/>
          </a:xfrm>
          <a:prstGeom prst="rect">
            <a:avLst/>
          </a:prstGeom>
          <a:noFill/>
        </p:spPr>
        <p:txBody>
          <a:bodyPr wrap="square">
            <a:spAutoFit/>
          </a:bodyPr>
          <a:lstStyle/>
          <a:p>
            <a:r>
              <a:rPr lang="en-IN" dirty="0">
                <a:solidFill>
                  <a:srgbClr val="0000FF"/>
                </a:solidFill>
              </a:rPr>
              <a:t>// returns all the values as a Enumeration object</a:t>
            </a:r>
          </a:p>
          <a:p>
            <a:r>
              <a:rPr lang="en-IN" dirty="0">
                <a:solidFill>
                  <a:srgbClr val="0000FF"/>
                </a:solidFill>
              </a:rPr>
              <a:t>    </a:t>
            </a:r>
            <a:r>
              <a:rPr lang="en-IN" dirty="0" err="1">
                <a:solidFill>
                  <a:srgbClr val="0000FF"/>
                </a:solidFill>
              </a:rPr>
              <a:t>en</a:t>
            </a:r>
            <a:r>
              <a:rPr lang="en-IN" dirty="0">
                <a:solidFill>
                  <a:srgbClr val="0000FF"/>
                </a:solidFill>
              </a:rPr>
              <a:t>=</a:t>
            </a:r>
            <a:r>
              <a:rPr lang="en-IN" dirty="0" err="1">
                <a:solidFill>
                  <a:srgbClr val="0000FF"/>
                </a:solidFill>
              </a:rPr>
              <a:t>ht.elements</a:t>
            </a:r>
            <a:r>
              <a:rPr lang="en-IN" dirty="0">
                <a:solidFill>
                  <a:srgbClr val="0000FF"/>
                </a:solidFill>
              </a:rPr>
              <a:t>();</a:t>
            </a:r>
          </a:p>
          <a:p>
            <a:r>
              <a:rPr lang="en-IN" dirty="0">
                <a:solidFill>
                  <a:srgbClr val="0000FF"/>
                </a:solidFill>
              </a:rPr>
              <a:t>    while(</a:t>
            </a:r>
            <a:r>
              <a:rPr lang="en-IN" dirty="0" err="1">
                <a:solidFill>
                  <a:srgbClr val="0000FF"/>
                </a:solidFill>
              </a:rPr>
              <a:t>en.hasMoreElements</a:t>
            </a:r>
            <a:r>
              <a:rPr lang="en-IN" dirty="0">
                <a:solidFill>
                  <a:srgbClr val="0000FF"/>
                </a:solidFill>
              </a:rPr>
              <a:t>()) {</a:t>
            </a:r>
          </a:p>
          <a:p>
            <a:r>
              <a:rPr lang="en-IN" dirty="0">
                <a:solidFill>
                  <a:srgbClr val="0000FF"/>
                </a:solidFill>
              </a:rPr>
              <a:t>      String value=</a:t>
            </a:r>
            <a:r>
              <a:rPr lang="en-IN" dirty="0" err="1">
                <a:solidFill>
                  <a:srgbClr val="0000FF"/>
                </a:solidFill>
              </a:rPr>
              <a:t>en.nextElement</a:t>
            </a:r>
            <a:r>
              <a:rPr lang="en-IN" dirty="0">
                <a:solidFill>
                  <a:srgbClr val="0000FF"/>
                </a:solidFill>
              </a:rPr>
              <a:t>().</a:t>
            </a:r>
            <a:r>
              <a:rPr lang="en-IN" dirty="0" err="1">
                <a:solidFill>
                  <a:srgbClr val="0000FF"/>
                </a:solidFill>
              </a:rPr>
              <a:t>toString</a:t>
            </a:r>
            <a:r>
              <a:rPr lang="en-IN" dirty="0">
                <a:solidFill>
                  <a:srgbClr val="0000FF"/>
                </a:solidFill>
              </a:rPr>
              <a:t>();</a:t>
            </a:r>
          </a:p>
          <a:p>
            <a:r>
              <a:rPr lang="en-IN" dirty="0">
                <a:solidFill>
                  <a:srgbClr val="0000FF"/>
                </a:solidFill>
              </a:rPr>
              <a:t>      System.out.println(value);</a:t>
            </a:r>
          </a:p>
          <a:p>
            <a:r>
              <a:rPr lang="en-IN" dirty="0">
                <a:solidFill>
                  <a:srgbClr val="0000FF"/>
                </a:solidFill>
              </a:rPr>
              <a:t>    }</a:t>
            </a:r>
          </a:p>
          <a:p>
            <a:r>
              <a:rPr lang="en-IN" dirty="0">
                <a:solidFill>
                  <a:srgbClr val="0000FF"/>
                </a:solidFill>
              </a:rPr>
              <a:t>    System.out.println("****************************");</a:t>
            </a:r>
          </a:p>
          <a:p>
            <a:endParaRPr lang="en-IN" dirty="0">
              <a:solidFill>
                <a:srgbClr val="0000FF"/>
              </a:solidFill>
            </a:endParaRPr>
          </a:p>
          <a:p>
            <a:r>
              <a:rPr lang="en-IN" dirty="0">
                <a:solidFill>
                  <a:srgbClr val="0000FF"/>
                </a:solidFill>
              </a:rPr>
              <a:t>    Set set=</a:t>
            </a:r>
            <a:r>
              <a:rPr lang="en-IN" dirty="0" err="1">
                <a:solidFill>
                  <a:srgbClr val="0000FF"/>
                </a:solidFill>
              </a:rPr>
              <a:t>ht.keySet</a:t>
            </a:r>
            <a:r>
              <a:rPr lang="en-IN" dirty="0">
                <a:solidFill>
                  <a:srgbClr val="0000FF"/>
                </a:solidFill>
              </a:rPr>
              <a:t>();</a:t>
            </a:r>
          </a:p>
          <a:p>
            <a:r>
              <a:rPr lang="en-IN" dirty="0">
                <a:solidFill>
                  <a:srgbClr val="0000FF"/>
                </a:solidFill>
              </a:rPr>
              <a:t>    Iterator </a:t>
            </a:r>
            <a:r>
              <a:rPr lang="en-IN" dirty="0" err="1">
                <a:solidFill>
                  <a:srgbClr val="0000FF"/>
                </a:solidFill>
              </a:rPr>
              <a:t>i</a:t>
            </a:r>
            <a:r>
              <a:rPr lang="en-IN" dirty="0">
                <a:solidFill>
                  <a:srgbClr val="0000FF"/>
                </a:solidFill>
              </a:rPr>
              <a:t>=</a:t>
            </a:r>
            <a:r>
              <a:rPr lang="en-IN" dirty="0" err="1">
                <a:solidFill>
                  <a:srgbClr val="0000FF"/>
                </a:solidFill>
              </a:rPr>
              <a:t>set.iterator</a:t>
            </a:r>
            <a:r>
              <a:rPr lang="en-IN" dirty="0">
                <a:solidFill>
                  <a:srgbClr val="0000FF"/>
                </a:solidFill>
              </a:rPr>
              <a:t>();</a:t>
            </a:r>
          </a:p>
          <a:p>
            <a:r>
              <a:rPr lang="en-IN" dirty="0">
                <a:solidFill>
                  <a:srgbClr val="0000FF"/>
                </a:solidFill>
              </a:rPr>
              <a:t>    while(</a:t>
            </a:r>
            <a:r>
              <a:rPr lang="en-IN" dirty="0" err="1">
                <a:solidFill>
                  <a:srgbClr val="0000FF"/>
                </a:solidFill>
              </a:rPr>
              <a:t>i.hasNext</a:t>
            </a:r>
            <a:r>
              <a:rPr lang="en-IN" dirty="0">
                <a:solidFill>
                  <a:srgbClr val="0000FF"/>
                </a:solidFill>
              </a:rPr>
              <a:t>()) {</a:t>
            </a:r>
          </a:p>
          <a:p>
            <a:r>
              <a:rPr lang="en-IN" dirty="0">
                <a:solidFill>
                  <a:srgbClr val="0000FF"/>
                </a:solidFill>
              </a:rPr>
              <a:t>      String key=</a:t>
            </a:r>
            <a:r>
              <a:rPr lang="en-IN" dirty="0" err="1">
                <a:solidFill>
                  <a:srgbClr val="0000FF"/>
                </a:solidFill>
              </a:rPr>
              <a:t>i.next</a:t>
            </a:r>
            <a:r>
              <a:rPr lang="en-IN" dirty="0">
                <a:solidFill>
                  <a:srgbClr val="0000FF"/>
                </a:solidFill>
              </a:rPr>
              <a:t>().</a:t>
            </a:r>
            <a:r>
              <a:rPr lang="en-IN" dirty="0" err="1">
                <a:solidFill>
                  <a:srgbClr val="0000FF"/>
                </a:solidFill>
              </a:rPr>
              <a:t>toString</a:t>
            </a:r>
            <a:r>
              <a:rPr lang="en-IN" dirty="0">
                <a:solidFill>
                  <a:srgbClr val="0000FF"/>
                </a:solidFill>
              </a:rPr>
              <a:t>();</a:t>
            </a:r>
          </a:p>
          <a:p>
            <a:r>
              <a:rPr lang="en-IN" dirty="0">
                <a:solidFill>
                  <a:srgbClr val="0000FF"/>
                </a:solidFill>
              </a:rPr>
              <a:t>      String value=</a:t>
            </a:r>
            <a:r>
              <a:rPr lang="en-IN" dirty="0" err="1">
                <a:solidFill>
                  <a:srgbClr val="0000FF"/>
                </a:solidFill>
              </a:rPr>
              <a:t>ht.get</a:t>
            </a:r>
            <a:r>
              <a:rPr lang="en-IN" dirty="0">
                <a:solidFill>
                  <a:srgbClr val="0000FF"/>
                </a:solidFill>
              </a:rPr>
              <a:t>(key).</a:t>
            </a:r>
            <a:r>
              <a:rPr lang="en-IN" dirty="0" err="1">
                <a:solidFill>
                  <a:srgbClr val="0000FF"/>
                </a:solidFill>
              </a:rPr>
              <a:t>toString</a:t>
            </a:r>
            <a:r>
              <a:rPr lang="en-IN" dirty="0">
                <a:solidFill>
                  <a:srgbClr val="0000FF"/>
                </a:solidFill>
              </a:rPr>
              <a:t>();</a:t>
            </a:r>
          </a:p>
          <a:p>
            <a:r>
              <a:rPr lang="en-IN" dirty="0">
                <a:solidFill>
                  <a:srgbClr val="0000FF"/>
                </a:solidFill>
              </a:rPr>
              <a:t>      System.out.println(key+" "+value);</a:t>
            </a:r>
          </a:p>
          <a:p>
            <a:r>
              <a:rPr lang="en-IN" dirty="0">
                <a:solidFill>
                  <a:srgbClr val="0000FF"/>
                </a:solidFill>
              </a:rPr>
              <a:t>    }</a:t>
            </a:r>
          </a:p>
          <a:p>
            <a:r>
              <a:rPr lang="en-IN" dirty="0">
                <a:solidFill>
                  <a:srgbClr val="0000FF"/>
                </a:solidFill>
              </a:rPr>
              <a:t> }</a:t>
            </a:r>
          </a:p>
          <a:p>
            <a:r>
              <a:rPr lang="en-IN" dirty="0">
                <a:solidFill>
                  <a:srgbClr val="0000FF"/>
                </a:solidFill>
              </a:rPr>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496718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(Legacy Classes)</a:t>
              </a:r>
            </a:p>
          </p:txBody>
        </p:sp>
      </p:grpSp>
      <p:sp>
        <p:nvSpPr>
          <p:cNvPr id="11" name="TextBox 10">
            <a:extLst>
              <a:ext uri="{FF2B5EF4-FFF2-40B4-BE49-F238E27FC236}">
                <a16:creationId xmlns:a16="http://schemas.microsoft.com/office/drawing/2014/main" xmlns="" id="{A9060CF1-3F1D-1BD7-ECDD-D4A3AE5D67A0}"/>
              </a:ext>
            </a:extLst>
          </p:cNvPr>
          <p:cNvSpPr txBox="1"/>
          <p:nvPr/>
        </p:nvSpPr>
        <p:spPr>
          <a:xfrm>
            <a:off x="6522276" y="928079"/>
            <a:ext cx="2948267" cy="2308324"/>
          </a:xfrm>
          <a:prstGeom prst="rect">
            <a:avLst/>
          </a:prstGeom>
          <a:noFill/>
        </p:spPr>
        <p:txBody>
          <a:bodyPr wrap="square">
            <a:spAutoFit/>
          </a:bodyPr>
          <a:lstStyle/>
          <a:p>
            <a:r>
              <a:rPr lang="en-IN" b="1" u="sng" dirty="0"/>
              <a:t>Properties class example</a:t>
            </a:r>
          </a:p>
          <a:p>
            <a:r>
              <a:rPr lang="en-IN" dirty="0"/>
              <a:t>	Object</a:t>
            </a:r>
          </a:p>
          <a:p>
            <a:r>
              <a:rPr lang="en-IN" dirty="0"/>
              <a:t>	    |</a:t>
            </a:r>
          </a:p>
          <a:p>
            <a:r>
              <a:rPr lang="en-IN" dirty="0"/>
              <a:t>	Dictionary</a:t>
            </a:r>
          </a:p>
          <a:p>
            <a:r>
              <a:rPr lang="en-IN" dirty="0"/>
              <a:t>	    |</a:t>
            </a:r>
          </a:p>
          <a:p>
            <a:r>
              <a:rPr lang="en-IN" dirty="0"/>
              <a:t>	Hashtable</a:t>
            </a:r>
          </a:p>
          <a:p>
            <a:r>
              <a:rPr lang="en-IN" dirty="0"/>
              <a:t>	    |</a:t>
            </a:r>
          </a:p>
          <a:p>
            <a:r>
              <a:rPr lang="en-IN" dirty="0"/>
              <a:t>	Properties</a:t>
            </a:r>
          </a:p>
        </p:txBody>
      </p:sp>
      <p:sp>
        <p:nvSpPr>
          <p:cNvPr id="12" name="TextBox 11">
            <a:extLst>
              <a:ext uri="{FF2B5EF4-FFF2-40B4-BE49-F238E27FC236}">
                <a16:creationId xmlns:a16="http://schemas.microsoft.com/office/drawing/2014/main" xmlns="" id="{12E89CA0-34C9-73DC-03E1-3DF2E8E62F2F}"/>
              </a:ext>
            </a:extLst>
          </p:cNvPr>
          <p:cNvSpPr txBox="1"/>
          <p:nvPr/>
        </p:nvSpPr>
        <p:spPr>
          <a:xfrm>
            <a:off x="9211718" y="928079"/>
            <a:ext cx="2948267" cy="1754326"/>
          </a:xfrm>
          <a:prstGeom prst="rect">
            <a:avLst/>
          </a:prstGeom>
          <a:noFill/>
        </p:spPr>
        <p:txBody>
          <a:bodyPr wrap="square">
            <a:spAutoFit/>
          </a:bodyPr>
          <a:lstStyle/>
          <a:p>
            <a:r>
              <a:rPr lang="en-IN" b="1" dirty="0"/>
              <a:t># </a:t>
            </a:r>
            <a:r>
              <a:rPr lang="en-IN" b="1" dirty="0" err="1"/>
              <a:t>battingOrder.properties</a:t>
            </a:r>
            <a:endParaRPr lang="en-IN" b="1" dirty="0"/>
          </a:p>
          <a:p>
            <a:r>
              <a:rPr lang="en-IN" dirty="0"/>
              <a:t>1st_down=Surya</a:t>
            </a:r>
          </a:p>
          <a:p>
            <a:r>
              <a:rPr lang="en-IN" dirty="0"/>
              <a:t>2nd_down=</a:t>
            </a:r>
            <a:r>
              <a:rPr lang="en-IN" dirty="0" err="1"/>
              <a:t>Sakib</a:t>
            </a:r>
            <a:endParaRPr lang="en-IN" dirty="0"/>
          </a:p>
          <a:p>
            <a:r>
              <a:rPr lang="en-IN" dirty="0"/>
              <a:t>3rd_down=Habib</a:t>
            </a:r>
          </a:p>
          <a:p>
            <a:r>
              <a:rPr lang="en-IN" dirty="0"/>
              <a:t>4th_down=Mamun</a:t>
            </a:r>
          </a:p>
          <a:p>
            <a:r>
              <a:rPr lang="en-IN" dirty="0"/>
              <a:t>5th_down=Saud</a:t>
            </a:r>
          </a:p>
        </p:txBody>
      </p:sp>
      <p:sp>
        <p:nvSpPr>
          <p:cNvPr id="14" name="TextBox 13">
            <a:extLst>
              <a:ext uri="{FF2B5EF4-FFF2-40B4-BE49-F238E27FC236}">
                <a16:creationId xmlns:a16="http://schemas.microsoft.com/office/drawing/2014/main" xmlns="" id="{F03CB682-830B-8E9B-AF73-4A21E56F9861}"/>
              </a:ext>
            </a:extLst>
          </p:cNvPr>
          <p:cNvSpPr txBox="1"/>
          <p:nvPr/>
        </p:nvSpPr>
        <p:spPr>
          <a:xfrm>
            <a:off x="0" y="1029089"/>
            <a:ext cx="6125134" cy="4031873"/>
          </a:xfrm>
          <a:prstGeom prst="rect">
            <a:avLst/>
          </a:prstGeom>
          <a:noFill/>
        </p:spPr>
        <p:txBody>
          <a:bodyPr wrap="square">
            <a:spAutoFit/>
          </a:bodyPr>
          <a:lstStyle/>
          <a:p>
            <a:r>
              <a:rPr lang="en-IN" sz="1600" b="1" dirty="0"/>
              <a:t>// PropertiesEx3.java</a:t>
            </a:r>
          </a:p>
          <a:p>
            <a:r>
              <a:rPr lang="en-IN" sz="1600" dirty="0"/>
              <a:t>import java.util.*;</a:t>
            </a:r>
          </a:p>
          <a:p>
            <a:r>
              <a:rPr lang="en-IN" sz="1600" dirty="0"/>
              <a:t>import java.io.*;</a:t>
            </a:r>
          </a:p>
          <a:p>
            <a:r>
              <a:rPr lang="en-IN" sz="1600" dirty="0"/>
              <a:t>public class PropertiesEx3 {</a:t>
            </a:r>
          </a:p>
          <a:p>
            <a:r>
              <a:rPr lang="en-IN" sz="1600" dirty="0"/>
              <a:t>  public static void main(String rags[]) throws Exception {</a:t>
            </a:r>
          </a:p>
          <a:p>
            <a:r>
              <a:rPr lang="en-IN" sz="1600" dirty="0"/>
              <a:t>  </a:t>
            </a:r>
          </a:p>
          <a:p>
            <a:r>
              <a:rPr lang="en-IN" sz="1600" dirty="0"/>
              <a:t>    Properties p=new Properties();</a:t>
            </a:r>
          </a:p>
          <a:p>
            <a:r>
              <a:rPr lang="en-IN" sz="1600" dirty="0"/>
              <a:t>	</a:t>
            </a:r>
          </a:p>
          <a:p>
            <a:r>
              <a:rPr lang="en-IN" sz="1600" dirty="0"/>
              <a:t>    </a:t>
            </a:r>
            <a:r>
              <a:rPr lang="en-IN" sz="1600" dirty="0" err="1"/>
              <a:t>p.load</a:t>
            </a:r>
            <a:r>
              <a:rPr lang="en-IN" sz="1600" dirty="0"/>
              <a:t>(new </a:t>
            </a:r>
            <a:r>
              <a:rPr lang="en-IN" sz="1600" dirty="0" err="1"/>
              <a:t>FileInputStream</a:t>
            </a:r>
            <a:r>
              <a:rPr lang="en-IN" sz="1600" dirty="0"/>
              <a:t>("</a:t>
            </a:r>
            <a:r>
              <a:rPr lang="en-IN" sz="1600" dirty="0" err="1"/>
              <a:t>battingOrder.properties</a:t>
            </a:r>
            <a:r>
              <a:rPr lang="en-IN" sz="1600" dirty="0"/>
              <a:t>"));</a:t>
            </a:r>
          </a:p>
          <a:p>
            <a:r>
              <a:rPr lang="en-IN" sz="1600" dirty="0"/>
              <a:t>	</a:t>
            </a:r>
          </a:p>
          <a:p>
            <a:r>
              <a:rPr lang="en-IN" sz="1600" dirty="0"/>
              <a:t>    Enumeration e=</a:t>
            </a:r>
            <a:r>
              <a:rPr lang="en-IN" sz="1600" dirty="0" err="1"/>
              <a:t>p.propertyNames</a:t>
            </a:r>
            <a:r>
              <a:rPr lang="en-IN" sz="1600" dirty="0"/>
              <a:t>();</a:t>
            </a:r>
          </a:p>
          <a:p>
            <a:r>
              <a:rPr lang="en-IN" sz="1600" dirty="0"/>
              <a:t>    while(</a:t>
            </a:r>
            <a:r>
              <a:rPr lang="en-IN" sz="1600" dirty="0" err="1"/>
              <a:t>e.hasMoreElements</a:t>
            </a:r>
            <a:r>
              <a:rPr lang="en-IN" sz="1600" dirty="0"/>
              <a:t>()) {</a:t>
            </a:r>
          </a:p>
          <a:p>
            <a:r>
              <a:rPr lang="en-IN" sz="1600" dirty="0"/>
              <a:t>      String key=(String)</a:t>
            </a:r>
            <a:r>
              <a:rPr lang="en-IN" sz="1600" dirty="0" err="1"/>
              <a:t>e.nextElement</a:t>
            </a:r>
            <a:r>
              <a:rPr lang="en-IN" sz="1600" dirty="0"/>
              <a:t>();</a:t>
            </a:r>
          </a:p>
          <a:p>
            <a:r>
              <a:rPr lang="en-IN" sz="1600" dirty="0"/>
              <a:t>      String value=</a:t>
            </a:r>
            <a:r>
              <a:rPr lang="en-IN" sz="1600" dirty="0" err="1"/>
              <a:t>p.getProperty</a:t>
            </a:r>
            <a:r>
              <a:rPr lang="en-IN" sz="1600" dirty="0"/>
              <a:t>(key);</a:t>
            </a:r>
          </a:p>
          <a:p>
            <a:r>
              <a:rPr lang="en-IN" sz="1600" dirty="0"/>
              <a:t>      System.out.println(key+" "+value);</a:t>
            </a:r>
          </a:p>
          <a:p>
            <a:r>
              <a:rPr lang="en-IN" sz="1600" dirty="0"/>
              <a:t>    }</a:t>
            </a:r>
          </a:p>
        </p:txBody>
      </p:sp>
      <p:sp>
        <p:nvSpPr>
          <p:cNvPr id="16" name="TextBox 15">
            <a:extLst>
              <a:ext uri="{FF2B5EF4-FFF2-40B4-BE49-F238E27FC236}">
                <a16:creationId xmlns:a16="http://schemas.microsoft.com/office/drawing/2014/main" xmlns="" id="{1AF10F5D-D243-8A08-1AFA-CA34329350D9}"/>
              </a:ext>
            </a:extLst>
          </p:cNvPr>
          <p:cNvSpPr txBox="1"/>
          <p:nvPr/>
        </p:nvSpPr>
        <p:spPr>
          <a:xfrm>
            <a:off x="4794388" y="3334888"/>
            <a:ext cx="4726611" cy="3539430"/>
          </a:xfrm>
          <a:prstGeom prst="rect">
            <a:avLst/>
          </a:prstGeom>
          <a:noFill/>
        </p:spPr>
        <p:txBody>
          <a:bodyPr wrap="square">
            <a:spAutoFit/>
          </a:bodyPr>
          <a:lstStyle/>
          <a:p>
            <a:r>
              <a:rPr lang="en-IN" sz="1600" dirty="0"/>
              <a:t>System.out.println("**********************");</a:t>
            </a:r>
          </a:p>
          <a:p>
            <a:r>
              <a:rPr lang="en-IN" sz="1600" dirty="0"/>
              <a:t>    Set&lt;String&gt; keys=</a:t>
            </a:r>
            <a:r>
              <a:rPr lang="en-IN" sz="1600" dirty="0" err="1"/>
              <a:t>p.stringPropertyNames</a:t>
            </a:r>
            <a:r>
              <a:rPr lang="en-IN" sz="1600" dirty="0"/>
              <a:t>();</a:t>
            </a:r>
          </a:p>
          <a:p>
            <a:r>
              <a:rPr lang="en-IN" sz="1600" dirty="0"/>
              <a:t>    for(String </a:t>
            </a:r>
            <a:r>
              <a:rPr lang="en-IN" sz="1600" dirty="0" err="1"/>
              <a:t>key:keys</a:t>
            </a:r>
            <a:r>
              <a:rPr lang="en-IN" sz="1600" dirty="0"/>
              <a:t>) {</a:t>
            </a:r>
          </a:p>
          <a:p>
            <a:r>
              <a:rPr lang="en-IN" sz="1600" dirty="0"/>
              <a:t>      String value=</a:t>
            </a:r>
            <a:r>
              <a:rPr lang="en-IN" sz="1600" dirty="0" err="1"/>
              <a:t>p.getProperty</a:t>
            </a:r>
            <a:r>
              <a:rPr lang="en-IN" sz="1600" dirty="0"/>
              <a:t>(key);</a:t>
            </a:r>
          </a:p>
          <a:p>
            <a:r>
              <a:rPr lang="en-IN" sz="1600" dirty="0"/>
              <a:t>      System.out.println(key+" "+value);</a:t>
            </a:r>
          </a:p>
          <a:p>
            <a:r>
              <a:rPr lang="en-IN" sz="1600" dirty="0"/>
              <a:t>    }</a:t>
            </a:r>
          </a:p>
          <a:p>
            <a:r>
              <a:rPr lang="en-IN" sz="1600" dirty="0"/>
              <a:t>    System.out.println("*********************");</a:t>
            </a:r>
          </a:p>
          <a:p>
            <a:endParaRPr lang="en-IN" sz="1600" dirty="0"/>
          </a:p>
          <a:p>
            <a:r>
              <a:rPr lang="en-IN" sz="1600" dirty="0"/>
              <a:t>    </a:t>
            </a:r>
            <a:r>
              <a:rPr lang="en-IN" sz="1600" dirty="0" err="1"/>
              <a:t>p.setProperty</a:t>
            </a:r>
            <a:r>
              <a:rPr lang="en-IN" sz="1600" dirty="0"/>
              <a:t>("6th_down","Tahsin");</a:t>
            </a:r>
          </a:p>
          <a:p>
            <a:endParaRPr lang="en-IN" sz="1600" dirty="0"/>
          </a:p>
          <a:p>
            <a:r>
              <a:rPr lang="en-IN" sz="1600" dirty="0"/>
              <a:t>    </a:t>
            </a:r>
            <a:r>
              <a:rPr lang="en-IN" sz="1600" dirty="0" err="1"/>
              <a:t>p.store</a:t>
            </a:r>
            <a:r>
              <a:rPr lang="en-IN" sz="1600" dirty="0"/>
              <a:t>(new </a:t>
            </a:r>
            <a:r>
              <a:rPr lang="en-IN" sz="1600" dirty="0" err="1"/>
              <a:t>FileOutputStream</a:t>
            </a:r>
            <a:r>
              <a:rPr lang="en-IN" sz="1600" dirty="0"/>
              <a:t>(</a:t>
            </a:r>
          </a:p>
          <a:p>
            <a:r>
              <a:rPr lang="en-IN" sz="1600" dirty="0"/>
              <a:t>"</a:t>
            </a:r>
            <a:r>
              <a:rPr lang="en-IN" sz="1600" dirty="0" err="1"/>
              <a:t>battingOrder.properties</a:t>
            </a:r>
            <a:r>
              <a:rPr lang="en-IN" sz="1600" dirty="0"/>
              <a:t>"), "6thdown added");</a:t>
            </a:r>
          </a:p>
          <a:p>
            <a:r>
              <a:rPr lang="en-IN" sz="1600" dirty="0"/>
              <a:t>  }</a:t>
            </a:r>
          </a:p>
          <a:p>
            <a:r>
              <a:rPr lang="en-IN" sz="1600" dirty="0"/>
              <a:t>}</a:t>
            </a:r>
          </a:p>
        </p:txBody>
      </p:sp>
      <p:sp>
        <p:nvSpPr>
          <p:cNvPr id="13"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275873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(Legacy Classes)</a:t>
              </a:r>
            </a:p>
          </p:txBody>
        </p:sp>
      </p:grpSp>
      <p:sp>
        <p:nvSpPr>
          <p:cNvPr id="13" name="TextBox 12">
            <a:extLst>
              <a:ext uri="{FF2B5EF4-FFF2-40B4-BE49-F238E27FC236}">
                <a16:creationId xmlns:a16="http://schemas.microsoft.com/office/drawing/2014/main" xmlns="" id="{5188709C-6D96-C457-C515-CD5EA69A6BC9}"/>
              </a:ext>
            </a:extLst>
          </p:cNvPr>
          <p:cNvSpPr txBox="1"/>
          <p:nvPr/>
        </p:nvSpPr>
        <p:spPr>
          <a:xfrm>
            <a:off x="225239" y="1129784"/>
            <a:ext cx="6125134" cy="1754326"/>
          </a:xfrm>
          <a:prstGeom prst="rect">
            <a:avLst/>
          </a:prstGeom>
          <a:noFill/>
        </p:spPr>
        <p:txBody>
          <a:bodyPr wrap="square">
            <a:spAutoFit/>
          </a:bodyPr>
          <a:lstStyle/>
          <a:p>
            <a:r>
              <a:rPr lang="en-IN" b="1" u="sng" dirty="0"/>
              <a:t>class Stack</a:t>
            </a:r>
          </a:p>
          <a:p>
            <a:r>
              <a:rPr lang="en-IN" dirty="0"/>
              <a:t>			Object</a:t>
            </a:r>
          </a:p>
          <a:p>
            <a:r>
              <a:rPr lang="en-IN" dirty="0"/>
              <a:t>			    |</a:t>
            </a:r>
          </a:p>
          <a:p>
            <a:r>
              <a:rPr lang="en-IN" dirty="0"/>
              <a:t>			Vector (FIFO)</a:t>
            </a:r>
          </a:p>
          <a:p>
            <a:r>
              <a:rPr lang="en-IN" dirty="0"/>
              <a:t>			    |</a:t>
            </a:r>
          </a:p>
          <a:p>
            <a:r>
              <a:rPr lang="en-IN" dirty="0"/>
              <a:t>			Stack (LIFO)</a:t>
            </a:r>
          </a:p>
        </p:txBody>
      </p:sp>
      <p:sp>
        <p:nvSpPr>
          <p:cNvPr id="15" name="TextBox 14">
            <a:extLst>
              <a:ext uri="{FF2B5EF4-FFF2-40B4-BE49-F238E27FC236}">
                <a16:creationId xmlns:a16="http://schemas.microsoft.com/office/drawing/2014/main" xmlns="" id="{0DC0886B-034F-7D91-386B-D1ABE47D6AE8}"/>
              </a:ext>
            </a:extLst>
          </p:cNvPr>
          <p:cNvSpPr txBox="1"/>
          <p:nvPr/>
        </p:nvSpPr>
        <p:spPr>
          <a:xfrm>
            <a:off x="474375" y="3137594"/>
            <a:ext cx="8709966" cy="2585323"/>
          </a:xfrm>
          <a:prstGeom prst="rect">
            <a:avLst/>
          </a:prstGeom>
          <a:noFill/>
        </p:spPr>
        <p:txBody>
          <a:bodyPr wrap="square">
            <a:spAutoFit/>
          </a:bodyPr>
          <a:lstStyle/>
          <a:p>
            <a:pPr algn="just"/>
            <a:r>
              <a:rPr lang="en-IN" dirty="0"/>
              <a:t>Stack super class is Vector/Stack is a sub class of Vector. Stack represents LIFO/FILO order of arranging objects. Stack allows duplicate. Five additional methods are given in this class. They are:</a:t>
            </a:r>
          </a:p>
          <a:p>
            <a:pPr algn="just"/>
            <a:endParaRPr lang="en-IN" dirty="0"/>
          </a:p>
          <a:p>
            <a:pPr marL="285750" indent="-285750" algn="just">
              <a:buFont typeface="Wingdings" panose="05000000000000000000" pitchFamily="2" charset="2"/>
              <a:buChar char="v"/>
            </a:pPr>
            <a:r>
              <a:rPr lang="en-IN" dirty="0"/>
              <a:t>Object push(Object o) - adds element on top</a:t>
            </a:r>
          </a:p>
          <a:p>
            <a:pPr marL="285750" indent="-285750" algn="just">
              <a:buFont typeface="Wingdings" panose="05000000000000000000" pitchFamily="2" charset="2"/>
              <a:buChar char="v"/>
            </a:pPr>
            <a:r>
              <a:rPr lang="en-IN" dirty="0"/>
              <a:t>Object pop() - return and removes top element</a:t>
            </a:r>
          </a:p>
          <a:p>
            <a:pPr marL="285750" indent="-285750" algn="just">
              <a:buFont typeface="Wingdings" panose="05000000000000000000" pitchFamily="2" charset="2"/>
              <a:buChar char="v"/>
            </a:pPr>
            <a:r>
              <a:rPr lang="en-IN" dirty="0"/>
              <a:t>Object peek() - return top element but doesn't remove</a:t>
            </a:r>
          </a:p>
          <a:p>
            <a:pPr marL="285750" indent="-285750" algn="just">
              <a:buFont typeface="Wingdings" panose="05000000000000000000" pitchFamily="2" charset="2"/>
              <a:buChar char="v"/>
            </a:pPr>
            <a:r>
              <a:rPr lang="en-IN" dirty="0"/>
              <a:t>int search(Object o) - returns index of the element, returns -1 if element not found</a:t>
            </a:r>
          </a:p>
          <a:p>
            <a:pPr marL="285750" indent="-285750" algn="just">
              <a:buFont typeface="Wingdings" panose="05000000000000000000" pitchFamily="2" charset="2"/>
              <a:buChar char="v"/>
            </a:pPr>
            <a:r>
              <a:rPr lang="en-IN" dirty="0"/>
              <a:t>boolean empty() - return true is stack is empty</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4274404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(Legacy Classes)</a:t>
              </a:r>
            </a:p>
          </p:txBody>
        </p:sp>
      </p:grpSp>
      <p:sp>
        <p:nvSpPr>
          <p:cNvPr id="10" name="TextBox 9">
            <a:extLst>
              <a:ext uri="{FF2B5EF4-FFF2-40B4-BE49-F238E27FC236}">
                <a16:creationId xmlns:a16="http://schemas.microsoft.com/office/drawing/2014/main" xmlns="" id="{64A015EF-7E3B-381C-FE10-1BD330B5E82F}"/>
              </a:ext>
            </a:extLst>
          </p:cNvPr>
          <p:cNvSpPr txBox="1"/>
          <p:nvPr/>
        </p:nvSpPr>
        <p:spPr>
          <a:xfrm>
            <a:off x="628651" y="1061984"/>
            <a:ext cx="6125134" cy="5693866"/>
          </a:xfrm>
          <a:prstGeom prst="rect">
            <a:avLst/>
          </a:prstGeom>
          <a:noFill/>
        </p:spPr>
        <p:txBody>
          <a:bodyPr wrap="square">
            <a:spAutoFit/>
          </a:bodyPr>
          <a:lstStyle/>
          <a:p>
            <a:r>
              <a:rPr lang="en-IN" sz="1600" b="1" dirty="0"/>
              <a:t>// StackEx4.java</a:t>
            </a:r>
          </a:p>
          <a:p>
            <a:r>
              <a:rPr lang="en-IN" sz="1600" dirty="0"/>
              <a:t>import java.util.*;</a:t>
            </a:r>
          </a:p>
          <a:p>
            <a:r>
              <a:rPr lang="en-IN" sz="1600" dirty="0"/>
              <a:t>public class StackEx4 {</a:t>
            </a:r>
          </a:p>
          <a:p>
            <a:r>
              <a:rPr lang="en-IN" sz="1600" dirty="0"/>
              <a:t>  public static void main(String rags[]) {</a:t>
            </a:r>
          </a:p>
          <a:p>
            <a:r>
              <a:rPr lang="en-IN" sz="1600" dirty="0"/>
              <a:t>    Stack s=new Stack();</a:t>
            </a:r>
          </a:p>
          <a:p>
            <a:r>
              <a:rPr lang="en-IN" sz="1600" dirty="0"/>
              <a:t>    System.out.println(</a:t>
            </a:r>
            <a:r>
              <a:rPr lang="en-IN" sz="1600" dirty="0" err="1"/>
              <a:t>s.capacity</a:t>
            </a:r>
            <a:r>
              <a:rPr lang="en-IN" sz="1600" dirty="0"/>
              <a:t>());</a:t>
            </a:r>
          </a:p>
          <a:p>
            <a:r>
              <a:rPr lang="en-IN" sz="1600" dirty="0"/>
              <a:t>    System.out.println(</a:t>
            </a:r>
            <a:r>
              <a:rPr lang="en-IN" sz="1600" dirty="0" err="1"/>
              <a:t>s.size</a:t>
            </a:r>
            <a:r>
              <a:rPr lang="en-IN" sz="1600" dirty="0"/>
              <a:t>());</a:t>
            </a:r>
          </a:p>
          <a:p>
            <a:r>
              <a:rPr lang="en-IN" sz="1600" dirty="0"/>
              <a:t>    </a:t>
            </a:r>
            <a:r>
              <a:rPr lang="en-IN" sz="1600" dirty="0" err="1"/>
              <a:t>s.push</a:t>
            </a:r>
            <a:r>
              <a:rPr lang="en-IN" sz="1600" dirty="0"/>
              <a:t>("Surya");</a:t>
            </a:r>
          </a:p>
          <a:p>
            <a:r>
              <a:rPr lang="en-IN" sz="1600" dirty="0"/>
              <a:t>    </a:t>
            </a:r>
            <a:r>
              <a:rPr lang="en-IN" sz="1600" dirty="0" err="1"/>
              <a:t>s.push</a:t>
            </a:r>
            <a:r>
              <a:rPr lang="en-IN" sz="1600" dirty="0"/>
              <a:t>("</a:t>
            </a:r>
            <a:r>
              <a:rPr lang="en-IN" sz="1600" dirty="0" err="1"/>
              <a:t>Sakib</a:t>
            </a:r>
            <a:r>
              <a:rPr lang="en-IN" sz="1600" dirty="0"/>
              <a:t>");</a:t>
            </a:r>
          </a:p>
          <a:p>
            <a:r>
              <a:rPr lang="en-IN" sz="1600" dirty="0"/>
              <a:t>    </a:t>
            </a:r>
            <a:r>
              <a:rPr lang="en-IN" sz="1600" dirty="0" err="1"/>
              <a:t>s.push</a:t>
            </a:r>
            <a:r>
              <a:rPr lang="en-IN" sz="1600" dirty="0"/>
              <a:t>("Habib");</a:t>
            </a:r>
          </a:p>
          <a:p>
            <a:r>
              <a:rPr lang="en-IN" sz="1600" dirty="0"/>
              <a:t>    </a:t>
            </a:r>
            <a:r>
              <a:rPr lang="en-IN" sz="1600" dirty="0" err="1"/>
              <a:t>s.push</a:t>
            </a:r>
            <a:r>
              <a:rPr lang="en-IN" sz="1600" dirty="0"/>
              <a:t>("Mamun");</a:t>
            </a:r>
          </a:p>
          <a:p>
            <a:r>
              <a:rPr lang="en-IN" sz="1600" dirty="0"/>
              <a:t>    </a:t>
            </a:r>
            <a:r>
              <a:rPr lang="en-IN" sz="1600" dirty="0" err="1"/>
              <a:t>s.push</a:t>
            </a:r>
            <a:r>
              <a:rPr lang="en-IN" sz="1600" dirty="0"/>
              <a:t>("Saud");</a:t>
            </a:r>
          </a:p>
          <a:p>
            <a:r>
              <a:rPr lang="en-IN" sz="1600" dirty="0"/>
              <a:t>    System.out.println(s);</a:t>
            </a:r>
          </a:p>
          <a:p>
            <a:endParaRPr lang="en-IN" sz="1600" dirty="0"/>
          </a:p>
          <a:p>
            <a:r>
              <a:rPr lang="en-IN" sz="1600" dirty="0"/>
              <a:t>    System.out.println(</a:t>
            </a:r>
            <a:r>
              <a:rPr lang="en-IN" sz="1600" dirty="0" err="1"/>
              <a:t>s.capacity</a:t>
            </a:r>
            <a:r>
              <a:rPr lang="en-IN" sz="1600" dirty="0"/>
              <a:t>());</a:t>
            </a:r>
          </a:p>
          <a:p>
            <a:r>
              <a:rPr lang="en-IN" sz="1600" dirty="0"/>
              <a:t>    System.out.println(</a:t>
            </a:r>
            <a:r>
              <a:rPr lang="en-IN" sz="1600" dirty="0" err="1"/>
              <a:t>s.size</a:t>
            </a:r>
            <a:r>
              <a:rPr lang="en-IN" sz="1600" dirty="0"/>
              <a:t>());</a:t>
            </a:r>
          </a:p>
          <a:p>
            <a:endParaRPr lang="en-IN" sz="1600" dirty="0"/>
          </a:p>
          <a:p>
            <a:r>
              <a:rPr lang="en-IN" sz="1600" dirty="0"/>
              <a:t>    while(!</a:t>
            </a:r>
            <a:r>
              <a:rPr lang="en-IN" sz="1600" dirty="0" err="1"/>
              <a:t>s.empty</a:t>
            </a:r>
            <a:r>
              <a:rPr lang="en-IN" sz="1600" dirty="0"/>
              <a:t>()) {</a:t>
            </a:r>
          </a:p>
          <a:p>
            <a:r>
              <a:rPr lang="en-IN" sz="1600" dirty="0"/>
              <a:t>      System.out.println(</a:t>
            </a:r>
            <a:r>
              <a:rPr lang="en-IN" sz="1600" dirty="0" err="1"/>
              <a:t>s.pop</a:t>
            </a:r>
            <a:r>
              <a:rPr lang="en-IN" sz="1600" dirty="0"/>
              <a:t>());</a:t>
            </a:r>
          </a:p>
          <a:p>
            <a:r>
              <a:rPr lang="en-IN" sz="1600" dirty="0"/>
              <a:t>    }</a:t>
            </a:r>
          </a:p>
          <a:p>
            <a:r>
              <a:rPr lang="en-IN" sz="1600" dirty="0"/>
              <a:t>  }</a:t>
            </a:r>
          </a:p>
          <a:p>
            <a:r>
              <a:rPr lang="en-IN" sz="1600" dirty="0"/>
              <a:t>}</a:t>
            </a:r>
          </a:p>
        </p:txBody>
      </p:sp>
      <p:sp>
        <p:nvSpPr>
          <p:cNvPr id="2" name="TextBox 1">
            <a:extLst>
              <a:ext uri="{FF2B5EF4-FFF2-40B4-BE49-F238E27FC236}">
                <a16:creationId xmlns:a16="http://schemas.microsoft.com/office/drawing/2014/main" xmlns="" id="{57E3B71D-EEC7-2305-93B3-F44B402F1A44}"/>
              </a:ext>
            </a:extLst>
          </p:cNvPr>
          <p:cNvSpPr txBox="1"/>
          <p:nvPr/>
        </p:nvSpPr>
        <p:spPr>
          <a:xfrm>
            <a:off x="4504765" y="5204013"/>
            <a:ext cx="2838726" cy="923330"/>
          </a:xfrm>
          <a:prstGeom prst="rect">
            <a:avLst/>
          </a:prstGeom>
          <a:noFill/>
        </p:spPr>
        <p:txBody>
          <a:bodyPr wrap="none" rtlCol="0">
            <a:spAutoFit/>
          </a:bodyPr>
          <a:lstStyle/>
          <a:p>
            <a:r>
              <a:rPr lang="en-IN" dirty="0"/>
              <a:t>// alternatively we </a:t>
            </a:r>
            <a:r>
              <a:rPr lang="en-IN"/>
              <a:t>can write</a:t>
            </a:r>
          </a:p>
          <a:p>
            <a:r>
              <a:rPr lang="en-IN" dirty="0"/>
              <a:t>while(</a:t>
            </a:r>
            <a:r>
              <a:rPr lang="en-IN" dirty="0" err="1"/>
              <a:t>s.empty</a:t>
            </a:r>
            <a:r>
              <a:rPr lang="en-IN" dirty="0"/>
              <a:t>()==false) {</a:t>
            </a:r>
          </a:p>
          <a:p>
            <a:r>
              <a:rPr lang="en-IN" dirty="0"/>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805923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64A015EF-7E3B-381C-FE10-1BD330B5E82F}"/>
              </a:ext>
            </a:extLst>
          </p:cNvPr>
          <p:cNvSpPr txBox="1"/>
          <p:nvPr/>
        </p:nvSpPr>
        <p:spPr>
          <a:xfrm>
            <a:off x="2056198" y="2721966"/>
            <a:ext cx="6125134" cy="1200329"/>
          </a:xfrm>
          <a:prstGeom prst="rect">
            <a:avLst/>
          </a:prstGeom>
          <a:noFill/>
        </p:spPr>
        <p:txBody>
          <a:bodyPr wrap="square">
            <a:spAutoFit/>
          </a:bodyPr>
          <a:lstStyle/>
          <a:p>
            <a:pPr algn="ctr"/>
            <a:r>
              <a:rPr lang="en-IN" sz="7200" b="1" dirty="0">
                <a:solidFill>
                  <a:srgbClr val="990033"/>
                </a:solidFill>
              </a:rPr>
              <a:t>Collection API</a:t>
            </a:r>
            <a:endParaRPr lang="en-IN" sz="7200" dirty="0">
              <a:solidFill>
                <a:srgbClr val="990033"/>
              </a:solidFill>
            </a:endParaRP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843600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64A015EF-7E3B-381C-FE10-1BD330B5E82F}"/>
              </a:ext>
            </a:extLst>
          </p:cNvPr>
          <p:cNvSpPr txBox="1"/>
          <p:nvPr/>
        </p:nvSpPr>
        <p:spPr>
          <a:xfrm>
            <a:off x="389965" y="1094877"/>
            <a:ext cx="8831580" cy="4524315"/>
          </a:xfrm>
          <a:prstGeom prst="rect">
            <a:avLst/>
          </a:prstGeom>
          <a:noFill/>
        </p:spPr>
        <p:txBody>
          <a:bodyPr wrap="square">
            <a:spAutoFit/>
          </a:bodyPr>
          <a:lstStyle/>
          <a:p>
            <a:pPr marL="285750" indent="-285750" algn="just">
              <a:buFont typeface="Wingdings" panose="05000000000000000000" pitchFamily="2" charset="2"/>
              <a:buChar char="v"/>
            </a:pPr>
            <a:r>
              <a:rPr lang="en-US" b="1" dirty="0">
                <a:solidFill>
                  <a:srgbClr val="990033"/>
                </a:solidFill>
              </a:rPr>
              <a:t>Classes given in JDK 1.2 java.util package classes are called as Collection Framework classes. </a:t>
            </a:r>
          </a:p>
          <a:p>
            <a:pPr marL="285750" indent="-285750" algn="just">
              <a:buFont typeface="Wingdings" panose="05000000000000000000" pitchFamily="2" charset="2"/>
              <a:buChar char="v"/>
            </a:pPr>
            <a:r>
              <a:rPr lang="en-US" b="1" dirty="0">
                <a:solidFill>
                  <a:srgbClr val="990033"/>
                </a:solidFill>
              </a:rPr>
              <a:t>Classes exist in java.util package before JDK 1.2 are called as Legacy/Old classes.</a:t>
            </a:r>
          </a:p>
          <a:p>
            <a:pPr algn="just"/>
            <a:endParaRPr lang="en-US" b="1" dirty="0">
              <a:solidFill>
                <a:srgbClr val="990033"/>
              </a:solidFill>
            </a:endParaRPr>
          </a:p>
          <a:p>
            <a:pPr algn="just"/>
            <a:r>
              <a:rPr lang="en-US" b="1" dirty="0">
                <a:solidFill>
                  <a:srgbClr val="990033"/>
                </a:solidFill>
              </a:rPr>
              <a:t>The main motto behind developing Collection framework is in legacy classes (Vector, Hashtable, Properties) the methods are declared as synchronized. Because the legacy class methods are declared as synch, in multithreaded environment developer cannot remove synch of the methods due to which performance impact. In multi-threaded environment the legacy class run like a thread-safe.</a:t>
            </a:r>
          </a:p>
          <a:p>
            <a:pPr algn="just"/>
            <a:endParaRPr lang="en-US" b="1" dirty="0">
              <a:solidFill>
                <a:srgbClr val="990033"/>
              </a:solidFill>
            </a:endParaRPr>
          </a:p>
          <a:p>
            <a:pPr algn="just"/>
            <a:r>
              <a:rPr lang="en-US" b="1" dirty="0">
                <a:solidFill>
                  <a:srgbClr val="990033"/>
                </a:solidFill>
              </a:rPr>
              <a:t>Wherever legacy classes are running in a multi-threaded environment where performance is priority more than consistency of object’s state there we can use Collection API.</a:t>
            </a:r>
          </a:p>
          <a:p>
            <a:pPr algn="just"/>
            <a:endParaRPr lang="en-US" b="1" dirty="0">
              <a:solidFill>
                <a:srgbClr val="990033"/>
              </a:solidFill>
            </a:endParaRPr>
          </a:p>
          <a:p>
            <a:pPr algn="just"/>
            <a:r>
              <a:rPr lang="en-US" b="1" dirty="0">
                <a:solidFill>
                  <a:srgbClr val="990033"/>
                </a:solidFill>
              </a:rPr>
              <a:t>All Collection interfaces and classes - methods are not synchronized by default. If we want the Collection objects to be synchronized we can synch in multi-threaded environment using</a:t>
            </a:r>
            <a:endParaRPr lang="en-IN" b="1" dirty="0">
              <a:solidFill>
                <a:srgbClr val="990033"/>
              </a:solidFill>
            </a:endParaRPr>
          </a:p>
        </p:txBody>
      </p:sp>
      <p:sp>
        <p:nvSpPr>
          <p:cNvPr id="11" name="TextBox 10">
            <a:extLst>
              <a:ext uri="{FF2B5EF4-FFF2-40B4-BE49-F238E27FC236}">
                <a16:creationId xmlns:a16="http://schemas.microsoft.com/office/drawing/2014/main" xmlns="" id="{6230E2A7-C3CC-35F1-3FDF-A30BA3D390BE}"/>
              </a:ext>
            </a:extLst>
          </p:cNvPr>
          <p:cNvSpPr txBox="1"/>
          <p:nvPr/>
        </p:nvSpPr>
        <p:spPr>
          <a:xfrm>
            <a:off x="960700" y="5382984"/>
            <a:ext cx="6125134" cy="1200329"/>
          </a:xfrm>
          <a:prstGeom prst="rect">
            <a:avLst/>
          </a:prstGeom>
          <a:noFill/>
        </p:spPr>
        <p:txBody>
          <a:bodyPr wrap="square">
            <a:spAutoFit/>
          </a:bodyPr>
          <a:lstStyle/>
          <a:p>
            <a:pPr marL="285750" indent="-285750" algn="just">
              <a:buFont typeface="Wingdings" panose="05000000000000000000" pitchFamily="2" charset="2"/>
              <a:buChar char="ü"/>
            </a:pPr>
            <a:r>
              <a:rPr lang="en-IN" b="1" dirty="0">
                <a:solidFill>
                  <a:srgbClr val="990033"/>
                </a:solidFill>
              </a:rPr>
              <a:t>Collection </a:t>
            </a:r>
            <a:r>
              <a:rPr lang="en-IN" b="1" dirty="0" err="1">
                <a:solidFill>
                  <a:srgbClr val="990033"/>
                </a:solidFill>
              </a:rPr>
              <a:t>Collections.synchronizedCollection</a:t>
            </a:r>
            <a:r>
              <a:rPr lang="en-IN" b="1" dirty="0">
                <a:solidFill>
                  <a:srgbClr val="990033"/>
                </a:solidFill>
              </a:rPr>
              <a:t>(Collection)</a:t>
            </a:r>
          </a:p>
          <a:p>
            <a:pPr marL="285750" indent="-285750" algn="just">
              <a:buFont typeface="Wingdings" panose="05000000000000000000" pitchFamily="2" charset="2"/>
              <a:buChar char="ü"/>
            </a:pPr>
            <a:r>
              <a:rPr lang="en-IN" b="1" dirty="0">
                <a:solidFill>
                  <a:srgbClr val="990033"/>
                </a:solidFill>
              </a:rPr>
              <a:t>List </a:t>
            </a:r>
            <a:r>
              <a:rPr lang="en-IN" b="1" dirty="0" err="1">
                <a:solidFill>
                  <a:srgbClr val="990033"/>
                </a:solidFill>
              </a:rPr>
              <a:t>Collections.synchronizedList</a:t>
            </a:r>
            <a:r>
              <a:rPr lang="en-IN" b="1" dirty="0">
                <a:solidFill>
                  <a:srgbClr val="990033"/>
                </a:solidFill>
              </a:rPr>
              <a:t>(List)</a:t>
            </a:r>
          </a:p>
          <a:p>
            <a:pPr marL="285750" indent="-285750" algn="just">
              <a:buFont typeface="Wingdings" panose="05000000000000000000" pitchFamily="2" charset="2"/>
              <a:buChar char="ü"/>
            </a:pPr>
            <a:r>
              <a:rPr lang="en-IN" b="1" dirty="0">
                <a:solidFill>
                  <a:srgbClr val="990033"/>
                </a:solidFill>
              </a:rPr>
              <a:t>Set </a:t>
            </a:r>
            <a:r>
              <a:rPr lang="en-IN" b="1" dirty="0" err="1">
                <a:solidFill>
                  <a:srgbClr val="990033"/>
                </a:solidFill>
              </a:rPr>
              <a:t>Collections.synchronizedSet</a:t>
            </a:r>
            <a:r>
              <a:rPr lang="en-IN" b="1" dirty="0">
                <a:solidFill>
                  <a:srgbClr val="990033"/>
                </a:solidFill>
              </a:rPr>
              <a:t>(Set)</a:t>
            </a:r>
          </a:p>
          <a:p>
            <a:pPr marL="285750" indent="-285750" algn="just">
              <a:buFont typeface="Wingdings" panose="05000000000000000000" pitchFamily="2" charset="2"/>
              <a:buChar char="ü"/>
            </a:pPr>
            <a:r>
              <a:rPr lang="en-IN" b="1" dirty="0">
                <a:solidFill>
                  <a:srgbClr val="990033"/>
                </a:solidFill>
              </a:rPr>
              <a:t>Map </a:t>
            </a:r>
            <a:r>
              <a:rPr lang="en-IN" b="1" dirty="0" err="1">
                <a:solidFill>
                  <a:srgbClr val="990033"/>
                </a:solidFill>
              </a:rPr>
              <a:t>Collections.synchronizedMap</a:t>
            </a:r>
            <a:r>
              <a:rPr lang="en-IN" b="1" dirty="0">
                <a:solidFill>
                  <a:srgbClr val="990033"/>
                </a:solidFill>
              </a:rPr>
              <a:t>(Map)</a:t>
            </a:r>
          </a:p>
        </p:txBody>
      </p:sp>
      <p:sp>
        <p:nvSpPr>
          <p:cNvPr id="12"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624144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64A015EF-7E3B-381C-FE10-1BD330B5E82F}"/>
              </a:ext>
            </a:extLst>
          </p:cNvPr>
          <p:cNvSpPr txBox="1"/>
          <p:nvPr/>
        </p:nvSpPr>
        <p:spPr>
          <a:xfrm>
            <a:off x="389965" y="1094877"/>
            <a:ext cx="8831580" cy="4524315"/>
          </a:xfrm>
          <a:prstGeom prst="rect">
            <a:avLst/>
          </a:prstGeom>
          <a:noFill/>
        </p:spPr>
        <p:txBody>
          <a:bodyPr wrap="square">
            <a:spAutoFit/>
          </a:bodyPr>
          <a:lstStyle/>
          <a:p>
            <a:pPr marL="285750" indent="-285750" algn="just">
              <a:buFont typeface="Wingdings" panose="05000000000000000000" pitchFamily="2" charset="2"/>
              <a:buChar char="v"/>
            </a:pPr>
            <a:r>
              <a:rPr lang="en-US" b="1" dirty="0">
                <a:solidFill>
                  <a:srgbClr val="990033"/>
                </a:solidFill>
              </a:rPr>
              <a:t>Classes given in JDK 1.2 java.util package classes are called as Collection Framework classes. </a:t>
            </a:r>
          </a:p>
          <a:p>
            <a:pPr marL="285750" indent="-285750" algn="just">
              <a:buFont typeface="Wingdings" panose="05000000000000000000" pitchFamily="2" charset="2"/>
              <a:buChar char="v"/>
            </a:pPr>
            <a:r>
              <a:rPr lang="en-US" b="1" dirty="0">
                <a:solidFill>
                  <a:srgbClr val="990033"/>
                </a:solidFill>
              </a:rPr>
              <a:t>Classes exist in java.util package before JDK 1.2 are called as Legacy/Old classes.</a:t>
            </a:r>
          </a:p>
          <a:p>
            <a:pPr algn="just"/>
            <a:endParaRPr lang="en-US" b="1" dirty="0">
              <a:solidFill>
                <a:srgbClr val="990033"/>
              </a:solidFill>
            </a:endParaRPr>
          </a:p>
          <a:p>
            <a:pPr algn="just"/>
            <a:r>
              <a:rPr lang="en-US" b="1" dirty="0">
                <a:solidFill>
                  <a:srgbClr val="990033"/>
                </a:solidFill>
              </a:rPr>
              <a:t>The main motto behind developing Collection framework is in legacy classes (Vector, Hashtable, Properties) the methods are declared as synchronized. Because the legacy class methods are declared as synch, in multithreaded environment developer cannot remove synch of the methods due to which performance impact. In multi-threaded environment the legacy class run like a thread-safe.</a:t>
            </a:r>
          </a:p>
          <a:p>
            <a:pPr algn="just"/>
            <a:endParaRPr lang="en-US" b="1" dirty="0">
              <a:solidFill>
                <a:srgbClr val="990033"/>
              </a:solidFill>
            </a:endParaRPr>
          </a:p>
          <a:p>
            <a:pPr algn="just"/>
            <a:r>
              <a:rPr lang="en-US" b="1" dirty="0">
                <a:solidFill>
                  <a:srgbClr val="990033"/>
                </a:solidFill>
              </a:rPr>
              <a:t>Wherever legacy classes are running in a multi-threaded environment where performance is priority more than consistency of object’s state there we can use Collection API.</a:t>
            </a:r>
          </a:p>
          <a:p>
            <a:pPr algn="just"/>
            <a:endParaRPr lang="en-US" b="1" dirty="0">
              <a:solidFill>
                <a:srgbClr val="990033"/>
              </a:solidFill>
            </a:endParaRPr>
          </a:p>
          <a:p>
            <a:pPr algn="just"/>
            <a:r>
              <a:rPr lang="en-US" b="1" dirty="0">
                <a:solidFill>
                  <a:srgbClr val="990033"/>
                </a:solidFill>
              </a:rPr>
              <a:t>All Collection interfaces and classes - methods are not synchronized by default. If we want the Collection objects to be synchronized we can synch in multi-threaded environment using</a:t>
            </a:r>
            <a:endParaRPr lang="en-IN" b="1" dirty="0">
              <a:solidFill>
                <a:srgbClr val="990033"/>
              </a:solidFill>
            </a:endParaRPr>
          </a:p>
        </p:txBody>
      </p:sp>
      <p:sp>
        <p:nvSpPr>
          <p:cNvPr id="11" name="TextBox 10">
            <a:extLst>
              <a:ext uri="{FF2B5EF4-FFF2-40B4-BE49-F238E27FC236}">
                <a16:creationId xmlns:a16="http://schemas.microsoft.com/office/drawing/2014/main" xmlns="" id="{6230E2A7-C3CC-35F1-3FDF-A30BA3D390BE}"/>
              </a:ext>
            </a:extLst>
          </p:cNvPr>
          <p:cNvSpPr txBox="1"/>
          <p:nvPr/>
        </p:nvSpPr>
        <p:spPr>
          <a:xfrm>
            <a:off x="907948" y="5444528"/>
            <a:ext cx="6125134" cy="1200329"/>
          </a:xfrm>
          <a:prstGeom prst="rect">
            <a:avLst/>
          </a:prstGeom>
          <a:noFill/>
        </p:spPr>
        <p:txBody>
          <a:bodyPr wrap="square">
            <a:spAutoFit/>
          </a:bodyPr>
          <a:lstStyle/>
          <a:p>
            <a:pPr marL="285750" indent="-285750" algn="just">
              <a:buFont typeface="Wingdings" panose="05000000000000000000" pitchFamily="2" charset="2"/>
              <a:buChar char="ü"/>
            </a:pPr>
            <a:r>
              <a:rPr lang="en-IN" b="1" dirty="0">
                <a:solidFill>
                  <a:srgbClr val="990033"/>
                </a:solidFill>
              </a:rPr>
              <a:t>Collection </a:t>
            </a:r>
            <a:r>
              <a:rPr lang="en-IN" b="1" dirty="0" err="1">
                <a:solidFill>
                  <a:srgbClr val="990033"/>
                </a:solidFill>
              </a:rPr>
              <a:t>Collections.synchronizedCollection</a:t>
            </a:r>
            <a:r>
              <a:rPr lang="en-IN" b="1" dirty="0">
                <a:solidFill>
                  <a:srgbClr val="990033"/>
                </a:solidFill>
              </a:rPr>
              <a:t>(Collection)</a:t>
            </a:r>
          </a:p>
          <a:p>
            <a:pPr marL="285750" indent="-285750" algn="just">
              <a:buFont typeface="Wingdings" panose="05000000000000000000" pitchFamily="2" charset="2"/>
              <a:buChar char="ü"/>
            </a:pPr>
            <a:r>
              <a:rPr lang="en-IN" b="1" dirty="0">
                <a:solidFill>
                  <a:srgbClr val="990033"/>
                </a:solidFill>
              </a:rPr>
              <a:t>List </a:t>
            </a:r>
            <a:r>
              <a:rPr lang="en-IN" b="1" dirty="0" err="1">
                <a:solidFill>
                  <a:srgbClr val="990033"/>
                </a:solidFill>
              </a:rPr>
              <a:t>Collections.synchronizedList</a:t>
            </a:r>
            <a:r>
              <a:rPr lang="en-IN" b="1" dirty="0">
                <a:solidFill>
                  <a:srgbClr val="990033"/>
                </a:solidFill>
              </a:rPr>
              <a:t>(List)</a:t>
            </a:r>
          </a:p>
          <a:p>
            <a:pPr marL="285750" indent="-285750" algn="just">
              <a:buFont typeface="Wingdings" panose="05000000000000000000" pitchFamily="2" charset="2"/>
              <a:buChar char="ü"/>
            </a:pPr>
            <a:r>
              <a:rPr lang="en-IN" b="1" dirty="0">
                <a:solidFill>
                  <a:srgbClr val="990033"/>
                </a:solidFill>
              </a:rPr>
              <a:t>Set </a:t>
            </a:r>
            <a:r>
              <a:rPr lang="en-IN" b="1" dirty="0" err="1">
                <a:solidFill>
                  <a:srgbClr val="990033"/>
                </a:solidFill>
              </a:rPr>
              <a:t>Collections.synchronizedSet</a:t>
            </a:r>
            <a:r>
              <a:rPr lang="en-IN" b="1" dirty="0">
                <a:solidFill>
                  <a:srgbClr val="990033"/>
                </a:solidFill>
              </a:rPr>
              <a:t>(Set)</a:t>
            </a:r>
          </a:p>
          <a:p>
            <a:pPr marL="285750" indent="-285750" algn="just">
              <a:buFont typeface="Wingdings" panose="05000000000000000000" pitchFamily="2" charset="2"/>
              <a:buChar char="ü"/>
            </a:pPr>
            <a:r>
              <a:rPr lang="en-IN" b="1" dirty="0">
                <a:solidFill>
                  <a:srgbClr val="990033"/>
                </a:solidFill>
              </a:rPr>
              <a:t>Map </a:t>
            </a:r>
            <a:r>
              <a:rPr lang="en-IN" b="1" dirty="0" err="1">
                <a:solidFill>
                  <a:srgbClr val="990033"/>
                </a:solidFill>
              </a:rPr>
              <a:t>Collections.synchronizedMap</a:t>
            </a:r>
            <a:r>
              <a:rPr lang="en-IN" b="1" dirty="0">
                <a:solidFill>
                  <a:srgbClr val="990033"/>
                </a:solidFill>
              </a:rPr>
              <a:t>(Map)</a:t>
            </a:r>
          </a:p>
        </p:txBody>
      </p:sp>
      <p:sp>
        <p:nvSpPr>
          <p:cNvPr id="12"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313579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pic>
        <p:nvPicPr>
          <p:cNvPr id="6" name="Picture 5">
            <a:extLst>
              <a:ext uri="{FF2B5EF4-FFF2-40B4-BE49-F238E27FC236}">
                <a16:creationId xmlns:a16="http://schemas.microsoft.com/office/drawing/2014/main" xmlns="" id="{E3ABEC04-8547-84D9-4BB8-7B015FBD8D0C}"/>
              </a:ext>
            </a:extLst>
          </p:cNvPr>
          <p:cNvPicPr>
            <a:picLocks noChangeAspect="1"/>
          </p:cNvPicPr>
          <p:nvPr/>
        </p:nvPicPr>
        <p:blipFill rotWithShape="1">
          <a:blip r:embed="rId4"/>
          <a:srcRect l="25147" t="28618" r="30956" b="26262"/>
          <a:stretch/>
        </p:blipFill>
        <p:spPr>
          <a:xfrm>
            <a:off x="-2401" y="883920"/>
            <a:ext cx="6201495" cy="3583773"/>
          </a:xfrm>
          <a:prstGeom prst="rect">
            <a:avLst/>
          </a:prstGeom>
        </p:spPr>
      </p:pic>
      <p:pic>
        <p:nvPicPr>
          <p:cNvPr id="12" name="Picture 11">
            <a:extLst>
              <a:ext uri="{FF2B5EF4-FFF2-40B4-BE49-F238E27FC236}">
                <a16:creationId xmlns:a16="http://schemas.microsoft.com/office/drawing/2014/main" xmlns="" id="{367AB095-7ADB-E3F4-25DF-8C8CE04EBDCD}"/>
              </a:ext>
            </a:extLst>
          </p:cNvPr>
          <p:cNvPicPr>
            <a:picLocks noChangeAspect="1"/>
          </p:cNvPicPr>
          <p:nvPr/>
        </p:nvPicPr>
        <p:blipFill rotWithShape="1">
          <a:blip r:embed="rId5"/>
          <a:srcRect l="21397" t="37249" r="25331" b="35372"/>
          <a:stretch/>
        </p:blipFill>
        <p:spPr>
          <a:xfrm>
            <a:off x="2248874" y="4364290"/>
            <a:ext cx="6727744" cy="1944000"/>
          </a:xfrm>
          <a:prstGeom prst="rect">
            <a:avLst/>
          </a:prstGeom>
        </p:spPr>
      </p:pic>
      <p:sp>
        <p:nvSpPr>
          <p:cNvPr id="13" name="Rectangle: Top Corners Rounded 12">
            <a:extLst>
              <a:ext uri="{FF2B5EF4-FFF2-40B4-BE49-F238E27FC236}">
                <a16:creationId xmlns:a16="http://schemas.microsoft.com/office/drawing/2014/main" xmlns="" id="{AF7AE393-2100-4A63-1970-1F470E7929F5}"/>
              </a:ext>
            </a:extLst>
          </p:cNvPr>
          <p:cNvSpPr/>
          <p:nvPr/>
        </p:nvSpPr>
        <p:spPr>
          <a:xfrm>
            <a:off x="7511597" y="1866896"/>
            <a:ext cx="3851166" cy="876300"/>
          </a:xfrm>
          <a:prstGeom prst="round2Same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2400" b="1" dirty="0"/>
              <a:t>Collection classes hierarchy diagram</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457092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3" name="Rectangle: Top Corners Rounded 12">
            <a:extLst>
              <a:ext uri="{FF2B5EF4-FFF2-40B4-BE49-F238E27FC236}">
                <a16:creationId xmlns:a16="http://schemas.microsoft.com/office/drawing/2014/main" xmlns="" id="{AF7AE393-2100-4A63-1970-1F470E7929F5}"/>
              </a:ext>
            </a:extLst>
          </p:cNvPr>
          <p:cNvSpPr/>
          <p:nvPr/>
        </p:nvSpPr>
        <p:spPr>
          <a:xfrm>
            <a:off x="7511597" y="1866896"/>
            <a:ext cx="3851166" cy="876300"/>
          </a:xfrm>
          <a:prstGeom prst="round2Same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2400" b="1" dirty="0"/>
              <a:t>Collection classes hierarchy diagram</a:t>
            </a:r>
          </a:p>
        </p:txBody>
      </p:sp>
      <p:sp>
        <p:nvSpPr>
          <p:cNvPr id="2" name="TextBox 1">
            <a:extLst>
              <a:ext uri="{FF2B5EF4-FFF2-40B4-BE49-F238E27FC236}">
                <a16:creationId xmlns:a16="http://schemas.microsoft.com/office/drawing/2014/main" xmlns="" id="{4050275C-7759-AD60-F869-9BC51FBFF135}"/>
              </a:ext>
            </a:extLst>
          </p:cNvPr>
          <p:cNvSpPr txBox="1"/>
          <p:nvPr/>
        </p:nvSpPr>
        <p:spPr>
          <a:xfrm>
            <a:off x="215153" y="1492624"/>
            <a:ext cx="6543138" cy="4401205"/>
          </a:xfrm>
          <a:prstGeom prst="rect">
            <a:avLst/>
          </a:prstGeom>
          <a:noFill/>
        </p:spPr>
        <p:txBody>
          <a:bodyPr wrap="none" rtlCol="0">
            <a:spAutoFit/>
          </a:bodyPr>
          <a:lstStyle/>
          <a:p>
            <a:r>
              <a:rPr lang="en-IN" sz="2800" dirty="0" err="1"/>
              <a:t>ArrayList</a:t>
            </a:r>
            <a:r>
              <a:rPr lang="en-IN" sz="2800" dirty="0"/>
              <a:t>: Ordered, Allows duplication, slow</a:t>
            </a:r>
          </a:p>
          <a:p>
            <a:r>
              <a:rPr lang="en-IN" sz="2800" dirty="0"/>
              <a:t>LinkedList: Ordered, Allows duplication, fast</a:t>
            </a:r>
          </a:p>
          <a:p>
            <a:endParaRPr lang="en-IN" sz="2800" dirty="0"/>
          </a:p>
          <a:p>
            <a:r>
              <a:rPr lang="en-IN" sz="2800" dirty="0"/>
              <a:t>HashSet: Unique, Unordered</a:t>
            </a:r>
          </a:p>
          <a:p>
            <a:r>
              <a:rPr lang="en-IN" sz="2800" dirty="0"/>
              <a:t>LinkedHashSet: Unique, Given order</a:t>
            </a:r>
          </a:p>
          <a:p>
            <a:r>
              <a:rPr lang="en-IN" sz="2800" dirty="0"/>
              <a:t>TreeSet: Unique, Natural order</a:t>
            </a:r>
          </a:p>
          <a:p>
            <a:endParaRPr lang="en-IN" sz="2800" dirty="0"/>
          </a:p>
          <a:p>
            <a:r>
              <a:rPr lang="en-IN" sz="2800" dirty="0"/>
              <a:t>HashMap: Unique keys, Unordered</a:t>
            </a:r>
          </a:p>
          <a:p>
            <a:r>
              <a:rPr lang="en-IN" sz="2800" dirty="0" err="1"/>
              <a:t>LinkedHashMap</a:t>
            </a:r>
            <a:r>
              <a:rPr lang="en-IN" sz="2800" dirty="0"/>
              <a:t>: Unique keys, Given order</a:t>
            </a:r>
          </a:p>
          <a:p>
            <a:r>
              <a:rPr lang="en-IN" sz="2800" dirty="0" err="1"/>
              <a:t>TreeMap</a:t>
            </a:r>
            <a:r>
              <a:rPr lang="en-IN" sz="2800" dirty="0"/>
              <a:t>: Unique keys, Natural order</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907974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pic>
        <p:nvPicPr>
          <p:cNvPr id="8" name="Picture 7">
            <a:extLst>
              <a:ext uri="{FF2B5EF4-FFF2-40B4-BE49-F238E27FC236}">
                <a16:creationId xmlns:a16="http://schemas.microsoft.com/office/drawing/2014/main" xmlns="" id="{4DE9A858-53C2-3885-1C3B-BF4771746963}"/>
              </a:ext>
            </a:extLst>
          </p:cNvPr>
          <p:cNvPicPr>
            <a:picLocks noChangeAspect="1"/>
          </p:cNvPicPr>
          <p:nvPr/>
        </p:nvPicPr>
        <p:blipFill rotWithShape="1">
          <a:blip r:embed="rId4"/>
          <a:srcRect l="15331" t="10961" r="15184" b="10569"/>
          <a:stretch/>
        </p:blipFill>
        <p:spPr>
          <a:xfrm>
            <a:off x="282387" y="952516"/>
            <a:ext cx="9071999" cy="5760000"/>
          </a:xfrm>
          <a:prstGeom prst="rect">
            <a:avLst/>
          </a:prstGeom>
        </p:spPr>
      </p:pic>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4189115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graphicFrame>
        <p:nvGraphicFramePr>
          <p:cNvPr id="6" name="Table 10">
            <a:extLst>
              <a:ext uri="{FF2B5EF4-FFF2-40B4-BE49-F238E27FC236}">
                <a16:creationId xmlns:a16="http://schemas.microsoft.com/office/drawing/2014/main" xmlns="" id="{2244B28A-1A07-8E7E-4956-8C7B76451A7C}"/>
              </a:ext>
            </a:extLst>
          </p:cNvPr>
          <p:cNvGraphicFramePr>
            <a:graphicFrameLocks noGrp="1"/>
          </p:cNvGraphicFramePr>
          <p:nvPr>
            <p:extLst>
              <p:ext uri="{D42A27DB-BD31-4B8C-83A1-F6EECF244321}">
                <p14:modId xmlns:p14="http://schemas.microsoft.com/office/powerpoint/2010/main" val="802651029"/>
              </p:ext>
            </p:extLst>
          </p:nvPr>
        </p:nvGraphicFramePr>
        <p:xfrm>
          <a:off x="474375" y="1129784"/>
          <a:ext cx="8128000" cy="5486400"/>
        </p:xfrm>
        <a:graphic>
          <a:graphicData uri="http://schemas.openxmlformats.org/drawingml/2006/table">
            <a:tbl>
              <a:tblPr firstRow="1" bandRow="1">
                <a:tableStyleId>{BC89EF96-8CEA-46FF-86C4-4CE0E7609802}</a:tableStyleId>
              </a:tblPr>
              <a:tblGrid>
                <a:gridCol w="8128000">
                  <a:extLst>
                    <a:ext uri="{9D8B030D-6E8A-4147-A177-3AD203B41FA5}">
                      <a16:colId xmlns:a16="http://schemas.microsoft.com/office/drawing/2014/main" xmlns="" val="1601171244"/>
                    </a:ext>
                  </a:extLst>
                </a:gridCol>
              </a:tblGrid>
              <a:tr h="365719">
                <a:tc>
                  <a:txBody>
                    <a:bodyPr/>
                    <a:lstStyle/>
                    <a:p>
                      <a:pPr marL="342900" indent="-342900" algn="just">
                        <a:buFont typeface="+mj-lt"/>
                        <a:buAutoNum type="arabicPeriod"/>
                      </a:pPr>
                      <a:r>
                        <a:rPr lang="en-US" sz="1800" b="0" u="none" strike="noStrike" baseline="0" dirty="0"/>
                        <a:t>Legacy class methods are synch</a:t>
                      </a:r>
                    </a:p>
                    <a:p>
                      <a:pPr algn="just"/>
                      <a:r>
                        <a:rPr lang="en-US" sz="1800" b="0" u="none" strike="noStrike" baseline="0" dirty="0"/>
                        <a:t>Collection class methods are not synch. They can be made synch by calling List</a:t>
                      </a:r>
                    </a:p>
                    <a:p>
                      <a:pPr algn="just"/>
                      <a:r>
                        <a:rPr lang="en-IN" sz="1800" b="0" u="none" strike="noStrike" baseline="0" dirty="0" err="1"/>
                        <a:t>Collections.synchronizedList</a:t>
                      </a:r>
                      <a:r>
                        <a:rPr lang="en-IN" sz="1800" b="0" u="none" strike="noStrike" baseline="0" dirty="0"/>
                        <a:t>(List)</a:t>
                      </a:r>
                      <a:endParaRPr lang="en-IN" sz="1800" b="0" i="0" u="none" strike="noStrike" baseline="0" dirty="0">
                        <a:latin typeface="Helvetica" panose="020B0604020202020204" pitchFamily="34" charset="0"/>
                      </a:endParaRPr>
                    </a:p>
                  </a:txBody>
                  <a:tcPr/>
                </a:tc>
                <a:extLst>
                  <a:ext uri="{0D108BD9-81ED-4DB2-BD59-A6C34878D82A}">
                    <a16:rowId xmlns:a16="http://schemas.microsoft.com/office/drawing/2014/main" xmlns="" val="1415667476"/>
                  </a:ext>
                </a:extLst>
              </a:tr>
              <a:tr h="365719">
                <a:tc>
                  <a:txBody>
                    <a:bodyPr/>
                    <a:lstStyle/>
                    <a:p>
                      <a:pPr marL="342900" indent="-342900" algn="just">
                        <a:buFont typeface="+mj-lt"/>
                        <a:buAutoNum type="arabicPeriod" startAt="2"/>
                      </a:pPr>
                      <a:r>
                        <a:rPr lang="en-US" sz="1800" b="0" u="none" strike="noStrike" baseline="0" dirty="0"/>
                        <a:t>Legacy class don't allow null as a key or value</a:t>
                      </a:r>
                    </a:p>
                    <a:p>
                      <a:pPr algn="just"/>
                      <a:r>
                        <a:rPr lang="en-US" sz="1800" b="0" u="none" strike="noStrike" baseline="0" dirty="0"/>
                        <a:t>Whereas Collection allows null as both key and value</a:t>
                      </a:r>
                      <a:endParaRPr lang="en-US" sz="1800" b="0" i="0" u="none" strike="noStrike" baseline="0" dirty="0">
                        <a:latin typeface="Helvetica" panose="020B0604020202020204" pitchFamily="34" charset="0"/>
                      </a:endParaRPr>
                    </a:p>
                  </a:txBody>
                  <a:tcPr/>
                </a:tc>
                <a:extLst>
                  <a:ext uri="{0D108BD9-81ED-4DB2-BD59-A6C34878D82A}">
                    <a16:rowId xmlns:a16="http://schemas.microsoft.com/office/drawing/2014/main" xmlns="" val="425795815"/>
                  </a:ext>
                </a:extLst>
              </a:tr>
              <a:tr h="365719">
                <a:tc>
                  <a:txBody>
                    <a:bodyPr/>
                    <a:lstStyle/>
                    <a:p>
                      <a:pPr marL="342900" indent="-342900" algn="just">
                        <a:buFont typeface="+mj-lt"/>
                        <a:buAutoNum type="arabicPeriod" startAt="3"/>
                      </a:pPr>
                      <a:r>
                        <a:rPr lang="en-US" sz="1800" b="0" u="none" strike="noStrike" baseline="0" dirty="0"/>
                        <a:t>Legacy classes serialized form is not cross compatible with other language data structures</a:t>
                      </a:r>
                    </a:p>
                    <a:p>
                      <a:pPr algn="just"/>
                      <a:r>
                        <a:rPr lang="en-US" sz="1800" b="0" u="none" strike="noStrike" baseline="0" dirty="0"/>
                        <a:t>Collection classes object serialization are inter-operable with C++ STL (Standard Template </a:t>
                      </a:r>
                      <a:r>
                        <a:rPr lang="en-IN" sz="1800" b="0" u="none" strike="noStrike" baseline="0" dirty="0"/>
                        <a:t>Library)</a:t>
                      </a:r>
                      <a:endParaRPr lang="en-IN" sz="1800" b="0" i="0" u="none" strike="noStrike" baseline="0" dirty="0">
                        <a:latin typeface="Helvetica" panose="020B0604020202020204" pitchFamily="34" charset="0"/>
                      </a:endParaRPr>
                    </a:p>
                  </a:txBody>
                  <a:tcPr/>
                </a:tc>
                <a:extLst>
                  <a:ext uri="{0D108BD9-81ED-4DB2-BD59-A6C34878D82A}">
                    <a16:rowId xmlns:a16="http://schemas.microsoft.com/office/drawing/2014/main" xmlns="" val="1406125615"/>
                  </a:ext>
                </a:extLst>
              </a:tr>
              <a:tr h="365719">
                <a:tc>
                  <a:txBody>
                    <a:bodyPr/>
                    <a:lstStyle/>
                    <a:p>
                      <a:pPr marL="342900" indent="-342900" algn="just">
                        <a:buFont typeface="+mj-lt"/>
                        <a:buAutoNum type="arabicPeriod" startAt="4"/>
                      </a:pPr>
                      <a:r>
                        <a:rPr lang="en-US" sz="1800" b="0" u="none" strike="noStrike" baseline="0" dirty="0"/>
                        <a:t>Legacy class growth percentage/load-factor remain constant on all JVM</a:t>
                      </a:r>
                    </a:p>
                    <a:p>
                      <a:pPr algn="just"/>
                      <a:r>
                        <a:rPr lang="en-US" sz="1800" b="0" u="none" strike="noStrike" baseline="0" dirty="0"/>
                        <a:t>Collection load-factor varies from client to server VM.</a:t>
                      </a:r>
                      <a:endParaRPr lang="en-US" sz="1800" b="0" i="0" u="none" strike="noStrike" baseline="0" dirty="0">
                        <a:latin typeface="Helvetica" panose="020B0604020202020204" pitchFamily="34" charset="0"/>
                      </a:endParaRPr>
                    </a:p>
                  </a:txBody>
                  <a:tcPr/>
                </a:tc>
                <a:extLst>
                  <a:ext uri="{0D108BD9-81ED-4DB2-BD59-A6C34878D82A}">
                    <a16:rowId xmlns:a16="http://schemas.microsoft.com/office/drawing/2014/main" xmlns="" val="3137262302"/>
                  </a:ext>
                </a:extLst>
              </a:tr>
              <a:tr h="365719">
                <a:tc>
                  <a:txBody>
                    <a:bodyPr/>
                    <a:lstStyle/>
                    <a:p>
                      <a:pPr marL="342900" indent="-342900" algn="just">
                        <a:buFont typeface="+mj-lt"/>
                        <a:buAutoNum type="arabicPeriod" startAt="5"/>
                      </a:pPr>
                      <a:r>
                        <a:rPr lang="en-US" sz="1800" b="0" u="none" strike="noStrike" baseline="0" dirty="0"/>
                        <a:t>Client VM can be started (java -client </a:t>
                      </a:r>
                      <a:r>
                        <a:rPr lang="en-US" sz="1800" b="0" u="none" strike="noStrike" baseline="0" dirty="0" err="1"/>
                        <a:t>ClassName</a:t>
                      </a:r>
                      <a:r>
                        <a:rPr lang="en-US" sz="1800" b="0" u="none" strike="noStrike" baseline="0" dirty="0"/>
                        <a:t>)</a:t>
                      </a:r>
                    </a:p>
                    <a:p>
                      <a:pPr algn="just"/>
                      <a:r>
                        <a:rPr lang="en-US" sz="1800" b="0" u="none" strike="noStrike" baseline="0" dirty="0"/>
                        <a:t>Server VM can be started (java -server </a:t>
                      </a:r>
                      <a:r>
                        <a:rPr lang="en-US" sz="1800" b="0" u="none" strike="noStrike" baseline="0" dirty="0" err="1"/>
                        <a:t>ClassName</a:t>
                      </a:r>
                      <a:r>
                        <a:rPr lang="en-US" sz="1800" b="0" u="none" strike="noStrike" baseline="0" dirty="0"/>
                        <a:t>)</a:t>
                      </a:r>
                      <a:endParaRPr lang="en-US" sz="1800" b="0" i="0" u="none" strike="noStrike" baseline="0" dirty="0">
                        <a:latin typeface="Helvetica" panose="020B0604020202020204" pitchFamily="34" charset="0"/>
                      </a:endParaRPr>
                    </a:p>
                  </a:txBody>
                  <a:tcPr/>
                </a:tc>
                <a:extLst>
                  <a:ext uri="{0D108BD9-81ED-4DB2-BD59-A6C34878D82A}">
                    <a16:rowId xmlns:a16="http://schemas.microsoft.com/office/drawing/2014/main" xmlns="" val="2515628968"/>
                  </a:ext>
                </a:extLst>
              </a:tr>
              <a:tr h="365719">
                <a:tc>
                  <a:txBody>
                    <a:bodyPr/>
                    <a:lstStyle/>
                    <a:p>
                      <a:pPr marL="342900" indent="-342900" algn="just">
                        <a:buFont typeface="+mj-lt"/>
                        <a:buAutoNum type="arabicPeriod" startAt="6"/>
                      </a:pPr>
                      <a:r>
                        <a:rPr lang="en-US" sz="1800" b="0" u="none" strike="noStrike" baseline="0" dirty="0"/>
                        <a:t>Whenever we give Legacy class objects to other they are modifiable. Mutator objects.</a:t>
                      </a:r>
                    </a:p>
                    <a:p>
                      <a:pPr algn="just"/>
                      <a:r>
                        <a:rPr lang="en-US" sz="1800" b="0" u="none" strike="noStrike" baseline="0" dirty="0"/>
                        <a:t>Collection objects are also mutable by default, but we can make them immutable by passing them into utility methods. Collection objects can be made read-only.</a:t>
                      </a:r>
                    </a:p>
                    <a:p>
                      <a:pPr algn="just"/>
                      <a:r>
                        <a:rPr lang="en-IN" sz="1800" b="0" u="none" strike="noStrike" baseline="0" dirty="0"/>
                        <a:t>List </a:t>
                      </a:r>
                      <a:r>
                        <a:rPr lang="en-IN" sz="1800" b="0" u="none" strike="noStrike" baseline="0" dirty="0" err="1"/>
                        <a:t>Collections.unmodifiableList</a:t>
                      </a:r>
                      <a:r>
                        <a:rPr lang="en-IN" sz="1800" b="0" u="none" strike="noStrike" baseline="0" dirty="0"/>
                        <a:t>(list)</a:t>
                      </a:r>
                      <a:endParaRPr lang="en-IN" dirty="0"/>
                    </a:p>
                  </a:txBody>
                  <a:tcPr/>
                </a:tc>
                <a:extLst>
                  <a:ext uri="{0D108BD9-81ED-4DB2-BD59-A6C34878D82A}">
                    <a16:rowId xmlns:a16="http://schemas.microsoft.com/office/drawing/2014/main" xmlns="" val="4215406704"/>
                  </a:ext>
                </a:extLst>
              </a:tr>
            </a:tbl>
          </a:graphicData>
        </a:graphic>
      </p:graphicFrame>
      <p:sp>
        <p:nvSpPr>
          <p:cNvPr id="11" name="Rectangle: Top Corners Rounded 10">
            <a:extLst>
              <a:ext uri="{FF2B5EF4-FFF2-40B4-BE49-F238E27FC236}">
                <a16:creationId xmlns:a16="http://schemas.microsoft.com/office/drawing/2014/main" xmlns="" id="{9074E0DD-FDD3-FBA9-EADE-DF67CD5772B5}"/>
              </a:ext>
            </a:extLst>
          </p:cNvPr>
          <p:cNvSpPr/>
          <p:nvPr/>
        </p:nvSpPr>
        <p:spPr>
          <a:xfrm>
            <a:off x="8834718" y="1129783"/>
            <a:ext cx="2971800" cy="1021745"/>
          </a:xfrm>
          <a:prstGeom prst="round2Same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2000" b="1" dirty="0"/>
              <a:t>Legacy classes </a:t>
            </a:r>
          </a:p>
          <a:p>
            <a:pPr algn="ctr"/>
            <a:r>
              <a:rPr lang="en-IN" sz="2000" b="1" dirty="0"/>
              <a:t>Vs </a:t>
            </a:r>
          </a:p>
          <a:p>
            <a:pPr algn="ctr"/>
            <a:r>
              <a:rPr lang="en-IN" sz="2000" b="1" dirty="0"/>
              <a:t>Collection classes</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436039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EAD99D64-B3E0-EAE1-7B83-A70B491E1935}"/>
              </a:ext>
            </a:extLst>
          </p:cNvPr>
          <p:cNvSpPr txBox="1"/>
          <p:nvPr/>
        </p:nvSpPr>
        <p:spPr>
          <a:xfrm>
            <a:off x="642101" y="904650"/>
            <a:ext cx="6125134" cy="5632311"/>
          </a:xfrm>
          <a:prstGeom prst="rect">
            <a:avLst/>
          </a:prstGeom>
          <a:noFill/>
        </p:spPr>
        <p:txBody>
          <a:bodyPr wrap="square">
            <a:spAutoFit/>
          </a:bodyPr>
          <a:lstStyle/>
          <a:p>
            <a:r>
              <a:rPr lang="en-IN" b="1" dirty="0"/>
              <a:t>Collection without </a:t>
            </a:r>
            <a:r>
              <a:rPr lang="en-IN" b="1" u="sng" dirty="0"/>
              <a:t>Generic</a:t>
            </a:r>
            <a:r>
              <a:rPr lang="en-IN" b="1" dirty="0"/>
              <a:t> (meant for heterogenous objects):</a:t>
            </a:r>
            <a:endParaRPr lang="en-IN" dirty="0"/>
          </a:p>
          <a:p>
            <a:r>
              <a:rPr lang="en-IN" dirty="0"/>
              <a:t>Set s=new HashSet();</a:t>
            </a:r>
          </a:p>
          <a:p>
            <a:r>
              <a:rPr lang="en-IN" dirty="0" err="1"/>
              <a:t>s.add</a:t>
            </a:r>
            <a:r>
              <a:rPr lang="en-IN" dirty="0"/>
              <a:t>("Saud");</a:t>
            </a:r>
          </a:p>
          <a:p>
            <a:r>
              <a:rPr lang="en-IN" dirty="0" err="1"/>
              <a:t>s.add</a:t>
            </a:r>
            <a:r>
              <a:rPr lang="en-IN" dirty="0"/>
              <a:t>("Habib");</a:t>
            </a:r>
          </a:p>
          <a:p>
            <a:r>
              <a:rPr lang="en-IN" dirty="0"/>
              <a:t>Integer in=new Integer(10);</a:t>
            </a:r>
          </a:p>
          <a:p>
            <a:r>
              <a:rPr lang="en-IN" dirty="0" err="1"/>
              <a:t>s.add</a:t>
            </a:r>
            <a:r>
              <a:rPr lang="en-IN" dirty="0"/>
              <a:t>(in);</a:t>
            </a:r>
          </a:p>
          <a:p>
            <a:endParaRPr lang="en-IN" dirty="0"/>
          </a:p>
          <a:p>
            <a:r>
              <a:rPr lang="en-IN" dirty="0"/>
              <a:t>Iterator </a:t>
            </a:r>
            <a:r>
              <a:rPr lang="en-IN" dirty="0" err="1"/>
              <a:t>i</a:t>
            </a:r>
            <a:r>
              <a:rPr lang="en-IN" dirty="0"/>
              <a:t>=</a:t>
            </a:r>
            <a:r>
              <a:rPr lang="en-IN" dirty="0" err="1"/>
              <a:t>s.iterator</a:t>
            </a:r>
            <a:r>
              <a:rPr lang="en-IN" dirty="0"/>
              <a:t>();</a:t>
            </a:r>
          </a:p>
          <a:p>
            <a:r>
              <a:rPr lang="en-IN" dirty="0"/>
              <a:t>while(</a:t>
            </a:r>
            <a:r>
              <a:rPr lang="en-IN" dirty="0" err="1"/>
              <a:t>i.hasNext</a:t>
            </a:r>
            <a:r>
              <a:rPr lang="en-IN" dirty="0"/>
              <a:t>()) {</a:t>
            </a:r>
          </a:p>
          <a:p>
            <a:r>
              <a:rPr lang="en-IN" dirty="0"/>
              <a:t>	Object o=</a:t>
            </a:r>
            <a:r>
              <a:rPr lang="en-IN" dirty="0" err="1"/>
              <a:t>i.next</a:t>
            </a:r>
            <a:r>
              <a:rPr lang="en-IN" dirty="0"/>
              <a:t>();</a:t>
            </a:r>
          </a:p>
          <a:p>
            <a:r>
              <a:rPr lang="en-IN" dirty="0"/>
              <a:t>	if(o </a:t>
            </a:r>
            <a:r>
              <a:rPr lang="en-IN" dirty="0" err="1"/>
              <a:t>instanceof</a:t>
            </a:r>
            <a:r>
              <a:rPr lang="en-IN" dirty="0"/>
              <a:t> String) {</a:t>
            </a:r>
          </a:p>
          <a:p>
            <a:r>
              <a:rPr lang="en-IN" dirty="0"/>
              <a:t>		String str=(String)o;</a:t>
            </a:r>
          </a:p>
          <a:p>
            <a:r>
              <a:rPr lang="en-IN" dirty="0"/>
              <a:t>		System.out.println(str);</a:t>
            </a:r>
          </a:p>
          <a:p>
            <a:r>
              <a:rPr lang="en-IN" dirty="0"/>
              <a:t>	} else if(o </a:t>
            </a:r>
            <a:r>
              <a:rPr lang="en-IN" dirty="0" err="1"/>
              <a:t>instanceof</a:t>
            </a:r>
            <a:r>
              <a:rPr lang="en-IN" dirty="0"/>
              <a:t> Integer){</a:t>
            </a:r>
          </a:p>
          <a:p>
            <a:r>
              <a:rPr lang="en-IN" dirty="0"/>
              <a:t>		Integer in=(Integer)o;</a:t>
            </a:r>
          </a:p>
          <a:p>
            <a:r>
              <a:rPr lang="en-IN" dirty="0"/>
              <a:t>		System.out.println(</a:t>
            </a:r>
            <a:r>
              <a:rPr lang="en-IN" dirty="0" err="1"/>
              <a:t>in.intValue</a:t>
            </a:r>
            <a:r>
              <a:rPr lang="en-IN" dirty="0"/>
              <a:t>());</a:t>
            </a:r>
          </a:p>
          <a:p>
            <a:r>
              <a:rPr lang="en-IN" dirty="0"/>
              <a:t>	} else {</a:t>
            </a:r>
          </a:p>
          <a:p>
            <a:r>
              <a:rPr lang="en-IN" dirty="0"/>
              <a:t>		System.out.println(o);</a:t>
            </a:r>
          </a:p>
          <a:p>
            <a:r>
              <a:rPr lang="en-IN" dirty="0"/>
              <a:t>	}</a:t>
            </a:r>
          </a:p>
          <a:p>
            <a:r>
              <a:rPr lang="en-IN" dirty="0"/>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622086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2" name="TextBox 11">
            <a:extLst>
              <a:ext uri="{FF2B5EF4-FFF2-40B4-BE49-F238E27FC236}">
                <a16:creationId xmlns:a16="http://schemas.microsoft.com/office/drawing/2014/main" xmlns="" id="{31B3B46D-B19B-B07E-BEA6-145C54EF83B7}"/>
              </a:ext>
            </a:extLst>
          </p:cNvPr>
          <p:cNvSpPr txBox="1"/>
          <p:nvPr/>
        </p:nvSpPr>
        <p:spPr>
          <a:xfrm>
            <a:off x="1045506" y="949020"/>
            <a:ext cx="7439588" cy="4801314"/>
          </a:xfrm>
          <a:prstGeom prst="rect">
            <a:avLst/>
          </a:prstGeom>
          <a:noFill/>
        </p:spPr>
        <p:txBody>
          <a:bodyPr wrap="square">
            <a:spAutoFit/>
          </a:bodyPr>
          <a:lstStyle/>
          <a:p>
            <a:r>
              <a:rPr lang="en-IN" b="1" u="sng" dirty="0"/>
              <a:t>Collection with Generic (mean storing homogenous objects):</a:t>
            </a:r>
          </a:p>
          <a:p>
            <a:r>
              <a:rPr lang="en-IN" dirty="0"/>
              <a:t>Set&lt;String&gt; s=new HashSet&lt;String&gt;();</a:t>
            </a:r>
          </a:p>
          <a:p>
            <a:r>
              <a:rPr lang="en-IN" dirty="0" err="1"/>
              <a:t>s.add</a:t>
            </a:r>
            <a:r>
              <a:rPr lang="en-IN" dirty="0"/>
              <a:t>("Saud");</a:t>
            </a:r>
          </a:p>
          <a:p>
            <a:r>
              <a:rPr lang="en-IN" dirty="0" err="1"/>
              <a:t>s.add</a:t>
            </a:r>
            <a:r>
              <a:rPr lang="en-IN" dirty="0"/>
              <a:t>("Habib");</a:t>
            </a:r>
          </a:p>
          <a:p>
            <a:r>
              <a:rPr lang="en-IN" dirty="0"/>
              <a:t>// </a:t>
            </a:r>
            <a:r>
              <a:rPr lang="en-IN" dirty="0" err="1"/>
              <a:t>s.add</a:t>
            </a:r>
            <a:r>
              <a:rPr lang="en-IN" dirty="0"/>
              <a:t>(new Integer(10)); // compilation error saying Integer is not a String</a:t>
            </a:r>
          </a:p>
          <a:p>
            <a:endParaRPr lang="en-IN" dirty="0"/>
          </a:p>
          <a:p>
            <a:r>
              <a:rPr lang="en-IN" dirty="0"/>
              <a:t>// one way of iterating over collection</a:t>
            </a:r>
          </a:p>
          <a:p>
            <a:r>
              <a:rPr lang="en-IN" dirty="0"/>
              <a:t>Iterator&lt;String&gt; </a:t>
            </a:r>
            <a:r>
              <a:rPr lang="en-IN" dirty="0" err="1"/>
              <a:t>i</a:t>
            </a:r>
            <a:r>
              <a:rPr lang="en-IN" dirty="0"/>
              <a:t>=</a:t>
            </a:r>
            <a:r>
              <a:rPr lang="en-IN" dirty="0" err="1"/>
              <a:t>s.iterator</a:t>
            </a:r>
            <a:r>
              <a:rPr lang="en-IN" dirty="0"/>
              <a:t>();</a:t>
            </a:r>
          </a:p>
          <a:p>
            <a:r>
              <a:rPr lang="en-IN" dirty="0"/>
              <a:t>while(</a:t>
            </a:r>
            <a:r>
              <a:rPr lang="en-IN" dirty="0" err="1"/>
              <a:t>i.hasNext</a:t>
            </a:r>
            <a:r>
              <a:rPr lang="en-IN" dirty="0"/>
              <a:t>()) {</a:t>
            </a:r>
          </a:p>
          <a:p>
            <a:r>
              <a:rPr lang="en-IN" dirty="0"/>
              <a:t>	String str=</a:t>
            </a:r>
            <a:r>
              <a:rPr lang="en-IN" dirty="0" err="1"/>
              <a:t>i.next</a:t>
            </a:r>
            <a:r>
              <a:rPr lang="en-IN" dirty="0"/>
              <a:t>(); // typecasting is avoided; auto unboxing</a:t>
            </a:r>
          </a:p>
          <a:p>
            <a:r>
              <a:rPr lang="en-IN" dirty="0"/>
              <a:t>	System.out.println(str);</a:t>
            </a:r>
          </a:p>
          <a:p>
            <a:r>
              <a:rPr lang="en-IN" dirty="0"/>
              <a:t>}</a:t>
            </a:r>
          </a:p>
          <a:p>
            <a:endParaRPr lang="en-IN" dirty="0"/>
          </a:p>
          <a:p>
            <a:r>
              <a:rPr lang="en-IN" dirty="0"/>
              <a:t>// another way of iterating over collection</a:t>
            </a:r>
          </a:p>
          <a:p>
            <a:r>
              <a:rPr lang="en-IN" dirty="0"/>
              <a:t>for(String </a:t>
            </a:r>
            <a:r>
              <a:rPr lang="en-IN" dirty="0" err="1"/>
              <a:t>str:s</a:t>
            </a:r>
            <a:r>
              <a:rPr lang="en-IN" dirty="0"/>
              <a:t>) {</a:t>
            </a:r>
          </a:p>
          <a:p>
            <a:r>
              <a:rPr lang="en-IN" dirty="0"/>
              <a:t>	System.out.println(str);</a:t>
            </a:r>
          </a:p>
          <a:p>
            <a:r>
              <a:rPr lang="en-IN" dirty="0"/>
              <a:t>}</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743389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8CDB4E4E-CC2A-C7DB-16B2-3D3EF91CAAB4}"/>
              </a:ext>
            </a:extLst>
          </p:cNvPr>
          <p:cNvSpPr txBox="1"/>
          <p:nvPr/>
        </p:nvSpPr>
        <p:spPr>
          <a:xfrm>
            <a:off x="413497" y="900621"/>
            <a:ext cx="8972550" cy="5940088"/>
          </a:xfrm>
          <a:prstGeom prst="rect">
            <a:avLst/>
          </a:prstGeom>
          <a:noFill/>
        </p:spPr>
        <p:txBody>
          <a:bodyPr wrap="square">
            <a:spAutoFit/>
          </a:bodyPr>
          <a:lstStyle/>
          <a:p>
            <a:pPr algn="just"/>
            <a:r>
              <a:rPr lang="en-IN" sz="2000" b="1" u="sng" dirty="0"/>
              <a:t>interface Collection</a:t>
            </a:r>
          </a:p>
          <a:p>
            <a:pPr algn="just"/>
            <a:r>
              <a:rPr lang="en-IN" sz="2000" dirty="0"/>
              <a:t>Collection is the super interface to all the collection sub classes. Especially List and Set interface are derived from Collection interface. Map and its sub classes are part of Collection API but not sub classes of Collection interface.</a:t>
            </a:r>
          </a:p>
          <a:p>
            <a:pPr algn="just"/>
            <a:endParaRPr lang="en-IN" sz="2000" dirty="0"/>
          </a:p>
          <a:p>
            <a:pPr algn="just"/>
            <a:r>
              <a:rPr lang="en-IN" sz="2000" dirty="0"/>
              <a:t>The two immediate sub interfaces of Collection are List and Set</a:t>
            </a:r>
          </a:p>
          <a:p>
            <a:pPr algn="just"/>
            <a:endParaRPr lang="en-IN" sz="2000" dirty="0"/>
          </a:p>
          <a:p>
            <a:pPr algn="just"/>
            <a:r>
              <a:rPr lang="en-IN" sz="2000" dirty="0"/>
              <a:t>List is a ordered collection. List maintains the objects in given order. List is a incremental integer index based array. List allows duplications and accepts any number of null values.</a:t>
            </a:r>
          </a:p>
          <a:p>
            <a:pPr algn="just"/>
            <a:endParaRPr lang="en-IN" sz="2000" dirty="0"/>
          </a:p>
          <a:p>
            <a:pPr algn="just"/>
            <a:r>
              <a:rPr lang="en-IN" sz="2000" dirty="0"/>
              <a:t>Set is a unique collection. Set don't maintain given order. It stores object based on their object hashCode as a index for that HashSet uses HashMap to store object hashCode as key and given object as a value. Set prevents duplications and allows only one null value.</a:t>
            </a:r>
          </a:p>
          <a:p>
            <a:pPr algn="just"/>
            <a:endParaRPr lang="en-IN" sz="2000" dirty="0"/>
          </a:p>
          <a:p>
            <a:pPr algn="just"/>
            <a:r>
              <a:rPr lang="en-IN" sz="2000" dirty="0" err="1"/>
              <a:t>SortedSet</a:t>
            </a:r>
            <a:r>
              <a:rPr lang="en-IN" sz="2000" dirty="0"/>
              <a:t> is unique collection cum maintains natural order. The sub class is TreeSet. Objects which are adding into TreeSet must be implemented from Comparable interface.</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097654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887ADB77-C0BE-0A80-03BD-AC2DBB57E85F}"/>
              </a:ext>
            </a:extLst>
          </p:cNvPr>
          <p:cNvSpPr txBox="1"/>
          <p:nvPr/>
        </p:nvSpPr>
        <p:spPr>
          <a:xfrm>
            <a:off x="403412" y="1146649"/>
            <a:ext cx="8885368" cy="5355312"/>
          </a:xfrm>
          <a:prstGeom prst="rect">
            <a:avLst/>
          </a:prstGeom>
          <a:noFill/>
        </p:spPr>
        <p:txBody>
          <a:bodyPr wrap="square">
            <a:spAutoFit/>
          </a:bodyPr>
          <a:lstStyle/>
          <a:p>
            <a:pPr algn="just"/>
            <a:r>
              <a:rPr lang="en-IN" b="1" u="sng" dirty="0"/>
              <a:t>Methods of Collection interface are:</a:t>
            </a:r>
          </a:p>
          <a:p>
            <a:pPr algn="just"/>
            <a:r>
              <a:rPr lang="en-IN" dirty="0"/>
              <a:t>add(Object o)</a:t>
            </a:r>
          </a:p>
          <a:p>
            <a:pPr algn="just"/>
            <a:r>
              <a:rPr lang="en-IN" dirty="0" err="1"/>
              <a:t>addAll</a:t>
            </a:r>
            <a:r>
              <a:rPr lang="en-IN" dirty="0"/>
              <a:t>(Collection c)</a:t>
            </a:r>
          </a:p>
          <a:p>
            <a:pPr algn="just"/>
            <a:r>
              <a:rPr lang="en-IN" dirty="0"/>
              <a:t>Iterator iterator()</a:t>
            </a:r>
          </a:p>
          <a:p>
            <a:pPr algn="just"/>
            <a:r>
              <a:rPr lang="en-IN" dirty="0"/>
              <a:t>remove(Object o)</a:t>
            </a:r>
          </a:p>
          <a:p>
            <a:pPr algn="just"/>
            <a:r>
              <a:rPr lang="en-IN" dirty="0" err="1"/>
              <a:t>removeAll</a:t>
            </a:r>
            <a:r>
              <a:rPr lang="en-IN" dirty="0"/>
              <a:t>(Collection c)</a:t>
            </a:r>
          </a:p>
          <a:p>
            <a:pPr algn="just"/>
            <a:r>
              <a:rPr lang="en-IN" dirty="0" err="1"/>
              <a:t>retainAll</a:t>
            </a:r>
            <a:r>
              <a:rPr lang="en-IN" dirty="0"/>
              <a:t>(Collection c)</a:t>
            </a:r>
          </a:p>
          <a:p>
            <a:pPr algn="just"/>
            <a:r>
              <a:rPr lang="en-IN" dirty="0"/>
              <a:t>Object[] </a:t>
            </a:r>
            <a:r>
              <a:rPr lang="en-IN" dirty="0" err="1"/>
              <a:t>toArray</a:t>
            </a:r>
            <a:r>
              <a:rPr lang="en-IN" dirty="0"/>
              <a:t>()</a:t>
            </a:r>
          </a:p>
          <a:p>
            <a:pPr algn="just"/>
            <a:endParaRPr lang="en-IN" dirty="0"/>
          </a:p>
          <a:p>
            <a:pPr algn="just"/>
            <a:r>
              <a:rPr lang="en-IN" dirty="0"/>
              <a:t>int size()</a:t>
            </a:r>
          </a:p>
          <a:p>
            <a:pPr algn="just"/>
            <a:r>
              <a:rPr lang="en-IN" dirty="0"/>
              <a:t>clear()</a:t>
            </a:r>
          </a:p>
          <a:p>
            <a:pPr algn="just"/>
            <a:r>
              <a:rPr lang="en-IN" dirty="0" err="1"/>
              <a:t>isEmpty</a:t>
            </a:r>
            <a:r>
              <a:rPr lang="en-IN" dirty="0"/>
              <a:t>()</a:t>
            </a:r>
          </a:p>
          <a:p>
            <a:pPr algn="just"/>
            <a:r>
              <a:rPr lang="en-IN" dirty="0"/>
              <a:t>boolean contains(Object o)</a:t>
            </a:r>
          </a:p>
          <a:p>
            <a:pPr algn="just"/>
            <a:r>
              <a:rPr lang="en-IN" dirty="0"/>
              <a:t>boolean </a:t>
            </a:r>
            <a:r>
              <a:rPr lang="en-IN" dirty="0" err="1"/>
              <a:t>containsAll</a:t>
            </a:r>
            <a:r>
              <a:rPr lang="en-IN" dirty="0"/>
              <a:t>(Collection c)</a:t>
            </a:r>
          </a:p>
          <a:p>
            <a:pPr algn="just"/>
            <a:endParaRPr lang="en-IN" dirty="0"/>
          </a:p>
          <a:p>
            <a:pPr algn="just"/>
            <a:r>
              <a:rPr lang="en-IN" dirty="0"/>
              <a:t>Note: Object get(int index), remove(int index) are not given in Collection interface, why?</a:t>
            </a:r>
          </a:p>
          <a:p>
            <a:pPr algn="just"/>
            <a:r>
              <a:rPr lang="en-IN" dirty="0"/>
              <a:t>Because Collection interface methods are common to both List and Set classes, because </a:t>
            </a:r>
            <a:r>
              <a:rPr lang="en-IN" b="1" i="1" dirty="0"/>
              <a:t>Set</a:t>
            </a:r>
            <a:r>
              <a:rPr lang="en-IN" dirty="0"/>
              <a:t> classes don’t use integer index hence those index based methods are not given Collection interface.</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617076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BFFC9B23-DFFE-4281-A5D4-B161213BA7BF}"/>
              </a:ext>
            </a:extLst>
          </p:cNvPr>
          <p:cNvSpPr txBox="1"/>
          <p:nvPr/>
        </p:nvSpPr>
        <p:spPr>
          <a:xfrm>
            <a:off x="87690" y="1129784"/>
            <a:ext cx="8945655" cy="4678204"/>
          </a:xfrm>
          <a:prstGeom prst="rect">
            <a:avLst/>
          </a:prstGeom>
          <a:noFill/>
        </p:spPr>
        <p:txBody>
          <a:bodyPr wrap="square">
            <a:spAutoFit/>
          </a:bodyPr>
          <a:lstStyle/>
          <a:p>
            <a:r>
              <a:rPr lang="en-IN" sz="2000" b="1" u="sng" dirty="0"/>
              <a:t>Methods of "List" interface are:</a:t>
            </a:r>
          </a:p>
          <a:p>
            <a:pPr marL="342900" indent="-342900">
              <a:buFont typeface="Wingdings" panose="05000000000000000000" pitchFamily="2" charset="2"/>
              <a:buChar char="v"/>
            </a:pPr>
            <a:r>
              <a:rPr lang="en-IN" sz="2000" dirty="0"/>
              <a:t>add(int </a:t>
            </a:r>
            <a:r>
              <a:rPr lang="en-IN" sz="2000" dirty="0" err="1"/>
              <a:t>atIndex</a:t>
            </a:r>
            <a:r>
              <a:rPr lang="en-IN" sz="2000" dirty="0"/>
              <a:t>, Object </a:t>
            </a:r>
            <a:r>
              <a:rPr lang="en-IN" sz="2000" dirty="0" err="1"/>
              <a:t>newO</a:t>
            </a:r>
            <a:r>
              <a:rPr lang="en-IN" sz="2000" dirty="0"/>
              <a:t>)</a:t>
            </a:r>
          </a:p>
          <a:p>
            <a:pPr marL="342900" indent="-342900">
              <a:buFont typeface="Wingdings" panose="05000000000000000000" pitchFamily="2" charset="2"/>
              <a:buChar char="v"/>
            </a:pPr>
            <a:r>
              <a:rPr lang="en-IN" sz="2000" dirty="0" err="1"/>
              <a:t>addAll</a:t>
            </a:r>
            <a:r>
              <a:rPr lang="en-IN" sz="2000" dirty="0"/>
              <a:t>(int </a:t>
            </a:r>
            <a:r>
              <a:rPr lang="en-IN" sz="2000" dirty="0" err="1"/>
              <a:t>atIndex</a:t>
            </a:r>
            <a:r>
              <a:rPr lang="en-IN" sz="2000" dirty="0"/>
              <a:t>, Collection c)</a:t>
            </a:r>
          </a:p>
          <a:p>
            <a:pPr marL="342900" indent="-342900">
              <a:buFont typeface="Wingdings" panose="05000000000000000000" pitchFamily="2" charset="2"/>
              <a:buChar char="v"/>
            </a:pPr>
            <a:r>
              <a:rPr lang="en-IN" sz="2000" dirty="0"/>
              <a:t>Object get(int index)</a:t>
            </a:r>
          </a:p>
          <a:p>
            <a:pPr marL="342900" indent="-342900">
              <a:buFont typeface="Wingdings" panose="05000000000000000000" pitchFamily="2" charset="2"/>
              <a:buChar char="v"/>
            </a:pPr>
            <a:r>
              <a:rPr lang="en-IN" sz="2000" dirty="0"/>
              <a:t>int </a:t>
            </a:r>
            <a:r>
              <a:rPr lang="en-IN" sz="2000" dirty="0" err="1"/>
              <a:t>indexOf</a:t>
            </a:r>
            <a:r>
              <a:rPr lang="en-IN" sz="2000" dirty="0"/>
              <a:t>(Object o)</a:t>
            </a:r>
          </a:p>
          <a:p>
            <a:pPr marL="342900" indent="-342900">
              <a:buFont typeface="Wingdings" panose="05000000000000000000" pitchFamily="2" charset="2"/>
              <a:buChar char="v"/>
            </a:pPr>
            <a:r>
              <a:rPr lang="en-IN" sz="2000" dirty="0"/>
              <a:t>int </a:t>
            </a:r>
            <a:r>
              <a:rPr lang="en-IN" sz="2000" dirty="0" err="1"/>
              <a:t>lastIndex</a:t>
            </a:r>
            <a:r>
              <a:rPr lang="en-IN" sz="2000" dirty="0"/>
              <a:t>(Object o)</a:t>
            </a:r>
          </a:p>
          <a:p>
            <a:pPr marL="342900" indent="-342900">
              <a:buFont typeface="Wingdings" panose="05000000000000000000" pitchFamily="2" charset="2"/>
              <a:buChar char="v"/>
            </a:pPr>
            <a:r>
              <a:rPr lang="en-IN" sz="2000" dirty="0"/>
              <a:t>remove(int index)</a:t>
            </a:r>
          </a:p>
          <a:p>
            <a:pPr marL="342900" indent="-342900">
              <a:buFont typeface="Wingdings" panose="05000000000000000000" pitchFamily="2" charset="2"/>
              <a:buChar char="v"/>
            </a:pPr>
            <a:r>
              <a:rPr lang="en-IN" sz="2000" dirty="0"/>
              <a:t>remove(Object o)</a:t>
            </a:r>
          </a:p>
          <a:p>
            <a:pPr marL="342900" indent="-342900">
              <a:buFont typeface="Wingdings" panose="05000000000000000000" pitchFamily="2" charset="2"/>
              <a:buChar char="v"/>
            </a:pPr>
            <a:r>
              <a:rPr lang="en-IN" sz="2000" dirty="0"/>
              <a:t>set(int index, Object o)</a:t>
            </a:r>
          </a:p>
          <a:p>
            <a:pPr marL="342900" indent="-342900">
              <a:buFont typeface="Wingdings" panose="05000000000000000000" pitchFamily="2" charset="2"/>
              <a:buChar char="v"/>
            </a:pPr>
            <a:r>
              <a:rPr lang="en-IN" sz="2000" dirty="0"/>
              <a:t>List </a:t>
            </a:r>
            <a:r>
              <a:rPr lang="en-IN" sz="2000" dirty="0" err="1"/>
              <a:t>subList</a:t>
            </a:r>
            <a:r>
              <a:rPr lang="en-IN" sz="2000" dirty="0"/>
              <a:t>(int </a:t>
            </a:r>
            <a:r>
              <a:rPr lang="en-IN" sz="2000" dirty="0" err="1"/>
              <a:t>fromIndex</a:t>
            </a:r>
            <a:r>
              <a:rPr lang="en-IN" sz="2000" dirty="0"/>
              <a:t>, int </a:t>
            </a:r>
            <a:r>
              <a:rPr lang="en-IN" sz="2000" dirty="0" err="1"/>
              <a:t>toIndex</a:t>
            </a:r>
            <a:r>
              <a:rPr lang="en-IN" sz="2000" dirty="0"/>
              <a:t>)</a:t>
            </a:r>
          </a:p>
          <a:p>
            <a:pPr marL="342900" indent="-342900">
              <a:buFont typeface="Wingdings" panose="05000000000000000000" pitchFamily="2" charset="2"/>
              <a:buChar char="v"/>
            </a:pPr>
            <a:r>
              <a:rPr lang="en-IN" sz="2000" dirty="0"/>
              <a:t>ListIterator </a:t>
            </a:r>
            <a:r>
              <a:rPr lang="en-IN" sz="2000" dirty="0" err="1"/>
              <a:t>listIterator</a:t>
            </a:r>
            <a:r>
              <a:rPr lang="en-IN" sz="2000" dirty="0"/>
              <a:t>()</a:t>
            </a:r>
          </a:p>
          <a:p>
            <a:endParaRPr lang="en-IN" sz="2000" dirty="0"/>
          </a:p>
          <a:p>
            <a:r>
              <a:rPr lang="en-IN" sz="2000" dirty="0"/>
              <a:t>Methods of "Set" interface are:</a:t>
            </a:r>
          </a:p>
          <a:p>
            <a:r>
              <a:rPr lang="en-IN" sz="2000" dirty="0"/>
              <a:t>-------------------------------</a:t>
            </a:r>
          </a:p>
          <a:p>
            <a:r>
              <a:rPr lang="en-IN" sz="2000" dirty="0"/>
              <a:t>Set interface methods are same as Collection interface methods.</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626410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7F8A86F9-0757-B598-B22C-682D6E2EBC68}"/>
              </a:ext>
            </a:extLst>
          </p:cNvPr>
          <p:cNvSpPr txBox="1"/>
          <p:nvPr/>
        </p:nvSpPr>
        <p:spPr>
          <a:xfrm>
            <a:off x="228600" y="1107573"/>
            <a:ext cx="8797737" cy="4154984"/>
          </a:xfrm>
          <a:prstGeom prst="rect">
            <a:avLst/>
          </a:prstGeom>
          <a:noFill/>
        </p:spPr>
        <p:txBody>
          <a:bodyPr wrap="square">
            <a:spAutoFit/>
          </a:bodyPr>
          <a:lstStyle/>
          <a:p>
            <a:pPr algn="just"/>
            <a:r>
              <a:rPr lang="en-IN" sz="2400" b="1" u="sng" dirty="0"/>
              <a:t>Methods of </a:t>
            </a:r>
            <a:r>
              <a:rPr lang="en-IN" sz="2400" b="1" u="sng" dirty="0" err="1"/>
              <a:t>SortedSet</a:t>
            </a:r>
            <a:r>
              <a:rPr lang="en-IN" sz="2400" b="1" u="sng" dirty="0"/>
              <a:t> interface are:</a:t>
            </a:r>
          </a:p>
          <a:p>
            <a:pPr marL="342900" indent="-342900" algn="just">
              <a:buFont typeface="Wingdings" panose="05000000000000000000" pitchFamily="2" charset="2"/>
              <a:buChar char="v"/>
            </a:pPr>
            <a:r>
              <a:rPr lang="en-IN" sz="2400" dirty="0"/>
              <a:t>Comparator comparator()</a:t>
            </a:r>
          </a:p>
          <a:p>
            <a:pPr marL="342900" indent="-342900" algn="just">
              <a:buFont typeface="Wingdings" panose="05000000000000000000" pitchFamily="2" charset="2"/>
              <a:buChar char="v"/>
            </a:pPr>
            <a:r>
              <a:rPr lang="en-IN" sz="2400" dirty="0"/>
              <a:t>Object first()</a:t>
            </a:r>
          </a:p>
          <a:p>
            <a:pPr marL="342900" indent="-342900" algn="just">
              <a:buFont typeface="Wingdings" panose="05000000000000000000" pitchFamily="2" charset="2"/>
              <a:buChar char="v"/>
            </a:pPr>
            <a:r>
              <a:rPr lang="en-IN" sz="2400" dirty="0"/>
              <a:t>Object last()</a:t>
            </a:r>
          </a:p>
          <a:p>
            <a:pPr marL="342900" indent="-342900" algn="just">
              <a:buFont typeface="Wingdings" panose="05000000000000000000" pitchFamily="2" charset="2"/>
              <a:buChar char="v"/>
            </a:pPr>
            <a:r>
              <a:rPr lang="en-IN" sz="2400" dirty="0" err="1"/>
              <a:t>SortedSet</a:t>
            </a:r>
            <a:r>
              <a:rPr lang="en-IN" sz="2400" dirty="0"/>
              <a:t> </a:t>
            </a:r>
            <a:r>
              <a:rPr lang="en-IN" sz="2400" dirty="0" err="1"/>
              <a:t>headSet</a:t>
            </a:r>
            <a:r>
              <a:rPr lang="en-IN" sz="2400" dirty="0"/>
              <a:t>(Object o)</a:t>
            </a:r>
          </a:p>
          <a:p>
            <a:pPr marL="342900" indent="-342900" algn="just">
              <a:buFont typeface="Wingdings" panose="05000000000000000000" pitchFamily="2" charset="2"/>
              <a:buChar char="v"/>
            </a:pPr>
            <a:r>
              <a:rPr lang="en-IN" sz="2400" dirty="0" err="1"/>
              <a:t>SortedSet</a:t>
            </a:r>
            <a:r>
              <a:rPr lang="en-IN" sz="2400" dirty="0"/>
              <a:t> </a:t>
            </a:r>
            <a:r>
              <a:rPr lang="en-IN" sz="2400" dirty="0" err="1"/>
              <a:t>tailSet</a:t>
            </a:r>
            <a:r>
              <a:rPr lang="en-IN" sz="2400" dirty="0"/>
              <a:t>(Object o)</a:t>
            </a:r>
          </a:p>
          <a:p>
            <a:pPr marL="342900" indent="-342900" algn="just">
              <a:buFont typeface="Wingdings" panose="05000000000000000000" pitchFamily="2" charset="2"/>
              <a:buChar char="v"/>
            </a:pPr>
            <a:r>
              <a:rPr lang="en-IN" sz="2400" dirty="0" err="1"/>
              <a:t>SortedSet</a:t>
            </a:r>
            <a:r>
              <a:rPr lang="en-IN" sz="2400" dirty="0"/>
              <a:t> </a:t>
            </a:r>
            <a:r>
              <a:rPr lang="en-IN" sz="2400" dirty="0" err="1"/>
              <a:t>subSet</a:t>
            </a:r>
            <a:r>
              <a:rPr lang="en-IN" sz="2400" dirty="0"/>
              <a:t>(Object </a:t>
            </a:r>
            <a:r>
              <a:rPr lang="en-IN" sz="2400" dirty="0" err="1"/>
              <a:t>fromElement</a:t>
            </a:r>
            <a:r>
              <a:rPr lang="en-IN" sz="2400" dirty="0"/>
              <a:t>, Object </a:t>
            </a:r>
            <a:r>
              <a:rPr lang="en-IN" sz="2400" dirty="0" err="1"/>
              <a:t>toElement</a:t>
            </a:r>
            <a:r>
              <a:rPr lang="en-IN" sz="2400" dirty="0"/>
              <a:t>)</a:t>
            </a:r>
          </a:p>
          <a:p>
            <a:pPr algn="just"/>
            <a:endParaRPr lang="en-IN" sz="2400" dirty="0"/>
          </a:p>
          <a:p>
            <a:pPr algn="just"/>
            <a:r>
              <a:rPr lang="en-IN" sz="2400" b="1" u="sng" dirty="0" err="1"/>
              <a:t>AbstractList</a:t>
            </a:r>
            <a:r>
              <a:rPr lang="en-IN" sz="2400" b="1" u="sng" dirty="0"/>
              <a:t>:</a:t>
            </a:r>
          </a:p>
          <a:p>
            <a:pPr algn="just"/>
            <a:r>
              <a:rPr lang="en-IN" sz="2400" dirty="0"/>
              <a:t>Provided generic implementation to all the List interface methods except to get() method.</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783675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57DF0818-2877-451E-7B8A-E3747B2E2C10}"/>
              </a:ext>
            </a:extLst>
          </p:cNvPr>
          <p:cNvSpPr txBox="1"/>
          <p:nvPr/>
        </p:nvSpPr>
        <p:spPr>
          <a:xfrm>
            <a:off x="295835" y="1380636"/>
            <a:ext cx="8851526" cy="4401205"/>
          </a:xfrm>
          <a:prstGeom prst="rect">
            <a:avLst/>
          </a:prstGeom>
          <a:noFill/>
        </p:spPr>
        <p:txBody>
          <a:bodyPr wrap="square">
            <a:spAutoFit/>
          </a:bodyPr>
          <a:lstStyle/>
          <a:p>
            <a:pPr algn="just"/>
            <a:r>
              <a:rPr lang="en-IN" sz="2000" b="1" u="sng" dirty="0" err="1"/>
              <a:t>ArrayList</a:t>
            </a:r>
            <a:endParaRPr lang="en-IN" sz="2000" b="1" u="sng" dirty="0"/>
          </a:p>
          <a:p>
            <a:pPr algn="just"/>
            <a:r>
              <a:rPr lang="en-IN" sz="2000" dirty="0"/>
              <a:t>public class </a:t>
            </a:r>
            <a:r>
              <a:rPr lang="en-IN" sz="2000" dirty="0" err="1"/>
              <a:t>ArrayList</a:t>
            </a:r>
            <a:r>
              <a:rPr lang="en-IN" sz="2000" dirty="0"/>
              <a:t> extends </a:t>
            </a:r>
            <a:r>
              <a:rPr lang="en-IN" sz="2000" dirty="0" err="1"/>
              <a:t>AbstractList</a:t>
            </a:r>
            <a:endParaRPr lang="en-IN" sz="2000" dirty="0"/>
          </a:p>
          <a:p>
            <a:pPr algn="just"/>
            <a:r>
              <a:rPr lang="en-IN" sz="2000" dirty="0"/>
              <a:t>  implements Cloneable, </a:t>
            </a:r>
            <a:r>
              <a:rPr lang="en-IN" sz="2000" dirty="0" err="1"/>
              <a:t>RandomAccess</a:t>
            </a:r>
            <a:r>
              <a:rPr lang="en-IN" sz="2000" dirty="0"/>
              <a:t>, Serializable</a:t>
            </a:r>
          </a:p>
          <a:p>
            <a:pPr algn="just"/>
            <a:endParaRPr lang="en-IN" sz="2000" dirty="0"/>
          </a:p>
          <a:p>
            <a:pPr algn="just"/>
            <a:r>
              <a:rPr lang="en-IN" sz="2000" b="1" dirty="0"/>
              <a:t>Having 3 constructors </a:t>
            </a:r>
          </a:p>
          <a:p>
            <a:pPr algn="just"/>
            <a:r>
              <a:rPr lang="en-IN" sz="2000" dirty="0" err="1"/>
              <a:t>ArrayList</a:t>
            </a:r>
            <a:r>
              <a:rPr lang="en-IN" sz="2000" dirty="0"/>
              <a:t>()</a:t>
            </a:r>
          </a:p>
          <a:p>
            <a:pPr algn="just"/>
            <a:r>
              <a:rPr lang="en-IN" sz="2000" dirty="0" err="1"/>
              <a:t>ArrayList</a:t>
            </a:r>
            <a:r>
              <a:rPr lang="en-IN" sz="2000" dirty="0"/>
              <a:t>(Collection c)</a:t>
            </a:r>
          </a:p>
          <a:p>
            <a:pPr algn="just"/>
            <a:r>
              <a:rPr lang="en-IN" sz="2000" dirty="0" err="1"/>
              <a:t>ArrayList</a:t>
            </a:r>
            <a:r>
              <a:rPr lang="en-IN" sz="2000" dirty="0"/>
              <a:t>(int </a:t>
            </a:r>
            <a:r>
              <a:rPr lang="en-IN" sz="2000" dirty="0" err="1"/>
              <a:t>initialCapacity</a:t>
            </a:r>
            <a:r>
              <a:rPr lang="en-IN" sz="2000" dirty="0"/>
              <a:t>)</a:t>
            </a:r>
          </a:p>
          <a:p>
            <a:pPr algn="just"/>
            <a:endParaRPr lang="en-IN" sz="2000" dirty="0"/>
          </a:p>
          <a:p>
            <a:pPr algn="just"/>
            <a:r>
              <a:rPr lang="en-IN" sz="2000" b="1" dirty="0"/>
              <a:t>Additional methods of </a:t>
            </a:r>
            <a:r>
              <a:rPr lang="en-IN" sz="2000" b="1" dirty="0" err="1"/>
              <a:t>ArrayList</a:t>
            </a:r>
            <a:r>
              <a:rPr lang="en-IN" sz="2000" b="1" dirty="0"/>
              <a:t> class are:</a:t>
            </a:r>
          </a:p>
          <a:p>
            <a:pPr algn="just"/>
            <a:r>
              <a:rPr lang="en-IN" sz="2000" dirty="0"/>
              <a:t>Object clone()</a:t>
            </a:r>
          </a:p>
          <a:p>
            <a:pPr algn="just"/>
            <a:r>
              <a:rPr lang="en-IN" sz="2000" dirty="0" err="1"/>
              <a:t>ensureCapacity</a:t>
            </a:r>
            <a:r>
              <a:rPr lang="en-IN" sz="2000" dirty="0"/>
              <a:t>(int </a:t>
            </a:r>
            <a:r>
              <a:rPr lang="en-IN" sz="2000" dirty="0" err="1"/>
              <a:t>expectedCapacity</a:t>
            </a:r>
            <a:r>
              <a:rPr lang="en-IN" sz="2000" dirty="0"/>
              <a:t>)</a:t>
            </a:r>
          </a:p>
          <a:p>
            <a:pPr algn="just"/>
            <a:r>
              <a:rPr lang="en-IN" sz="2000" dirty="0"/>
              <a:t>int size()</a:t>
            </a:r>
          </a:p>
          <a:p>
            <a:pPr algn="just"/>
            <a:r>
              <a:rPr lang="en-IN" sz="2000" dirty="0" err="1"/>
              <a:t>trimToSize</a:t>
            </a:r>
            <a:r>
              <a:rPr lang="en-IN" sz="2000" dirty="0"/>
              <a:t>()</a:t>
            </a:r>
          </a:p>
        </p:txBody>
      </p:sp>
      <p:sp>
        <p:nvSpPr>
          <p:cNvPr id="11" name="Footer Placeholder 6">
            <a:extLst>
              <a:ext uri="{FF2B5EF4-FFF2-40B4-BE49-F238E27FC236}">
                <a16:creationId xmlns:a16="http://schemas.microsoft.com/office/drawing/2014/main" xmlns="" id="{91104A4B-9DF2-5A7B-6B22-957240982562}"/>
              </a:ext>
            </a:extLst>
          </p:cNvPr>
          <p:cNvSpPr txBox="1">
            <a:spLocks/>
          </p:cNvSpPr>
          <p:nvPr/>
        </p:nvSpPr>
        <p:spPr>
          <a:xfrm>
            <a:off x="4191000" y="64735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smtClean="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0446290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F99BAE0C-DE46-AA93-5A01-22379B63745D}"/>
              </a:ext>
            </a:extLst>
          </p:cNvPr>
          <p:cNvSpPr txBox="1"/>
          <p:nvPr/>
        </p:nvSpPr>
        <p:spPr>
          <a:xfrm>
            <a:off x="396913" y="1129784"/>
            <a:ext cx="8652951" cy="4708981"/>
          </a:xfrm>
          <a:prstGeom prst="rect">
            <a:avLst/>
          </a:prstGeom>
          <a:noFill/>
        </p:spPr>
        <p:txBody>
          <a:bodyPr wrap="square">
            <a:spAutoFit/>
          </a:bodyPr>
          <a:lstStyle/>
          <a:p>
            <a:pPr algn="just"/>
            <a:r>
              <a:rPr lang="en-IN" sz="2000" b="1" u="sng" dirty="0" err="1"/>
              <a:t>AbstractSet</a:t>
            </a:r>
            <a:endParaRPr lang="en-IN" sz="2000" b="1" u="sng" dirty="0"/>
          </a:p>
          <a:p>
            <a:pPr algn="just"/>
            <a:r>
              <a:rPr lang="en-IN" sz="2000" dirty="0"/>
              <a:t>Contains one protected no parameter constructor</a:t>
            </a:r>
          </a:p>
          <a:p>
            <a:pPr algn="just"/>
            <a:r>
              <a:rPr lang="en-IN" sz="2000" dirty="0"/>
              <a:t>equals(), hashCode() and </a:t>
            </a:r>
            <a:r>
              <a:rPr lang="en-IN" sz="2000" dirty="0" err="1"/>
              <a:t>removeAll</a:t>
            </a:r>
            <a:r>
              <a:rPr lang="en-IN" sz="2000" dirty="0"/>
              <a:t>(Collection c) methods are implemented. </a:t>
            </a:r>
          </a:p>
          <a:p>
            <a:pPr algn="just"/>
            <a:r>
              <a:rPr lang="en-IN" sz="2000" dirty="0"/>
              <a:t>No default implementation to Collection and Set interface methods are provided.</a:t>
            </a:r>
          </a:p>
          <a:p>
            <a:pPr algn="just"/>
            <a:endParaRPr lang="en-IN" sz="2000" dirty="0"/>
          </a:p>
          <a:p>
            <a:pPr algn="just"/>
            <a:r>
              <a:rPr lang="en-US" sz="2000" b="1" u="sng" dirty="0"/>
              <a:t>HashSet</a:t>
            </a:r>
          </a:p>
          <a:p>
            <a:pPr algn="just"/>
            <a:r>
              <a:rPr lang="en-US" sz="2000" dirty="0"/>
              <a:t>They are first time implemented in HashSet class. Methods implemented are </a:t>
            </a:r>
          </a:p>
          <a:p>
            <a:pPr algn="just"/>
            <a:r>
              <a:rPr lang="en-US" sz="2000" dirty="0"/>
              <a:t>add(Object o)</a:t>
            </a:r>
          </a:p>
          <a:p>
            <a:pPr algn="just"/>
            <a:r>
              <a:rPr lang="en-US" sz="2000" dirty="0"/>
              <a:t>clear()</a:t>
            </a:r>
          </a:p>
          <a:p>
            <a:pPr algn="just"/>
            <a:r>
              <a:rPr lang="en-US" sz="2000" dirty="0"/>
              <a:t>clone()</a:t>
            </a:r>
          </a:p>
          <a:p>
            <a:pPr algn="just"/>
            <a:r>
              <a:rPr lang="en-US" sz="2000" dirty="0"/>
              <a:t>contains(Object o)</a:t>
            </a:r>
          </a:p>
          <a:p>
            <a:pPr algn="just"/>
            <a:r>
              <a:rPr lang="en-US" sz="2000" dirty="0" err="1"/>
              <a:t>isEmpty</a:t>
            </a:r>
            <a:r>
              <a:rPr lang="en-US" sz="2000" dirty="0"/>
              <a:t>()</a:t>
            </a:r>
          </a:p>
          <a:p>
            <a:pPr algn="just"/>
            <a:r>
              <a:rPr lang="en-US" sz="2000" dirty="0"/>
              <a:t>iterator()</a:t>
            </a:r>
          </a:p>
          <a:p>
            <a:pPr algn="just"/>
            <a:r>
              <a:rPr lang="en-US" sz="2000" dirty="0"/>
              <a:t>remove(Object o)</a:t>
            </a:r>
          </a:p>
          <a:p>
            <a:pPr algn="just"/>
            <a:r>
              <a:rPr lang="en-US" sz="2000" dirty="0"/>
              <a:t>size()</a:t>
            </a:r>
          </a:p>
        </p:txBody>
      </p:sp>
      <p:sp>
        <p:nvSpPr>
          <p:cNvPr id="12" name="TextBox 11">
            <a:extLst>
              <a:ext uri="{FF2B5EF4-FFF2-40B4-BE49-F238E27FC236}">
                <a16:creationId xmlns:a16="http://schemas.microsoft.com/office/drawing/2014/main" xmlns="" id="{2B017F17-B6E1-B78C-C156-9F3E3D4F3516}"/>
              </a:ext>
            </a:extLst>
          </p:cNvPr>
          <p:cNvSpPr txBox="1"/>
          <p:nvPr/>
        </p:nvSpPr>
        <p:spPr>
          <a:xfrm>
            <a:off x="4245904" y="3391941"/>
            <a:ext cx="4803961" cy="1631216"/>
          </a:xfrm>
          <a:prstGeom prst="rect">
            <a:avLst/>
          </a:prstGeom>
          <a:noFill/>
        </p:spPr>
        <p:txBody>
          <a:bodyPr wrap="square">
            <a:spAutoFit/>
          </a:bodyPr>
          <a:lstStyle/>
          <a:p>
            <a:pPr algn="just"/>
            <a:r>
              <a:rPr lang="en-US" sz="2000" b="1" u="sng" dirty="0"/>
              <a:t>Constructors are: </a:t>
            </a:r>
          </a:p>
          <a:p>
            <a:pPr algn="just"/>
            <a:r>
              <a:rPr lang="en-US" sz="2000" dirty="0"/>
              <a:t>HashSet()</a:t>
            </a:r>
          </a:p>
          <a:p>
            <a:pPr algn="just"/>
            <a:r>
              <a:rPr lang="en-US" sz="2000" dirty="0"/>
              <a:t>HashSet(Collection c)</a:t>
            </a:r>
          </a:p>
          <a:p>
            <a:pPr algn="just"/>
            <a:r>
              <a:rPr lang="en-US" sz="2000" dirty="0"/>
              <a:t>HashSet(int </a:t>
            </a:r>
            <a:r>
              <a:rPr lang="en-US" sz="2000" dirty="0" err="1"/>
              <a:t>initialCapacity</a:t>
            </a:r>
            <a:r>
              <a:rPr lang="en-US" sz="2000" dirty="0"/>
              <a:t>)</a:t>
            </a:r>
          </a:p>
          <a:p>
            <a:pPr algn="just"/>
            <a:r>
              <a:rPr lang="en-US" sz="2000" dirty="0"/>
              <a:t>HashSet(int </a:t>
            </a:r>
            <a:r>
              <a:rPr lang="en-US" sz="2000" dirty="0" err="1"/>
              <a:t>initialCapacity</a:t>
            </a:r>
            <a:r>
              <a:rPr lang="en-US" sz="2000" dirty="0"/>
              <a:t>, float </a:t>
            </a:r>
            <a:r>
              <a:rPr lang="en-US" sz="2000" dirty="0" err="1"/>
              <a:t>loadFactor</a:t>
            </a:r>
            <a:r>
              <a:rPr lang="en-US" sz="2000" dirty="0"/>
              <a:t>)</a:t>
            </a:r>
            <a:endParaRPr lang="en-IN" sz="2000" dirty="0"/>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994216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D7CD715E-F823-A9E2-3FF4-982E09918FC0}"/>
              </a:ext>
            </a:extLst>
          </p:cNvPr>
          <p:cNvSpPr txBox="1"/>
          <p:nvPr/>
        </p:nvSpPr>
        <p:spPr>
          <a:xfrm>
            <a:off x="295836" y="1335611"/>
            <a:ext cx="8992944" cy="4093428"/>
          </a:xfrm>
          <a:prstGeom prst="rect">
            <a:avLst/>
          </a:prstGeom>
          <a:noFill/>
        </p:spPr>
        <p:txBody>
          <a:bodyPr wrap="square">
            <a:spAutoFit/>
          </a:bodyPr>
          <a:lstStyle/>
          <a:p>
            <a:pPr algn="just"/>
            <a:r>
              <a:rPr lang="en-IN" sz="2000" b="1" u="sng" dirty="0"/>
              <a:t>LinkedList</a:t>
            </a:r>
          </a:p>
          <a:p>
            <a:pPr algn="just"/>
            <a:r>
              <a:rPr lang="en-IN" sz="2000" dirty="0"/>
              <a:t>public class LinkedHashSet extends HashSet</a:t>
            </a:r>
          </a:p>
          <a:p>
            <a:pPr algn="just"/>
            <a:endParaRPr lang="en-IN" sz="2000" dirty="0"/>
          </a:p>
          <a:p>
            <a:pPr algn="just"/>
            <a:r>
              <a:rPr lang="en-IN" sz="2000" dirty="0"/>
              <a:t>No methods are overridden. But its default constructor allocates memory for 16 elements with a default load factor of 0.75</a:t>
            </a:r>
          </a:p>
          <a:p>
            <a:pPr algn="just"/>
            <a:endParaRPr lang="en-IN" sz="2000" dirty="0"/>
          </a:p>
          <a:p>
            <a:pPr algn="just"/>
            <a:r>
              <a:rPr lang="en-IN" sz="2000" dirty="0"/>
              <a:t>Hashtable with LinkedList implementation version of Set is LinkedHashSet. Every element maintains its previous and next element address, hash functionality doesn't influence here. Given order will be maintained and allows multiple null elements. Not-null objects are unique.</a:t>
            </a:r>
          </a:p>
          <a:p>
            <a:pPr algn="just"/>
            <a:endParaRPr lang="en-IN" sz="2000" dirty="0"/>
          </a:p>
          <a:p>
            <a:pPr algn="just"/>
            <a:r>
              <a:rPr lang="en-IN" sz="2000" dirty="0"/>
              <a:t>add(), remove() and contains() operations are expensive than HashSet because of reordering object positions.</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440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63EE89B7-587C-8169-CE54-01C8B297EC32}"/>
              </a:ext>
            </a:extLst>
          </p:cNvPr>
          <p:cNvSpPr txBox="1"/>
          <p:nvPr/>
        </p:nvSpPr>
        <p:spPr>
          <a:xfrm>
            <a:off x="131120" y="988214"/>
            <a:ext cx="6125134" cy="3600986"/>
          </a:xfrm>
          <a:prstGeom prst="rect">
            <a:avLst/>
          </a:prstGeom>
          <a:noFill/>
        </p:spPr>
        <p:txBody>
          <a:bodyPr wrap="square">
            <a:spAutoFit/>
          </a:bodyPr>
          <a:lstStyle/>
          <a:p>
            <a:r>
              <a:rPr lang="en-IN" sz="1200" b="1" u="sng" dirty="0"/>
              <a:t>Collections</a:t>
            </a:r>
          </a:p>
          <a:p>
            <a:r>
              <a:rPr lang="en-IN" sz="1200" dirty="0"/>
              <a:t>Collections is a utility API. It consists of static methods that operates on Collection or return Collection objects. Some important methods are:</a:t>
            </a:r>
          </a:p>
          <a:p>
            <a:endParaRPr lang="en-IN" sz="1200" dirty="0"/>
          </a:p>
          <a:p>
            <a:r>
              <a:rPr lang="en-IN" sz="1200" dirty="0"/>
              <a:t>static &lt;T&gt; int </a:t>
            </a:r>
            <a:r>
              <a:rPr lang="en-IN" sz="1200" dirty="0" err="1"/>
              <a:t>binarySearch</a:t>
            </a:r>
            <a:r>
              <a:rPr lang="en-IN" sz="1200" dirty="0"/>
              <a:t>(List&lt;? extends Comparable&lt;? super T&gt;&gt; list, T key)</a:t>
            </a:r>
          </a:p>
          <a:p>
            <a:r>
              <a:rPr lang="en-IN" sz="1200" dirty="0"/>
              <a:t>static &lt;E&gt; Collection&lt;E&gt; </a:t>
            </a:r>
            <a:r>
              <a:rPr lang="en-IN" sz="1200" dirty="0" err="1"/>
              <a:t>checkedCollection</a:t>
            </a:r>
            <a:r>
              <a:rPr lang="en-IN" sz="1200" dirty="0"/>
              <a:t>(Collection&lt;E&gt; c, Class&lt;E&gt; type)</a:t>
            </a:r>
          </a:p>
          <a:p>
            <a:r>
              <a:rPr lang="en-IN" sz="1200" dirty="0"/>
              <a:t>static &lt;E&gt; List&lt;E&gt; </a:t>
            </a:r>
            <a:r>
              <a:rPr lang="en-IN" sz="1200" dirty="0" err="1"/>
              <a:t>checkedList</a:t>
            </a:r>
            <a:r>
              <a:rPr lang="en-IN" sz="1200" dirty="0"/>
              <a:t>(List&lt;E&gt; c, Class&lt;E&gt; type)</a:t>
            </a:r>
          </a:p>
          <a:p>
            <a:r>
              <a:rPr lang="en-IN" sz="1200" dirty="0"/>
              <a:t>static &lt;E&gt; Set&lt;E&gt; </a:t>
            </a:r>
            <a:r>
              <a:rPr lang="en-IN" sz="1200" dirty="0" err="1"/>
              <a:t>checkedSet</a:t>
            </a:r>
            <a:r>
              <a:rPr lang="en-IN" sz="1200" dirty="0"/>
              <a:t>(Set&lt;E&gt; s, Class&lt;E&gt; type)</a:t>
            </a:r>
          </a:p>
          <a:p>
            <a:r>
              <a:rPr lang="en-IN" sz="1200" dirty="0"/>
              <a:t>static &lt;K,V&gt; Map&lt;K,V&gt; </a:t>
            </a:r>
            <a:r>
              <a:rPr lang="en-IN" sz="1200" dirty="0" err="1"/>
              <a:t>checkedMap</a:t>
            </a:r>
            <a:r>
              <a:rPr lang="en-IN" sz="1200" dirty="0"/>
              <a:t>(Map&lt;K,V&gt; m, Class&lt;K&gt; </a:t>
            </a:r>
            <a:r>
              <a:rPr lang="en-IN" sz="1200" dirty="0" err="1"/>
              <a:t>keyType</a:t>
            </a:r>
            <a:r>
              <a:rPr lang="en-IN" sz="1200" dirty="0"/>
              <a:t>, Class&lt;V&gt; </a:t>
            </a:r>
            <a:r>
              <a:rPr lang="en-IN" sz="1200" dirty="0" err="1"/>
              <a:t>valueType</a:t>
            </a:r>
            <a:r>
              <a:rPr lang="en-IN" sz="1200" dirty="0"/>
              <a:t>)</a:t>
            </a:r>
          </a:p>
          <a:p>
            <a:r>
              <a:rPr lang="en-IN" sz="1200" dirty="0"/>
              <a:t>static &lt;T&gt; void copy(List&lt;? super T&gt; </a:t>
            </a:r>
            <a:r>
              <a:rPr lang="en-IN" sz="1200" dirty="0" err="1"/>
              <a:t>dest</a:t>
            </a:r>
            <a:r>
              <a:rPr lang="en-IN" sz="1200" dirty="0"/>
              <a:t>, List&lt;? extends T&gt; </a:t>
            </a:r>
            <a:r>
              <a:rPr lang="en-IN" sz="1200" dirty="0" err="1"/>
              <a:t>src</a:t>
            </a:r>
            <a:r>
              <a:rPr lang="en-IN" sz="1200" dirty="0"/>
              <a:t>)</a:t>
            </a:r>
          </a:p>
          <a:p>
            <a:r>
              <a:rPr lang="en-IN" sz="1200" dirty="0"/>
              <a:t>static boolean disjoint(Collection&lt;?&gt; c1, Collection&lt;?&gt; c2)</a:t>
            </a:r>
          </a:p>
          <a:p>
            <a:r>
              <a:rPr lang="en-IN" sz="1200" dirty="0"/>
              <a:t>static &lt;T&gt; Enumeration&lt;T&gt; </a:t>
            </a:r>
            <a:r>
              <a:rPr lang="en-IN" sz="1200" dirty="0" err="1"/>
              <a:t>emptyEnumeration</a:t>
            </a:r>
            <a:r>
              <a:rPr lang="en-IN" sz="1200" dirty="0"/>
              <a:t>()</a:t>
            </a:r>
          </a:p>
          <a:p>
            <a:r>
              <a:rPr lang="en-IN" sz="1200" dirty="0"/>
              <a:t>static &lt;T&gt; Iterator&lt;T&gt; </a:t>
            </a:r>
            <a:r>
              <a:rPr lang="en-IN" sz="1200" dirty="0" err="1"/>
              <a:t>emptyIterator</a:t>
            </a:r>
            <a:r>
              <a:rPr lang="en-IN" sz="1200" dirty="0"/>
              <a:t>()</a:t>
            </a:r>
          </a:p>
          <a:p>
            <a:r>
              <a:rPr lang="en-IN" sz="1200" dirty="0"/>
              <a:t>static final &lt;T&gt; List&lt;T&gt; </a:t>
            </a:r>
            <a:r>
              <a:rPr lang="en-IN" sz="1200" dirty="0" err="1"/>
              <a:t>emptyList</a:t>
            </a:r>
            <a:r>
              <a:rPr lang="en-IN" sz="1200" dirty="0"/>
              <a:t>()</a:t>
            </a:r>
          </a:p>
          <a:p>
            <a:r>
              <a:rPr lang="en-IN" sz="1200" dirty="0"/>
              <a:t>static &lt;T&gt; ListIterator&lt;T&gt; </a:t>
            </a:r>
            <a:r>
              <a:rPr lang="en-IN" sz="1200" dirty="0" err="1"/>
              <a:t>emptyListIterator</a:t>
            </a:r>
            <a:r>
              <a:rPr lang="en-IN" sz="1200" dirty="0"/>
              <a:t>()</a:t>
            </a:r>
          </a:p>
          <a:p>
            <a:r>
              <a:rPr lang="en-IN" sz="1200" dirty="0"/>
              <a:t>static final &lt;K,V&gt; Map&lt;K,V&gt; </a:t>
            </a:r>
            <a:r>
              <a:rPr lang="en-IN" sz="1200" dirty="0" err="1"/>
              <a:t>emptyMap</a:t>
            </a:r>
            <a:r>
              <a:rPr lang="en-IN" sz="1200" dirty="0"/>
              <a:t>()</a:t>
            </a:r>
          </a:p>
          <a:p>
            <a:r>
              <a:rPr lang="en-IN" sz="1200" dirty="0"/>
              <a:t>static final &lt;T&gt; Set&lt;T&gt; </a:t>
            </a:r>
            <a:r>
              <a:rPr lang="en-IN" sz="1200" dirty="0" err="1"/>
              <a:t>emptySet</a:t>
            </a:r>
            <a:r>
              <a:rPr lang="en-IN" sz="1200" dirty="0"/>
              <a:t>()</a:t>
            </a:r>
          </a:p>
          <a:p>
            <a:r>
              <a:rPr lang="en-IN" sz="1200" dirty="0"/>
              <a:t>static &lt;T&gt; void fill(List&lt;? super T&gt; list, T </a:t>
            </a:r>
            <a:r>
              <a:rPr lang="en-IN" sz="1200" dirty="0" err="1"/>
              <a:t>obj</a:t>
            </a:r>
            <a:r>
              <a:rPr lang="en-IN" sz="1200" dirty="0"/>
              <a:t>)</a:t>
            </a:r>
          </a:p>
          <a:p>
            <a:r>
              <a:rPr lang="en-IN" sz="1200" dirty="0"/>
              <a:t>static int frequency(Collection&lt;?&gt; c, Object o)</a:t>
            </a:r>
          </a:p>
        </p:txBody>
      </p:sp>
      <p:sp>
        <p:nvSpPr>
          <p:cNvPr id="12" name="TextBox 11">
            <a:extLst>
              <a:ext uri="{FF2B5EF4-FFF2-40B4-BE49-F238E27FC236}">
                <a16:creationId xmlns:a16="http://schemas.microsoft.com/office/drawing/2014/main" xmlns="" id="{7C9C4C5A-D30D-9F10-53D9-0B1A7248B9BB}"/>
              </a:ext>
            </a:extLst>
          </p:cNvPr>
          <p:cNvSpPr txBox="1"/>
          <p:nvPr/>
        </p:nvSpPr>
        <p:spPr>
          <a:xfrm>
            <a:off x="4528299" y="2830450"/>
            <a:ext cx="4992223" cy="3961085"/>
          </a:xfrm>
          <a:prstGeom prst="rect">
            <a:avLst/>
          </a:prstGeom>
          <a:noFill/>
        </p:spPr>
        <p:txBody>
          <a:bodyPr wrap="square">
            <a:spAutoFit/>
          </a:bodyPr>
          <a:lstStyle/>
          <a:p>
            <a:r>
              <a:rPr lang="en-IN" sz="1200" dirty="0"/>
              <a:t>static int </a:t>
            </a:r>
            <a:r>
              <a:rPr lang="en-IN" sz="1200" dirty="0" err="1"/>
              <a:t>indexOfSubList</a:t>
            </a:r>
            <a:r>
              <a:rPr lang="en-IN" sz="1200" dirty="0"/>
              <a:t>(List&lt;?&gt; source, List&lt;?&gt; target)</a:t>
            </a:r>
          </a:p>
          <a:p>
            <a:r>
              <a:rPr lang="en-IN" sz="1200" dirty="0"/>
              <a:t>static int </a:t>
            </a:r>
            <a:r>
              <a:rPr lang="en-IN" sz="1200" dirty="0" err="1"/>
              <a:t>lastIndexOfSubList</a:t>
            </a:r>
            <a:r>
              <a:rPr lang="en-IN" sz="1200" dirty="0"/>
              <a:t>(List&lt;?&gt; source, List&lt;?&gt; target)</a:t>
            </a:r>
          </a:p>
          <a:p>
            <a:r>
              <a:rPr lang="en-IN" sz="1200" dirty="0"/>
              <a:t>static &lt;T&gt; T max(Collection&lt;? extends T&gt; </a:t>
            </a:r>
            <a:r>
              <a:rPr lang="en-IN" sz="1200" dirty="0" err="1"/>
              <a:t>coll</a:t>
            </a:r>
            <a:r>
              <a:rPr lang="en-IN" sz="1200" dirty="0"/>
              <a:t>, Comparator&lt;? super T&gt; comp)</a:t>
            </a:r>
          </a:p>
          <a:p>
            <a:r>
              <a:rPr lang="en-IN" sz="1200" dirty="0"/>
              <a:t>static &lt;T&gt; T min(Collection&lt;? extends T&gt; </a:t>
            </a:r>
            <a:r>
              <a:rPr lang="en-IN" sz="1200" dirty="0" err="1"/>
              <a:t>coll</a:t>
            </a:r>
            <a:r>
              <a:rPr lang="en-IN" sz="1200" dirty="0"/>
              <a:t>, Comparator&lt;? super T&gt; comp)</a:t>
            </a:r>
          </a:p>
          <a:p>
            <a:r>
              <a:rPr lang="en-IN" sz="1200" dirty="0"/>
              <a:t>static &lt;T&gt; boolean </a:t>
            </a:r>
            <a:r>
              <a:rPr lang="en-IN" sz="1200" dirty="0" err="1"/>
              <a:t>replaceAll</a:t>
            </a:r>
            <a:r>
              <a:rPr lang="en-IN" sz="1200" dirty="0"/>
              <a:t>(List&lt;T&gt; list, T </a:t>
            </a:r>
            <a:r>
              <a:rPr lang="en-IN" sz="1200" dirty="0" err="1"/>
              <a:t>oldVal</a:t>
            </a:r>
            <a:r>
              <a:rPr lang="en-IN" sz="1200" dirty="0"/>
              <a:t>, T </a:t>
            </a:r>
            <a:r>
              <a:rPr lang="en-IN" sz="1200" dirty="0" err="1"/>
              <a:t>newVal</a:t>
            </a:r>
            <a:r>
              <a:rPr lang="en-IN" sz="1200" dirty="0"/>
              <a:t>)</a:t>
            </a:r>
          </a:p>
          <a:p>
            <a:r>
              <a:rPr lang="en-IN" sz="1200" dirty="0"/>
              <a:t>static void reverse(List&lt;?&gt; list)</a:t>
            </a:r>
          </a:p>
          <a:p>
            <a:r>
              <a:rPr lang="en-IN" sz="1200" dirty="0"/>
              <a:t>static void rotate(List&lt;?&gt; list, int distance)</a:t>
            </a:r>
          </a:p>
          <a:p>
            <a:r>
              <a:rPr lang="en-IN" sz="1200" dirty="0"/>
              <a:t>static void shuffle(List&lt;?&gt; list)</a:t>
            </a:r>
          </a:p>
          <a:p>
            <a:r>
              <a:rPr lang="en-IN" sz="1200" dirty="0"/>
              <a:t>static void shuffle(List&lt;?&gt; list, Random </a:t>
            </a:r>
            <a:r>
              <a:rPr lang="en-IN" sz="1200" dirty="0" err="1"/>
              <a:t>rnd</a:t>
            </a:r>
            <a:r>
              <a:rPr lang="en-IN" sz="1200" dirty="0"/>
              <a:t>)</a:t>
            </a:r>
          </a:p>
          <a:p>
            <a:r>
              <a:rPr lang="en-IN" sz="1200" dirty="0"/>
              <a:t>static &lt;T extends Comparable&lt;? super T&gt;&gt; void sort(List&lt;T&gt; list)</a:t>
            </a:r>
          </a:p>
          <a:p>
            <a:r>
              <a:rPr lang="en-IN" sz="1200" dirty="0"/>
              <a:t>static void swap(List&lt;?&gt; list, int </a:t>
            </a:r>
            <a:r>
              <a:rPr lang="en-IN" sz="1200" dirty="0" err="1"/>
              <a:t>i</a:t>
            </a:r>
            <a:r>
              <a:rPr lang="en-IN" sz="1200" dirty="0"/>
              <a:t>, int j)</a:t>
            </a:r>
          </a:p>
          <a:p>
            <a:r>
              <a:rPr lang="en-IN" sz="1200" dirty="0"/>
              <a:t>static &lt;T&gt; Collection&lt;T&gt; </a:t>
            </a:r>
            <a:r>
              <a:rPr lang="en-IN" sz="1200" dirty="0" err="1"/>
              <a:t>synchronizedCollection</a:t>
            </a:r>
            <a:r>
              <a:rPr lang="en-IN" sz="1200" dirty="0"/>
              <a:t>(Collection&lt;T&gt; c)</a:t>
            </a:r>
          </a:p>
          <a:p>
            <a:r>
              <a:rPr lang="en-IN" sz="1200" dirty="0"/>
              <a:t>static &lt;T&gt; List&lt;T&gt; </a:t>
            </a:r>
            <a:r>
              <a:rPr lang="en-IN" sz="1200" dirty="0" err="1"/>
              <a:t>synchronizedList</a:t>
            </a:r>
            <a:r>
              <a:rPr lang="en-IN" sz="1200" dirty="0"/>
              <a:t>(List&lt;T&gt; list)</a:t>
            </a:r>
          </a:p>
          <a:p>
            <a:r>
              <a:rPr lang="en-IN" sz="1200" dirty="0"/>
              <a:t>static &lt;K,V&gt; Map&lt;K,V&gt; </a:t>
            </a:r>
            <a:r>
              <a:rPr lang="en-IN" sz="1200" dirty="0" err="1"/>
              <a:t>synchronizedMap</a:t>
            </a:r>
            <a:r>
              <a:rPr lang="en-IN" sz="1200" dirty="0"/>
              <a:t>(Map&lt;K,V&gt; m)</a:t>
            </a:r>
          </a:p>
          <a:p>
            <a:r>
              <a:rPr lang="en-IN" sz="1200" dirty="0"/>
              <a:t>static &lt;T&gt; Set&lt;T&gt; </a:t>
            </a:r>
            <a:r>
              <a:rPr lang="en-IN" sz="1200" dirty="0" err="1"/>
              <a:t>synchronizedSet</a:t>
            </a:r>
            <a:r>
              <a:rPr lang="en-IN" sz="1200" dirty="0"/>
              <a:t>(Set&lt;T&gt; s)</a:t>
            </a:r>
          </a:p>
          <a:p>
            <a:r>
              <a:rPr lang="en-IN" sz="1200" dirty="0"/>
              <a:t>static &lt;T&gt; Collection&lt;T&gt; </a:t>
            </a:r>
            <a:r>
              <a:rPr lang="en-IN" sz="1200" dirty="0" err="1"/>
              <a:t>unmodifiableCollection</a:t>
            </a:r>
            <a:r>
              <a:rPr lang="en-IN" sz="1200" dirty="0"/>
              <a:t>(Collection&lt;? extends T&gt; c)</a:t>
            </a:r>
          </a:p>
          <a:p>
            <a:r>
              <a:rPr lang="en-IN" sz="1200" dirty="0"/>
              <a:t>static &lt;T&gt; List&lt;T&gt; </a:t>
            </a:r>
            <a:r>
              <a:rPr lang="en-IN" sz="1200" dirty="0" err="1"/>
              <a:t>unmodifiableList</a:t>
            </a:r>
            <a:r>
              <a:rPr lang="en-IN" sz="1200" dirty="0"/>
              <a:t>(List&lt;? extends T&gt; list)</a:t>
            </a:r>
          </a:p>
          <a:p>
            <a:r>
              <a:rPr lang="en-IN" sz="1200" dirty="0"/>
              <a:t>static &lt;K,V&gt; Map&lt;K,V&gt; </a:t>
            </a:r>
            <a:r>
              <a:rPr lang="en-IN" sz="1200" dirty="0" err="1"/>
              <a:t>unmodifiableMap</a:t>
            </a:r>
            <a:r>
              <a:rPr lang="en-IN" sz="1200" dirty="0"/>
              <a:t>(Map&lt;? extends K,? extends V&gt; m)</a:t>
            </a:r>
          </a:p>
          <a:p>
            <a:r>
              <a:rPr lang="en-IN" sz="1200" dirty="0"/>
              <a:t>static &lt;T&gt; Set&lt;T&gt; </a:t>
            </a:r>
            <a:r>
              <a:rPr lang="en-IN" sz="1200" dirty="0" err="1"/>
              <a:t>unmodifiableSet</a:t>
            </a:r>
            <a:r>
              <a:rPr lang="en-IN" sz="1200" dirty="0"/>
              <a:t>(Set&lt;? extends T&gt; s)</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946622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806F3064-7B66-71FA-4629-A52BAB0D96FE}"/>
              </a:ext>
            </a:extLst>
          </p:cNvPr>
          <p:cNvSpPr txBox="1"/>
          <p:nvPr/>
        </p:nvSpPr>
        <p:spPr>
          <a:xfrm>
            <a:off x="11433" y="833925"/>
            <a:ext cx="3955450" cy="6047809"/>
          </a:xfrm>
          <a:prstGeom prst="rect">
            <a:avLst/>
          </a:prstGeom>
          <a:noFill/>
        </p:spPr>
        <p:txBody>
          <a:bodyPr wrap="square">
            <a:spAutoFit/>
          </a:bodyPr>
          <a:lstStyle/>
          <a:p>
            <a:r>
              <a:rPr lang="en-IN" sz="900" b="1" dirty="0"/>
              <a:t>Example on </a:t>
            </a:r>
            <a:r>
              <a:rPr lang="en-IN" sz="900" b="1" dirty="0" err="1"/>
              <a:t>ArrayList</a:t>
            </a:r>
            <a:endParaRPr lang="en-IN" sz="900" b="1" dirty="0"/>
          </a:p>
          <a:p>
            <a:r>
              <a:rPr lang="en-IN" sz="900" b="1" dirty="0"/>
              <a:t>// ALDemo.java</a:t>
            </a:r>
          </a:p>
          <a:p>
            <a:r>
              <a:rPr lang="en-IN" sz="900" dirty="0"/>
              <a:t>import java.util.*;</a:t>
            </a:r>
          </a:p>
          <a:p>
            <a:r>
              <a:rPr lang="en-IN" sz="900" dirty="0"/>
              <a:t>public class </a:t>
            </a:r>
            <a:r>
              <a:rPr lang="en-IN" sz="900" dirty="0" err="1"/>
              <a:t>ALDemo</a:t>
            </a:r>
            <a:r>
              <a:rPr lang="en-IN" sz="900" dirty="0"/>
              <a:t> {</a:t>
            </a:r>
          </a:p>
          <a:p>
            <a:r>
              <a:rPr lang="en-IN" sz="900" dirty="0"/>
              <a:t>  public static void main(String rags[]) throws Exception {</a:t>
            </a:r>
          </a:p>
          <a:p>
            <a:r>
              <a:rPr lang="en-IN" sz="900" dirty="0"/>
              <a:t>  </a:t>
            </a:r>
          </a:p>
          <a:p>
            <a:r>
              <a:rPr lang="en-IN" sz="900" dirty="0"/>
              <a:t>    </a:t>
            </a:r>
            <a:r>
              <a:rPr lang="en-IN" sz="900" dirty="0" err="1"/>
              <a:t>ArrayList</a:t>
            </a:r>
            <a:r>
              <a:rPr lang="en-IN" sz="900" dirty="0"/>
              <a:t>&lt;String&gt; list=new </a:t>
            </a:r>
            <a:r>
              <a:rPr lang="en-IN" sz="900" dirty="0" err="1"/>
              <a:t>ArrayList</a:t>
            </a:r>
            <a:r>
              <a:rPr lang="en-IN" sz="900" dirty="0"/>
              <a:t>&lt;String&gt;();</a:t>
            </a:r>
          </a:p>
          <a:p>
            <a:r>
              <a:rPr lang="en-IN" sz="900" dirty="0"/>
              <a:t>	</a:t>
            </a:r>
          </a:p>
          <a:p>
            <a:r>
              <a:rPr lang="en-IN" sz="900" dirty="0"/>
              <a:t>    </a:t>
            </a:r>
            <a:r>
              <a:rPr lang="en-IN" sz="900" dirty="0" err="1"/>
              <a:t>list.add</a:t>
            </a:r>
            <a:r>
              <a:rPr lang="en-IN" sz="900" dirty="0"/>
              <a:t>("Apple");</a:t>
            </a:r>
          </a:p>
          <a:p>
            <a:r>
              <a:rPr lang="en-IN" sz="900" dirty="0"/>
              <a:t>    </a:t>
            </a:r>
            <a:r>
              <a:rPr lang="en-IN" sz="900" dirty="0" err="1"/>
              <a:t>list.add</a:t>
            </a:r>
            <a:r>
              <a:rPr lang="en-IN" sz="900" dirty="0"/>
              <a:t>("Mango");</a:t>
            </a:r>
          </a:p>
          <a:p>
            <a:r>
              <a:rPr lang="en-IN" sz="900" dirty="0"/>
              <a:t>    </a:t>
            </a:r>
            <a:r>
              <a:rPr lang="en-IN" sz="900" dirty="0" err="1"/>
              <a:t>list.add</a:t>
            </a:r>
            <a:r>
              <a:rPr lang="en-IN" sz="900" dirty="0"/>
              <a:t>("Guava");</a:t>
            </a:r>
          </a:p>
          <a:p>
            <a:r>
              <a:rPr lang="en-IN" sz="900" dirty="0"/>
              <a:t>    </a:t>
            </a:r>
            <a:r>
              <a:rPr lang="en-IN" sz="900" dirty="0" err="1"/>
              <a:t>list.add</a:t>
            </a:r>
            <a:r>
              <a:rPr lang="en-IN" sz="900" dirty="0"/>
              <a:t>("Pineapple");</a:t>
            </a:r>
          </a:p>
          <a:p>
            <a:r>
              <a:rPr lang="en-IN" sz="900" dirty="0"/>
              <a:t>    </a:t>
            </a:r>
            <a:r>
              <a:rPr lang="en-IN" sz="900" dirty="0" err="1"/>
              <a:t>list.add</a:t>
            </a:r>
            <a:r>
              <a:rPr lang="en-IN" sz="900" dirty="0"/>
              <a:t>("Grapes");</a:t>
            </a:r>
          </a:p>
          <a:p>
            <a:r>
              <a:rPr lang="en-IN" sz="900" dirty="0"/>
              <a:t>    </a:t>
            </a:r>
            <a:r>
              <a:rPr lang="en-IN" sz="900" dirty="0" err="1"/>
              <a:t>list.add</a:t>
            </a:r>
            <a:r>
              <a:rPr lang="en-IN" sz="900" dirty="0"/>
              <a:t>("Orange");</a:t>
            </a:r>
          </a:p>
          <a:p>
            <a:r>
              <a:rPr lang="en-IN" sz="900" dirty="0"/>
              <a:t>    System.out.println(list);</a:t>
            </a:r>
          </a:p>
          <a:p>
            <a:endParaRPr lang="en-IN" sz="900" dirty="0"/>
          </a:p>
          <a:p>
            <a:r>
              <a:rPr lang="en-IN" sz="900" dirty="0"/>
              <a:t>    // String fruit=</a:t>
            </a:r>
            <a:r>
              <a:rPr lang="en-IN" sz="900" dirty="0" err="1"/>
              <a:t>list.get</a:t>
            </a:r>
            <a:r>
              <a:rPr lang="en-IN" sz="900" dirty="0"/>
              <a:t>(0);</a:t>
            </a:r>
          </a:p>
          <a:p>
            <a:r>
              <a:rPr lang="en-IN" sz="900" dirty="0"/>
              <a:t>    String fruit=</a:t>
            </a:r>
            <a:r>
              <a:rPr lang="en-IN" sz="900" dirty="0" err="1"/>
              <a:t>list.get</a:t>
            </a:r>
            <a:r>
              <a:rPr lang="en-IN" sz="900" dirty="0"/>
              <a:t>(0); // </a:t>
            </a:r>
            <a:r>
              <a:rPr lang="en-IN" sz="900" dirty="0" err="1"/>
              <a:t>list.get</a:t>
            </a:r>
            <a:r>
              <a:rPr lang="en-IN" sz="900" dirty="0"/>
              <a:t>(0) returns object, it must be type casted into String explicitly but because during </a:t>
            </a:r>
            <a:r>
              <a:rPr lang="en-IN" sz="900" dirty="0" err="1"/>
              <a:t>ArrayList</a:t>
            </a:r>
            <a:r>
              <a:rPr lang="en-IN" sz="900" dirty="0"/>
              <a:t> declaration we applied String as generic we need not have to do the type casting.</a:t>
            </a:r>
          </a:p>
          <a:p>
            <a:r>
              <a:rPr lang="en-IN" sz="900" dirty="0"/>
              <a:t>	</a:t>
            </a:r>
          </a:p>
          <a:p>
            <a:r>
              <a:rPr lang="en-IN" sz="900" dirty="0"/>
              <a:t>    System.out.println(fruit);</a:t>
            </a:r>
          </a:p>
          <a:p>
            <a:r>
              <a:rPr lang="en-IN" sz="900" dirty="0"/>
              <a:t>    System.out.println("*****************************************");</a:t>
            </a:r>
          </a:p>
          <a:p>
            <a:endParaRPr lang="en-IN" sz="900" dirty="0"/>
          </a:p>
          <a:p>
            <a:r>
              <a:rPr lang="en-IN" sz="900" dirty="0"/>
              <a:t>    // old style of fetching data from array list</a:t>
            </a:r>
          </a:p>
          <a:p>
            <a:r>
              <a:rPr lang="en-IN" sz="900" dirty="0"/>
              <a:t>    Iterator&lt;String&gt; </a:t>
            </a:r>
            <a:r>
              <a:rPr lang="en-IN" sz="900" dirty="0" err="1"/>
              <a:t>i</a:t>
            </a:r>
            <a:r>
              <a:rPr lang="en-IN" sz="900" dirty="0"/>
              <a:t>=</a:t>
            </a:r>
            <a:r>
              <a:rPr lang="en-IN" sz="900" dirty="0" err="1"/>
              <a:t>list.iterator</a:t>
            </a:r>
            <a:r>
              <a:rPr lang="en-IN" sz="900" dirty="0"/>
              <a:t>();</a:t>
            </a:r>
          </a:p>
          <a:p>
            <a:r>
              <a:rPr lang="en-IN" sz="900" dirty="0"/>
              <a:t>    while(</a:t>
            </a:r>
            <a:r>
              <a:rPr lang="en-IN" sz="900" dirty="0" err="1"/>
              <a:t>i.hasNext</a:t>
            </a:r>
            <a:r>
              <a:rPr lang="en-IN" sz="900" dirty="0"/>
              <a:t>()) {</a:t>
            </a:r>
          </a:p>
          <a:p>
            <a:r>
              <a:rPr lang="en-IN" sz="900" dirty="0"/>
              <a:t>      String </a:t>
            </a:r>
            <a:r>
              <a:rPr lang="en-IN" sz="900" dirty="0" err="1"/>
              <a:t>fru</a:t>
            </a:r>
            <a:r>
              <a:rPr lang="en-IN" sz="900" dirty="0"/>
              <a:t>=</a:t>
            </a:r>
            <a:r>
              <a:rPr lang="en-IN" sz="900" dirty="0" err="1"/>
              <a:t>i.next</a:t>
            </a:r>
            <a:r>
              <a:rPr lang="en-IN" sz="900" dirty="0"/>
              <a:t>(); // auto unboxing</a:t>
            </a:r>
          </a:p>
          <a:p>
            <a:r>
              <a:rPr lang="en-IN" sz="900" dirty="0"/>
              <a:t>      System.out.println(</a:t>
            </a:r>
            <a:r>
              <a:rPr lang="en-IN" sz="900" dirty="0" err="1"/>
              <a:t>fru</a:t>
            </a:r>
            <a:r>
              <a:rPr lang="en-IN" sz="900" dirty="0"/>
              <a:t>);</a:t>
            </a:r>
          </a:p>
          <a:p>
            <a:r>
              <a:rPr lang="en-IN" sz="900" dirty="0"/>
              <a:t>    }</a:t>
            </a:r>
          </a:p>
          <a:p>
            <a:r>
              <a:rPr lang="en-IN" sz="900" dirty="0"/>
              <a:t>    System.out.println("*****************************************");</a:t>
            </a:r>
          </a:p>
          <a:p>
            <a:endParaRPr lang="en-IN" sz="900" dirty="0"/>
          </a:p>
          <a:p>
            <a:r>
              <a:rPr lang="en-IN" sz="900" dirty="0"/>
              <a:t>    // fetching data using JDK 1.5 style of enhanced for loop/for-each loop</a:t>
            </a:r>
          </a:p>
          <a:p>
            <a:r>
              <a:rPr lang="en-IN" sz="900" dirty="0"/>
              <a:t>    for(String </a:t>
            </a:r>
            <a:r>
              <a:rPr lang="en-IN" sz="900" dirty="0" err="1"/>
              <a:t>fru:list</a:t>
            </a:r>
            <a:r>
              <a:rPr lang="en-IN" sz="900" dirty="0"/>
              <a:t>) {</a:t>
            </a:r>
          </a:p>
          <a:p>
            <a:r>
              <a:rPr lang="en-IN" sz="900" dirty="0"/>
              <a:t>      System.out.println(</a:t>
            </a:r>
            <a:r>
              <a:rPr lang="en-IN" sz="900" dirty="0" err="1"/>
              <a:t>fru</a:t>
            </a:r>
            <a:r>
              <a:rPr lang="en-IN" sz="900" dirty="0"/>
              <a:t>);</a:t>
            </a:r>
          </a:p>
          <a:p>
            <a:r>
              <a:rPr lang="en-IN" sz="900" dirty="0"/>
              <a:t>    }</a:t>
            </a:r>
          </a:p>
          <a:p>
            <a:r>
              <a:rPr lang="en-IN" sz="900" dirty="0"/>
              <a:t>    System.out.println("*****************************************");</a:t>
            </a:r>
          </a:p>
          <a:p>
            <a:endParaRPr lang="en-IN" sz="900" dirty="0"/>
          </a:p>
          <a:p>
            <a:r>
              <a:rPr lang="en-IN" sz="900" dirty="0"/>
              <a:t>    </a:t>
            </a:r>
            <a:r>
              <a:rPr lang="en-IN" sz="900" dirty="0" err="1"/>
              <a:t>Collections.sort</a:t>
            </a:r>
            <a:r>
              <a:rPr lang="en-IN" sz="900" dirty="0"/>
              <a:t>(list);</a:t>
            </a:r>
          </a:p>
          <a:p>
            <a:r>
              <a:rPr lang="en-IN" sz="900" dirty="0"/>
              <a:t>    for(String </a:t>
            </a:r>
            <a:r>
              <a:rPr lang="en-IN" sz="900" dirty="0" err="1"/>
              <a:t>fru:list</a:t>
            </a:r>
            <a:r>
              <a:rPr lang="en-IN" sz="900" dirty="0"/>
              <a:t>) {</a:t>
            </a:r>
          </a:p>
          <a:p>
            <a:r>
              <a:rPr lang="en-IN" sz="900" dirty="0"/>
              <a:t>      System.out.println(</a:t>
            </a:r>
            <a:r>
              <a:rPr lang="en-IN" sz="900" dirty="0" err="1"/>
              <a:t>fru</a:t>
            </a:r>
            <a:r>
              <a:rPr lang="en-IN" sz="900" dirty="0"/>
              <a:t>);</a:t>
            </a:r>
          </a:p>
          <a:p>
            <a:r>
              <a:rPr lang="en-IN" sz="900" dirty="0"/>
              <a:t>    }</a:t>
            </a:r>
          </a:p>
          <a:p>
            <a:r>
              <a:rPr lang="en-IN" sz="900" dirty="0"/>
              <a:t>    System.out.println("*****************************************");</a:t>
            </a:r>
          </a:p>
        </p:txBody>
      </p:sp>
      <p:sp>
        <p:nvSpPr>
          <p:cNvPr id="13" name="TextBox 12">
            <a:extLst>
              <a:ext uri="{FF2B5EF4-FFF2-40B4-BE49-F238E27FC236}">
                <a16:creationId xmlns:a16="http://schemas.microsoft.com/office/drawing/2014/main" xmlns="" id="{F892FD8D-6BC1-9861-B3B4-DD5BBB31AA62}"/>
              </a:ext>
            </a:extLst>
          </p:cNvPr>
          <p:cNvSpPr txBox="1"/>
          <p:nvPr/>
        </p:nvSpPr>
        <p:spPr>
          <a:xfrm>
            <a:off x="3869394" y="901160"/>
            <a:ext cx="3620620" cy="5909310"/>
          </a:xfrm>
          <a:prstGeom prst="rect">
            <a:avLst/>
          </a:prstGeom>
          <a:noFill/>
        </p:spPr>
        <p:txBody>
          <a:bodyPr wrap="square">
            <a:spAutoFit/>
          </a:bodyPr>
          <a:lstStyle/>
          <a:p>
            <a:r>
              <a:rPr lang="en-IN" sz="900" dirty="0"/>
              <a:t>    </a:t>
            </a:r>
            <a:r>
              <a:rPr lang="en-IN" sz="900" dirty="0" err="1"/>
              <a:t>list.add</a:t>
            </a:r>
            <a:r>
              <a:rPr lang="en-IN" sz="900" dirty="0"/>
              <a:t>(4,"Watermelon");</a:t>
            </a:r>
          </a:p>
          <a:p>
            <a:r>
              <a:rPr lang="en-IN" sz="900" dirty="0"/>
              <a:t>    for(String </a:t>
            </a:r>
            <a:r>
              <a:rPr lang="en-IN" sz="900" dirty="0" err="1"/>
              <a:t>fru:list</a:t>
            </a:r>
            <a:r>
              <a:rPr lang="en-IN" sz="900" dirty="0"/>
              <a:t>) {</a:t>
            </a:r>
          </a:p>
          <a:p>
            <a:r>
              <a:rPr lang="en-IN" sz="900" dirty="0"/>
              <a:t>      System.out.println(</a:t>
            </a:r>
            <a:r>
              <a:rPr lang="en-IN" sz="900" dirty="0" err="1"/>
              <a:t>fru</a:t>
            </a:r>
            <a:r>
              <a:rPr lang="en-IN" sz="900" dirty="0"/>
              <a:t>);</a:t>
            </a:r>
          </a:p>
          <a:p>
            <a:r>
              <a:rPr lang="en-IN" sz="900" dirty="0"/>
              <a:t>    }</a:t>
            </a:r>
          </a:p>
          <a:p>
            <a:r>
              <a:rPr lang="en-IN" sz="900" dirty="0"/>
              <a:t>    System.out.println("*****************************************");</a:t>
            </a:r>
          </a:p>
          <a:p>
            <a:r>
              <a:rPr lang="en-IN" sz="900" dirty="0"/>
              <a:t> </a:t>
            </a:r>
          </a:p>
          <a:p>
            <a:r>
              <a:rPr lang="en-IN" sz="900" dirty="0" err="1"/>
              <a:t>Collections.sort</a:t>
            </a:r>
            <a:r>
              <a:rPr lang="en-IN" sz="900" dirty="0"/>
              <a:t>(list);</a:t>
            </a:r>
          </a:p>
          <a:p>
            <a:r>
              <a:rPr lang="en-IN" sz="900" dirty="0"/>
              <a:t>    for(String </a:t>
            </a:r>
            <a:r>
              <a:rPr lang="en-IN" sz="900" dirty="0" err="1"/>
              <a:t>fru:list</a:t>
            </a:r>
            <a:r>
              <a:rPr lang="en-IN" sz="900" dirty="0"/>
              <a:t>) {</a:t>
            </a:r>
          </a:p>
          <a:p>
            <a:r>
              <a:rPr lang="en-IN" sz="900" dirty="0"/>
              <a:t>      System.out.println(</a:t>
            </a:r>
            <a:r>
              <a:rPr lang="en-IN" sz="900" dirty="0" err="1"/>
              <a:t>fru</a:t>
            </a:r>
            <a:r>
              <a:rPr lang="en-IN" sz="900" dirty="0"/>
              <a:t>);</a:t>
            </a:r>
          </a:p>
          <a:p>
            <a:r>
              <a:rPr lang="en-IN" sz="900" dirty="0"/>
              <a:t>    }</a:t>
            </a:r>
          </a:p>
          <a:p>
            <a:r>
              <a:rPr lang="en-IN" sz="900" dirty="0"/>
              <a:t>    System.out.println("*****************************************");</a:t>
            </a:r>
          </a:p>
          <a:p>
            <a:endParaRPr lang="en-IN" sz="900" dirty="0"/>
          </a:p>
          <a:p>
            <a:r>
              <a:rPr lang="en-IN" sz="900" dirty="0"/>
              <a:t>    List&lt;String&gt; list1=</a:t>
            </a:r>
            <a:r>
              <a:rPr lang="en-IN" sz="900" dirty="0" err="1"/>
              <a:t>Collections.unmodifiableList</a:t>
            </a:r>
            <a:r>
              <a:rPr lang="en-IN" sz="900" dirty="0"/>
              <a:t>(list);</a:t>
            </a:r>
          </a:p>
          <a:p>
            <a:r>
              <a:rPr lang="en-IN" sz="900" dirty="0"/>
              <a:t>    // list1.add("Papaya"); // </a:t>
            </a:r>
            <a:r>
              <a:rPr lang="en-IN" sz="900" dirty="0" err="1"/>
              <a:t>UnsupportedOperationException</a:t>
            </a:r>
            <a:endParaRPr lang="en-IN" sz="900" dirty="0"/>
          </a:p>
          <a:p>
            <a:endParaRPr lang="en-IN" sz="900" dirty="0"/>
          </a:p>
          <a:p>
            <a:r>
              <a:rPr lang="en-IN" sz="900" dirty="0"/>
              <a:t>    List&lt;Integer&gt; list2=new </a:t>
            </a:r>
            <a:r>
              <a:rPr lang="en-IN" sz="900" dirty="0" err="1"/>
              <a:t>ArrayList</a:t>
            </a:r>
            <a:r>
              <a:rPr lang="en-IN" sz="900" dirty="0"/>
              <a:t>&lt;Integer&gt;();</a:t>
            </a:r>
          </a:p>
          <a:p>
            <a:r>
              <a:rPr lang="en-IN" sz="900" dirty="0"/>
              <a:t>    list2.add(new Integer(10)); </a:t>
            </a:r>
          </a:p>
          <a:p>
            <a:r>
              <a:rPr lang="en-IN" sz="900" dirty="0"/>
              <a:t>    list2.add(50); // int to Integer object conversion is autoboxing</a:t>
            </a:r>
          </a:p>
          <a:p>
            <a:r>
              <a:rPr lang="en-IN" sz="900" dirty="0"/>
              <a:t>    list2.add(20);</a:t>
            </a:r>
          </a:p>
          <a:p>
            <a:r>
              <a:rPr lang="en-IN" sz="900" dirty="0"/>
              <a:t>    list2.add(40);</a:t>
            </a:r>
          </a:p>
          <a:p>
            <a:r>
              <a:rPr lang="en-IN" sz="900" dirty="0"/>
              <a:t>    list2.add(30);</a:t>
            </a:r>
          </a:p>
          <a:p>
            <a:endParaRPr lang="en-IN" sz="900" dirty="0"/>
          </a:p>
          <a:p>
            <a:r>
              <a:rPr lang="en-IN" sz="900" dirty="0"/>
              <a:t>    Iterator&lt;Integer&gt; i2=list2.iterator();</a:t>
            </a:r>
          </a:p>
          <a:p>
            <a:r>
              <a:rPr lang="en-IN" sz="900" dirty="0"/>
              <a:t>    while(i2.hasNext()) {</a:t>
            </a:r>
          </a:p>
          <a:p>
            <a:r>
              <a:rPr lang="en-IN" sz="900" dirty="0"/>
              <a:t>      int ii=i2.next(); // auto unboxing</a:t>
            </a:r>
          </a:p>
          <a:p>
            <a:r>
              <a:rPr lang="en-IN" sz="900" dirty="0"/>
              <a:t>      System.out.println(ii);</a:t>
            </a:r>
          </a:p>
          <a:p>
            <a:r>
              <a:rPr lang="en-IN" sz="900" dirty="0"/>
              <a:t>    }</a:t>
            </a:r>
          </a:p>
          <a:p>
            <a:r>
              <a:rPr lang="en-IN" sz="900" dirty="0"/>
              <a:t>    System.out.println("*****************************************");</a:t>
            </a:r>
          </a:p>
          <a:p>
            <a:endParaRPr lang="en-IN" sz="900" dirty="0"/>
          </a:p>
          <a:p>
            <a:r>
              <a:rPr lang="en-IN" sz="900" dirty="0"/>
              <a:t>    List&lt;Integer&gt; list3=new </a:t>
            </a:r>
            <a:r>
              <a:rPr lang="en-IN" sz="900" dirty="0" err="1"/>
              <a:t>ArrayList</a:t>
            </a:r>
            <a:r>
              <a:rPr lang="en-IN" sz="900" dirty="0"/>
              <a:t>&lt;Integer&gt;();</a:t>
            </a:r>
          </a:p>
          <a:p>
            <a:r>
              <a:rPr lang="en-IN" sz="900" dirty="0"/>
              <a:t>    list3.add(10);list3.add(20);list3.add(30);list3.add(100);</a:t>
            </a:r>
          </a:p>
          <a:p>
            <a:endParaRPr lang="en-IN" sz="900" dirty="0"/>
          </a:p>
          <a:p>
            <a:r>
              <a:rPr lang="en-IN" sz="900" dirty="0"/>
              <a:t>    list2.retainAll(list3);</a:t>
            </a:r>
          </a:p>
          <a:p>
            <a:endParaRPr lang="en-IN" sz="900" dirty="0"/>
          </a:p>
          <a:p>
            <a:r>
              <a:rPr lang="en-IN" sz="900" dirty="0"/>
              <a:t>    for(int iii:list2) {</a:t>
            </a:r>
          </a:p>
          <a:p>
            <a:r>
              <a:rPr lang="en-IN" sz="900" dirty="0"/>
              <a:t>      System.out.println(iii);</a:t>
            </a:r>
          </a:p>
          <a:p>
            <a:r>
              <a:rPr lang="en-IN" sz="900" dirty="0"/>
              <a:t>    }</a:t>
            </a:r>
          </a:p>
          <a:p>
            <a:r>
              <a:rPr lang="en-IN" sz="900" dirty="0"/>
              <a:t>    System.out.println("*****************************************");</a:t>
            </a:r>
          </a:p>
        </p:txBody>
      </p:sp>
      <p:sp>
        <p:nvSpPr>
          <p:cNvPr id="14" name="TextBox 13">
            <a:extLst>
              <a:ext uri="{FF2B5EF4-FFF2-40B4-BE49-F238E27FC236}">
                <a16:creationId xmlns:a16="http://schemas.microsoft.com/office/drawing/2014/main" xmlns="" id="{59D86091-5607-9FCF-6E90-7DCEF3AAECFD}"/>
              </a:ext>
            </a:extLst>
          </p:cNvPr>
          <p:cNvSpPr txBox="1"/>
          <p:nvPr/>
        </p:nvSpPr>
        <p:spPr>
          <a:xfrm>
            <a:off x="7486659" y="904649"/>
            <a:ext cx="4369164" cy="3785652"/>
          </a:xfrm>
          <a:prstGeom prst="rect">
            <a:avLst/>
          </a:prstGeom>
          <a:noFill/>
        </p:spPr>
        <p:txBody>
          <a:bodyPr wrap="square">
            <a:spAutoFit/>
          </a:bodyPr>
          <a:lstStyle/>
          <a:p>
            <a:r>
              <a:rPr lang="en-IN" sz="1200" dirty="0"/>
              <a:t>ListIterator&lt;Integer&gt; li=list2.listIterator();</a:t>
            </a:r>
          </a:p>
          <a:p>
            <a:r>
              <a:rPr lang="en-IN" sz="1200" dirty="0" err="1"/>
              <a:t>li.add</a:t>
            </a:r>
            <a:r>
              <a:rPr lang="en-IN" sz="1200" dirty="0"/>
              <a:t>(70); </a:t>
            </a:r>
            <a:r>
              <a:rPr lang="en-IN" sz="1200" dirty="0" err="1"/>
              <a:t>li.add</a:t>
            </a:r>
            <a:r>
              <a:rPr lang="en-IN" sz="1200" dirty="0"/>
              <a:t>(60); </a:t>
            </a:r>
            <a:r>
              <a:rPr lang="en-IN" sz="1200" dirty="0" err="1"/>
              <a:t>li.add</a:t>
            </a:r>
            <a:r>
              <a:rPr lang="en-IN" sz="1200" dirty="0"/>
              <a:t>(80);</a:t>
            </a:r>
          </a:p>
          <a:p>
            <a:r>
              <a:rPr lang="en-IN" sz="1200" dirty="0"/>
              <a:t>System.out.println("**********Forward Fetch************");</a:t>
            </a:r>
          </a:p>
          <a:p>
            <a:r>
              <a:rPr lang="en-IN" sz="1200" dirty="0"/>
              <a:t>while(</a:t>
            </a:r>
            <a:r>
              <a:rPr lang="en-IN" sz="1200" dirty="0" err="1"/>
              <a:t>li.hasNext</a:t>
            </a:r>
            <a:r>
              <a:rPr lang="en-IN" sz="1200" dirty="0"/>
              <a:t>()) {</a:t>
            </a:r>
          </a:p>
          <a:p>
            <a:r>
              <a:rPr lang="en-IN" sz="1200" dirty="0"/>
              <a:t>   int i1=</a:t>
            </a:r>
            <a:r>
              <a:rPr lang="en-IN" sz="1200" dirty="0" err="1"/>
              <a:t>li.next</a:t>
            </a:r>
            <a:r>
              <a:rPr lang="en-IN" sz="1200" dirty="0"/>
              <a:t>();</a:t>
            </a:r>
          </a:p>
          <a:p>
            <a:r>
              <a:rPr lang="en-IN" sz="1200" dirty="0"/>
              <a:t>   System.out.println(i1);</a:t>
            </a:r>
          </a:p>
          <a:p>
            <a:r>
              <a:rPr lang="en-IN" sz="1200" dirty="0"/>
              <a:t>}</a:t>
            </a:r>
          </a:p>
          <a:p>
            <a:endParaRPr lang="en-IN" sz="1200" dirty="0"/>
          </a:p>
          <a:p>
            <a:r>
              <a:rPr lang="en-IN" sz="1200" dirty="0"/>
              <a:t>System.out.println("***********Reverse Fetch***********");</a:t>
            </a:r>
          </a:p>
          <a:p>
            <a:r>
              <a:rPr lang="en-IN" sz="1200" dirty="0"/>
              <a:t>while(</a:t>
            </a:r>
            <a:r>
              <a:rPr lang="en-IN" sz="1200" dirty="0" err="1"/>
              <a:t>li.hasPrevious</a:t>
            </a:r>
            <a:r>
              <a:rPr lang="en-IN" sz="1200" dirty="0"/>
              <a:t>()) {</a:t>
            </a:r>
          </a:p>
          <a:p>
            <a:r>
              <a:rPr lang="en-IN" sz="1200" dirty="0"/>
              <a:t>   int i1=</a:t>
            </a:r>
            <a:r>
              <a:rPr lang="en-IN" sz="1200" dirty="0" err="1"/>
              <a:t>li.previous</a:t>
            </a:r>
            <a:r>
              <a:rPr lang="en-IN" sz="1200" dirty="0"/>
              <a:t>();</a:t>
            </a:r>
          </a:p>
          <a:p>
            <a:r>
              <a:rPr lang="en-IN" sz="1200" dirty="0"/>
              <a:t>   System.out.println(i1);</a:t>
            </a:r>
          </a:p>
          <a:p>
            <a:r>
              <a:rPr lang="en-IN" sz="1200" dirty="0"/>
              <a:t>}</a:t>
            </a:r>
          </a:p>
          <a:p>
            <a:endParaRPr lang="en-IN" sz="1200" dirty="0"/>
          </a:p>
          <a:p>
            <a:r>
              <a:rPr lang="en-IN" sz="1200" dirty="0"/>
              <a:t>System.out.println("********verifying list2 Fetch********");</a:t>
            </a:r>
          </a:p>
          <a:p>
            <a:r>
              <a:rPr lang="en-IN" sz="1200" dirty="0"/>
              <a:t>        for(int iiii:list2) {</a:t>
            </a:r>
          </a:p>
          <a:p>
            <a:r>
              <a:rPr lang="en-IN" sz="1200" dirty="0"/>
              <a:t>           System.out.println(</a:t>
            </a:r>
            <a:r>
              <a:rPr lang="en-IN" sz="1200" dirty="0" err="1"/>
              <a:t>iiii</a:t>
            </a:r>
            <a:r>
              <a:rPr lang="en-IN" sz="1200" dirty="0"/>
              <a:t>);</a:t>
            </a:r>
          </a:p>
          <a:p>
            <a:r>
              <a:rPr lang="en-IN" sz="1200" dirty="0"/>
              <a:t>        }</a:t>
            </a:r>
          </a:p>
          <a:p>
            <a:r>
              <a:rPr lang="en-IN" sz="1200" dirty="0"/>
              <a:t>  }</a:t>
            </a:r>
          </a:p>
          <a:p>
            <a:r>
              <a:rPr lang="en-IN" sz="1200" dirty="0"/>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21182"/>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417330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CFE30CDF-6925-CE1F-ABD8-B9EB4BC87B2F}"/>
              </a:ext>
            </a:extLst>
          </p:cNvPr>
          <p:cNvSpPr txBox="1"/>
          <p:nvPr/>
        </p:nvSpPr>
        <p:spPr>
          <a:xfrm>
            <a:off x="279039" y="1005525"/>
            <a:ext cx="4951867" cy="5078313"/>
          </a:xfrm>
          <a:prstGeom prst="rect">
            <a:avLst/>
          </a:prstGeom>
          <a:noFill/>
        </p:spPr>
        <p:txBody>
          <a:bodyPr wrap="square">
            <a:spAutoFit/>
          </a:bodyPr>
          <a:lstStyle/>
          <a:p>
            <a:pPr algn="just"/>
            <a:r>
              <a:rPr lang="en-IN" b="1" dirty="0"/>
              <a:t>// Example on HashSet (Unique and unordered)</a:t>
            </a:r>
          </a:p>
          <a:p>
            <a:pPr algn="just"/>
            <a:r>
              <a:rPr lang="en-IN" b="1" dirty="0"/>
              <a:t>// HashSetDemo.java</a:t>
            </a:r>
          </a:p>
          <a:p>
            <a:pPr algn="just"/>
            <a:r>
              <a:rPr lang="en-IN" dirty="0"/>
              <a:t>import java.util.*;</a:t>
            </a:r>
          </a:p>
          <a:p>
            <a:pPr algn="just"/>
            <a:r>
              <a:rPr lang="en-IN" dirty="0"/>
              <a:t>public class </a:t>
            </a:r>
            <a:r>
              <a:rPr lang="en-IN" dirty="0" err="1"/>
              <a:t>HashSetDemo</a:t>
            </a:r>
            <a:r>
              <a:rPr lang="en-IN" dirty="0"/>
              <a:t> {</a:t>
            </a:r>
          </a:p>
          <a:p>
            <a:pPr algn="just"/>
            <a:r>
              <a:rPr lang="en-IN" dirty="0"/>
              <a:t>  public static void main(String rags[]) {</a:t>
            </a:r>
          </a:p>
          <a:p>
            <a:pPr algn="just"/>
            <a:r>
              <a:rPr lang="en-IN" dirty="0"/>
              <a:t>    Set&lt;String&gt; set=new HashSet&lt;String&gt;();</a:t>
            </a:r>
          </a:p>
          <a:p>
            <a:pPr algn="just"/>
            <a:r>
              <a:rPr lang="en-IN" dirty="0"/>
              <a:t>    </a:t>
            </a:r>
            <a:r>
              <a:rPr lang="en-IN" dirty="0" err="1"/>
              <a:t>set.add</a:t>
            </a:r>
            <a:r>
              <a:rPr lang="en-IN" dirty="0"/>
              <a:t>("Apple");</a:t>
            </a:r>
          </a:p>
          <a:p>
            <a:pPr algn="just"/>
            <a:r>
              <a:rPr lang="en-IN" dirty="0"/>
              <a:t>    </a:t>
            </a:r>
            <a:r>
              <a:rPr lang="en-IN" dirty="0" err="1"/>
              <a:t>set.add</a:t>
            </a:r>
            <a:r>
              <a:rPr lang="en-IN" dirty="0"/>
              <a:t>("Mango");</a:t>
            </a:r>
          </a:p>
          <a:p>
            <a:pPr algn="just"/>
            <a:r>
              <a:rPr lang="en-IN" dirty="0"/>
              <a:t>    </a:t>
            </a:r>
            <a:r>
              <a:rPr lang="en-IN" dirty="0" err="1"/>
              <a:t>set.add</a:t>
            </a:r>
            <a:r>
              <a:rPr lang="en-IN" dirty="0"/>
              <a:t>("Guava");</a:t>
            </a:r>
          </a:p>
          <a:p>
            <a:pPr algn="just"/>
            <a:r>
              <a:rPr lang="en-IN" dirty="0"/>
              <a:t>    </a:t>
            </a:r>
            <a:r>
              <a:rPr lang="en-IN" dirty="0" err="1"/>
              <a:t>set.add</a:t>
            </a:r>
            <a:r>
              <a:rPr lang="en-IN" dirty="0"/>
              <a:t>("Pineapple");</a:t>
            </a:r>
          </a:p>
          <a:p>
            <a:pPr algn="just"/>
            <a:r>
              <a:rPr lang="en-IN" dirty="0"/>
              <a:t>    </a:t>
            </a:r>
            <a:r>
              <a:rPr lang="en-IN" dirty="0" err="1"/>
              <a:t>set.add</a:t>
            </a:r>
            <a:r>
              <a:rPr lang="en-IN" dirty="0"/>
              <a:t>("Grapes");</a:t>
            </a:r>
          </a:p>
          <a:p>
            <a:pPr algn="just"/>
            <a:r>
              <a:rPr lang="en-IN" dirty="0"/>
              <a:t>    </a:t>
            </a:r>
            <a:r>
              <a:rPr lang="en-IN" dirty="0" err="1"/>
              <a:t>set.add</a:t>
            </a:r>
            <a:r>
              <a:rPr lang="en-IN" dirty="0"/>
              <a:t>("Mango");</a:t>
            </a:r>
          </a:p>
          <a:p>
            <a:pPr algn="just"/>
            <a:r>
              <a:rPr lang="en-IN" dirty="0"/>
              <a:t>	</a:t>
            </a:r>
          </a:p>
          <a:p>
            <a:pPr algn="just"/>
            <a:r>
              <a:rPr lang="en-IN" dirty="0"/>
              <a:t>    for(String </a:t>
            </a:r>
            <a:r>
              <a:rPr lang="en-IN" dirty="0" err="1"/>
              <a:t>str:set</a:t>
            </a:r>
            <a:r>
              <a:rPr lang="en-IN" dirty="0"/>
              <a:t>) {</a:t>
            </a:r>
          </a:p>
          <a:p>
            <a:pPr algn="just"/>
            <a:r>
              <a:rPr lang="en-IN" dirty="0"/>
              <a:t>      System.out.println(str+" "+</a:t>
            </a:r>
            <a:r>
              <a:rPr lang="en-IN" dirty="0" err="1"/>
              <a:t>str.hashCode</a:t>
            </a:r>
            <a:r>
              <a:rPr lang="en-IN" dirty="0"/>
              <a:t>());</a:t>
            </a:r>
          </a:p>
          <a:p>
            <a:pPr algn="just"/>
            <a:r>
              <a:rPr lang="en-IN" dirty="0"/>
              <a:t>    }</a:t>
            </a:r>
          </a:p>
          <a:p>
            <a:pPr algn="just"/>
            <a:r>
              <a:rPr lang="en-IN" dirty="0"/>
              <a:t>  }</a:t>
            </a:r>
          </a:p>
          <a:p>
            <a:pPr algn="just"/>
            <a:r>
              <a:rPr lang="en-IN" dirty="0"/>
              <a:t>}</a:t>
            </a:r>
          </a:p>
        </p:txBody>
      </p:sp>
      <p:sp>
        <p:nvSpPr>
          <p:cNvPr id="15" name="TextBox 14">
            <a:extLst>
              <a:ext uri="{FF2B5EF4-FFF2-40B4-BE49-F238E27FC236}">
                <a16:creationId xmlns:a16="http://schemas.microsoft.com/office/drawing/2014/main" xmlns="" id="{AF569FA0-0F0A-082E-62BB-F47265237B2C}"/>
              </a:ext>
            </a:extLst>
          </p:cNvPr>
          <p:cNvSpPr txBox="1"/>
          <p:nvPr/>
        </p:nvSpPr>
        <p:spPr>
          <a:xfrm>
            <a:off x="5230906" y="1236357"/>
            <a:ext cx="6125134" cy="2031325"/>
          </a:xfrm>
          <a:prstGeom prst="rect">
            <a:avLst/>
          </a:prstGeom>
          <a:noFill/>
        </p:spPr>
        <p:txBody>
          <a:bodyPr wrap="square">
            <a:spAutoFit/>
          </a:bodyPr>
          <a:lstStyle/>
          <a:p>
            <a:pPr algn="just"/>
            <a:r>
              <a:rPr lang="en-IN" dirty="0"/>
              <a:t>Note: Please refer API documentation on Collections class and ListIterator interfaces</a:t>
            </a:r>
          </a:p>
          <a:p>
            <a:pPr algn="just"/>
            <a:endParaRPr lang="en-IN" dirty="0"/>
          </a:p>
          <a:p>
            <a:pPr algn="just"/>
            <a:r>
              <a:rPr lang="en-IN" dirty="0"/>
              <a:t>Set maintains uniqueness but no order. Sometimes we want uniqueness with given order or natural order.</a:t>
            </a:r>
          </a:p>
          <a:p>
            <a:pPr marL="285750" indent="-285750" algn="just">
              <a:buFont typeface="Wingdings" panose="05000000000000000000" pitchFamily="2" charset="2"/>
              <a:buChar char="ü"/>
            </a:pPr>
            <a:r>
              <a:rPr lang="en-IN" dirty="0"/>
              <a:t>TreeSet for unique and natural order</a:t>
            </a:r>
          </a:p>
          <a:p>
            <a:pPr marL="285750" indent="-285750" algn="just">
              <a:buFont typeface="Wingdings" panose="05000000000000000000" pitchFamily="2" charset="2"/>
              <a:buChar char="ü"/>
            </a:pPr>
            <a:r>
              <a:rPr lang="en-IN" dirty="0"/>
              <a:t>LinkedHashSet for unique and given order</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41801884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C204022D-3E74-383F-5A24-B36C6D679DD2}"/>
              </a:ext>
            </a:extLst>
          </p:cNvPr>
          <p:cNvSpPr txBox="1"/>
          <p:nvPr/>
        </p:nvSpPr>
        <p:spPr>
          <a:xfrm>
            <a:off x="63874" y="978690"/>
            <a:ext cx="5674659" cy="3693319"/>
          </a:xfrm>
          <a:prstGeom prst="rect">
            <a:avLst/>
          </a:prstGeom>
          <a:noFill/>
        </p:spPr>
        <p:txBody>
          <a:bodyPr wrap="square">
            <a:spAutoFit/>
          </a:bodyPr>
          <a:lstStyle/>
          <a:p>
            <a:r>
              <a:rPr lang="en-IN" dirty="0"/>
              <a:t>// IntTreeSetDemo.java</a:t>
            </a:r>
          </a:p>
          <a:p>
            <a:r>
              <a:rPr lang="en-IN" dirty="0"/>
              <a:t>import java.util.*;</a:t>
            </a:r>
          </a:p>
          <a:p>
            <a:r>
              <a:rPr lang="en-IN" dirty="0"/>
              <a:t>public class </a:t>
            </a:r>
            <a:r>
              <a:rPr lang="en-IN" dirty="0" err="1"/>
              <a:t>IntTreeSetDemo</a:t>
            </a:r>
            <a:r>
              <a:rPr lang="en-IN" dirty="0"/>
              <a:t> {</a:t>
            </a:r>
          </a:p>
          <a:p>
            <a:r>
              <a:rPr lang="en-IN" dirty="0"/>
              <a:t>  public static void main(String rags[]) {</a:t>
            </a:r>
          </a:p>
          <a:p>
            <a:r>
              <a:rPr lang="en-IN" dirty="0"/>
              <a:t>    TreeSet&lt;Integer&gt; </a:t>
            </a:r>
            <a:r>
              <a:rPr lang="en-IN" dirty="0" err="1"/>
              <a:t>ts</a:t>
            </a:r>
            <a:r>
              <a:rPr lang="en-IN" dirty="0"/>
              <a:t>=new TreeSet&lt;Integer&gt;();</a:t>
            </a:r>
          </a:p>
          <a:p>
            <a:r>
              <a:rPr lang="en-IN" dirty="0"/>
              <a:t>    // converting primitive values into wrapper class objects is called as autoboxing</a:t>
            </a:r>
          </a:p>
          <a:p>
            <a:r>
              <a:rPr lang="en-IN" dirty="0"/>
              <a:t>    </a:t>
            </a:r>
            <a:r>
              <a:rPr lang="en-IN" dirty="0" err="1"/>
              <a:t>ts.add</a:t>
            </a:r>
            <a:r>
              <a:rPr lang="en-IN" dirty="0"/>
              <a:t>(new Integer(3));</a:t>
            </a:r>
          </a:p>
          <a:p>
            <a:r>
              <a:rPr lang="en-IN" dirty="0"/>
              <a:t>    </a:t>
            </a:r>
            <a:r>
              <a:rPr lang="en-IN" dirty="0" err="1"/>
              <a:t>ts.add</a:t>
            </a:r>
            <a:r>
              <a:rPr lang="en-IN" dirty="0"/>
              <a:t>(4); // auto boxing; converting primitive int into Integer type object</a:t>
            </a:r>
          </a:p>
          <a:p>
            <a:r>
              <a:rPr lang="en-IN" dirty="0"/>
              <a:t>    </a:t>
            </a:r>
            <a:r>
              <a:rPr lang="en-IN" dirty="0" err="1"/>
              <a:t>ts.add</a:t>
            </a:r>
            <a:r>
              <a:rPr lang="en-IN" dirty="0"/>
              <a:t>(2);</a:t>
            </a:r>
          </a:p>
          <a:p>
            <a:r>
              <a:rPr lang="en-IN" dirty="0"/>
              <a:t>    </a:t>
            </a:r>
            <a:r>
              <a:rPr lang="en-IN" dirty="0" err="1"/>
              <a:t>ts.add</a:t>
            </a:r>
            <a:r>
              <a:rPr lang="en-IN" dirty="0"/>
              <a:t>(5);</a:t>
            </a:r>
          </a:p>
          <a:p>
            <a:r>
              <a:rPr lang="en-IN" dirty="0"/>
              <a:t>    </a:t>
            </a:r>
            <a:r>
              <a:rPr lang="en-IN" dirty="0" err="1"/>
              <a:t>ts.add</a:t>
            </a:r>
            <a:r>
              <a:rPr lang="en-IN" dirty="0"/>
              <a:t>(1);</a:t>
            </a:r>
          </a:p>
        </p:txBody>
      </p:sp>
      <p:sp>
        <p:nvSpPr>
          <p:cNvPr id="12" name="TextBox 11">
            <a:extLst>
              <a:ext uri="{FF2B5EF4-FFF2-40B4-BE49-F238E27FC236}">
                <a16:creationId xmlns:a16="http://schemas.microsoft.com/office/drawing/2014/main" xmlns="" id="{69B1543E-F03E-3D50-69C9-63221B1A515A}"/>
              </a:ext>
            </a:extLst>
          </p:cNvPr>
          <p:cNvSpPr txBox="1"/>
          <p:nvPr/>
        </p:nvSpPr>
        <p:spPr>
          <a:xfrm>
            <a:off x="5637965" y="876300"/>
            <a:ext cx="5079342" cy="5078313"/>
          </a:xfrm>
          <a:prstGeom prst="rect">
            <a:avLst/>
          </a:prstGeom>
          <a:noFill/>
        </p:spPr>
        <p:txBody>
          <a:bodyPr wrap="square">
            <a:spAutoFit/>
          </a:bodyPr>
          <a:lstStyle/>
          <a:p>
            <a:r>
              <a:rPr lang="en-IN" dirty="0"/>
              <a:t>Iterator&lt;Integer&gt; </a:t>
            </a:r>
            <a:r>
              <a:rPr lang="en-IN" dirty="0" err="1"/>
              <a:t>i</a:t>
            </a:r>
            <a:r>
              <a:rPr lang="en-IN" dirty="0"/>
              <a:t>=</a:t>
            </a:r>
            <a:r>
              <a:rPr lang="en-IN" dirty="0" err="1"/>
              <a:t>ts.iterator</a:t>
            </a:r>
            <a:r>
              <a:rPr lang="en-IN" dirty="0"/>
              <a:t>();</a:t>
            </a:r>
          </a:p>
          <a:p>
            <a:r>
              <a:rPr lang="en-IN" dirty="0"/>
              <a:t>while(</a:t>
            </a:r>
            <a:r>
              <a:rPr lang="en-IN" dirty="0" err="1"/>
              <a:t>i.hasNext</a:t>
            </a:r>
            <a:r>
              <a:rPr lang="en-IN" dirty="0"/>
              <a:t>()) {</a:t>
            </a:r>
          </a:p>
          <a:p>
            <a:r>
              <a:rPr lang="en-IN" dirty="0"/>
              <a:t>  /*</a:t>
            </a:r>
          </a:p>
          <a:p>
            <a:r>
              <a:rPr lang="en-IN" dirty="0"/>
              <a:t>  Object o=</a:t>
            </a:r>
            <a:r>
              <a:rPr lang="en-IN" dirty="0" err="1"/>
              <a:t>i.next</a:t>
            </a:r>
            <a:r>
              <a:rPr lang="en-IN" dirty="0"/>
              <a:t>();</a:t>
            </a:r>
          </a:p>
          <a:p>
            <a:r>
              <a:rPr lang="en-IN" dirty="0"/>
              <a:t>  Integer in=(Integer)o; // manual unboxing</a:t>
            </a:r>
          </a:p>
          <a:p>
            <a:r>
              <a:rPr lang="en-IN" dirty="0"/>
              <a:t>  int inn=</a:t>
            </a:r>
            <a:r>
              <a:rPr lang="en-IN" dirty="0" err="1"/>
              <a:t>in.intValue</a:t>
            </a:r>
            <a:r>
              <a:rPr lang="en-IN" dirty="0"/>
              <a:t>();</a:t>
            </a:r>
          </a:p>
          <a:p>
            <a:r>
              <a:rPr lang="en-IN" dirty="0"/>
              <a:t>  */</a:t>
            </a:r>
          </a:p>
          <a:p>
            <a:r>
              <a:rPr lang="en-IN" dirty="0"/>
              <a:t>  int inn=</a:t>
            </a:r>
            <a:r>
              <a:rPr lang="en-IN" dirty="0" err="1"/>
              <a:t>i.next</a:t>
            </a:r>
            <a:r>
              <a:rPr lang="en-IN" dirty="0"/>
              <a:t>(); // auto unboxing, converting object into int</a:t>
            </a:r>
          </a:p>
          <a:p>
            <a:r>
              <a:rPr lang="en-IN" dirty="0"/>
              <a:t>  System.out.println(inn);</a:t>
            </a:r>
          </a:p>
          <a:p>
            <a:r>
              <a:rPr lang="en-IN" dirty="0"/>
              <a:t>}</a:t>
            </a:r>
          </a:p>
          <a:p>
            <a:r>
              <a:rPr lang="en-IN" dirty="0"/>
              <a:t>	</a:t>
            </a:r>
          </a:p>
          <a:p>
            <a:r>
              <a:rPr lang="en-IN" dirty="0"/>
              <a:t>   </a:t>
            </a:r>
            <a:r>
              <a:rPr lang="en-IN" sz="1100" dirty="0"/>
              <a:t> // iterating Collection using enhanced for loop / for-each loop</a:t>
            </a:r>
            <a:endParaRPr lang="en-IN" dirty="0"/>
          </a:p>
          <a:p>
            <a:r>
              <a:rPr lang="en-IN" dirty="0"/>
              <a:t>    for(int i:ts) { // auto-unboxing</a:t>
            </a:r>
          </a:p>
          <a:p>
            <a:r>
              <a:rPr lang="en-IN" dirty="0"/>
              <a:t>	System.out.println(</a:t>
            </a:r>
            <a:r>
              <a:rPr lang="en-IN" dirty="0" err="1"/>
              <a:t>i</a:t>
            </a:r>
            <a:r>
              <a:rPr lang="en-IN" dirty="0"/>
              <a:t>);</a:t>
            </a:r>
          </a:p>
          <a:p>
            <a:r>
              <a:rPr lang="en-IN" dirty="0"/>
              <a:t>    }</a:t>
            </a:r>
          </a:p>
          <a:p>
            <a:r>
              <a:rPr lang="en-IN" dirty="0"/>
              <a:t>  }</a:t>
            </a:r>
          </a:p>
          <a:p>
            <a:r>
              <a:rPr lang="en-IN" dirty="0"/>
              <a:t>}</a:t>
            </a:r>
          </a:p>
        </p:txBody>
      </p:sp>
      <p:sp>
        <p:nvSpPr>
          <p:cNvPr id="11" name="Footer Placeholder 6">
            <a:extLst>
              <a:ext uri="{FF2B5EF4-FFF2-40B4-BE49-F238E27FC236}">
                <a16:creationId xmlns:a16="http://schemas.microsoft.com/office/drawing/2014/main" xmlns="" id="{91104A4B-9DF2-5A7B-6B22-957240982562}"/>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smtClean="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825203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7F3C751D-9B2B-1743-FD87-715DA13152BD}"/>
              </a:ext>
            </a:extLst>
          </p:cNvPr>
          <p:cNvSpPr txBox="1"/>
          <p:nvPr/>
        </p:nvSpPr>
        <p:spPr>
          <a:xfrm>
            <a:off x="363071" y="1970945"/>
            <a:ext cx="8784290" cy="2554545"/>
          </a:xfrm>
          <a:prstGeom prst="rect">
            <a:avLst/>
          </a:prstGeom>
          <a:noFill/>
        </p:spPr>
        <p:txBody>
          <a:bodyPr wrap="square">
            <a:spAutoFit/>
          </a:bodyPr>
          <a:lstStyle/>
          <a:p>
            <a:pPr algn="just"/>
            <a:r>
              <a:rPr lang="en-IN" sz="2000" dirty="0"/>
              <a:t>Note: While adding primitive values and String we need not have to write any special </a:t>
            </a:r>
            <a:r>
              <a:rPr lang="en-IN" sz="2000" dirty="0" err="1"/>
              <a:t>implemention</a:t>
            </a:r>
            <a:r>
              <a:rPr lang="en-IN" sz="2000" dirty="0"/>
              <a:t> before adding these objects into TreeSet. But while inserting user defined objects into TreeSet the user defined classes must be implemented from Comparable interface, </a:t>
            </a:r>
            <a:r>
              <a:rPr lang="en-IN" sz="2000" dirty="0" err="1"/>
              <a:t>compareTo</a:t>
            </a:r>
            <a:r>
              <a:rPr lang="en-IN" sz="2000" dirty="0"/>
              <a:t>() method must be implemented.</a:t>
            </a:r>
          </a:p>
          <a:p>
            <a:pPr algn="just"/>
            <a:endParaRPr lang="en-IN" sz="2000" dirty="0"/>
          </a:p>
          <a:p>
            <a:pPr algn="just"/>
            <a:r>
              <a:rPr lang="en-IN" sz="2000" dirty="0"/>
              <a:t>interface </a:t>
            </a:r>
            <a:r>
              <a:rPr lang="en-IN" sz="2000" dirty="0" err="1"/>
              <a:t>java.lang.Comparable</a:t>
            </a:r>
            <a:r>
              <a:rPr lang="en-IN" sz="2000" dirty="0"/>
              <a:t> {</a:t>
            </a:r>
          </a:p>
          <a:p>
            <a:pPr algn="just"/>
            <a:r>
              <a:rPr lang="en-IN" sz="2000" dirty="0"/>
              <a:t>	int </a:t>
            </a:r>
            <a:r>
              <a:rPr lang="en-IN" sz="2000" dirty="0" err="1"/>
              <a:t>compareTo</a:t>
            </a:r>
            <a:r>
              <a:rPr lang="en-IN" sz="2000" dirty="0"/>
              <a:t>(Object o);</a:t>
            </a:r>
          </a:p>
          <a:p>
            <a:pPr algn="just"/>
            <a:r>
              <a:rPr lang="en-IN" sz="2000" dirty="0"/>
              <a:t>}</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206957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EE827DB0-B515-A22A-381D-AA121DEE0DED}"/>
              </a:ext>
            </a:extLst>
          </p:cNvPr>
          <p:cNvSpPr txBox="1"/>
          <p:nvPr/>
        </p:nvSpPr>
        <p:spPr>
          <a:xfrm>
            <a:off x="77333" y="998990"/>
            <a:ext cx="5247702" cy="5693866"/>
          </a:xfrm>
          <a:prstGeom prst="rect">
            <a:avLst/>
          </a:prstGeom>
          <a:noFill/>
        </p:spPr>
        <p:txBody>
          <a:bodyPr wrap="square">
            <a:spAutoFit/>
          </a:bodyPr>
          <a:lstStyle/>
          <a:p>
            <a:r>
              <a:rPr lang="en-IN" sz="1600" dirty="0"/>
              <a:t>// Example on TreeSet</a:t>
            </a:r>
          </a:p>
          <a:p>
            <a:r>
              <a:rPr lang="en-IN" sz="1600" dirty="0"/>
              <a:t>// Emp.java</a:t>
            </a:r>
          </a:p>
          <a:p>
            <a:r>
              <a:rPr lang="en-IN" sz="1600" dirty="0"/>
              <a:t>public class Emp implements Serializable, Comparable {</a:t>
            </a:r>
          </a:p>
          <a:p>
            <a:r>
              <a:rPr lang="en-IN" sz="1600" dirty="0"/>
              <a:t>  int </a:t>
            </a:r>
            <a:r>
              <a:rPr lang="en-IN" sz="1600" dirty="0" err="1"/>
              <a:t>eid</a:t>
            </a:r>
            <a:r>
              <a:rPr lang="en-IN" sz="1600" dirty="0"/>
              <a:t>;</a:t>
            </a:r>
          </a:p>
          <a:p>
            <a:r>
              <a:rPr lang="en-IN" sz="1600" dirty="0"/>
              <a:t>  String </a:t>
            </a:r>
            <a:r>
              <a:rPr lang="en-IN" sz="1600" dirty="0" err="1"/>
              <a:t>ename</a:t>
            </a:r>
            <a:r>
              <a:rPr lang="en-IN" sz="1600" dirty="0"/>
              <a:t>;</a:t>
            </a:r>
          </a:p>
          <a:p>
            <a:r>
              <a:rPr lang="en-IN" sz="1600" dirty="0"/>
              <a:t>  double </a:t>
            </a:r>
            <a:r>
              <a:rPr lang="en-IN" sz="1600" dirty="0" err="1"/>
              <a:t>sal</a:t>
            </a:r>
            <a:r>
              <a:rPr lang="en-IN" sz="1600" dirty="0"/>
              <a:t>;</a:t>
            </a:r>
          </a:p>
          <a:p>
            <a:r>
              <a:rPr lang="en-IN" sz="1600" dirty="0"/>
              <a:t>  String </a:t>
            </a:r>
            <a:r>
              <a:rPr lang="en-IN" sz="1600" dirty="0" err="1"/>
              <a:t>desig</a:t>
            </a:r>
            <a:r>
              <a:rPr lang="en-IN" sz="1600" dirty="0"/>
              <a:t>;</a:t>
            </a:r>
          </a:p>
          <a:p>
            <a:r>
              <a:rPr lang="en-IN" sz="1600" dirty="0"/>
              <a:t>  </a:t>
            </a:r>
          </a:p>
          <a:p>
            <a:r>
              <a:rPr lang="en-IN" sz="1600" dirty="0"/>
              <a:t>  public Emp() {}</a:t>
            </a:r>
          </a:p>
          <a:p>
            <a:r>
              <a:rPr lang="en-IN" sz="1600" dirty="0"/>
              <a:t>  public Emp(int </a:t>
            </a:r>
            <a:r>
              <a:rPr lang="en-IN" sz="1600" dirty="0" err="1"/>
              <a:t>eid</a:t>
            </a:r>
            <a:r>
              <a:rPr lang="en-IN" sz="1600" dirty="0"/>
              <a:t>, String </a:t>
            </a:r>
            <a:r>
              <a:rPr lang="en-IN" sz="1600" dirty="0" err="1"/>
              <a:t>ename</a:t>
            </a:r>
            <a:r>
              <a:rPr lang="en-IN" sz="1600" dirty="0"/>
              <a:t>, double </a:t>
            </a:r>
            <a:r>
              <a:rPr lang="en-IN" sz="1600" dirty="0" err="1"/>
              <a:t>sal</a:t>
            </a:r>
            <a:r>
              <a:rPr lang="en-IN" sz="1600" dirty="0"/>
              <a:t>, String </a:t>
            </a:r>
            <a:r>
              <a:rPr lang="en-IN" sz="1600" dirty="0" err="1"/>
              <a:t>desig</a:t>
            </a:r>
            <a:r>
              <a:rPr lang="en-IN" sz="1600" dirty="0"/>
              <a:t>) {</a:t>
            </a:r>
          </a:p>
          <a:p>
            <a:r>
              <a:rPr lang="en-IN" sz="1600" dirty="0"/>
              <a:t>    </a:t>
            </a:r>
            <a:r>
              <a:rPr lang="en-IN" sz="1600" dirty="0" err="1"/>
              <a:t>this.eid</a:t>
            </a:r>
            <a:r>
              <a:rPr lang="en-IN" sz="1600" dirty="0"/>
              <a:t>=</a:t>
            </a:r>
            <a:r>
              <a:rPr lang="en-IN" sz="1600" dirty="0" err="1"/>
              <a:t>eid</a:t>
            </a:r>
            <a:r>
              <a:rPr lang="en-IN" sz="1600" dirty="0"/>
              <a:t>;</a:t>
            </a:r>
          </a:p>
          <a:p>
            <a:r>
              <a:rPr lang="en-IN" sz="1600" dirty="0"/>
              <a:t>    </a:t>
            </a:r>
            <a:r>
              <a:rPr lang="en-IN" sz="1600" dirty="0" err="1"/>
              <a:t>this.ename</a:t>
            </a:r>
            <a:r>
              <a:rPr lang="en-IN" sz="1600" dirty="0"/>
              <a:t>=</a:t>
            </a:r>
            <a:r>
              <a:rPr lang="en-IN" sz="1600" dirty="0" err="1"/>
              <a:t>ename</a:t>
            </a:r>
            <a:r>
              <a:rPr lang="en-IN" sz="1600" dirty="0"/>
              <a:t>;</a:t>
            </a:r>
          </a:p>
          <a:p>
            <a:r>
              <a:rPr lang="en-IN" sz="1600" dirty="0"/>
              <a:t>    </a:t>
            </a:r>
            <a:r>
              <a:rPr lang="en-IN" sz="1600" dirty="0" err="1"/>
              <a:t>this.sal</a:t>
            </a:r>
            <a:r>
              <a:rPr lang="en-IN" sz="1600" dirty="0"/>
              <a:t>=</a:t>
            </a:r>
            <a:r>
              <a:rPr lang="en-IN" sz="1600" dirty="0" err="1"/>
              <a:t>sal</a:t>
            </a:r>
            <a:r>
              <a:rPr lang="en-IN" sz="1600" dirty="0"/>
              <a:t>;</a:t>
            </a:r>
          </a:p>
          <a:p>
            <a:r>
              <a:rPr lang="en-IN" sz="1600" dirty="0"/>
              <a:t>    </a:t>
            </a:r>
            <a:r>
              <a:rPr lang="en-IN" sz="1600" dirty="0" err="1"/>
              <a:t>this.desig</a:t>
            </a:r>
            <a:r>
              <a:rPr lang="en-IN" sz="1600" dirty="0"/>
              <a:t>=</a:t>
            </a:r>
            <a:r>
              <a:rPr lang="en-IN" sz="1600" dirty="0" err="1"/>
              <a:t>desig</a:t>
            </a:r>
            <a:r>
              <a:rPr lang="en-IN" sz="1600" dirty="0"/>
              <a:t>;</a:t>
            </a:r>
          </a:p>
          <a:p>
            <a:r>
              <a:rPr lang="en-IN" sz="1600" dirty="0"/>
              <a:t>  }</a:t>
            </a:r>
          </a:p>
          <a:p>
            <a:r>
              <a:rPr lang="en-IN" sz="1600" dirty="0"/>
              <a:t>  </a:t>
            </a:r>
          </a:p>
          <a:p>
            <a:r>
              <a:rPr lang="en-IN" sz="1600" dirty="0"/>
              <a:t>  public void </a:t>
            </a:r>
            <a:r>
              <a:rPr lang="en-IN" sz="1600" dirty="0" err="1"/>
              <a:t>setEid</a:t>
            </a:r>
            <a:r>
              <a:rPr lang="en-IN" sz="1600" dirty="0"/>
              <a:t>(int </a:t>
            </a:r>
            <a:r>
              <a:rPr lang="en-IN" sz="1600" dirty="0" err="1"/>
              <a:t>eid</a:t>
            </a:r>
            <a:r>
              <a:rPr lang="en-IN" sz="1600" dirty="0"/>
              <a:t>) {</a:t>
            </a:r>
          </a:p>
          <a:p>
            <a:r>
              <a:rPr lang="en-IN" sz="1600" dirty="0"/>
              <a:t>    </a:t>
            </a:r>
            <a:r>
              <a:rPr lang="en-IN" sz="1600" dirty="0" err="1"/>
              <a:t>this.eid</a:t>
            </a:r>
            <a:r>
              <a:rPr lang="en-IN" sz="1600" dirty="0"/>
              <a:t>=</a:t>
            </a:r>
            <a:r>
              <a:rPr lang="en-IN" sz="1600" dirty="0" err="1"/>
              <a:t>eid</a:t>
            </a:r>
            <a:r>
              <a:rPr lang="en-IN" sz="1600" dirty="0"/>
              <a:t>;</a:t>
            </a:r>
          </a:p>
          <a:p>
            <a:r>
              <a:rPr lang="en-IN" sz="1600" dirty="0"/>
              <a:t>  }</a:t>
            </a:r>
          </a:p>
          <a:p>
            <a:r>
              <a:rPr lang="en-IN" sz="1600" dirty="0"/>
              <a:t>  public int </a:t>
            </a:r>
            <a:r>
              <a:rPr lang="en-IN" sz="1600" dirty="0" err="1"/>
              <a:t>getEid</a:t>
            </a:r>
            <a:r>
              <a:rPr lang="en-IN" sz="1600" dirty="0"/>
              <a:t>() {</a:t>
            </a:r>
          </a:p>
          <a:p>
            <a:r>
              <a:rPr lang="en-IN" sz="1600" dirty="0"/>
              <a:t>    return </a:t>
            </a:r>
            <a:r>
              <a:rPr lang="en-IN" sz="1600" dirty="0" err="1"/>
              <a:t>eid</a:t>
            </a:r>
            <a:r>
              <a:rPr lang="en-IN" sz="1600" dirty="0"/>
              <a:t>;</a:t>
            </a:r>
          </a:p>
          <a:p>
            <a:r>
              <a:rPr lang="en-IN" sz="1600" dirty="0"/>
              <a:t>  }</a:t>
            </a:r>
          </a:p>
        </p:txBody>
      </p:sp>
      <p:sp>
        <p:nvSpPr>
          <p:cNvPr id="12" name="TextBox 11">
            <a:extLst>
              <a:ext uri="{FF2B5EF4-FFF2-40B4-BE49-F238E27FC236}">
                <a16:creationId xmlns:a16="http://schemas.microsoft.com/office/drawing/2014/main" xmlns="" id="{6222C270-8222-7C6C-31C4-FF4FE857AF02}"/>
              </a:ext>
            </a:extLst>
          </p:cNvPr>
          <p:cNvSpPr txBox="1"/>
          <p:nvPr/>
        </p:nvSpPr>
        <p:spPr>
          <a:xfrm>
            <a:off x="5240987" y="899364"/>
            <a:ext cx="3275740" cy="5909310"/>
          </a:xfrm>
          <a:prstGeom prst="rect">
            <a:avLst/>
          </a:prstGeom>
          <a:noFill/>
        </p:spPr>
        <p:txBody>
          <a:bodyPr wrap="square">
            <a:spAutoFit/>
          </a:bodyPr>
          <a:lstStyle/>
          <a:p>
            <a:r>
              <a:rPr lang="en-IN" sz="1400" dirty="0"/>
              <a:t>  public void </a:t>
            </a:r>
            <a:r>
              <a:rPr lang="en-IN" sz="1400" dirty="0" err="1"/>
              <a:t>setEname</a:t>
            </a:r>
            <a:r>
              <a:rPr lang="en-IN" sz="1400" dirty="0"/>
              <a:t>(String </a:t>
            </a:r>
            <a:r>
              <a:rPr lang="en-IN" sz="1400" dirty="0" err="1"/>
              <a:t>ename</a:t>
            </a:r>
            <a:r>
              <a:rPr lang="en-IN" sz="1400" dirty="0"/>
              <a:t>) {</a:t>
            </a:r>
          </a:p>
          <a:p>
            <a:r>
              <a:rPr lang="en-IN" sz="1400" dirty="0"/>
              <a:t>    </a:t>
            </a:r>
            <a:r>
              <a:rPr lang="en-IN" sz="1400" dirty="0" err="1"/>
              <a:t>this.ename</a:t>
            </a:r>
            <a:r>
              <a:rPr lang="en-IN" sz="1400" dirty="0"/>
              <a:t>=</a:t>
            </a:r>
            <a:r>
              <a:rPr lang="en-IN" sz="1400" dirty="0" err="1"/>
              <a:t>ename</a:t>
            </a:r>
            <a:r>
              <a:rPr lang="en-IN" sz="1400" dirty="0"/>
              <a:t>;</a:t>
            </a:r>
          </a:p>
          <a:p>
            <a:r>
              <a:rPr lang="en-IN" sz="1400" dirty="0"/>
              <a:t>  }</a:t>
            </a:r>
          </a:p>
          <a:p>
            <a:r>
              <a:rPr lang="en-IN" sz="1400" dirty="0"/>
              <a:t>  public String </a:t>
            </a:r>
            <a:r>
              <a:rPr lang="en-IN" sz="1400" dirty="0" err="1"/>
              <a:t>getEname</a:t>
            </a:r>
            <a:r>
              <a:rPr lang="en-IN" sz="1400" dirty="0"/>
              <a:t>() {</a:t>
            </a:r>
          </a:p>
          <a:p>
            <a:r>
              <a:rPr lang="en-IN" sz="1400" dirty="0"/>
              <a:t>    return </a:t>
            </a:r>
            <a:r>
              <a:rPr lang="en-IN" sz="1400" dirty="0" err="1"/>
              <a:t>ename</a:t>
            </a:r>
            <a:r>
              <a:rPr lang="en-IN" sz="1400" dirty="0"/>
              <a:t>;</a:t>
            </a:r>
          </a:p>
          <a:p>
            <a:r>
              <a:rPr lang="en-IN" sz="1400" dirty="0"/>
              <a:t>  }</a:t>
            </a:r>
          </a:p>
          <a:p>
            <a:r>
              <a:rPr lang="en-IN" sz="1400" dirty="0"/>
              <a:t>  </a:t>
            </a:r>
          </a:p>
          <a:p>
            <a:r>
              <a:rPr lang="en-IN" sz="1400" dirty="0"/>
              <a:t>  public void </a:t>
            </a:r>
            <a:r>
              <a:rPr lang="en-IN" sz="1400" dirty="0" err="1"/>
              <a:t>setSal</a:t>
            </a:r>
            <a:r>
              <a:rPr lang="en-IN" sz="1400" dirty="0"/>
              <a:t>(double </a:t>
            </a:r>
            <a:r>
              <a:rPr lang="en-IN" sz="1400" dirty="0" err="1"/>
              <a:t>sal</a:t>
            </a:r>
            <a:r>
              <a:rPr lang="en-IN" sz="1400" dirty="0"/>
              <a:t>) {</a:t>
            </a:r>
          </a:p>
          <a:p>
            <a:r>
              <a:rPr lang="en-IN" sz="1400" dirty="0"/>
              <a:t>    </a:t>
            </a:r>
            <a:r>
              <a:rPr lang="en-IN" sz="1400" dirty="0" err="1"/>
              <a:t>this.sal</a:t>
            </a:r>
            <a:r>
              <a:rPr lang="en-IN" sz="1400" dirty="0"/>
              <a:t>=</a:t>
            </a:r>
            <a:r>
              <a:rPr lang="en-IN" sz="1400" dirty="0" err="1"/>
              <a:t>sal</a:t>
            </a:r>
            <a:r>
              <a:rPr lang="en-IN" sz="1400" dirty="0"/>
              <a:t>;</a:t>
            </a:r>
          </a:p>
          <a:p>
            <a:r>
              <a:rPr lang="en-IN" sz="1400" dirty="0"/>
              <a:t>  }</a:t>
            </a:r>
          </a:p>
          <a:p>
            <a:r>
              <a:rPr lang="en-IN" sz="1400" dirty="0"/>
              <a:t>  public double </a:t>
            </a:r>
            <a:r>
              <a:rPr lang="en-IN" sz="1400" dirty="0" err="1"/>
              <a:t>getSal</a:t>
            </a:r>
            <a:r>
              <a:rPr lang="en-IN" sz="1400" dirty="0"/>
              <a:t>() {</a:t>
            </a:r>
          </a:p>
          <a:p>
            <a:r>
              <a:rPr lang="en-IN" sz="1400" dirty="0"/>
              <a:t>    return </a:t>
            </a:r>
            <a:r>
              <a:rPr lang="en-IN" sz="1400" dirty="0" err="1"/>
              <a:t>sal</a:t>
            </a:r>
            <a:r>
              <a:rPr lang="en-IN" sz="1400" dirty="0"/>
              <a:t>;</a:t>
            </a:r>
          </a:p>
          <a:p>
            <a:r>
              <a:rPr lang="en-IN" sz="1400" dirty="0"/>
              <a:t>  }</a:t>
            </a:r>
          </a:p>
          <a:p>
            <a:r>
              <a:rPr lang="en-IN" sz="1400" dirty="0"/>
              <a:t>  </a:t>
            </a:r>
          </a:p>
          <a:p>
            <a:r>
              <a:rPr lang="en-IN" sz="1400" dirty="0"/>
              <a:t>  public void </a:t>
            </a:r>
            <a:r>
              <a:rPr lang="en-IN" sz="1400" dirty="0" err="1"/>
              <a:t>setDesig</a:t>
            </a:r>
            <a:r>
              <a:rPr lang="en-IN" sz="1400" dirty="0"/>
              <a:t>(String </a:t>
            </a:r>
            <a:r>
              <a:rPr lang="en-IN" sz="1400" dirty="0" err="1"/>
              <a:t>desig</a:t>
            </a:r>
            <a:r>
              <a:rPr lang="en-IN" sz="1400" dirty="0"/>
              <a:t>) {</a:t>
            </a:r>
          </a:p>
          <a:p>
            <a:r>
              <a:rPr lang="en-IN" sz="1400" dirty="0"/>
              <a:t>    </a:t>
            </a:r>
            <a:r>
              <a:rPr lang="en-IN" sz="1400" dirty="0" err="1"/>
              <a:t>this.desig</a:t>
            </a:r>
            <a:r>
              <a:rPr lang="en-IN" sz="1400" dirty="0"/>
              <a:t>=</a:t>
            </a:r>
            <a:r>
              <a:rPr lang="en-IN" sz="1400" dirty="0" err="1"/>
              <a:t>desig</a:t>
            </a:r>
            <a:r>
              <a:rPr lang="en-IN" sz="1400" dirty="0"/>
              <a:t>;</a:t>
            </a:r>
          </a:p>
          <a:p>
            <a:r>
              <a:rPr lang="en-IN" sz="1400" dirty="0"/>
              <a:t>  }</a:t>
            </a:r>
          </a:p>
          <a:p>
            <a:r>
              <a:rPr lang="en-IN" sz="1400" dirty="0"/>
              <a:t>  public String </a:t>
            </a:r>
            <a:r>
              <a:rPr lang="en-IN" sz="1400" dirty="0" err="1"/>
              <a:t>getDesig</a:t>
            </a:r>
            <a:r>
              <a:rPr lang="en-IN" sz="1400" dirty="0"/>
              <a:t>() {</a:t>
            </a:r>
          </a:p>
          <a:p>
            <a:r>
              <a:rPr lang="en-IN" sz="1400" dirty="0"/>
              <a:t>    return </a:t>
            </a:r>
            <a:r>
              <a:rPr lang="en-IN" sz="1400" dirty="0" err="1"/>
              <a:t>desig</a:t>
            </a:r>
            <a:r>
              <a:rPr lang="en-IN" sz="1400" dirty="0"/>
              <a:t>;</a:t>
            </a:r>
          </a:p>
          <a:p>
            <a:r>
              <a:rPr lang="en-IN" sz="1400" dirty="0"/>
              <a:t>  }</a:t>
            </a:r>
          </a:p>
          <a:p>
            <a:r>
              <a:rPr lang="en-IN" sz="1400" dirty="0"/>
              <a:t>  </a:t>
            </a:r>
          </a:p>
          <a:p>
            <a:r>
              <a:rPr lang="en-IN" sz="1400" dirty="0"/>
              <a:t>  public String </a:t>
            </a:r>
            <a:r>
              <a:rPr lang="en-IN" sz="1400" dirty="0" err="1"/>
              <a:t>toString</a:t>
            </a:r>
            <a:r>
              <a:rPr lang="en-IN" sz="1400" dirty="0"/>
              <a:t>() {</a:t>
            </a:r>
          </a:p>
          <a:p>
            <a:r>
              <a:rPr lang="en-IN" sz="1400" dirty="0"/>
              <a:t>    return </a:t>
            </a:r>
            <a:r>
              <a:rPr lang="en-IN" sz="1400" dirty="0" err="1"/>
              <a:t>eid</a:t>
            </a:r>
            <a:r>
              <a:rPr lang="en-IN" sz="1400" dirty="0"/>
              <a:t>+" "+</a:t>
            </a:r>
            <a:r>
              <a:rPr lang="en-IN" sz="1400" dirty="0" err="1"/>
              <a:t>ename</a:t>
            </a:r>
            <a:r>
              <a:rPr lang="en-IN" sz="1400" dirty="0"/>
              <a:t>+" "+</a:t>
            </a:r>
            <a:r>
              <a:rPr lang="en-IN" sz="1400" dirty="0" err="1"/>
              <a:t>sal</a:t>
            </a:r>
            <a:r>
              <a:rPr lang="en-IN" sz="1400" dirty="0"/>
              <a:t>+" "+</a:t>
            </a:r>
            <a:r>
              <a:rPr lang="en-IN" sz="1400" dirty="0" err="1"/>
              <a:t>desig</a:t>
            </a:r>
            <a:r>
              <a:rPr lang="en-IN" sz="1400" dirty="0"/>
              <a:t>;</a:t>
            </a:r>
          </a:p>
          <a:p>
            <a:r>
              <a:rPr lang="en-IN" sz="1400" dirty="0"/>
              <a:t>  }</a:t>
            </a:r>
          </a:p>
          <a:p>
            <a:r>
              <a:rPr lang="en-IN" sz="1400" dirty="0"/>
              <a:t>  public int hashCode() {</a:t>
            </a:r>
          </a:p>
          <a:p>
            <a:r>
              <a:rPr lang="en-IN" sz="1400" dirty="0"/>
              <a:t>    return </a:t>
            </a:r>
            <a:r>
              <a:rPr lang="en-IN" sz="1400" dirty="0" err="1"/>
              <a:t>toString</a:t>
            </a:r>
            <a:r>
              <a:rPr lang="en-IN" sz="1400" dirty="0"/>
              <a:t>().hashCode();</a:t>
            </a:r>
          </a:p>
          <a:p>
            <a:r>
              <a:rPr lang="en-IN" sz="1400" dirty="0"/>
              <a:t>  }</a:t>
            </a:r>
          </a:p>
        </p:txBody>
      </p:sp>
      <p:sp>
        <p:nvSpPr>
          <p:cNvPr id="13" name="TextBox 12">
            <a:extLst>
              <a:ext uri="{FF2B5EF4-FFF2-40B4-BE49-F238E27FC236}">
                <a16:creationId xmlns:a16="http://schemas.microsoft.com/office/drawing/2014/main" xmlns="" id="{ACFB806B-40BD-DCAC-181C-A1ADFA698725}"/>
              </a:ext>
            </a:extLst>
          </p:cNvPr>
          <p:cNvSpPr txBox="1"/>
          <p:nvPr/>
        </p:nvSpPr>
        <p:spPr>
          <a:xfrm>
            <a:off x="8364071" y="998990"/>
            <a:ext cx="3563468" cy="2800767"/>
          </a:xfrm>
          <a:prstGeom prst="rect">
            <a:avLst/>
          </a:prstGeom>
          <a:noFill/>
        </p:spPr>
        <p:txBody>
          <a:bodyPr wrap="square">
            <a:spAutoFit/>
          </a:bodyPr>
          <a:lstStyle/>
          <a:p>
            <a:r>
              <a:rPr lang="en-IN" sz="1600" dirty="0"/>
              <a:t> </a:t>
            </a:r>
          </a:p>
          <a:p>
            <a:r>
              <a:rPr lang="en-IN" sz="1600" dirty="0"/>
              <a:t>  public int </a:t>
            </a:r>
            <a:r>
              <a:rPr lang="en-IN" sz="1600" dirty="0" err="1"/>
              <a:t>compareTo</a:t>
            </a:r>
            <a:r>
              <a:rPr lang="en-IN" sz="1600" dirty="0"/>
              <a:t>(Object o) {</a:t>
            </a:r>
          </a:p>
          <a:p>
            <a:r>
              <a:rPr lang="en-IN" sz="1600" dirty="0"/>
              <a:t>	Emp e=(Emp)o;</a:t>
            </a:r>
          </a:p>
          <a:p>
            <a:r>
              <a:rPr lang="en-IN" sz="1600" dirty="0"/>
              <a:t>	if(</a:t>
            </a:r>
            <a:r>
              <a:rPr lang="en-IN" sz="1600" dirty="0" err="1"/>
              <a:t>this.eid</a:t>
            </a:r>
            <a:r>
              <a:rPr lang="en-IN" sz="1600" dirty="0"/>
              <a:t> &gt; </a:t>
            </a:r>
            <a:r>
              <a:rPr lang="en-IN" sz="1600" dirty="0" err="1"/>
              <a:t>e.eid</a:t>
            </a:r>
            <a:r>
              <a:rPr lang="en-IN" sz="1600" dirty="0"/>
              <a:t>)</a:t>
            </a:r>
          </a:p>
          <a:p>
            <a:r>
              <a:rPr lang="en-IN" sz="1600" dirty="0"/>
              <a:t>		return +1;</a:t>
            </a:r>
          </a:p>
          <a:p>
            <a:r>
              <a:rPr lang="en-IN" sz="1600" dirty="0"/>
              <a:t>	else if (</a:t>
            </a:r>
            <a:r>
              <a:rPr lang="en-IN" sz="1600" dirty="0" err="1"/>
              <a:t>this.eid</a:t>
            </a:r>
            <a:r>
              <a:rPr lang="en-IN" sz="1600" dirty="0"/>
              <a:t> &lt; </a:t>
            </a:r>
            <a:r>
              <a:rPr lang="en-IN" sz="1600" dirty="0" err="1"/>
              <a:t>e.eid</a:t>
            </a:r>
            <a:r>
              <a:rPr lang="en-IN" sz="1600" dirty="0"/>
              <a:t>) </a:t>
            </a:r>
          </a:p>
          <a:p>
            <a:r>
              <a:rPr lang="en-IN" sz="1600" dirty="0"/>
              <a:t>		return -1;</a:t>
            </a:r>
          </a:p>
          <a:p>
            <a:r>
              <a:rPr lang="en-IN" sz="1600" dirty="0"/>
              <a:t>	else</a:t>
            </a:r>
          </a:p>
          <a:p>
            <a:r>
              <a:rPr lang="en-IN" sz="1600" dirty="0"/>
              <a:t>		return 0;</a:t>
            </a:r>
          </a:p>
          <a:p>
            <a:r>
              <a:rPr lang="en-IN" sz="1600" dirty="0"/>
              <a:t>  }</a:t>
            </a:r>
          </a:p>
          <a:p>
            <a:r>
              <a:rPr lang="en-IN" sz="1600" dirty="0"/>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6163550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0B972DD9-7BF7-DFDD-8C7F-C6B768AC7CC1}"/>
              </a:ext>
            </a:extLst>
          </p:cNvPr>
          <p:cNvSpPr txBox="1"/>
          <p:nvPr/>
        </p:nvSpPr>
        <p:spPr>
          <a:xfrm>
            <a:off x="87690" y="1028343"/>
            <a:ext cx="6125134" cy="4801314"/>
          </a:xfrm>
          <a:prstGeom prst="rect">
            <a:avLst/>
          </a:prstGeom>
          <a:noFill/>
        </p:spPr>
        <p:txBody>
          <a:bodyPr wrap="square">
            <a:spAutoFit/>
          </a:bodyPr>
          <a:lstStyle/>
          <a:p>
            <a:r>
              <a:rPr lang="en-IN" dirty="0"/>
              <a:t>// TreeSetDemo.java</a:t>
            </a:r>
          </a:p>
          <a:p>
            <a:r>
              <a:rPr lang="en-IN" dirty="0"/>
              <a:t>import java.util.*;</a:t>
            </a:r>
          </a:p>
          <a:p>
            <a:r>
              <a:rPr lang="en-IN" dirty="0"/>
              <a:t>public class </a:t>
            </a:r>
            <a:r>
              <a:rPr lang="en-IN" dirty="0" err="1"/>
              <a:t>TreeSetDemo</a:t>
            </a:r>
            <a:r>
              <a:rPr lang="en-IN" dirty="0"/>
              <a:t> {</a:t>
            </a:r>
          </a:p>
          <a:p>
            <a:r>
              <a:rPr lang="en-IN" dirty="0"/>
              <a:t>  public static void main(String rags[]) {</a:t>
            </a:r>
          </a:p>
          <a:p>
            <a:r>
              <a:rPr lang="en-IN" dirty="0"/>
              <a:t>    TreeSet&lt;Emp&gt; </a:t>
            </a:r>
            <a:r>
              <a:rPr lang="en-IN" dirty="0" err="1"/>
              <a:t>ts</a:t>
            </a:r>
            <a:r>
              <a:rPr lang="en-IN" dirty="0"/>
              <a:t>=new TreeSet&lt;Emp&gt;();</a:t>
            </a:r>
          </a:p>
          <a:p>
            <a:r>
              <a:rPr lang="en-IN" dirty="0"/>
              <a:t>	</a:t>
            </a:r>
          </a:p>
          <a:p>
            <a:r>
              <a:rPr lang="en-IN" dirty="0"/>
              <a:t>	Emp e1=new Emp(3, "ABC", 40000.00, "Designer");</a:t>
            </a:r>
          </a:p>
          <a:p>
            <a:r>
              <a:rPr lang="en-IN" dirty="0"/>
              <a:t>	Emp e2=new Emp(2, "XYZ", 20000.00, "Developer");</a:t>
            </a:r>
          </a:p>
          <a:p>
            <a:r>
              <a:rPr lang="en-IN" dirty="0"/>
              <a:t>	Emp e3=new Emp(1, "LMN", 10000.00, "Sr Developer");</a:t>
            </a:r>
          </a:p>
          <a:p>
            <a:r>
              <a:rPr lang="en-IN" dirty="0"/>
              <a:t>	Emp e4=new Emp(4, "PQR", 30000.00, "DB Designer");</a:t>
            </a:r>
          </a:p>
          <a:p>
            <a:r>
              <a:rPr lang="en-IN" dirty="0"/>
              <a:t>	</a:t>
            </a:r>
          </a:p>
          <a:p>
            <a:r>
              <a:rPr lang="en-IN" dirty="0"/>
              <a:t>	</a:t>
            </a:r>
            <a:r>
              <a:rPr lang="en-IN" dirty="0" err="1"/>
              <a:t>ts.add</a:t>
            </a:r>
            <a:r>
              <a:rPr lang="en-IN" dirty="0"/>
              <a:t>(e1); </a:t>
            </a:r>
          </a:p>
          <a:p>
            <a:r>
              <a:rPr lang="en-IN" dirty="0"/>
              <a:t>	</a:t>
            </a:r>
            <a:r>
              <a:rPr lang="en-IN" dirty="0" err="1"/>
              <a:t>ts.add</a:t>
            </a:r>
            <a:r>
              <a:rPr lang="en-IN" dirty="0"/>
              <a:t>(e2);</a:t>
            </a:r>
          </a:p>
          <a:p>
            <a:r>
              <a:rPr lang="en-IN" dirty="0"/>
              <a:t>	</a:t>
            </a:r>
            <a:r>
              <a:rPr lang="en-IN" dirty="0" err="1"/>
              <a:t>ts.add</a:t>
            </a:r>
            <a:r>
              <a:rPr lang="en-IN" dirty="0"/>
              <a:t>(e3); </a:t>
            </a:r>
          </a:p>
          <a:p>
            <a:r>
              <a:rPr lang="en-IN" dirty="0"/>
              <a:t>	</a:t>
            </a:r>
            <a:r>
              <a:rPr lang="en-IN" dirty="0" err="1"/>
              <a:t>ts.add</a:t>
            </a:r>
            <a:r>
              <a:rPr lang="en-IN" dirty="0"/>
              <a:t>(e4);</a:t>
            </a:r>
          </a:p>
        </p:txBody>
      </p:sp>
      <p:sp>
        <p:nvSpPr>
          <p:cNvPr id="14" name="TextBox 13">
            <a:extLst>
              <a:ext uri="{FF2B5EF4-FFF2-40B4-BE49-F238E27FC236}">
                <a16:creationId xmlns:a16="http://schemas.microsoft.com/office/drawing/2014/main" xmlns="" id="{13DB1E28-CBBE-AD1F-3B62-497DEAFB84AC}"/>
              </a:ext>
            </a:extLst>
          </p:cNvPr>
          <p:cNvSpPr txBox="1"/>
          <p:nvPr/>
        </p:nvSpPr>
        <p:spPr>
          <a:xfrm>
            <a:off x="6262965" y="869864"/>
            <a:ext cx="4481232" cy="3970318"/>
          </a:xfrm>
          <a:prstGeom prst="rect">
            <a:avLst/>
          </a:prstGeom>
          <a:noFill/>
        </p:spPr>
        <p:txBody>
          <a:bodyPr wrap="square">
            <a:spAutoFit/>
          </a:bodyPr>
          <a:lstStyle/>
          <a:p>
            <a:r>
              <a:rPr lang="en-IN" dirty="0"/>
              <a:t>	</a:t>
            </a:r>
          </a:p>
          <a:p>
            <a:r>
              <a:rPr lang="en-IN" dirty="0"/>
              <a:t>	Iterator&lt;&lt;Emp&gt; </a:t>
            </a:r>
            <a:r>
              <a:rPr lang="en-IN" dirty="0" err="1"/>
              <a:t>i</a:t>
            </a:r>
            <a:r>
              <a:rPr lang="en-IN" dirty="0"/>
              <a:t>=</a:t>
            </a:r>
            <a:r>
              <a:rPr lang="en-IN" dirty="0" err="1"/>
              <a:t>ts.iterator</a:t>
            </a:r>
            <a:r>
              <a:rPr lang="en-IN" dirty="0"/>
              <a:t>();</a:t>
            </a:r>
          </a:p>
          <a:p>
            <a:r>
              <a:rPr lang="en-IN" dirty="0"/>
              <a:t>	while(</a:t>
            </a:r>
            <a:r>
              <a:rPr lang="en-IN" dirty="0" err="1"/>
              <a:t>i.hasNext</a:t>
            </a:r>
            <a:r>
              <a:rPr lang="en-IN" dirty="0"/>
              <a:t>()) {</a:t>
            </a:r>
          </a:p>
          <a:p>
            <a:r>
              <a:rPr lang="en-IN" dirty="0"/>
              <a:t>		/* Object o=</a:t>
            </a:r>
            <a:r>
              <a:rPr lang="en-IN" dirty="0" err="1"/>
              <a:t>i.next</a:t>
            </a:r>
            <a:r>
              <a:rPr lang="en-IN" dirty="0"/>
              <a:t>();</a:t>
            </a:r>
          </a:p>
          <a:p>
            <a:r>
              <a:rPr lang="en-IN" dirty="0"/>
              <a:t>		Emp e=(Emp)o; */</a:t>
            </a:r>
          </a:p>
          <a:p>
            <a:r>
              <a:rPr lang="en-IN" dirty="0"/>
              <a:t>		Emp e=</a:t>
            </a:r>
            <a:r>
              <a:rPr lang="en-IN" dirty="0" err="1"/>
              <a:t>i.next</a:t>
            </a:r>
            <a:r>
              <a:rPr lang="en-IN" dirty="0"/>
              <a:t>();</a:t>
            </a:r>
          </a:p>
          <a:p>
            <a:r>
              <a:rPr lang="en-IN" dirty="0"/>
              <a:t>		System.out.println(e);</a:t>
            </a:r>
          </a:p>
          <a:p>
            <a:r>
              <a:rPr lang="en-IN" dirty="0"/>
              <a:t>	}	</a:t>
            </a:r>
          </a:p>
          <a:p>
            <a:r>
              <a:rPr lang="en-IN" dirty="0"/>
              <a:t>	</a:t>
            </a:r>
          </a:p>
          <a:p>
            <a:r>
              <a:rPr lang="en-IN" dirty="0"/>
              <a:t>	for(Emp </a:t>
            </a:r>
            <a:r>
              <a:rPr lang="en-IN" dirty="0" err="1"/>
              <a:t>ee:ts</a:t>
            </a:r>
            <a:r>
              <a:rPr lang="en-IN" dirty="0"/>
              <a:t>) {</a:t>
            </a:r>
          </a:p>
          <a:p>
            <a:r>
              <a:rPr lang="en-IN" dirty="0"/>
              <a:t>		System.out.println(</a:t>
            </a:r>
            <a:r>
              <a:rPr lang="en-IN" dirty="0" err="1"/>
              <a:t>ee</a:t>
            </a:r>
            <a:r>
              <a:rPr lang="en-IN" dirty="0"/>
              <a:t>);</a:t>
            </a:r>
          </a:p>
          <a:p>
            <a:r>
              <a:rPr lang="en-IN" dirty="0"/>
              <a:t>	}</a:t>
            </a:r>
          </a:p>
          <a:p>
            <a:r>
              <a:rPr lang="en-IN" dirty="0"/>
              <a:t>  }</a:t>
            </a:r>
          </a:p>
          <a:p>
            <a:r>
              <a:rPr lang="en-IN" dirty="0"/>
              <a:t>}</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9690233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F7BE3BCF-E389-3371-500D-F3406F06CF4D}"/>
              </a:ext>
            </a:extLst>
          </p:cNvPr>
          <p:cNvSpPr txBox="1"/>
          <p:nvPr/>
        </p:nvSpPr>
        <p:spPr>
          <a:xfrm>
            <a:off x="242046" y="1278448"/>
            <a:ext cx="9046733" cy="3170099"/>
          </a:xfrm>
          <a:prstGeom prst="rect">
            <a:avLst/>
          </a:prstGeom>
          <a:noFill/>
        </p:spPr>
        <p:txBody>
          <a:bodyPr wrap="square">
            <a:spAutoFit/>
          </a:bodyPr>
          <a:lstStyle/>
          <a:p>
            <a:r>
              <a:rPr lang="en-IN" sz="2000" dirty="0"/>
              <a:t>********************************************************************</a:t>
            </a:r>
          </a:p>
          <a:p>
            <a:r>
              <a:rPr lang="en-IN" sz="2000" b="1" u="sng" dirty="0"/>
              <a:t>Single point about Comparable interface:</a:t>
            </a:r>
          </a:p>
          <a:p>
            <a:r>
              <a:rPr lang="en-IN" sz="2000" dirty="0"/>
              <a:t>Class whose objects want to be natural sorted in TreeSet and </a:t>
            </a:r>
            <a:r>
              <a:rPr lang="en-IN" sz="2000" dirty="0" err="1"/>
              <a:t>TreeMap</a:t>
            </a:r>
            <a:r>
              <a:rPr lang="en-IN" sz="2000" dirty="0"/>
              <a:t> are derived from Comparable interface.</a:t>
            </a:r>
          </a:p>
          <a:p>
            <a:endParaRPr lang="en-IN" sz="2000" dirty="0"/>
          </a:p>
          <a:p>
            <a:r>
              <a:rPr lang="en-IN" sz="2000" dirty="0"/>
              <a:t>Sub classes of Comparable interface must implement </a:t>
            </a:r>
            <a:r>
              <a:rPr lang="en-IN" sz="2000" dirty="0" err="1"/>
              <a:t>compareTo</a:t>
            </a:r>
            <a:r>
              <a:rPr lang="en-IN" sz="2000" dirty="0"/>
              <a:t>() method.</a:t>
            </a:r>
          </a:p>
          <a:p>
            <a:endParaRPr lang="en-IN" sz="2000" dirty="0"/>
          </a:p>
          <a:p>
            <a:r>
              <a:rPr lang="en-IN" sz="2000" dirty="0"/>
              <a:t>In the </a:t>
            </a:r>
            <a:r>
              <a:rPr lang="en-IN" sz="2000" dirty="0" err="1"/>
              <a:t>compareTo</a:t>
            </a:r>
            <a:r>
              <a:rPr lang="en-IN" sz="2000" dirty="0"/>
              <a:t>() method any one of the property of user defined class can be used for natural order </a:t>
            </a:r>
            <a:r>
              <a:rPr lang="en-IN" sz="2000" dirty="0" err="1"/>
              <a:t>comparision</a:t>
            </a:r>
            <a:r>
              <a:rPr lang="en-IN" sz="2000" dirty="0"/>
              <a:t>. Usually </a:t>
            </a:r>
            <a:r>
              <a:rPr lang="en-IN" sz="2000" dirty="0" err="1"/>
              <a:t>eid</a:t>
            </a:r>
            <a:r>
              <a:rPr lang="en-IN" sz="2000" dirty="0"/>
              <a:t> in Emp, </a:t>
            </a:r>
            <a:r>
              <a:rPr lang="en-IN" sz="2000" dirty="0" err="1"/>
              <a:t>sid</a:t>
            </a:r>
            <a:r>
              <a:rPr lang="en-IN" sz="2000" dirty="0"/>
              <a:t> in Student, </a:t>
            </a:r>
            <a:r>
              <a:rPr lang="en-IN" sz="2000" dirty="0" err="1"/>
              <a:t>cid</a:t>
            </a:r>
            <a:r>
              <a:rPr lang="en-IN" sz="2000" dirty="0"/>
              <a:t> in Customer etc.</a:t>
            </a:r>
          </a:p>
          <a:p>
            <a:r>
              <a:rPr lang="en-IN" sz="2000" dirty="0"/>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6616339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BCC535DA-ED11-3BE5-816D-E0337340941A}"/>
              </a:ext>
            </a:extLst>
          </p:cNvPr>
          <p:cNvSpPr txBox="1"/>
          <p:nvPr/>
        </p:nvSpPr>
        <p:spPr>
          <a:xfrm>
            <a:off x="948749" y="1129784"/>
            <a:ext cx="6178191" cy="5355312"/>
          </a:xfrm>
          <a:prstGeom prst="rect">
            <a:avLst/>
          </a:prstGeom>
          <a:noFill/>
        </p:spPr>
        <p:txBody>
          <a:bodyPr wrap="square">
            <a:spAutoFit/>
          </a:bodyPr>
          <a:lstStyle/>
          <a:p>
            <a:r>
              <a:rPr lang="en-IN" b="1" u="sng" dirty="0"/>
              <a:t>// EnameComparator.java</a:t>
            </a:r>
          </a:p>
          <a:p>
            <a:r>
              <a:rPr lang="en-IN" dirty="0"/>
              <a:t>import java.util.*;</a:t>
            </a:r>
          </a:p>
          <a:p>
            <a:r>
              <a:rPr lang="en-IN" dirty="0"/>
              <a:t>public class </a:t>
            </a:r>
            <a:r>
              <a:rPr lang="en-IN" dirty="0" err="1"/>
              <a:t>EnameComparator</a:t>
            </a:r>
            <a:r>
              <a:rPr lang="en-IN" dirty="0"/>
              <a:t> implements Comparator {</a:t>
            </a:r>
          </a:p>
          <a:p>
            <a:r>
              <a:rPr lang="en-IN" dirty="0"/>
              <a:t>  Emp ee1;</a:t>
            </a:r>
          </a:p>
          <a:p>
            <a:r>
              <a:rPr lang="en-IN" dirty="0"/>
              <a:t>  Emp ee2;</a:t>
            </a:r>
          </a:p>
          <a:p>
            <a:r>
              <a:rPr lang="en-IN" dirty="0"/>
              <a:t>  </a:t>
            </a:r>
          </a:p>
          <a:p>
            <a:r>
              <a:rPr lang="en-IN" dirty="0"/>
              <a:t>  public int compare(Object </a:t>
            </a:r>
            <a:r>
              <a:rPr lang="en-IN" dirty="0" err="1"/>
              <a:t>lhs</a:t>
            </a:r>
            <a:r>
              <a:rPr lang="en-IN" dirty="0"/>
              <a:t>, Object </a:t>
            </a:r>
            <a:r>
              <a:rPr lang="en-IN" dirty="0" err="1"/>
              <a:t>rhs</a:t>
            </a:r>
            <a:r>
              <a:rPr lang="en-IN" dirty="0"/>
              <a:t>) {</a:t>
            </a:r>
          </a:p>
          <a:p>
            <a:r>
              <a:rPr lang="en-IN" dirty="0"/>
              <a:t>     int </a:t>
            </a:r>
            <a:r>
              <a:rPr lang="en-IN" dirty="0" err="1"/>
              <a:t>i</a:t>
            </a:r>
            <a:r>
              <a:rPr lang="en-IN" dirty="0"/>
              <a:t>=0;</a:t>
            </a:r>
          </a:p>
          <a:p>
            <a:r>
              <a:rPr lang="en-IN" dirty="0"/>
              <a:t>	 if(</a:t>
            </a:r>
            <a:r>
              <a:rPr lang="en-IN" dirty="0" err="1"/>
              <a:t>lhs</a:t>
            </a:r>
            <a:r>
              <a:rPr lang="en-IN" dirty="0"/>
              <a:t> </a:t>
            </a:r>
            <a:r>
              <a:rPr lang="en-IN" dirty="0" err="1"/>
              <a:t>instanceof</a:t>
            </a:r>
            <a:r>
              <a:rPr lang="en-IN" dirty="0"/>
              <a:t> Emp &amp;&amp; </a:t>
            </a:r>
            <a:r>
              <a:rPr lang="en-IN" dirty="0" err="1"/>
              <a:t>rhs</a:t>
            </a:r>
            <a:r>
              <a:rPr lang="en-IN" dirty="0"/>
              <a:t> </a:t>
            </a:r>
            <a:r>
              <a:rPr lang="en-IN" dirty="0" err="1"/>
              <a:t>instanceof</a:t>
            </a:r>
            <a:r>
              <a:rPr lang="en-IN" dirty="0"/>
              <a:t> Emp) {</a:t>
            </a:r>
          </a:p>
          <a:p>
            <a:r>
              <a:rPr lang="en-IN" dirty="0"/>
              <a:t>		ee1=(Emp)</a:t>
            </a:r>
            <a:r>
              <a:rPr lang="en-IN" dirty="0" err="1"/>
              <a:t>lhs</a:t>
            </a:r>
            <a:r>
              <a:rPr lang="en-IN" dirty="0"/>
              <a:t>;</a:t>
            </a:r>
          </a:p>
          <a:p>
            <a:r>
              <a:rPr lang="en-IN" dirty="0"/>
              <a:t>		ee2=(Emp)</a:t>
            </a:r>
            <a:r>
              <a:rPr lang="en-IN" dirty="0" err="1"/>
              <a:t>rhs</a:t>
            </a:r>
            <a:r>
              <a:rPr lang="en-IN" dirty="0"/>
              <a:t>;</a:t>
            </a:r>
          </a:p>
          <a:p>
            <a:r>
              <a:rPr lang="en-IN" dirty="0"/>
              <a:t>		</a:t>
            </a:r>
            <a:r>
              <a:rPr lang="en-IN" dirty="0" err="1"/>
              <a:t>i</a:t>
            </a:r>
            <a:r>
              <a:rPr lang="en-IN" dirty="0"/>
              <a:t>=ee1.ename.compareTo(ee2.ename);</a:t>
            </a:r>
          </a:p>
          <a:p>
            <a:r>
              <a:rPr lang="en-IN" dirty="0"/>
              <a:t>	 }</a:t>
            </a:r>
          </a:p>
          <a:p>
            <a:r>
              <a:rPr lang="en-IN" dirty="0"/>
              <a:t>	return </a:t>
            </a:r>
            <a:r>
              <a:rPr lang="en-IN" dirty="0" err="1"/>
              <a:t>i</a:t>
            </a:r>
            <a:r>
              <a:rPr lang="en-IN" dirty="0"/>
              <a:t>;</a:t>
            </a:r>
          </a:p>
          <a:p>
            <a:r>
              <a:rPr lang="en-IN" dirty="0"/>
              <a:t>  }</a:t>
            </a:r>
          </a:p>
          <a:p>
            <a:r>
              <a:rPr lang="en-IN" dirty="0"/>
              <a:t>  public boolean equals(Object o) {</a:t>
            </a:r>
          </a:p>
          <a:p>
            <a:r>
              <a:rPr lang="en-IN" dirty="0"/>
              <a:t>    return ee1.ename.equals(ee2.ename);</a:t>
            </a:r>
          </a:p>
          <a:p>
            <a:r>
              <a:rPr lang="en-IN" dirty="0"/>
              <a:t>  }</a:t>
            </a:r>
          </a:p>
          <a:p>
            <a:r>
              <a:rPr lang="en-IN" dirty="0"/>
              <a:t>}</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5960126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A3E352B6-777E-A937-DF44-9CFCC8D24123}"/>
              </a:ext>
            </a:extLst>
          </p:cNvPr>
          <p:cNvSpPr txBox="1"/>
          <p:nvPr/>
        </p:nvSpPr>
        <p:spPr>
          <a:xfrm>
            <a:off x="494191" y="1000137"/>
            <a:ext cx="6125134" cy="5632311"/>
          </a:xfrm>
          <a:prstGeom prst="rect">
            <a:avLst/>
          </a:prstGeom>
          <a:noFill/>
        </p:spPr>
        <p:txBody>
          <a:bodyPr wrap="square">
            <a:spAutoFit/>
          </a:bodyPr>
          <a:lstStyle/>
          <a:p>
            <a:r>
              <a:rPr lang="en-IN" b="1" dirty="0"/>
              <a:t>// SalComparator.java</a:t>
            </a:r>
          </a:p>
          <a:p>
            <a:r>
              <a:rPr lang="en-IN" dirty="0"/>
              <a:t>import java.util.*;</a:t>
            </a:r>
          </a:p>
          <a:p>
            <a:r>
              <a:rPr lang="en-IN" dirty="0"/>
              <a:t>public class </a:t>
            </a:r>
            <a:r>
              <a:rPr lang="en-IN" dirty="0" err="1"/>
              <a:t>SalComparator</a:t>
            </a:r>
            <a:r>
              <a:rPr lang="en-IN" dirty="0"/>
              <a:t> implements Comparator {</a:t>
            </a:r>
          </a:p>
          <a:p>
            <a:r>
              <a:rPr lang="en-IN" dirty="0"/>
              <a:t>  Emp ee1;</a:t>
            </a:r>
          </a:p>
          <a:p>
            <a:r>
              <a:rPr lang="en-IN" dirty="0"/>
              <a:t>  Emp ee2;</a:t>
            </a:r>
          </a:p>
          <a:p>
            <a:r>
              <a:rPr lang="en-IN" dirty="0"/>
              <a:t>  </a:t>
            </a:r>
          </a:p>
          <a:p>
            <a:r>
              <a:rPr lang="en-IN" dirty="0"/>
              <a:t>  public int compare(Object </a:t>
            </a:r>
            <a:r>
              <a:rPr lang="en-IN" dirty="0" err="1"/>
              <a:t>lhs</a:t>
            </a:r>
            <a:r>
              <a:rPr lang="en-IN" dirty="0"/>
              <a:t>, Object </a:t>
            </a:r>
            <a:r>
              <a:rPr lang="en-IN" dirty="0" err="1"/>
              <a:t>rhs</a:t>
            </a:r>
            <a:r>
              <a:rPr lang="en-IN" dirty="0"/>
              <a:t>) {</a:t>
            </a:r>
          </a:p>
          <a:p>
            <a:r>
              <a:rPr lang="en-IN" dirty="0"/>
              <a:t>     int </a:t>
            </a:r>
            <a:r>
              <a:rPr lang="en-IN" dirty="0" err="1"/>
              <a:t>i</a:t>
            </a:r>
            <a:r>
              <a:rPr lang="en-IN" dirty="0"/>
              <a:t>=0;</a:t>
            </a:r>
          </a:p>
          <a:p>
            <a:r>
              <a:rPr lang="en-IN" dirty="0"/>
              <a:t>	 if(</a:t>
            </a:r>
            <a:r>
              <a:rPr lang="en-IN" dirty="0" err="1"/>
              <a:t>lhs</a:t>
            </a:r>
            <a:r>
              <a:rPr lang="en-IN" dirty="0"/>
              <a:t> </a:t>
            </a:r>
            <a:r>
              <a:rPr lang="en-IN" dirty="0" err="1"/>
              <a:t>instanceof</a:t>
            </a:r>
            <a:r>
              <a:rPr lang="en-IN" dirty="0"/>
              <a:t> Emp &amp;&amp; </a:t>
            </a:r>
            <a:r>
              <a:rPr lang="en-IN" dirty="0" err="1"/>
              <a:t>rhs</a:t>
            </a:r>
            <a:r>
              <a:rPr lang="en-IN" dirty="0"/>
              <a:t> </a:t>
            </a:r>
            <a:r>
              <a:rPr lang="en-IN" dirty="0" err="1"/>
              <a:t>instanceof</a:t>
            </a:r>
            <a:r>
              <a:rPr lang="en-IN" dirty="0"/>
              <a:t> Emp) {</a:t>
            </a:r>
          </a:p>
          <a:p>
            <a:r>
              <a:rPr lang="en-IN" dirty="0"/>
              <a:t>		ee1=(Emp)</a:t>
            </a:r>
            <a:r>
              <a:rPr lang="en-IN" dirty="0" err="1"/>
              <a:t>lhs</a:t>
            </a:r>
            <a:r>
              <a:rPr lang="en-IN" dirty="0"/>
              <a:t>;</a:t>
            </a:r>
          </a:p>
          <a:p>
            <a:r>
              <a:rPr lang="en-IN" dirty="0"/>
              <a:t>		ee2=(Emp)</a:t>
            </a:r>
            <a:r>
              <a:rPr lang="en-IN" dirty="0" err="1"/>
              <a:t>rhs</a:t>
            </a:r>
            <a:r>
              <a:rPr lang="en-IN" dirty="0"/>
              <a:t>;</a:t>
            </a:r>
          </a:p>
          <a:p>
            <a:r>
              <a:rPr lang="en-IN" dirty="0"/>
              <a:t>		if(ee1.sal &gt; ee2.sal)</a:t>
            </a:r>
          </a:p>
          <a:p>
            <a:r>
              <a:rPr lang="en-IN" dirty="0"/>
              <a:t>			</a:t>
            </a:r>
            <a:r>
              <a:rPr lang="en-IN" dirty="0" err="1"/>
              <a:t>i</a:t>
            </a:r>
            <a:r>
              <a:rPr lang="en-IN" dirty="0"/>
              <a:t>=1;</a:t>
            </a:r>
          </a:p>
          <a:p>
            <a:r>
              <a:rPr lang="en-IN" dirty="0"/>
              <a:t>		else if(ee1.sal &lt; ee2.sal)</a:t>
            </a:r>
          </a:p>
          <a:p>
            <a:r>
              <a:rPr lang="en-IN" dirty="0"/>
              <a:t>			</a:t>
            </a:r>
            <a:r>
              <a:rPr lang="en-IN" dirty="0" err="1"/>
              <a:t>i</a:t>
            </a:r>
            <a:r>
              <a:rPr lang="en-IN" dirty="0"/>
              <a:t>=-1;</a:t>
            </a:r>
          </a:p>
          <a:p>
            <a:r>
              <a:rPr lang="en-IN" dirty="0"/>
              <a:t>		else</a:t>
            </a:r>
          </a:p>
          <a:p>
            <a:r>
              <a:rPr lang="en-IN" dirty="0"/>
              <a:t>			</a:t>
            </a:r>
            <a:r>
              <a:rPr lang="en-IN" dirty="0" err="1"/>
              <a:t>i</a:t>
            </a:r>
            <a:r>
              <a:rPr lang="en-IN" dirty="0"/>
              <a:t>=0;</a:t>
            </a:r>
          </a:p>
          <a:p>
            <a:r>
              <a:rPr lang="en-IN" dirty="0"/>
              <a:t>	 }</a:t>
            </a:r>
          </a:p>
          <a:p>
            <a:r>
              <a:rPr lang="en-IN" dirty="0"/>
              <a:t>	return </a:t>
            </a:r>
            <a:r>
              <a:rPr lang="en-IN" dirty="0" err="1"/>
              <a:t>i</a:t>
            </a:r>
            <a:r>
              <a:rPr lang="en-IN" dirty="0"/>
              <a:t>;</a:t>
            </a:r>
          </a:p>
          <a:p>
            <a:r>
              <a:rPr lang="en-IN" dirty="0"/>
              <a:t>  }</a:t>
            </a:r>
          </a:p>
        </p:txBody>
      </p:sp>
      <p:sp>
        <p:nvSpPr>
          <p:cNvPr id="12" name="TextBox 11">
            <a:extLst>
              <a:ext uri="{FF2B5EF4-FFF2-40B4-BE49-F238E27FC236}">
                <a16:creationId xmlns:a16="http://schemas.microsoft.com/office/drawing/2014/main" xmlns="" id="{44B1164E-C237-3557-3FDB-3DCA6AF935BC}"/>
              </a:ext>
            </a:extLst>
          </p:cNvPr>
          <p:cNvSpPr txBox="1"/>
          <p:nvPr/>
        </p:nvSpPr>
        <p:spPr>
          <a:xfrm>
            <a:off x="5327278" y="5390147"/>
            <a:ext cx="3475546" cy="1200329"/>
          </a:xfrm>
          <a:prstGeom prst="rect">
            <a:avLst/>
          </a:prstGeom>
          <a:noFill/>
        </p:spPr>
        <p:txBody>
          <a:bodyPr wrap="square">
            <a:spAutoFit/>
          </a:bodyPr>
          <a:lstStyle/>
          <a:p>
            <a:r>
              <a:rPr lang="en-IN" dirty="0"/>
              <a:t> public boolean equals(Object o) {</a:t>
            </a:r>
          </a:p>
          <a:p>
            <a:r>
              <a:rPr lang="en-IN" dirty="0"/>
              <a:t>    return (ee1.sal == ee2.sal);</a:t>
            </a:r>
          </a:p>
          <a:p>
            <a:r>
              <a:rPr lang="en-IN" dirty="0"/>
              <a:t>  }</a:t>
            </a:r>
          </a:p>
          <a:p>
            <a:r>
              <a:rPr lang="en-IN" dirty="0"/>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938810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750A30E4-8CAC-FA3B-C669-7CB2070BAFDE}"/>
              </a:ext>
            </a:extLst>
          </p:cNvPr>
          <p:cNvSpPr txBox="1"/>
          <p:nvPr/>
        </p:nvSpPr>
        <p:spPr>
          <a:xfrm>
            <a:off x="474375" y="854089"/>
            <a:ext cx="6125134" cy="5909310"/>
          </a:xfrm>
          <a:prstGeom prst="rect">
            <a:avLst/>
          </a:prstGeom>
          <a:noFill/>
        </p:spPr>
        <p:txBody>
          <a:bodyPr wrap="square">
            <a:spAutoFit/>
          </a:bodyPr>
          <a:lstStyle/>
          <a:p>
            <a:r>
              <a:rPr lang="en-IN" b="1" dirty="0"/>
              <a:t>// DesigComparator.java</a:t>
            </a:r>
          </a:p>
          <a:p>
            <a:r>
              <a:rPr lang="en-IN" dirty="0"/>
              <a:t>import java.util.*;</a:t>
            </a:r>
          </a:p>
          <a:p>
            <a:r>
              <a:rPr lang="en-IN" dirty="0"/>
              <a:t>public class </a:t>
            </a:r>
            <a:r>
              <a:rPr lang="en-IN" dirty="0" err="1"/>
              <a:t>DesigComparator</a:t>
            </a:r>
            <a:r>
              <a:rPr lang="en-IN" dirty="0"/>
              <a:t> implements Comparator {</a:t>
            </a:r>
          </a:p>
          <a:p>
            <a:r>
              <a:rPr lang="en-IN" dirty="0"/>
              <a:t>  Emp ee1;</a:t>
            </a:r>
          </a:p>
          <a:p>
            <a:r>
              <a:rPr lang="en-IN" dirty="0"/>
              <a:t>  Emp ee2;</a:t>
            </a:r>
          </a:p>
          <a:p>
            <a:r>
              <a:rPr lang="en-IN" dirty="0"/>
              <a:t>  </a:t>
            </a:r>
          </a:p>
          <a:p>
            <a:r>
              <a:rPr lang="en-IN" dirty="0"/>
              <a:t>  public int compare(Object </a:t>
            </a:r>
            <a:r>
              <a:rPr lang="en-IN" dirty="0" err="1"/>
              <a:t>lhs</a:t>
            </a:r>
            <a:r>
              <a:rPr lang="en-IN" dirty="0"/>
              <a:t>, Object </a:t>
            </a:r>
            <a:r>
              <a:rPr lang="en-IN" dirty="0" err="1"/>
              <a:t>rhs</a:t>
            </a:r>
            <a:r>
              <a:rPr lang="en-IN" dirty="0"/>
              <a:t>) {</a:t>
            </a:r>
          </a:p>
          <a:p>
            <a:r>
              <a:rPr lang="en-IN" dirty="0"/>
              <a:t>     int </a:t>
            </a:r>
            <a:r>
              <a:rPr lang="en-IN" dirty="0" err="1"/>
              <a:t>i</a:t>
            </a:r>
            <a:r>
              <a:rPr lang="en-IN" dirty="0"/>
              <a:t>=0;</a:t>
            </a:r>
          </a:p>
          <a:p>
            <a:r>
              <a:rPr lang="en-IN" dirty="0"/>
              <a:t>	 if(</a:t>
            </a:r>
            <a:r>
              <a:rPr lang="en-IN" dirty="0" err="1"/>
              <a:t>lhs</a:t>
            </a:r>
            <a:r>
              <a:rPr lang="en-IN" dirty="0"/>
              <a:t> </a:t>
            </a:r>
            <a:r>
              <a:rPr lang="en-IN" dirty="0" err="1"/>
              <a:t>instanceof</a:t>
            </a:r>
            <a:r>
              <a:rPr lang="en-IN" dirty="0"/>
              <a:t> Emp &amp;&amp; </a:t>
            </a:r>
            <a:r>
              <a:rPr lang="en-IN" dirty="0" err="1"/>
              <a:t>rhs</a:t>
            </a:r>
            <a:r>
              <a:rPr lang="en-IN" dirty="0"/>
              <a:t> </a:t>
            </a:r>
            <a:r>
              <a:rPr lang="en-IN" dirty="0" err="1"/>
              <a:t>instanceof</a:t>
            </a:r>
            <a:r>
              <a:rPr lang="en-IN" dirty="0"/>
              <a:t> Emp) {</a:t>
            </a:r>
          </a:p>
          <a:p>
            <a:r>
              <a:rPr lang="en-IN" dirty="0"/>
              <a:t>		Emp e1=(Emp)</a:t>
            </a:r>
            <a:r>
              <a:rPr lang="en-IN" dirty="0" err="1"/>
              <a:t>lhs</a:t>
            </a:r>
            <a:r>
              <a:rPr lang="en-IN" dirty="0"/>
              <a:t>;</a:t>
            </a:r>
          </a:p>
          <a:p>
            <a:r>
              <a:rPr lang="en-IN" dirty="0"/>
              <a:t>		Emp e2=(Emp)</a:t>
            </a:r>
            <a:r>
              <a:rPr lang="en-IN" dirty="0" err="1"/>
              <a:t>rhs</a:t>
            </a:r>
            <a:r>
              <a:rPr lang="en-IN" dirty="0"/>
              <a:t>;</a:t>
            </a:r>
          </a:p>
          <a:p>
            <a:r>
              <a:rPr lang="en-IN" dirty="0"/>
              <a:t>		ee1=e1;</a:t>
            </a:r>
          </a:p>
          <a:p>
            <a:r>
              <a:rPr lang="en-IN" dirty="0"/>
              <a:t>		ee2=e2;</a:t>
            </a:r>
          </a:p>
          <a:p>
            <a:r>
              <a:rPr lang="en-IN" dirty="0"/>
              <a:t>		</a:t>
            </a:r>
            <a:r>
              <a:rPr lang="en-IN" dirty="0" err="1"/>
              <a:t>i</a:t>
            </a:r>
            <a:r>
              <a:rPr lang="en-IN" dirty="0"/>
              <a:t>=e1.desig.compareTo(e2.desig);</a:t>
            </a:r>
          </a:p>
          <a:p>
            <a:r>
              <a:rPr lang="en-IN" dirty="0"/>
              <a:t>	 }</a:t>
            </a:r>
          </a:p>
          <a:p>
            <a:r>
              <a:rPr lang="en-IN" dirty="0"/>
              <a:t>	return </a:t>
            </a:r>
            <a:r>
              <a:rPr lang="en-IN" dirty="0" err="1"/>
              <a:t>i</a:t>
            </a:r>
            <a:r>
              <a:rPr lang="en-IN" dirty="0"/>
              <a:t>;</a:t>
            </a:r>
          </a:p>
          <a:p>
            <a:r>
              <a:rPr lang="en-IN" dirty="0"/>
              <a:t>  }</a:t>
            </a:r>
          </a:p>
          <a:p>
            <a:r>
              <a:rPr lang="en-IN" dirty="0"/>
              <a:t>  public boolean equals(Object o) {</a:t>
            </a:r>
          </a:p>
          <a:p>
            <a:r>
              <a:rPr lang="en-IN" dirty="0"/>
              <a:t>    return ee1.desig.equals(ee2.desig);</a:t>
            </a:r>
          </a:p>
          <a:p>
            <a:r>
              <a:rPr lang="en-IN" dirty="0"/>
              <a:t>  }</a:t>
            </a:r>
          </a:p>
          <a:p>
            <a:r>
              <a:rPr lang="en-IN" dirty="0"/>
              <a:t>}</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0549072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8AE20898-E8AF-AC3B-0795-A5FA42E60FCC}"/>
              </a:ext>
            </a:extLst>
          </p:cNvPr>
          <p:cNvSpPr txBox="1"/>
          <p:nvPr/>
        </p:nvSpPr>
        <p:spPr>
          <a:xfrm>
            <a:off x="474375" y="924261"/>
            <a:ext cx="6125134" cy="5878532"/>
          </a:xfrm>
          <a:prstGeom prst="rect">
            <a:avLst/>
          </a:prstGeom>
          <a:noFill/>
        </p:spPr>
        <p:txBody>
          <a:bodyPr wrap="square">
            <a:spAutoFit/>
          </a:bodyPr>
          <a:lstStyle/>
          <a:p>
            <a:r>
              <a:rPr lang="en-IN" sz="1600" b="1" dirty="0"/>
              <a:t>// EnameComparatorTreeSetDemo.java</a:t>
            </a:r>
          </a:p>
          <a:p>
            <a:r>
              <a:rPr lang="en-IN" sz="1600" dirty="0"/>
              <a:t>import java.util.*;</a:t>
            </a:r>
          </a:p>
          <a:p>
            <a:r>
              <a:rPr lang="en-IN" sz="1600" dirty="0"/>
              <a:t>public class </a:t>
            </a:r>
            <a:r>
              <a:rPr lang="en-IN" sz="1600" dirty="0" err="1"/>
              <a:t>EnameComparatorTreeSetDemo</a:t>
            </a:r>
            <a:r>
              <a:rPr lang="en-IN" sz="1600" dirty="0"/>
              <a:t> {</a:t>
            </a:r>
          </a:p>
          <a:p>
            <a:r>
              <a:rPr lang="en-IN" sz="1600" dirty="0"/>
              <a:t>  public static void main(String rags[]) {</a:t>
            </a:r>
          </a:p>
          <a:p>
            <a:r>
              <a:rPr lang="en-IN" sz="1600" dirty="0"/>
              <a:t>    TreeSet&lt;Emp&gt; </a:t>
            </a:r>
            <a:r>
              <a:rPr lang="en-IN" sz="1600" dirty="0" err="1"/>
              <a:t>ts</a:t>
            </a:r>
            <a:r>
              <a:rPr lang="en-IN" sz="1600" dirty="0"/>
              <a:t>=new TreeSet&lt;Emp&gt;(new </a:t>
            </a:r>
            <a:r>
              <a:rPr lang="en-IN" sz="1600" dirty="0" err="1"/>
              <a:t>EnameComparator</a:t>
            </a:r>
            <a:r>
              <a:rPr lang="en-IN" sz="1600" dirty="0"/>
              <a:t>());</a:t>
            </a:r>
          </a:p>
          <a:p>
            <a:r>
              <a:rPr lang="en-IN" sz="1600" dirty="0"/>
              <a:t>	Emp e1=new Emp(3,"ABC",10000.00,"Designer");</a:t>
            </a:r>
          </a:p>
          <a:p>
            <a:r>
              <a:rPr lang="en-IN" sz="1600" dirty="0"/>
              <a:t>	Emp e2=new Emp(2,"XYZ",20000.00,"Developer");</a:t>
            </a:r>
          </a:p>
          <a:p>
            <a:r>
              <a:rPr lang="en-IN" sz="1600" dirty="0"/>
              <a:t>	Emp e3=new Emp(1,"LMN",30000.00,"Sr Developer");</a:t>
            </a:r>
          </a:p>
          <a:p>
            <a:r>
              <a:rPr lang="en-IN" sz="1600" dirty="0"/>
              <a:t>	Emp e4=new Emp(4,"PQR",40000.00,"DB Designer");</a:t>
            </a:r>
          </a:p>
          <a:p>
            <a:r>
              <a:rPr lang="en-IN" sz="1600" dirty="0"/>
              <a:t>	Emp e5=new Emp(2,"XYZ",20000.00,"Developer");</a:t>
            </a:r>
          </a:p>
          <a:p>
            <a:r>
              <a:rPr lang="en-IN" sz="1600" dirty="0"/>
              <a:t>	</a:t>
            </a:r>
            <a:r>
              <a:rPr lang="en-IN" sz="1600" dirty="0" err="1"/>
              <a:t>ts.add</a:t>
            </a:r>
            <a:r>
              <a:rPr lang="en-IN" sz="1600" dirty="0"/>
              <a:t>(e1); </a:t>
            </a:r>
            <a:r>
              <a:rPr lang="en-IN" sz="1600" dirty="0" err="1"/>
              <a:t>ts.add</a:t>
            </a:r>
            <a:r>
              <a:rPr lang="en-IN" sz="1600" dirty="0"/>
              <a:t>(e2); </a:t>
            </a:r>
            <a:r>
              <a:rPr lang="en-IN" sz="1600" dirty="0" err="1"/>
              <a:t>ts.add</a:t>
            </a:r>
            <a:r>
              <a:rPr lang="en-IN" sz="1600" dirty="0"/>
              <a:t>(e3); </a:t>
            </a:r>
            <a:r>
              <a:rPr lang="en-IN" sz="1600" dirty="0" err="1"/>
              <a:t>ts.add</a:t>
            </a:r>
            <a:r>
              <a:rPr lang="en-IN" sz="1600" dirty="0"/>
              <a:t>(e4); </a:t>
            </a:r>
            <a:r>
              <a:rPr lang="en-IN" sz="1600" dirty="0" err="1"/>
              <a:t>ts.add</a:t>
            </a:r>
            <a:r>
              <a:rPr lang="en-IN" sz="1600" dirty="0"/>
              <a:t>(e5);</a:t>
            </a:r>
          </a:p>
          <a:p>
            <a:r>
              <a:rPr lang="en-IN" sz="1600" dirty="0"/>
              <a:t>	/*</a:t>
            </a:r>
          </a:p>
          <a:p>
            <a:r>
              <a:rPr lang="en-IN" sz="1600" dirty="0"/>
              <a:t>		TreeSet will internally call compare method on </a:t>
            </a:r>
            <a:r>
              <a:rPr lang="en-IN" sz="1600" dirty="0" err="1"/>
              <a:t>EnameComparator</a:t>
            </a:r>
            <a:r>
              <a:rPr lang="en-IN" sz="1600" dirty="0"/>
              <a:t> object for </a:t>
            </a:r>
            <a:r>
              <a:rPr lang="en-IN" sz="1600" dirty="0" err="1"/>
              <a:t>ename</a:t>
            </a:r>
            <a:r>
              <a:rPr lang="en-IN" sz="1600" dirty="0"/>
              <a:t> natural sorting.</a:t>
            </a:r>
          </a:p>
          <a:p>
            <a:r>
              <a:rPr lang="en-IN" sz="1600" dirty="0"/>
              <a:t>		</a:t>
            </a:r>
            <a:r>
              <a:rPr lang="en-IN" sz="1600" dirty="0" err="1"/>
              <a:t>enc.compare</a:t>
            </a:r>
            <a:r>
              <a:rPr lang="en-IN" sz="1600" dirty="0"/>
              <a:t>(e2,e1)</a:t>
            </a:r>
          </a:p>
          <a:p>
            <a:r>
              <a:rPr lang="en-IN" sz="1600" dirty="0"/>
              <a:t>		</a:t>
            </a:r>
            <a:r>
              <a:rPr lang="en-IN" sz="1600" dirty="0" err="1"/>
              <a:t>enc.compare</a:t>
            </a:r>
            <a:r>
              <a:rPr lang="en-IN" sz="1600" dirty="0"/>
              <a:t>(e3,e1)</a:t>
            </a:r>
          </a:p>
          <a:p>
            <a:r>
              <a:rPr lang="en-IN" sz="1600" dirty="0"/>
              <a:t>		</a:t>
            </a:r>
            <a:r>
              <a:rPr lang="en-IN" sz="1600" dirty="0" err="1"/>
              <a:t>enc.compare</a:t>
            </a:r>
            <a:r>
              <a:rPr lang="en-IN" sz="1600" dirty="0"/>
              <a:t>(e3,e2)</a:t>
            </a:r>
          </a:p>
          <a:p>
            <a:r>
              <a:rPr lang="en-IN" sz="1600" dirty="0"/>
              <a:t>	*/</a:t>
            </a:r>
          </a:p>
          <a:p>
            <a:r>
              <a:rPr lang="en-IN" sz="1600" dirty="0"/>
              <a:t>	for(Emp e:ts) {</a:t>
            </a:r>
          </a:p>
          <a:p>
            <a:r>
              <a:rPr lang="en-IN" sz="1600" dirty="0"/>
              <a:t>	  System.out.println(e);</a:t>
            </a:r>
          </a:p>
          <a:p>
            <a:r>
              <a:rPr lang="en-IN" sz="1600" dirty="0"/>
              <a:t>	}</a:t>
            </a:r>
          </a:p>
          <a:p>
            <a:r>
              <a:rPr lang="en-IN" sz="1600" dirty="0"/>
              <a:t>  }</a:t>
            </a:r>
          </a:p>
          <a:p>
            <a:r>
              <a:rPr lang="en-IN" sz="1600" dirty="0"/>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94522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D9039021-06EF-A624-F98C-942101B503ED}"/>
              </a:ext>
            </a:extLst>
          </p:cNvPr>
          <p:cNvSpPr txBox="1"/>
          <p:nvPr/>
        </p:nvSpPr>
        <p:spPr>
          <a:xfrm>
            <a:off x="642098" y="910036"/>
            <a:ext cx="6363820" cy="5909310"/>
          </a:xfrm>
          <a:prstGeom prst="rect">
            <a:avLst/>
          </a:prstGeom>
          <a:noFill/>
        </p:spPr>
        <p:txBody>
          <a:bodyPr wrap="square">
            <a:spAutoFit/>
          </a:bodyPr>
          <a:lstStyle/>
          <a:p>
            <a:r>
              <a:rPr lang="en-IN" b="1" dirty="0"/>
              <a:t>// SalComparatorTreeSetDemo.java</a:t>
            </a:r>
          </a:p>
          <a:p>
            <a:r>
              <a:rPr lang="en-IN" dirty="0"/>
              <a:t>import java.util.*;</a:t>
            </a:r>
          </a:p>
          <a:p>
            <a:r>
              <a:rPr lang="en-IN" dirty="0"/>
              <a:t>public class </a:t>
            </a:r>
            <a:r>
              <a:rPr lang="en-IN" dirty="0" err="1"/>
              <a:t>SalComparatorTreeSetDemo</a:t>
            </a:r>
            <a:r>
              <a:rPr lang="en-IN" dirty="0"/>
              <a:t> {</a:t>
            </a:r>
          </a:p>
          <a:p>
            <a:r>
              <a:rPr lang="en-IN" dirty="0"/>
              <a:t>  public static void main(String rags[]) {</a:t>
            </a:r>
          </a:p>
          <a:p>
            <a:r>
              <a:rPr lang="en-IN" dirty="0"/>
              <a:t>    TreeSet&lt;Emp&gt; </a:t>
            </a:r>
            <a:r>
              <a:rPr lang="en-IN" dirty="0" err="1"/>
              <a:t>ts</a:t>
            </a:r>
            <a:r>
              <a:rPr lang="en-IN" dirty="0"/>
              <a:t>=new TreeSet&lt;Emp&gt;(new </a:t>
            </a:r>
            <a:r>
              <a:rPr lang="en-IN" dirty="0" err="1"/>
              <a:t>SalComparator</a:t>
            </a:r>
            <a:r>
              <a:rPr lang="en-IN" dirty="0"/>
              <a:t>());</a:t>
            </a:r>
          </a:p>
          <a:p>
            <a:r>
              <a:rPr lang="en-IN" dirty="0"/>
              <a:t>	Emp e1=new Emp(3,"ABC",30000.00,"Designer");</a:t>
            </a:r>
          </a:p>
          <a:p>
            <a:r>
              <a:rPr lang="en-IN" dirty="0"/>
              <a:t>	Emp e2=new Emp(2,"XYZ",20000.00,"Developer");</a:t>
            </a:r>
          </a:p>
          <a:p>
            <a:r>
              <a:rPr lang="en-IN" dirty="0"/>
              <a:t>	Emp e3=new Emp(1,"LMN",40000.00,"Sr Developer");</a:t>
            </a:r>
          </a:p>
          <a:p>
            <a:r>
              <a:rPr lang="en-IN" dirty="0"/>
              <a:t>	Emp e4=new Emp(4,"PQR",10000.00,"DB Designer");</a:t>
            </a:r>
          </a:p>
          <a:p>
            <a:r>
              <a:rPr lang="en-IN" dirty="0"/>
              <a:t>	Emp e5=new Emp(2,"XYZ",50000.00,"Developer");</a:t>
            </a:r>
          </a:p>
          <a:p>
            <a:r>
              <a:rPr lang="en-IN" dirty="0"/>
              <a:t>	</a:t>
            </a:r>
            <a:r>
              <a:rPr lang="en-IN" dirty="0" err="1"/>
              <a:t>ts.add</a:t>
            </a:r>
            <a:r>
              <a:rPr lang="en-IN" dirty="0"/>
              <a:t>(e1); </a:t>
            </a:r>
            <a:r>
              <a:rPr lang="en-IN" dirty="0" err="1"/>
              <a:t>ts.add</a:t>
            </a:r>
            <a:r>
              <a:rPr lang="en-IN" dirty="0"/>
              <a:t>(e2); </a:t>
            </a:r>
            <a:r>
              <a:rPr lang="en-IN" dirty="0" err="1"/>
              <a:t>ts.add</a:t>
            </a:r>
            <a:r>
              <a:rPr lang="en-IN" dirty="0"/>
              <a:t>(e3); </a:t>
            </a:r>
            <a:r>
              <a:rPr lang="en-IN" dirty="0" err="1"/>
              <a:t>ts.add</a:t>
            </a:r>
            <a:r>
              <a:rPr lang="en-IN" dirty="0"/>
              <a:t>(e4); </a:t>
            </a:r>
            <a:r>
              <a:rPr lang="en-IN" dirty="0" err="1"/>
              <a:t>ts.add</a:t>
            </a:r>
            <a:r>
              <a:rPr lang="en-IN" dirty="0"/>
              <a:t>(e5);</a:t>
            </a:r>
          </a:p>
          <a:p>
            <a:r>
              <a:rPr lang="en-IN" dirty="0"/>
              <a:t>	/*</a:t>
            </a:r>
          </a:p>
          <a:p>
            <a:r>
              <a:rPr lang="en-IN" dirty="0"/>
              <a:t>		</a:t>
            </a:r>
            <a:r>
              <a:rPr lang="en-IN" dirty="0" err="1"/>
              <a:t>sc.compare</a:t>
            </a:r>
            <a:r>
              <a:rPr lang="en-IN" dirty="0"/>
              <a:t>(e2,e1);</a:t>
            </a:r>
          </a:p>
          <a:p>
            <a:r>
              <a:rPr lang="en-IN" dirty="0"/>
              <a:t>		</a:t>
            </a:r>
            <a:r>
              <a:rPr lang="en-IN" dirty="0" err="1"/>
              <a:t>sc.compare</a:t>
            </a:r>
            <a:r>
              <a:rPr lang="en-IN" dirty="0"/>
              <a:t>(e3,e1);</a:t>
            </a:r>
          </a:p>
          <a:p>
            <a:r>
              <a:rPr lang="en-IN" dirty="0"/>
              <a:t>		</a:t>
            </a:r>
            <a:r>
              <a:rPr lang="en-IN" dirty="0" err="1"/>
              <a:t>sc.compare</a:t>
            </a:r>
            <a:r>
              <a:rPr lang="en-IN" dirty="0"/>
              <a:t>(e3,e2);</a:t>
            </a:r>
          </a:p>
          <a:p>
            <a:r>
              <a:rPr lang="en-IN" dirty="0"/>
              <a:t>	*/</a:t>
            </a:r>
          </a:p>
          <a:p>
            <a:r>
              <a:rPr lang="en-IN" dirty="0"/>
              <a:t>	for(Emp e:ts) {</a:t>
            </a:r>
          </a:p>
          <a:p>
            <a:r>
              <a:rPr lang="en-IN" dirty="0"/>
              <a:t>	  System.out.println(e);</a:t>
            </a:r>
          </a:p>
          <a:p>
            <a:r>
              <a:rPr lang="en-IN" dirty="0"/>
              <a:t>	}</a:t>
            </a:r>
          </a:p>
          <a:p>
            <a:r>
              <a:rPr lang="en-IN" dirty="0"/>
              <a:t>  }</a:t>
            </a:r>
          </a:p>
          <a:p>
            <a:r>
              <a:rPr lang="en-IN" dirty="0"/>
              <a:t>}</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961992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B629D805-872A-4E73-C998-A54176BB1F13}"/>
              </a:ext>
            </a:extLst>
          </p:cNvPr>
          <p:cNvSpPr txBox="1"/>
          <p:nvPr/>
        </p:nvSpPr>
        <p:spPr>
          <a:xfrm>
            <a:off x="1233773" y="1141307"/>
            <a:ext cx="7009273" cy="4524315"/>
          </a:xfrm>
          <a:prstGeom prst="rect">
            <a:avLst/>
          </a:prstGeom>
          <a:noFill/>
        </p:spPr>
        <p:txBody>
          <a:bodyPr wrap="square">
            <a:spAutoFit/>
          </a:bodyPr>
          <a:lstStyle/>
          <a:p>
            <a:r>
              <a:rPr lang="en-IN" b="1" dirty="0"/>
              <a:t>// DesigComparatorTreeSetDemo.java</a:t>
            </a:r>
          </a:p>
          <a:p>
            <a:r>
              <a:rPr lang="en-IN" dirty="0"/>
              <a:t>import java.util.*;</a:t>
            </a:r>
          </a:p>
          <a:p>
            <a:r>
              <a:rPr lang="en-IN" dirty="0"/>
              <a:t>public class </a:t>
            </a:r>
            <a:r>
              <a:rPr lang="en-IN" dirty="0" err="1"/>
              <a:t>DesigComparatorTreeSetDemo</a:t>
            </a:r>
            <a:r>
              <a:rPr lang="en-IN" dirty="0"/>
              <a:t> {</a:t>
            </a:r>
          </a:p>
          <a:p>
            <a:r>
              <a:rPr lang="en-IN" dirty="0"/>
              <a:t>  public static void main(String rags[]) {</a:t>
            </a:r>
          </a:p>
          <a:p>
            <a:r>
              <a:rPr lang="en-IN" dirty="0"/>
              <a:t>    TreeSet&lt;Emp&gt; </a:t>
            </a:r>
            <a:r>
              <a:rPr lang="en-IN" dirty="0" err="1"/>
              <a:t>ts</a:t>
            </a:r>
            <a:r>
              <a:rPr lang="en-IN" dirty="0"/>
              <a:t>=new TreeSet&lt;Emp&gt;(new </a:t>
            </a:r>
            <a:r>
              <a:rPr lang="en-IN" dirty="0" err="1"/>
              <a:t>DesigComparator</a:t>
            </a:r>
            <a:r>
              <a:rPr lang="en-IN" dirty="0"/>
              <a:t>());</a:t>
            </a:r>
          </a:p>
          <a:p>
            <a:r>
              <a:rPr lang="en-IN" dirty="0"/>
              <a:t>	Emp e1=new Emp(3,"ABC",10000.00,"Designer");</a:t>
            </a:r>
          </a:p>
          <a:p>
            <a:r>
              <a:rPr lang="en-IN" dirty="0"/>
              <a:t>	Emp e2=new Emp(2,"XYZ",20000.00,"Developer");</a:t>
            </a:r>
          </a:p>
          <a:p>
            <a:r>
              <a:rPr lang="en-IN" dirty="0"/>
              <a:t>	Emp e3=new Emp(1,"LMN",30000.00,"Sr Developer");</a:t>
            </a:r>
          </a:p>
          <a:p>
            <a:r>
              <a:rPr lang="en-IN" dirty="0"/>
              <a:t>	Emp e4=new Emp(4,"PQR",40000.00,"DB Designer");</a:t>
            </a:r>
          </a:p>
          <a:p>
            <a:r>
              <a:rPr lang="en-IN" dirty="0"/>
              <a:t>	Emp e5=new Emp(2,"XYZ",20000.00,"Developer");</a:t>
            </a:r>
          </a:p>
          <a:p>
            <a:r>
              <a:rPr lang="en-IN" dirty="0"/>
              <a:t>	</a:t>
            </a:r>
            <a:r>
              <a:rPr lang="en-IN" dirty="0" err="1"/>
              <a:t>ts.add</a:t>
            </a:r>
            <a:r>
              <a:rPr lang="en-IN" dirty="0"/>
              <a:t>(e1); </a:t>
            </a:r>
            <a:r>
              <a:rPr lang="en-IN" dirty="0" err="1"/>
              <a:t>ts.add</a:t>
            </a:r>
            <a:r>
              <a:rPr lang="en-IN" dirty="0"/>
              <a:t>(e2); </a:t>
            </a:r>
            <a:r>
              <a:rPr lang="en-IN" dirty="0" err="1"/>
              <a:t>ts.add</a:t>
            </a:r>
            <a:r>
              <a:rPr lang="en-IN" dirty="0"/>
              <a:t>(e3); </a:t>
            </a:r>
            <a:r>
              <a:rPr lang="en-IN" dirty="0" err="1"/>
              <a:t>ts.add</a:t>
            </a:r>
            <a:r>
              <a:rPr lang="en-IN" dirty="0"/>
              <a:t>(e4); </a:t>
            </a:r>
            <a:r>
              <a:rPr lang="en-IN" dirty="0" err="1"/>
              <a:t>ts.add</a:t>
            </a:r>
            <a:r>
              <a:rPr lang="en-IN" dirty="0"/>
              <a:t>(e5);</a:t>
            </a:r>
          </a:p>
          <a:p>
            <a:r>
              <a:rPr lang="en-IN" dirty="0"/>
              <a:t>	for(Emp e:ts) {</a:t>
            </a:r>
          </a:p>
          <a:p>
            <a:r>
              <a:rPr lang="en-IN" dirty="0"/>
              <a:t>	  System.out.println(e);</a:t>
            </a:r>
          </a:p>
          <a:p>
            <a:r>
              <a:rPr lang="en-IN" dirty="0"/>
              <a:t>	}</a:t>
            </a:r>
          </a:p>
          <a:p>
            <a:r>
              <a:rPr lang="en-IN" dirty="0"/>
              <a:t>  }</a:t>
            </a:r>
          </a:p>
          <a:p>
            <a:r>
              <a:rPr lang="en-IN" dirty="0"/>
              <a:t>}</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7387913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F21C90DA-43FB-3D1A-DF56-1C5BFB25187C}"/>
              </a:ext>
            </a:extLst>
          </p:cNvPr>
          <p:cNvSpPr txBox="1"/>
          <p:nvPr/>
        </p:nvSpPr>
        <p:spPr>
          <a:xfrm>
            <a:off x="198344" y="972205"/>
            <a:ext cx="9228044" cy="5355312"/>
          </a:xfrm>
          <a:prstGeom prst="rect">
            <a:avLst/>
          </a:prstGeom>
          <a:noFill/>
        </p:spPr>
        <p:txBody>
          <a:bodyPr wrap="square">
            <a:spAutoFit/>
          </a:bodyPr>
          <a:lstStyle/>
          <a:p>
            <a:pPr algn="just"/>
            <a:r>
              <a:rPr lang="en-IN" b="1" u="sng" dirty="0"/>
              <a:t>class LinkedList</a:t>
            </a:r>
          </a:p>
          <a:p>
            <a:pPr algn="just"/>
            <a:r>
              <a:rPr lang="en-IN" dirty="0"/>
              <a:t>public class LinkedList&lt;E&gt; extends </a:t>
            </a:r>
            <a:r>
              <a:rPr lang="en-IN" dirty="0" err="1"/>
              <a:t>AbstractSequentialList</a:t>
            </a:r>
            <a:r>
              <a:rPr lang="en-IN" dirty="0"/>
              <a:t>&lt;E&gt;</a:t>
            </a:r>
          </a:p>
          <a:p>
            <a:pPr algn="just"/>
            <a:r>
              <a:rPr lang="en-IN" dirty="0"/>
              <a:t>	implements List&lt;E&gt;, Deque&lt;E&gt;, Cloneable, Serializable</a:t>
            </a:r>
          </a:p>
          <a:p>
            <a:pPr algn="just"/>
            <a:endParaRPr lang="en-IN" dirty="0"/>
          </a:p>
          <a:p>
            <a:pPr algn="just"/>
            <a:r>
              <a:rPr lang="en-IN" dirty="0"/>
              <a:t>LinkedList class derives from </a:t>
            </a:r>
            <a:r>
              <a:rPr lang="en-IN" dirty="0" err="1"/>
              <a:t>AbstractSequentialList</a:t>
            </a:r>
            <a:r>
              <a:rPr lang="en-IN" dirty="0"/>
              <a:t> (derives from </a:t>
            </a:r>
            <a:r>
              <a:rPr lang="en-IN" dirty="0" err="1"/>
              <a:t>AbstractList</a:t>
            </a:r>
            <a:r>
              <a:rPr lang="en-IN" dirty="0"/>
              <a:t>) and implements from List, Deque, Cloneable, Serializable interfaces.</a:t>
            </a:r>
          </a:p>
          <a:p>
            <a:pPr algn="just"/>
            <a:endParaRPr lang="en-IN" dirty="0"/>
          </a:p>
          <a:p>
            <a:pPr algn="just"/>
            <a:r>
              <a:rPr lang="en-IN" dirty="0"/>
              <a:t>Each element in the LinkedList is called the Node. Each Node of the LinkedList contains two items: </a:t>
            </a:r>
          </a:p>
          <a:p>
            <a:pPr algn="just"/>
            <a:r>
              <a:rPr lang="en-IN" dirty="0"/>
              <a:t>	1) Content of the element </a:t>
            </a:r>
          </a:p>
          <a:p>
            <a:pPr algn="just"/>
            <a:r>
              <a:rPr lang="en-IN" dirty="0"/>
              <a:t>	2) Pointer/Address/Reference to the Next Node in the LinkedList.</a:t>
            </a:r>
          </a:p>
          <a:p>
            <a:pPr algn="just"/>
            <a:endParaRPr lang="en-IN" dirty="0"/>
          </a:p>
          <a:p>
            <a:pPr algn="just"/>
            <a:r>
              <a:rPr lang="en-IN" dirty="0"/>
              <a:t>Note: 1. Head of the LinkedList only contains the Address of the First element of the List.</a:t>
            </a:r>
          </a:p>
          <a:p>
            <a:pPr algn="just"/>
            <a:r>
              <a:rPr lang="en-IN" dirty="0"/>
              <a:t>           2. The Last element of the LinkedList contains null in the pointer part of the node because it is the end of the List so it doesn’t point to anything as shown in the above diagram.</a:t>
            </a:r>
          </a:p>
          <a:p>
            <a:pPr algn="just"/>
            <a:r>
              <a:rPr lang="en-IN" dirty="0"/>
              <a:t>           3. The diagram which is shown above represents a singly linked list. There is another complex type variation of LinkedList which is called doubly linked list, node of a doubly linked list contains three parts: 1) Pointer to the previous node of the linked list 2) content of the element 3) pointer to the next node of the linked list.</a:t>
            </a:r>
          </a:p>
        </p:txBody>
      </p:sp>
      <p:sp>
        <p:nvSpPr>
          <p:cNvPr id="10" name="Footer Placeholder 6">
            <a:extLst>
              <a:ext uri="{FF2B5EF4-FFF2-40B4-BE49-F238E27FC236}">
                <a16:creationId xmlns:a16="http://schemas.microsoft.com/office/drawing/2014/main" xmlns="" id="{91104A4B-9DF2-5A7B-6B22-957240982562}"/>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smtClean="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9741596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2EF5EFCA-7FDA-E7CD-91C2-FC6A34960A63}"/>
              </a:ext>
            </a:extLst>
          </p:cNvPr>
          <p:cNvSpPr txBox="1"/>
          <p:nvPr/>
        </p:nvSpPr>
        <p:spPr>
          <a:xfrm>
            <a:off x="198344" y="997323"/>
            <a:ext cx="9228043" cy="5355312"/>
          </a:xfrm>
          <a:prstGeom prst="rect">
            <a:avLst/>
          </a:prstGeom>
          <a:noFill/>
        </p:spPr>
        <p:txBody>
          <a:bodyPr wrap="square">
            <a:spAutoFit/>
          </a:bodyPr>
          <a:lstStyle/>
          <a:p>
            <a:pPr algn="just"/>
            <a:r>
              <a:rPr lang="en-IN" b="1" dirty="0"/>
              <a:t>Why do we need a Linked List?</a:t>
            </a:r>
          </a:p>
          <a:p>
            <a:pPr algn="just"/>
            <a:r>
              <a:rPr lang="en-IN" dirty="0"/>
              <a:t>You must be aware of the arrays which is also a linear data structure but arrays have certain limitations such as:</a:t>
            </a:r>
          </a:p>
          <a:p>
            <a:pPr marL="342900" indent="-342900" algn="just">
              <a:buFont typeface="+mj-lt"/>
              <a:buAutoNum type="arabicPeriod"/>
            </a:pPr>
            <a:r>
              <a:rPr lang="en-IN" dirty="0"/>
              <a:t>Size of the array is fixed which is decided when we create an array so it is hard to predict the number of elements in advance, if the declared size fall short then we cannot increase the size of an array and if we declare a large size array and do not need to store that many elements then it is a waste of memory.</a:t>
            </a:r>
          </a:p>
          <a:p>
            <a:pPr marL="342900" indent="-342900" algn="just">
              <a:buFont typeface="+mj-lt"/>
              <a:buAutoNum type="arabicPeriod"/>
            </a:pPr>
            <a:endParaRPr lang="en-IN" dirty="0"/>
          </a:p>
          <a:p>
            <a:pPr marL="342900" indent="-342900" algn="just">
              <a:buFont typeface="+mj-lt"/>
              <a:buAutoNum type="arabicPeriod"/>
            </a:pPr>
            <a:r>
              <a:rPr lang="en-IN" dirty="0"/>
              <a:t>Array elements need contiguous memory locations to store their values.</a:t>
            </a:r>
          </a:p>
          <a:p>
            <a:pPr marL="342900" indent="-342900" algn="just">
              <a:buFont typeface="+mj-lt"/>
              <a:buAutoNum type="arabicPeriod"/>
            </a:pPr>
            <a:endParaRPr lang="en-IN" dirty="0"/>
          </a:p>
          <a:p>
            <a:pPr marL="342900" indent="-342900" algn="just">
              <a:buFont typeface="+mj-lt"/>
              <a:buAutoNum type="arabicPeriod"/>
            </a:pPr>
            <a:r>
              <a:rPr lang="en-IN" dirty="0"/>
              <a:t>Inserting an element in an array is performance wise expensive as we have to shift several elements to make a space for the new element. For example:</a:t>
            </a:r>
          </a:p>
          <a:p>
            <a:pPr algn="just"/>
            <a:r>
              <a:rPr lang="en-IN" dirty="0"/>
              <a:t>	</a:t>
            </a:r>
          </a:p>
          <a:p>
            <a:pPr algn="just"/>
            <a:r>
              <a:rPr lang="en-IN" dirty="0"/>
              <a:t>Let’s say we have an array that has following elements: 10, 12, 15, 20, 4, 5, 100, now if we want to insert a new element 99 after the element that has value 12 then we have to shift all the elements after 12 to their right to make space for new element.</a:t>
            </a:r>
          </a:p>
          <a:p>
            <a:pPr algn="just"/>
            <a:endParaRPr lang="en-IN" dirty="0"/>
          </a:p>
          <a:p>
            <a:pPr algn="just"/>
            <a:r>
              <a:rPr lang="en-IN" dirty="0"/>
              <a:t>Similarly deleting an element from the array is also a performance wise expensive operation because all the elements after the deleted element have to be shifted left.</a:t>
            </a:r>
          </a:p>
        </p:txBody>
      </p:sp>
      <p:sp>
        <p:nvSpPr>
          <p:cNvPr id="11" name="Footer Placeholder 6">
            <a:extLst>
              <a:ext uri="{FF2B5EF4-FFF2-40B4-BE49-F238E27FC236}">
                <a16:creationId xmlns:a16="http://schemas.microsoft.com/office/drawing/2014/main" xmlns="" id="{91104A4B-9DF2-5A7B-6B22-957240982562}"/>
              </a:ext>
            </a:extLst>
          </p:cNvPr>
          <p:cNvSpPr txBox="1">
            <a:spLocks/>
          </p:cNvSpPr>
          <p:nvPr/>
        </p:nvSpPr>
        <p:spPr>
          <a:xfrm>
            <a:off x="4191000" y="65087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smtClean="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6681341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52BD8CF2-5D76-A2EF-FED0-4FB9C1A49363}"/>
              </a:ext>
            </a:extLst>
          </p:cNvPr>
          <p:cNvSpPr txBox="1"/>
          <p:nvPr/>
        </p:nvSpPr>
        <p:spPr>
          <a:xfrm>
            <a:off x="295835" y="1109025"/>
            <a:ext cx="8851526" cy="4093428"/>
          </a:xfrm>
          <a:prstGeom prst="rect">
            <a:avLst/>
          </a:prstGeom>
          <a:noFill/>
        </p:spPr>
        <p:txBody>
          <a:bodyPr wrap="square">
            <a:spAutoFit/>
          </a:bodyPr>
          <a:lstStyle/>
          <a:p>
            <a:pPr algn="just"/>
            <a:r>
              <a:rPr lang="en-IN" sz="2000" b="1" dirty="0"/>
              <a:t>These limitations are handled in the Linked List by providing following features:</a:t>
            </a:r>
          </a:p>
          <a:p>
            <a:pPr marL="457200" indent="-457200" algn="just">
              <a:buFont typeface="+mj-lt"/>
              <a:buAutoNum type="arabicPeriod"/>
            </a:pPr>
            <a:r>
              <a:rPr lang="en-IN" sz="2000" dirty="0"/>
              <a:t>Linked list allows dynamic memory allocation, which means memory allocation is done at the run time by the compiler and we do not need to mention the size of the list during linked list declaration.</a:t>
            </a:r>
          </a:p>
          <a:p>
            <a:pPr marL="457200" indent="-457200" algn="just">
              <a:buFont typeface="+mj-lt"/>
              <a:buAutoNum type="arabicPeriod"/>
            </a:pPr>
            <a:endParaRPr lang="en-IN" sz="2000" dirty="0"/>
          </a:p>
          <a:p>
            <a:pPr marL="457200" indent="-457200" algn="just">
              <a:buFont typeface="+mj-lt"/>
              <a:buAutoNum type="arabicPeriod"/>
            </a:pPr>
            <a:r>
              <a:rPr lang="en-IN" sz="2000" dirty="0"/>
              <a:t>Linked list elements don’t need contiguous memory locations because elements are linked with each other using the reference part of the node that contains the address of the next node of the list.</a:t>
            </a:r>
          </a:p>
          <a:p>
            <a:pPr marL="457200" indent="-457200" algn="just">
              <a:buFont typeface="+mj-lt"/>
              <a:buAutoNum type="arabicPeriod"/>
            </a:pPr>
            <a:endParaRPr lang="en-IN" sz="2000" dirty="0"/>
          </a:p>
          <a:p>
            <a:pPr marL="457200" indent="-457200" algn="just">
              <a:buFont typeface="+mj-lt"/>
              <a:buAutoNum type="arabicPeriod"/>
            </a:pPr>
            <a:r>
              <a:rPr lang="en-IN" sz="2000" dirty="0"/>
              <a:t>Insert and delete operations in the Linked list are not performance wise expensive because adding and deleting an element from the linked list doesn’t require element shifting, only the pointer of the previous and the next node requires change.</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0857060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98CE20E5-5573-6C80-E1DF-16E904478029}"/>
              </a:ext>
            </a:extLst>
          </p:cNvPr>
          <p:cNvSpPr txBox="1"/>
          <p:nvPr/>
        </p:nvSpPr>
        <p:spPr>
          <a:xfrm>
            <a:off x="474374" y="1018390"/>
            <a:ext cx="8814405" cy="5632311"/>
          </a:xfrm>
          <a:prstGeom prst="rect">
            <a:avLst/>
          </a:prstGeom>
          <a:noFill/>
        </p:spPr>
        <p:txBody>
          <a:bodyPr wrap="square">
            <a:spAutoFit/>
          </a:bodyPr>
          <a:lstStyle/>
          <a:p>
            <a:r>
              <a:rPr lang="en-IN" dirty="0"/>
              <a:t>In addition to </a:t>
            </a:r>
            <a:r>
              <a:rPr lang="en-IN" dirty="0" err="1"/>
              <a:t>AbstractList</a:t>
            </a:r>
            <a:r>
              <a:rPr lang="en-IN" dirty="0"/>
              <a:t> methods the additional methods of LinkedList are </a:t>
            </a:r>
          </a:p>
          <a:p>
            <a:pPr marL="342900" indent="-342900">
              <a:buFont typeface="+mj-lt"/>
              <a:buAutoNum type="arabicPeriod"/>
            </a:pPr>
            <a:r>
              <a:rPr lang="en-IN" dirty="0" err="1"/>
              <a:t>addFirst</a:t>
            </a:r>
            <a:r>
              <a:rPr lang="en-IN" dirty="0"/>
              <a:t>(Object o)</a:t>
            </a:r>
          </a:p>
          <a:p>
            <a:pPr marL="342900" indent="-342900">
              <a:buFont typeface="+mj-lt"/>
              <a:buAutoNum type="arabicPeriod"/>
            </a:pPr>
            <a:r>
              <a:rPr lang="en-IN" dirty="0" err="1"/>
              <a:t>addLast</a:t>
            </a:r>
            <a:r>
              <a:rPr lang="en-IN" dirty="0"/>
              <a:t>(Object o)</a:t>
            </a:r>
          </a:p>
          <a:p>
            <a:pPr marL="342900" indent="-342900">
              <a:buFont typeface="+mj-lt"/>
              <a:buAutoNum type="arabicPeriod"/>
            </a:pPr>
            <a:r>
              <a:rPr lang="en-IN" dirty="0" err="1"/>
              <a:t>descendingIterator</a:t>
            </a:r>
            <a:r>
              <a:rPr lang="en-IN" dirty="0"/>
              <a:t>()</a:t>
            </a:r>
          </a:p>
          <a:p>
            <a:pPr marL="342900" indent="-342900">
              <a:buFont typeface="+mj-lt"/>
              <a:buAutoNum type="arabicPeriod"/>
            </a:pPr>
            <a:r>
              <a:rPr lang="en-IN" dirty="0" err="1"/>
              <a:t>getFirst</a:t>
            </a:r>
            <a:r>
              <a:rPr lang="en-IN" dirty="0"/>
              <a:t>()</a:t>
            </a:r>
          </a:p>
          <a:p>
            <a:pPr marL="342900" indent="-342900">
              <a:buFont typeface="+mj-lt"/>
              <a:buAutoNum type="arabicPeriod"/>
            </a:pPr>
            <a:r>
              <a:rPr lang="en-IN" dirty="0" err="1"/>
              <a:t>getLast</a:t>
            </a:r>
            <a:r>
              <a:rPr lang="en-IN" dirty="0"/>
              <a:t>()</a:t>
            </a:r>
          </a:p>
          <a:p>
            <a:pPr marL="342900" indent="-342900">
              <a:buFont typeface="+mj-lt"/>
              <a:buAutoNum type="arabicPeriod"/>
            </a:pPr>
            <a:r>
              <a:rPr lang="en-IN" dirty="0"/>
              <a:t>offer(Object o) /</a:t>
            </a:r>
            <a:r>
              <a:rPr lang="en-IN" dirty="0" err="1"/>
              <a:t>offerLast</a:t>
            </a:r>
            <a:r>
              <a:rPr lang="en-IN" dirty="0"/>
              <a:t>(Object) </a:t>
            </a:r>
          </a:p>
          <a:p>
            <a:pPr marL="342900" indent="-342900">
              <a:buFont typeface="+mj-lt"/>
              <a:buAutoNum type="arabicPeriod"/>
            </a:pPr>
            <a:r>
              <a:rPr lang="en-IN" dirty="0" err="1"/>
              <a:t>offerFirst</a:t>
            </a:r>
            <a:r>
              <a:rPr lang="en-IN" dirty="0"/>
              <a:t>(Object o)</a:t>
            </a:r>
          </a:p>
          <a:p>
            <a:pPr marL="342900" indent="-342900">
              <a:buFont typeface="+mj-lt"/>
              <a:buAutoNum type="arabicPeriod"/>
            </a:pPr>
            <a:r>
              <a:rPr lang="en-IN" dirty="0"/>
              <a:t>Object peek() retrieves but not remove the head of the element</a:t>
            </a:r>
          </a:p>
          <a:p>
            <a:pPr marL="342900" indent="-342900">
              <a:buFont typeface="+mj-lt"/>
              <a:buAutoNum type="arabicPeriod"/>
            </a:pPr>
            <a:r>
              <a:rPr lang="en-IN" dirty="0" err="1"/>
              <a:t>peekFirst</a:t>
            </a:r>
            <a:r>
              <a:rPr lang="en-IN" dirty="0"/>
              <a:t>()</a:t>
            </a:r>
          </a:p>
          <a:p>
            <a:pPr marL="342900" indent="-342900">
              <a:buFont typeface="+mj-lt"/>
              <a:buAutoNum type="arabicPeriod"/>
            </a:pPr>
            <a:r>
              <a:rPr lang="en-IN" dirty="0" err="1"/>
              <a:t>peekLast</a:t>
            </a:r>
            <a:r>
              <a:rPr lang="en-IN" dirty="0"/>
              <a:t>()</a:t>
            </a:r>
          </a:p>
          <a:p>
            <a:pPr marL="342900" indent="-342900">
              <a:buFont typeface="+mj-lt"/>
              <a:buAutoNum type="arabicPeriod"/>
            </a:pPr>
            <a:r>
              <a:rPr lang="en-IN" dirty="0"/>
              <a:t>poll() FIFO element will be removed- retrieve and removes element from the head of the list</a:t>
            </a:r>
          </a:p>
          <a:p>
            <a:pPr marL="342900" indent="-342900">
              <a:buFont typeface="+mj-lt"/>
              <a:buAutoNum type="arabicPeriod"/>
            </a:pPr>
            <a:r>
              <a:rPr lang="en-IN" dirty="0" err="1"/>
              <a:t>pollFirst</a:t>
            </a:r>
            <a:r>
              <a:rPr lang="en-IN" dirty="0"/>
              <a:t>()</a:t>
            </a:r>
          </a:p>
          <a:p>
            <a:pPr marL="342900" indent="-342900">
              <a:buFont typeface="+mj-lt"/>
              <a:buAutoNum type="arabicPeriod"/>
            </a:pPr>
            <a:r>
              <a:rPr lang="en-IN" dirty="0" err="1"/>
              <a:t>pollLast</a:t>
            </a:r>
            <a:r>
              <a:rPr lang="en-IN" dirty="0"/>
              <a:t>()</a:t>
            </a:r>
          </a:p>
          <a:p>
            <a:pPr marL="342900" indent="-342900">
              <a:buFont typeface="+mj-lt"/>
              <a:buAutoNum type="arabicPeriod"/>
            </a:pPr>
            <a:r>
              <a:rPr lang="en-IN" dirty="0"/>
              <a:t>pop() FILO element will be removed, remove and returns element on the top</a:t>
            </a:r>
          </a:p>
          <a:p>
            <a:pPr marL="342900" indent="-342900">
              <a:buFont typeface="+mj-lt"/>
              <a:buAutoNum type="arabicPeriod"/>
            </a:pPr>
            <a:r>
              <a:rPr lang="en-IN" dirty="0" err="1"/>
              <a:t>removeFirst</a:t>
            </a:r>
            <a:r>
              <a:rPr lang="en-IN" dirty="0"/>
              <a:t>()</a:t>
            </a:r>
          </a:p>
          <a:p>
            <a:pPr marL="342900" indent="-342900">
              <a:buFont typeface="+mj-lt"/>
              <a:buAutoNum type="arabicPeriod"/>
            </a:pPr>
            <a:r>
              <a:rPr lang="en-IN" dirty="0" err="1"/>
              <a:t>removeLast</a:t>
            </a:r>
            <a:r>
              <a:rPr lang="en-IN" dirty="0"/>
              <a:t>()</a:t>
            </a:r>
          </a:p>
          <a:p>
            <a:pPr marL="342900" indent="-342900">
              <a:buFont typeface="+mj-lt"/>
              <a:buAutoNum type="arabicPeriod"/>
            </a:pPr>
            <a:r>
              <a:rPr lang="en-IN" dirty="0" err="1"/>
              <a:t>removeFirstOccurance</a:t>
            </a:r>
            <a:r>
              <a:rPr lang="en-IN" dirty="0"/>
              <a:t>(Object o)</a:t>
            </a:r>
          </a:p>
          <a:p>
            <a:pPr marL="342900" indent="-342900">
              <a:buFont typeface="+mj-lt"/>
              <a:buAutoNum type="arabicPeriod"/>
            </a:pPr>
            <a:r>
              <a:rPr lang="en-IN" dirty="0" err="1"/>
              <a:t>removeLastOccurance</a:t>
            </a:r>
            <a:r>
              <a:rPr lang="en-IN" dirty="0"/>
              <a:t>(Object o)</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3377884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30C1BB89-0F9E-18DF-0D90-F94784376BFA}"/>
              </a:ext>
            </a:extLst>
          </p:cNvPr>
          <p:cNvSpPr txBox="1"/>
          <p:nvPr/>
        </p:nvSpPr>
        <p:spPr>
          <a:xfrm>
            <a:off x="201706" y="1443841"/>
            <a:ext cx="8864973" cy="4401205"/>
          </a:xfrm>
          <a:prstGeom prst="rect">
            <a:avLst/>
          </a:prstGeom>
          <a:noFill/>
        </p:spPr>
        <p:txBody>
          <a:bodyPr wrap="square">
            <a:spAutoFit/>
          </a:bodyPr>
          <a:lstStyle/>
          <a:p>
            <a:pPr algn="just"/>
            <a:r>
              <a:rPr lang="en-IN" sz="2000" b="1" u="sng" dirty="0"/>
              <a:t>public interface Queue extends Collection:</a:t>
            </a:r>
          </a:p>
          <a:p>
            <a:pPr algn="just"/>
            <a:r>
              <a:rPr lang="en-IN" sz="2000" dirty="0"/>
              <a:t>A collection designed for holding elements prior to processing. Besides basic Collection operations, queues provide additional insertion, extraction, and inspection operations. Each of these methods exists in two forms: one throws an exception if the operation fails, the other returns a special value (either null or false, depending on the operation). The latter form of the insert operation is designed specifically for use with capacity-restricted Queue implementations; in most implementations, insert operations cannot fail.</a:t>
            </a:r>
          </a:p>
          <a:p>
            <a:pPr algn="just"/>
            <a:r>
              <a:rPr lang="en-IN" sz="2000" dirty="0"/>
              <a:t> </a:t>
            </a:r>
          </a:p>
          <a:p>
            <a:pPr algn="just"/>
            <a:r>
              <a:rPr lang="en-IN" sz="2000" dirty="0"/>
              <a:t>Type of Operation	Throws exception		Returns special value</a:t>
            </a:r>
          </a:p>
          <a:p>
            <a:pPr algn="just"/>
            <a:r>
              <a:rPr lang="en-IN" sz="2000" dirty="0"/>
              <a:t>-----------------------------------------------------------------------------------------------------------</a:t>
            </a:r>
          </a:p>
          <a:p>
            <a:pPr algn="just"/>
            <a:r>
              <a:rPr lang="en-IN" sz="2000" dirty="0"/>
              <a:t>Insert				add(e)				offer(e)</a:t>
            </a:r>
          </a:p>
          <a:p>
            <a:pPr algn="just"/>
            <a:r>
              <a:rPr lang="en-IN" sz="2000" dirty="0"/>
              <a:t>Remove				remove()			poll()</a:t>
            </a:r>
          </a:p>
          <a:p>
            <a:pPr algn="just"/>
            <a:r>
              <a:rPr lang="en-IN" sz="2000" dirty="0"/>
              <a:t>Examine				element()			peek()</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2746698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5AEE38EE-D673-5243-5779-ED14CA49ED53}"/>
              </a:ext>
            </a:extLst>
          </p:cNvPr>
          <p:cNvSpPr txBox="1"/>
          <p:nvPr/>
        </p:nvSpPr>
        <p:spPr>
          <a:xfrm>
            <a:off x="215152" y="1228397"/>
            <a:ext cx="8891867" cy="4401205"/>
          </a:xfrm>
          <a:prstGeom prst="rect">
            <a:avLst/>
          </a:prstGeom>
          <a:noFill/>
        </p:spPr>
        <p:txBody>
          <a:bodyPr wrap="square">
            <a:spAutoFit/>
          </a:bodyPr>
          <a:lstStyle/>
          <a:p>
            <a:pPr algn="just"/>
            <a:r>
              <a:rPr lang="en-IN" sz="2000" dirty="0"/>
              <a:t>The </a:t>
            </a:r>
            <a:r>
              <a:rPr lang="en-IN" sz="2000" b="1" dirty="0"/>
              <a:t>offer</a:t>
            </a:r>
            <a:r>
              <a:rPr lang="en-IN" sz="2000" dirty="0"/>
              <a:t> method inserts an element if possible, otherwise returning false. This differs from the </a:t>
            </a:r>
            <a:r>
              <a:rPr lang="en-IN" sz="2000" dirty="0" err="1"/>
              <a:t>Collection.add</a:t>
            </a:r>
            <a:r>
              <a:rPr lang="en-IN" sz="2000" dirty="0"/>
              <a:t> method, which can fail to add an element only by throwing an unchecked exception. The offer method is designed for use when failure is a normal, rather than exceptional occurrence, for example, in fixed-capacity (or "bounded") queues.</a:t>
            </a:r>
          </a:p>
          <a:p>
            <a:pPr algn="just"/>
            <a:endParaRPr lang="en-IN" sz="2000" dirty="0"/>
          </a:p>
          <a:p>
            <a:pPr algn="just"/>
            <a:r>
              <a:rPr lang="en-IN" sz="2000" dirty="0"/>
              <a:t>The </a:t>
            </a:r>
            <a:r>
              <a:rPr lang="en-IN" sz="2000" b="1" dirty="0"/>
              <a:t>remove() and poll()</a:t>
            </a:r>
            <a:r>
              <a:rPr lang="en-IN" sz="2000" dirty="0"/>
              <a:t> methods remove and return the head of the queue. Exactly which element is removed from the queue is a function of the queue's ordering policy, which differs from implementation to implementation. The remove() and poll() methods differ only in their </a:t>
            </a:r>
            <a:r>
              <a:rPr lang="en-IN" sz="2000" dirty="0" err="1"/>
              <a:t>behavior</a:t>
            </a:r>
            <a:r>
              <a:rPr lang="en-IN" sz="2000" dirty="0"/>
              <a:t> when the queue is empty: the remove() method throws an exception, while the poll() method returns null.</a:t>
            </a:r>
          </a:p>
          <a:p>
            <a:pPr algn="just"/>
            <a:endParaRPr lang="en-IN" sz="2000" dirty="0"/>
          </a:p>
          <a:p>
            <a:pPr algn="just"/>
            <a:r>
              <a:rPr lang="en-IN" sz="2000" dirty="0"/>
              <a:t>The </a:t>
            </a:r>
            <a:r>
              <a:rPr lang="en-IN" sz="2000" b="1" dirty="0"/>
              <a:t>element() and peek() </a:t>
            </a:r>
            <a:r>
              <a:rPr lang="en-IN" sz="2000" dirty="0"/>
              <a:t>methods return, but do not remove, the head of the queue.</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5120256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DB2340F3-650C-8D84-8222-771AD1C33DF5}"/>
              </a:ext>
            </a:extLst>
          </p:cNvPr>
          <p:cNvSpPr txBox="1"/>
          <p:nvPr/>
        </p:nvSpPr>
        <p:spPr>
          <a:xfrm>
            <a:off x="87690" y="1720840"/>
            <a:ext cx="8891867" cy="4401205"/>
          </a:xfrm>
          <a:prstGeom prst="rect">
            <a:avLst/>
          </a:prstGeom>
          <a:noFill/>
        </p:spPr>
        <p:txBody>
          <a:bodyPr wrap="square">
            <a:spAutoFit/>
          </a:bodyPr>
          <a:lstStyle/>
          <a:p>
            <a:pPr algn="just"/>
            <a:r>
              <a:rPr lang="en-IN" sz="2000" b="1" u="sng" dirty="0"/>
              <a:t>public interface Deque&lt;E&gt; extends Queue&lt;E&gt; </a:t>
            </a:r>
          </a:p>
          <a:p>
            <a:pPr algn="just"/>
            <a:r>
              <a:rPr lang="en-IN" sz="2000" dirty="0"/>
              <a:t>A linear collection that supports element insertion and removal at both ends. The name deque is short for "double ended queue" and is usually pronounced "deck". Most Deque implementations place no fixed limits on the number of elements they may contain, but this interface supports capacity-restricted deques as well as those with no fixed size limit.</a:t>
            </a:r>
          </a:p>
          <a:p>
            <a:pPr algn="just"/>
            <a:endParaRPr lang="en-IN" sz="2000" dirty="0"/>
          </a:p>
          <a:p>
            <a:pPr algn="just"/>
            <a:r>
              <a:rPr lang="en-IN" sz="2000" dirty="0"/>
              <a:t>This interface defines methods to access the elements at both ends of the deque. Methods are provided to insert, remove, and examine the element. Each of these methods exists in two forms: one throws an exception if the operation fails, the other returns a special value (either null or false, depending on the operation). The latter form of the insert operation is designed specifically for use with capacity-restricted Deque implementations; in most implementations, insert operations cannot fail.</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8103603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DC64E0C4-C6AB-5842-B387-479564B2C62D}"/>
              </a:ext>
            </a:extLst>
          </p:cNvPr>
          <p:cNvSpPr txBox="1"/>
          <p:nvPr/>
        </p:nvSpPr>
        <p:spPr>
          <a:xfrm>
            <a:off x="349624" y="1799133"/>
            <a:ext cx="8703608" cy="923330"/>
          </a:xfrm>
          <a:prstGeom prst="rect">
            <a:avLst/>
          </a:prstGeom>
          <a:noFill/>
        </p:spPr>
        <p:txBody>
          <a:bodyPr wrap="square">
            <a:spAutoFit/>
          </a:bodyPr>
          <a:lstStyle/>
          <a:p>
            <a:pPr algn="just"/>
            <a:r>
              <a:rPr lang="en-IN" b="1" u="sng" dirty="0"/>
              <a:t>The twelve methods described above are summarized in the following table:</a:t>
            </a:r>
          </a:p>
          <a:p>
            <a:pPr algn="just"/>
            <a:r>
              <a:rPr lang="en-IN" dirty="0"/>
              <a:t>The 12 methods for insertion, removal and retrieval of Deque elements are summarized in the following table:</a:t>
            </a:r>
          </a:p>
        </p:txBody>
      </p:sp>
      <p:graphicFrame>
        <p:nvGraphicFramePr>
          <p:cNvPr id="8" name="Table 12">
            <a:extLst>
              <a:ext uri="{FF2B5EF4-FFF2-40B4-BE49-F238E27FC236}">
                <a16:creationId xmlns:a16="http://schemas.microsoft.com/office/drawing/2014/main" xmlns="" id="{BA76329F-D2C5-3506-8FC2-74B7A1C021AF}"/>
              </a:ext>
            </a:extLst>
          </p:cNvPr>
          <p:cNvGraphicFramePr>
            <a:graphicFrameLocks noGrp="1"/>
          </p:cNvGraphicFramePr>
          <p:nvPr>
            <p:extLst>
              <p:ext uri="{D42A27DB-BD31-4B8C-83A1-F6EECF244321}">
                <p14:modId xmlns:p14="http://schemas.microsoft.com/office/powerpoint/2010/main" val="4031451058"/>
              </p:ext>
            </p:extLst>
          </p:nvPr>
        </p:nvGraphicFramePr>
        <p:xfrm>
          <a:off x="512488" y="2911543"/>
          <a:ext cx="8776292" cy="1854200"/>
        </p:xfrm>
        <a:graphic>
          <a:graphicData uri="http://schemas.openxmlformats.org/drawingml/2006/table">
            <a:tbl>
              <a:tblPr firstRow="1" bandRow="1">
                <a:tableStyleId>{5C22544A-7EE6-4342-B048-85BDC9FD1C3A}</a:tableStyleId>
              </a:tblPr>
              <a:tblGrid>
                <a:gridCol w="2163477">
                  <a:extLst>
                    <a:ext uri="{9D8B030D-6E8A-4147-A177-3AD203B41FA5}">
                      <a16:colId xmlns:a16="http://schemas.microsoft.com/office/drawing/2014/main" xmlns="" val="3739377123"/>
                    </a:ext>
                  </a:extLst>
                </a:gridCol>
                <a:gridCol w="1522881">
                  <a:extLst>
                    <a:ext uri="{9D8B030D-6E8A-4147-A177-3AD203B41FA5}">
                      <a16:colId xmlns:a16="http://schemas.microsoft.com/office/drawing/2014/main" xmlns="" val="2035379395"/>
                    </a:ext>
                  </a:extLst>
                </a:gridCol>
                <a:gridCol w="1579416">
                  <a:extLst>
                    <a:ext uri="{9D8B030D-6E8A-4147-A177-3AD203B41FA5}">
                      <a16:colId xmlns:a16="http://schemas.microsoft.com/office/drawing/2014/main" xmlns="" val="2060661887"/>
                    </a:ext>
                  </a:extLst>
                </a:gridCol>
                <a:gridCol w="1890769">
                  <a:extLst>
                    <a:ext uri="{9D8B030D-6E8A-4147-A177-3AD203B41FA5}">
                      <a16:colId xmlns:a16="http://schemas.microsoft.com/office/drawing/2014/main" xmlns="" val="2642213441"/>
                    </a:ext>
                  </a:extLst>
                </a:gridCol>
                <a:gridCol w="1619749">
                  <a:extLst>
                    <a:ext uri="{9D8B030D-6E8A-4147-A177-3AD203B41FA5}">
                      <a16:colId xmlns:a16="http://schemas.microsoft.com/office/drawing/2014/main" xmlns="" val="775194857"/>
                    </a:ext>
                  </a:extLst>
                </a:gridCol>
              </a:tblGrid>
              <a:tr h="370840">
                <a:tc>
                  <a:txBody>
                    <a:bodyPr/>
                    <a:lstStyle/>
                    <a:p>
                      <a:r>
                        <a:rPr lang="en-IN" dirty="0"/>
                        <a:t>Type of Operation</a:t>
                      </a:r>
                    </a:p>
                  </a:txBody>
                  <a:tcPr/>
                </a:tc>
                <a:tc gridSpan="2">
                  <a:txBody>
                    <a:bodyPr/>
                    <a:lstStyle/>
                    <a:p>
                      <a:r>
                        <a:rPr lang="en-IN" dirty="0"/>
                        <a:t>First Element (Head)</a:t>
                      </a:r>
                    </a:p>
                  </a:txBody>
                  <a:tcPr/>
                </a:tc>
                <a:tc hMerge="1">
                  <a:txBody>
                    <a:bodyPr/>
                    <a:lstStyle/>
                    <a:p>
                      <a:endParaRPr lang="en-IN" dirty="0"/>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Last Element (Tail)</a:t>
                      </a:r>
                    </a:p>
                  </a:txBody>
                  <a:tcPr/>
                </a:tc>
                <a:tc hMerge="1">
                  <a:txBody>
                    <a:bodyPr/>
                    <a:lstStyle/>
                    <a:p>
                      <a:endParaRPr lang="en-IN" dirty="0"/>
                    </a:p>
                  </a:txBody>
                  <a:tcPr/>
                </a:tc>
                <a:extLst>
                  <a:ext uri="{0D108BD9-81ED-4DB2-BD59-A6C34878D82A}">
                    <a16:rowId xmlns:a16="http://schemas.microsoft.com/office/drawing/2014/main" xmlns="" val="123270224"/>
                  </a:ext>
                </a:extLst>
              </a:tr>
              <a:tr h="370840">
                <a:tc>
                  <a:txBody>
                    <a:bodyPr/>
                    <a:lstStyle/>
                    <a:p>
                      <a:endParaRPr lang="en-IN" dirty="0"/>
                    </a:p>
                  </a:txBody>
                  <a:tcPr/>
                </a:tc>
                <a:tc>
                  <a:txBody>
                    <a:bodyPr/>
                    <a:lstStyle/>
                    <a:p>
                      <a:r>
                        <a:rPr lang="en-IN" dirty="0"/>
                        <a:t>throws e</a:t>
                      </a:r>
                    </a:p>
                  </a:txBody>
                  <a:tcPr/>
                </a:tc>
                <a:tc>
                  <a:txBody>
                    <a:bodyPr/>
                    <a:lstStyle/>
                    <a:p>
                      <a:r>
                        <a:rPr lang="en-IN" dirty="0"/>
                        <a:t>special value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throws 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special value</a:t>
                      </a:r>
                    </a:p>
                  </a:txBody>
                  <a:tcPr/>
                </a:tc>
                <a:extLst>
                  <a:ext uri="{0D108BD9-81ED-4DB2-BD59-A6C34878D82A}">
                    <a16:rowId xmlns:a16="http://schemas.microsoft.com/office/drawing/2014/main" xmlns="" val="2362766668"/>
                  </a:ext>
                </a:extLst>
              </a:tr>
              <a:tr h="370840">
                <a:tc>
                  <a:txBody>
                    <a:bodyPr/>
                    <a:lstStyle/>
                    <a:p>
                      <a:r>
                        <a:rPr lang="en-IN" dirty="0"/>
                        <a:t>Insert</a:t>
                      </a:r>
                    </a:p>
                  </a:txBody>
                  <a:tcPr/>
                </a:tc>
                <a:tc>
                  <a:txBody>
                    <a:bodyPr/>
                    <a:lstStyle/>
                    <a:p>
                      <a:r>
                        <a:rPr lang="en-IN" dirty="0" err="1"/>
                        <a:t>addFirst</a:t>
                      </a:r>
                      <a:r>
                        <a:rPr lang="en-IN" dirty="0"/>
                        <a:t>(e)</a:t>
                      </a:r>
                    </a:p>
                  </a:txBody>
                  <a:tcPr/>
                </a:tc>
                <a:tc>
                  <a:txBody>
                    <a:bodyPr/>
                    <a:lstStyle/>
                    <a:p>
                      <a:r>
                        <a:rPr lang="en-IN" dirty="0" err="1"/>
                        <a:t>offerFirst</a:t>
                      </a:r>
                      <a:r>
                        <a:rPr lang="en-IN" dirty="0"/>
                        <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err="1"/>
                        <a:t>addLast</a:t>
                      </a:r>
                      <a:r>
                        <a:rPr lang="en-IN" dirty="0"/>
                        <a:t>(e)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err="1"/>
                        <a:t>offerLast</a:t>
                      </a:r>
                      <a:r>
                        <a:rPr lang="en-IN" dirty="0"/>
                        <a:t>(e)</a:t>
                      </a:r>
                    </a:p>
                  </a:txBody>
                  <a:tcPr/>
                </a:tc>
                <a:extLst>
                  <a:ext uri="{0D108BD9-81ED-4DB2-BD59-A6C34878D82A}">
                    <a16:rowId xmlns:a16="http://schemas.microsoft.com/office/drawing/2014/main" xmlns="" val="3032050978"/>
                  </a:ext>
                </a:extLst>
              </a:tr>
              <a:tr h="370840">
                <a:tc>
                  <a:txBody>
                    <a:bodyPr/>
                    <a:lstStyle/>
                    <a:p>
                      <a:r>
                        <a:rPr lang="en-IN" dirty="0"/>
                        <a:t>remove</a:t>
                      </a:r>
                    </a:p>
                  </a:txBody>
                  <a:tcPr/>
                </a:tc>
                <a:tc>
                  <a:txBody>
                    <a:bodyPr/>
                    <a:lstStyle/>
                    <a:p>
                      <a:r>
                        <a:rPr lang="en-IN" dirty="0" err="1"/>
                        <a:t>removeFirst</a:t>
                      </a:r>
                      <a:r>
                        <a:rPr lang="en-IN" dirty="0"/>
                        <a:t>()</a:t>
                      </a:r>
                    </a:p>
                  </a:txBody>
                  <a:tcPr/>
                </a:tc>
                <a:tc>
                  <a:txBody>
                    <a:bodyPr/>
                    <a:lstStyle/>
                    <a:p>
                      <a:r>
                        <a:rPr lang="en-IN" dirty="0" err="1"/>
                        <a:t>pollFirst</a:t>
                      </a:r>
                      <a:r>
                        <a:rPr lang="en-I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err="1"/>
                        <a:t>removeLast</a:t>
                      </a:r>
                      <a:r>
                        <a:rPr lang="en-I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err="1"/>
                        <a:t>polLast</a:t>
                      </a:r>
                      <a:r>
                        <a:rPr lang="en-IN" dirty="0"/>
                        <a:t>()</a:t>
                      </a:r>
                    </a:p>
                  </a:txBody>
                  <a:tcPr/>
                </a:tc>
                <a:extLst>
                  <a:ext uri="{0D108BD9-81ED-4DB2-BD59-A6C34878D82A}">
                    <a16:rowId xmlns:a16="http://schemas.microsoft.com/office/drawing/2014/main" xmlns="" val="1277848675"/>
                  </a:ext>
                </a:extLst>
              </a:tr>
              <a:tr h="370840">
                <a:tc>
                  <a:txBody>
                    <a:bodyPr/>
                    <a:lstStyle/>
                    <a:p>
                      <a:r>
                        <a:rPr lang="en-IN" dirty="0"/>
                        <a:t>examine</a:t>
                      </a:r>
                    </a:p>
                  </a:txBody>
                  <a:tcPr/>
                </a:tc>
                <a:tc>
                  <a:txBody>
                    <a:bodyPr/>
                    <a:lstStyle/>
                    <a:p>
                      <a:r>
                        <a:rPr lang="en-IN" dirty="0" err="1"/>
                        <a:t>getFirst</a:t>
                      </a:r>
                      <a:r>
                        <a:rPr lang="en-IN" dirty="0"/>
                        <a:t>()</a:t>
                      </a:r>
                    </a:p>
                  </a:txBody>
                  <a:tcPr/>
                </a:tc>
                <a:tc>
                  <a:txBody>
                    <a:bodyPr/>
                    <a:lstStyle/>
                    <a:p>
                      <a:r>
                        <a:rPr lang="en-IN" dirty="0" err="1"/>
                        <a:t>peekFirst</a:t>
                      </a:r>
                      <a:r>
                        <a:rPr lang="en-I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err="1"/>
                        <a:t>getLast</a:t>
                      </a:r>
                      <a:r>
                        <a:rPr lang="en-I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err="1"/>
                        <a:t>peekLast</a:t>
                      </a:r>
                      <a:r>
                        <a:rPr lang="en-IN" dirty="0"/>
                        <a:t>()</a:t>
                      </a:r>
                    </a:p>
                  </a:txBody>
                  <a:tcPr/>
                </a:tc>
                <a:extLst>
                  <a:ext uri="{0D108BD9-81ED-4DB2-BD59-A6C34878D82A}">
                    <a16:rowId xmlns:a16="http://schemas.microsoft.com/office/drawing/2014/main" xmlns="" val="2858434514"/>
                  </a:ext>
                </a:extLst>
              </a:tr>
            </a:tbl>
          </a:graphicData>
        </a:graphic>
      </p:graphicFrame>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41366660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9015178E-2EFA-D632-4EC3-DB01FF9A960A}"/>
              </a:ext>
            </a:extLst>
          </p:cNvPr>
          <p:cNvSpPr txBox="1"/>
          <p:nvPr/>
        </p:nvSpPr>
        <p:spPr>
          <a:xfrm>
            <a:off x="201706" y="1115776"/>
            <a:ext cx="8905314" cy="5632311"/>
          </a:xfrm>
          <a:prstGeom prst="rect">
            <a:avLst/>
          </a:prstGeom>
          <a:noFill/>
        </p:spPr>
        <p:txBody>
          <a:bodyPr wrap="square">
            <a:spAutoFit/>
          </a:bodyPr>
          <a:lstStyle/>
          <a:p>
            <a:pPr algn="just"/>
            <a:r>
              <a:rPr lang="en-IN" sz="2000" b="1" dirty="0"/>
              <a:t>void </a:t>
            </a:r>
            <a:r>
              <a:rPr lang="en-IN" sz="2000" b="1" dirty="0" err="1"/>
              <a:t>addFirst</a:t>
            </a:r>
            <a:r>
              <a:rPr lang="en-IN" sz="2000" b="1" dirty="0"/>
              <a:t>(E e)</a:t>
            </a:r>
          </a:p>
          <a:p>
            <a:pPr algn="just"/>
            <a:r>
              <a:rPr lang="en-IN" sz="2000" dirty="0"/>
              <a:t>Inserts the specified element at the front of this deque if it is possible to do so immediately without violating capacity restrictions, throwing an </a:t>
            </a:r>
            <a:r>
              <a:rPr lang="en-IN" sz="2000" dirty="0" err="1"/>
              <a:t>IllegalStateException</a:t>
            </a:r>
            <a:r>
              <a:rPr lang="en-IN" sz="2000" dirty="0"/>
              <a:t> if no space is currently available. When using a capacity-restricted deque, it is generally preferable to use method </a:t>
            </a:r>
            <a:r>
              <a:rPr lang="en-IN" sz="2000" dirty="0" err="1"/>
              <a:t>offerFirst</a:t>
            </a:r>
            <a:r>
              <a:rPr lang="en-IN" sz="2000" dirty="0"/>
              <a:t>(E).</a:t>
            </a:r>
          </a:p>
          <a:p>
            <a:pPr algn="just"/>
            <a:endParaRPr lang="en-IN" sz="2000" dirty="0"/>
          </a:p>
          <a:p>
            <a:pPr algn="just"/>
            <a:r>
              <a:rPr lang="en-IN" sz="2000" b="1" dirty="0"/>
              <a:t>boolean </a:t>
            </a:r>
            <a:r>
              <a:rPr lang="en-IN" sz="2000" b="1" dirty="0" err="1"/>
              <a:t>offerFirst</a:t>
            </a:r>
            <a:r>
              <a:rPr lang="en-IN" sz="2000" b="1" dirty="0"/>
              <a:t>(E e)</a:t>
            </a:r>
          </a:p>
          <a:p>
            <a:pPr algn="just"/>
            <a:r>
              <a:rPr lang="en-IN" sz="2000" dirty="0"/>
              <a:t>Inserts the specified element at the front of this deque unless it would violate capacity restrictions. When using a capacity-restricted deque, this method is generally preferable to the </a:t>
            </a:r>
            <a:r>
              <a:rPr lang="en-IN" sz="2000" dirty="0" err="1"/>
              <a:t>addFirst</a:t>
            </a:r>
            <a:r>
              <a:rPr lang="en-IN" sz="2000" dirty="0"/>
              <a:t>(E) method, which can fail to insert an element only by throwing an exception.</a:t>
            </a:r>
          </a:p>
          <a:p>
            <a:pPr algn="just"/>
            <a:endParaRPr lang="en-IN" sz="2000" dirty="0"/>
          </a:p>
          <a:p>
            <a:pPr algn="just"/>
            <a:r>
              <a:rPr lang="en-IN" sz="2000" b="1" dirty="0"/>
              <a:t>void </a:t>
            </a:r>
            <a:r>
              <a:rPr lang="en-IN" sz="2000" b="1" dirty="0" err="1"/>
              <a:t>addLast</a:t>
            </a:r>
            <a:r>
              <a:rPr lang="en-IN" sz="2000" b="1" dirty="0"/>
              <a:t>(E e)</a:t>
            </a:r>
          </a:p>
          <a:p>
            <a:pPr algn="just"/>
            <a:r>
              <a:rPr lang="en-IN" sz="2000" dirty="0"/>
              <a:t>Inserts the specified element at the end of this deque if it is possible to do so immediately without violating capacity restrictions, throwing an </a:t>
            </a:r>
            <a:r>
              <a:rPr lang="en-IN" sz="2000" dirty="0" err="1"/>
              <a:t>IllegalStateException</a:t>
            </a:r>
            <a:r>
              <a:rPr lang="en-IN" sz="2000" dirty="0"/>
              <a:t> if no space is currently available. When using a capacity-restricted deque, it is generally preferable to use method </a:t>
            </a:r>
            <a:r>
              <a:rPr lang="en-IN" sz="2000" dirty="0" err="1"/>
              <a:t>offerLast</a:t>
            </a:r>
            <a:r>
              <a:rPr lang="en-IN" sz="2000" dirty="0"/>
              <a:t>(E). This method is equivalent to add(E).</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055523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A56557BF-2EEF-353F-75FB-EF9C18FFE814}"/>
              </a:ext>
            </a:extLst>
          </p:cNvPr>
          <p:cNvSpPr txBox="1"/>
          <p:nvPr/>
        </p:nvSpPr>
        <p:spPr>
          <a:xfrm>
            <a:off x="114525" y="1233542"/>
            <a:ext cx="9147361" cy="5078313"/>
          </a:xfrm>
          <a:prstGeom prst="rect">
            <a:avLst/>
          </a:prstGeom>
          <a:noFill/>
        </p:spPr>
        <p:txBody>
          <a:bodyPr wrap="square">
            <a:spAutoFit/>
          </a:bodyPr>
          <a:lstStyle/>
          <a:p>
            <a:r>
              <a:rPr lang="en-IN" b="1" dirty="0"/>
              <a:t>boolean </a:t>
            </a:r>
            <a:r>
              <a:rPr lang="en-IN" b="1" dirty="0" err="1"/>
              <a:t>offerLast</a:t>
            </a:r>
            <a:r>
              <a:rPr lang="en-IN" b="1" dirty="0"/>
              <a:t>(E e)</a:t>
            </a:r>
          </a:p>
          <a:p>
            <a:r>
              <a:rPr lang="en-IN" dirty="0"/>
              <a:t>Inserts the specified element at the end of this deque unless it would violate capacity restrictions. When using a capacity-restricted deque, this method is generally preferable to the </a:t>
            </a:r>
            <a:r>
              <a:rPr lang="en-IN" dirty="0" err="1"/>
              <a:t>addLast</a:t>
            </a:r>
            <a:r>
              <a:rPr lang="en-IN" dirty="0"/>
              <a:t>(E) method, which can fail to insert an element only by throwing an exception.</a:t>
            </a:r>
          </a:p>
          <a:p>
            <a:r>
              <a:rPr lang="en-IN" dirty="0"/>
              <a:t>		</a:t>
            </a:r>
          </a:p>
          <a:p>
            <a:r>
              <a:rPr lang="en-IN" b="1" dirty="0"/>
              <a:t>E </a:t>
            </a:r>
            <a:r>
              <a:rPr lang="en-IN" b="1" dirty="0" err="1"/>
              <a:t>removeFirst</a:t>
            </a:r>
            <a:r>
              <a:rPr lang="en-IN" b="1" dirty="0"/>
              <a:t>()</a:t>
            </a:r>
          </a:p>
          <a:p>
            <a:r>
              <a:rPr lang="en-IN" dirty="0"/>
              <a:t>Retrieves and removes the first element of this deque. This method differs from </a:t>
            </a:r>
            <a:r>
              <a:rPr lang="en-IN" dirty="0" err="1"/>
              <a:t>pollFirst</a:t>
            </a:r>
            <a:r>
              <a:rPr lang="en-IN" dirty="0"/>
              <a:t> only in that it throws an exception if this deque is empty.</a:t>
            </a:r>
          </a:p>
          <a:p>
            <a:r>
              <a:rPr lang="en-IN" dirty="0"/>
              <a:t>		</a:t>
            </a:r>
          </a:p>
          <a:p>
            <a:r>
              <a:rPr lang="en-IN" b="1" dirty="0"/>
              <a:t>E </a:t>
            </a:r>
            <a:r>
              <a:rPr lang="en-IN" b="1" dirty="0" err="1"/>
              <a:t>pollFirst</a:t>
            </a:r>
            <a:r>
              <a:rPr lang="en-IN" b="1" dirty="0"/>
              <a:t>()</a:t>
            </a:r>
          </a:p>
          <a:p>
            <a:r>
              <a:rPr lang="en-IN" dirty="0"/>
              <a:t>Retrieves and removes the first element of this deque, or returns null if this deque is empty.</a:t>
            </a:r>
          </a:p>
          <a:p>
            <a:endParaRPr lang="en-IN" dirty="0"/>
          </a:p>
          <a:p>
            <a:r>
              <a:rPr lang="en-IN" b="1" dirty="0"/>
              <a:t>E </a:t>
            </a:r>
            <a:r>
              <a:rPr lang="en-IN" b="1" dirty="0" err="1"/>
              <a:t>removeLast</a:t>
            </a:r>
            <a:r>
              <a:rPr lang="en-IN" b="1" dirty="0"/>
              <a:t>()</a:t>
            </a:r>
          </a:p>
          <a:p>
            <a:r>
              <a:rPr lang="en-IN" dirty="0"/>
              <a:t>Retrieves and removes the last element of this deque. This method differs from </a:t>
            </a:r>
            <a:r>
              <a:rPr lang="en-IN" dirty="0" err="1"/>
              <a:t>pollLast</a:t>
            </a:r>
            <a:r>
              <a:rPr lang="en-IN" dirty="0"/>
              <a:t> only in that it throws an exception if this deque is empty.</a:t>
            </a:r>
          </a:p>
          <a:p>
            <a:r>
              <a:rPr lang="en-IN" dirty="0"/>
              <a:t>		</a:t>
            </a:r>
          </a:p>
          <a:p>
            <a:r>
              <a:rPr lang="en-IN" b="1" dirty="0"/>
              <a:t>E </a:t>
            </a:r>
            <a:r>
              <a:rPr lang="en-IN" b="1" dirty="0" err="1"/>
              <a:t>pollLast</a:t>
            </a:r>
            <a:r>
              <a:rPr lang="en-IN" b="1" dirty="0"/>
              <a:t>()</a:t>
            </a:r>
          </a:p>
          <a:p>
            <a:r>
              <a:rPr lang="en-IN" dirty="0"/>
              <a:t>Retrieves and removes the last element of this deque, or returns null if this deque is empty.</a:t>
            </a:r>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6082041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8EA504C7-5547-BFBB-9EA0-E3520A024F4A}"/>
              </a:ext>
            </a:extLst>
          </p:cNvPr>
          <p:cNvSpPr txBox="1"/>
          <p:nvPr/>
        </p:nvSpPr>
        <p:spPr>
          <a:xfrm>
            <a:off x="87690" y="1082131"/>
            <a:ext cx="9325251" cy="4708981"/>
          </a:xfrm>
          <a:prstGeom prst="rect">
            <a:avLst/>
          </a:prstGeom>
          <a:noFill/>
        </p:spPr>
        <p:txBody>
          <a:bodyPr wrap="square">
            <a:spAutoFit/>
          </a:bodyPr>
          <a:lstStyle/>
          <a:p>
            <a:pPr algn="just"/>
            <a:r>
              <a:rPr lang="en-IN" sz="2000" b="1" dirty="0"/>
              <a:t>E </a:t>
            </a:r>
            <a:r>
              <a:rPr lang="en-IN" sz="2000" b="1" dirty="0" err="1"/>
              <a:t>getFirst</a:t>
            </a:r>
            <a:r>
              <a:rPr lang="en-IN" sz="2000" b="1" dirty="0"/>
              <a:t>()</a:t>
            </a:r>
          </a:p>
          <a:p>
            <a:pPr algn="just"/>
            <a:r>
              <a:rPr lang="en-IN" sz="2000" dirty="0"/>
              <a:t>Retrieves, but does not remove, the first element of this deque. This method differs from </a:t>
            </a:r>
            <a:r>
              <a:rPr lang="en-IN" sz="2000" dirty="0" err="1"/>
              <a:t>peekFirst</a:t>
            </a:r>
            <a:r>
              <a:rPr lang="en-IN" sz="2000" dirty="0"/>
              <a:t> only in that it throws an exception if this deque is empty.</a:t>
            </a:r>
          </a:p>
          <a:p>
            <a:pPr algn="just"/>
            <a:r>
              <a:rPr lang="en-IN" sz="2000" dirty="0"/>
              <a:t>		</a:t>
            </a:r>
          </a:p>
          <a:p>
            <a:pPr algn="just"/>
            <a:r>
              <a:rPr lang="en-IN" sz="2000" b="1" dirty="0"/>
              <a:t>E </a:t>
            </a:r>
            <a:r>
              <a:rPr lang="en-IN" sz="2000" b="1" dirty="0" err="1"/>
              <a:t>peekFirst</a:t>
            </a:r>
            <a:r>
              <a:rPr lang="en-IN" sz="2000" b="1" dirty="0"/>
              <a:t>()</a:t>
            </a:r>
          </a:p>
          <a:p>
            <a:pPr algn="just"/>
            <a:r>
              <a:rPr lang="en-IN" sz="2000" dirty="0"/>
              <a:t>Retrieves, but does not remove, the first element of this deque, or returns null if this deque is empty.</a:t>
            </a:r>
          </a:p>
          <a:p>
            <a:pPr algn="just"/>
            <a:r>
              <a:rPr lang="en-IN" sz="2000" dirty="0"/>
              <a:t>		</a:t>
            </a:r>
          </a:p>
          <a:p>
            <a:pPr algn="just"/>
            <a:r>
              <a:rPr lang="en-IN" sz="2000" b="1" dirty="0"/>
              <a:t>E </a:t>
            </a:r>
            <a:r>
              <a:rPr lang="en-IN" sz="2000" b="1" dirty="0" err="1"/>
              <a:t>getLast</a:t>
            </a:r>
            <a:r>
              <a:rPr lang="en-IN" sz="2000" b="1" dirty="0"/>
              <a:t>()</a:t>
            </a:r>
          </a:p>
          <a:p>
            <a:pPr algn="just"/>
            <a:r>
              <a:rPr lang="en-IN" sz="2000" dirty="0"/>
              <a:t>Retrieves, but does not remove, the last element of this deque. This method differs from </a:t>
            </a:r>
            <a:r>
              <a:rPr lang="en-IN" sz="2000" dirty="0" err="1"/>
              <a:t>peekLast</a:t>
            </a:r>
            <a:r>
              <a:rPr lang="en-IN" sz="2000" dirty="0"/>
              <a:t> only in that it throws an exception if this deque is empty.</a:t>
            </a:r>
          </a:p>
          <a:p>
            <a:pPr algn="just"/>
            <a:r>
              <a:rPr lang="en-IN" sz="2000" dirty="0"/>
              <a:t>		</a:t>
            </a:r>
          </a:p>
          <a:p>
            <a:pPr algn="just"/>
            <a:r>
              <a:rPr lang="en-IN" sz="2000" b="1" dirty="0"/>
              <a:t>E </a:t>
            </a:r>
            <a:r>
              <a:rPr lang="en-IN" sz="2000" b="1" dirty="0" err="1"/>
              <a:t>peekLast</a:t>
            </a:r>
            <a:r>
              <a:rPr lang="en-IN" sz="2000" b="1" dirty="0"/>
              <a:t>()</a:t>
            </a:r>
          </a:p>
          <a:p>
            <a:pPr algn="just"/>
            <a:r>
              <a:rPr lang="en-IN" sz="2000" dirty="0"/>
              <a:t>Retrieves, but does not remove, the last element of this deque, or returns null if this deque is empty.</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11186274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0" name="TextBox 9">
            <a:extLst>
              <a:ext uri="{FF2B5EF4-FFF2-40B4-BE49-F238E27FC236}">
                <a16:creationId xmlns:a16="http://schemas.microsoft.com/office/drawing/2014/main" xmlns="" id="{FF49D748-CD2B-8EB8-5E7D-6B400A5297F4}"/>
              </a:ext>
            </a:extLst>
          </p:cNvPr>
          <p:cNvSpPr txBox="1"/>
          <p:nvPr/>
        </p:nvSpPr>
        <p:spPr>
          <a:xfrm>
            <a:off x="123548" y="979337"/>
            <a:ext cx="5567083" cy="4278094"/>
          </a:xfrm>
          <a:prstGeom prst="rect">
            <a:avLst/>
          </a:prstGeom>
          <a:noFill/>
        </p:spPr>
        <p:txBody>
          <a:bodyPr wrap="square">
            <a:spAutoFit/>
          </a:bodyPr>
          <a:lstStyle/>
          <a:p>
            <a:pPr algn="just"/>
            <a:r>
              <a:rPr lang="en-IN" sz="1600" b="1" u="sng" dirty="0"/>
              <a:t>Java Linked List example of adding elements:</a:t>
            </a:r>
          </a:p>
          <a:p>
            <a:pPr algn="just"/>
            <a:r>
              <a:rPr lang="en-IN" sz="1600" dirty="0"/>
              <a:t>In the following example we are using add(), </a:t>
            </a:r>
            <a:r>
              <a:rPr lang="en-IN" sz="1600" dirty="0" err="1"/>
              <a:t>addFirst</a:t>
            </a:r>
            <a:r>
              <a:rPr lang="en-IN" sz="1600" dirty="0"/>
              <a:t>() and </a:t>
            </a:r>
            <a:r>
              <a:rPr lang="en-IN" sz="1600" dirty="0" err="1"/>
              <a:t>addLast</a:t>
            </a:r>
            <a:r>
              <a:rPr lang="en-IN" sz="1600" dirty="0"/>
              <a:t>() methods to add the elements at the desired locations in the LinkedList, there are several such useful methods in the LinkedList class which I have mentioned at the end of this article.</a:t>
            </a:r>
          </a:p>
          <a:p>
            <a:pPr algn="just"/>
            <a:endParaRPr lang="en-IN" sz="1600" dirty="0"/>
          </a:p>
          <a:p>
            <a:pPr algn="just"/>
            <a:r>
              <a:rPr lang="en-IN" sz="1600" dirty="0"/>
              <a:t>// AddingLinkedListElements.java</a:t>
            </a:r>
          </a:p>
          <a:p>
            <a:pPr algn="just"/>
            <a:r>
              <a:rPr lang="en-IN" sz="1600" dirty="0"/>
              <a:t>import java.util.*;</a:t>
            </a:r>
          </a:p>
          <a:p>
            <a:pPr algn="just"/>
            <a:r>
              <a:rPr lang="en-IN" sz="1600" dirty="0"/>
              <a:t>public class </a:t>
            </a:r>
            <a:r>
              <a:rPr lang="en-IN" sz="1600" dirty="0" err="1"/>
              <a:t>AddingLinkedListElements</a:t>
            </a:r>
            <a:r>
              <a:rPr lang="en-IN" sz="1600" dirty="0"/>
              <a:t> {</a:t>
            </a:r>
          </a:p>
          <a:p>
            <a:pPr algn="just"/>
            <a:r>
              <a:rPr lang="en-IN" sz="1600" dirty="0"/>
              <a:t>   public static void main(String </a:t>
            </a:r>
            <a:r>
              <a:rPr lang="en-IN" sz="1600" dirty="0" err="1"/>
              <a:t>args</a:t>
            </a:r>
            <a:r>
              <a:rPr lang="en-IN" sz="1600" dirty="0"/>
              <a:t>[]){</a:t>
            </a:r>
          </a:p>
          <a:p>
            <a:pPr algn="just"/>
            <a:endParaRPr lang="en-IN" sz="1600" dirty="0"/>
          </a:p>
          <a:p>
            <a:pPr algn="just"/>
            <a:r>
              <a:rPr lang="en-IN" sz="1600" dirty="0"/>
              <a:t>     LinkedList&lt;String&gt; list=new LinkedList&lt;String&gt;();</a:t>
            </a:r>
          </a:p>
          <a:p>
            <a:pPr algn="just"/>
            <a:endParaRPr lang="en-IN" sz="1600" dirty="0"/>
          </a:p>
          <a:p>
            <a:pPr algn="just"/>
            <a:r>
              <a:rPr lang="en-IN" sz="1600" dirty="0"/>
              <a:t>     //Adding elements to the Linked list</a:t>
            </a:r>
          </a:p>
          <a:p>
            <a:pPr algn="just"/>
            <a:r>
              <a:rPr lang="en-IN" sz="1600" dirty="0"/>
              <a:t>     </a:t>
            </a:r>
            <a:r>
              <a:rPr lang="en-IN" sz="1600" dirty="0" err="1"/>
              <a:t>list.add</a:t>
            </a:r>
            <a:r>
              <a:rPr lang="en-IN" sz="1600" dirty="0"/>
              <a:t>("Steve");</a:t>
            </a:r>
          </a:p>
          <a:p>
            <a:pPr algn="just"/>
            <a:r>
              <a:rPr lang="en-IN" sz="1600" dirty="0"/>
              <a:t>     </a:t>
            </a:r>
            <a:r>
              <a:rPr lang="en-IN" sz="1600" dirty="0" err="1"/>
              <a:t>list.add</a:t>
            </a:r>
            <a:r>
              <a:rPr lang="en-IN" sz="1600" dirty="0"/>
              <a:t>("Carl");</a:t>
            </a:r>
          </a:p>
          <a:p>
            <a:pPr algn="just"/>
            <a:r>
              <a:rPr lang="en-IN" sz="1600" dirty="0"/>
              <a:t>     </a:t>
            </a:r>
            <a:r>
              <a:rPr lang="en-IN" sz="1600" dirty="0" err="1"/>
              <a:t>list.add</a:t>
            </a:r>
            <a:r>
              <a:rPr lang="en-IN" sz="1600" dirty="0"/>
              <a:t>("Raj");</a:t>
            </a:r>
          </a:p>
        </p:txBody>
      </p:sp>
      <p:sp>
        <p:nvSpPr>
          <p:cNvPr id="12" name="TextBox 11">
            <a:extLst>
              <a:ext uri="{FF2B5EF4-FFF2-40B4-BE49-F238E27FC236}">
                <a16:creationId xmlns:a16="http://schemas.microsoft.com/office/drawing/2014/main" xmlns="" id="{E77FED28-D3F2-6F7C-0707-B0D50E2793FC}"/>
              </a:ext>
            </a:extLst>
          </p:cNvPr>
          <p:cNvSpPr txBox="1"/>
          <p:nvPr/>
        </p:nvSpPr>
        <p:spPr>
          <a:xfrm>
            <a:off x="5577168" y="1001548"/>
            <a:ext cx="4387103" cy="4524315"/>
          </a:xfrm>
          <a:prstGeom prst="rect">
            <a:avLst/>
          </a:prstGeom>
          <a:noFill/>
        </p:spPr>
        <p:txBody>
          <a:bodyPr wrap="square">
            <a:spAutoFit/>
          </a:bodyPr>
          <a:lstStyle/>
          <a:p>
            <a:pPr algn="just"/>
            <a:r>
              <a:rPr lang="en-IN" sz="1800" dirty="0"/>
              <a:t> // Adding an element to the first position</a:t>
            </a:r>
          </a:p>
          <a:p>
            <a:pPr algn="just"/>
            <a:r>
              <a:rPr lang="en-IN" sz="1800" dirty="0"/>
              <a:t>     </a:t>
            </a:r>
            <a:r>
              <a:rPr lang="en-IN" sz="1800" dirty="0" err="1"/>
              <a:t>list.addFirst</a:t>
            </a:r>
            <a:r>
              <a:rPr lang="en-IN" sz="1800" dirty="0"/>
              <a:t>("Negan");</a:t>
            </a:r>
          </a:p>
          <a:p>
            <a:pPr algn="just"/>
            <a:endParaRPr lang="en-IN" sz="1800" dirty="0"/>
          </a:p>
          <a:p>
            <a:pPr algn="just"/>
            <a:r>
              <a:rPr lang="en-IN" sz="1800" dirty="0"/>
              <a:t>     // Adding an element to the last position</a:t>
            </a:r>
          </a:p>
          <a:p>
            <a:pPr algn="just"/>
            <a:r>
              <a:rPr lang="en-IN" sz="1800" dirty="0"/>
              <a:t>     </a:t>
            </a:r>
            <a:r>
              <a:rPr lang="en-IN" sz="1800" dirty="0" err="1"/>
              <a:t>list.addLast</a:t>
            </a:r>
            <a:r>
              <a:rPr lang="en-IN" sz="1800" dirty="0"/>
              <a:t>("Rick");</a:t>
            </a:r>
          </a:p>
          <a:p>
            <a:pPr algn="just"/>
            <a:endParaRPr lang="en-IN" sz="1800" dirty="0"/>
          </a:p>
          <a:p>
            <a:pPr algn="just"/>
            <a:r>
              <a:rPr lang="en-IN" sz="1800" dirty="0"/>
              <a:t>     // Adding an element to the 3rd position</a:t>
            </a:r>
          </a:p>
          <a:p>
            <a:pPr algn="just"/>
            <a:r>
              <a:rPr lang="en-IN" sz="1800" dirty="0"/>
              <a:t>     </a:t>
            </a:r>
            <a:r>
              <a:rPr lang="en-IN" sz="1800" dirty="0" err="1"/>
              <a:t>list.add</a:t>
            </a:r>
            <a:r>
              <a:rPr lang="en-IN" sz="1800" dirty="0"/>
              <a:t>(2, "Glenn");</a:t>
            </a:r>
          </a:p>
          <a:p>
            <a:pPr algn="just"/>
            <a:endParaRPr lang="en-IN" sz="1800" dirty="0"/>
          </a:p>
          <a:p>
            <a:pPr algn="just"/>
            <a:r>
              <a:rPr lang="en-IN" sz="1800" dirty="0"/>
              <a:t>     // Iterating LinkedList</a:t>
            </a:r>
          </a:p>
          <a:p>
            <a:pPr algn="just"/>
            <a:r>
              <a:rPr lang="en-IN" sz="1800" dirty="0"/>
              <a:t>     Iterator&lt;String&gt; iterator=</a:t>
            </a:r>
            <a:r>
              <a:rPr lang="en-IN" sz="1800" dirty="0" err="1"/>
              <a:t>list.iterator</a:t>
            </a:r>
            <a:r>
              <a:rPr lang="en-IN" sz="1800" dirty="0"/>
              <a:t>();</a:t>
            </a:r>
          </a:p>
          <a:p>
            <a:pPr algn="just"/>
            <a:r>
              <a:rPr lang="en-IN" sz="1800" dirty="0"/>
              <a:t>     while(</a:t>
            </a:r>
            <a:r>
              <a:rPr lang="en-IN" sz="1800" dirty="0" err="1"/>
              <a:t>iterator.hasNext</a:t>
            </a:r>
            <a:r>
              <a:rPr lang="en-IN" sz="1800" dirty="0"/>
              <a:t>()){</a:t>
            </a:r>
          </a:p>
          <a:p>
            <a:pPr algn="just"/>
            <a:r>
              <a:rPr lang="en-IN" sz="1800" dirty="0"/>
              <a:t>       System.out.println(</a:t>
            </a:r>
            <a:r>
              <a:rPr lang="en-IN" sz="1800" dirty="0" err="1"/>
              <a:t>iterator.next</a:t>
            </a:r>
            <a:r>
              <a:rPr lang="en-IN" sz="1800" dirty="0"/>
              <a:t>());</a:t>
            </a:r>
          </a:p>
          <a:p>
            <a:pPr algn="just"/>
            <a:r>
              <a:rPr lang="en-IN" sz="1800" dirty="0"/>
              <a:t>     }</a:t>
            </a:r>
          </a:p>
          <a:p>
            <a:pPr algn="just"/>
            <a:r>
              <a:rPr lang="en-IN" sz="1800" dirty="0"/>
              <a:t>  } </a:t>
            </a:r>
          </a:p>
          <a:p>
            <a:pPr algn="just"/>
            <a:r>
              <a:rPr lang="en-IN" sz="1800" dirty="0"/>
              <a:t>}</a:t>
            </a:r>
            <a:endParaRPr lang="en-IN" dirty="0"/>
          </a:p>
        </p:txBody>
      </p:sp>
      <p:sp>
        <p:nvSpPr>
          <p:cNvPr id="11"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37576524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5B91C39-F806-4BFC-9564-8305F07EA797}"/>
              </a:ext>
            </a:extLst>
          </p:cNvPr>
          <p:cNvGrpSpPr/>
          <p:nvPr/>
        </p:nvGrpSpPr>
        <p:grpSpPr>
          <a:xfrm>
            <a:off x="0" y="0"/>
            <a:ext cx="12192000" cy="6858000"/>
            <a:chOff x="0" y="0"/>
            <a:chExt cx="12192000" cy="6858000"/>
          </a:xfrm>
        </p:grpSpPr>
        <p:pic>
          <p:nvPicPr>
            <p:cNvPr id="3" name="Picture 2">
              <a:extLst>
                <a:ext uri="{FF2B5EF4-FFF2-40B4-BE49-F238E27FC236}">
                  <a16:creationId xmlns:a16="http://schemas.microsoft.com/office/drawing/2014/main" xmlns="" id="{7B5750AC-CFF8-46CD-BD3C-96830E6603CD}"/>
                </a:ext>
              </a:extLst>
            </p:cNvPr>
            <p:cNvPicPr>
              <a:picLocks noChangeAspect="1"/>
            </p:cNvPicPr>
            <p:nvPr/>
          </p:nvPicPr>
          <p:blipFill>
            <a:blip r:embed="rId2"/>
            <a:stretch>
              <a:fillRect/>
            </a:stretch>
          </p:blipFill>
          <p:spPr>
            <a:xfrm>
              <a:off x="0" y="0"/>
              <a:ext cx="12192000" cy="876300"/>
            </a:xfrm>
            <a:prstGeom prst="rect">
              <a:avLst/>
            </a:prstGeom>
          </p:spPr>
        </p:pic>
        <p:pic>
          <p:nvPicPr>
            <p:cNvPr id="4" name="Picture 3">
              <a:extLst>
                <a:ext uri="{FF2B5EF4-FFF2-40B4-BE49-F238E27FC236}">
                  <a16:creationId xmlns:a16="http://schemas.microsoft.com/office/drawing/2014/main" xmlns="" id="{923F7B88-0676-451D-BFE0-D0F0CC200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90" y="7620"/>
              <a:ext cx="773370" cy="846469"/>
            </a:xfrm>
            <a:prstGeom prst="roundRect">
              <a:avLst>
                <a:gd name="adj" fmla="val 16667"/>
              </a:avLst>
            </a:prstGeom>
            <a:ln>
              <a:solidFill>
                <a:srgbClr val="990033"/>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xmlns="" id="{AC847D51-B232-4060-A42E-8B567F8FD127}"/>
                </a:ext>
              </a:extLst>
            </p:cNvPr>
            <p:cNvSpPr/>
            <p:nvPr/>
          </p:nvSpPr>
          <p:spPr>
            <a:xfrm>
              <a:off x="9542412" y="3922295"/>
              <a:ext cx="2649586" cy="293570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7" name="TextBox 6">
              <a:extLst>
                <a:ext uri="{FF2B5EF4-FFF2-40B4-BE49-F238E27FC236}">
                  <a16:creationId xmlns:a16="http://schemas.microsoft.com/office/drawing/2014/main" xmlns="" id="{0841935C-8A0A-48F1-91AB-57DB867E447B}"/>
                </a:ext>
              </a:extLst>
            </p:cNvPr>
            <p:cNvSpPr txBox="1"/>
            <p:nvPr/>
          </p:nvSpPr>
          <p:spPr>
            <a:xfrm>
              <a:off x="948750" y="253484"/>
              <a:ext cx="8340030"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java.util package (Collection API)</a:t>
              </a:r>
            </a:p>
          </p:txBody>
        </p:sp>
      </p:grpSp>
      <p:sp>
        <p:nvSpPr>
          <p:cNvPr id="11" name="TextBox 10">
            <a:extLst>
              <a:ext uri="{FF2B5EF4-FFF2-40B4-BE49-F238E27FC236}">
                <a16:creationId xmlns:a16="http://schemas.microsoft.com/office/drawing/2014/main" xmlns="" id="{BCB3C3AD-EB6B-28F2-EDB4-1878E11F6D3C}"/>
              </a:ext>
            </a:extLst>
          </p:cNvPr>
          <p:cNvSpPr txBox="1"/>
          <p:nvPr/>
        </p:nvSpPr>
        <p:spPr>
          <a:xfrm>
            <a:off x="50431" y="873885"/>
            <a:ext cx="6125134" cy="5755422"/>
          </a:xfrm>
          <a:prstGeom prst="rect">
            <a:avLst/>
          </a:prstGeom>
          <a:noFill/>
        </p:spPr>
        <p:txBody>
          <a:bodyPr wrap="square">
            <a:spAutoFit/>
          </a:bodyPr>
          <a:lstStyle/>
          <a:p>
            <a:pPr algn="just"/>
            <a:r>
              <a:rPr lang="en-IN" sz="1600" b="1" u="sng" dirty="0"/>
              <a:t>Java example of removing elements from the LinkedList:</a:t>
            </a:r>
          </a:p>
          <a:p>
            <a:pPr algn="just"/>
            <a:r>
              <a:rPr lang="en-IN" sz="1600" dirty="0"/>
              <a:t>In the following example we are checking out the few popular remove methods in the LinkedList that are used to remove elements from certain positions in the LinkedList. Detailed explanation of these methods along with examples are covered in the separate tutorials, links are provided at the end of this article.</a:t>
            </a:r>
          </a:p>
          <a:p>
            <a:pPr algn="just"/>
            <a:endParaRPr lang="en-IN" sz="1600" dirty="0"/>
          </a:p>
          <a:p>
            <a:pPr algn="just"/>
            <a:r>
              <a:rPr lang="en-IN" sz="1600" dirty="0"/>
              <a:t>// RemovingLinkedListElements.java</a:t>
            </a:r>
          </a:p>
          <a:p>
            <a:pPr algn="just"/>
            <a:r>
              <a:rPr lang="en-IN" sz="1600" dirty="0"/>
              <a:t>import java.util.*;</a:t>
            </a:r>
          </a:p>
          <a:p>
            <a:pPr algn="just"/>
            <a:r>
              <a:rPr lang="en-IN" sz="1600" dirty="0"/>
              <a:t>public class </a:t>
            </a:r>
            <a:r>
              <a:rPr lang="en-IN" sz="1600" dirty="0" err="1"/>
              <a:t>RemovingLinkedListElements</a:t>
            </a:r>
            <a:r>
              <a:rPr lang="en-IN" sz="1600" dirty="0"/>
              <a:t> {</a:t>
            </a:r>
          </a:p>
          <a:p>
            <a:pPr algn="just"/>
            <a:r>
              <a:rPr lang="en-IN" sz="1600" dirty="0"/>
              <a:t>   public static void main(String </a:t>
            </a:r>
            <a:r>
              <a:rPr lang="en-IN" sz="1600" dirty="0" err="1"/>
              <a:t>args</a:t>
            </a:r>
            <a:r>
              <a:rPr lang="en-IN" sz="1600" dirty="0"/>
              <a:t>[]){</a:t>
            </a:r>
          </a:p>
          <a:p>
            <a:pPr algn="just"/>
            <a:r>
              <a:rPr lang="en-IN" sz="1600" dirty="0"/>
              <a:t>      LinkedList&lt;String&gt; list=new LinkedList&lt;String&gt;();</a:t>
            </a:r>
          </a:p>
          <a:p>
            <a:pPr algn="just"/>
            <a:endParaRPr lang="en-IN" sz="1600" dirty="0"/>
          </a:p>
          <a:p>
            <a:pPr algn="just"/>
            <a:r>
              <a:rPr lang="en-IN" sz="1600" dirty="0"/>
              <a:t>      //Adding elements to the Linked list</a:t>
            </a:r>
          </a:p>
          <a:p>
            <a:pPr algn="just"/>
            <a:r>
              <a:rPr lang="en-IN" sz="1600" dirty="0"/>
              <a:t>      </a:t>
            </a:r>
            <a:r>
              <a:rPr lang="en-IN" sz="1600" dirty="0" err="1"/>
              <a:t>list.add</a:t>
            </a:r>
            <a:r>
              <a:rPr lang="en-IN" sz="1600" dirty="0"/>
              <a:t>("Steve");</a:t>
            </a:r>
          </a:p>
          <a:p>
            <a:pPr algn="just"/>
            <a:r>
              <a:rPr lang="en-IN" sz="1600" dirty="0"/>
              <a:t>      </a:t>
            </a:r>
            <a:r>
              <a:rPr lang="en-IN" sz="1600" dirty="0" err="1"/>
              <a:t>list.add</a:t>
            </a:r>
            <a:r>
              <a:rPr lang="en-IN" sz="1600" dirty="0"/>
              <a:t>("Carl");</a:t>
            </a:r>
          </a:p>
          <a:p>
            <a:pPr algn="just"/>
            <a:r>
              <a:rPr lang="en-IN" sz="1600" dirty="0"/>
              <a:t>      </a:t>
            </a:r>
            <a:r>
              <a:rPr lang="en-IN" sz="1600" dirty="0" err="1"/>
              <a:t>list.add</a:t>
            </a:r>
            <a:r>
              <a:rPr lang="en-IN" sz="1600" dirty="0"/>
              <a:t>("Raj");</a:t>
            </a:r>
          </a:p>
          <a:p>
            <a:pPr algn="just"/>
            <a:r>
              <a:rPr lang="en-IN" sz="1600" dirty="0"/>
              <a:t>      </a:t>
            </a:r>
            <a:r>
              <a:rPr lang="en-IN" sz="1600" dirty="0" err="1"/>
              <a:t>list.add</a:t>
            </a:r>
            <a:r>
              <a:rPr lang="en-IN" sz="1600" dirty="0"/>
              <a:t>("Negan");</a:t>
            </a:r>
          </a:p>
          <a:p>
            <a:pPr algn="just"/>
            <a:r>
              <a:rPr lang="en-IN" sz="1600" dirty="0"/>
              <a:t>      </a:t>
            </a:r>
            <a:r>
              <a:rPr lang="en-IN" sz="1600" dirty="0" err="1"/>
              <a:t>list.add</a:t>
            </a:r>
            <a:r>
              <a:rPr lang="en-IN" sz="1600" dirty="0"/>
              <a:t>("Rick");</a:t>
            </a:r>
          </a:p>
          <a:p>
            <a:pPr algn="just"/>
            <a:endParaRPr lang="en-IN" sz="1600" dirty="0"/>
          </a:p>
          <a:p>
            <a:pPr algn="just"/>
            <a:r>
              <a:rPr lang="en-IN" sz="1600" dirty="0"/>
              <a:t>      // Removing First element</a:t>
            </a:r>
          </a:p>
          <a:p>
            <a:pPr algn="just"/>
            <a:r>
              <a:rPr lang="en-IN" sz="1600" dirty="0"/>
              <a:t>      // Same as </a:t>
            </a:r>
            <a:r>
              <a:rPr lang="en-IN" sz="1600" dirty="0" err="1"/>
              <a:t>list.remove</a:t>
            </a:r>
            <a:r>
              <a:rPr lang="en-IN" sz="1600" dirty="0"/>
              <a:t>(0);</a:t>
            </a:r>
          </a:p>
          <a:p>
            <a:pPr algn="just"/>
            <a:r>
              <a:rPr lang="en-IN" sz="1600" dirty="0"/>
              <a:t>      </a:t>
            </a:r>
            <a:r>
              <a:rPr lang="en-IN" sz="1600" dirty="0" err="1"/>
              <a:t>list.removeFirst</a:t>
            </a:r>
            <a:r>
              <a:rPr lang="en-IN" sz="1600" dirty="0"/>
              <a:t>();</a:t>
            </a:r>
          </a:p>
        </p:txBody>
      </p:sp>
      <p:sp>
        <p:nvSpPr>
          <p:cNvPr id="13" name="TextBox 12">
            <a:extLst>
              <a:ext uri="{FF2B5EF4-FFF2-40B4-BE49-F238E27FC236}">
                <a16:creationId xmlns:a16="http://schemas.microsoft.com/office/drawing/2014/main" xmlns="" id="{0C7DA323-1ECF-142A-59E8-6283DD769366}"/>
              </a:ext>
            </a:extLst>
          </p:cNvPr>
          <p:cNvSpPr txBox="1"/>
          <p:nvPr/>
        </p:nvSpPr>
        <p:spPr>
          <a:xfrm>
            <a:off x="4507311" y="2145696"/>
            <a:ext cx="5035101" cy="4524315"/>
          </a:xfrm>
          <a:prstGeom prst="rect">
            <a:avLst/>
          </a:prstGeom>
          <a:noFill/>
        </p:spPr>
        <p:txBody>
          <a:bodyPr wrap="square">
            <a:spAutoFit/>
          </a:bodyPr>
          <a:lstStyle/>
          <a:p>
            <a:r>
              <a:rPr lang="en-IN" sz="1600" dirty="0"/>
              <a:t>  // Removing Last element</a:t>
            </a:r>
          </a:p>
          <a:p>
            <a:r>
              <a:rPr lang="en-IN" sz="1600" dirty="0"/>
              <a:t>  </a:t>
            </a:r>
            <a:r>
              <a:rPr lang="en-IN" sz="1600" dirty="0" err="1"/>
              <a:t>list.removeLast</a:t>
            </a:r>
            <a:r>
              <a:rPr lang="en-IN" sz="1600" dirty="0"/>
              <a:t>();</a:t>
            </a:r>
          </a:p>
          <a:p>
            <a:endParaRPr lang="en-IN" sz="1600" dirty="0"/>
          </a:p>
          <a:p>
            <a:r>
              <a:rPr lang="en-IN" sz="1600" dirty="0"/>
              <a:t>   // Iterating LinkedList</a:t>
            </a:r>
          </a:p>
          <a:p>
            <a:r>
              <a:rPr lang="en-IN" sz="1600" dirty="0"/>
              <a:t>  Iterator&lt;String&gt; iterator=</a:t>
            </a:r>
            <a:r>
              <a:rPr lang="en-IN" sz="1600" dirty="0" err="1"/>
              <a:t>list.iterator</a:t>
            </a:r>
            <a:r>
              <a:rPr lang="en-IN" sz="1600" dirty="0"/>
              <a:t>();</a:t>
            </a:r>
          </a:p>
          <a:p>
            <a:r>
              <a:rPr lang="en-IN" sz="1600" dirty="0"/>
              <a:t>  while(</a:t>
            </a:r>
            <a:r>
              <a:rPr lang="en-IN" sz="1600" dirty="0" err="1"/>
              <a:t>iterator.hasNext</a:t>
            </a:r>
            <a:r>
              <a:rPr lang="en-IN" sz="1600" dirty="0"/>
              <a:t>()){</a:t>
            </a:r>
          </a:p>
          <a:p>
            <a:r>
              <a:rPr lang="en-IN" sz="1600" dirty="0"/>
              <a:t>    </a:t>
            </a:r>
            <a:r>
              <a:rPr lang="en-IN" sz="1600" dirty="0" err="1"/>
              <a:t>System.out.print</a:t>
            </a:r>
            <a:r>
              <a:rPr lang="en-IN" sz="1600" dirty="0"/>
              <a:t>(</a:t>
            </a:r>
            <a:r>
              <a:rPr lang="en-IN" sz="1600" dirty="0" err="1"/>
              <a:t>iterator.next</a:t>
            </a:r>
            <a:r>
              <a:rPr lang="en-IN" sz="1600" dirty="0"/>
              <a:t>()+" ");</a:t>
            </a:r>
          </a:p>
          <a:p>
            <a:r>
              <a:rPr lang="en-IN" sz="1600" dirty="0"/>
              <a:t>  }</a:t>
            </a:r>
          </a:p>
          <a:p>
            <a:endParaRPr lang="en-IN" sz="1600" dirty="0"/>
          </a:p>
          <a:p>
            <a:r>
              <a:rPr lang="en-IN" sz="1600" dirty="0"/>
              <a:t>  // removing 2nd element, index starts with 0</a:t>
            </a:r>
          </a:p>
          <a:p>
            <a:r>
              <a:rPr lang="en-IN" sz="1600" dirty="0"/>
              <a:t>  </a:t>
            </a:r>
            <a:r>
              <a:rPr lang="en-IN" sz="1600" dirty="0" err="1"/>
              <a:t>list.remove</a:t>
            </a:r>
            <a:r>
              <a:rPr lang="en-IN" sz="1600" dirty="0"/>
              <a:t>(1);</a:t>
            </a:r>
          </a:p>
          <a:p>
            <a:endParaRPr lang="en-IN" sz="1600" dirty="0"/>
          </a:p>
          <a:p>
            <a:r>
              <a:rPr lang="en-IN" sz="1600" dirty="0"/>
              <a:t>  </a:t>
            </a:r>
            <a:r>
              <a:rPr lang="en-IN" sz="1600" dirty="0" err="1"/>
              <a:t>System.out.print</a:t>
            </a:r>
            <a:r>
              <a:rPr lang="en-IN" sz="1600" dirty="0"/>
              <a:t>("\</a:t>
            </a:r>
            <a:r>
              <a:rPr lang="en-IN" sz="1600" dirty="0" err="1"/>
              <a:t>nAfter</a:t>
            </a:r>
            <a:r>
              <a:rPr lang="en-IN" sz="1600" dirty="0"/>
              <a:t> removing second element: ");</a:t>
            </a:r>
          </a:p>
          <a:p>
            <a:r>
              <a:rPr lang="en-IN" sz="1600" dirty="0"/>
              <a:t>  // Iterating LinkedList again</a:t>
            </a:r>
          </a:p>
          <a:p>
            <a:r>
              <a:rPr lang="en-IN" sz="1600" dirty="0"/>
              <a:t>  Iterator&lt;String&gt; iterator2=</a:t>
            </a:r>
            <a:r>
              <a:rPr lang="en-IN" sz="1600" dirty="0" err="1"/>
              <a:t>list.iterator</a:t>
            </a:r>
            <a:r>
              <a:rPr lang="en-IN" sz="1600" dirty="0"/>
              <a:t>();</a:t>
            </a:r>
          </a:p>
          <a:p>
            <a:r>
              <a:rPr lang="en-IN" sz="1600" dirty="0"/>
              <a:t>  while(iterator2.hasNext()){</a:t>
            </a:r>
          </a:p>
          <a:p>
            <a:r>
              <a:rPr lang="en-IN" sz="1600" dirty="0"/>
              <a:t>    </a:t>
            </a:r>
            <a:r>
              <a:rPr lang="en-IN" sz="1600" dirty="0" err="1"/>
              <a:t>System.out.print</a:t>
            </a:r>
            <a:r>
              <a:rPr lang="en-IN" sz="1600" dirty="0"/>
              <a:t>(iterator2.next()+" ");</a:t>
            </a:r>
          </a:p>
          <a:p>
            <a:r>
              <a:rPr lang="en-IN" sz="1600" dirty="0"/>
              <a:t>  }  }  }</a:t>
            </a:r>
          </a:p>
        </p:txBody>
      </p:sp>
      <p:sp>
        <p:nvSpPr>
          <p:cNvPr id="10" name="Footer Placeholder 6">
            <a:extLst>
              <a:ext uri="{FF2B5EF4-FFF2-40B4-BE49-F238E27FC236}">
                <a16:creationId xmlns:a16="http://schemas.microsoft.com/office/drawing/2014/main" xmlns="" id="{91104A4B-9DF2-5A7B-6B22-957240982562}"/>
              </a:ext>
            </a:extLst>
          </p:cNvPr>
          <p:cNvSpPr>
            <a:spLocks noGrp="1"/>
          </p:cNvSpPr>
          <p:nvPr>
            <p:ph type="ftr" sz="quarter" idx="11"/>
          </p:nvPr>
        </p:nvSpPr>
        <p:spPr>
          <a:xfrm>
            <a:off x="4038600" y="6356350"/>
            <a:ext cx="4114800" cy="365125"/>
          </a:xfrm>
        </p:spPr>
        <p:txBody>
          <a:bodyPr/>
          <a:lstStyle/>
          <a:p>
            <a:r>
              <a:rPr lang="en-US" sz="2400" b="1" dirty="0">
                <a:solidFill>
                  <a:schemeClr val="tx1">
                    <a:lumMod val="95000"/>
                    <a:lumOff val="5000"/>
                  </a:schemeClr>
                </a:solidFill>
              </a:rPr>
              <a:t>Suryanarayana</a:t>
            </a:r>
            <a:endParaRPr lang="en-US" b="1" dirty="0">
              <a:solidFill>
                <a:schemeClr val="tx1">
                  <a:lumMod val="95000"/>
                  <a:lumOff val="5000"/>
                </a:schemeClr>
              </a:solidFill>
            </a:endParaRPr>
          </a:p>
        </p:txBody>
      </p:sp>
    </p:spTree>
    <p:extLst>
      <p:ext uri="{BB962C8B-B14F-4D97-AF65-F5344CB8AC3E}">
        <p14:creationId xmlns:p14="http://schemas.microsoft.com/office/powerpoint/2010/main" val="24086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812</TotalTime>
  <Words>6702</Words>
  <Application>Microsoft Office PowerPoint</Application>
  <PresentationFormat>Custom</PresentationFormat>
  <Paragraphs>1310</Paragraphs>
  <Slides>62</Slides>
  <Notes>0</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ICT_4</dc:creator>
  <cp:lastModifiedBy>dell1</cp:lastModifiedBy>
  <cp:revision>69</cp:revision>
  <dcterms:created xsi:type="dcterms:W3CDTF">2021-09-13T09:22:41Z</dcterms:created>
  <dcterms:modified xsi:type="dcterms:W3CDTF">2024-03-03T15:14:48Z</dcterms:modified>
</cp:coreProperties>
</file>