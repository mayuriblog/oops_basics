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58" r:id="rId3"/>
    <p:sldId id="259" r:id="rId4"/>
    <p:sldId id="260" r:id="rId5"/>
    <p:sldId id="261" r:id="rId6"/>
    <p:sldId id="262" r:id="rId7"/>
    <p:sldId id="263" r:id="rId8"/>
    <p:sldId id="264" r:id="rId9"/>
    <p:sldId id="266" r:id="rId10"/>
    <p:sldId id="275" r:id="rId11"/>
    <p:sldId id="277" r:id="rId12"/>
    <p:sldId id="267" r:id="rId13"/>
    <p:sldId id="278" r:id="rId14"/>
    <p:sldId id="276" r:id="rId15"/>
    <p:sldId id="265" r:id="rId16"/>
    <p:sldId id="268" r:id="rId17"/>
    <p:sldId id="269" r:id="rId18"/>
    <p:sldId id="270" r:id="rId19"/>
    <p:sldId id="271" r:id="rId20"/>
    <p:sldId id="272" r:id="rId21"/>
    <p:sldId id="294" r:id="rId22"/>
    <p:sldId id="273" r:id="rId23"/>
    <p:sldId id="274"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6" r:id="rId40"/>
    <p:sldId id="295"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6" r:id="rId56"/>
    <p:sldId id="311" r:id="rId57"/>
    <p:sldId id="312" r:id="rId58"/>
    <p:sldId id="313" r:id="rId59"/>
    <p:sldId id="314" r:id="rId60"/>
    <p:sldId id="31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66"/>
    <a:srgbClr val="990033"/>
    <a:srgbClr val="0000FF"/>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7" d="100"/>
          <a:sy n="67"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FEF614-C884-4134-B098-A2C317FE6BDB}" type="datetimeFigureOut">
              <a:rPr lang="en-IN" smtClean="0"/>
              <a:t>24-08-2023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A14B88-7D3A-41DE-BE13-3609B4570D49}" type="slidenum">
              <a:rPr lang="en-IN" smtClean="0"/>
              <a:t>‹#›</a:t>
            </a:fld>
            <a:endParaRPr lang="en-IN"/>
          </a:p>
        </p:txBody>
      </p:sp>
    </p:spTree>
    <p:extLst>
      <p:ext uri="{BB962C8B-B14F-4D97-AF65-F5344CB8AC3E}">
        <p14:creationId xmlns:p14="http://schemas.microsoft.com/office/powerpoint/2010/main" val="275608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C2008EB5-259D-4F2D-99B9-366699ED8C2D}" type="datetime1">
              <a:rPr lang="en-US" smtClean="0"/>
              <a:t>8/24/2023</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3BB6FCC0-BF1D-4572-B29F-ABF66F64D062}" type="datetime1">
              <a:rPr lang="en-US" smtClean="0"/>
              <a:t>8/24/2023</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09D75756-1840-401B-858B-A6BAAC7A9FAA}" type="datetime1">
              <a:rPr lang="en-US" smtClean="0"/>
              <a:t>8/24/2023</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DD97203C-1DAD-40C2-B9C6-69859196F7CF}" type="datetime1">
              <a:rPr lang="en-US" smtClean="0"/>
              <a:t>8/24/2023</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B9198F09-F938-479F-AEE5-B67DDDA21C7A}" type="datetime1">
              <a:rPr lang="en-US" smtClean="0"/>
              <a:t>8/24/2023</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80CAE3E8-D7E7-4AC8-A91B-3BA264444EAC}" type="datetime1">
              <a:rPr lang="en-US" smtClean="0"/>
              <a:t>8/24/2023</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1EEE48A8-85E5-4904-9C69-69F69FF83731}" type="datetime1">
              <a:rPr lang="en-US" smtClean="0"/>
              <a:t>8/24/2023</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45CDDC6E-414D-4AE1-800A-7EF7B75EE4A3}" type="datetime1">
              <a:rPr lang="en-US" smtClean="0"/>
              <a:t>8/24/2023</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9ED3B48B-34C5-4BCA-90C4-F487BEA0406E}" type="datetime1">
              <a:rPr lang="en-US" smtClean="0"/>
              <a:t>8/24/2023</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98B54CF8-83BE-4E49-9535-75FB5BA1DC0A}" type="datetime1">
              <a:rPr lang="en-US" smtClean="0"/>
              <a:t>8/24/2023</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E9FE1B26-38A0-4722-8993-9CCE95EAC167}" type="datetime1">
              <a:rPr lang="en-US" smtClean="0"/>
              <a:t>8/24/2023</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9D987A-0138-42D7-A39E-7382E526B9D8}" type="datetime1">
              <a:rPr lang="en-US" smtClean="0"/>
              <a:t>8/24/2023</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Threads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1265815" y="1896126"/>
            <a:ext cx="7959230" cy="2800767"/>
          </a:xfrm>
          <a:prstGeom prst="rect">
            <a:avLst/>
          </a:prstGeom>
          <a:noFill/>
        </p:spPr>
        <p:txBody>
          <a:bodyPr wrap="none" rtlCol="0">
            <a:spAutoFit/>
          </a:bodyPr>
          <a:lstStyle/>
          <a:p>
            <a:r>
              <a:rPr lang="en-US" sz="8800" b="1" dirty="0">
                <a:solidFill>
                  <a:srgbClr val="0000FF"/>
                </a:solidFill>
                <a:latin typeface="Arial" panose="020B0604020202020204" pitchFamily="34" charset="0"/>
                <a:cs typeface="Arial" panose="020B0604020202020204" pitchFamily="34" charset="0"/>
              </a:rPr>
              <a:t>Threads &amp; </a:t>
            </a:r>
          </a:p>
          <a:p>
            <a:r>
              <a:rPr lang="en-US" sz="8800" b="1" dirty="0">
                <a:solidFill>
                  <a:srgbClr val="0000FF"/>
                </a:solidFill>
                <a:latin typeface="Arial" panose="020B0604020202020204" pitchFamily="34" charset="0"/>
                <a:cs typeface="Arial" panose="020B0604020202020204" pitchFamily="34" charset="0"/>
              </a:rPr>
              <a:t>Multithreading</a:t>
            </a:r>
            <a:endParaRPr lang="en-US" sz="2000" b="1" dirty="0">
              <a:solidFill>
                <a:srgbClr val="0000FF"/>
              </a:solidFill>
              <a:latin typeface="Arial" panose="020B0604020202020204" pitchFamily="34" charset="0"/>
              <a:cs typeface="Arial" panose="020B0604020202020204" pitchFamily="34" charset="0"/>
            </a:endParaRPr>
          </a:p>
        </p:txBody>
      </p:sp>
      <p:sp>
        <p:nvSpPr>
          <p:cNvPr id="7" name="Footer Placeholder 6">
            <a:extLst>
              <a:ext uri="{FF2B5EF4-FFF2-40B4-BE49-F238E27FC236}">
                <a16:creationId xmlns:a16="http://schemas.microsoft.com/office/drawing/2014/main" id="{BAD7B3DF-F0C8-DC19-DA62-08801FB91F60}"/>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5343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14741" y="760729"/>
            <a:ext cx="10017486" cy="3108543"/>
          </a:xfrm>
          <a:prstGeom prst="rect">
            <a:avLst/>
          </a:prstGeom>
          <a:noFill/>
        </p:spPr>
        <p:txBody>
          <a:bodyPr wrap="none" rtlCol="0">
            <a:spAutoFit/>
          </a:bodyPr>
          <a:lstStyle/>
          <a:p>
            <a:r>
              <a:rPr lang="en-US" sz="2800" b="1" dirty="0">
                <a:solidFill>
                  <a:srgbClr val="0000FF"/>
                </a:solidFill>
                <a:latin typeface="Arial" panose="020B0604020202020204" pitchFamily="34" charset="0"/>
                <a:cs typeface="Arial" panose="020B0604020202020204" pitchFamily="34" charset="0"/>
              </a:rPr>
              <a:t>What is the difference between process, task and thread?</a:t>
            </a:r>
          </a:p>
          <a:p>
            <a:endParaRPr lang="en-US" sz="2800" dirty="0">
              <a:solidFill>
                <a:srgbClr val="0000FF"/>
              </a:solidFill>
              <a:latin typeface="Arial" panose="020B0604020202020204" pitchFamily="34" charset="0"/>
              <a:cs typeface="Arial" panose="020B0604020202020204" pitchFamily="34" charset="0"/>
            </a:endParaRPr>
          </a:p>
          <a:p>
            <a:r>
              <a:rPr lang="en-US" sz="2800" dirty="0">
                <a:solidFill>
                  <a:srgbClr val="0000FF"/>
                </a:solidFill>
                <a:latin typeface="Arial" panose="020B0604020202020204" pitchFamily="34" charset="0"/>
                <a:cs typeface="Arial" panose="020B0604020202020204" pitchFamily="34" charset="0"/>
              </a:rPr>
              <a:t>Programming Language/Program (Threads)</a:t>
            </a:r>
          </a:p>
          <a:p>
            <a:r>
              <a:rPr lang="en-US" sz="2800" dirty="0">
                <a:solidFill>
                  <a:srgbClr val="0000FF"/>
                </a:solidFill>
                <a:latin typeface="Arial" panose="020B0604020202020204" pitchFamily="34" charset="0"/>
                <a:cs typeface="Arial" panose="020B0604020202020204" pitchFamily="34" charset="0"/>
              </a:rPr>
              <a:t>		|</a:t>
            </a:r>
          </a:p>
          <a:p>
            <a:r>
              <a:rPr lang="en-US" sz="2800" dirty="0">
                <a:solidFill>
                  <a:srgbClr val="0000FF"/>
                </a:solidFill>
                <a:latin typeface="Arial" panose="020B0604020202020204" pitchFamily="34" charset="0"/>
                <a:cs typeface="Arial" panose="020B0604020202020204" pitchFamily="34" charset="0"/>
              </a:rPr>
              <a:t>Operating System (Tasks)</a:t>
            </a:r>
          </a:p>
          <a:p>
            <a:r>
              <a:rPr lang="en-US" sz="2800" dirty="0">
                <a:solidFill>
                  <a:srgbClr val="0000FF"/>
                </a:solidFill>
                <a:latin typeface="Arial" panose="020B0604020202020204" pitchFamily="34" charset="0"/>
                <a:cs typeface="Arial" panose="020B0604020202020204" pitchFamily="34" charset="0"/>
              </a:rPr>
              <a:t>		|</a:t>
            </a:r>
          </a:p>
          <a:p>
            <a:r>
              <a:rPr lang="en-US" sz="2800" dirty="0">
                <a:solidFill>
                  <a:srgbClr val="0000FF"/>
                </a:solidFill>
                <a:latin typeface="Arial" panose="020B0604020202020204" pitchFamily="34" charset="0"/>
                <a:cs typeface="Arial" panose="020B0604020202020204" pitchFamily="34" charset="0"/>
              </a:rPr>
              <a:t>Processor (process)</a:t>
            </a:r>
          </a:p>
        </p:txBody>
      </p:sp>
      <p:sp>
        <p:nvSpPr>
          <p:cNvPr id="3" name="Footer Placeholder 2">
            <a:extLst>
              <a:ext uri="{FF2B5EF4-FFF2-40B4-BE49-F238E27FC236}">
                <a16:creationId xmlns:a16="http://schemas.microsoft.com/office/drawing/2014/main" id="{6E32919D-A297-BB04-6E90-C1D37E6E66C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38161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14743" y="760729"/>
            <a:ext cx="8840242" cy="4093428"/>
          </a:xfrm>
          <a:prstGeom prst="rect">
            <a:avLst/>
          </a:prstGeom>
          <a:noFill/>
        </p:spPr>
        <p:txBody>
          <a:bodyPr wrap="square" rtlCol="0">
            <a:spAutoFit/>
          </a:bodyPr>
          <a:lstStyle/>
          <a:p>
            <a:pPr algn="just"/>
            <a:r>
              <a:rPr lang="en-US" sz="2000" b="1" dirty="0">
                <a:solidFill>
                  <a:srgbClr val="0000FF"/>
                </a:solidFill>
                <a:latin typeface="Arial" panose="020B0604020202020204" pitchFamily="34" charset="0"/>
                <a:cs typeface="Arial" panose="020B0604020202020204" pitchFamily="34" charset="0"/>
              </a:rPr>
              <a:t>Process?</a:t>
            </a:r>
          </a:p>
          <a:p>
            <a:pPr algn="just"/>
            <a:r>
              <a:rPr lang="en-US" sz="2000" dirty="0">
                <a:solidFill>
                  <a:srgbClr val="0000FF"/>
                </a:solidFill>
                <a:latin typeface="Arial" panose="020B0604020202020204" pitchFamily="34" charset="0"/>
                <a:cs typeface="Arial" panose="020B0604020202020204" pitchFamily="34" charset="0"/>
              </a:rPr>
              <a:t>When a OS runs in a single processor. It runs multiples tasks such as Notepad, IE, MS-Word, Windows Explorer, Command Prompt </a:t>
            </a:r>
            <a:r>
              <a:rPr lang="en-US" sz="2000" dirty="0" err="1">
                <a:solidFill>
                  <a:srgbClr val="0000FF"/>
                </a:solidFill>
                <a:latin typeface="Arial" panose="020B0604020202020204" pitchFamily="34" charset="0"/>
                <a:cs typeface="Arial" panose="020B0604020202020204" pitchFamily="34" charset="0"/>
              </a:rPr>
              <a:t>etc</a:t>
            </a:r>
            <a:r>
              <a:rPr lang="en-US" sz="2000" dirty="0">
                <a:solidFill>
                  <a:srgbClr val="0000FF"/>
                </a:solidFill>
                <a:latin typeface="Arial" panose="020B0604020202020204" pitchFamily="34" charset="0"/>
                <a:cs typeface="Arial" panose="020B0604020202020204" pitchFamily="34" charset="0"/>
              </a:rPr>
              <a:t> in a simultaneous manner. Because of single processor </a:t>
            </a:r>
            <a:r>
              <a:rPr lang="en-US" sz="2000" dirty="0" err="1">
                <a:solidFill>
                  <a:srgbClr val="0000FF"/>
                </a:solidFill>
                <a:latin typeface="Arial" panose="020B0604020202020204" pitchFamily="34" charset="0"/>
                <a:cs typeface="Arial" panose="020B0604020202020204" pitchFamily="34" charset="0"/>
              </a:rPr>
              <a:t>embeded</a:t>
            </a:r>
            <a:r>
              <a:rPr lang="en-US" sz="2000" dirty="0">
                <a:solidFill>
                  <a:srgbClr val="0000FF"/>
                </a:solidFill>
                <a:latin typeface="Arial" panose="020B0604020202020204" pitchFamily="34" charset="0"/>
                <a:cs typeface="Arial" panose="020B0604020202020204" pitchFamily="34" charset="0"/>
              </a:rPr>
              <a:t> in a single chip runs only one task at a time, in OS multiple tasks runs </a:t>
            </a:r>
            <a:r>
              <a:rPr lang="en-US" sz="2000" dirty="0" err="1">
                <a:solidFill>
                  <a:srgbClr val="0000FF"/>
                </a:solidFill>
                <a:latin typeface="Arial" panose="020B0604020202020204" pitchFamily="34" charset="0"/>
                <a:cs typeface="Arial" panose="020B0604020202020204" pitchFamily="34" charset="0"/>
              </a:rPr>
              <a:t>simultanesouly</a:t>
            </a:r>
            <a:r>
              <a:rPr lang="en-US" sz="2000" dirty="0">
                <a:solidFill>
                  <a:srgbClr val="0000FF"/>
                </a:solidFill>
                <a:latin typeface="Arial" panose="020B0604020202020204" pitchFamily="34" charset="0"/>
                <a:cs typeface="Arial" panose="020B0604020202020204" pitchFamily="34" charset="0"/>
              </a:rPr>
              <a:t> which is </a:t>
            </a:r>
            <a:r>
              <a:rPr lang="en-US" sz="2000" dirty="0" err="1">
                <a:solidFill>
                  <a:srgbClr val="0000FF"/>
                </a:solidFill>
                <a:latin typeface="Arial" panose="020B0604020202020204" pitchFamily="34" charset="0"/>
                <a:cs typeface="Arial" panose="020B0604020202020204" pitchFamily="34" charset="0"/>
              </a:rPr>
              <a:t>mamaged</a:t>
            </a:r>
            <a:r>
              <a:rPr lang="en-US" sz="2000" dirty="0">
                <a:solidFill>
                  <a:srgbClr val="0000FF"/>
                </a:solidFill>
                <a:latin typeface="Arial" panose="020B0604020202020204" pitchFamily="34" charset="0"/>
                <a:cs typeface="Arial" panose="020B0604020202020204" pitchFamily="34" charset="0"/>
              </a:rPr>
              <a:t> by multi-tasking engine of the OS. Multi-tasking engines runs multiple tasks in 3 different models: </a:t>
            </a:r>
            <a:r>
              <a:rPr lang="en-US" sz="2000" b="1" i="1" dirty="0">
                <a:solidFill>
                  <a:srgbClr val="0000FF"/>
                </a:solidFill>
                <a:latin typeface="Arial" panose="020B0604020202020204" pitchFamily="34" charset="0"/>
                <a:cs typeface="Arial" panose="020B0604020202020204" pitchFamily="34" charset="0"/>
              </a:rPr>
              <a:t>round-robin mode, weight based mode and priority mode</a:t>
            </a:r>
            <a:r>
              <a:rPr lang="en-US" sz="2000" dirty="0">
                <a:solidFill>
                  <a:srgbClr val="0000FF"/>
                </a:solidFill>
                <a:latin typeface="Arial" panose="020B0604020202020204" pitchFamily="34" charset="0"/>
                <a:cs typeface="Arial" panose="020B0604020202020204" pitchFamily="34" charset="0"/>
              </a:rPr>
              <a:t>. This is how we call OS as multi-tasking OS. If single IC consists of multiple processors, then OS can runs multiple tasks on multiple processors running in a single IC. This is called as multi-processing.</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In brief multiple jobs running on a single chip on multiple processors is multi-processing.</a:t>
            </a:r>
          </a:p>
        </p:txBody>
      </p:sp>
      <p:sp>
        <p:nvSpPr>
          <p:cNvPr id="3" name="Footer Placeholder 2">
            <a:extLst>
              <a:ext uri="{FF2B5EF4-FFF2-40B4-BE49-F238E27FC236}">
                <a16:creationId xmlns:a16="http://schemas.microsoft.com/office/drawing/2014/main" id="{9C538DC5-CE71-32B7-7062-DF0484BA4C0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14541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14743" y="760729"/>
            <a:ext cx="8840242" cy="4093428"/>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Multiple jobs run by a OS simultaneously on a single chip or parallelly when multiple processors exist is called as multi-tasking.</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When a command prompt is opened and on the command prompt when we run java command. It is one of task of OS. The java command runs JVM that loads our java program and from the single java program when we run multiple jobs then they are called as multiple threads.</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It means threads are subset of tasks, tasks are subset of process.</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Tasks are uncontrollable flow of execution because we can start and stop the task execution but we cannot suspended them or sleep them or resume them.</a:t>
            </a:r>
          </a:p>
        </p:txBody>
      </p:sp>
      <p:sp>
        <p:nvSpPr>
          <p:cNvPr id="3" name="Footer Placeholder 2">
            <a:extLst>
              <a:ext uri="{FF2B5EF4-FFF2-40B4-BE49-F238E27FC236}">
                <a16:creationId xmlns:a16="http://schemas.microsoft.com/office/drawing/2014/main" id="{BC6B5C4B-F3B4-8599-545A-3DD866C3B91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7772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14743" y="760729"/>
            <a:ext cx="8840242" cy="2862322"/>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Whereas when threads are started, using java threads API we can start, sleep, suspend and wait the thread executions. This is how we can threads as controllable flow of execution in a java program.</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Tasks are controlled by OS, threads can be controlled from a java program independent of OS. This is how we can call threads as light weight (independent) process from the OS.</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Threads are light-weight, controllable flow of executions in a Java program.</a:t>
            </a:r>
          </a:p>
        </p:txBody>
      </p:sp>
      <p:sp>
        <p:nvSpPr>
          <p:cNvPr id="13" name="TextBox 12">
            <a:extLst>
              <a:ext uri="{FF2B5EF4-FFF2-40B4-BE49-F238E27FC236}">
                <a16:creationId xmlns:a16="http://schemas.microsoft.com/office/drawing/2014/main" id="{03ABB884-D570-6762-9BBF-D645FC70F973}"/>
              </a:ext>
            </a:extLst>
          </p:cNvPr>
          <p:cNvSpPr txBox="1"/>
          <p:nvPr/>
        </p:nvSpPr>
        <p:spPr>
          <a:xfrm>
            <a:off x="776567" y="3876347"/>
            <a:ext cx="8351523" cy="954107"/>
          </a:xfrm>
          <a:prstGeom prst="rect">
            <a:avLst/>
          </a:prstGeom>
          <a:noFill/>
        </p:spPr>
        <p:txBody>
          <a:bodyPr wrap="square">
            <a:spAutoFit/>
          </a:bodyPr>
          <a:lstStyle/>
          <a:p>
            <a:r>
              <a:rPr lang="en-IN" sz="2800" b="1" dirty="0"/>
              <a:t>Execution models:</a:t>
            </a:r>
          </a:p>
          <a:p>
            <a:r>
              <a:rPr lang="en-IN" sz="2800" b="1" dirty="0"/>
              <a:t>SSS model =&gt; Sequential, Simultaneous, Synchronous</a:t>
            </a:r>
          </a:p>
        </p:txBody>
      </p:sp>
      <p:sp>
        <p:nvSpPr>
          <p:cNvPr id="3" name="Footer Placeholder 2">
            <a:extLst>
              <a:ext uri="{FF2B5EF4-FFF2-40B4-BE49-F238E27FC236}">
                <a16:creationId xmlns:a16="http://schemas.microsoft.com/office/drawing/2014/main" id="{68FA5973-C835-DBB5-6963-93020A5574B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997450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14743" y="680047"/>
            <a:ext cx="8840242" cy="5324535"/>
          </a:xfrm>
          <a:prstGeom prst="rect">
            <a:avLst/>
          </a:prstGeom>
          <a:noFill/>
        </p:spPr>
        <p:txBody>
          <a:bodyPr wrap="square" rtlCol="0">
            <a:spAutoFit/>
          </a:bodyPr>
          <a:lstStyle/>
          <a:p>
            <a:pPr algn="just"/>
            <a:r>
              <a:rPr lang="en-US" sz="2000" b="1" u="sng" dirty="0">
                <a:solidFill>
                  <a:srgbClr val="0000FF"/>
                </a:solidFill>
                <a:latin typeface="Arial" panose="020B0604020202020204" pitchFamily="34" charset="0"/>
                <a:cs typeface="Arial" panose="020B0604020202020204" pitchFamily="34" charset="0"/>
              </a:rPr>
              <a:t>Sequential method execution:</a:t>
            </a:r>
          </a:p>
          <a:p>
            <a:pPr algn="just"/>
            <a:r>
              <a:rPr lang="en-US" sz="2000" dirty="0">
                <a:solidFill>
                  <a:srgbClr val="0000FF"/>
                </a:solidFill>
                <a:latin typeface="Arial" panose="020B0604020202020204" pitchFamily="34" charset="0"/>
                <a:cs typeface="Arial" panose="020B0604020202020204" pitchFamily="34" charset="0"/>
              </a:rPr>
              <a:t>// A.java</a:t>
            </a:r>
          </a:p>
          <a:p>
            <a:pPr algn="just"/>
            <a:r>
              <a:rPr lang="en-US" sz="2000" dirty="0">
                <a:solidFill>
                  <a:srgbClr val="0000FF"/>
                </a:solidFill>
                <a:latin typeface="Arial" panose="020B0604020202020204" pitchFamily="34" charset="0"/>
                <a:cs typeface="Arial" panose="020B0604020202020204" pitchFamily="34" charset="0"/>
              </a:rPr>
              <a:t>class A {</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void method1(int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System.out.println("method1 value is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try { </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Thread.sleep</a:t>
            </a:r>
            <a:r>
              <a:rPr lang="en-US" sz="2000" dirty="0">
                <a:solidFill>
                  <a:srgbClr val="0000FF"/>
                </a:solidFill>
                <a:latin typeface="Arial" panose="020B0604020202020204" pitchFamily="34" charset="0"/>
                <a:cs typeface="Arial" panose="020B0604020202020204" pitchFamily="34" charset="0"/>
              </a:rPr>
              <a:t>(100); </a:t>
            </a:r>
          </a:p>
          <a:p>
            <a:pPr algn="just"/>
            <a:r>
              <a:rPr lang="en-US" sz="2000" dirty="0">
                <a:solidFill>
                  <a:srgbClr val="0000FF"/>
                </a:solidFill>
                <a:latin typeface="Arial" panose="020B0604020202020204" pitchFamily="34" charset="0"/>
                <a:cs typeface="Arial" panose="020B0604020202020204" pitchFamily="34" charset="0"/>
              </a:rPr>
              <a:t>			// 1000 </a:t>
            </a:r>
            <a:r>
              <a:rPr lang="en-US" sz="2000" dirty="0" err="1">
                <a:solidFill>
                  <a:srgbClr val="0000FF"/>
                </a:solidFill>
                <a:latin typeface="Arial" panose="020B0604020202020204" pitchFamily="34" charset="0"/>
                <a:cs typeface="Arial" panose="020B0604020202020204" pitchFamily="34" charset="0"/>
              </a:rPr>
              <a:t>ms</a:t>
            </a:r>
            <a:r>
              <a:rPr lang="en-US" sz="2000" dirty="0">
                <a:solidFill>
                  <a:srgbClr val="0000FF"/>
                </a:solidFill>
                <a:latin typeface="Arial" panose="020B0604020202020204" pitchFamily="34" charset="0"/>
                <a:cs typeface="Arial" panose="020B0604020202020204" pitchFamily="34" charset="0"/>
              </a:rPr>
              <a:t> is 1 sec, 100 </a:t>
            </a:r>
            <a:r>
              <a:rPr lang="en-US" sz="2000" dirty="0" err="1">
                <a:solidFill>
                  <a:srgbClr val="0000FF"/>
                </a:solidFill>
                <a:latin typeface="Arial" panose="020B0604020202020204" pitchFamily="34" charset="0"/>
                <a:cs typeface="Arial" panose="020B0604020202020204" pitchFamily="34" charset="0"/>
              </a:rPr>
              <a:t>ms</a:t>
            </a:r>
            <a:r>
              <a:rPr lang="en-US" sz="2000" dirty="0">
                <a:solidFill>
                  <a:srgbClr val="0000FF"/>
                </a:solidFill>
                <a:latin typeface="Arial" panose="020B0604020202020204" pitchFamily="34" charset="0"/>
                <a:cs typeface="Arial" panose="020B0604020202020204" pitchFamily="34" charset="0"/>
              </a:rPr>
              <a:t> is 1/10 of sec</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catch(</a:t>
            </a:r>
            <a:r>
              <a:rPr lang="en-US" sz="2000" dirty="0" err="1">
                <a:solidFill>
                  <a:srgbClr val="0000FF"/>
                </a:solidFill>
                <a:latin typeface="Arial" panose="020B0604020202020204" pitchFamily="34" charset="0"/>
                <a:cs typeface="Arial" panose="020B0604020202020204" pitchFamily="34" charset="0"/>
              </a:rPr>
              <a:t>InterruptedException</a:t>
            </a:r>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ie</a:t>
            </a:r>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void method2(int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System.out.println("method2 value is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FBE56E65-83C9-E674-AE0C-36C2911755D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920639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21369" y="883633"/>
            <a:ext cx="8840242" cy="4401205"/>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 AClient1.java</a:t>
            </a:r>
          </a:p>
          <a:p>
            <a:pPr algn="just"/>
            <a:r>
              <a:rPr lang="en-US" sz="2000" dirty="0">
                <a:solidFill>
                  <a:srgbClr val="0000FF"/>
                </a:solidFill>
                <a:latin typeface="Arial" panose="020B0604020202020204" pitchFamily="34" charset="0"/>
                <a:cs typeface="Arial" panose="020B0604020202020204" pitchFamily="34" charset="0"/>
              </a:rPr>
              <a:t>class AClient1 {</a:t>
            </a:r>
          </a:p>
          <a:p>
            <a:pPr algn="just"/>
            <a:r>
              <a:rPr lang="en-US" sz="2000" dirty="0">
                <a:solidFill>
                  <a:srgbClr val="0000FF"/>
                </a:solidFill>
                <a:latin typeface="Arial" panose="020B0604020202020204" pitchFamily="34" charset="0"/>
                <a:cs typeface="Arial" panose="020B0604020202020204" pitchFamily="34" charset="0"/>
              </a:rPr>
              <a:t>	public static void main(String rags[]) throws Exception {</a:t>
            </a:r>
          </a:p>
          <a:p>
            <a:pPr algn="just"/>
            <a:r>
              <a:rPr lang="en-US" sz="2000" dirty="0">
                <a:solidFill>
                  <a:srgbClr val="0000FF"/>
                </a:solidFill>
                <a:latin typeface="Arial" panose="020B0604020202020204" pitchFamily="34" charset="0"/>
                <a:cs typeface="Arial" panose="020B0604020202020204" pitchFamily="34" charset="0"/>
              </a:rPr>
              <a:t>		A a=new A();</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for(int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=0;i&lt;50;i++) {</a:t>
            </a:r>
          </a:p>
          <a:p>
            <a:pPr algn="just"/>
            <a:r>
              <a:rPr lang="en-US" sz="2000" dirty="0">
                <a:solidFill>
                  <a:srgbClr val="0000FF"/>
                </a:solidFill>
                <a:latin typeface="Arial" panose="020B0604020202020204" pitchFamily="34" charset="0"/>
                <a:cs typeface="Arial" panose="020B0604020202020204" pitchFamily="34" charset="0"/>
              </a:rPr>
              <a:t>			a.method1(</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for(int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=0;i&lt;50;i++) {</a:t>
            </a:r>
          </a:p>
          <a:p>
            <a:pPr algn="just"/>
            <a:r>
              <a:rPr lang="en-US" sz="2000" dirty="0">
                <a:solidFill>
                  <a:srgbClr val="0000FF"/>
                </a:solidFill>
                <a:latin typeface="Arial" panose="020B0604020202020204" pitchFamily="34" charset="0"/>
                <a:cs typeface="Arial" panose="020B0604020202020204" pitchFamily="34" charset="0"/>
              </a:rPr>
              <a:t>			a.method2(</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40E0B4FC-65A9-A2A5-CE57-67D1736E980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707326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75158" y="1820555"/>
            <a:ext cx="8840242" cy="3046988"/>
          </a:xfrm>
          <a:prstGeom prst="rect">
            <a:avLst/>
          </a:prstGeom>
          <a:noFill/>
        </p:spPr>
        <p:txBody>
          <a:bodyPr wrap="square" rtlCol="0">
            <a:spAutoFit/>
          </a:bodyPr>
          <a:lstStyle/>
          <a:p>
            <a:pPr algn="just"/>
            <a:r>
              <a:rPr lang="en-US" sz="2400" dirty="0">
                <a:solidFill>
                  <a:srgbClr val="0000FF"/>
                </a:solidFill>
                <a:latin typeface="Arial" panose="020B0604020202020204" pitchFamily="34" charset="0"/>
                <a:cs typeface="Arial" panose="020B0604020202020204" pitchFamily="34" charset="0"/>
              </a:rPr>
              <a:t>Multithreading is meant for running multiple methods simultaneously.</a:t>
            </a:r>
          </a:p>
          <a:p>
            <a:pPr algn="just"/>
            <a:endParaRPr lang="en-US" sz="2400" dirty="0">
              <a:solidFill>
                <a:srgbClr val="0000FF"/>
              </a:solidFill>
              <a:latin typeface="Arial" panose="020B0604020202020204" pitchFamily="34" charset="0"/>
              <a:cs typeface="Arial" panose="020B0604020202020204" pitchFamily="34" charset="0"/>
            </a:endParaRPr>
          </a:p>
          <a:p>
            <a:pPr algn="just"/>
            <a:r>
              <a:rPr lang="en-US" sz="2400" dirty="0">
                <a:solidFill>
                  <a:srgbClr val="0000FF"/>
                </a:solidFill>
                <a:latin typeface="Arial" panose="020B0604020202020204" pitchFamily="34" charset="0"/>
                <a:cs typeface="Arial" panose="020B0604020202020204" pitchFamily="34" charset="0"/>
              </a:rPr>
              <a:t>In Java we can implement Threads in two ways:</a:t>
            </a:r>
          </a:p>
          <a:p>
            <a:pPr algn="just"/>
            <a:r>
              <a:rPr lang="en-US" sz="2400" dirty="0">
                <a:solidFill>
                  <a:srgbClr val="0000FF"/>
                </a:solidFill>
                <a:latin typeface="Arial" panose="020B0604020202020204" pitchFamily="34" charset="0"/>
                <a:cs typeface="Arial" panose="020B0604020202020204" pitchFamily="34" charset="0"/>
              </a:rPr>
              <a:t>	</a:t>
            </a:r>
            <a:r>
              <a:rPr lang="en-US" sz="2400" dirty="0" err="1">
                <a:solidFill>
                  <a:srgbClr val="0000FF"/>
                </a:solidFill>
                <a:latin typeface="Arial" panose="020B0604020202020204" pitchFamily="34" charset="0"/>
                <a:cs typeface="Arial" panose="020B0604020202020204" pitchFamily="34" charset="0"/>
              </a:rPr>
              <a:t>i</a:t>
            </a:r>
            <a:r>
              <a:rPr lang="en-US" sz="2400" dirty="0">
                <a:solidFill>
                  <a:srgbClr val="0000FF"/>
                </a:solidFill>
                <a:latin typeface="Arial" panose="020B0604020202020204" pitchFamily="34" charset="0"/>
                <a:cs typeface="Arial" panose="020B0604020202020204" pitchFamily="34" charset="0"/>
              </a:rPr>
              <a:t>) extending from Thread class</a:t>
            </a:r>
          </a:p>
          <a:p>
            <a:pPr algn="just"/>
            <a:r>
              <a:rPr lang="en-US" sz="2400" dirty="0">
                <a:solidFill>
                  <a:srgbClr val="0000FF"/>
                </a:solidFill>
                <a:latin typeface="Arial" panose="020B0604020202020204" pitchFamily="34" charset="0"/>
                <a:cs typeface="Arial" panose="020B0604020202020204" pitchFamily="34" charset="0"/>
              </a:rPr>
              <a:t>	ii) implementing from Runnable interface</a:t>
            </a:r>
          </a:p>
          <a:p>
            <a:pPr algn="just"/>
            <a:r>
              <a:rPr lang="en-US" sz="2400" dirty="0">
                <a:solidFill>
                  <a:srgbClr val="0000FF"/>
                </a:solidFill>
                <a:latin typeface="Arial" panose="020B0604020202020204" pitchFamily="34" charset="0"/>
                <a:cs typeface="Arial" panose="020B0604020202020204" pitchFamily="34" charset="0"/>
              </a:rPr>
              <a:t>	iii) Writing anonymous class</a:t>
            </a:r>
          </a:p>
          <a:p>
            <a:pPr algn="just"/>
            <a:r>
              <a:rPr lang="en-US" sz="2400" dirty="0">
                <a:solidFill>
                  <a:srgbClr val="0000FF"/>
                </a:solidFill>
                <a:latin typeface="Arial" panose="020B0604020202020204" pitchFamily="34" charset="0"/>
                <a:cs typeface="Arial" panose="020B0604020202020204" pitchFamily="34" charset="0"/>
              </a:rPr>
              <a:t> 	</a:t>
            </a:r>
            <a:r>
              <a:rPr lang="en-US" sz="2000" dirty="0">
                <a:solidFill>
                  <a:srgbClr val="0000FF"/>
                </a:solidFill>
                <a:latin typeface="Arial" panose="020B0604020202020204" pitchFamily="34" charset="0"/>
                <a:cs typeface="Arial" panose="020B0604020202020204" pitchFamily="34" charset="0"/>
              </a:rPr>
              <a:t>(using Runnable interface/Thread class)</a:t>
            </a:r>
            <a:endParaRPr lang="en-US" sz="2400" dirty="0">
              <a:solidFill>
                <a:srgbClr val="0000FF"/>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54819081-58FE-55F8-E61A-F76658C608C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78600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75158" y="973394"/>
            <a:ext cx="8840242" cy="3785652"/>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For each method we need to write one Thread implementation. The two ways to write Thread is:</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 Write a class that extends from Thread class, override run() method, from the run() method call the intended method for concurrent execution, create object of the thread class and call start() method to start thread execution.</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ii) Implement class from Runnable interface, implement run() method, create object of Runnable sub class, pass that object as argument into Thread class constructor and call start() method that starts the Thread execution.</a:t>
            </a:r>
          </a:p>
        </p:txBody>
      </p:sp>
      <p:sp>
        <p:nvSpPr>
          <p:cNvPr id="3" name="Footer Placeholder 2">
            <a:extLst>
              <a:ext uri="{FF2B5EF4-FFF2-40B4-BE49-F238E27FC236}">
                <a16:creationId xmlns:a16="http://schemas.microsoft.com/office/drawing/2014/main" id="{BD3437E2-8546-41FC-00E2-2D6BFADB237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94434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2365323" y="2703723"/>
            <a:ext cx="5806786" cy="923330"/>
          </a:xfrm>
          <a:prstGeom prst="rect">
            <a:avLst/>
          </a:prstGeom>
          <a:noFill/>
        </p:spPr>
        <p:txBody>
          <a:bodyPr wrap="square" rtlCol="0">
            <a:spAutoFit/>
          </a:bodyPr>
          <a:lstStyle/>
          <a:p>
            <a:pPr algn="ctr"/>
            <a:r>
              <a:rPr lang="en-US" sz="5400" dirty="0">
                <a:solidFill>
                  <a:srgbClr val="0000FF"/>
                </a:solidFill>
                <a:latin typeface="Arial" panose="020B0604020202020204" pitchFamily="34" charset="0"/>
                <a:cs typeface="Arial" panose="020B0604020202020204" pitchFamily="34" charset="0"/>
              </a:rPr>
              <a:t>Thread Lifecycle</a:t>
            </a:r>
            <a:endParaRPr lang="en-US" sz="2000" dirty="0">
              <a:solidFill>
                <a:srgbClr val="0000FF"/>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3F24626E-380D-6BAA-6D11-C9D4BC7E680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95455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pic>
        <p:nvPicPr>
          <p:cNvPr id="1026" name="Picture 2" descr="Life Cycle of Thread in Java | Thread State - Scientech Easy">
            <a:extLst>
              <a:ext uri="{FF2B5EF4-FFF2-40B4-BE49-F238E27FC236}">
                <a16:creationId xmlns:a16="http://schemas.microsoft.com/office/drawing/2014/main" id="{36F4FD27-2D92-7F08-3ABC-ACCF903AE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8288" y="1047750"/>
            <a:ext cx="5715000" cy="4762500"/>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168448CC-1EB0-FD89-D9D1-A0EC02C679D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707107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712694" y="1862987"/>
            <a:ext cx="8323730" cy="2062103"/>
          </a:xfrm>
          <a:prstGeom prst="rect">
            <a:avLst/>
          </a:prstGeom>
          <a:noFill/>
        </p:spPr>
        <p:txBody>
          <a:bodyPr wrap="square" rtlCol="0">
            <a:spAutoFit/>
          </a:bodyPr>
          <a:lstStyle/>
          <a:p>
            <a:pPr algn="just"/>
            <a:r>
              <a:rPr lang="en-US" sz="3200" dirty="0">
                <a:solidFill>
                  <a:srgbClr val="0000FF"/>
                </a:solidFill>
                <a:latin typeface="Arial" panose="020B0604020202020204" pitchFamily="34" charset="0"/>
                <a:cs typeface="Arial" panose="020B0604020202020204" pitchFamily="34" charset="0"/>
              </a:rPr>
              <a:t>3 ways of implementing Thread</a:t>
            </a:r>
          </a:p>
          <a:p>
            <a:pPr marL="342900" indent="-342900" algn="just">
              <a:buFont typeface="Wingdings" panose="05000000000000000000" pitchFamily="2" charset="2"/>
              <a:buChar char="v"/>
            </a:pPr>
            <a:r>
              <a:rPr lang="en-US" sz="3200" dirty="0">
                <a:solidFill>
                  <a:srgbClr val="0000FF"/>
                </a:solidFill>
                <a:latin typeface="Arial" panose="020B0604020202020204" pitchFamily="34" charset="0"/>
                <a:cs typeface="Arial" panose="020B0604020202020204" pitchFamily="34" charset="0"/>
              </a:rPr>
              <a:t>extending from Thread class</a:t>
            </a:r>
          </a:p>
          <a:p>
            <a:pPr marL="342900" indent="-342900" algn="just">
              <a:buFont typeface="Wingdings" panose="05000000000000000000" pitchFamily="2" charset="2"/>
              <a:buChar char="v"/>
            </a:pPr>
            <a:r>
              <a:rPr lang="en-US" sz="3200" dirty="0">
                <a:solidFill>
                  <a:srgbClr val="0000FF"/>
                </a:solidFill>
                <a:latin typeface="Arial" panose="020B0604020202020204" pitchFamily="34" charset="0"/>
                <a:cs typeface="Arial" panose="020B0604020202020204" pitchFamily="34" charset="0"/>
              </a:rPr>
              <a:t>implements from Runnable interface</a:t>
            </a:r>
          </a:p>
          <a:p>
            <a:pPr marL="342900" indent="-342900" algn="just">
              <a:buFont typeface="Wingdings" panose="05000000000000000000" pitchFamily="2" charset="2"/>
              <a:buChar char="v"/>
            </a:pPr>
            <a:r>
              <a:rPr lang="en-US" sz="3200" dirty="0">
                <a:solidFill>
                  <a:srgbClr val="0000FF"/>
                </a:solidFill>
                <a:latin typeface="Arial" panose="020B0604020202020204" pitchFamily="34" charset="0"/>
                <a:cs typeface="Arial" panose="020B0604020202020204" pitchFamily="34" charset="0"/>
              </a:rPr>
              <a:t>implement Runnable as anonymous class</a:t>
            </a:r>
          </a:p>
        </p:txBody>
      </p:sp>
      <p:sp>
        <p:nvSpPr>
          <p:cNvPr id="3" name="Footer Placeholder 2">
            <a:extLst>
              <a:ext uri="{FF2B5EF4-FFF2-40B4-BE49-F238E27FC236}">
                <a16:creationId xmlns:a16="http://schemas.microsoft.com/office/drawing/2014/main" id="{FDABA322-323A-5645-1D26-EF63686E080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3039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401587" y="742523"/>
            <a:ext cx="5514654" cy="1938992"/>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class </a:t>
            </a:r>
            <a:r>
              <a:rPr lang="en-US" sz="2000" dirty="0" err="1">
                <a:solidFill>
                  <a:srgbClr val="0000FF"/>
                </a:solidFill>
                <a:latin typeface="Arial" panose="020B0604020202020204" pitchFamily="34" charset="0"/>
                <a:cs typeface="Arial" panose="020B0604020202020204" pitchFamily="34" charset="0"/>
              </a:rPr>
              <a:t>GenerateThread</a:t>
            </a:r>
            <a:r>
              <a:rPr lang="en-US" sz="2000" dirty="0">
                <a:solidFill>
                  <a:srgbClr val="0000FF"/>
                </a:solidFill>
                <a:latin typeface="Arial" panose="020B0604020202020204" pitchFamily="34" charset="0"/>
                <a:cs typeface="Arial" panose="020B0604020202020204" pitchFamily="34" charset="0"/>
              </a:rPr>
              <a:t> extends Thread {</a:t>
            </a:r>
          </a:p>
          <a:p>
            <a:pPr algn="just"/>
            <a:r>
              <a:rPr lang="en-US" sz="2000" dirty="0">
                <a:solidFill>
                  <a:srgbClr val="0000FF"/>
                </a:solidFill>
                <a:latin typeface="Arial" panose="020B0604020202020204" pitchFamily="34" charset="0"/>
                <a:cs typeface="Arial" panose="020B0604020202020204" pitchFamily="34" charset="0"/>
              </a:rPr>
              <a:t>	// override Thread class run() method</a:t>
            </a:r>
          </a:p>
          <a:p>
            <a:pPr algn="just"/>
            <a:r>
              <a:rPr lang="en-US" sz="2000" dirty="0">
                <a:solidFill>
                  <a:srgbClr val="0000FF"/>
                </a:solidFill>
                <a:latin typeface="Arial" panose="020B0604020202020204" pitchFamily="34" charset="0"/>
                <a:cs typeface="Arial" panose="020B0604020202020204" pitchFamily="34" charset="0"/>
              </a:rPr>
              <a:t>	public void run() {</a:t>
            </a:r>
          </a:p>
          <a:p>
            <a:pPr algn="just"/>
            <a:r>
              <a:rPr lang="en-US" sz="2000" dirty="0">
                <a:solidFill>
                  <a:srgbClr val="0000FF"/>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 write simultaneous execution code here</a:t>
            </a:r>
            <a:endParaRPr lang="en-US" sz="2000" dirty="0">
              <a:solidFill>
                <a:srgbClr val="FF0000"/>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13" name="TextBox 12">
            <a:extLst>
              <a:ext uri="{FF2B5EF4-FFF2-40B4-BE49-F238E27FC236}">
                <a16:creationId xmlns:a16="http://schemas.microsoft.com/office/drawing/2014/main" id="{F151E206-5F83-C5D0-76DA-70C943066B8A}"/>
              </a:ext>
            </a:extLst>
          </p:cNvPr>
          <p:cNvSpPr txBox="1"/>
          <p:nvPr/>
        </p:nvSpPr>
        <p:spPr>
          <a:xfrm>
            <a:off x="5586281" y="1831451"/>
            <a:ext cx="6236314" cy="1938992"/>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class </a:t>
            </a:r>
            <a:r>
              <a:rPr lang="en-US" sz="2000" dirty="0" err="1">
                <a:solidFill>
                  <a:srgbClr val="0000FF"/>
                </a:solidFill>
                <a:latin typeface="Arial" panose="020B0604020202020204" pitchFamily="34" charset="0"/>
                <a:cs typeface="Arial" panose="020B0604020202020204" pitchFamily="34" charset="0"/>
              </a:rPr>
              <a:t>PrintThread</a:t>
            </a:r>
            <a:r>
              <a:rPr lang="en-US" sz="2000" dirty="0">
                <a:solidFill>
                  <a:srgbClr val="0000FF"/>
                </a:solidFill>
                <a:latin typeface="Arial" panose="020B0604020202020204" pitchFamily="34" charset="0"/>
                <a:cs typeface="Arial" panose="020B0604020202020204" pitchFamily="34" charset="0"/>
              </a:rPr>
              <a:t> implements Runnable {</a:t>
            </a:r>
          </a:p>
          <a:p>
            <a:pPr algn="just"/>
            <a:r>
              <a:rPr lang="en-US" sz="2000" dirty="0">
                <a:solidFill>
                  <a:srgbClr val="0000FF"/>
                </a:solidFill>
                <a:latin typeface="Arial" panose="020B0604020202020204" pitchFamily="34" charset="0"/>
                <a:cs typeface="Arial" panose="020B0604020202020204" pitchFamily="34" charset="0"/>
              </a:rPr>
              <a:t>	// implement Runnable interface run() method</a:t>
            </a:r>
          </a:p>
          <a:p>
            <a:pPr algn="just"/>
            <a:r>
              <a:rPr lang="en-US" sz="2000" dirty="0">
                <a:solidFill>
                  <a:srgbClr val="0000FF"/>
                </a:solidFill>
                <a:latin typeface="Arial" panose="020B0604020202020204" pitchFamily="34" charset="0"/>
                <a:cs typeface="Arial" panose="020B0604020202020204" pitchFamily="34" charset="0"/>
              </a:rPr>
              <a:t>	public void run() {</a:t>
            </a:r>
          </a:p>
          <a:p>
            <a:pPr algn="just"/>
            <a:r>
              <a:rPr lang="en-US" sz="2000" dirty="0">
                <a:solidFill>
                  <a:srgbClr val="0000FF"/>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 write simultaneous execution code here</a:t>
            </a:r>
            <a:endParaRPr lang="en-US" sz="2000" dirty="0">
              <a:solidFill>
                <a:srgbClr val="FF0000"/>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14" name="TextBox 13">
            <a:extLst>
              <a:ext uri="{FF2B5EF4-FFF2-40B4-BE49-F238E27FC236}">
                <a16:creationId xmlns:a16="http://schemas.microsoft.com/office/drawing/2014/main" id="{29B7851A-9070-113C-CA78-C4CB43ACFE19}"/>
              </a:ext>
            </a:extLst>
          </p:cNvPr>
          <p:cNvSpPr txBox="1"/>
          <p:nvPr/>
        </p:nvSpPr>
        <p:spPr>
          <a:xfrm>
            <a:off x="459970" y="3589062"/>
            <a:ext cx="6236314" cy="2554545"/>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Runnable </a:t>
            </a:r>
            <a:r>
              <a:rPr lang="en-US" sz="2000" dirty="0" err="1">
                <a:solidFill>
                  <a:srgbClr val="0000FF"/>
                </a:solidFill>
                <a:latin typeface="Arial" panose="020B0604020202020204" pitchFamily="34" charset="0"/>
                <a:cs typeface="Arial" panose="020B0604020202020204" pitchFamily="34" charset="0"/>
              </a:rPr>
              <a:t>gt</a:t>
            </a:r>
            <a:r>
              <a:rPr lang="en-US" sz="2000" dirty="0">
                <a:solidFill>
                  <a:srgbClr val="0000FF"/>
                </a:solidFill>
                <a:latin typeface="Arial" panose="020B0604020202020204" pitchFamily="34" charset="0"/>
                <a:cs typeface="Arial" panose="020B0604020202020204" pitchFamily="34" charset="0"/>
              </a:rPr>
              <a:t>=new Runnable() {</a:t>
            </a:r>
          </a:p>
          <a:p>
            <a:pPr algn="just"/>
            <a:r>
              <a:rPr lang="en-US" sz="2000" dirty="0">
                <a:solidFill>
                  <a:srgbClr val="0000FF"/>
                </a:solidFill>
                <a:latin typeface="Arial" panose="020B0604020202020204" pitchFamily="34" charset="0"/>
                <a:cs typeface="Arial" panose="020B0604020202020204" pitchFamily="34" charset="0"/>
              </a:rPr>
              <a:t>	// implement Runnable interface run() method</a:t>
            </a:r>
          </a:p>
          <a:p>
            <a:pPr algn="just"/>
            <a:r>
              <a:rPr lang="en-US" sz="2000" dirty="0">
                <a:solidFill>
                  <a:srgbClr val="0000FF"/>
                </a:solidFill>
                <a:latin typeface="Arial" panose="020B0604020202020204" pitchFamily="34" charset="0"/>
                <a:cs typeface="Arial" panose="020B0604020202020204" pitchFamily="34" charset="0"/>
              </a:rPr>
              <a:t>	public void run() {</a:t>
            </a:r>
          </a:p>
          <a:p>
            <a:pPr algn="just"/>
            <a:r>
              <a:rPr lang="en-US" sz="2000" dirty="0">
                <a:solidFill>
                  <a:srgbClr val="0000FF"/>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 write simultaneous execution code here</a:t>
            </a:r>
            <a:endParaRPr lang="en-US" sz="2000" dirty="0">
              <a:solidFill>
                <a:srgbClr val="FF0000"/>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err="1">
                <a:solidFill>
                  <a:srgbClr val="0000FF"/>
                </a:solidFill>
                <a:latin typeface="Arial" panose="020B0604020202020204" pitchFamily="34" charset="0"/>
                <a:cs typeface="Arial" panose="020B0604020202020204" pitchFamily="34" charset="0"/>
              </a:rPr>
              <a:t>gt.start</a:t>
            </a:r>
            <a:r>
              <a:rPr lang="en-US" sz="2000" dirty="0">
                <a:solidFill>
                  <a:srgbClr val="0000FF"/>
                </a:solidFill>
                <a:latin typeface="Arial" panose="020B0604020202020204" pitchFamily="34" charset="0"/>
                <a:cs typeface="Arial" panose="020B0604020202020204" pitchFamily="34" charset="0"/>
              </a:rPr>
              <a:t>();</a:t>
            </a:r>
          </a:p>
        </p:txBody>
      </p:sp>
      <p:sp>
        <p:nvSpPr>
          <p:cNvPr id="5" name="Arrow: Left 4">
            <a:extLst>
              <a:ext uri="{FF2B5EF4-FFF2-40B4-BE49-F238E27FC236}">
                <a16:creationId xmlns:a16="http://schemas.microsoft.com/office/drawing/2014/main" id="{CD2738AA-AF73-1815-CA29-A6EA0C85433A}"/>
              </a:ext>
            </a:extLst>
          </p:cNvPr>
          <p:cNvSpPr/>
          <p:nvPr/>
        </p:nvSpPr>
        <p:spPr>
          <a:xfrm>
            <a:off x="6025571" y="855668"/>
            <a:ext cx="4457029" cy="63201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a:solidFill>
                  <a:schemeClr val="bg1"/>
                </a:solidFill>
                <a:latin typeface="Arial" panose="020B0604020202020204" pitchFamily="34" charset="0"/>
                <a:cs typeface="Arial" panose="020B0604020202020204" pitchFamily="34" charset="0"/>
              </a:rPr>
              <a:t>extending from Thread class</a:t>
            </a:r>
            <a:endParaRPr lang="en-US" sz="1600" dirty="0">
              <a:solidFill>
                <a:schemeClr val="bg1"/>
              </a:solidFill>
              <a:latin typeface="Arial" panose="020B0604020202020204" pitchFamily="34" charset="0"/>
              <a:cs typeface="Arial" panose="020B0604020202020204" pitchFamily="34" charset="0"/>
            </a:endParaRPr>
          </a:p>
        </p:txBody>
      </p:sp>
      <p:sp>
        <p:nvSpPr>
          <p:cNvPr id="16" name="Arrow: Left 15">
            <a:extLst>
              <a:ext uri="{FF2B5EF4-FFF2-40B4-BE49-F238E27FC236}">
                <a16:creationId xmlns:a16="http://schemas.microsoft.com/office/drawing/2014/main" id="{DEE62B25-85DE-2EB3-BE59-A76EDE491001}"/>
              </a:ext>
            </a:extLst>
          </p:cNvPr>
          <p:cNvSpPr/>
          <p:nvPr/>
        </p:nvSpPr>
        <p:spPr>
          <a:xfrm>
            <a:off x="1834343" y="4968832"/>
            <a:ext cx="4164611" cy="63201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600" dirty="0">
                <a:solidFill>
                  <a:schemeClr val="bg1"/>
                </a:solidFill>
                <a:latin typeface="Arial" panose="020B0604020202020204" pitchFamily="34" charset="0"/>
                <a:cs typeface="Arial" panose="020B0604020202020204" pitchFamily="34" charset="0"/>
              </a:rPr>
              <a:t>implementing thread as anonymous class</a:t>
            </a:r>
          </a:p>
        </p:txBody>
      </p:sp>
      <p:sp>
        <p:nvSpPr>
          <p:cNvPr id="17" name="Arrow: Up 16">
            <a:extLst>
              <a:ext uri="{FF2B5EF4-FFF2-40B4-BE49-F238E27FC236}">
                <a16:creationId xmlns:a16="http://schemas.microsoft.com/office/drawing/2014/main" id="{22876013-E7D5-32AC-9419-A83DED542E3A}"/>
              </a:ext>
            </a:extLst>
          </p:cNvPr>
          <p:cNvSpPr/>
          <p:nvPr/>
        </p:nvSpPr>
        <p:spPr>
          <a:xfrm>
            <a:off x="6696284" y="3026443"/>
            <a:ext cx="2445231" cy="271460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implementing from Runnable interface</a:t>
            </a:r>
          </a:p>
        </p:txBody>
      </p:sp>
      <p:sp>
        <p:nvSpPr>
          <p:cNvPr id="3" name="Footer Placeholder 2">
            <a:extLst>
              <a:ext uri="{FF2B5EF4-FFF2-40B4-BE49-F238E27FC236}">
                <a16:creationId xmlns:a16="http://schemas.microsoft.com/office/drawing/2014/main" id="{5B22E043-498C-7302-2B42-CF05A1557F1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71283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1707776" y="2703723"/>
            <a:ext cx="6464333" cy="1354217"/>
          </a:xfrm>
          <a:prstGeom prst="rect">
            <a:avLst/>
          </a:prstGeom>
          <a:noFill/>
        </p:spPr>
        <p:txBody>
          <a:bodyPr wrap="square" rtlCol="0">
            <a:spAutoFit/>
          </a:bodyPr>
          <a:lstStyle/>
          <a:p>
            <a:pPr algn="ctr"/>
            <a:r>
              <a:rPr lang="en-US" sz="5400" b="1" dirty="0">
                <a:solidFill>
                  <a:srgbClr val="0000FF"/>
                </a:solidFill>
                <a:latin typeface="Arial" panose="020B0604020202020204" pitchFamily="34" charset="0"/>
                <a:cs typeface="Arial" panose="020B0604020202020204" pitchFamily="34" charset="0"/>
              </a:rPr>
              <a:t>Threads Example</a:t>
            </a:r>
          </a:p>
          <a:p>
            <a:pPr algn="ctr"/>
            <a:r>
              <a:rPr lang="en-US" sz="2800" b="1" dirty="0">
                <a:solidFill>
                  <a:srgbClr val="0000FF"/>
                </a:solidFill>
                <a:latin typeface="Arial" panose="020B0604020202020204" pitchFamily="34" charset="0"/>
                <a:cs typeface="Arial" panose="020B0604020202020204" pitchFamily="34" charset="0"/>
              </a:rPr>
              <a:t>by extending from Thread class</a:t>
            </a:r>
            <a:endParaRPr lang="en-US" sz="1050" b="1" dirty="0">
              <a:solidFill>
                <a:srgbClr val="0000FF"/>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A5323EB6-0AA5-9074-DE39-26962B97F32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469005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375158" y="973394"/>
            <a:ext cx="8840242" cy="5262979"/>
          </a:xfrm>
          <a:prstGeom prst="rect">
            <a:avLst/>
          </a:prstGeom>
          <a:noFill/>
        </p:spPr>
        <p:txBody>
          <a:bodyPr wrap="square" rtlCol="0">
            <a:spAutoFit/>
          </a:bodyPr>
          <a:lstStyle/>
          <a:p>
            <a:pPr algn="just"/>
            <a:r>
              <a:rPr lang="en-US" sz="2400" u="sng" dirty="0">
                <a:solidFill>
                  <a:srgbClr val="0000FF"/>
                </a:solidFill>
                <a:latin typeface="Arial" panose="020B0604020202020204" pitchFamily="34" charset="0"/>
                <a:cs typeface="Arial" panose="020B0604020202020204" pitchFamily="34" charset="0"/>
              </a:rPr>
              <a:t>Following is an example on extending from Thread class</a:t>
            </a:r>
          </a:p>
          <a:p>
            <a:pPr algn="just"/>
            <a:endParaRPr lang="en-US" sz="2400" dirty="0">
              <a:solidFill>
                <a:srgbClr val="0000FF"/>
              </a:solidFill>
              <a:latin typeface="Arial" panose="020B0604020202020204" pitchFamily="34" charset="0"/>
              <a:cs typeface="Arial" panose="020B0604020202020204" pitchFamily="34" charset="0"/>
            </a:endParaRPr>
          </a:p>
          <a:p>
            <a:pPr algn="just"/>
            <a:r>
              <a:rPr lang="en-US" sz="2400" dirty="0">
                <a:solidFill>
                  <a:srgbClr val="0000FF"/>
                </a:solidFill>
                <a:latin typeface="Arial" panose="020B0604020202020204" pitchFamily="34" charset="0"/>
                <a:cs typeface="Arial" panose="020B0604020202020204" pitchFamily="34" charset="0"/>
              </a:rPr>
              <a:t>// NumberGenerator.java</a:t>
            </a:r>
          </a:p>
          <a:p>
            <a:pPr algn="just"/>
            <a:r>
              <a:rPr lang="en-US" sz="2400" dirty="0">
                <a:solidFill>
                  <a:srgbClr val="0000FF"/>
                </a:solidFill>
                <a:latin typeface="Arial" panose="020B0604020202020204" pitchFamily="34" charset="0"/>
                <a:cs typeface="Arial" panose="020B0604020202020204" pitchFamily="34" charset="0"/>
              </a:rPr>
              <a:t>public class NumberGenerator {</a:t>
            </a:r>
          </a:p>
          <a:p>
            <a:pPr algn="just"/>
            <a:endParaRPr lang="en-US" sz="2400" dirty="0">
              <a:solidFill>
                <a:srgbClr val="0000FF"/>
              </a:solidFill>
              <a:latin typeface="Arial" panose="020B0604020202020204" pitchFamily="34" charset="0"/>
              <a:cs typeface="Arial" panose="020B0604020202020204" pitchFamily="34" charset="0"/>
            </a:endParaRPr>
          </a:p>
          <a:p>
            <a:pPr algn="just"/>
            <a:r>
              <a:rPr lang="en-US" sz="2400" dirty="0">
                <a:solidFill>
                  <a:srgbClr val="0000FF"/>
                </a:solidFill>
                <a:latin typeface="Arial" panose="020B0604020202020204" pitchFamily="34" charset="0"/>
                <a:cs typeface="Arial" panose="020B0604020202020204" pitchFamily="34" charset="0"/>
              </a:rPr>
              <a:t>	public void generate() {</a:t>
            </a:r>
          </a:p>
          <a:p>
            <a:pPr algn="just"/>
            <a:r>
              <a:rPr lang="en-US" sz="2400" dirty="0">
                <a:solidFill>
                  <a:srgbClr val="0000FF"/>
                </a:solidFill>
                <a:latin typeface="Arial" panose="020B0604020202020204" pitchFamily="34" charset="0"/>
                <a:cs typeface="Arial" panose="020B0604020202020204" pitchFamily="34" charset="0"/>
              </a:rPr>
              <a:t>		System.out.println("generate() method executed");</a:t>
            </a:r>
          </a:p>
          <a:p>
            <a:pPr algn="just"/>
            <a:r>
              <a:rPr lang="en-US" sz="2400" dirty="0">
                <a:solidFill>
                  <a:srgbClr val="0000FF"/>
                </a:solidFill>
                <a:latin typeface="Arial" panose="020B0604020202020204" pitchFamily="34" charset="0"/>
                <a:cs typeface="Arial" panose="020B0604020202020204" pitchFamily="34" charset="0"/>
              </a:rPr>
              <a:t>	}</a:t>
            </a:r>
          </a:p>
          <a:p>
            <a:pPr algn="just"/>
            <a:r>
              <a:rPr lang="en-US" sz="2400" dirty="0">
                <a:solidFill>
                  <a:srgbClr val="0000FF"/>
                </a:solidFill>
                <a:latin typeface="Arial" panose="020B0604020202020204" pitchFamily="34" charset="0"/>
                <a:cs typeface="Arial" panose="020B0604020202020204" pitchFamily="34" charset="0"/>
              </a:rPr>
              <a:t>  </a:t>
            </a:r>
          </a:p>
          <a:p>
            <a:pPr algn="just"/>
            <a:r>
              <a:rPr lang="en-US" sz="2400" dirty="0">
                <a:solidFill>
                  <a:srgbClr val="0000FF"/>
                </a:solidFill>
                <a:latin typeface="Arial" panose="020B0604020202020204" pitchFamily="34" charset="0"/>
                <a:cs typeface="Arial" panose="020B0604020202020204" pitchFamily="34" charset="0"/>
              </a:rPr>
              <a:t>	public void print() {</a:t>
            </a:r>
          </a:p>
          <a:p>
            <a:pPr algn="just"/>
            <a:r>
              <a:rPr lang="en-US" sz="2400" dirty="0">
                <a:solidFill>
                  <a:srgbClr val="0000FF"/>
                </a:solidFill>
                <a:latin typeface="Arial" panose="020B0604020202020204" pitchFamily="34" charset="0"/>
                <a:cs typeface="Arial" panose="020B0604020202020204" pitchFamily="34" charset="0"/>
              </a:rPr>
              <a:t>		System.out.println("print() method executed ");</a:t>
            </a:r>
          </a:p>
          <a:p>
            <a:pPr algn="just"/>
            <a:r>
              <a:rPr lang="en-US" sz="2400" dirty="0">
                <a:solidFill>
                  <a:srgbClr val="0000FF"/>
                </a:solidFill>
                <a:latin typeface="Arial" panose="020B0604020202020204" pitchFamily="34" charset="0"/>
                <a:cs typeface="Arial" panose="020B0604020202020204" pitchFamily="34" charset="0"/>
              </a:rPr>
              <a:t>	}</a:t>
            </a:r>
          </a:p>
          <a:p>
            <a:pPr algn="just"/>
            <a:r>
              <a:rPr lang="en-US" sz="2400" dirty="0">
                <a:solidFill>
                  <a:srgbClr val="0000FF"/>
                </a:solidFill>
                <a:latin typeface="Arial" panose="020B0604020202020204" pitchFamily="34" charset="0"/>
                <a:cs typeface="Arial" panose="020B0604020202020204" pitchFamily="34" charset="0"/>
              </a:rPr>
              <a:t>  </a:t>
            </a:r>
          </a:p>
          <a:p>
            <a:pPr algn="just"/>
            <a:r>
              <a:rPr lang="en-US" sz="24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7AFEE38E-3CDC-64EE-E269-25CF15BF66A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566985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424072" y="709577"/>
            <a:ext cx="8029719" cy="4708981"/>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 to call generate() simultaneously write one Thread sub class</a:t>
            </a:r>
          </a:p>
          <a:p>
            <a:pPr algn="just"/>
            <a:r>
              <a:rPr lang="en-US" sz="2000" b="1" dirty="0">
                <a:solidFill>
                  <a:srgbClr val="0000FF"/>
                </a:solidFill>
                <a:latin typeface="Arial" panose="020B0604020202020204" pitchFamily="34" charset="0"/>
                <a:cs typeface="Arial" panose="020B0604020202020204" pitchFamily="34" charset="0"/>
              </a:rPr>
              <a:t>// GenerateThread.java</a:t>
            </a:r>
          </a:p>
          <a:p>
            <a:pPr algn="just"/>
            <a:r>
              <a:rPr lang="en-US" sz="2000" dirty="0">
                <a:solidFill>
                  <a:srgbClr val="0000FF"/>
                </a:solidFill>
                <a:latin typeface="Arial" panose="020B0604020202020204" pitchFamily="34" charset="0"/>
                <a:cs typeface="Arial" panose="020B0604020202020204" pitchFamily="34" charset="0"/>
              </a:rPr>
              <a:t>public class </a:t>
            </a:r>
            <a:r>
              <a:rPr lang="en-US" sz="2000" dirty="0" err="1">
                <a:solidFill>
                  <a:srgbClr val="0000FF"/>
                </a:solidFill>
                <a:latin typeface="Arial" panose="020B0604020202020204" pitchFamily="34" charset="0"/>
                <a:cs typeface="Arial" panose="020B0604020202020204" pitchFamily="34" charset="0"/>
              </a:rPr>
              <a:t>GenerateThread</a:t>
            </a:r>
            <a:r>
              <a:rPr lang="en-US" sz="2000" dirty="0">
                <a:solidFill>
                  <a:srgbClr val="0000FF"/>
                </a:solidFill>
                <a:latin typeface="Arial" panose="020B0604020202020204" pitchFamily="34" charset="0"/>
                <a:cs typeface="Arial" panose="020B0604020202020204" pitchFamily="34" charset="0"/>
              </a:rPr>
              <a:t> extends Thread {</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NumberGenerator ng;</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a:t>
            </a:r>
            <a:r>
              <a:rPr lang="en-US" sz="2000" dirty="0" err="1">
                <a:solidFill>
                  <a:srgbClr val="0000FF"/>
                </a:solidFill>
                <a:latin typeface="Arial" panose="020B0604020202020204" pitchFamily="34" charset="0"/>
                <a:cs typeface="Arial" panose="020B0604020202020204" pitchFamily="34" charset="0"/>
              </a:rPr>
              <a:t>GenerateThread</a:t>
            </a:r>
            <a:r>
              <a:rPr lang="en-US" sz="2000" dirty="0">
                <a:solidFill>
                  <a:srgbClr val="0000FF"/>
                </a:solidFill>
                <a:latin typeface="Arial" panose="020B0604020202020204" pitchFamily="34" charset="0"/>
                <a:cs typeface="Arial" panose="020B0604020202020204" pitchFamily="34" charset="0"/>
              </a:rPr>
              <a:t>(NumberGenerator ng) {</a:t>
            </a:r>
          </a:p>
          <a:p>
            <a:pPr algn="just"/>
            <a:r>
              <a:rPr lang="en-US" sz="2000" dirty="0">
                <a:solidFill>
                  <a:srgbClr val="0000FF"/>
                </a:solidFill>
                <a:latin typeface="Arial" panose="020B0604020202020204" pitchFamily="34" charset="0"/>
                <a:cs typeface="Arial" panose="020B0604020202020204" pitchFamily="34" charset="0"/>
              </a:rPr>
              <a:t>     this.ng=ng;</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void run() {</a:t>
            </a:r>
          </a:p>
          <a:p>
            <a:pPr algn="just"/>
            <a:r>
              <a:rPr lang="en-US" sz="2000" dirty="0">
                <a:solidFill>
                  <a:srgbClr val="0000FF"/>
                </a:solidFill>
                <a:latin typeface="Arial" panose="020B0604020202020204" pitchFamily="34" charset="0"/>
                <a:cs typeface="Arial" panose="020B0604020202020204" pitchFamily="34" charset="0"/>
              </a:rPr>
              <a:t>     for(int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=0;i&lt;100;i++) {</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ng.generate</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632870CA-FE64-EAC6-750E-7C32E5E30D4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26274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401586" y="742523"/>
            <a:ext cx="8029719" cy="4708981"/>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 to call print() simultaneously write one Thread sub class</a:t>
            </a:r>
          </a:p>
          <a:p>
            <a:pPr algn="just"/>
            <a:r>
              <a:rPr lang="en-US" sz="2000" b="1" dirty="0">
                <a:solidFill>
                  <a:srgbClr val="0000FF"/>
                </a:solidFill>
                <a:latin typeface="Arial" panose="020B0604020202020204" pitchFamily="34" charset="0"/>
                <a:cs typeface="Arial" panose="020B0604020202020204" pitchFamily="34" charset="0"/>
              </a:rPr>
              <a:t>// PrintThread.java</a:t>
            </a:r>
          </a:p>
          <a:p>
            <a:pPr algn="just"/>
            <a:r>
              <a:rPr lang="en-US" sz="2000" dirty="0">
                <a:solidFill>
                  <a:srgbClr val="0000FF"/>
                </a:solidFill>
                <a:latin typeface="Arial" panose="020B0604020202020204" pitchFamily="34" charset="0"/>
                <a:cs typeface="Arial" panose="020B0604020202020204" pitchFamily="34" charset="0"/>
              </a:rPr>
              <a:t>public class </a:t>
            </a:r>
            <a:r>
              <a:rPr lang="en-US" sz="2000" dirty="0" err="1">
                <a:solidFill>
                  <a:srgbClr val="0000FF"/>
                </a:solidFill>
                <a:latin typeface="Arial" panose="020B0604020202020204" pitchFamily="34" charset="0"/>
                <a:cs typeface="Arial" panose="020B0604020202020204" pitchFamily="34" charset="0"/>
              </a:rPr>
              <a:t>PrintThread</a:t>
            </a:r>
            <a:r>
              <a:rPr lang="en-US" sz="2000" dirty="0">
                <a:solidFill>
                  <a:srgbClr val="0000FF"/>
                </a:solidFill>
                <a:latin typeface="Arial" panose="020B0604020202020204" pitchFamily="34" charset="0"/>
                <a:cs typeface="Arial" panose="020B0604020202020204" pitchFamily="34" charset="0"/>
              </a:rPr>
              <a:t> extends Thread {</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NumberGenerator ng;</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a:t>
            </a:r>
            <a:r>
              <a:rPr lang="en-US" sz="2000" dirty="0" err="1">
                <a:solidFill>
                  <a:srgbClr val="0000FF"/>
                </a:solidFill>
                <a:latin typeface="Arial" panose="020B0604020202020204" pitchFamily="34" charset="0"/>
                <a:cs typeface="Arial" panose="020B0604020202020204" pitchFamily="34" charset="0"/>
              </a:rPr>
              <a:t>PrintThread</a:t>
            </a:r>
            <a:r>
              <a:rPr lang="en-US" sz="2000" dirty="0">
                <a:solidFill>
                  <a:srgbClr val="0000FF"/>
                </a:solidFill>
                <a:latin typeface="Arial" panose="020B0604020202020204" pitchFamily="34" charset="0"/>
                <a:cs typeface="Arial" panose="020B0604020202020204" pitchFamily="34" charset="0"/>
              </a:rPr>
              <a:t>(NumberGenerator ng) {</a:t>
            </a:r>
          </a:p>
          <a:p>
            <a:pPr algn="just"/>
            <a:r>
              <a:rPr lang="en-US" sz="2000" dirty="0">
                <a:solidFill>
                  <a:srgbClr val="0000FF"/>
                </a:solidFill>
                <a:latin typeface="Arial" panose="020B0604020202020204" pitchFamily="34" charset="0"/>
                <a:cs typeface="Arial" panose="020B0604020202020204" pitchFamily="34" charset="0"/>
              </a:rPr>
              <a:t>     this.ng=ng;</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void run() {</a:t>
            </a:r>
          </a:p>
          <a:p>
            <a:pPr algn="just"/>
            <a:r>
              <a:rPr lang="en-US" sz="2000" dirty="0">
                <a:solidFill>
                  <a:srgbClr val="0000FF"/>
                </a:solidFill>
                <a:latin typeface="Arial" panose="020B0604020202020204" pitchFamily="34" charset="0"/>
                <a:cs typeface="Arial" panose="020B0604020202020204" pitchFamily="34" charset="0"/>
              </a:rPr>
              <a:t>     for(int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=0;i&lt;100;i++) {</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ng.print</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6E65A921-C049-92E9-A7B5-7B6EBF16B01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72274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401586" y="742523"/>
            <a:ext cx="8634838" cy="4708981"/>
          </a:xfrm>
          <a:prstGeom prst="rect">
            <a:avLst/>
          </a:prstGeom>
          <a:noFill/>
        </p:spPr>
        <p:txBody>
          <a:bodyPr wrap="square" rtlCol="0">
            <a:spAutoFit/>
          </a:bodyPr>
          <a:lstStyle/>
          <a:p>
            <a:pPr algn="just"/>
            <a:r>
              <a:rPr lang="en-US" sz="2000" b="1" dirty="0">
                <a:solidFill>
                  <a:srgbClr val="0000FF"/>
                </a:solidFill>
                <a:latin typeface="Arial" panose="020B0604020202020204" pitchFamily="34" charset="0"/>
                <a:cs typeface="Arial" panose="020B0604020202020204" pitchFamily="34" charset="0"/>
              </a:rPr>
              <a:t>// NGTClient.java</a:t>
            </a:r>
          </a:p>
          <a:p>
            <a:pPr algn="just"/>
            <a:r>
              <a:rPr lang="en-US" sz="2000" dirty="0">
                <a:solidFill>
                  <a:srgbClr val="0000FF"/>
                </a:solidFill>
                <a:latin typeface="Arial" panose="020B0604020202020204" pitchFamily="34" charset="0"/>
                <a:cs typeface="Arial" panose="020B0604020202020204" pitchFamily="34" charset="0"/>
              </a:rPr>
              <a:t>public class </a:t>
            </a:r>
            <a:r>
              <a:rPr lang="en-US" sz="2000" dirty="0" err="1">
                <a:solidFill>
                  <a:srgbClr val="0000FF"/>
                </a:solidFill>
                <a:latin typeface="Arial" panose="020B0604020202020204" pitchFamily="34" charset="0"/>
                <a:cs typeface="Arial" panose="020B0604020202020204" pitchFamily="34" charset="0"/>
              </a:rPr>
              <a:t>NGTClient</a:t>
            </a:r>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static void main(String rags[]) throws Exception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NumberGenerator ng=new NumberGenerator();</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GenerateThread</a:t>
            </a:r>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gt</a:t>
            </a:r>
            <a:r>
              <a:rPr lang="en-US" sz="2000" dirty="0">
                <a:solidFill>
                  <a:srgbClr val="0000FF"/>
                </a:solidFill>
                <a:latin typeface="Arial" panose="020B0604020202020204" pitchFamily="34" charset="0"/>
                <a:cs typeface="Arial" panose="020B0604020202020204" pitchFamily="34" charset="0"/>
              </a:rPr>
              <a:t>=new </a:t>
            </a:r>
            <a:r>
              <a:rPr lang="en-US" sz="2000" dirty="0" err="1">
                <a:solidFill>
                  <a:srgbClr val="0000FF"/>
                </a:solidFill>
                <a:latin typeface="Arial" panose="020B0604020202020204" pitchFamily="34" charset="0"/>
                <a:cs typeface="Arial" panose="020B0604020202020204" pitchFamily="34" charset="0"/>
              </a:rPr>
              <a:t>GenerateThread</a:t>
            </a:r>
            <a:r>
              <a:rPr lang="en-US" sz="2000" dirty="0">
                <a:solidFill>
                  <a:srgbClr val="0000FF"/>
                </a:solidFill>
                <a:latin typeface="Arial" panose="020B0604020202020204" pitchFamily="34" charset="0"/>
                <a:cs typeface="Arial" panose="020B0604020202020204" pitchFamily="34" charset="0"/>
              </a:rPr>
              <a:t>(ng);</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PrintThread</a:t>
            </a:r>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pt</a:t>
            </a:r>
            <a:r>
              <a:rPr lang="en-US" sz="2000" dirty="0">
                <a:solidFill>
                  <a:srgbClr val="0000FF"/>
                </a:solidFill>
                <a:latin typeface="Arial" panose="020B0604020202020204" pitchFamily="34" charset="0"/>
                <a:cs typeface="Arial" panose="020B0604020202020204" pitchFamily="34" charset="0"/>
              </a:rPr>
              <a:t>=new </a:t>
            </a:r>
            <a:r>
              <a:rPr lang="en-US" sz="2000" dirty="0" err="1">
                <a:solidFill>
                  <a:srgbClr val="0000FF"/>
                </a:solidFill>
                <a:latin typeface="Arial" panose="020B0604020202020204" pitchFamily="34" charset="0"/>
                <a:cs typeface="Arial" panose="020B0604020202020204" pitchFamily="34" charset="0"/>
              </a:rPr>
              <a:t>PrintThread</a:t>
            </a:r>
            <a:r>
              <a:rPr lang="en-US" sz="2000" dirty="0">
                <a:solidFill>
                  <a:srgbClr val="0000FF"/>
                </a:solidFill>
                <a:latin typeface="Arial" panose="020B0604020202020204" pitchFamily="34" charset="0"/>
                <a:cs typeface="Arial" panose="020B0604020202020204" pitchFamily="34" charset="0"/>
              </a:rPr>
              <a:t>(ng);</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gt.start</a:t>
            </a:r>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 threads are registered in thread scheduler and from Thread Scheduler the threads are called concurrently by calling run() method</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pt.start</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C283C137-5626-E24A-628B-B14885472F6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88921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401585" y="742523"/>
            <a:ext cx="8753399" cy="4708981"/>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The limitation of extending from Thread class is if we extend user defined Thread class from Thread, we cannot inherit from any other classes. But while doing project Thread implementation classes are not act as end user applications, instead we will develop n/w based applications or standalone desktop GUI applications using Swings. In Swings or n/w applications to run simultaneous tasks we will use multithreading, hence if we extend our class from Thread we will loose the chance of </a:t>
            </a:r>
            <a:r>
              <a:rPr lang="en-US" sz="2000" dirty="0" err="1">
                <a:solidFill>
                  <a:srgbClr val="0000FF"/>
                </a:solidFill>
                <a:latin typeface="Arial" panose="020B0604020202020204" pitchFamily="34" charset="0"/>
                <a:cs typeface="Arial" panose="020B0604020202020204" pitchFamily="34" charset="0"/>
              </a:rPr>
              <a:t>JFrame</a:t>
            </a:r>
            <a:r>
              <a:rPr lang="en-US" sz="2000" dirty="0">
                <a:solidFill>
                  <a:srgbClr val="0000FF"/>
                </a:solidFill>
                <a:latin typeface="Arial" panose="020B0604020202020204" pitchFamily="34" charset="0"/>
                <a:cs typeface="Arial" panose="020B0604020202020204" pitchFamily="34" charset="0"/>
              </a:rPr>
              <a:t> or </a:t>
            </a:r>
            <a:r>
              <a:rPr lang="en-US" sz="2000" dirty="0" err="1">
                <a:solidFill>
                  <a:srgbClr val="0000FF"/>
                </a:solidFill>
                <a:latin typeface="Arial" panose="020B0604020202020204" pitchFamily="34" charset="0"/>
                <a:cs typeface="Arial" panose="020B0604020202020204" pitchFamily="34" charset="0"/>
              </a:rPr>
              <a:t>JPanel</a:t>
            </a:r>
            <a:r>
              <a:rPr lang="en-US" sz="2000" dirty="0">
                <a:solidFill>
                  <a:srgbClr val="0000FF"/>
                </a:solidFill>
                <a:latin typeface="Arial" panose="020B0604020202020204" pitchFamily="34" charset="0"/>
                <a:cs typeface="Arial" panose="020B0604020202020204" pitchFamily="34" charset="0"/>
              </a:rPr>
              <a:t> classes.</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Hence user defined threads are always recommended to implement from Runnable interface, implement its abstract method public void run(), in order to run in the client program we must create object of Runnable sub class, pass that object as </a:t>
            </a:r>
            <a:r>
              <a:rPr lang="en-US" sz="2000" dirty="0" err="1">
                <a:solidFill>
                  <a:srgbClr val="0000FF"/>
                </a:solidFill>
                <a:latin typeface="Arial" panose="020B0604020202020204" pitchFamily="34" charset="0"/>
                <a:cs typeface="Arial" panose="020B0604020202020204" pitchFamily="34" charset="0"/>
              </a:rPr>
              <a:t>agument</a:t>
            </a:r>
            <a:r>
              <a:rPr lang="en-US" sz="2000" dirty="0">
                <a:solidFill>
                  <a:srgbClr val="0000FF"/>
                </a:solidFill>
                <a:latin typeface="Arial" panose="020B0604020202020204" pitchFamily="34" charset="0"/>
                <a:cs typeface="Arial" panose="020B0604020202020204" pitchFamily="34" charset="0"/>
              </a:rPr>
              <a:t> into Thread class constructor, create Thread class object and invoke start method() on thread object. The Runnable object will be included in the thread scheduler, runs simultaneously along with other threads.</a:t>
            </a:r>
          </a:p>
        </p:txBody>
      </p:sp>
      <p:sp>
        <p:nvSpPr>
          <p:cNvPr id="3" name="Footer Placeholder 2">
            <a:extLst>
              <a:ext uri="{FF2B5EF4-FFF2-40B4-BE49-F238E27FC236}">
                <a16:creationId xmlns:a16="http://schemas.microsoft.com/office/drawing/2014/main" id="{750053D0-C9C3-A8D0-7FB5-2DDDD02BA66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614860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2833397" y="2303613"/>
            <a:ext cx="3889778" cy="1323439"/>
          </a:xfrm>
          <a:prstGeom prst="rect">
            <a:avLst/>
          </a:prstGeom>
          <a:noFill/>
        </p:spPr>
        <p:txBody>
          <a:bodyPr wrap="square" rtlCol="0">
            <a:spAutoFit/>
          </a:bodyPr>
          <a:lstStyle/>
          <a:p>
            <a:pPr algn="ctr"/>
            <a:r>
              <a:rPr lang="en-US" sz="4000" b="1" dirty="0">
                <a:solidFill>
                  <a:srgbClr val="003F66"/>
                </a:solidFill>
                <a:latin typeface="Arial" panose="020B0604020202020204" pitchFamily="34" charset="0"/>
                <a:cs typeface="Arial" panose="020B0604020202020204" pitchFamily="34" charset="0"/>
              </a:rPr>
              <a:t>Threads</a:t>
            </a:r>
          </a:p>
          <a:p>
            <a:pPr algn="ctr"/>
            <a:r>
              <a:rPr lang="en-US" sz="4000" b="1" dirty="0">
                <a:solidFill>
                  <a:srgbClr val="003F66"/>
                </a:solidFill>
                <a:latin typeface="Arial" panose="020B0604020202020204" pitchFamily="34" charset="0"/>
                <a:cs typeface="Arial" panose="020B0604020202020204" pitchFamily="34" charset="0"/>
              </a:rPr>
              <a:t>Part - II</a:t>
            </a:r>
          </a:p>
        </p:txBody>
      </p:sp>
      <p:sp>
        <p:nvSpPr>
          <p:cNvPr id="3" name="Footer Placeholder 2">
            <a:extLst>
              <a:ext uri="{FF2B5EF4-FFF2-40B4-BE49-F238E27FC236}">
                <a16:creationId xmlns:a16="http://schemas.microsoft.com/office/drawing/2014/main" id="{93099862-ADD9-AD12-391E-DB071DA8866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85844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292257" y="2247620"/>
            <a:ext cx="8753399" cy="1015663"/>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public class Thread extends Object implements Runnable {}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507B37AE-CCA4-BCC5-A2A4-278456075BC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60192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292257" y="781893"/>
            <a:ext cx="8753399" cy="5632311"/>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Why we need to implement from Runnable interface instead of extending from Thread class?</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Because java supports only multi-level inheritance but not multiple inheritance. To implement Thread if class extends from Thread, the same class cannot extend from one more super class. That means the thread sub class becomes functionality of only Thread class. It cannot be a functionality of any other classes like GUI programming, Web Programming etc. </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The most important point is in any language multi-threading is a secondary requirement but not primary requirement.</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So to implement primary requirement our class may need to extend from some more super classes, with that extension we want implement multi-threading also.</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Hence a class must always implement thread functionality by not extending from Thread super class.</a:t>
            </a:r>
          </a:p>
        </p:txBody>
      </p:sp>
      <p:sp>
        <p:nvSpPr>
          <p:cNvPr id="3" name="Footer Placeholder 2">
            <a:extLst>
              <a:ext uri="{FF2B5EF4-FFF2-40B4-BE49-F238E27FC236}">
                <a16:creationId xmlns:a16="http://schemas.microsoft.com/office/drawing/2014/main" id="{AEB4E3C2-7E02-AD3C-D1EF-406228CE437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763407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id="{86816F5F-9652-4926-B0A3-4399ADF0FAD5}"/>
              </a:ext>
            </a:extLst>
          </p:cNvPr>
          <p:cNvSpPr txBox="1"/>
          <p:nvPr/>
        </p:nvSpPr>
        <p:spPr>
          <a:xfrm>
            <a:off x="292257" y="781893"/>
            <a:ext cx="8753399" cy="707886"/>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How?</a:t>
            </a:r>
          </a:p>
          <a:p>
            <a:pPr algn="just"/>
            <a:r>
              <a:rPr lang="en-US" sz="2000" dirty="0">
                <a:solidFill>
                  <a:srgbClr val="0000FF"/>
                </a:solidFill>
                <a:latin typeface="Arial" panose="020B0604020202020204" pitchFamily="34" charset="0"/>
                <a:cs typeface="Arial" panose="020B0604020202020204" pitchFamily="34" charset="0"/>
              </a:rPr>
              <a:t>by implementing from Runnable super interface</a:t>
            </a:r>
          </a:p>
        </p:txBody>
      </p:sp>
      <p:sp>
        <p:nvSpPr>
          <p:cNvPr id="14" name="TextBox 13">
            <a:extLst>
              <a:ext uri="{FF2B5EF4-FFF2-40B4-BE49-F238E27FC236}">
                <a16:creationId xmlns:a16="http://schemas.microsoft.com/office/drawing/2014/main" id="{C4AACD6E-760A-2F24-6A16-1F8D765E22A8}"/>
              </a:ext>
            </a:extLst>
          </p:cNvPr>
          <p:cNvSpPr txBox="1"/>
          <p:nvPr/>
        </p:nvSpPr>
        <p:spPr>
          <a:xfrm>
            <a:off x="388338" y="1489779"/>
            <a:ext cx="8840242" cy="3970318"/>
          </a:xfrm>
          <a:prstGeom prst="rect">
            <a:avLst/>
          </a:prstGeom>
          <a:noFill/>
        </p:spPr>
        <p:txBody>
          <a:bodyPr wrap="square" rtlCol="0">
            <a:spAutoFit/>
          </a:bodyPr>
          <a:lstStyle/>
          <a:p>
            <a:pPr algn="just"/>
            <a:r>
              <a:rPr lang="en-US" u="sng" dirty="0">
                <a:solidFill>
                  <a:srgbClr val="0000FF"/>
                </a:solidFill>
                <a:latin typeface="Arial" panose="020B0604020202020204" pitchFamily="34" charset="0"/>
                <a:cs typeface="Arial" panose="020B0604020202020204" pitchFamily="34" charset="0"/>
              </a:rPr>
              <a:t>Following is an example on extending from Thread class</a:t>
            </a:r>
          </a:p>
          <a:p>
            <a:pPr algn="just"/>
            <a:endParaRPr lang="en-US" dirty="0">
              <a:solidFill>
                <a:srgbClr val="0000FF"/>
              </a:solidFill>
              <a:latin typeface="Arial" panose="020B0604020202020204" pitchFamily="34" charset="0"/>
              <a:cs typeface="Arial" panose="020B0604020202020204" pitchFamily="34" charset="0"/>
            </a:endParaRPr>
          </a:p>
          <a:p>
            <a:pPr algn="just"/>
            <a:r>
              <a:rPr lang="en-US" dirty="0">
                <a:solidFill>
                  <a:srgbClr val="0000FF"/>
                </a:solidFill>
                <a:latin typeface="Arial" panose="020B0604020202020204" pitchFamily="34" charset="0"/>
                <a:cs typeface="Arial" panose="020B0604020202020204" pitchFamily="34" charset="0"/>
              </a:rPr>
              <a:t>// NumberGenerator.java</a:t>
            </a:r>
          </a:p>
          <a:p>
            <a:pPr algn="just"/>
            <a:r>
              <a:rPr lang="en-US" dirty="0">
                <a:solidFill>
                  <a:srgbClr val="0000FF"/>
                </a:solidFill>
                <a:latin typeface="Arial" panose="020B0604020202020204" pitchFamily="34" charset="0"/>
                <a:cs typeface="Arial" panose="020B0604020202020204" pitchFamily="34" charset="0"/>
              </a:rPr>
              <a:t>public class NumberGenerator {</a:t>
            </a:r>
          </a:p>
          <a:p>
            <a:pPr algn="just"/>
            <a:endParaRPr lang="en-US" dirty="0">
              <a:solidFill>
                <a:srgbClr val="0000FF"/>
              </a:solidFill>
              <a:latin typeface="Arial" panose="020B0604020202020204" pitchFamily="34" charset="0"/>
              <a:cs typeface="Arial" panose="020B0604020202020204" pitchFamily="34" charset="0"/>
            </a:endParaRPr>
          </a:p>
          <a:p>
            <a:pPr algn="just"/>
            <a:r>
              <a:rPr lang="en-US" dirty="0">
                <a:solidFill>
                  <a:srgbClr val="0000FF"/>
                </a:solidFill>
                <a:latin typeface="Arial" panose="020B0604020202020204" pitchFamily="34" charset="0"/>
                <a:cs typeface="Arial" panose="020B0604020202020204" pitchFamily="34" charset="0"/>
              </a:rPr>
              <a:t>	public void generate() {</a:t>
            </a:r>
          </a:p>
          <a:p>
            <a:pPr algn="just"/>
            <a:r>
              <a:rPr lang="en-US" dirty="0">
                <a:solidFill>
                  <a:srgbClr val="0000FF"/>
                </a:solidFill>
                <a:latin typeface="Arial" panose="020B0604020202020204" pitchFamily="34" charset="0"/>
                <a:cs typeface="Arial" panose="020B0604020202020204" pitchFamily="34" charset="0"/>
              </a:rPr>
              <a:t>		System.out.println("generate() method executed");</a:t>
            </a:r>
          </a:p>
          <a:p>
            <a:pPr algn="just"/>
            <a:r>
              <a:rPr lang="en-US" dirty="0">
                <a:solidFill>
                  <a:srgbClr val="0000FF"/>
                </a:solidFill>
                <a:latin typeface="Arial" panose="020B0604020202020204" pitchFamily="34" charset="0"/>
                <a:cs typeface="Arial" panose="020B0604020202020204" pitchFamily="34" charset="0"/>
              </a:rPr>
              <a:t>	}</a:t>
            </a:r>
          </a:p>
          <a:p>
            <a:pPr algn="just"/>
            <a:r>
              <a:rPr lang="en-US" dirty="0">
                <a:solidFill>
                  <a:srgbClr val="0000FF"/>
                </a:solidFill>
                <a:latin typeface="Arial" panose="020B0604020202020204" pitchFamily="34" charset="0"/>
                <a:cs typeface="Arial" panose="020B0604020202020204" pitchFamily="34" charset="0"/>
              </a:rPr>
              <a:t>  </a:t>
            </a:r>
          </a:p>
          <a:p>
            <a:pPr algn="just"/>
            <a:r>
              <a:rPr lang="en-US" dirty="0">
                <a:solidFill>
                  <a:srgbClr val="0000FF"/>
                </a:solidFill>
                <a:latin typeface="Arial" panose="020B0604020202020204" pitchFamily="34" charset="0"/>
                <a:cs typeface="Arial" panose="020B0604020202020204" pitchFamily="34" charset="0"/>
              </a:rPr>
              <a:t>	public void print() {</a:t>
            </a:r>
          </a:p>
          <a:p>
            <a:pPr algn="just"/>
            <a:r>
              <a:rPr lang="en-US" dirty="0">
                <a:solidFill>
                  <a:srgbClr val="0000FF"/>
                </a:solidFill>
                <a:latin typeface="Arial" panose="020B0604020202020204" pitchFamily="34" charset="0"/>
                <a:cs typeface="Arial" panose="020B0604020202020204" pitchFamily="34" charset="0"/>
              </a:rPr>
              <a:t>		System.out.println("print() method executed ");</a:t>
            </a:r>
          </a:p>
          <a:p>
            <a:pPr algn="just"/>
            <a:r>
              <a:rPr lang="en-US" dirty="0">
                <a:solidFill>
                  <a:srgbClr val="0000FF"/>
                </a:solidFill>
                <a:latin typeface="Arial" panose="020B0604020202020204" pitchFamily="34" charset="0"/>
                <a:cs typeface="Arial" panose="020B0604020202020204" pitchFamily="34" charset="0"/>
              </a:rPr>
              <a:t>	}</a:t>
            </a:r>
          </a:p>
          <a:p>
            <a:pPr algn="just"/>
            <a:r>
              <a:rPr lang="en-US" dirty="0">
                <a:solidFill>
                  <a:srgbClr val="0000FF"/>
                </a:solidFill>
                <a:latin typeface="Arial" panose="020B0604020202020204" pitchFamily="34" charset="0"/>
                <a:cs typeface="Arial" panose="020B0604020202020204" pitchFamily="34" charset="0"/>
              </a:rPr>
              <a:t>  </a:t>
            </a:r>
          </a:p>
          <a:p>
            <a:pPr algn="just"/>
            <a:r>
              <a:rPr lang="en-US"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672D6E44-E1D2-9367-DED6-643703A6B76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87411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16CCA6D4-98BA-3664-1DE1-076BC0B1E552}"/>
              </a:ext>
            </a:extLst>
          </p:cNvPr>
          <p:cNvSpPr txBox="1"/>
          <p:nvPr/>
        </p:nvSpPr>
        <p:spPr>
          <a:xfrm>
            <a:off x="518202" y="960784"/>
            <a:ext cx="8029719" cy="4708981"/>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 to call generate() simultaneously write one Runnable sub class</a:t>
            </a:r>
          </a:p>
          <a:p>
            <a:pPr algn="just"/>
            <a:r>
              <a:rPr lang="en-US" sz="2000" b="1" dirty="0">
                <a:solidFill>
                  <a:srgbClr val="0000FF"/>
                </a:solidFill>
                <a:latin typeface="Arial" panose="020B0604020202020204" pitchFamily="34" charset="0"/>
                <a:cs typeface="Arial" panose="020B0604020202020204" pitchFamily="34" charset="0"/>
              </a:rPr>
              <a:t>// GenerateRunnable.java</a:t>
            </a:r>
          </a:p>
          <a:p>
            <a:pPr algn="just"/>
            <a:r>
              <a:rPr lang="en-US" sz="2000" dirty="0">
                <a:solidFill>
                  <a:srgbClr val="0000FF"/>
                </a:solidFill>
                <a:latin typeface="Arial" panose="020B0604020202020204" pitchFamily="34" charset="0"/>
                <a:cs typeface="Arial" panose="020B0604020202020204" pitchFamily="34" charset="0"/>
              </a:rPr>
              <a:t>public class </a:t>
            </a:r>
            <a:r>
              <a:rPr lang="en-US" sz="2000" dirty="0" err="1">
                <a:solidFill>
                  <a:srgbClr val="0000FF"/>
                </a:solidFill>
                <a:latin typeface="Arial" panose="020B0604020202020204" pitchFamily="34" charset="0"/>
                <a:cs typeface="Arial" panose="020B0604020202020204" pitchFamily="34" charset="0"/>
              </a:rPr>
              <a:t>GenerateRunnable</a:t>
            </a:r>
            <a:r>
              <a:rPr lang="en-US" sz="2000" dirty="0">
                <a:solidFill>
                  <a:srgbClr val="0000FF"/>
                </a:solidFill>
                <a:latin typeface="Arial" panose="020B0604020202020204" pitchFamily="34" charset="0"/>
                <a:cs typeface="Arial" panose="020B0604020202020204" pitchFamily="34" charset="0"/>
              </a:rPr>
              <a:t> implements Runnable {</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NumberGenerator ng;</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a:t>
            </a:r>
            <a:r>
              <a:rPr lang="en-US" sz="2000" dirty="0" err="1">
                <a:solidFill>
                  <a:srgbClr val="0000FF"/>
                </a:solidFill>
                <a:latin typeface="Arial" panose="020B0604020202020204" pitchFamily="34" charset="0"/>
                <a:cs typeface="Arial" panose="020B0604020202020204" pitchFamily="34" charset="0"/>
              </a:rPr>
              <a:t>GenerateRunnable</a:t>
            </a:r>
            <a:r>
              <a:rPr lang="en-US" sz="2000" dirty="0">
                <a:solidFill>
                  <a:srgbClr val="0000FF"/>
                </a:solidFill>
                <a:latin typeface="Arial" panose="020B0604020202020204" pitchFamily="34" charset="0"/>
                <a:cs typeface="Arial" panose="020B0604020202020204" pitchFamily="34" charset="0"/>
              </a:rPr>
              <a:t>(NumberGenerator ng) {</a:t>
            </a:r>
          </a:p>
          <a:p>
            <a:pPr algn="just"/>
            <a:r>
              <a:rPr lang="en-US" sz="2000" dirty="0">
                <a:solidFill>
                  <a:srgbClr val="0000FF"/>
                </a:solidFill>
                <a:latin typeface="Arial" panose="020B0604020202020204" pitchFamily="34" charset="0"/>
                <a:cs typeface="Arial" panose="020B0604020202020204" pitchFamily="34" charset="0"/>
              </a:rPr>
              <a:t>     this.ng=ng;</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void run() {</a:t>
            </a:r>
          </a:p>
          <a:p>
            <a:pPr algn="just"/>
            <a:r>
              <a:rPr lang="en-US" sz="2000" dirty="0">
                <a:solidFill>
                  <a:srgbClr val="0000FF"/>
                </a:solidFill>
                <a:latin typeface="Arial" panose="020B0604020202020204" pitchFamily="34" charset="0"/>
                <a:cs typeface="Arial" panose="020B0604020202020204" pitchFamily="34" charset="0"/>
              </a:rPr>
              <a:t>     for(int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=0;i&lt;100;i++) {</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ng.generate</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35E2FC68-8736-E593-D8CF-4846C962BEA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39287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16CCA6D4-98BA-3664-1DE1-076BC0B1E552}"/>
              </a:ext>
            </a:extLst>
          </p:cNvPr>
          <p:cNvSpPr txBox="1"/>
          <p:nvPr/>
        </p:nvSpPr>
        <p:spPr>
          <a:xfrm>
            <a:off x="518202" y="974231"/>
            <a:ext cx="8029719" cy="4708981"/>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 to call print() simultaneously write one Runnable sub class</a:t>
            </a:r>
          </a:p>
          <a:p>
            <a:pPr algn="just"/>
            <a:r>
              <a:rPr lang="en-US" sz="2000" b="1" dirty="0">
                <a:solidFill>
                  <a:srgbClr val="0000FF"/>
                </a:solidFill>
                <a:latin typeface="Arial" panose="020B0604020202020204" pitchFamily="34" charset="0"/>
                <a:cs typeface="Arial" panose="020B0604020202020204" pitchFamily="34" charset="0"/>
              </a:rPr>
              <a:t>// PrintRunnable.java</a:t>
            </a:r>
          </a:p>
          <a:p>
            <a:pPr algn="just"/>
            <a:r>
              <a:rPr lang="en-US" sz="2000" dirty="0">
                <a:solidFill>
                  <a:srgbClr val="0000FF"/>
                </a:solidFill>
                <a:latin typeface="Arial" panose="020B0604020202020204" pitchFamily="34" charset="0"/>
                <a:cs typeface="Arial" panose="020B0604020202020204" pitchFamily="34" charset="0"/>
              </a:rPr>
              <a:t>public class </a:t>
            </a:r>
            <a:r>
              <a:rPr lang="en-US" sz="2000" dirty="0" err="1">
                <a:solidFill>
                  <a:srgbClr val="0000FF"/>
                </a:solidFill>
                <a:latin typeface="Arial" panose="020B0604020202020204" pitchFamily="34" charset="0"/>
                <a:cs typeface="Arial" panose="020B0604020202020204" pitchFamily="34" charset="0"/>
              </a:rPr>
              <a:t>PrintRunnable</a:t>
            </a:r>
            <a:r>
              <a:rPr lang="en-US" sz="2000" dirty="0">
                <a:solidFill>
                  <a:srgbClr val="0000FF"/>
                </a:solidFill>
                <a:latin typeface="Arial" panose="020B0604020202020204" pitchFamily="34" charset="0"/>
                <a:cs typeface="Arial" panose="020B0604020202020204" pitchFamily="34" charset="0"/>
              </a:rPr>
              <a:t> implements Runnable {</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   NumberGenerator ng;</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a:t>
            </a:r>
            <a:r>
              <a:rPr lang="en-US" sz="2000" dirty="0" err="1">
                <a:solidFill>
                  <a:srgbClr val="0000FF"/>
                </a:solidFill>
                <a:latin typeface="Arial" panose="020B0604020202020204" pitchFamily="34" charset="0"/>
                <a:cs typeface="Arial" panose="020B0604020202020204" pitchFamily="34" charset="0"/>
              </a:rPr>
              <a:t>PrintRunnable</a:t>
            </a:r>
            <a:r>
              <a:rPr lang="en-US" sz="2000" dirty="0">
                <a:solidFill>
                  <a:srgbClr val="0000FF"/>
                </a:solidFill>
                <a:latin typeface="Arial" panose="020B0604020202020204" pitchFamily="34" charset="0"/>
                <a:cs typeface="Arial" panose="020B0604020202020204" pitchFamily="34" charset="0"/>
              </a:rPr>
              <a:t>(NumberGenerator ng) {</a:t>
            </a:r>
          </a:p>
          <a:p>
            <a:pPr algn="just"/>
            <a:r>
              <a:rPr lang="en-US" sz="2000" dirty="0">
                <a:solidFill>
                  <a:srgbClr val="0000FF"/>
                </a:solidFill>
                <a:latin typeface="Arial" panose="020B0604020202020204" pitchFamily="34" charset="0"/>
                <a:cs typeface="Arial" panose="020B0604020202020204" pitchFamily="34" charset="0"/>
              </a:rPr>
              <a:t>     this.ng=ng;</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void run() {</a:t>
            </a:r>
          </a:p>
          <a:p>
            <a:pPr algn="just"/>
            <a:r>
              <a:rPr lang="en-US" sz="2000" dirty="0">
                <a:solidFill>
                  <a:srgbClr val="0000FF"/>
                </a:solidFill>
                <a:latin typeface="Arial" panose="020B0604020202020204" pitchFamily="34" charset="0"/>
                <a:cs typeface="Arial" panose="020B0604020202020204" pitchFamily="34" charset="0"/>
              </a:rPr>
              <a:t>     for(int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=0;i&lt;100;i++) {</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ng.print</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C98CD1E8-526F-4D48-1558-0E8B8496EF2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66202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4" name="TextBox 13">
            <a:extLst>
              <a:ext uri="{FF2B5EF4-FFF2-40B4-BE49-F238E27FC236}">
                <a16:creationId xmlns:a16="http://schemas.microsoft.com/office/drawing/2014/main" id="{EA00E998-336A-BF3A-F783-B379C9E6E594}"/>
              </a:ext>
            </a:extLst>
          </p:cNvPr>
          <p:cNvSpPr txBox="1"/>
          <p:nvPr/>
        </p:nvSpPr>
        <p:spPr>
          <a:xfrm>
            <a:off x="401586" y="782864"/>
            <a:ext cx="8634838" cy="5016758"/>
          </a:xfrm>
          <a:prstGeom prst="rect">
            <a:avLst/>
          </a:prstGeom>
          <a:noFill/>
        </p:spPr>
        <p:txBody>
          <a:bodyPr wrap="square" rtlCol="0">
            <a:spAutoFit/>
          </a:bodyPr>
          <a:lstStyle/>
          <a:p>
            <a:pPr algn="just"/>
            <a:r>
              <a:rPr lang="en-US" sz="2000" b="1" dirty="0">
                <a:solidFill>
                  <a:srgbClr val="0000FF"/>
                </a:solidFill>
                <a:latin typeface="Arial" panose="020B0604020202020204" pitchFamily="34" charset="0"/>
                <a:cs typeface="Arial" panose="020B0604020202020204" pitchFamily="34" charset="0"/>
              </a:rPr>
              <a:t>// NGRClient.java</a:t>
            </a:r>
          </a:p>
          <a:p>
            <a:pPr algn="just"/>
            <a:r>
              <a:rPr lang="en-US" sz="2000" dirty="0">
                <a:solidFill>
                  <a:srgbClr val="0000FF"/>
                </a:solidFill>
                <a:latin typeface="Arial" panose="020B0604020202020204" pitchFamily="34" charset="0"/>
                <a:cs typeface="Arial" panose="020B0604020202020204" pitchFamily="34" charset="0"/>
              </a:rPr>
              <a:t>public class </a:t>
            </a:r>
            <a:r>
              <a:rPr lang="en-US" sz="2000" dirty="0" err="1">
                <a:solidFill>
                  <a:srgbClr val="0000FF"/>
                </a:solidFill>
                <a:latin typeface="Arial" panose="020B0604020202020204" pitchFamily="34" charset="0"/>
                <a:cs typeface="Arial" panose="020B0604020202020204" pitchFamily="34" charset="0"/>
              </a:rPr>
              <a:t>NGRClient</a:t>
            </a:r>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static void main(String rags[]) throws Exception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NumberGenerator ng=new NumberGenerator();</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GenerateRunnable</a:t>
            </a:r>
            <a:r>
              <a:rPr lang="en-US" sz="2000" dirty="0">
                <a:solidFill>
                  <a:srgbClr val="0000FF"/>
                </a:solidFill>
                <a:latin typeface="Arial" panose="020B0604020202020204" pitchFamily="34" charset="0"/>
                <a:cs typeface="Arial" panose="020B0604020202020204" pitchFamily="34" charset="0"/>
              </a:rPr>
              <a:t> gr=new </a:t>
            </a:r>
            <a:r>
              <a:rPr lang="en-US" sz="2000" dirty="0" err="1">
                <a:solidFill>
                  <a:srgbClr val="0000FF"/>
                </a:solidFill>
                <a:latin typeface="Arial" panose="020B0604020202020204" pitchFamily="34" charset="0"/>
                <a:cs typeface="Arial" panose="020B0604020202020204" pitchFamily="34" charset="0"/>
              </a:rPr>
              <a:t>GenerateRunnable</a:t>
            </a:r>
            <a:r>
              <a:rPr lang="en-US" sz="2000" dirty="0">
                <a:solidFill>
                  <a:srgbClr val="0000FF"/>
                </a:solidFill>
                <a:latin typeface="Arial" panose="020B0604020202020204" pitchFamily="34" charset="0"/>
                <a:cs typeface="Arial" panose="020B0604020202020204" pitchFamily="34" charset="0"/>
              </a:rPr>
              <a:t>(ng);</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PrintRunnable</a:t>
            </a:r>
            <a:r>
              <a:rPr lang="en-US" sz="2000" dirty="0">
                <a:solidFill>
                  <a:srgbClr val="0000FF"/>
                </a:solidFill>
                <a:latin typeface="Arial" panose="020B0604020202020204" pitchFamily="34" charset="0"/>
                <a:cs typeface="Arial" panose="020B0604020202020204" pitchFamily="34" charset="0"/>
              </a:rPr>
              <a:t> pr=new </a:t>
            </a:r>
            <a:r>
              <a:rPr lang="en-US" sz="2000" dirty="0" err="1">
                <a:solidFill>
                  <a:srgbClr val="0000FF"/>
                </a:solidFill>
                <a:latin typeface="Arial" panose="020B0604020202020204" pitchFamily="34" charset="0"/>
                <a:cs typeface="Arial" panose="020B0604020202020204" pitchFamily="34" charset="0"/>
              </a:rPr>
              <a:t>PrintRunnable</a:t>
            </a:r>
            <a:r>
              <a:rPr lang="en-US" sz="2000" dirty="0">
                <a:solidFill>
                  <a:srgbClr val="0000FF"/>
                </a:solidFill>
                <a:latin typeface="Arial" panose="020B0604020202020204" pitchFamily="34" charset="0"/>
                <a:cs typeface="Arial" panose="020B0604020202020204" pitchFamily="34" charset="0"/>
              </a:rPr>
              <a:t>(ng);</a:t>
            </a:r>
          </a:p>
          <a:p>
            <a:pPr algn="just"/>
            <a:r>
              <a:rPr lang="en-US" sz="2000" dirty="0">
                <a:solidFill>
                  <a:srgbClr val="0000FF"/>
                </a:solidFill>
                <a:latin typeface="Arial" panose="020B0604020202020204" pitchFamily="34" charset="0"/>
                <a:cs typeface="Arial" panose="020B0604020202020204" pitchFamily="34" charset="0"/>
              </a:rPr>
              <a:t>    Thread t1=new Thread(gr);</a:t>
            </a:r>
          </a:p>
          <a:p>
            <a:pPr algn="just"/>
            <a:r>
              <a:rPr lang="en-US" sz="2000" dirty="0">
                <a:solidFill>
                  <a:srgbClr val="0000FF"/>
                </a:solidFill>
                <a:latin typeface="Arial" panose="020B0604020202020204" pitchFamily="34" charset="0"/>
                <a:cs typeface="Arial" panose="020B0604020202020204" pitchFamily="34" charset="0"/>
              </a:rPr>
              <a:t>    Thread t2=new Thread(pr);</a:t>
            </a:r>
          </a:p>
          <a:p>
            <a:pPr algn="just"/>
            <a:r>
              <a:rPr lang="en-US" sz="2000" dirty="0">
                <a:solidFill>
                  <a:srgbClr val="0000FF"/>
                </a:solidFill>
                <a:latin typeface="Arial" panose="020B0604020202020204" pitchFamily="34" charset="0"/>
                <a:cs typeface="Arial" panose="020B0604020202020204" pitchFamily="34" charset="0"/>
              </a:rPr>
              <a:t>    t1.start(); </a:t>
            </a:r>
          </a:p>
          <a:p>
            <a:pPr algn="just"/>
            <a:r>
              <a:rPr lang="en-US" sz="2000" dirty="0">
                <a:solidFill>
                  <a:srgbClr val="0000FF"/>
                </a:solidFill>
                <a:latin typeface="Arial" panose="020B0604020202020204" pitchFamily="34" charset="0"/>
                <a:cs typeface="Arial" panose="020B0604020202020204" pitchFamily="34" charset="0"/>
              </a:rPr>
              <a:t>    t2.start();</a:t>
            </a:r>
          </a:p>
          <a:p>
            <a:pPr algn="just"/>
            <a:r>
              <a:rPr lang="en-US" sz="2000" dirty="0">
                <a:solidFill>
                  <a:srgbClr val="0000FF"/>
                </a:solidFill>
                <a:latin typeface="Arial" panose="020B0604020202020204" pitchFamily="34" charset="0"/>
                <a:cs typeface="Arial" panose="020B0604020202020204" pitchFamily="34" charset="0"/>
              </a:rPr>
              <a:t>    // threads are registered in thread scheduler and from Thread Scheduler the threads are called concurrently by calling run() method</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a:t>
            </a:r>
          </a:p>
        </p:txBody>
      </p:sp>
      <p:sp>
        <p:nvSpPr>
          <p:cNvPr id="3" name="Footer Placeholder 2">
            <a:extLst>
              <a:ext uri="{FF2B5EF4-FFF2-40B4-BE49-F238E27FC236}">
                <a16:creationId xmlns:a16="http://schemas.microsoft.com/office/drawing/2014/main" id="{0F4CF14B-9A80-B416-A6B4-2EA8BCB91B8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34928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4" name="TextBox 13">
            <a:extLst>
              <a:ext uri="{FF2B5EF4-FFF2-40B4-BE49-F238E27FC236}">
                <a16:creationId xmlns:a16="http://schemas.microsoft.com/office/drawing/2014/main" id="{EA00E998-336A-BF3A-F783-B379C9E6E594}"/>
              </a:ext>
            </a:extLst>
          </p:cNvPr>
          <p:cNvSpPr txBox="1"/>
          <p:nvPr/>
        </p:nvSpPr>
        <p:spPr>
          <a:xfrm>
            <a:off x="401586" y="782864"/>
            <a:ext cx="8634838" cy="2154436"/>
          </a:xfrm>
          <a:prstGeom prst="rect">
            <a:avLst/>
          </a:prstGeom>
          <a:noFill/>
        </p:spPr>
        <p:txBody>
          <a:bodyPr wrap="square" rtlCol="0">
            <a:spAutoFit/>
          </a:bodyPr>
          <a:lstStyle/>
          <a:p>
            <a:pPr algn="ctr"/>
            <a:r>
              <a:rPr lang="en-US" sz="3200" b="1" dirty="0">
                <a:solidFill>
                  <a:srgbClr val="0000FF"/>
                </a:solidFill>
                <a:latin typeface="Arial" panose="020B0604020202020204" pitchFamily="34" charset="0"/>
                <a:cs typeface="Arial" panose="020B0604020202020204" pitchFamily="34" charset="0"/>
              </a:rPr>
              <a:t>Implementing Thread as</a:t>
            </a:r>
            <a:r>
              <a:rPr lang="en-US" sz="4400" b="1" dirty="0">
                <a:solidFill>
                  <a:srgbClr val="0000FF"/>
                </a:solidFill>
                <a:latin typeface="Arial" panose="020B0604020202020204" pitchFamily="34" charset="0"/>
                <a:cs typeface="Arial" panose="020B0604020202020204" pitchFamily="34" charset="0"/>
              </a:rPr>
              <a:t> </a:t>
            </a:r>
          </a:p>
          <a:p>
            <a:pPr algn="ctr"/>
            <a:r>
              <a:rPr lang="en-US" sz="5400" b="1" dirty="0">
                <a:solidFill>
                  <a:srgbClr val="0000FF"/>
                </a:solidFill>
                <a:latin typeface="Arial" panose="020B0604020202020204" pitchFamily="34" charset="0"/>
                <a:cs typeface="Arial" panose="020B0604020202020204" pitchFamily="34" charset="0"/>
              </a:rPr>
              <a:t>Runnable anonymous </a:t>
            </a:r>
            <a:r>
              <a:rPr lang="en-US" sz="3200" b="1" dirty="0">
                <a:solidFill>
                  <a:srgbClr val="0000FF"/>
                </a:solidFill>
                <a:latin typeface="Arial" panose="020B0604020202020204" pitchFamily="34" charset="0"/>
                <a:cs typeface="Arial" panose="020B0604020202020204" pitchFamily="34" charset="0"/>
              </a:rPr>
              <a:t>classes</a:t>
            </a:r>
            <a:endParaRPr lang="en-US" sz="4400" dirty="0">
              <a:solidFill>
                <a:srgbClr val="0000FF"/>
              </a:solidFill>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2ABBFB7E-D209-E677-4EE1-95093E7CD0C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29343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4" name="TextBox 13">
            <a:extLst>
              <a:ext uri="{FF2B5EF4-FFF2-40B4-BE49-F238E27FC236}">
                <a16:creationId xmlns:a16="http://schemas.microsoft.com/office/drawing/2014/main" id="{EA00E998-336A-BF3A-F783-B379C9E6E594}"/>
              </a:ext>
            </a:extLst>
          </p:cNvPr>
          <p:cNvSpPr txBox="1"/>
          <p:nvPr/>
        </p:nvSpPr>
        <p:spPr>
          <a:xfrm>
            <a:off x="401586" y="796311"/>
            <a:ext cx="8634838" cy="4093428"/>
          </a:xfrm>
          <a:prstGeom prst="rect">
            <a:avLst/>
          </a:prstGeom>
          <a:noFill/>
        </p:spPr>
        <p:txBody>
          <a:bodyPr wrap="square" rtlCol="0">
            <a:spAutoFit/>
          </a:bodyPr>
          <a:lstStyle/>
          <a:p>
            <a:pPr algn="just"/>
            <a:r>
              <a:rPr lang="en-US" sz="2000" b="1" dirty="0">
                <a:solidFill>
                  <a:srgbClr val="0000FF"/>
                </a:solidFill>
                <a:latin typeface="Arial" panose="020B0604020202020204" pitchFamily="34" charset="0"/>
                <a:cs typeface="Arial" panose="020B0604020202020204" pitchFamily="34" charset="0"/>
              </a:rPr>
              <a:t>// NGAClient.java</a:t>
            </a:r>
          </a:p>
          <a:p>
            <a:pPr algn="just"/>
            <a:r>
              <a:rPr lang="en-US" sz="2000" dirty="0">
                <a:solidFill>
                  <a:srgbClr val="0000FF"/>
                </a:solidFill>
                <a:latin typeface="Arial" panose="020B0604020202020204" pitchFamily="34" charset="0"/>
                <a:cs typeface="Arial" panose="020B0604020202020204" pitchFamily="34" charset="0"/>
              </a:rPr>
              <a:t>public class </a:t>
            </a:r>
            <a:r>
              <a:rPr lang="en-US" sz="2000" dirty="0" err="1">
                <a:solidFill>
                  <a:srgbClr val="0000FF"/>
                </a:solidFill>
                <a:latin typeface="Arial" panose="020B0604020202020204" pitchFamily="34" charset="0"/>
                <a:cs typeface="Arial" panose="020B0604020202020204" pitchFamily="34" charset="0"/>
              </a:rPr>
              <a:t>NGAClient</a:t>
            </a:r>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public static void main(String rags[]) throws Exception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NumberGenerator ng=new NumberGenerator();</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Runnable r1=new Runnable() {</a:t>
            </a:r>
          </a:p>
          <a:p>
            <a:pPr algn="just"/>
            <a:r>
              <a:rPr lang="en-US" sz="2000" dirty="0">
                <a:solidFill>
                  <a:srgbClr val="0000FF"/>
                </a:solidFill>
                <a:latin typeface="Arial" panose="020B0604020202020204" pitchFamily="34" charset="0"/>
                <a:cs typeface="Arial" panose="020B0604020202020204" pitchFamily="34" charset="0"/>
              </a:rPr>
              <a:t>       public void run() {</a:t>
            </a:r>
          </a:p>
          <a:p>
            <a:pPr algn="just"/>
            <a:r>
              <a:rPr lang="en-US" sz="2000" dirty="0">
                <a:solidFill>
                  <a:srgbClr val="0000FF"/>
                </a:solidFill>
                <a:latin typeface="Arial" panose="020B0604020202020204" pitchFamily="34" charset="0"/>
                <a:cs typeface="Arial" panose="020B0604020202020204" pitchFamily="34" charset="0"/>
              </a:rPr>
              <a:t>          for(int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=0;i&lt;100;i++) {</a:t>
            </a:r>
          </a:p>
          <a:p>
            <a:pPr algn="just"/>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ng.generate</a:t>
            </a:r>
            <a:r>
              <a:rPr lang="en-US" sz="2000" dirty="0">
                <a:solidFill>
                  <a:srgbClr val="0000FF"/>
                </a:solidFill>
                <a:latin typeface="Arial" panose="020B0604020202020204" pitchFamily="34" charset="0"/>
                <a:cs typeface="Arial" panose="020B0604020202020204" pitchFamily="34" charset="0"/>
              </a:rPr>
              <a:t>();</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a:p>
            <a:pPr algn="just"/>
            <a:r>
              <a:rPr lang="en-US" sz="2000" dirty="0">
                <a:solidFill>
                  <a:srgbClr val="0000FF"/>
                </a:solidFill>
                <a:latin typeface="Arial" panose="020B0604020202020204" pitchFamily="34" charset="0"/>
                <a:cs typeface="Arial" panose="020B0604020202020204" pitchFamily="34" charset="0"/>
              </a:rPr>
              <a:t>    };</a:t>
            </a:r>
          </a:p>
        </p:txBody>
      </p:sp>
      <p:sp>
        <p:nvSpPr>
          <p:cNvPr id="12" name="TextBox 11">
            <a:extLst>
              <a:ext uri="{FF2B5EF4-FFF2-40B4-BE49-F238E27FC236}">
                <a16:creationId xmlns:a16="http://schemas.microsoft.com/office/drawing/2014/main" id="{6BABD3C4-532C-881B-95E7-D97F88F2D1E0}"/>
              </a:ext>
            </a:extLst>
          </p:cNvPr>
          <p:cNvSpPr txBox="1"/>
          <p:nvPr/>
        </p:nvSpPr>
        <p:spPr>
          <a:xfrm>
            <a:off x="6975737" y="848645"/>
            <a:ext cx="3391946" cy="4247317"/>
          </a:xfrm>
          <a:prstGeom prst="rect">
            <a:avLst/>
          </a:prstGeom>
          <a:noFill/>
        </p:spPr>
        <p:txBody>
          <a:bodyPr wrap="square">
            <a:spAutoFit/>
          </a:bodyPr>
          <a:lstStyle/>
          <a:p>
            <a:pPr algn="just"/>
            <a:r>
              <a:rPr lang="en-US" sz="1800" dirty="0">
                <a:solidFill>
                  <a:srgbClr val="0000FF"/>
                </a:solidFill>
                <a:latin typeface="Arial" panose="020B0604020202020204" pitchFamily="34" charset="0"/>
                <a:cs typeface="Arial" panose="020B0604020202020204" pitchFamily="34" charset="0"/>
              </a:rPr>
              <a:t> Runnable r2=new Runnable() {</a:t>
            </a:r>
          </a:p>
          <a:p>
            <a:pPr algn="just"/>
            <a:r>
              <a:rPr lang="en-US" sz="1800" dirty="0">
                <a:solidFill>
                  <a:srgbClr val="0000FF"/>
                </a:solidFill>
                <a:latin typeface="Arial" panose="020B0604020202020204" pitchFamily="34" charset="0"/>
                <a:cs typeface="Arial" panose="020B0604020202020204" pitchFamily="34" charset="0"/>
              </a:rPr>
              <a:t>       public void run() {</a:t>
            </a:r>
          </a:p>
          <a:p>
            <a:pPr algn="just"/>
            <a:r>
              <a:rPr lang="en-US" sz="1800" dirty="0">
                <a:solidFill>
                  <a:srgbClr val="0000FF"/>
                </a:solidFill>
                <a:latin typeface="Arial" panose="020B0604020202020204" pitchFamily="34" charset="0"/>
                <a:cs typeface="Arial" panose="020B0604020202020204" pitchFamily="34" charset="0"/>
              </a:rPr>
              <a:t>          for(int </a:t>
            </a:r>
            <a:r>
              <a:rPr lang="en-US" sz="1800" dirty="0" err="1">
                <a:solidFill>
                  <a:srgbClr val="0000FF"/>
                </a:solidFill>
                <a:latin typeface="Arial" panose="020B0604020202020204" pitchFamily="34" charset="0"/>
                <a:cs typeface="Arial" panose="020B0604020202020204" pitchFamily="34" charset="0"/>
              </a:rPr>
              <a:t>i</a:t>
            </a:r>
            <a:r>
              <a:rPr lang="en-US" sz="1800" dirty="0">
                <a:solidFill>
                  <a:srgbClr val="0000FF"/>
                </a:solidFill>
                <a:latin typeface="Arial" panose="020B0604020202020204" pitchFamily="34" charset="0"/>
                <a:cs typeface="Arial" panose="020B0604020202020204" pitchFamily="34" charset="0"/>
              </a:rPr>
              <a:t>=0;i&lt;100;i++) {</a:t>
            </a:r>
          </a:p>
          <a:p>
            <a:pPr algn="just"/>
            <a:r>
              <a:rPr lang="en-US" sz="1800" dirty="0">
                <a:solidFill>
                  <a:srgbClr val="0000FF"/>
                </a:solidFill>
                <a:latin typeface="Arial" panose="020B0604020202020204" pitchFamily="34" charset="0"/>
                <a:cs typeface="Arial" panose="020B0604020202020204" pitchFamily="34" charset="0"/>
              </a:rPr>
              <a:t>             </a:t>
            </a:r>
            <a:r>
              <a:rPr lang="en-US" sz="1800" dirty="0" err="1">
                <a:solidFill>
                  <a:srgbClr val="0000FF"/>
                </a:solidFill>
                <a:latin typeface="Arial" panose="020B0604020202020204" pitchFamily="34" charset="0"/>
                <a:cs typeface="Arial" panose="020B0604020202020204" pitchFamily="34" charset="0"/>
              </a:rPr>
              <a:t>ng.print</a:t>
            </a:r>
            <a:r>
              <a:rPr lang="en-US" sz="1800" dirty="0">
                <a:solidFill>
                  <a:srgbClr val="0000FF"/>
                </a:solidFill>
                <a:latin typeface="Arial" panose="020B0604020202020204" pitchFamily="34" charset="0"/>
                <a:cs typeface="Arial" panose="020B0604020202020204" pitchFamily="34" charset="0"/>
              </a:rPr>
              <a:t>();</a:t>
            </a:r>
          </a:p>
          <a:p>
            <a:pPr algn="just"/>
            <a:r>
              <a:rPr lang="en-US" sz="1800" dirty="0">
                <a:solidFill>
                  <a:srgbClr val="0000FF"/>
                </a:solidFill>
                <a:latin typeface="Arial" panose="020B0604020202020204" pitchFamily="34" charset="0"/>
                <a:cs typeface="Arial" panose="020B0604020202020204" pitchFamily="34" charset="0"/>
              </a:rPr>
              <a:t>          }</a:t>
            </a:r>
          </a:p>
          <a:p>
            <a:pPr algn="just"/>
            <a:r>
              <a:rPr lang="en-US" sz="1800" dirty="0">
                <a:solidFill>
                  <a:srgbClr val="0000FF"/>
                </a:solidFill>
                <a:latin typeface="Arial" panose="020B0604020202020204" pitchFamily="34" charset="0"/>
                <a:cs typeface="Arial" panose="020B0604020202020204" pitchFamily="34" charset="0"/>
              </a:rPr>
              <a:t>       }</a:t>
            </a:r>
          </a:p>
          <a:p>
            <a:pPr algn="just"/>
            <a:r>
              <a:rPr lang="en-US" sz="1800" dirty="0">
                <a:solidFill>
                  <a:srgbClr val="0000FF"/>
                </a:solidFill>
                <a:latin typeface="Arial" panose="020B0604020202020204" pitchFamily="34" charset="0"/>
                <a:cs typeface="Arial" panose="020B0604020202020204" pitchFamily="34" charset="0"/>
              </a:rPr>
              <a:t>    };</a:t>
            </a:r>
          </a:p>
          <a:p>
            <a:pPr algn="just"/>
            <a:endParaRPr lang="en-US" dirty="0">
              <a:solidFill>
                <a:srgbClr val="0000FF"/>
              </a:solidFill>
              <a:latin typeface="Arial" panose="020B0604020202020204" pitchFamily="34" charset="0"/>
              <a:cs typeface="Arial" panose="020B0604020202020204" pitchFamily="34" charset="0"/>
            </a:endParaRPr>
          </a:p>
          <a:p>
            <a:pPr algn="just"/>
            <a:r>
              <a:rPr lang="en-US" dirty="0">
                <a:solidFill>
                  <a:srgbClr val="0000FF"/>
                </a:solidFill>
                <a:latin typeface="Arial" panose="020B0604020202020204" pitchFamily="34" charset="0"/>
                <a:cs typeface="Arial" panose="020B0604020202020204" pitchFamily="34" charset="0"/>
              </a:rPr>
              <a:t> Thread t1=new Thread(r1); </a:t>
            </a:r>
          </a:p>
          <a:p>
            <a:pPr algn="just"/>
            <a:r>
              <a:rPr lang="en-US" dirty="0">
                <a:solidFill>
                  <a:srgbClr val="0000FF"/>
                </a:solidFill>
                <a:latin typeface="Arial" panose="020B0604020202020204" pitchFamily="34" charset="0"/>
                <a:cs typeface="Arial" panose="020B0604020202020204" pitchFamily="34" charset="0"/>
              </a:rPr>
              <a:t> Thread t2=new Thread(r2);</a:t>
            </a:r>
          </a:p>
          <a:p>
            <a:pPr algn="just"/>
            <a:endParaRPr lang="en-US" dirty="0">
              <a:solidFill>
                <a:srgbClr val="0000FF"/>
              </a:solidFill>
              <a:latin typeface="Arial" panose="020B0604020202020204" pitchFamily="34" charset="0"/>
              <a:cs typeface="Arial" panose="020B0604020202020204" pitchFamily="34" charset="0"/>
            </a:endParaRPr>
          </a:p>
          <a:p>
            <a:pPr algn="just"/>
            <a:r>
              <a:rPr lang="en-US" dirty="0">
                <a:solidFill>
                  <a:srgbClr val="0000FF"/>
                </a:solidFill>
                <a:latin typeface="Arial" panose="020B0604020202020204" pitchFamily="34" charset="0"/>
                <a:cs typeface="Arial" panose="020B0604020202020204" pitchFamily="34" charset="0"/>
              </a:rPr>
              <a:t>  t1.start();</a:t>
            </a:r>
          </a:p>
          <a:p>
            <a:pPr algn="just"/>
            <a:r>
              <a:rPr lang="en-US" dirty="0">
                <a:solidFill>
                  <a:srgbClr val="0000FF"/>
                </a:solidFill>
                <a:latin typeface="Arial" panose="020B0604020202020204" pitchFamily="34" charset="0"/>
                <a:cs typeface="Arial" panose="020B0604020202020204" pitchFamily="34" charset="0"/>
              </a:rPr>
              <a:t>  t2.start();</a:t>
            </a:r>
          </a:p>
          <a:p>
            <a:pPr algn="just"/>
            <a:r>
              <a:rPr lang="en-US" dirty="0">
                <a:solidFill>
                  <a:srgbClr val="0000FF"/>
                </a:solidFill>
                <a:latin typeface="Arial" panose="020B0604020202020204" pitchFamily="34" charset="0"/>
                <a:cs typeface="Arial" panose="020B0604020202020204" pitchFamily="34" charset="0"/>
              </a:rPr>
              <a:t> } // main()</a:t>
            </a:r>
          </a:p>
          <a:p>
            <a:pPr algn="just"/>
            <a:r>
              <a:rPr lang="en-US" dirty="0">
                <a:solidFill>
                  <a:srgbClr val="0000FF"/>
                </a:solidFill>
                <a:latin typeface="Arial" panose="020B0604020202020204" pitchFamily="34" charset="0"/>
                <a:cs typeface="Arial" panose="020B0604020202020204" pitchFamily="34" charset="0"/>
              </a:rPr>
              <a:t>}// class</a:t>
            </a:r>
          </a:p>
        </p:txBody>
      </p:sp>
      <p:sp>
        <p:nvSpPr>
          <p:cNvPr id="3" name="Footer Placeholder 2">
            <a:extLst>
              <a:ext uri="{FF2B5EF4-FFF2-40B4-BE49-F238E27FC236}">
                <a16:creationId xmlns:a16="http://schemas.microsoft.com/office/drawing/2014/main" id="{0B5B5F6D-3721-D1BD-B4BB-E60CEE12C67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40754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TextBox 4">
            <a:extLst>
              <a:ext uri="{FF2B5EF4-FFF2-40B4-BE49-F238E27FC236}">
                <a16:creationId xmlns:a16="http://schemas.microsoft.com/office/drawing/2014/main" id="{1A4669FE-0A4D-F8C6-85A5-0A3DDB60DDF2}"/>
              </a:ext>
            </a:extLst>
          </p:cNvPr>
          <p:cNvSpPr txBox="1"/>
          <p:nvPr/>
        </p:nvSpPr>
        <p:spPr>
          <a:xfrm>
            <a:off x="1168607" y="1870989"/>
            <a:ext cx="7219359" cy="1200329"/>
          </a:xfrm>
          <a:prstGeom prst="rect">
            <a:avLst/>
          </a:prstGeom>
          <a:noFill/>
        </p:spPr>
        <p:txBody>
          <a:bodyPr wrap="square">
            <a:spAutoFit/>
          </a:bodyPr>
          <a:lstStyle/>
          <a:p>
            <a:r>
              <a:rPr lang="en-IN" dirty="0"/>
              <a:t>	*******************************************</a:t>
            </a:r>
            <a:br>
              <a:rPr lang="en-IN" dirty="0"/>
            </a:br>
            <a:r>
              <a:rPr lang="en-IN" dirty="0"/>
              <a:t>			Sim + </a:t>
            </a:r>
            <a:r>
              <a:rPr lang="en-IN" dirty="0" err="1"/>
              <a:t>Seq</a:t>
            </a:r>
            <a:r>
              <a:rPr lang="en-IN" dirty="0"/>
              <a:t> =&gt; Synch</a:t>
            </a:r>
          </a:p>
          <a:p>
            <a:r>
              <a:rPr lang="en-IN" dirty="0"/>
              <a:t>		Simultaneous + Sequential =&gt; Synchronization		********************************************</a:t>
            </a:r>
          </a:p>
        </p:txBody>
      </p:sp>
      <p:sp>
        <p:nvSpPr>
          <p:cNvPr id="15" name="TextBox 14">
            <a:extLst>
              <a:ext uri="{FF2B5EF4-FFF2-40B4-BE49-F238E27FC236}">
                <a16:creationId xmlns:a16="http://schemas.microsoft.com/office/drawing/2014/main" id="{0FD09D25-F407-AD5A-F58E-D76A5D0CFA79}"/>
              </a:ext>
            </a:extLst>
          </p:cNvPr>
          <p:cNvSpPr txBox="1"/>
          <p:nvPr/>
        </p:nvSpPr>
        <p:spPr>
          <a:xfrm>
            <a:off x="1715719" y="1399896"/>
            <a:ext cx="6125134" cy="584775"/>
          </a:xfrm>
          <a:prstGeom prst="rect">
            <a:avLst/>
          </a:prstGeom>
          <a:noFill/>
        </p:spPr>
        <p:txBody>
          <a:bodyPr wrap="square">
            <a:spAutoFit/>
          </a:bodyPr>
          <a:lstStyle/>
          <a:p>
            <a:r>
              <a:rPr lang="en-IN" sz="3200" b="1" dirty="0">
                <a:solidFill>
                  <a:srgbClr val="003F66"/>
                </a:solidFill>
              </a:rPr>
              <a:t>Synchronization</a:t>
            </a:r>
          </a:p>
        </p:txBody>
      </p:sp>
      <p:sp>
        <p:nvSpPr>
          <p:cNvPr id="16" name="TextBox 15">
            <a:extLst>
              <a:ext uri="{FF2B5EF4-FFF2-40B4-BE49-F238E27FC236}">
                <a16:creationId xmlns:a16="http://schemas.microsoft.com/office/drawing/2014/main" id="{A796B737-DE1C-73CE-65D1-1749C58FE6C6}"/>
              </a:ext>
            </a:extLst>
          </p:cNvPr>
          <p:cNvSpPr txBox="1"/>
          <p:nvPr/>
        </p:nvSpPr>
        <p:spPr>
          <a:xfrm>
            <a:off x="1832710" y="3598013"/>
            <a:ext cx="6125134" cy="1077218"/>
          </a:xfrm>
          <a:prstGeom prst="rect">
            <a:avLst/>
          </a:prstGeom>
          <a:noFill/>
        </p:spPr>
        <p:txBody>
          <a:bodyPr wrap="square">
            <a:spAutoFit/>
          </a:bodyPr>
          <a:lstStyle/>
          <a:p>
            <a:pPr algn="ctr"/>
            <a:r>
              <a:rPr lang="en-IN" sz="3200" b="1" dirty="0">
                <a:solidFill>
                  <a:srgbClr val="003F66"/>
                </a:solidFill>
              </a:rPr>
              <a:t>Threads </a:t>
            </a:r>
          </a:p>
          <a:p>
            <a:pPr algn="ctr"/>
            <a:r>
              <a:rPr lang="en-IN" sz="3200" b="1" dirty="0">
                <a:solidFill>
                  <a:srgbClr val="003F66"/>
                </a:solidFill>
              </a:rPr>
              <a:t>Part -III</a:t>
            </a:r>
          </a:p>
        </p:txBody>
      </p:sp>
      <p:sp>
        <p:nvSpPr>
          <p:cNvPr id="3" name="Footer Placeholder 2">
            <a:extLst>
              <a:ext uri="{FF2B5EF4-FFF2-40B4-BE49-F238E27FC236}">
                <a16:creationId xmlns:a16="http://schemas.microsoft.com/office/drawing/2014/main" id="{267FB132-2C3C-4509-519C-44524D7D59C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18114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TextBox 4">
            <a:extLst>
              <a:ext uri="{FF2B5EF4-FFF2-40B4-BE49-F238E27FC236}">
                <a16:creationId xmlns:a16="http://schemas.microsoft.com/office/drawing/2014/main" id="{805E5153-D4E3-C696-C352-32D498D7612E}"/>
              </a:ext>
            </a:extLst>
          </p:cNvPr>
          <p:cNvSpPr txBox="1"/>
          <p:nvPr/>
        </p:nvSpPr>
        <p:spPr>
          <a:xfrm>
            <a:off x="754747" y="1508735"/>
            <a:ext cx="8298485" cy="3785652"/>
          </a:xfrm>
          <a:prstGeom prst="rect">
            <a:avLst/>
          </a:prstGeom>
          <a:noFill/>
        </p:spPr>
        <p:txBody>
          <a:bodyPr wrap="square">
            <a:spAutoFit/>
          </a:bodyPr>
          <a:lstStyle/>
          <a:p>
            <a:pPr algn="just"/>
            <a:r>
              <a:rPr lang="en-IN" sz="2400" b="1" dirty="0">
                <a:solidFill>
                  <a:srgbClr val="003F66"/>
                </a:solidFill>
              </a:rPr>
              <a:t>Two advantages of Threads:</a:t>
            </a:r>
          </a:p>
          <a:p>
            <a:pPr algn="just"/>
            <a:r>
              <a:rPr lang="en-IN" sz="2400" b="1" dirty="0">
                <a:solidFill>
                  <a:srgbClr val="003F66"/>
                </a:solidFill>
              </a:rPr>
              <a:t>	</a:t>
            </a:r>
            <a:r>
              <a:rPr lang="en-IN" sz="2400" b="1" dirty="0" err="1">
                <a:solidFill>
                  <a:srgbClr val="003F66"/>
                </a:solidFill>
              </a:rPr>
              <a:t>i</a:t>
            </a:r>
            <a:r>
              <a:rPr lang="en-IN" sz="2400" b="1" dirty="0">
                <a:solidFill>
                  <a:srgbClr val="003F66"/>
                </a:solidFill>
              </a:rPr>
              <a:t>) Lets multiple threads/methods runs simultaneously</a:t>
            </a:r>
          </a:p>
          <a:p>
            <a:pPr algn="just"/>
            <a:r>
              <a:rPr lang="en-IN" sz="2400" b="1" dirty="0">
                <a:solidFill>
                  <a:srgbClr val="003F66"/>
                </a:solidFill>
              </a:rPr>
              <a:t>	ii) Utilizes system resources efficiently/optimally/no wastage of CPU lifecycles/system resources</a:t>
            </a:r>
          </a:p>
          <a:p>
            <a:pPr algn="just"/>
            <a:endParaRPr lang="en-IN" sz="2400" b="1" dirty="0">
              <a:solidFill>
                <a:srgbClr val="003F66"/>
              </a:solidFill>
            </a:endParaRPr>
          </a:p>
          <a:p>
            <a:pPr algn="just"/>
            <a:r>
              <a:rPr lang="en-IN" sz="2400" b="1" dirty="0">
                <a:solidFill>
                  <a:srgbClr val="003F66"/>
                </a:solidFill>
              </a:rPr>
              <a:t>But Threads O/P is unpredictable, Threads execution are uncontrollable.</a:t>
            </a:r>
          </a:p>
          <a:p>
            <a:pPr algn="just"/>
            <a:endParaRPr lang="en-IN" sz="2400" b="1" dirty="0">
              <a:solidFill>
                <a:srgbClr val="003F66"/>
              </a:solidFill>
            </a:endParaRPr>
          </a:p>
          <a:p>
            <a:pPr algn="just"/>
            <a:r>
              <a:rPr lang="en-IN" sz="2400" b="1" dirty="0">
                <a:solidFill>
                  <a:srgbClr val="003F66"/>
                </a:solidFill>
              </a:rPr>
              <a:t>If Threads execution want to be controllable we need to do thread synchronization.</a:t>
            </a:r>
          </a:p>
        </p:txBody>
      </p:sp>
      <p:sp>
        <p:nvSpPr>
          <p:cNvPr id="3" name="Footer Placeholder 2">
            <a:extLst>
              <a:ext uri="{FF2B5EF4-FFF2-40B4-BE49-F238E27FC236}">
                <a16:creationId xmlns:a16="http://schemas.microsoft.com/office/drawing/2014/main" id="{BC67EDA5-C0EF-FDE8-9A59-4529A98FE91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820377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TextBox 4">
            <a:extLst>
              <a:ext uri="{FF2B5EF4-FFF2-40B4-BE49-F238E27FC236}">
                <a16:creationId xmlns:a16="http://schemas.microsoft.com/office/drawing/2014/main" id="{805E5153-D4E3-C696-C352-32D498D7612E}"/>
              </a:ext>
            </a:extLst>
          </p:cNvPr>
          <p:cNvSpPr txBox="1"/>
          <p:nvPr/>
        </p:nvSpPr>
        <p:spPr>
          <a:xfrm>
            <a:off x="754747" y="1508735"/>
            <a:ext cx="8298485" cy="4524315"/>
          </a:xfrm>
          <a:prstGeom prst="rect">
            <a:avLst/>
          </a:prstGeom>
          <a:noFill/>
        </p:spPr>
        <p:txBody>
          <a:bodyPr wrap="square">
            <a:spAutoFit/>
          </a:bodyPr>
          <a:lstStyle/>
          <a:p>
            <a:pPr algn="just"/>
            <a:r>
              <a:rPr lang="en-US" sz="2400" b="1" dirty="0">
                <a:solidFill>
                  <a:srgbClr val="003F66"/>
                </a:solidFill>
              </a:rPr>
              <a:t>Synchronizing threads by using method synchronization:</a:t>
            </a:r>
          </a:p>
          <a:p>
            <a:pPr algn="just"/>
            <a:r>
              <a:rPr lang="en-US" sz="2400" b="1" dirty="0">
                <a:solidFill>
                  <a:srgbClr val="003F66"/>
                </a:solidFill>
              </a:rPr>
              <a:t>------------------------------------------------------</a:t>
            </a:r>
          </a:p>
          <a:p>
            <a:pPr algn="just"/>
            <a:r>
              <a:rPr lang="en-US" sz="2400" b="1" dirty="0">
                <a:solidFill>
                  <a:srgbClr val="003F66"/>
                </a:solidFill>
              </a:rPr>
              <a:t>	Simultaneous + Sequential = Synchronous execution</a:t>
            </a:r>
          </a:p>
          <a:p>
            <a:pPr algn="just"/>
            <a:endParaRPr lang="en-US" sz="2400" b="1" dirty="0">
              <a:solidFill>
                <a:srgbClr val="003F66"/>
              </a:solidFill>
            </a:endParaRPr>
          </a:p>
          <a:p>
            <a:pPr algn="just"/>
            <a:r>
              <a:rPr lang="en-US" sz="2400" b="1" dirty="0">
                <a:solidFill>
                  <a:srgbClr val="003F66"/>
                </a:solidFill>
              </a:rPr>
              <a:t>While implementing threads per methods basis. If the methods are independent from each other then implement simultaneous thread execution.</a:t>
            </a:r>
          </a:p>
          <a:p>
            <a:pPr algn="just"/>
            <a:endParaRPr lang="en-US" sz="2400" b="1" dirty="0">
              <a:solidFill>
                <a:srgbClr val="003F66"/>
              </a:solidFill>
            </a:endParaRPr>
          </a:p>
          <a:p>
            <a:pPr algn="just"/>
            <a:r>
              <a:rPr lang="en-US" sz="2400" b="1" dirty="0">
                <a:solidFill>
                  <a:srgbClr val="003F66"/>
                </a:solidFill>
              </a:rPr>
              <a:t>If methods are dependent that means if one method produced value is consumed by other method then threads must run simultaneously as well as sequentially (one-after-another). Such threads must be applied with synchronization.</a:t>
            </a:r>
          </a:p>
        </p:txBody>
      </p:sp>
      <p:sp>
        <p:nvSpPr>
          <p:cNvPr id="3" name="Footer Placeholder 2">
            <a:extLst>
              <a:ext uri="{FF2B5EF4-FFF2-40B4-BE49-F238E27FC236}">
                <a16:creationId xmlns:a16="http://schemas.microsoft.com/office/drawing/2014/main" id="{2E0D9106-7D20-38A5-5833-C09D1DFDCDF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05246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TextBox 4">
            <a:extLst>
              <a:ext uri="{FF2B5EF4-FFF2-40B4-BE49-F238E27FC236}">
                <a16:creationId xmlns:a16="http://schemas.microsoft.com/office/drawing/2014/main" id="{805E5153-D4E3-C696-C352-32D498D7612E}"/>
              </a:ext>
            </a:extLst>
          </p:cNvPr>
          <p:cNvSpPr txBox="1"/>
          <p:nvPr/>
        </p:nvSpPr>
        <p:spPr>
          <a:xfrm>
            <a:off x="754747" y="1508735"/>
            <a:ext cx="8298485" cy="1200329"/>
          </a:xfrm>
          <a:prstGeom prst="rect">
            <a:avLst/>
          </a:prstGeom>
          <a:noFill/>
        </p:spPr>
        <p:txBody>
          <a:bodyPr wrap="square">
            <a:spAutoFit/>
          </a:bodyPr>
          <a:lstStyle/>
          <a:p>
            <a:pPr algn="just"/>
            <a:r>
              <a:rPr lang="en-US" sz="2400" b="1" dirty="0">
                <a:solidFill>
                  <a:srgbClr val="003F66"/>
                </a:solidFill>
              </a:rPr>
              <a:t>Synchronization we can do in two ways:</a:t>
            </a:r>
          </a:p>
          <a:p>
            <a:pPr algn="just"/>
            <a:r>
              <a:rPr lang="en-US" sz="2400" b="1" dirty="0">
                <a:solidFill>
                  <a:srgbClr val="003F66"/>
                </a:solidFill>
              </a:rPr>
              <a:t>	</a:t>
            </a:r>
            <a:r>
              <a:rPr lang="en-US" sz="2400" b="1" dirty="0" err="1">
                <a:solidFill>
                  <a:srgbClr val="003F66"/>
                </a:solidFill>
              </a:rPr>
              <a:t>i</a:t>
            </a:r>
            <a:r>
              <a:rPr lang="en-US" sz="2400" b="1" dirty="0">
                <a:solidFill>
                  <a:srgbClr val="003F66"/>
                </a:solidFill>
              </a:rPr>
              <a:t>) By synchronizing methods</a:t>
            </a:r>
          </a:p>
          <a:p>
            <a:pPr algn="just"/>
            <a:r>
              <a:rPr lang="en-US" sz="2400" b="1" dirty="0">
                <a:solidFill>
                  <a:srgbClr val="003F66"/>
                </a:solidFill>
              </a:rPr>
              <a:t>	ii) By synchronizing objects</a:t>
            </a:r>
          </a:p>
        </p:txBody>
      </p:sp>
      <p:sp>
        <p:nvSpPr>
          <p:cNvPr id="3" name="Footer Placeholder 2">
            <a:extLst>
              <a:ext uri="{FF2B5EF4-FFF2-40B4-BE49-F238E27FC236}">
                <a16:creationId xmlns:a16="http://schemas.microsoft.com/office/drawing/2014/main" id="{0E3B506C-62EE-C5EA-E980-4AF15CC579F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726281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TextBox 4">
            <a:extLst>
              <a:ext uri="{FF2B5EF4-FFF2-40B4-BE49-F238E27FC236}">
                <a16:creationId xmlns:a16="http://schemas.microsoft.com/office/drawing/2014/main" id="{805E5153-D4E3-C696-C352-32D498D7612E}"/>
              </a:ext>
            </a:extLst>
          </p:cNvPr>
          <p:cNvSpPr txBox="1"/>
          <p:nvPr/>
        </p:nvSpPr>
        <p:spPr>
          <a:xfrm>
            <a:off x="754747" y="1508735"/>
            <a:ext cx="8298485" cy="1200329"/>
          </a:xfrm>
          <a:prstGeom prst="rect">
            <a:avLst/>
          </a:prstGeom>
          <a:noFill/>
        </p:spPr>
        <p:txBody>
          <a:bodyPr wrap="square">
            <a:spAutoFit/>
          </a:bodyPr>
          <a:lstStyle/>
          <a:p>
            <a:pPr algn="just"/>
            <a:r>
              <a:rPr lang="en-US" sz="2400" b="1" dirty="0">
                <a:solidFill>
                  <a:srgbClr val="003F66"/>
                </a:solidFill>
              </a:rPr>
              <a:t>Synchronization we can do in two ways:</a:t>
            </a:r>
          </a:p>
          <a:p>
            <a:pPr algn="just"/>
            <a:r>
              <a:rPr lang="en-US" sz="2400" b="1" dirty="0">
                <a:solidFill>
                  <a:srgbClr val="003F66"/>
                </a:solidFill>
              </a:rPr>
              <a:t>	</a:t>
            </a:r>
            <a:r>
              <a:rPr lang="en-US" sz="2400" b="1" dirty="0" err="1">
                <a:solidFill>
                  <a:srgbClr val="003F66"/>
                </a:solidFill>
              </a:rPr>
              <a:t>i</a:t>
            </a:r>
            <a:r>
              <a:rPr lang="en-US" sz="2400" b="1" dirty="0">
                <a:solidFill>
                  <a:srgbClr val="003F66"/>
                </a:solidFill>
              </a:rPr>
              <a:t>) By synchronizing methods</a:t>
            </a:r>
          </a:p>
          <a:p>
            <a:pPr algn="just"/>
            <a:r>
              <a:rPr lang="en-US" sz="2400" b="1" dirty="0">
                <a:solidFill>
                  <a:srgbClr val="003F66"/>
                </a:solidFill>
              </a:rPr>
              <a:t>	ii) By synchronizing objects</a:t>
            </a:r>
          </a:p>
        </p:txBody>
      </p:sp>
      <p:sp>
        <p:nvSpPr>
          <p:cNvPr id="3" name="Footer Placeholder 2">
            <a:extLst>
              <a:ext uri="{FF2B5EF4-FFF2-40B4-BE49-F238E27FC236}">
                <a16:creationId xmlns:a16="http://schemas.microsoft.com/office/drawing/2014/main" id="{4B0240A1-F0CF-8193-14D4-AC8126A7676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481647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TextBox 4">
            <a:extLst>
              <a:ext uri="{FF2B5EF4-FFF2-40B4-BE49-F238E27FC236}">
                <a16:creationId xmlns:a16="http://schemas.microsoft.com/office/drawing/2014/main" id="{805E5153-D4E3-C696-C352-32D498D7612E}"/>
              </a:ext>
            </a:extLst>
          </p:cNvPr>
          <p:cNvSpPr txBox="1"/>
          <p:nvPr/>
        </p:nvSpPr>
        <p:spPr>
          <a:xfrm>
            <a:off x="445466" y="607786"/>
            <a:ext cx="8298485" cy="2185214"/>
          </a:xfrm>
          <a:prstGeom prst="rect">
            <a:avLst/>
          </a:prstGeom>
          <a:noFill/>
        </p:spPr>
        <p:txBody>
          <a:bodyPr wrap="square">
            <a:spAutoFit/>
          </a:bodyPr>
          <a:lstStyle/>
          <a:p>
            <a:pPr algn="just"/>
            <a:r>
              <a:rPr lang="en-US" sz="2000" b="1" u="sng" dirty="0">
                <a:solidFill>
                  <a:srgbClr val="003F66"/>
                </a:solidFill>
              </a:rPr>
              <a:t>Method Synchronization</a:t>
            </a:r>
          </a:p>
          <a:p>
            <a:pPr algn="just"/>
            <a:r>
              <a:rPr lang="en-US" sz="1600" b="1" dirty="0">
                <a:solidFill>
                  <a:srgbClr val="003F66"/>
                </a:solidFill>
              </a:rPr>
              <a:t>// NumberGeneratorSynch.java</a:t>
            </a:r>
          </a:p>
          <a:p>
            <a:pPr algn="just"/>
            <a:r>
              <a:rPr lang="en-US" sz="1600" b="1" dirty="0">
                <a:solidFill>
                  <a:srgbClr val="003F66"/>
                </a:solidFill>
              </a:rPr>
              <a:t>class </a:t>
            </a:r>
            <a:r>
              <a:rPr lang="en-US" sz="1600" b="1" dirty="0" err="1">
                <a:solidFill>
                  <a:srgbClr val="003F66"/>
                </a:solidFill>
              </a:rPr>
              <a:t>NumberGeneratorSynch</a:t>
            </a:r>
            <a:r>
              <a:rPr lang="en-US" sz="1600" b="1" dirty="0">
                <a:solidFill>
                  <a:srgbClr val="003F66"/>
                </a:solidFill>
              </a:rPr>
              <a:t> {</a:t>
            </a:r>
          </a:p>
          <a:p>
            <a:pPr algn="just"/>
            <a:r>
              <a:rPr lang="en-US" sz="1600" b="1" dirty="0">
                <a:solidFill>
                  <a:srgbClr val="003F66"/>
                </a:solidFill>
              </a:rPr>
              <a:t>    int counter; // will hold generate method produced value</a:t>
            </a:r>
          </a:p>
          <a:p>
            <a:pPr algn="just"/>
            <a:r>
              <a:rPr lang="en-US" sz="1600" b="1" dirty="0">
                <a:solidFill>
                  <a:srgbClr val="003F66"/>
                </a:solidFill>
              </a:rPr>
              <a:t>    </a:t>
            </a:r>
            <a:r>
              <a:rPr lang="en-US" sz="1600" b="1" dirty="0" err="1">
                <a:solidFill>
                  <a:srgbClr val="003F66"/>
                </a:solidFill>
              </a:rPr>
              <a:t>boolean</a:t>
            </a:r>
            <a:r>
              <a:rPr lang="en-US" sz="1600" b="1" dirty="0">
                <a:solidFill>
                  <a:srgbClr val="003F66"/>
                </a:solidFill>
              </a:rPr>
              <a:t> flag;</a:t>
            </a:r>
          </a:p>
          <a:p>
            <a:pPr algn="just"/>
            <a:r>
              <a:rPr lang="en-US" sz="1600" b="1" dirty="0">
                <a:solidFill>
                  <a:srgbClr val="003F66"/>
                </a:solidFill>
              </a:rPr>
              <a:t>    </a:t>
            </a:r>
          </a:p>
          <a:p>
            <a:pPr algn="just"/>
            <a:r>
              <a:rPr lang="en-US" sz="1600" b="1" dirty="0">
                <a:solidFill>
                  <a:srgbClr val="003F66"/>
                </a:solidFill>
              </a:rPr>
              <a:t>    </a:t>
            </a:r>
          </a:p>
          <a:p>
            <a:pPr algn="just"/>
            <a:r>
              <a:rPr lang="en-US" sz="2000" b="1" dirty="0">
                <a:solidFill>
                  <a:srgbClr val="003F66"/>
                </a:solidFill>
              </a:rPr>
              <a:t>    </a:t>
            </a:r>
          </a:p>
        </p:txBody>
      </p:sp>
      <p:sp>
        <p:nvSpPr>
          <p:cNvPr id="12" name="TextBox 11">
            <a:extLst>
              <a:ext uri="{FF2B5EF4-FFF2-40B4-BE49-F238E27FC236}">
                <a16:creationId xmlns:a16="http://schemas.microsoft.com/office/drawing/2014/main" id="{47EDB07C-C838-CB33-F3A1-7FAEB64147C8}"/>
              </a:ext>
            </a:extLst>
          </p:cNvPr>
          <p:cNvSpPr txBox="1"/>
          <p:nvPr/>
        </p:nvSpPr>
        <p:spPr>
          <a:xfrm>
            <a:off x="722779" y="1860107"/>
            <a:ext cx="6125134" cy="4832092"/>
          </a:xfrm>
          <a:prstGeom prst="rect">
            <a:avLst/>
          </a:prstGeom>
          <a:noFill/>
        </p:spPr>
        <p:txBody>
          <a:bodyPr wrap="square">
            <a:spAutoFit/>
          </a:bodyPr>
          <a:lstStyle/>
          <a:p>
            <a:pPr algn="just"/>
            <a:r>
              <a:rPr lang="en-US" sz="1400" b="1" dirty="0">
                <a:solidFill>
                  <a:srgbClr val="003F66"/>
                </a:solidFill>
              </a:rPr>
              <a:t>public synchronized void generate(int </a:t>
            </a:r>
            <a:r>
              <a:rPr lang="en-US" sz="1400" b="1" dirty="0" err="1">
                <a:solidFill>
                  <a:srgbClr val="003F66"/>
                </a:solidFill>
              </a:rPr>
              <a:t>i</a:t>
            </a:r>
            <a:r>
              <a:rPr lang="en-US" sz="1400" b="1" dirty="0">
                <a:solidFill>
                  <a:srgbClr val="003F66"/>
                </a:solidFill>
              </a:rPr>
              <a:t>)   {</a:t>
            </a:r>
          </a:p>
          <a:p>
            <a:pPr algn="just"/>
            <a:r>
              <a:rPr lang="en-US" sz="1400" b="1" dirty="0">
                <a:solidFill>
                  <a:srgbClr val="003F66"/>
                </a:solidFill>
              </a:rPr>
              <a:t>		</a:t>
            </a:r>
            <a:r>
              <a:rPr lang="en-US" sz="1400" b="1" dirty="0" err="1">
                <a:solidFill>
                  <a:srgbClr val="003F66"/>
                </a:solidFill>
              </a:rPr>
              <a:t>System.out.println</a:t>
            </a:r>
            <a:r>
              <a:rPr lang="en-US" sz="1400" b="1" dirty="0">
                <a:solidFill>
                  <a:srgbClr val="003F66"/>
                </a:solidFill>
              </a:rPr>
              <a:t>("generate() called");</a:t>
            </a:r>
          </a:p>
          <a:p>
            <a:pPr algn="just"/>
            <a:r>
              <a:rPr lang="en-US" sz="1400" b="1" dirty="0">
                <a:solidFill>
                  <a:srgbClr val="003F66"/>
                </a:solidFill>
              </a:rPr>
              <a:t>    	try  {</a:t>
            </a:r>
          </a:p>
          <a:p>
            <a:pPr algn="just"/>
            <a:r>
              <a:rPr lang="en-US" sz="1400" b="1" dirty="0">
                <a:solidFill>
                  <a:srgbClr val="003F66"/>
                </a:solidFill>
              </a:rPr>
              <a:t>    		while(flag==true)  {</a:t>
            </a:r>
          </a:p>
          <a:p>
            <a:pPr algn="just"/>
            <a:r>
              <a:rPr lang="en-US" sz="1400" b="1" dirty="0">
                <a:solidFill>
                  <a:srgbClr val="003F66"/>
                </a:solidFill>
              </a:rPr>
              <a:t>    			wait();</a:t>
            </a:r>
          </a:p>
          <a:p>
            <a:pPr algn="just"/>
            <a:r>
              <a:rPr lang="en-US" sz="1400" b="1" dirty="0">
                <a:solidFill>
                  <a:srgbClr val="003F66"/>
                </a:solidFill>
              </a:rPr>
              <a:t>    			// asks thread scheduler to send current method thread to wait state</a:t>
            </a:r>
          </a:p>
          <a:p>
            <a:pPr algn="just"/>
            <a:r>
              <a:rPr lang="en-US" sz="1400" b="1" dirty="0">
                <a:solidFill>
                  <a:srgbClr val="003F66"/>
                </a:solidFill>
              </a:rPr>
              <a:t>			}</a:t>
            </a:r>
          </a:p>
          <a:p>
            <a:pPr algn="just"/>
            <a:r>
              <a:rPr lang="en-US" sz="1400" b="1" dirty="0">
                <a:solidFill>
                  <a:srgbClr val="003F66"/>
                </a:solidFill>
              </a:rPr>
              <a:t>		}</a:t>
            </a:r>
          </a:p>
          <a:p>
            <a:pPr algn="just"/>
            <a:r>
              <a:rPr lang="en-US" sz="1400" b="1" dirty="0">
                <a:solidFill>
                  <a:srgbClr val="003F66"/>
                </a:solidFill>
              </a:rPr>
              <a:t>		catch(Exception e)  {}</a:t>
            </a:r>
          </a:p>
          <a:p>
            <a:pPr algn="just"/>
            <a:r>
              <a:rPr lang="en-US" sz="1400" b="1" dirty="0">
                <a:solidFill>
                  <a:srgbClr val="003F66"/>
                </a:solidFill>
              </a:rPr>
              <a:t>		</a:t>
            </a:r>
          </a:p>
          <a:p>
            <a:pPr algn="just"/>
            <a:r>
              <a:rPr lang="en-US" sz="1400" b="1" dirty="0">
                <a:solidFill>
                  <a:srgbClr val="003F66"/>
                </a:solidFill>
              </a:rPr>
              <a:t>		counter=</a:t>
            </a:r>
            <a:r>
              <a:rPr lang="en-US" sz="1400" b="1" dirty="0" err="1">
                <a:solidFill>
                  <a:srgbClr val="003F66"/>
                </a:solidFill>
              </a:rPr>
              <a:t>i</a:t>
            </a:r>
            <a:r>
              <a:rPr lang="en-US" sz="1400" b="1" dirty="0">
                <a:solidFill>
                  <a:srgbClr val="003F66"/>
                </a:solidFill>
              </a:rPr>
              <a:t>;  // itself is value generation</a:t>
            </a:r>
          </a:p>
          <a:p>
            <a:pPr algn="just"/>
            <a:r>
              <a:rPr lang="en-US" sz="1400" b="1" dirty="0">
                <a:solidFill>
                  <a:srgbClr val="003F66"/>
                </a:solidFill>
              </a:rPr>
              <a:t>		</a:t>
            </a:r>
          </a:p>
          <a:p>
            <a:pPr algn="just"/>
            <a:r>
              <a:rPr lang="en-US" sz="1400" b="1" dirty="0">
                <a:solidFill>
                  <a:srgbClr val="003F66"/>
                </a:solidFill>
              </a:rPr>
              <a:t>		</a:t>
            </a:r>
            <a:r>
              <a:rPr lang="en-US" sz="1400" b="1" dirty="0" err="1">
                <a:solidFill>
                  <a:srgbClr val="003F66"/>
                </a:solidFill>
              </a:rPr>
              <a:t>System.out.println</a:t>
            </a:r>
            <a:r>
              <a:rPr lang="en-US" sz="1400" b="1" dirty="0">
                <a:solidFill>
                  <a:srgbClr val="003F66"/>
                </a:solidFill>
              </a:rPr>
              <a:t>("generate() method executed");</a:t>
            </a:r>
          </a:p>
          <a:p>
            <a:pPr algn="just"/>
            <a:r>
              <a:rPr lang="en-US" sz="1400" b="1" dirty="0">
                <a:solidFill>
                  <a:srgbClr val="003F66"/>
                </a:solidFill>
              </a:rPr>
              <a:t>		flag=true;</a:t>
            </a:r>
          </a:p>
          <a:p>
            <a:pPr algn="just"/>
            <a:r>
              <a:rPr lang="en-US" sz="1400" b="1" dirty="0">
                <a:solidFill>
                  <a:srgbClr val="003F66"/>
                </a:solidFill>
              </a:rPr>
              <a:t>		notify(); /* if any methods/threads are in wait state then the notify() method </a:t>
            </a:r>
            <a:r>
              <a:rPr lang="en-US" sz="1400" b="1" dirty="0" err="1">
                <a:solidFill>
                  <a:srgbClr val="003F66"/>
                </a:solidFill>
              </a:rPr>
              <a:t>notifiies</a:t>
            </a:r>
            <a:r>
              <a:rPr lang="en-US" sz="1400" b="1" dirty="0">
                <a:solidFill>
                  <a:srgbClr val="003F66"/>
                </a:solidFill>
              </a:rPr>
              <a:t> those methods to run */</a:t>
            </a:r>
          </a:p>
          <a:p>
            <a:pPr algn="just"/>
            <a:r>
              <a:rPr lang="en-US" sz="1400" b="1" dirty="0">
                <a:solidFill>
                  <a:srgbClr val="003F66"/>
                </a:solidFill>
              </a:rPr>
              <a:t>		try {</a:t>
            </a:r>
          </a:p>
          <a:p>
            <a:pPr algn="just"/>
            <a:r>
              <a:rPr lang="en-US" sz="1400" b="1" dirty="0">
                <a:solidFill>
                  <a:srgbClr val="003F66"/>
                </a:solidFill>
              </a:rPr>
              <a:t>		   </a:t>
            </a:r>
            <a:r>
              <a:rPr lang="en-US" sz="1400" b="1" dirty="0" err="1">
                <a:solidFill>
                  <a:srgbClr val="003F66"/>
                </a:solidFill>
              </a:rPr>
              <a:t>Thread.sleep</a:t>
            </a:r>
            <a:r>
              <a:rPr lang="en-US" sz="1400" b="1" dirty="0">
                <a:solidFill>
                  <a:srgbClr val="003F66"/>
                </a:solidFill>
              </a:rPr>
              <a:t>(500);</a:t>
            </a:r>
          </a:p>
          <a:p>
            <a:pPr algn="just"/>
            <a:r>
              <a:rPr lang="en-US" sz="1400" b="1" dirty="0">
                <a:solidFill>
                  <a:srgbClr val="003F66"/>
                </a:solidFill>
              </a:rPr>
              <a:t>		}</a:t>
            </a:r>
          </a:p>
          <a:p>
            <a:pPr algn="just"/>
            <a:r>
              <a:rPr lang="en-US" sz="1400" b="1" dirty="0">
                <a:solidFill>
                  <a:srgbClr val="003F66"/>
                </a:solidFill>
              </a:rPr>
              <a:t>		catch(</a:t>
            </a:r>
            <a:r>
              <a:rPr lang="en-US" sz="1400" b="1" dirty="0" err="1">
                <a:solidFill>
                  <a:srgbClr val="003F66"/>
                </a:solidFill>
              </a:rPr>
              <a:t>InterruptedException</a:t>
            </a:r>
            <a:r>
              <a:rPr lang="en-US" sz="1400" b="1" dirty="0">
                <a:solidFill>
                  <a:srgbClr val="003F66"/>
                </a:solidFill>
              </a:rPr>
              <a:t> </a:t>
            </a:r>
            <a:r>
              <a:rPr lang="en-US" sz="1400" b="1" dirty="0" err="1">
                <a:solidFill>
                  <a:srgbClr val="003F66"/>
                </a:solidFill>
              </a:rPr>
              <a:t>ie</a:t>
            </a:r>
            <a:r>
              <a:rPr lang="en-US" sz="1400" b="1" dirty="0">
                <a:solidFill>
                  <a:srgbClr val="003F66"/>
                </a:solidFill>
              </a:rPr>
              <a:t>) {}</a:t>
            </a:r>
          </a:p>
          <a:p>
            <a:pPr algn="just"/>
            <a:r>
              <a:rPr lang="en-US" sz="1400" b="1" dirty="0">
                <a:solidFill>
                  <a:srgbClr val="003F66"/>
                </a:solidFill>
              </a:rPr>
              <a:t>    }</a:t>
            </a:r>
            <a:endParaRPr lang="en-IN" sz="1400" dirty="0"/>
          </a:p>
        </p:txBody>
      </p:sp>
      <p:sp>
        <p:nvSpPr>
          <p:cNvPr id="14" name="TextBox 13">
            <a:extLst>
              <a:ext uri="{FF2B5EF4-FFF2-40B4-BE49-F238E27FC236}">
                <a16:creationId xmlns:a16="http://schemas.microsoft.com/office/drawing/2014/main" id="{F0D93E6A-8D44-5CE7-92CD-27BE663F15D6}"/>
              </a:ext>
            </a:extLst>
          </p:cNvPr>
          <p:cNvSpPr txBox="1"/>
          <p:nvPr/>
        </p:nvSpPr>
        <p:spPr>
          <a:xfrm>
            <a:off x="5958697" y="848645"/>
            <a:ext cx="6125134" cy="4247317"/>
          </a:xfrm>
          <a:prstGeom prst="rect">
            <a:avLst/>
          </a:prstGeom>
          <a:noFill/>
        </p:spPr>
        <p:txBody>
          <a:bodyPr wrap="square">
            <a:spAutoFit/>
          </a:bodyPr>
          <a:lstStyle/>
          <a:p>
            <a:pPr algn="just"/>
            <a:r>
              <a:rPr lang="en-US" b="1" dirty="0">
                <a:solidFill>
                  <a:srgbClr val="003F66"/>
                </a:solidFill>
              </a:rPr>
              <a:t> public synchronized void print() {</a:t>
            </a:r>
          </a:p>
          <a:p>
            <a:pPr algn="just"/>
            <a:r>
              <a:rPr lang="en-US" b="1" dirty="0">
                <a:solidFill>
                  <a:srgbClr val="003F66"/>
                </a:solidFill>
              </a:rPr>
              <a:t>		</a:t>
            </a:r>
            <a:r>
              <a:rPr lang="en-US" b="1" dirty="0" err="1">
                <a:solidFill>
                  <a:srgbClr val="003F66"/>
                </a:solidFill>
              </a:rPr>
              <a:t>System.out.println</a:t>
            </a:r>
            <a:r>
              <a:rPr lang="en-US" b="1" dirty="0">
                <a:solidFill>
                  <a:srgbClr val="003F66"/>
                </a:solidFill>
              </a:rPr>
              <a:t>("print() called");</a:t>
            </a:r>
          </a:p>
          <a:p>
            <a:pPr algn="just"/>
            <a:r>
              <a:rPr lang="en-US" b="1" dirty="0">
                <a:solidFill>
                  <a:srgbClr val="003F66"/>
                </a:solidFill>
              </a:rPr>
              <a:t>    	try  {</a:t>
            </a:r>
          </a:p>
          <a:p>
            <a:pPr algn="just"/>
            <a:r>
              <a:rPr lang="en-US" b="1" dirty="0">
                <a:solidFill>
                  <a:srgbClr val="003F66"/>
                </a:solidFill>
              </a:rPr>
              <a:t>    		while(flag==false)  {</a:t>
            </a:r>
          </a:p>
          <a:p>
            <a:pPr algn="just"/>
            <a:r>
              <a:rPr lang="en-US" b="1" dirty="0">
                <a:solidFill>
                  <a:srgbClr val="003F66"/>
                </a:solidFill>
              </a:rPr>
              <a:t>    		 	wait();</a:t>
            </a:r>
          </a:p>
          <a:p>
            <a:pPr algn="just"/>
            <a:r>
              <a:rPr lang="en-US" b="1" dirty="0">
                <a:solidFill>
                  <a:srgbClr val="003F66"/>
                </a:solidFill>
              </a:rPr>
              <a:t>    		}</a:t>
            </a:r>
          </a:p>
          <a:p>
            <a:pPr algn="just"/>
            <a:r>
              <a:rPr lang="en-US" b="1" dirty="0">
                <a:solidFill>
                  <a:srgbClr val="003F66"/>
                </a:solidFill>
              </a:rPr>
              <a:t>    	}</a:t>
            </a:r>
          </a:p>
          <a:p>
            <a:pPr algn="just"/>
            <a:r>
              <a:rPr lang="en-US" b="1" dirty="0">
                <a:solidFill>
                  <a:srgbClr val="003F66"/>
                </a:solidFill>
              </a:rPr>
              <a:t>    	catch(Exception e)  {}</a:t>
            </a:r>
          </a:p>
          <a:p>
            <a:pPr algn="just"/>
            <a:r>
              <a:rPr lang="en-US" b="1" dirty="0">
                <a:solidFill>
                  <a:srgbClr val="003F66"/>
                </a:solidFill>
              </a:rPr>
              <a:t>    	</a:t>
            </a:r>
          </a:p>
          <a:p>
            <a:pPr algn="just"/>
            <a:r>
              <a:rPr lang="en-US" b="1" dirty="0">
                <a:solidFill>
                  <a:srgbClr val="003F66"/>
                </a:solidFill>
              </a:rPr>
              <a:t>    	</a:t>
            </a:r>
            <a:r>
              <a:rPr lang="en-US" b="1" dirty="0" err="1">
                <a:solidFill>
                  <a:srgbClr val="003F66"/>
                </a:solidFill>
              </a:rPr>
              <a:t>System.out.println</a:t>
            </a:r>
            <a:r>
              <a:rPr lang="en-US" b="1" dirty="0">
                <a:solidFill>
                  <a:srgbClr val="003F66"/>
                </a:solidFill>
              </a:rPr>
              <a:t>("counter value is "+counter);</a:t>
            </a:r>
          </a:p>
          <a:p>
            <a:pPr algn="just"/>
            <a:r>
              <a:rPr lang="en-US" b="1" dirty="0">
                <a:solidFill>
                  <a:srgbClr val="003F66"/>
                </a:solidFill>
              </a:rPr>
              <a:t>		</a:t>
            </a:r>
          </a:p>
          <a:p>
            <a:pPr algn="just"/>
            <a:r>
              <a:rPr lang="en-US" b="1" dirty="0">
                <a:solidFill>
                  <a:srgbClr val="003F66"/>
                </a:solidFill>
              </a:rPr>
              <a:t>    	flag=false;</a:t>
            </a:r>
          </a:p>
          <a:p>
            <a:pPr algn="just"/>
            <a:r>
              <a:rPr lang="en-US" b="1" dirty="0">
                <a:solidFill>
                  <a:srgbClr val="003F66"/>
                </a:solidFill>
              </a:rPr>
              <a:t>    	notify();</a:t>
            </a:r>
          </a:p>
          <a:p>
            <a:pPr algn="just"/>
            <a:r>
              <a:rPr lang="en-US" b="1" dirty="0">
                <a:solidFill>
                  <a:srgbClr val="003F66"/>
                </a:solidFill>
              </a:rPr>
              <a:t>    }</a:t>
            </a:r>
          </a:p>
          <a:p>
            <a:pPr algn="just"/>
            <a:r>
              <a:rPr lang="en-US" b="1" dirty="0">
                <a:solidFill>
                  <a:srgbClr val="003F66"/>
                </a:solidFill>
              </a:rPr>
              <a:t>}</a:t>
            </a:r>
            <a:endParaRPr lang="en-IN" dirty="0"/>
          </a:p>
        </p:txBody>
      </p:sp>
      <p:sp>
        <p:nvSpPr>
          <p:cNvPr id="3" name="Footer Placeholder 2">
            <a:extLst>
              <a:ext uri="{FF2B5EF4-FFF2-40B4-BE49-F238E27FC236}">
                <a16:creationId xmlns:a16="http://schemas.microsoft.com/office/drawing/2014/main" id="{5BBDDB69-A1A7-FB14-7DA5-AF597CE29AC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203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1546412" y="1153396"/>
            <a:ext cx="7614396" cy="4247317"/>
          </a:xfrm>
          <a:prstGeom prst="rect">
            <a:avLst/>
          </a:prstGeom>
          <a:noFill/>
        </p:spPr>
        <p:txBody>
          <a:bodyPr wrap="square">
            <a:spAutoFit/>
          </a:bodyPr>
          <a:lstStyle/>
          <a:p>
            <a:r>
              <a:rPr lang="en-IN" b="1" dirty="0">
                <a:solidFill>
                  <a:srgbClr val="003F66"/>
                </a:solidFill>
              </a:rPr>
              <a:t>// GenerateMethodSynchThread.java</a:t>
            </a:r>
          </a:p>
          <a:p>
            <a:r>
              <a:rPr lang="en-IN" b="1" dirty="0">
                <a:solidFill>
                  <a:srgbClr val="003F66"/>
                </a:solidFill>
              </a:rPr>
              <a:t>public class </a:t>
            </a:r>
            <a:r>
              <a:rPr lang="en-IN" b="1" dirty="0" err="1">
                <a:solidFill>
                  <a:srgbClr val="003F66"/>
                </a:solidFill>
              </a:rPr>
              <a:t>GenerateMethodSynchThread</a:t>
            </a:r>
            <a:r>
              <a:rPr lang="en-IN" b="1" dirty="0">
                <a:solidFill>
                  <a:srgbClr val="003F66"/>
                </a:solidFill>
              </a:rPr>
              <a:t> extends Thread {</a:t>
            </a:r>
          </a:p>
          <a:p>
            <a:endParaRPr lang="en-IN" b="1" dirty="0">
              <a:solidFill>
                <a:srgbClr val="003F66"/>
              </a:solidFill>
            </a:endParaRPr>
          </a:p>
          <a:p>
            <a:r>
              <a:rPr lang="en-IN" b="1" dirty="0">
                <a:solidFill>
                  <a:srgbClr val="003F66"/>
                </a:solidFill>
              </a:rPr>
              <a:t>  </a:t>
            </a:r>
            <a:r>
              <a:rPr lang="en-IN" b="1" dirty="0" err="1">
                <a:solidFill>
                  <a:srgbClr val="003F66"/>
                </a:solidFill>
              </a:rPr>
              <a:t>NumberGeneratorSynch</a:t>
            </a:r>
            <a:r>
              <a:rPr lang="en-IN" b="1" dirty="0">
                <a:solidFill>
                  <a:srgbClr val="003F66"/>
                </a:solidFill>
              </a:rPr>
              <a:t> </a:t>
            </a:r>
            <a:r>
              <a:rPr lang="en-IN" b="1" dirty="0" err="1">
                <a:solidFill>
                  <a:srgbClr val="003F66"/>
                </a:solidFill>
              </a:rPr>
              <a:t>ngs</a:t>
            </a:r>
            <a:r>
              <a:rPr lang="en-IN" b="1" dirty="0">
                <a:solidFill>
                  <a:srgbClr val="003F66"/>
                </a:solidFill>
              </a:rPr>
              <a:t>;</a:t>
            </a:r>
          </a:p>
          <a:p>
            <a:endParaRPr lang="en-IN" b="1" dirty="0">
              <a:solidFill>
                <a:srgbClr val="003F66"/>
              </a:solidFill>
            </a:endParaRPr>
          </a:p>
          <a:p>
            <a:r>
              <a:rPr lang="en-IN" b="1" dirty="0">
                <a:solidFill>
                  <a:srgbClr val="003F66"/>
                </a:solidFill>
              </a:rPr>
              <a:t>  public </a:t>
            </a:r>
            <a:r>
              <a:rPr lang="en-IN" b="1" dirty="0" err="1">
                <a:solidFill>
                  <a:srgbClr val="003F66"/>
                </a:solidFill>
              </a:rPr>
              <a:t>GenerateMethodSynchThread</a:t>
            </a:r>
            <a:r>
              <a:rPr lang="en-IN" b="1" dirty="0">
                <a:solidFill>
                  <a:srgbClr val="003F66"/>
                </a:solidFill>
              </a:rPr>
              <a:t>(</a:t>
            </a:r>
            <a:r>
              <a:rPr lang="en-IN" b="1" dirty="0" err="1">
                <a:solidFill>
                  <a:srgbClr val="003F66"/>
                </a:solidFill>
              </a:rPr>
              <a:t>NumberGeneratorSynch</a:t>
            </a:r>
            <a:r>
              <a:rPr lang="en-IN" b="1" dirty="0">
                <a:solidFill>
                  <a:srgbClr val="003F66"/>
                </a:solidFill>
              </a:rPr>
              <a:t> </a:t>
            </a:r>
            <a:r>
              <a:rPr lang="en-IN" b="1" dirty="0" err="1">
                <a:solidFill>
                  <a:srgbClr val="003F66"/>
                </a:solidFill>
              </a:rPr>
              <a:t>ngs</a:t>
            </a:r>
            <a:r>
              <a:rPr lang="en-IN" b="1" dirty="0">
                <a:solidFill>
                  <a:srgbClr val="003F66"/>
                </a:solidFill>
              </a:rPr>
              <a:t>) {</a:t>
            </a:r>
          </a:p>
          <a:p>
            <a:r>
              <a:rPr lang="en-IN" b="1" dirty="0">
                <a:solidFill>
                  <a:srgbClr val="003F66"/>
                </a:solidFill>
              </a:rPr>
              <a:t>    </a:t>
            </a:r>
            <a:r>
              <a:rPr lang="en-IN" b="1" dirty="0" err="1">
                <a:solidFill>
                  <a:srgbClr val="003F66"/>
                </a:solidFill>
              </a:rPr>
              <a:t>this.ngs</a:t>
            </a:r>
            <a:r>
              <a:rPr lang="en-IN" b="1" dirty="0">
                <a:solidFill>
                  <a:srgbClr val="003F66"/>
                </a:solidFill>
              </a:rPr>
              <a:t>=</a:t>
            </a:r>
            <a:r>
              <a:rPr lang="en-IN" b="1" dirty="0" err="1">
                <a:solidFill>
                  <a:srgbClr val="003F66"/>
                </a:solidFill>
              </a:rPr>
              <a:t>ngs</a:t>
            </a:r>
            <a:r>
              <a:rPr lang="en-IN" b="1" dirty="0">
                <a:solidFill>
                  <a:srgbClr val="003F66"/>
                </a:solidFill>
              </a:rPr>
              <a:t>;</a:t>
            </a:r>
          </a:p>
          <a:p>
            <a:r>
              <a:rPr lang="en-IN" b="1" dirty="0">
                <a:solidFill>
                  <a:srgbClr val="003F66"/>
                </a:solidFill>
              </a:rPr>
              <a:t>  }</a:t>
            </a:r>
          </a:p>
          <a:p>
            <a:endParaRPr lang="en-IN" b="1" dirty="0">
              <a:solidFill>
                <a:srgbClr val="003F66"/>
              </a:solidFill>
            </a:endParaRPr>
          </a:p>
          <a:p>
            <a:r>
              <a:rPr lang="en-IN" b="1" dirty="0">
                <a:solidFill>
                  <a:srgbClr val="003F66"/>
                </a:solidFill>
              </a:rPr>
              <a:t>  public void run() {</a:t>
            </a:r>
          </a:p>
          <a:p>
            <a:r>
              <a:rPr lang="en-IN" b="1" dirty="0">
                <a:solidFill>
                  <a:srgbClr val="003F66"/>
                </a:solidFill>
              </a:rPr>
              <a:t>    for(int </a:t>
            </a:r>
            <a:r>
              <a:rPr lang="en-IN" b="1" dirty="0" err="1">
                <a:solidFill>
                  <a:srgbClr val="003F66"/>
                </a:solidFill>
              </a:rPr>
              <a:t>i</a:t>
            </a:r>
            <a:r>
              <a:rPr lang="en-IN" b="1" dirty="0">
                <a:solidFill>
                  <a:srgbClr val="003F66"/>
                </a:solidFill>
              </a:rPr>
              <a:t>=0;i&lt;100;i++) {</a:t>
            </a:r>
          </a:p>
          <a:p>
            <a:r>
              <a:rPr lang="en-IN" b="1" dirty="0">
                <a:solidFill>
                  <a:srgbClr val="003F66"/>
                </a:solidFill>
              </a:rPr>
              <a:t>      </a:t>
            </a:r>
            <a:r>
              <a:rPr lang="en-IN" b="1" dirty="0" err="1">
                <a:solidFill>
                  <a:srgbClr val="003F66"/>
                </a:solidFill>
              </a:rPr>
              <a:t>ngs.generate</a:t>
            </a:r>
            <a:r>
              <a:rPr lang="en-IN" b="1" dirty="0">
                <a:solidFill>
                  <a:srgbClr val="003F66"/>
                </a:solidFill>
              </a:rPr>
              <a:t>(</a:t>
            </a:r>
            <a:r>
              <a:rPr lang="en-IN" b="1" dirty="0" err="1">
                <a:solidFill>
                  <a:srgbClr val="003F66"/>
                </a:solidFill>
              </a:rPr>
              <a:t>i</a:t>
            </a:r>
            <a:r>
              <a:rPr lang="en-IN" b="1" dirty="0">
                <a:solidFill>
                  <a:srgbClr val="003F66"/>
                </a:solidFill>
              </a:rPr>
              <a:t>);</a:t>
            </a:r>
          </a:p>
          <a:p>
            <a:r>
              <a:rPr lang="en-IN" b="1" dirty="0">
                <a:solidFill>
                  <a:srgbClr val="003F66"/>
                </a:solidFill>
              </a:rPr>
              <a:t>    }  </a:t>
            </a:r>
          </a:p>
          <a:p>
            <a:r>
              <a:rPr lang="en-IN" b="1" dirty="0">
                <a:solidFill>
                  <a:srgbClr val="003F66"/>
                </a:solidFill>
              </a:rPr>
              <a:t>  }</a:t>
            </a:r>
          </a:p>
          <a:p>
            <a:r>
              <a:rPr lang="en-IN" b="1" dirty="0">
                <a:solidFill>
                  <a:srgbClr val="003F66"/>
                </a:solidFill>
              </a:rPr>
              <a:t>}</a:t>
            </a:r>
          </a:p>
        </p:txBody>
      </p:sp>
      <p:sp>
        <p:nvSpPr>
          <p:cNvPr id="3" name="Footer Placeholder 2">
            <a:extLst>
              <a:ext uri="{FF2B5EF4-FFF2-40B4-BE49-F238E27FC236}">
                <a16:creationId xmlns:a16="http://schemas.microsoft.com/office/drawing/2014/main" id="{2893DEA5-01B7-A291-E40A-3A2363DADFB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611039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1546412" y="1153396"/>
            <a:ext cx="7614396" cy="4524315"/>
          </a:xfrm>
          <a:prstGeom prst="rect">
            <a:avLst/>
          </a:prstGeom>
          <a:noFill/>
        </p:spPr>
        <p:txBody>
          <a:bodyPr wrap="square">
            <a:spAutoFit/>
          </a:bodyPr>
          <a:lstStyle/>
          <a:p>
            <a:r>
              <a:rPr lang="en-IN" b="1" dirty="0">
                <a:solidFill>
                  <a:srgbClr val="003F66"/>
                </a:solidFill>
              </a:rPr>
              <a:t>// PrintMethodSynchThread.java</a:t>
            </a:r>
          </a:p>
          <a:p>
            <a:r>
              <a:rPr lang="en-IN" b="1" dirty="0">
                <a:solidFill>
                  <a:srgbClr val="003F66"/>
                </a:solidFill>
              </a:rPr>
              <a:t>public class </a:t>
            </a:r>
            <a:r>
              <a:rPr lang="en-IN" b="1" dirty="0" err="1">
                <a:solidFill>
                  <a:srgbClr val="003F66"/>
                </a:solidFill>
              </a:rPr>
              <a:t>PrintMethodSynchThread</a:t>
            </a:r>
            <a:r>
              <a:rPr lang="en-IN" b="1" dirty="0">
                <a:solidFill>
                  <a:srgbClr val="003F66"/>
                </a:solidFill>
              </a:rPr>
              <a:t> extends Thread {</a:t>
            </a:r>
          </a:p>
          <a:p>
            <a:endParaRPr lang="en-IN" b="1" dirty="0">
              <a:solidFill>
                <a:srgbClr val="003F66"/>
              </a:solidFill>
            </a:endParaRPr>
          </a:p>
          <a:p>
            <a:r>
              <a:rPr lang="en-IN" b="1" dirty="0">
                <a:solidFill>
                  <a:srgbClr val="003F66"/>
                </a:solidFill>
              </a:rPr>
              <a:t>  </a:t>
            </a:r>
            <a:r>
              <a:rPr lang="en-IN" b="1" dirty="0" err="1">
                <a:solidFill>
                  <a:srgbClr val="003F66"/>
                </a:solidFill>
              </a:rPr>
              <a:t>NumberGeneratorSynch</a:t>
            </a:r>
            <a:r>
              <a:rPr lang="en-IN" b="1" dirty="0">
                <a:solidFill>
                  <a:srgbClr val="003F66"/>
                </a:solidFill>
              </a:rPr>
              <a:t> </a:t>
            </a:r>
            <a:r>
              <a:rPr lang="en-IN" b="1" dirty="0" err="1">
                <a:solidFill>
                  <a:srgbClr val="003F66"/>
                </a:solidFill>
              </a:rPr>
              <a:t>ngs</a:t>
            </a:r>
            <a:r>
              <a:rPr lang="en-IN" b="1" dirty="0">
                <a:solidFill>
                  <a:srgbClr val="003F66"/>
                </a:solidFill>
              </a:rPr>
              <a:t>;</a:t>
            </a:r>
          </a:p>
          <a:p>
            <a:endParaRPr lang="en-IN" b="1" dirty="0">
              <a:solidFill>
                <a:srgbClr val="003F66"/>
              </a:solidFill>
            </a:endParaRPr>
          </a:p>
          <a:p>
            <a:r>
              <a:rPr lang="en-IN" b="1" dirty="0">
                <a:solidFill>
                  <a:srgbClr val="003F66"/>
                </a:solidFill>
              </a:rPr>
              <a:t>  public </a:t>
            </a:r>
            <a:r>
              <a:rPr lang="en-IN" b="1" dirty="0" err="1">
                <a:solidFill>
                  <a:srgbClr val="003F66"/>
                </a:solidFill>
              </a:rPr>
              <a:t>PrintMethodSynchThread</a:t>
            </a:r>
            <a:r>
              <a:rPr lang="en-IN" b="1" dirty="0">
                <a:solidFill>
                  <a:srgbClr val="003F66"/>
                </a:solidFill>
              </a:rPr>
              <a:t>(</a:t>
            </a:r>
            <a:r>
              <a:rPr lang="en-IN" b="1" dirty="0" err="1">
                <a:solidFill>
                  <a:srgbClr val="003F66"/>
                </a:solidFill>
              </a:rPr>
              <a:t>NumberGeneratorSynch</a:t>
            </a:r>
            <a:r>
              <a:rPr lang="en-IN" b="1" dirty="0">
                <a:solidFill>
                  <a:srgbClr val="003F66"/>
                </a:solidFill>
              </a:rPr>
              <a:t> </a:t>
            </a:r>
            <a:r>
              <a:rPr lang="en-IN" b="1" dirty="0" err="1">
                <a:solidFill>
                  <a:srgbClr val="003F66"/>
                </a:solidFill>
              </a:rPr>
              <a:t>ngs</a:t>
            </a:r>
            <a:r>
              <a:rPr lang="en-IN" b="1" dirty="0">
                <a:solidFill>
                  <a:srgbClr val="003F66"/>
                </a:solidFill>
              </a:rPr>
              <a:t>) {</a:t>
            </a:r>
          </a:p>
          <a:p>
            <a:r>
              <a:rPr lang="en-IN" b="1" dirty="0">
                <a:solidFill>
                  <a:srgbClr val="003F66"/>
                </a:solidFill>
              </a:rPr>
              <a:t>    </a:t>
            </a:r>
            <a:r>
              <a:rPr lang="en-IN" b="1" dirty="0" err="1">
                <a:solidFill>
                  <a:srgbClr val="003F66"/>
                </a:solidFill>
              </a:rPr>
              <a:t>this.ngs</a:t>
            </a:r>
            <a:r>
              <a:rPr lang="en-IN" b="1" dirty="0">
                <a:solidFill>
                  <a:srgbClr val="003F66"/>
                </a:solidFill>
              </a:rPr>
              <a:t>=</a:t>
            </a:r>
            <a:r>
              <a:rPr lang="en-IN" b="1" dirty="0" err="1">
                <a:solidFill>
                  <a:srgbClr val="003F66"/>
                </a:solidFill>
              </a:rPr>
              <a:t>ngs</a:t>
            </a:r>
            <a:r>
              <a:rPr lang="en-IN" b="1" dirty="0">
                <a:solidFill>
                  <a:srgbClr val="003F66"/>
                </a:solidFill>
              </a:rPr>
              <a:t>;</a:t>
            </a:r>
          </a:p>
          <a:p>
            <a:r>
              <a:rPr lang="en-IN" b="1" dirty="0">
                <a:solidFill>
                  <a:srgbClr val="003F66"/>
                </a:solidFill>
              </a:rPr>
              <a:t>  }</a:t>
            </a:r>
          </a:p>
          <a:p>
            <a:endParaRPr lang="en-IN" b="1" dirty="0">
              <a:solidFill>
                <a:srgbClr val="003F66"/>
              </a:solidFill>
            </a:endParaRPr>
          </a:p>
          <a:p>
            <a:r>
              <a:rPr lang="en-IN" b="1" dirty="0">
                <a:solidFill>
                  <a:srgbClr val="003F66"/>
                </a:solidFill>
              </a:rPr>
              <a:t>  public void run() {</a:t>
            </a:r>
          </a:p>
          <a:p>
            <a:r>
              <a:rPr lang="en-IN" b="1" dirty="0">
                <a:solidFill>
                  <a:srgbClr val="003F66"/>
                </a:solidFill>
              </a:rPr>
              <a:t>    for(int </a:t>
            </a:r>
            <a:r>
              <a:rPr lang="en-IN" b="1" dirty="0" err="1">
                <a:solidFill>
                  <a:srgbClr val="003F66"/>
                </a:solidFill>
              </a:rPr>
              <a:t>i</a:t>
            </a:r>
            <a:r>
              <a:rPr lang="en-IN" b="1" dirty="0">
                <a:solidFill>
                  <a:srgbClr val="003F66"/>
                </a:solidFill>
              </a:rPr>
              <a:t>=0;i&lt;100;i++) {</a:t>
            </a:r>
          </a:p>
          <a:p>
            <a:r>
              <a:rPr lang="en-IN" b="1" dirty="0">
                <a:solidFill>
                  <a:srgbClr val="003F66"/>
                </a:solidFill>
              </a:rPr>
              <a:t>      </a:t>
            </a:r>
            <a:r>
              <a:rPr lang="en-IN" b="1" dirty="0" err="1">
                <a:solidFill>
                  <a:srgbClr val="003F66"/>
                </a:solidFill>
              </a:rPr>
              <a:t>ngs.print</a:t>
            </a:r>
            <a:r>
              <a:rPr lang="en-IN" b="1" dirty="0">
                <a:solidFill>
                  <a:srgbClr val="003F66"/>
                </a:solidFill>
              </a:rPr>
              <a:t>();</a:t>
            </a:r>
          </a:p>
          <a:p>
            <a:r>
              <a:rPr lang="en-IN" b="1" dirty="0">
                <a:solidFill>
                  <a:srgbClr val="003F66"/>
                </a:solidFill>
              </a:rPr>
              <a:t>    }  </a:t>
            </a:r>
          </a:p>
          <a:p>
            <a:r>
              <a:rPr lang="en-IN" b="1" dirty="0">
                <a:solidFill>
                  <a:srgbClr val="003F66"/>
                </a:solidFill>
              </a:rPr>
              <a:t>  }</a:t>
            </a:r>
          </a:p>
          <a:p>
            <a:r>
              <a:rPr lang="en-IN" b="1" dirty="0">
                <a:solidFill>
                  <a:srgbClr val="003F66"/>
                </a:solidFill>
              </a:rPr>
              <a:t>}</a:t>
            </a:r>
          </a:p>
          <a:p>
            <a:endParaRPr lang="en-IN" b="1" dirty="0">
              <a:solidFill>
                <a:srgbClr val="003F66"/>
              </a:solidFill>
            </a:endParaRPr>
          </a:p>
        </p:txBody>
      </p:sp>
      <p:sp>
        <p:nvSpPr>
          <p:cNvPr id="3" name="Footer Placeholder 2">
            <a:extLst>
              <a:ext uri="{FF2B5EF4-FFF2-40B4-BE49-F238E27FC236}">
                <a16:creationId xmlns:a16="http://schemas.microsoft.com/office/drawing/2014/main" id="{84AD80AF-6FBE-A04D-DCA4-D33A1C5A920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42381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1546412" y="1153396"/>
            <a:ext cx="7614396" cy="3970318"/>
          </a:xfrm>
          <a:prstGeom prst="rect">
            <a:avLst/>
          </a:prstGeom>
          <a:noFill/>
        </p:spPr>
        <p:txBody>
          <a:bodyPr wrap="square">
            <a:spAutoFit/>
          </a:bodyPr>
          <a:lstStyle/>
          <a:p>
            <a:r>
              <a:rPr lang="en-IN" b="1" dirty="0">
                <a:solidFill>
                  <a:srgbClr val="003F66"/>
                </a:solidFill>
              </a:rPr>
              <a:t>// NumberGeneratorSynchClient.java</a:t>
            </a:r>
          </a:p>
          <a:p>
            <a:r>
              <a:rPr lang="en-IN" b="1" dirty="0">
                <a:solidFill>
                  <a:srgbClr val="003F66"/>
                </a:solidFill>
              </a:rPr>
              <a:t>public class </a:t>
            </a:r>
            <a:r>
              <a:rPr lang="en-IN" b="1" dirty="0" err="1">
                <a:solidFill>
                  <a:srgbClr val="003F66"/>
                </a:solidFill>
              </a:rPr>
              <a:t>NumberGeneratorSynchClient</a:t>
            </a:r>
            <a:r>
              <a:rPr lang="en-IN" b="1" dirty="0">
                <a:solidFill>
                  <a:srgbClr val="003F66"/>
                </a:solidFill>
              </a:rPr>
              <a:t> {</a:t>
            </a:r>
          </a:p>
          <a:p>
            <a:r>
              <a:rPr lang="en-IN" b="1" dirty="0">
                <a:solidFill>
                  <a:srgbClr val="003F66"/>
                </a:solidFill>
              </a:rPr>
              <a:t>  public static void main(String rags[]) {</a:t>
            </a:r>
          </a:p>
          <a:p>
            <a:r>
              <a:rPr lang="en-IN" b="1" dirty="0">
                <a:solidFill>
                  <a:srgbClr val="003F66"/>
                </a:solidFill>
              </a:rPr>
              <a:t>  </a:t>
            </a:r>
          </a:p>
          <a:p>
            <a:r>
              <a:rPr lang="en-IN" b="1" dirty="0">
                <a:solidFill>
                  <a:srgbClr val="003F66"/>
                </a:solidFill>
              </a:rPr>
              <a:t>    </a:t>
            </a:r>
            <a:r>
              <a:rPr lang="en-IN" b="1" dirty="0" err="1">
                <a:solidFill>
                  <a:srgbClr val="003F66"/>
                </a:solidFill>
              </a:rPr>
              <a:t>NumberGeneratorSynch</a:t>
            </a:r>
            <a:r>
              <a:rPr lang="en-IN" b="1" dirty="0">
                <a:solidFill>
                  <a:srgbClr val="003F66"/>
                </a:solidFill>
              </a:rPr>
              <a:t> </a:t>
            </a:r>
            <a:r>
              <a:rPr lang="en-IN" b="1" dirty="0" err="1">
                <a:solidFill>
                  <a:srgbClr val="003F66"/>
                </a:solidFill>
              </a:rPr>
              <a:t>ngs</a:t>
            </a:r>
            <a:r>
              <a:rPr lang="en-IN" b="1" dirty="0">
                <a:solidFill>
                  <a:srgbClr val="003F66"/>
                </a:solidFill>
              </a:rPr>
              <a:t>=new </a:t>
            </a:r>
            <a:r>
              <a:rPr lang="en-IN" b="1" dirty="0" err="1">
                <a:solidFill>
                  <a:srgbClr val="003F66"/>
                </a:solidFill>
              </a:rPr>
              <a:t>NumberGeneratorSynch</a:t>
            </a:r>
            <a:r>
              <a:rPr lang="en-IN" b="1" dirty="0">
                <a:solidFill>
                  <a:srgbClr val="003F66"/>
                </a:solidFill>
              </a:rPr>
              <a:t>();</a:t>
            </a:r>
          </a:p>
          <a:p>
            <a:r>
              <a:rPr lang="en-IN" b="1" dirty="0">
                <a:solidFill>
                  <a:srgbClr val="003F66"/>
                </a:solidFill>
              </a:rPr>
              <a:t>	</a:t>
            </a:r>
          </a:p>
          <a:p>
            <a:r>
              <a:rPr lang="en-IN" b="1" dirty="0">
                <a:solidFill>
                  <a:srgbClr val="003F66"/>
                </a:solidFill>
              </a:rPr>
              <a:t>    </a:t>
            </a:r>
            <a:r>
              <a:rPr lang="en-IN" b="1" dirty="0" err="1">
                <a:solidFill>
                  <a:srgbClr val="003F66"/>
                </a:solidFill>
              </a:rPr>
              <a:t>GenerateMethodSynchThread</a:t>
            </a:r>
            <a:r>
              <a:rPr lang="en-IN" b="1" dirty="0">
                <a:solidFill>
                  <a:srgbClr val="003F66"/>
                </a:solidFill>
              </a:rPr>
              <a:t> </a:t>
            </a:r>
            <a:r>
              <a:rPr lang="en-IN" b="1" dirty="0" err="1">
                <a:solidFill>
                  <a:srgbClr val="003F66"/>
                </a:solidFill>
              </a:rPr>
              <a:t>gmst</a:t>
            </a:r>
            <a:r>
              <a:rPr lang="en-IN" b="1" dirty="0">
                <a:solidFill>
                  <a:srgbClr val="003F66"/>
                </a:solidFill>
              </a:rPr>
              <a:t>=new </a:t>
            </a:r>
            <a:r>
              <a:rPr lang="en-IN" b="1" dirty="0" err="1">
                <a:solidFill>
                  <a:srgbClr val="003F66"/>
                </a:solidFill>
              </a:rPr>
              <a:t>GenerateMethodSynchThread</a:t>
            </a:r>
            <a:r>
              <a:rPr lang="en-IN" b="1" dirty="0">
                <a:solidFill>
                  <a:srgbClr val="003F66"/>
                </a:solidFill>
              </a:rPr>
              <a:t>(</a:t>
            </a:r>
            <a:r>
              <a:rPr lang="en-IN" b="1" dirty="0" err="1">
                <a:solidFill>
                  <a:srgbClr val="003F66"/>
                </a:solidFill>
              </a:rPr>
              <a:t>ngs</a:t>
            </a:r>
            <a:r>
              <a:rPr lang="en-IN" b="1" dirty="0">
                <a:solidFill>
                  <a:srgbClr val="003F66"/>
                </a:solidFill>
              </a:rPr>
              <a:t>);</a:t>
            </a:r>
          </a:p>
          <a:p>
            <a:r>
              <a:rPr lang="en-IN" b="1" dirty="0">
                <a:solidFill>
                  <a:srgbClr val="003F66"/>
                </a:solidFill>
              </a:rPr>
              <a:t>    </a:t>
            </a:r>
            <a:r>
              <a:rPr lang="en-IN" b="1" dirty="0" err="1">
                <a:solidFill>
                  <a:srgbClr val="003F66"/>
                </a:solidFill>
              </a:rPr>
              <a:t>PrintMethodSynchThread</a:t>
            </a:r>
            <a:r>
              <a:rPr lang="en-IN" b="1" dirty="0">
                <a:solidFill>
                  <a:srgbClr val="003F66"/>
                </a:solidFill>
              </a:rPr>
              <a:t> </a:t>
            </a:r>
            <a:r>
              <a:rPr lang="en-IN" b="1" dirty="0" err="1">
                <a:solidFill>
                  <a:srgbClr val="003F66"/>
                </a:solidFill>
              </a:rPr>
              <a:t>pmst</a:t>
            </a:r>
            <a:r>
              <a:rPr lang="en-IN" b="1" dirty="0">
                <a:solidFill>
                  <a:srgbClr val="003F66"/>
                </a:solidFill>
              </a:rPr>
              <a:t>=new </a:t>
            </a:r>
            <a:r>
              <a:rPr lang="en-IN" b="1" dirty="0" err="1">
                <a:solidFill>
                  <a:srgbClr val="003F66"/>
                </a:solidFill>
              </a:rPr>
              <a:t>PrintMethodSynchThread</a:t>
            </a:r>
            <a:r>
              <a:rPr lang="en-IN" b="1" dirty="0">
                <a:solidFill>
                  <a:srgbClr val="003F66"/>
                </a:solidFill>
              </a:rPr>
              <a:t>(</a:t>
            </a:r>
            <a:r>
              <a:rPr lang="en-IN" b="1" dirty="0" err="1">
                <a:solidFill>
                  <a:srgbClr val="003F66"/>
                </a:solidFill>
              </a:rPr>
              <a:t>ngs</a:t>
            </a:r>
            <a:r>
              <a:rPr lang="en-IN" b="1" dirty="0">
                <a:solidFill>
                  <a:srgbClr val="003F66"/>
                </a:solidFill>
              </a:rPr>
              <a:t>);</a:t>
            </a:r>
          </a:p>
          <a:p>
            <a:r>
              <a:rPr lang="en-IN" b="1" dirty="0">
                <a:solidFill>
                  <a:srgbClr val="003F66"/>
                </a:solidFill>
              </a:rPr>
              <a:t>	</a:t>
            </a:r>
          </a:p>
          <a:p>
            <a:r>
              <a:rPr lang="en-IN" b="1" dirty="0">
                <a:solidFill>
                  <a:srgbClr val="003F66"/>
                </a:solidFill>
              </a:rPr>
              <a:t>    </a:t>
            </a:r>
            <a:r>
              <a:rPr lang="en-IN" b="1" dirty="0" err="1">
                <a:solidFill>
                  <a:srgbClr val="003F66"/>
                </a:solidFill>
              </a:rPr>
              <a:t>gmst.start</a:t>
            </a:r>
            <a:r>
              <a:rPr lang="en-IN" b="1" dirty="0">
                <a:solidFill>
                  <a:srgbClr val="003F66"/>
                </a:solidFill>
              </a:rPr>
              <a:t>();</a:t>
            </a:r>
          </a:p>
          <a:p>
            <a:r>
              <a:rPr lang="en-IN" b="1" dirty="0">
                <a:solidFill>
                  <a:srgbClr val="003F66"/>
                </a:solidFill>
              </a:rPr>
              <a:t>    </a:t>
            </a:r>
            <a:r>
              <a:rPr lang="en-IN" b="1" dirty="0" err="1">
                <a:solidFill>
                  <a:srgbClr val="003F66"/>
                </a:solidFill>
              </a:rPr>
              <a:t>pmst.start</a:t>
            </a:r>
            <a:r>
              <a:rPr lang="en-IN" b="1" dirty="0">
                <a:solidFill>
                  <a:srgbClr val="003F66"/>
                </a:solidFill>
              </a:rPr>
              <a:t>();</a:t>
            </a:r>
          </a:p>
          <a:p>
            <a:r>
              <a:rPr lang="en-IN" b="1" dirty="0">
                <a:solidFill>
                  <a:srgbClr val="003F66"/>
                </a:solidFill>
              </a:rPr>
              <a:t>  }</a:t>
            </a:r>
          </a:p>
          <a:p>
            <a:r>
              <a:rPr lang="en-IN" b="1" dirty="0">
                <a:solidFill>
                  <a:srgbClr val="003F66"/>
                </a:solidFill>
              </a:rPr>
              <a:t>}</a:t>
            </a:r>
          </a:p>
        </p:txBody>
      </p:sp>
      <p:sp>
        <p:nvSpPr>
          <p:cNvPr id="3" name="Footer Placeholder 2">
            <a:extLst>
              <a:ext uri="{FF2B5EF4-FFF2-40B4-BE49-F238E27FC236}">
                <a16:creationId xmlns:a16="http://schemas.microsoft.com/office/drawing/2014/main" id="{3BBBF6B0-D538-30BC-4777-1100BD8BFA6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62758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971088" y="1770654"/>
            <a:ext cx="7614396" cy="2031325"/>
          </a:xfrm>
          <a:prstGeom prst="rect">
            <a:avLst/>
          </a:prstGeom>
          <a:noFill/>
        </p:spPr>
        <p:txBody>
          <a:bodyPr wrap="square">
            <a:spAutoFit/>
          </a:bodyPr>
          <a:lstStyle/>
          <a:p>
            <a:pPr algn="just"/>
            <a:r>
              <a:rPr lang="en-US" b="1" dirty="0">
                <a:solidFill>
                  <a:srgbClr val="003F66"/>
                </a:solidFill>
              </a:rPr>
              <a:t>The problem in method synchronization is the synch is static. Because the required methods are already declared as synch when they are running in multiple threads the </a:t>
            </a:r>
            <a:r>
              <a:rPr lang="en-US" b="1" dirty="0" err="1">
                <a:solidFill>
                  <a:srgbClr val="003F66"/>
                </a:solidFill>
              </a:rPr>
              <a:t>sych</a:t>
            </a:r>
            <a:r>
              <a:rPr lang="en-US" b="1" dirty="0">
                <a:solidFill>
                  <a:srgbClr val="003F66"/>
                </a:solidFill>
              </a:rPr>
              <a:t> declared methods always runs in synch state. If they want to run simultaneously we cannot run them </a:t>
            </a:r>
            <a:r>
              <a:rPr lang="en-US" b="1" dirty="0" err="1">
                <a:solidFill>
                  <a:srgbClr val="003F66"/>
                </a:solidFill>
              </a:rPr>
              <a:t>siml</a:t>
            </a:r>
            <a:r>
              <a:rPr lang="en-US" b="1" dirty="0">
                <a:solidFill>
                  <a:srgbClr val="003F66"/>
                </a:solidFill>
              </a:rPr>
              <a:t>. Whereas while calling methods from threads if the method is called from synchronized object block, required methods can be called from synch block, other methods will run simultaneous.</a:t>
            </a:r>
            <a:endParaRPr lang="en-IN" b="1" dirty="0">
              <a:solidFill>
                <a:srgbClr val="003F66"/>
              </a:solidFill>
            </a:endParaRPr>
          </a:p>
        </p:txBody>
      </p:sp>
      <p:sp>
        <p:nvSpPr>
          <p:cNvPr id="3" name="Footer Placeholder 2">
            <a:extLst>
              <a:ext uri="{FF2B5EF4-FFF2-40B4-BE49-F238E27FC236}">
                <a16:creationId xmlns:a16="http://schemas.microsoft.com/office/drawing/2014/main" id="{018C5D4B-001D-7910-5DAC-C5C0828F6D7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70117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971088" y="1770654"/>
            <a:ext cx="7614396" cy="1200329"/>
          </a:xfrm>
          <a:prstGeom prst="rect">
            <a:avLst/>
          </a:prstGeom>
          <a:noFill/>
        </p:spPr>
        <p:txBody>
          <a:bodyPr wrap="square">
            <a:spAutoFit/>
          </a:bodyPr>
          <a:lstStyle/>
          <a:p>
            <a:pPr algn="ctr"/>
            <a:r>
              <a:rPr lang="en-US" sz="4800" b="1" dirty="0">
                <a:solidFill>
                  <a:srgbClr val="003F66"/>
                </a:solidFill>
              </a:rPr>
              <a:t>Object Synchronization</a:t>
            </a:r>
            <a:endParaRPr lang="en-US" b="1" dirty="0">
              <a:solidFill>
                <a:srgbClr val="003F66"/>
              </a:solidFill>
            </a:endParaRPr>
          </a:p>
          <a:p>
            <a:pPr algn="ctr"/>
            <a:r>
              <a:rPr lang="en-US" sz="2400" b="1" dirty="0">
                <a:solidFill>
                  <a:srgbClr val="003F66"/>
                </a:solidFill>
              </a:rPr>
              <a:t>instead of Method Synchronization</a:t>
            </a:r>
            <a:endParaRPr lang="en-IN" b="1" dirty="0">
              <a:solidFill>
                <a:srgbClr val="003F66"/>
              </a:solidFill>
            </a:endParaRPr>
          </a:p>
        </p:txBody>
      </p:sp>
      <p:sp>
        <p:nvSpPr>
          <p:cNvPr id="3" name="TextBox 2">
            <a:extLst>
              <a:ext uri="{FF2B5EF4-FFF2-40B4-BE49-F238E27FC236}">
                <a16:creationId xmlns:a16="http://schemas.microsoft.com/office/drawing/2014/main" id="{8A691362-8857-CF14-C773-50EDC935E1E9}"/>
              </a:ext>
            </a:extLst>
          </p:cNvPr>
          <p:cNvSpPr txBox="1"/>
          <p:nvPr/>
        </p:nvSpPr>
        <p:spPr>
          <a:xfrm>
            <a:off x="962124" y="3348436"/>
            <a:ext cx="7614396" cy="1015663"/>
          </a:xfrm>
          <a:prstGeom prst="rect">
            <a:avLst/>
          </a:prstGeom>
          <a:noFill/>
        </p:spPr>
        <p:txBody>
          <a:bodyPr wrap="square">
            <a:spAutoFit/>
          </a:bodyPr>
          <a:lstStyle/>
          <a:p>
            <a:pPr algn="ctr"/>
            <a:r>
              <a:rPr lang="en-US" sz="2000" b="1" dirty="0">
                <a:solidFill>
                  <a:srgbClr val="003F66"/>
                </a:solidFill>
              </a:rPr>
              <a:t>aka Dynamic Synchronization</a:t>
            </a:r>
          </a:p>
          <a:p>
            <a:pPr algn="ctr"/>
            <a:r>
              <a:rPr lang="en-US" sz="2000" b="1" dirty="0">
                <a:solidFill>
                  <a:srgbClr val="003F66"/>
                </a:solidFill>
              </a:rPr>
              <a:t>because of if Threads want to synchronize methods execution they can, otherwise they will call methods as normal methods</a:t>
            </a:r>
            <a:endParaRPr lang="en-IN" sz="1200" b="1" dirty="0">
              <a:solidFill>
                <a:srgbClr val="003F66"/>
              </a:solidFill>
            </a:endParaRPr>
          </a:p>
        </p:txBody>
      </p:sp>
      <p:sp>
        <p:nvSpPr>
          <p:cNvPr id="12" name="TextBox 11">
            <a:extLst>
              <a:ext uri="{FF2B5EF4-FFF2-40B4-BE49-F238E27FC236}">
                <a16:creationId xmlns:a16="http://schemas.microsoft.com/office/drawing/2014/main" id="{0780F6E5-E239-DEE3-33DB-C13A5ECBBCC9}"/>
              </a:ext>
            </a:extLst>
          </p:cNvPr>
          <p:cNvSpPr txBox="1"/>
          <p:nvPr/>
        </p:nvSpPr>
        <p:spPr>
          <a:xfrm>
            <a:off x="1879232" y="4468011"/>
            <a:ext cx="6125134" cy="1200329"/>
          </a:xfrm>
          <a:prstGeom prst="rect">
            <a:avLst/>
          </a:prstGeom>
          <a:noFill/>
        </p:spPr>
        <p:txBody>
          <a:bodyPr wrap="square">
            <a:spAutoFit/>
          </a:bodyPr>
          <a:lstStyle/>
          <a:p>
            <a:pPr algn="ctr"/>
            <a:r>
              <a:rPr lang="en-US" sz="4000" b="1" dirty="0">
                <a:solidFill>
                  <a:srgbClr val="003F66"/>
                </a:solidFill>
              </a:rPr>
              <a:t>Threads</a:t>
            </a:r>
          </a:p>
          <a:p>
            <a:pPr algn="ctr"/>
            <a:r>
              <a:rPr lang="en-US" sz="3200" b="1" dirty="0">
                <a:solidFill>
                  <a:srgbClr val="003F66"/>
                </a:solidFill>
              </a:rPr>
              <a:t>Part - IV</a:t>
            </a:r>
            <a:endParaRPr lang="en-IN" sz="3200" dirty="0"/>
          </a:p>
        </p:txBody>
      </p:sp>
      <p:sp>
        <p:nvSpPr>
          <p:cNvPr id="5" name="Footer Placeholder 4">
            <a:extLst>
              <a:ext uri="{FF2B5EF4-FFF2-40B4-BE49-F238E27FC236}">
                <a16:creationId xmlns:a16="http://schemas.microsoft.com/office/drawing/2014/main" id="{58F27ABD-71FA-B94B-FCD7-949568C910C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435014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339079" y="708330"/>
            <a:ext cx="7142821" cy="5355312"/>
          </a:xfrm>
          <a:prstGeom prst="rect">
            <a:avLst/>
          </a:prstGeom>
          <a:noFill/>
        </p:spPr>
        <p:txBody>
          <a:bodyPr wrap="square">
            <a:spAutoFit/>
          </a:bodyPr>
          <a:lstStyle/>
          <a:p>
            <a:pPr algn="just"/>
            <a:r>
              <a:rPr lang="en-US" b="1" dirty="0">
                <a:solidFill>
                  <a:srgbClr val="003F66"/>
                </a:solidFill>
              </a:rPr>
              <a:t>// NumberGeneratorSynch1.java</a:t>
            </a:r>
          </a:p>
          <a:p>
            <a:pPr algn="just"/>
            <a:r>
              <a:rPr lang="en-US" b="1" dirty="0">
                <a:solidFill>
                  <a:srgbClr val="003F66"/>
                </a:solidFill>
              </a:rPr>
              <a:t>class NumberGeneratorSynch1 {</a:t>
            </a:r>
          </a:p>
          <a:p>
            <a:pPr algn="just"/>
            <a:r>
              <a:rPr lang="en-US" b="1" dirty="0">
                <a:solidFill>
                  <a:srgbClr val="003F66"/>
                </a:solidFill>
              </a:rPr>
              <a:t>    int counter;</a:t>
            </a:r>
          </a:p>
          <a:p>
            <a:pPr algn="just"/>
            <a:r>
              <a:rPr lang="en-US" b="1" dirty="0">
                <a:solidFill>
                  <a:srgbClr val="003F66"/>
                </a:solidFill>
              </a:rPr>
              <a:t>    </a:t>
            </a:r>
            <a:r>
              <a:rPr lang="en-US" b="1" dirty="0" err="1">
                <a:solidFill>
                  <a:srgbClr val="003F66"/>
                </a:solidFill>
              </a:rPr>
              <a:t>boolean</a:t>
            </a:r>
            <a:r>
              <a:rPr lang="en-US" b="1" dirty="0">
                <a:solidFill>
                  <a:srgbClr val="003F66"/>
                </a:solidFill>
              </a:rPr>
              <a:t> flag;</a:t>
            </a:r>
          </a:p>
          <a:p>
            <a:pPr algn="just"/>
            <a:r>
              <a:rPr lang="en-US" b="1" dirty="0">
                <a:solidFill>
                  <a:srgbClr val="003F66"/>
                </a:solidFill>
              </a:rPr>
              <a:t>    </a:t>
            </a:r>
          </a:p>
          <a:p>
            <a:pPr algn="just"/>
            <a:r>
              <a:rPr lang="en-US" b="1" dirty="0">
                <a:solidFill>
                  <a:srgbClr val="003F66"/>
                </a:solidFill>
              </a:rPr>
              <a:t>    public void generate(int </a:t>
            </a:r>
            <a:r>
              <a:rPr lang="en-US" b="1" dirty="0" err="1">
                <a:solidFill>
                  <a:srgbClr val="003F66"/>
                </a:solidFill>
              </a:rPr>
              <a:t>i</a:t>
            </a:r>
            <a:r>
              <a:rPr lang="en-US" b="1" dirty="0">
                <a:solidFill>
                  <a:srgbClr val="003F66"/>
                </a:solidFill>
              </a:rPr>
              <a:t>) {</a:t>
            </a:r>
          </a:p>
          <a:p>
            <a:pPr algn="just"/>
            <a:r>
              <a:rPr lang="en-US" b="1" dirty="0">
                <a:solidFill>
                  <a:srgbClr val="003F66"/>
                </a:solidFill>
              </a:rPr>
              <a:t>	</a:t>
            </a:r>
            <a:r>
              <a:rPr lang="en-US" b="1" dirty="0" err="1">
                <a:solidFill>
                  <a:srgbClr val="003F66"/>
                </a:solidFill>
              </a:rPr>
              <a:t>System.out.println</a:t>
            </a:r>
            <a:r>
              <a:rPr lang="en-US" b="1" dirty="0">
                <a:solidFill>
                  <a:srgbClr val="003F66"/>
                </a:solidFill>
              </a:rPr>
              <a:t>("generate() called");</a:t>
            </a:r>
          </a:p>
          <a:p>
            <a:pPr algn="just"/>
            <a:r>
              <a:rPr lang="en-US" b="1" dirty="0">
                <a:solidFill>
                  <a:srgbClr val="003F66"/>
                </a:solidFill>
              </a:rPr>
              <a:t>	try {</a:t>
            </a:r>
          </a:p>
          <a:p>
            <a:pPr algn="just"/>
            <a:r>
              <a:rPr lang="en-US" b="1" dirty="0">
                <a:solidFill>
                  <a:srgbClr val="003F66"/>
                </a:solidFill>
              </a:rPr>
              <a:t>		while(flag==true)  {</a:t>
            </a:r>
          </a:p>
          <a:p>
            <a:pPr algn="just"/>
            <a:r>
              <a:rPr lang="en-US" b="1" dirty="0">
                <a:solidFill>
                  <a:srgbClr val="003F66"/>
                </a:solidFill>
              </a:rPr>
              <a:t>			wait();</a:t>
            </a:r>
          </a:p>
          <a:p>
            <a:pPr algn="just"/>
            <a:r>
              <a:rPr lang="en-US" b="1" dirty="0">
                <a:solidFill>
                  <a:srgbClr val="003F66"/>
                </a:solidFill>
              </a:rPr>
              <a:t>		</a:t>
            </a:r>
            <a:r>
              <a:rPr lang="en-US" sz="1400" b="1" dirty="0">
                <a:solidFill>
                  <a:srgbClr val="003F66"/>
                </a:solidFill>
              </a:rPr>
              <a:t>// asks thread scheduler to send current method thread to wait state</a:t>
            </a:r>
            <a:endParaRPr lang="en-US" b="1" dirty="0">
              <a:solidFill>
                <a:srgbClr val="003F66"/>
              </a:solidFill>
            </a:endParaRPr>
          </a:p>
          <a:p>
            <a:pPr algn="just"/>
            <a:r>
              <a:rPr lang="en-US" b="1" dirty="0">
                <a:solidFill>
                  <a:srgbClr val="003F66"/>
                </a:solidFill>
              </a:rPr>
              <a:t>	}</a:t>
            </a:r>
          </a:p>
          <a:p>
            <a:pPr algn="just"/>
            <a:r>
              <a:rPr lang="en-US" b="1" dirty="0">
                <a:solidFill>
                  <a:srgbClr val="003F66"/>
                </a:solidFill>
              </a:rPr>
              <a:t>	}</a:t>
            </a:r>
          </a:p>
          <a:p>
            <a:pPr algn="just"/>
            <a:r>
              <a:rPr lang="en-US" b="1" dirty="0">
                <a:solidFill>
                  <a:srgbClr val="003F66"/>
                </a:solidFill>
              </a:rPr>
              <a:t>	catch(Exception e)  {}</a:t>
            </a:r>
          </a:p>
          <a:p>
            <a:pPr algn="just"/>
            <a:r>
              <a:rPr lang="en-US" b="1" dirty="0">
                <a:solidFill>
                  <a:srgbClr val="003F66"/>
                </a:solidFill>
              </a:rPr>
              <a:t>	counter=</a:t>
            </a:r>
            <a:r>
              <a:rPr lang="en-US" b="1" dirty="0" err="1">
                <a:solidFill>
                  <a:srgbClr val="003F66"/>
                </a:solidFill>
              </a:rPr>
              <a:t>i</a:t>
            </a:r>
            <a:r>
              <a:rPr lang="en-US" b="1" dirty="0">
                <a:solidFill>
                  <a:srgbClr val="003F66"/>
                </a:solidFill>
              </a:rPr>
              <a:t>;</a:t>
            </a:r>
          </a:p>
          <a:p>
            <a:pPr algn="just"/>
            <a:r>
              <a:rPr lang="en-US" b="1" dirty="0">
                <a:solidFill>
                  <a:srgbClr val="003F66"/>
                </a:solidFill>
              </a:rPr>
              <a:t>	</a:t>
            </a:r>
            <a:r>
              <a:rPr lang="en-US" b="1" dirty="0" err="1">
                <a:solidFill>
                  <a:srgbClr val="003F66"/>
                </a:solidFill>
              </a:rPr>
              <a:t>System.out.println</a:t>
            </a:r>
            <a:r>
              <a:rPr lang="en-US" b="1" dirty="0">
                <a:solidFill>
                  <a:srgbClr val="003F66"/>
                </a:solidFill>
              </a:rPr>
              <a:t>("generate() method executed");</a:t>
            </a:r>
          </a:p>
          <a:p>
            <a:pPr algn="just"/>
            <a:r>
              <a:rPr lang="en-US" b="1" dirty="0">
                <a:solidFill>
                  <a:srgbClr val="003F66"/>
                </a:solidFill>
              </a:rPr>
              <a:t>	flag=true;</a:t>
            </a:r>
          </a:p>
          <a:p>
            <a:pPr algn="just"/>
            <a:r>
              <a:rPr lang="en-US" b="1" dirty="0">
                <a:solidFill>
                  <a:srgbClr val="003F66"/>
                </a:solidFill>
              </a:rPr>
              <a:t>	notify();</a:t>
            </a:r>
          </a:p>
          <a:p>
            <a:pPr algn="just"/>
            <a:r>
              <a:rPr lang="en-US" b="1" dirty="0">
                <a:solidFill>
                  <a:srgbClr val="003F66"/>
                </a:solidFill>
              </a:rPr>
              <a:t>    }</a:t>
            </a:r>
          </a:p>
        </p:txBody>
      </p:sp>
      <p:sp>
        <p:nvSpPr>
          <p:cNvPr id="5" name="TextBox 4">
            <a:extLst>
              <a:ext uri="{FF2B5EF4-FFF2-40B4-BE49-F238E27FC236}">
                <a16:creationId xmlns:a16="http://schemas.microsoft.com/office/drawing/2014/main" id="{6D10C578-EC52-8DCF-B4D9-738E05337A6B}"/>
              </a:ext>
            </a:extLst>
          </p:cNvPr>
          <p:cNvSpPr txBox="1"/>
          <p:nvPr/>
        </p:nvSpPr>
        <p:spPr>
          <a:xfrm>
            <a:off x="6168846" y="721733"/>
            <a:ext cx="5355284" cy="3385542"/>
          </a:xfrm>
          <a:prstGeom prst="rect">
            <a:avLst/>
          </a:prstGeom>
          <a:noFill/>
        </p:spPr>
        <p:txBody>
          <a:bodyPr wrap="square">
            <a:spAutoFit/>
          </a:bodyPr>
          <a:lstStyle/>
          <a:p>
            <a:r>
              <a:rPr lang="en-IN" sz="1600" b="1" dirty="0">
                <a:solidFill>
                  <a:srgbClr val="003F66"/>
                </a:solidFill>
              </a:rPr>
              <a:t> public void print()  {</a:t>
            </a:r>
          </a:p>
          <a:p>
            <a:r>
              <a:rPr lang="en-IN" sz="1600" b="1" dirty="0">
                <a:solidFill>
                  <a:srgbClr val="003F66"/>
                </a:solidFill>
              </a:rPr>
              <a:t>		</a:t>
            </a:r>
            <a:r>
              <a:rPr lang="en-IN" sz="1600" b="1" dirty="0" err="1">
                <a:solidFill>
                  <a:srgbClr val="003F66"/>
                </a:solidFill>
              </a:rPr>
              <a:t>System.out.println</a:t>
            </a:r>
            <a:r>
              <a:rPr lang="en-IN" sz="1600" b="1" dirty="0">
                <a:solidFill>
                  <a:srgbClr val="003F66"/>
                </a:solidFill>
              </a:rPr>
              <a:t>("print() called");</a:t>
            </a:r>
          </a:p>
          <a:p>
            <a:r>
              <a:rPr lang="en-IN" sz="1600" b="1" dirty="0">
                <a:solidFill>
                  <a:srgbClr val="003F66"/>
                </a:solidFill>
              </a:rPr>
              <a:t>    	try  {</a:t>
            </a:r>
          </a:p>
          <a:p>
            <a:r>
              <a:rPr lang="en-IN" sz="1600" b="1" dirty="0">
                <a:solidFill>
                  <a:srgbClr val="003F66"/>
                </a:solidFill>
              </a:rPr>
              <a:t>    		while(flag==false)  {</a:t>
            </a:r>
          </a:p>
          <a:p>
            <a:r>
              <a:rPr lang="en-IN" sz="1600" b="1" dirty="0">
                <a:solidFill>
                  <a:srgbClr val="003F66"/>
                </a:solidFill>
              </a:rPr>
              <a:t>    		 	wait();</a:t>
            </a:r>
          </a:p>
          <a:p>
            <a:r>
              <a:rPr lang="en-IN" sz="1600" b="1" dirty="0">
                <a:solidFill>
                  <a:srgbClr val="003F66"/>
                </a:solidFill>
              </a:rPr>
              <a:t>    		}</a:t>
            </a:r>
          </a:p>
          <a:p>
            <a:r>
              <a:rPr lang="en-IN" sz="1600" b="1" dirty="0">
                <a:solidFill>
                  <a:srgbClr val="003F66"/>
                </a:solidFill>
              </a:rPr>
              <a:t>    	}</a:t>
            </a:r>
          </a:p>
          <a:p>
            <a:r>
              <a:rPr lang="en-IN" sz="1600" b="1" dirty="0">
                <a:solidFill>
                  <a:srgbClr val="003F66"/>
                </a:solidFill>
              </a:rPr>
              <a:t>    	catch(Exception e)  {}    	</a:t>
            </a:r>
          </a:p>
          <a:p>
            <a:r>
              <a:rPr lang="en-IN" sz="1600" b="1" dirty="0">
                <a:solidFill>
                  <a:srgbClr val="003F66"/>
                </a:solidFill>
              </a:rPr>
              <a:t>    	</a:t>
            </a:r>
            <a:r>
              <a:rPr lang="en-IN" sz="1600" b="1" dirty="0" err="1">
                <a:solidFill>
                  <a:srgbClr val="003F66"/>
                </a:solidFill>
              </a:rPr>
              <a:t>System.out.println</a:t>
            </a:r>
            <a:r>
              <a:rPr lang="en-IN" sz="1600" b="1" dirty="0">
                <a:solidFill>
                  <a:srgbClr val="003F66"/>
                </a:solidFill>
              </a:rPr>
              <a:t>("counter value is "+counter);</a:t>
            </a:r>
          </a:p>
          <a:p>
            <a:r>
              <a:rPr lang="en-IN" sz="1600" b="1" dirty="0">
                <a:solidFill>
                  <a:srgbClr val="003F66"/>
                </a:solidFill>
              </a:rPr>
              <a:t>    	flag=false;</a:t>
            </a:r>
          </a:p>
          <a:p>
            <a:r>
              <a:rPr lang="en-IN" sz="1600" b="1" dirty="0">
                <a:solidFill>
                  <a:srgbClr val="003F66"/>
                </a:solidFill>
              </a:rPr>
              <a:t>    	notify();</a:t>
            </a:r>
          </a:p>
          <a:p>
            <a:r>
              <a:rPr lang="en-IN" sz="1600" b="1" dirty="0">
                <a:solidFill>
                  <a:srgbClr val="003F66"/>
                </a:solidFill>
              </a:rPr>
              <a:t>    }</a:t>
            </a:r>
          </a:p>
          <a:p>
            <a:r>
              <a:rPr lang="en-IN" sz="1600" b="1" dirty="0">
                <a:solidFill>
                  <a:srgbClr val="003F66"/>
                </a:solidFill>
              </a:rPr>
              <a:t>}</a:t>
            </a:r>
          </a:p>
        </p:txBody>
      </p:sp>
      <p:sp>
        <p:nvSpPr>
          <p:cNvPr id="3" name="Footer Placeholder 2">
            <a:extLst>
              <a:ext uri="{FF2B5EF4-FFF2-40B4-BE49-F238E27FC236}">
                <a16:creationId xmlns:a16="http://schemas.microsoft.com/office/drawing/2014/main" id="{43FB3431-0102-B30D-382E-EDCBA80F88A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40885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1119005" y="721777"/>
            <a:ext cx="7142821" cy="5632311"/>
          </a:xfrm>
          <a:prstGeom prst="rect">
            <a:avLst/>
          </a:prstGeom>
          <a:noFill/>
        </p:spPr>
        <p:txBody>
          <a:bodyPr wrap="square">
            <a:spAutoFit/>
          </a:bodyPr>
          <a:lstStyle/>
          <a:p>
            <a:pPr algn="just"/>
            <a:r>
              <a:rPr lang="en-US" sz="2000" b="1" dirty="0">
                <a:solidFill>
                  <a:srgbClr val="003F66"/>
                </a:solidFill>
              </a:rPr>
              <a:t>// GenerateMethodSynchThread1.java</a:t>
            </a:r>
          </a:p>
          <a:p>
            <a:pPr algn="just"/>
            <a:r>
              <a:rPr lang="en-US" sz="2000" b="1" dirty="0">
                <a:solidFill>
                  <a:srgbClr val="003F66"/>
                </a:solidFill>
              </a:rPr>
              <a:t>public class GenerateMethodSynchThread1 extends Thread {</a:t>
            </a:r>
          </a:p>
          <a:p>
            <a:pPr algn="just"/>
            <a:r>
              <a:rPr lang="en-US" sz="2000" b="1" dirty="0">
                <a:solidFill>
                  <a:srgbClr val="003F66"/>
                </a:solidFill>
              </a:rPr>
              <a:t>  NumberGeneratorSynch1 </a:t>
            </a:r>
            <a:r>
              <a:rPr lang="en-US" sz="2000" b="1" dirty="0" err="1">
                <a:solidFill>
                  <a:srgbClr val="003F66"/>
                </a:solidFill>
              </a:rPr>
              <a:t>ngs</a:t>
            </a:r>
            <a:r>
              <a:rPr lang="en-US" sz="2000" b="1" dirty="0">
                <a:solidFill>
                  <a:srgbClr val="003F66"/>
                </a:solidFill>
              </a:rPr>
              <a:t>;</a:t>
            </a:r>
          </a:p>
          <a:p>
            <a:pPr algn="just"/>
            <a:endParaRPr lang="en-US" sz="2000" b="1" dirty="0">
              <a:solidFill>
                <a:srgbClr val="003F66"/>
              </a:solidFill>
            </a:endParaRPr>
          </a:p>
          <a:p>
            <a:pPr algn="just"/>
            <a:r>
              <a:rPr lang="en-US" sz="2000" b="1" dirty="0">
                <a:solidFill>
                  <a:srgbClr val="003F66"/>
                </a:solidFill>
              </a:rPr>
              <a:t>  public GenerateMethodSynchThread1(NumberGeneratorSynch1 </a:t>
            </a:r>
            <a:r>
              <a:rPr lang="en-US" sz="2000" b="1" dirty="0" err="1">
                <a:solidFill>
                  <a:srgbClr val="003F66"/>
                </a:solidFill>
              </a:rPr>
              <a:t>ngs</a:t>
            </a:r>
            <a:r>
              <a:rPr lang="en-US" sz="2000" b="1" dirty="0">
                <a:solidFill>
                  <a:srgbClr val="003F66"/>
                </a:solidFill>
              </a:rPr>
              <a:t>) {</a:t>
            </a:r>
          </a:p>
          <a:p>
            <a:pPr algn="just"/>
            <a:r>
              <a:rPr lang="en-US" sz="2000" b="1" dirty="0">
                <a:solidFill>
                  <a:srgbClr val="003F66"/>
                </a:solidFill>
              </a:rPr>
              <a:t>    </a:t>
            </a:r>
            <a:r>
              <a:rPr lang="en-US" sz="2000" b="1" dirty="0" err="1">
                <a:solidFill>
                  <a:srgbClr val="003F66"/>
                </a:solidFill>
              </a:rPr>
              <a:t>this.ngs</a:t>
            </a:r>
            <a:r>
              <a:rPr lang="en-US" sz="2000" b="1" dirty="0">
                <a:solidFill>
                  <a:srgbClr val="003F66"/>
                </a:solidFill>
              </a:rPr>
              <a:t>=</a:t>
            </a:r>
            <a:r>
              <a:rPr lang="en-US" sz="2000" b="1" dirty="0" err="1">
                <a:solidFill>
                  <a:srgbClr val="003F66"/>
                </a:solidFill>
              </a:rPr>
              <a:t>ngs</a:t>
            </a:r>
            <a:r>
              <a:rPr lang="en-US" sz="2000" b="1" dirty="0">
                <a:solidFill>
                  <a:srgbClr val="003F66"/>
                </a:solidFill>
              </a:rPr>
              <a:t>;</a:t>
            </a:r>
          </a:p>
          <a:p>
            <a:pPr algn="just"/>
            <a:r>
              <a:rPr lang="en-US" sz="2000" b="1" dirty="0">
                <a:solidFill>
                  <a:srgbClr val="003F66"/>
                </a:solidFill>
              </a:rPr>
              <a:t>  }</a:t>
            </a:r>
          </a:p>
          <a:p>
            <a:pPr algn="just"/>
            <a:endParaRPr lang="en-US" sz="2000" b="1" dirty="0">
              <a:solidFill>
                <a:srgbClr val="003F66"/>
              </a:solidFill>
            </a:endParaRPr>
          </a:p>
          <a:p>
            <a:pPr algn="just"/>
            <a:r>
              <a:rPr lang="en-US" sz="2000" b="1" dirty="0">
                <a:solidFill>
                  <a:srgbClr val="003F66"/>
                </a:solidFill>
              </a:rPr>
              <a:t>  public void run() {</a:t>
            </a:r>
          </a:p>
          <a:p>
            <a:pPr algn="just"/>
            <a:r>
              <a:rPr lang="en-US" sz="2000" b="1" dirty="0">
                <a:solidFill>
                  <a:srgbClr val="003F66"/>
                </a:solidFill>
              </a:rPr>
              <a:t>    for(int </a:t>
            </a:r>
            <a:r>
              <a:rPr lang="en-US" sz="2000" b="1" dirty="0" err="1">
                <a:solidFill>
                  <a:srgbClr val="003F66"/>
                </a:solidFill>
              </a:rPr>
              <a:t>i</a:t>
            </a:r>
            <a:r>
              <a:rPr lang="en-US" sz="2000" b="1" dirty="0">
                <a:solidFill>
                  <a:srgbClr val="003F66"/>
                </a:solidFill>
              </a:rPr>
              <a:t>=0;i&lt;100;i++) {</a:t>
            </a:r>
          </a:p>
          <a:p>
            <a:pPr algn="just"/>
            <a:r>
              <a:rPr lang="en-US" sz="2000" b="1" dirty="0">
                <a:solidFill>
                  <a:srgbClr val="FF0000"/>
                </a:solidFill>
              </a:rPr>
              <a:t>		// this is object synchronized block</a:t>
            </a:r>
            <a:endParaRPr lang="en-US" sz="2000" b="1" dirty="0">
              <a:solidFill>
                <a:srgbClr val="003F66"/>
              </a:solidFill>
            </a:endParaRPr>
          </a:p>
          <a:p>
            <a:pPr algn="just"/>
            <a:r>
              <a:rPr lang="en-US" sz="2000" b="1" dirty="0">
                <a:solidFill>
                  <a:srgbClr val="FF0000"/>
                </a:solidFill>
              </a:rPr>
              <a:t>		synchronized(</a:t>
            </a:r>
            <a:r>
              <a:rPr lang="en-US" sz="2000" b="1" dirty="0" err="1">
                <a:solidFill>
                  <a:srgbClr val="FF0000"/>
                </a:solidFill>
              </a:rPr>
              <a:t>ngs</a:t>
            </a:r>
            <a:r>
              <a:rPr lang="en-US" sz="2000" b="1" dirty="0">
                <a:solidFill>
                  <a:srgbClr val="FF0000"/>
                </a:solidFill>
              </a:rPr>
              <a:t>) { </a:t>
            </a:r>
          </a:p>
          <a:p>
            <a:pPr algn="just"/>
            <a:r>
              <a:rPr lang="en-US" sz="2000" b="1" dirty="0">
                <a:solidFill>
                  <a:srgbClr val="FF0000"/>
                </a:solidFill>
              </a:rPr>
              <a:t>			</a:t>
            </a:r>
            <a:r>
              <a:rPr lang="en-US" sz="2000" b="1" dirty="0" err="1">
                <a:solidFill>
                  <a:srgbClr val="FF0000"/>
                </a:solidFill>
              </a:rPr>
              <a:t>ngs.generate</a:t>
            </a:r>
            <a:r>
              <a:rPr lang="en-US" sz="2000" b="1" dirty="0">
                <a:solidFill>
                  <a:srgbClr val="FF0000"/>
                </a:solidFill>
              </a:rPr>
              <a:t>(</a:t>
            </a:r>
            <a:r>
              <a:rPr lang="en-US" sz="2000" b="1" dirty="0" err="1">
                <a:solidFill>
                  <a:srgbClr val="FF0000"/>
                </a:solidFill>
              </a:rPr>
              <a:t>i</a:t>
            </a:r>
            <a:r>
              <a:rPr lang="en-US" sz="2000" b="1" dirty="0">
                <a:solidFill>
                  <a:srgbClr val="FF0000"/>
                </a:solidFill>
              </a:rPr>
              <a:t>);</a:t>
            </a:r>
          </a:p>
          <a:p>
            <a:pPr algn="just"/>
            <a:r>
              <a:rPr lang="en-US" sz="2000" b="1" dirty="0">
                <a:solidFill>
                  <a:srgbClr val="FF0000"/>
                </a:solidFill>
              </a:rPr>
              <a:t>		}</a:t>
            </a:r>
          </a:p>
          <a:p>
            <a:pPr algn="just"/>
            <a:r>
              <a:rPr lang="en-US" sz="2000" b="1" dirty="0">
                <a:solidFill>
                  <a:srgbClr val="003F66"/>
                </a:solidFill>
              </a:rPr>
              <a:t>    }  </a:t>
            </a:r>
          </a:p>
          <a:p>
            <a:pPr algn="just"/>
            <a:r>
              <a:rPr lang="en-US" sz="2000" b="1" dirty="0">
                <a:solidFill>
                  <a:srgbClr val="003F66"/>
                </a:solidFill>
              </a:rPr>
              <a:t>  }</a:t>
            </a:r>
          </a:p>
          <a:p>
            <a:pPr algn="just"/>
            <a:r>
              <a:rPr lang="en-US" sz="2000" b="1" dirty="0">
                <a:solidFill>
                  <a:srgbClr val="003F66"/>
                </a:solidFill>
              </a:rPr>
              <a:t>}</a:t>
            </a:r>
          </a:p>
        </p:txBody>
      </p:sp>
      <p:sp>
        <p:nvSpPr>
          <p:cNvPr id="3" name="Footer Placeholder 2">
            <a:extLst>
              <a:ext uri="{FF2B5EF4-FFF2-40B4-BE49-F238E27FC236}">
                <a16:creationId xmlns:a16="http://schemas.microsoft.com/office/drawing/2014/main" id="{0B734897-9AD1-B006-FCE0-D34EACA0F1C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4223732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424073" y="721777"/>
            <a:ext cx="8625798" cy="5324535"/>
          </a:xfrm>
          <a:prstGeom prst="rect">
            <a:avLst/>
          </a:prstGeom>
          <a:noFill/>
        </p:spPr>
        <p:txBody>
          <a:bodyPr wrap="square">
            <a:spAutoFit/>
          </a:bodyPr>
          <a:lstStyle/>
          <a:p>
            <a:pPr algn="just"/>
            <a:r>
              <a:rPr lang="en-US" sz="2000" b="1" dirty="0">
                <a:solidFill>
                  <a:srgbClr val="003F66"/>
                </a:solidFill>
              </a:rPr>
              <a:t>// PrintMethodSynchThread1.java</a:t>
            </a:r>
          </a:p>
          <a:p>
            <a:pPr algn="just"/>
            <a:r>
              <a:rPr lang="en-US" sz="2000" b="1" dirty="0">
                <a:solidFill>
                  <a:srgbClr val="003F66"/>
                </a:solidFill>
              </a:rPr>
              <a:t>public class PrintMethodSynchThread1 extends Thread {</a:t>
            </a:r>
          </a:p>
          <a:p>
            <a:pPr algn="just"/>
            <a:r>
              <a:rPr lang="en-US" sz="2000" b="1" dirty="0">
                <a:solidFill>
                  <a:srgbClr val="003F66"/>
                </a:solidFill>
              </a:rPr>
              <a:t>	NumberGeneratorSynch1 </a:t>
            </a:r>
            <a:r>
              <a:rPr lang="en-US" sz="2000" b="1" dirty="0" err="1">
                <a:solidFill>
                  <a:srgbClr val="003F66"/>
                </a:solidFill>
              </a:rPr>
              <a:t>ngs</a:t>
            </a:r>
            <a:r>
              <a:rPr lang="en-US" sz="2000" b="1" dirty="0">
                <a:solidFill>
                  <a:srgbClr val="003F66"/>
                </a:solidFill>
              </a:rPr>
              <a:t>;</a:t>
            </a:r>
          </a:p>
          <a:p>
            <a:pPr algn="just"/>
            <a:endParaRPr lang="en-US" sz="2000" b="1" dirty="0">
              <a:solidFill>
                <a:srgbClr val="003F66"/>
              </a:solidFill>
            </a:endParaRPr>
          </a:p>
          <a:p>
            <a:pPr algn="just"/>
            <a:r>
              <a:rPr lang="en-US" sz="2000" b="1" dirty="0">
                <a:solidFill>
                  <a:srgbClr val="003F66"/>
                </a:solidFill>
              </a:rPr>
              <a:t>	public PrintMethodSynchThread1(NumberGeneratorSynch1 </a:t>
            </a:r>
            <a:r>
              <a:rPr lang="en-US" sz="2000" b="1" dirty="0" err="1">
                <a:solidFill>
                  <a:srgbClr val="003F66"/>
                </a:solidFill>
              </a:rPr>
              <a:t>ngs</a:t>
            </a:r>
            <a:r>
              <a:rPr lang="en-US" sz="2000" b="1" dirty="0">
                <a:solidFill>
                  <a:srgbClr val="003F66"/>
                </a:solidFill>
              </a:rPr>
              <a:t>) {</a:t>
            </a:r>
          </a:p>
          <a:p>
            <a:pPr algn="just"/>
            <a:r>
              <a:rPr lang="en-US" sz="2000" b="1" dirty="0">
                <a:solidFill>
                  <a:srgbClr val="003F66"/>
                </a:solidFill>
              </a:rPr>
              <a:t>		</a:t>
            </a:r>
            <a:r>
              <a:rPr lang="en-US" sz="2000" b="1" dirty="0" err="1">
                <a:solidFill>
                  <a:srgbClr val="003F66"/>
                </a:solidFill>
              </a:rPr>
              <a:t>this.ngs</a:t>
            </a:r>
            <a:r>
              <a:rPr lang="en-US" sz="2000" b="1" dirty="0">
                <a:solidFill>
                  <a:srgbClr val="003F66"/>
                </a:solidFill>
              </a:rPr>
              <a:t>=</a:t>
            </a:r>
            <a:r>
              <a:rPr lang="en-US" sz="2000" b="1" dirty="0" err="1">
                <a:solidFill>
                  <a:srgbClr val="003F66"/>
                </a:solidFill>
              </a:rPr>
              <a:t>ngs</a:t>
            </a:r>
            <a:r>
              <a:rPr lang="en-US" sz="2000" b="1" dirty="0">
                <a:solidFill>
                  <a:srgbClr val="003F66"/>
                </a:solidFill>
              </a:rPr>
              <a:t>;</a:t>
            </a:r>
          </a:p>
          <a:p>
            <a:pPr algn="just"/>
            <a:r>
              <a:rPr lang="en-US" sz="2000" b="1" dirty="0">
                <a:solidFill>
                  <a:srgbClr val="003F66"/>
                </a:solidFill>
              </a:rPr>
              <a:t>	}</a:t>
            </a:r>
          </a:p>
          <a:p>
            <a:pPr algn="just"/>
            <a:endParaRPr lang="en-US" sz="2000" b="1" dirty="0">
              <a:solidFill>
                <a:srgbClr val="003F66"/>
              </a:solidFill>
            </a:endParaRPr>
          </a:p>
          <a:p>
            <a:pPr algn="just"/>
            <a:r>
              <a:rPr lang="en-US" sz="2000" b="1" dirty="0">
                <a:solidFill>
                  <a:srgbClr val="003F66"/>
                </a:solidFill>
              </a:rPr>
              <a:t>	public void run() {</a:t>
            </a:r>
          </a:p>
          <a:p>
            <a:pPr algn="just"/>
            <a:r>
              <a:rPr lang="en-US" sz="2000" b="1" dirty="0">
                <a:solidFill>
                  <a:srgbClr val="003F66"/>
                </a:solidFill>
              </a:rPr>
              <a:t>		for(int </a:t>
            </a:r>
            <a:r>
              <a:rPr lang="en-US" sz="2000" b="1" dirty="0" err="1">
                <a:solidFill>
                  <a:srgbClr val="003F66"/>
                </a:solidFill>
              </a:rPr>
              <a:t>i</a:t>
            </a:r>
            <a:r>
              <a:rPr lang="en-US" sz="2000" b="1" dirty="0">
                <a:solidFill>
                  <a:srgbClr val="003F66"/>
                </a:solidFill>
              </a:rPr>
              <a:t>=0;i&lt;100;i++) {</a:t>
            </a:r>
          </a:p>
          <a:p>
            <a:pPr algn="just"/>
            <a:r>
              <a:rPr lang="en-US" sz="2000" b="1" dirty="0">
                <a:solidFill>
                  <a:srgbClr val="FF0000"/>
                </a:solidFill>
              </a:rPr>
              <a:t>			// this is object synchronization block</a:t>
            </a:r>
          </a:p>
          <a:p>
            <a:pPr algn="just"/>
            <a:r>
              <a:rPr lang="en-US" sz="2000" b="1" dirty="0">
                <a:solidFill>
                  <a:srgbClr val="FF0000"/>
                </a:solidFill>
              </a:rPr>
              <a:t>			synchronized(</a:t>
            </a:r>
            <a:r>
              <a:rPr lang="en-US" sz="2000" b="1" dirty="0" err="1">
                <a:solidFill>
                  <a:srgbClr val="FF0000"/>
                </a:solidFill>
              </a:rPr>
              <a:t>ngs</a:t>
            </a:r>
            <a:r>
              <a:rPr lang="en-US" sz="2000" b="1" dirty="0">
                <a:solidFill>
                  <a:srgbClr val="FF0000"/>
                </a:solidFill>
              </a:rPr>
              <a:t>) { </a:t>
            </a:r>
          </a:p>
          <a:p>
            <a:pPr algn="just"/>
            <a:r>
              <a:rPr lang="en-US" sz="2000" b="1" dirty="0">
                <a:solidFill>
                  <a:srgbClr val="FF0000"/>
                </a:solidFill>
              </a:rPr>
              <a:t>				</a:t>
            </a:r>
            <a:r>
              <a:rPr lang="en-US" sz="2000" b="1" dirty="0" err="1">
                <a:solidFill>
                  <a:srgbClr val="FF0000"/>
                </a:solidFill>
              </a:rPr>
              <a:t>ngs.print</a:t>
            </a:r>
            <a:r>
              <a:rPr lang="en-US" sz="2000" b="1" dirty="0">
                <a:solidFill>
                  <a:srgbClr val="FF0000"/>
                </a:solidFill>
              </a:rPr>
              <a:t>();</a:t>
            </a:r>
          </a:p>
          <a:p>
            <a:pPr algn="just"/>
            <a:r>
              <a:rPr lang="en-US" sz="2000" b="1" dirty="0">
                <a:solidFill>
                  <a:srgbClr val="FF0000"/>
                </a:solidFill>
              </a:rPr>
              <a:t>			}</a:t>
            </a:r>
          </a:p>
          <a:p>
            <a:pPr algn="just"/>
            <a:r>
              <a:rPr lang="en-US" sz="2000" b="1" dirty="0">
                <a:solidFill>
                  <a:srgbClr val="003F66"/>
                </a:solidFill>
              </a:rPr>
              <a:t>		}</a:t>
            </a:r>
          </a:p>
          <a:p>
            <a:pPr algn="just"/>
            <a:r>
              <a:rPr lang="en-US" sz="2000" b="1" dirty="0">
                <a:solidFill>
                  <a:srgbClr val="003F66"/>
                </a:solidFill>
              </a:rPr>
              <a:t>	}</a:t>
            </a:r>
          </a:p>
          <a:p>
            <a:pPr algn="just"/>
            <a:r>
              <a:rPr lang="en-US" sz="2000" b="1" dirty="0">
                <a:solidFill>
                  <a:srgbClr val="003F66"/>
                </a:solidFill>
              </a:rPr>
              <a:t>}</a:t>
            </a:r>
          </a:p>
        </p:txBody>
      </p:sp>
      <p:sp>
        <p:nvSpPr>
          <p:cNvPr id="3" name="Footer Placeholder 2">
            <a:extLst>
              <a:ext uri="{FF2B5EF4-FFF2-40B4-BE49-F238E27FC236}">
                <a16:creationId xmlns:a16="http://schemas.microsoft.com/office/drawing/2014/main" id="{9CD36320-AD32-7D72-F27A-3E100092D94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105543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424073" y="1192422"/>
            <a:ext cx="8625798" cy="4247317"/>
          </a:xfrm>
          <a:prstGeom prst="rect">
            <a:avLst/>
          </a:prstGeom>
          <a:noFill/>
        </p:spPr>
        <p:txBody>
          <a:bodyPr wrap="square">
            <a:spAutoFit/>
          </a:bodyPr>
          <a:lstStyle/>
          <a:p>
            <a:pPr algn="just"/>
            <a:r>
              <a:rPr lang="en-US" b="1" dirty="0">
                <a:solidFill>
                  <a:srgbClr val="003F66"/>
                </a:solidFill>
              </a:rPr>
              <a:t>// NumberGeneratorSynchClient1.java</a:t>
            </a:r>
          </a:p>
          <a:p>
            <a:pPr algn="just"/>
            <a:r>
              <a:rPr lang="en-US" b="1" dirty="0">
                <a:solidFill>
                  <a:srgbClr val="003F66"/>
                </a:solidFill>
              </a:rPr>
              <a:t>public class NumberGeneratorSynchClient1 {</a:t>
            </a:r>
          </a:p>
          <a:p>
            <a:pPr algn="just"/>
            <a:endParaRPr lang="en-US" b="1" dirty="0">
              <a:solidFill>
                <a:srgbClr val="003F66"/>
              </a:solidFill>
            </a:endParaRPr>
          </a:p>
          <a:p>
            <a:pPr algn="just"/>
            <a:r>
              <a:rPr lang="en-US" b="1" dirty="0">
                <a:solidFill>
                  <a:srgbClr val="003F66"/>
                </a:solidFill>
              </a:rPr>
              <a:t>  public static void main(String rags[]) {</a:t>
            </a:r>
          </a:p>
          <a:p>
            <a:pPr algn="just"/>
            <a:r>
              <a:rPr lang="en-US" b="1" dirty="0">
                <a:solidFill>
                  <a:srgbClr val="003F66"/>
                </a:solidFill>
              </a:rPr>
              <a:t>  </a:t>
            </a:r>
          </a:p>
          <a:p>
            <a:pPr algn="just"/>
            <a:r>
              <a:rPr lang="en-US" b="1" dirty="0">
                <a:solidFill>
                  <a:srgbClr val="003F66"/>
                </a:solidFill>
              </a:rPr>
              <a:t>    NumberGeneratorSynch1 </a:t>
            </a:r>
            <a:r>
              <a:rPr lang="en-US" b="1" dirty="0" err="1">
                <a:solidFill>
                  <a:srgbClr val="003F66"/>
                </a:solidFill>
              </a:rPr>
              <a:t>ngs</a:t>
            </a:r>
            <a:r>
              <a:rPr lang="en-US" b="1" dirty="0">
                <a:solidFill>
                  <a:srgbClr val="003F66"/>
                </a:solidFill>
              </a:rPr>
              <a:t>=new NumberGeneratorSynch1();</a:t>
            </a:r>
          </a:p>
          <a:p>
            <a:pPr algn="just"/>
            <a:r>
              <a:rPr lang="en-US" b="1" dirty="0">
                <a:solidFill>
                  <a:srgbClr val="003F66"/>
                </a:solidFill>
              </a:rPr>
              <a:t>	</a:t>
            </a:r>
          </a:p>
          <a:p>
            <a:pPr algn="just"/>
            <a:r>
              <a:rPr lang="en-US" b="1" dirty="0">
                <a:solidFill>
                  <a:srgbClr val="003F66"/>
                </a:solidFill>
              </a:rPr>
              <a:t>    GenerateMethodSynchThread1 </a:t>
            </a:r>
            <a:r>
              <a:rPr lang="en-US" b="1" dirty="0" err="1">
                <a:solidFill>
                  <a:srgbClr val="003F66"/>
                </a:solidFill>
              </a:rPr>
              <a:t>gmst</a:t>
            </a:r>
            <a:r>
              <a:rPr lang="en-US" b="1" dirty="0">
                <a:solidFill>
                  <a:srgbClr val="003F66"/>
                </a:solidFill>
              </a:rPr>
              <a:t>=new GenerateMethodSynchThread1(</a:t>
            </a:r>
            <a:r>
              <a:rPr lang="en-US" b="1" dirty="0" err="1">
                <a:solidFill>
                  <a:srgbClr val="003F66"/>
                </a:solidFill>
              </a:rPr>
              <a:t>ngs</a:t>
            </a:r>
            <a:r>
              <a:rPr lang="en-US" b="1" dirty="0">
                <a:solidFill>
                  <a:srgbClr val="003F66"/>
                </a:solidFill>
              </a:rPr>
              <a:t>);</a:t>
            </a:r>
          </a:p>
          <a:p>
            <a:pPr algn="just"/>
            <a:r>
              <a:rPr lang="en-US" b="1" dirty="0">
                <a:solidFill>
                  <a:srgbClr val="003F66"/>
                </a:solidFill>
              </a:rPr>
              <a:t>    PrintMethodSynchThread1 </a:t>
            </a:r>
            <a:r>
              <a:rPr lang="en-US" b="1" dirty="0" err="1">
                <a:solidFill>
                  <a:srgbClr val="003F66"/>
                </a:solidFill>
              </a:rPr>
              <a:t>pmst</a:t>
            </a:r>
            <a:r>
              <a:rPr lang="en-US" b="1" dirty="0">
                <a:solidFill>
                  <a:srgbClr val="003F66"/>
                </a:solidFill>
              </a:rPr>
              <a:t>=new PrintMethodSynchThread1(</a:t>
            </a:r>
            <a:r>
              <a:rPr lang="en-US" b="1" dirty="0" err="1">
                <a:solidFill>
                  <a:srgbClr val="003F66"/>
                </a:solidFill>
              </a:rPr>
              <a:t>ngs</a:t>
            </a:r>
            <a:r>
              <a:rPr lang="en-US" b="1" dirty="0">
                <a:solidFill>
                  <a:srgbClr val="003F66"/>
                </a:solidFill>
              </a:rPr>
              <a:t>);</a:t>
            </a:r>
          </a:p>
          <a:p>
            <a:pPr algn="just"/>
            <a:r>
              <a:rPr lang="en-US" b="1" dirty="0">
                <a:solidFill>
                  <a:srgbClr val="003F66"/>
                </a:solidFill>
              </a:rPr>
              <a:t>	</a:t>
            </a:r>
          </a:p>
          <a:p>
            <a:pPr algn="just"/>
            <a:r>
              <a:rPr lang="en-US" b="1" dirty="0">
                <a:solidFill>
                  <a:srgbClr val="003F66"/>
                </a:solidFill>
              </a:rPr>
              <a:t>    </a:t>
            </a:r>
            <a:r>
              <a:rPr lang="en-US" b="1" dirty="0" err="1">
                <a:solidFill>
                  <a:srgbClr val="003F66"/>
                </a:solidFill>
              </a:rPr>
              <a:t>gmst.start</a:t>
            </a:r>
            <a:r>
              <a:rPr lang="en-US" b="1" dirty="0">
                <a:solidFill>
                  <a:srgbClr val="003F66"/>
                </a:solidFill>
              </a:rPr>
              <a:t>();</a:t>
            </a:r>
          </a:p>
          <a:p>
            <a:pPr algn="just"/>
            <a:r>
              <a:rPr lang="en-US" b="1" dirty="0">
                <a:solidFill>
                  <a:srgbClr val="003F66"/>
                </a:solidFill>
              </a:rPr>
              <a:t>    </a:t>
            </a:r>
            <a:r>
              <a:rPr lang="en-US" b="1" dirty="0" err="1">
                <a:solidFill>
                  <a:srgbClr val="003F66"/>
                </a:solidFill>
              </a:rPr>
              <a:t>pmst.start</a:t>
            </a:r>
            <a:r>
              <a:rPr lang="en-US" b="1" dirty="0">
                <a:solidFill>
                  <a:srgbClr val="003F66"/>
                </a:solidFill>
              </a:rPr>
              <a:t>();</a:t>
            </a:r>
          </a:p>
          <a:p>
            <a:pPr algn="just"/>
            <a:r>
              <a:rPr lang="en-US" b="1" dirty="0">
                <a:solidFill>
                  <a:srgbClr val="003F66"/>
                </a:solidFill>
              </a:rPr>
              <a:t>	</a:t>
            </a:r>
          </a:p>
          <a:p>
            <a:pPr algn="just"/>
            <a:r>
              <a:rPr lang="en-US" b="1" dirty="0">
                <a:solidFill>
                  <a:srgbClr val="003F66"/>
                </a:solidFill>
              </a:rPr>
              <a:t>  }</a:t>
            </a:r>
          </a:p>
          <a:p>
            <a:pPr algn="just"/>
            <a:r>
              <a:rPr lang="en-US" b="1" dirty="0">
                <a:solidFill>
                  <a:srgbClr val="003F66"/>
                </a:solidFill>
              </a:rPr>
              <a:t>}</a:t>
            </a:r>
          </a:p>
        </p:txBody>
      </p:sp>
      <p:sp>
        <p:nvSpPr>
          <p:cNvPr id="3" name="Footer Placeholder 2">
            <a:extLst>
              <a:ext uri="{FF2B5EF4-FFF2-40B4-BE49-F238E27FC236}">
                <a16:creationId xmlns:a16="http://schemas.microsoft.com/office/drawing/2014/main" id="{B3E2F9E5-41BC-736E-008F-A10F0C17AB7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682115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1755326" y="1891666"/>
            <a:ext cx="6407033" cy="1569660"/>
          </a:xfrm>
          <a:prstGeom prst="rect">
            <a:avLst/>
          </a:prstGeom>
          <a:noFill/>
        </p:spPr>
        <p:txBody>
          <a:bodyPr wrap="square">
            <a:spAutoFit/>
          </a:bodyPr>
          <a:lstStyle/>
          <a:p>
            <a:pPr algn="ctr"/>
            <a:r>
              <a:rPr lang="en-US" sz="4800" b="1" dirty="0">
                <a:solidFill>
                  <a:srgbClr val="003F66"/>
                </a:solidFill>
              </a:rPr>
              <a:t>Synchronizing objects </a:t>
            </a:r>
          </a:p>
          <a:p>
            <a:pPr algn="ctr"/>
            <a:r>
              <a:rPr lang="en-US" sz="4800" b="1" dirty="0">
                <a:solidFill>
                  <a:srgbClr val="003F66"/>
                </a:solidFill>
              </a:rPr>
              <a:t>in Anonymous class</a:t>
            </a:r>
          </a:p>
        </p:txBody>
      </p:sp>
      <p:sp>
        <p:nvSpPr>
          <p:cNvPr id="3" name="Footer Placeholder 2">
            <a:extLst>
              <a:ext uri="{FF2B5EF4-FFF2-40B4-BE49-F238E27FC236}">
                <a16:creationId xmlns:a16="http://schemas.microsoft.com/office/drawing/2014/main" id="{950FF213-61AA-0D13-C9D7-4E6F5EAF845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61126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3" name="TextBox 12">
            <a:extLst>
              <a:ext uri="{FF2B5EF4-FFF2-40B4-BE49-F238E27FC236}">
                <a16:creationId xmlns:a16="http://schemas.microsoft.com/office/drawing/2014/main" id="{D5756DFC-9400-077D-578F-013D628E2E95}"/>
              </a:ext>
            </a:extLst>
          </p:cNvPr>
          <p:cNvSpPr txBox="1"/>
          <p:nvPr/>
        </p:nvSpPr>
        <p:spPr>
          <a:xfrm>
            <a:off x="410626" y="721777"/>
            <a:ext cx="6156875" cy="5632311"/>
          </a:xfrm>
          <a:prstGeom prst="rect">
            <a:avLst/>
          </a:prstGeom>
          <a:noFill/>
        </p:spPr>
        <p:txBody>
          <a:bodyPr wrap="square">
            <a:spAutoFit/>
          </a:bodyPr>
          <a:lstStyle/>
          <a:p>
            <a:pPr algn="just"/>
            <a:r>
              <a:rPr lang="en-US" sz="2000" b="1" dirty="0">
                <a:solidFill>
                  <a:srgbClr val="003F66"/>
                </a:solidFill>
              </a:rPr>
              <a:t>// NumberGeneratorAnonymousClient.java</a:t>
            </a:r>
          </a:p>
          <a:p>
            <a:pPr algn="just"/>
            <a:r>
              <a:rPr lang="en-US" sz="2000" b="1" dirty="0">
                <a:solidFill>
                  <a:srgbClr val="003F66"/>
                </a:solidFill>
              </a:rPr>
              <a:t>public class </a:t>
            </a:r>
            <a:r>
              <a:rPr lang="en-US" sz="2000" b="1" dirty="0" err="1">
                <a:solidFill>
                  <a:srgbClr val="003F66"/>
                </a:solidFill>
              </a:rPr>
              <a:t>NumberGeneratorAnonymousClient</a:t>
            </a:r>
            <a:r>
              <a:rPr lang="en-US" sz="2000" b="1" dirty="0">
                <a:solidFill>
                  <a:srgbClr val="003F66"/>
                </a:solidFill>
              </a:rPr>
              <a:t> {</a:t>
            </a:r>
          </a:p>
          <a:p>
            <a:pPr algn="just"/>
            <a:endParaRPr lang="en-US" sz="2000" b="1" dirty="0">
              <a:solidFill>
                <a:srgbClr val="003F66"/>
              </a:solidFill>
            </a:endParaRPr>
          </a:p>
          <a:p>
            <a:pPr algn="just"/>
            <a:r>
              <a:rPr lang="en-US" sz="2000" b="1" dirty="0">
                <a:solidFill>
                  <a:srgbClr val="003F66"/>
                </a:solidFill>
              </a:rPr>
              <a:t>  public static void main(String rags[]) {</a:t>
            </a:r>
          </a:p>
          <a:p>
            <a:pPr algn="just"/>
            <a:r>
              <a:rPr lang="en-US" sz="2000" b="1" dirty="0">
                <a:solidFill>
                  <a:srgbClr val="003F66"/>
                </a:solidFill>
              </a:rPr>
              <a:t>  </a:t>
            </a:r>
          </a:p>
          <a:p>
            <a:pPr algn="just"/>
            <a:r>
              <a:rPr lang="en-US" sz="2000" b="1" dirty="0">
                <a:solidFill>
                  <a:srgbClr val="003F66"/>
                </a:solidFill>
              </a:rPr>
              <a:t>    final </a:t>
            </a:r>
            <a:r>
              <a:rPr lang="en-US" sz="2000" b="1" dirty="0" err="1">
                <a:solidFill>
                  <a:srgbClr val="003F66"/>
                </a:solidFill>
              </a:rPr>
              <a:t>NumberGenerator</a:t>
            </a:r>
            <a:r>
              <a:rPr lang="en-US" sz="2000" b="1" dirty="0">
                <a:solidFill>
                  <a:srgbClr val="003F66"/>
                </a:solidFill>
              </a:rPr>
              <a:t> ng=new </a:t>
            </a:r>
            <a:r>
              <a:rPr lang="en-US" sz="2000" b="1" dirty="0" err="1">
                <a:solidFill>
                  <a:srgbClr val="003F66"/>
                </a:solidFill>
              </a:rPr>
              <a:t>NumberGenerator</a:t>
            </a:r>
            <a:r>
              <a:rPr lang="en-US" sz="2000" b="1" dirty="0">
                <a:solidFill>
                  <a:srgbClr val="003F66"/>
                </a:solidFill>
              </a:rPr>
              <a:t>();</a:t>
            </a:r>
          </a:p>
          <a:p>
            <a:pPr algn="just"/>
            <a:r>
              <a:rPr lang="en-US" sz="2000" b="1" dirty="0">
                <a:solidFill>
                  <a:srgbClr val="003F66"/>
                </a:solidFill>
              </a:rPr>
              <a:t>	</a:t>
            </a:r>
          </a:p>
          <a:p>
            <a:pPr algn="just"/>
            <a:r>
              <a:rPr lang="en-US" sz="2000" b="1" dirty="0">
                <a:solidFill>
                  <a:srgbClr val="003F66"/>
                </a:solidFill>
              </a:rPr>
              <a:t>    new Thread(new Runnable() {</a:t>
            </a:r>
          </a:p>
          <a:p>
            <a:pPr algn="just"/>
            <a:r>
              <a:rPr lang="en-US" sz="2000" b="1" dirty="0">
                <a:solidFill>
                  <a:srgbClr val="003F66"/>
                </a:solidFill>
              </a:rPr>
              <a:t>	    public void run() {</a:t>
            </a:r>
          </a:p>
          <a:p>
            <a:pPr algn="just"/>
            <a:r>
              <a:rPr lang="en-US" sz="2000" b="1" dirty="0">
                <a:solidFill>
                  <a:srgbClr val="003F66"/>
                </a:solidFill>
              </a:rPr>
              <a:t>  	        for(int </a:t>
            </a:r>
            <a:r>
              <a:rPr lang="en-US" sz="2000" b="1" dirty="0" err="1">
                <a:solidFill>
                  <a:srgbClr val="003F66"/>
                </a:solidFill>
              </a:rPr>
              <a:t>i</a:t>
            </a:r>
            <a:r>
              <a:rPr lang="en-US" sz="2000" b="1" dirty="0">
                <a:solidFill>
                  <a:srgbClr val="003F66"/>
                </a:solidFill>
              </a:rPr>
              <a:t>=0;i&lt;10;i++ { </a:t>
            </a:r>
          </a:p>
          <a:p>
            <a:pPr algn="just"/>
            <a:r>
              <a:rPr lang="en-US" sz="2000" b="1" dirty="0">
                <a:solidFill>
                  <a:srgbClr val="C00000"/>
                </a:solidFill>
              </a:rPr>
              <a:t>	           synchronized(</a:t>
            </a:r>
            <a:r>
              <a:rPr lang="en-US" sz="2000" b="1" dirty="0" err="1">
                <a:solidFill>
                  <a:srgbClr val="C00000"/>
                </a:solidFill>
              </a:rPr>
              <a:t>ngs</a:t>
            </a:r>
            <a:r>
              <a:rPr lang="en-US" sz="2000" b="1" dirty="0">
                <a:solidFill>
                  <a:srgbClr val="C00000"/>
                </a:solidFill>
              </a:rPr>
              <a:t>) {</a:t>
            </a:r>
          </a:p>
          <a:p>
            <a:pPr algn="just"/>
            <a:r>
              <a:rPr lang="en-US" sz="2000" b="1" dirty="0">
                <a:solidFill>
                  <a:srgbClr val="C00000"/>
                </a:solidFill>
              </a:rPr>
              <a:t>		// here ng is synchronized object</a:t>
            </a:r>
          </a:p>
          <a:p>
            <a:pPr algn="just"/>
            <a:r>
              <a:rPr lang="en-US" sz="2000" b="1" dirty="0">
                <a:solidFill>
                  <a:srgbClr val="C00000"/>
                </a:solidFill>
              </a:rPr>
              <a:t>		</a:t>
            </a:r>
            <a:r>
              <a:rPr lang="en-US" sz="2000" b="1" dirty="0" err="1">
                <a:solidFill>
                  <a:srgbClr val="C00000"/>
                </a:solidFill>
              </a:rPr>
              <a:t>ngs.generate</a:t>
            </a:r>
            <a:r>
              <a:rPr lang="en-US" sz="2000" b="1" dirty="0">
                <a:solidFill>
                  <a:srgbClr val="C00000"/>
                </a:solidFill>
              </a:rPr>
              <a:t>(); </a:t>
            </a:r>
          </a:p>
          <a:p>
            <a:pPr algn="just"/>
            <a:r>
              <a:rPr lang="en-US" sz="2000" b="1" dirty="0">
                <a:solidFill>
                  <a:srgbClr val="C00000"/>
                </a:solidFill>
              </a:rPr>
              <a:t>	           } // sync object</a:t>
            </a:r>
          </a:p>
          <a:p>
            <a:pPr algn="just"/>
            <a:r>
              <a:rPr lang="en-US" sz="2000" b="1" dirty="0">
                <a:solidFill>
                  <a:srgbClr val="003F66"/>
                </a:solidFill>
              </a:rPr>
              <a:t>	        } // for</a:t>
            </a:r>
          </a:p>
          <a:p>
            <a:pPr algn="just"/>
            <a:r>
              <a:rPr lang="en-US" sz="2000" b="1" dirty="0">
                <a:solidFill>
                  <a:srgbClr val="003F66"/>
                </a:solidFill>
              </a:rPr>
              <a:t>	    } // run()</a:t>
            </a:r>
          </a:p>
          <a:p>
            <a:pPr algn="just"/>
            <a:r>
              <a:rPr lang="en-US" sz="2000" b="1" dirty="0">
                <a:solidFill>
                  <a:srgbClr val="003F66"/>
                </a:solidFill>
              </a:rPr>
              <a:t>	} // Runnable</a:t>
            </a:r>
          </a:p>
          <a:p>
            <a:pPr algn="just"/>
            <a:r>
              <a:rPr lang="en-US" sz="2000" b="1" dirty="0">
                <a:solidFill>
                  <a:srgbClr val="003F66"/>
                </a:solidFill>
              </a:rPr>
              <a:t>	).start();</a:t>
            </a:r>
          </a:p>
        </p:txBody>
      </p:sp>
      <p:sp>
        <p:nvSpPr>
          <p:cNvPr id="5" name="TextBox 4">
            <a:extLst>
              <a:ext uri="{FF2B5EF4-FFF2-40B4-BE49-F238E27FC236}">
                <a16:creationId xmlns:a16="http://schemas.microsoft.com/office/drawing/2014/main" id="{B48E65AB-BCBB-55A8-B65B-0FE37DD2A040}"/>
              </a:ext>
            </a:extLst>
          </p:cNvPr>
          <p:cNvSpPr txBox="1"/>
          <p:nvPr/>
        </p:nvSpPr>
        <p:spPr>
          <a:xfrm>
            <a:off x="5720360" y="900018"/>
            <a:ext cx="6125134" cy="3693319"/>
          </a:xfrm>
          <a:prstGeom prst="rect">
            <a:avLst/>
          </a:prstGeom>
          <a:noFill/>
        </p:spPr>
        <p:txBody>
          <a:bodyPr wrap="square">
            <a:spAutoFit/>
          </a:bodyPr>
          <a:lstStyle/>
          <a:p>
            <a:r>
              <a:rPr lang="en-IN" b="1" dirty="0">
                <a:solidFill>
                  <a:srgbClr val="003F66"/>
                </a:solidFill>
              </a:rPr>
              <a:t> new Thread(new Runnable() {</a:t>
            </a:r>
          </a:p>
          <a:p>
            <a:r>
              <a:rPr lang="en-IN" b="1" dirty="0">
                <a:solidFill>
                  <a:srgbClr val="003F66"/>
                </a:solidFill>
              </a:rPr>
              <a:t>	    public void run() {</a:t>
            </a:r>
          </a:p>
          <a:p>
            <a:r>
              <a:rPr lang="en-IN" b="1" dirty="0">
                <a:solidFill>
                  <a:srgbClr val="003F66"/>
                </a:solidFill>
              </a:rPr>
              <a:t>	        for(int </a:t>
            </a:r>
            <a:r>
              <a:rPr lang="en-IN" b="1" dirty="0" err="1">
                <a:solidFill>
                  <a:srgbClr val="003F66"/>
                </a:solidFill>
              </a:rPr>
              <a:t>i</a:t>
            </a:r>
            <a:r>
              <a:rPr lang="en-IN" b="1" dirty="0">
                <a:solidFill>
                  <a:srgbClr val="003F66"/>
                </a:solidFill>
              </a:rPr>
              <a:t>=0;i&lt;10;i++ { </a:t>
            </a:r>
          </a:p>
          <a:p>
            <a:r>
              <a:rPr lang="en-IN" b="1" dirty="0">
                <a:solidFill>
                  <a:srgbClr val="C00000"/>
                </a:solidFill>
              </a:rPr>
              <a:t>	            // here ng object is synchronized</a:t>
            </a:r>
          </a:p>
          <a:p>
            <a:r>
              <a:rPr lang="en-IN" b="1" dirty="0">
                <a:solidFill>
                  <a:srgbClr val="C00000"/>
                </a:solidFill>
              </a:rPr>
              <a:t>	            synchronized(</a:t>
            </a:r>
            <a:r>
              <a:rPr lang="en-IN" b="1" dirty="0" err="1">
                <a:solidFill>
                  <a:srgbClr val="C00000"/>
                </a:solidFill>
              </a:rPr>
              <a:t>ngs</a:t>
            </a:r>
            <a:r>
              <a:rPr lang="en-IN" b="1" dirty="0">
                <a:solidFill>
                  <a:srgbClr val="C00000"/>
                </a:solidFill>
              </a:rPr>
              <a:t>) {</a:t>
            </a:r>
          </a:p>
          <a:p>
            <a:r>
              <a:rPr lang="en-IN" b="1" dirty="0">
                <a:solidFill>
                  <a:srgbClr val="C00000"/>
                </a:solidFill>
              </a:rPr>
              <a:t>	               </a:t>
            </a:r>
            <a:r>
              <a:rPr lang="en-IN" b="1" dirty="0" err="1">
                <a:solidFill>
                  <a:srgbClr val="C00000"/>
                </a:solidFill>
              </a:rPr>
              <a:t>ngs.print</a:t>
            </a:r>
            <a:r>
              <a:rPr lang="en-IN" b="1" dirty="0">
                <a:solidFill>
                  <a:srgbClr val="C00000"/>
                </a:solidFill>
              </a:rPr>
              <a:t>(); </a:t>
            </a:r>
          </a:p>
          <a:p>
            <a:r>
              <a:rPr lang="en-IN" b="1" dirty="0">
                <a:solidFill>
                  <a:srgbClr val="C00000"/>
                </a:solidFill>
              </a:rPr>
              <a:t>	            }	</a:t>
            </a:r>
          </a:p>
          <a:p>
            <a:r>
              <a:rPr lang="en-IN" b="1" dirty="0">
                <a:solidFill>
                  <a:srgbClr val="003F66"/>
                </a:solidFill>
              </a:rPr>
              <a:t>	        }</a:t>
            </a:r>
          </a:p>
          <a:p>
            <a:r>
              <a:rPr lang="en-IN" b="1" dirty="0">
                <a:solidFill>
                  <a:srgbClr val="003F66"/>
                </a:solidFill>
              </a:rPr>
              <a:t>	    }</a:t>
            </a:r>
          </a:p>
          <a:p>
            <a:r>
              <a:rPr lang="en-IN" b="1" dirty="0">
                <a:solidFill>
                  <a:srgbClr val="003F66"/>
                </a:solidFill>
              </a:rPr>
              <a:t>	}</a:t>
            </a:r>
          </a:p>
          <a:p>
            <a:r>
              <a:rPr lang="en-IN" b="1" dirty="0">
                <a:solidFill>
                  <a:srgbClr val="003F66"/>
                </a:solidFill>
              </a:rPr>
              <a:t>	).start();</a:t>
            </a:r>
          </a:p>
          <a:p>
            <a:r>
              <a:rPr lang="en-IN" b="1" dirty="0">
                <a:solidFill>
                  <a:srgbClr val="003F66"/>
                </a:solidFill>
              </a:rPr>
              <a:t>  }</a:t>
            </a:r>
          </a:p>
          <a:p>
            <a:r>
              <a:rPr lang="en-IN" b="1" dirty="0">
                <a:solidFill>
                  <a:srgbClr val="003F66"/>
                </a:solidFill>
              </a:rPr>
              <a:t>}</a:t>
            </a:r>
          </a:p>
        </p:txBody>
      </p:sp>
      <p:sp>
        <p:nvSpPr>
          <p:cNvPr id="3" name="Footer Placeholder 2">
            <a:extLst>
              <a:ext uri="{FF2B5EF4-FFF2-40B4-BE49-F238E27FC236}">
                <a16:creationId xmlns:a16="http://schemas.microsoft.com/office/drawing/2014/main" id="{74B0ACDF-D8BA-B261-B0CF-4C314327C42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6821169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 name="Title 1">
            <a:extLst>
              <a:ext uri="{FF2B5EF4-FFF2-40B4-BE49-F238E27FC236}">
                <a16:creationId xmlns:a16="http://schemas.microsoft.com/office/drawing/2014/main" id="{108B4E34-669A-E3C5-AB60-33B48FC0B14F}"/>
              </a:ext>
            </a:extLst>
          </p:cNvPr>
          <p:cNvSpPr txBox="1">
            <a:spLocks/>
          </p:cNvSpPr>
          <p:nvPr/>
        </p:nvSpPr>
        <p:spPr>
          <a:xfrm>
            <a:off x="1443318" y="1949823"/>
            <a:ext cx="7740316" cy="156013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8800" b="1">
                <a:solidFill>
                  <a:srgbClr val="0070C0"/>
                </a:solidFill>
              </a:rPr>
              <a:t>Naming Threads</a:t>
            </a:r>
            <a:endParaRPr lang="en-IN" sz="8800" b="1" dirty="0">
              <a:solidFill>
                <a:srgbClr val="0070C0"/>
              </a:solidFill>
            </a:endParaRPr>
          </a:p>
        </p:txBody>
      </p:sp>
      <p:sp>
        <p:nvSpPr>
          <p:cNvPr id="5" name="Footer Placeholder 4">
            <a:extLst>
              <a:ext uri="{FF2B5EF4-FFF2-40B4-BE49-F238E27FC236}">
                <a16:creationId xmlns:a16="http://schemas.microsoft.com/office/drawing/2014/main" id="{172184DE-ECAB-B7DC-C9E1-26C8A640F49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400501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 name="Title 1">
            <a:extLst>
              <a:ext uri="{FF2B5EF4-FFF2-40B4-BE49-F238E27FC236}">
                <a16:creationId xmlns:a16="http://schemas.microsoft.com/office/drawing/2014/main" id="{108B4E34-669A-E3C5-AB60-33B48FC0B14F}"/>
              </a:ext>
            </a:extLst>
          </p:cNvPr>
          <p:cNvSpPr txBox="1">
            <a:spLocks/>
          </p:cNvSpPr>
          <p:nvPr/>
        </p:nvSpPr>
        <p:spPr>
          <a:xfrm>
            <a:off x="542368" y="1949823"/>
            <a:ext cx="8195759" cy="2965719"/>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400" b="1" dirty="0">
                <a:solidFill>
                  <a:srgbClr val="0070C0"/>
                </a:solidFill>
                <a:latin typeface="+mn-lt"/>
              </a:rPr>
              <a:t>Why we need to apply name to Threads?</a:t>
            </a:r>
          </a:p>
          <a:p>
            <a:pPr algn="just"/>
            <a:r>
              <a:rPr lang="en-US" sz="2400" b="1" dirty="0">
                <a:solidFill>
                  <a:srgbClr val="0070C0"/>
                </a:solidFill>
                <a:latin typeface="+mn-lt"/>
              </a:rPr>
              <a:t>We need to apply name to threads because generate() and print() methods of </a:t>
            </a:r>
            <a:r>
              <a:rPr lang="en-US" sz="2400" b="1" dirty="0" err="1">
                <a:solidFill>
                  <a:srgbClr val="0070C0"/>
                </a:solidFill>
                <a:latin typeface="+mn-lt"/>
              </a:rPr>
              <a:t>NumberGenerator</a:t>
            </a:r>
            <a:r>
              <a:rPr lang="en-US" sz="2400" b="1" dirty="0">
                <a:solidFill>
                  <a:srgbClr val="0070C0"/>
                </a:solidFill>
                <a:latin typeface="+mn-lt"/>
              </a:rPr>
              <a:t> class runs in </a:t>
            </a:r>
            <a:r>
              <a:rPr lang="en-US" sz="2400" b="1" dirty="0" err="1">
                <a:solidFill>
                  <a:srgbClr val="0070C0"/>
                </a:solidFill>
                <a:latin typeface="+mn-lt"/>
              </a:rPr>
              <a:t>GenerateThread</a:t>
            </a:r>
            <a:r>
              <a:rPr lang="en-US" sz="2400" b="1" dirty="0">
                <a:solidFill>
                  <a:srgbClr val="0070C0"/>
                </a:solidFill>
                <a:latin typeface="+mn-lt"/>
              </a:rPr>
              <a:t> and </a:t>
            </a:r>
            <a:r>
              <a:rPr lang="en-US" sz="2400" b="1" dirty="0" err="1">
                <a:solidFill>
                  <a:srgbClr val="0070C0"/>
                </a:solidFill>
                <a:latin typeface="+mn-lt"/>
              </a:rPr>
              <a:t>PrintThread</a:t>
            </a:r>
            <a:r>
              <a:rPr lang="en-US" sz="2400" b="1" dirty="0">
                <a:solidFill>
                  <a:srgbClr val="0070C0"/>
                </a:solidFill>
                <a:latin typeface="+mn-lt"/>
              </a:rPr>
              <a:t> class. Thread classes knows about </a:t>
            </a:r>
            <a:r>
              <a:rPr lang="en-US" sz="2400" b="1" dirty="0" err="1">
                <a:solidFill>
                  <a:srgbClr val="0070C0"/>
                </a:solidFill>
                <a:latin typeface="+mn-lt"/>
              </a:rPr>
              <a:t>NumberGenerator</a:t>
            </a:r>
            <a:r>
              <a:rPr lang="en-US" sz="2400" b="1" dirty="0">
                <a:solidFill>
                  <a:srgbClr val="0070C0"/>
                </a:solidFill>
                <a:latin typeface="+mn-lt"/>
              </a:rPr>
              <a:t> class methods. But </a:t>
            </a:r>
            <a:r>
              <a:rPr lang="en-US" sz="2400" b="1" dirty="0" err="1">
                <a:solidFill>
                  <a:srgbClr val="0070C0"/>
                </a:solidFill>
                <a:latin typeface="+mn-lt"/>
              </a:rPr>
              <a:t>NumberGenerator</a:t>
            </a:r>
            <a:r>
              <a:rPr lang="en-US" sz="2400" b="1" dirty="0">
                <a:solidFill>
                  <a:srgbClr val="0070C0"/>
                </a:solidFill>
                <a:latin typeface="+mn-lt"/>
              </a:rPr>
              <a:t> class generate() and print() methods don't know in which threads they are running. Hence in generate() and print() methods if we request Thread class static method </a:t>
            </a:r>
            <a:r>
              <a:rPr lang="en-US" sz="2400" b="1" dirty="0" err="1">
                <a:solidFill>
                  <a:srgbClr val="0070C0"/>
                </a:solidFill>
                <a:latin typeface="+mn-lt"/>
              </a:rPr>
              <a:t>currentThread</a:t>
            </a:r>
            <a:r>
              <a:rPr lang="en-US" sz="2400" b="1" dirty="0">
                <a:solidFill>
                  <a:srgbClr val="0070C0"/>
                </a:solidFill>
                <a:latin typeface="+mn-lt"/>
              </a:rPr>
              <a:t>() as Thread t1=</a:t>
            </a:r>
            <a:r>
              <a:rPr lang="en-US" sz="2400" b="1" dirty="0" err="1">
                <a:solidFill>
                  <a:srgbClr val="0070C0"/>
                </a:solidFill>
                <a:latin typeface="+mn-lt"/>
              </a:rPr>
              <a:t>Thread.currentThead</a:t>
            </a:r>
            <a:r>
              <a:rPr lang="en-US" sz="2400" b="1" dirty="0">
                <a:solidFill>
                  <a:srgbClr val="0070C0"/>
                </a:solidFill>
                <a:latin typeface="+mn-lt"/>
              </a:rPr>
              <a:t>() in which thread generate() and print() methods running those Thread objects will come. On Thread class if we request </a:t>
            </a:r>
            <a:r>
              <a:rPr lang="en-US" sz="2400" b="1" dirty="0" err="1">
                <a:solidFill>
                  <a:srgbClr val="0070C0"/>
                </a:solidFill>
                <a:latin typeface="+mn-lt"/>
              </a:rPr>
              <a:t>getName</a:t>
            </a:r>
            <a:r>
              <a:rPr lang="en-US" sz="2400" b="1" dirty="0">
                <a:solidFill>
                  <a:srgbClr val="0070C0"/>
                </a:solidFill>
                <a:latin typeface="+mn-lt"/>
              </a:rPr>
              <a:t>() method the name of the Thread will be returned.</a:t>
            </a:r>
          </a:p>
        </p:txBody>
      </p:sp>
      <p:sp>
        <p:nvSpPr>
          <p:cNvPr id="5" name="Footer Placeholder 4">
            <a:extLst>
              <a:ext uri="{FF2B5EF4-FFF2-40B4-BE49-F238E27FC236}">
                <a16:creationId xmlns:a16="http://schemas.microsoft.com/office/drawing/2014/main" id="{803D12E9-31DF-3542-85A6-C454C2BB82E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357270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 name="Title 1">
            <a:extLst>
              <a:ext uri="{FF2B5EF4-FFF2-40B4-BE49-F238E27FC236}">
                <a16:creationId xmlns:a16="http://schemas.microsoft.com/office/drawing/2014/main" id="{108B4E34-669A-E3C5-AB60-33B48FC0B14F}"/>
              </a:ext>
            </a:extLst>
          </p:cNvPr>
          <p:cNvSpPr txBox="1">
            <a:spLocks/>
          </p:cNvSpPr>
          <p:nvPr/>
        </p:nvSpPr>
        <p:spPr>
          <a:xfrm>
            <a:off x="542368" y="1385049"/>
            <a:ext cx="8195759" cy="430305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1800" b="1" dirty="0">
                <a:solidFill>
                  <a:srgbClr val="0070C0"/>
                </a:solidFill>
                <a:latin typeface="+mn-lt"/>
              </a:rPr>
              <a:t>// NamedNumberGenerator.java</a:t>
            </a:r>
          </a:p>
          <a:p>
            <a:pPr algn="just"/>
            <a:r>
              <a:rPr lang="en-US" sz="1800" b="1" dirty="0">
                <a:solidFill>
                  <a:srgbClr val="0070C0"/>
                </a:solidFill>
                <a:latin typeface="+mn-lt"/>
              </a:rPr>
              <a:t>public class </a:t>
            </a:r>
            <a:r>
              <a:rPr lang="en-US" sz="1800" b="1" dirty="0" err="1">
                <a:solidFill>
                  <a:srgbClr val="0070C0"/>
                </a:solidFill>
                <a:latin typeface="+mn-lt"/>
              </a:rPr>
              <a:t>NamedNumberGenerator</a:t>
            </a:r>
            <a:r>
              <a:rPr lang="en-US" sz="1800" b="1" dirty="0">
                <a:solidFill>
                  <a:srgbClr val="0070C0"/>
                </a:solidFill>
                <a:latin typeface="+mn-lt"/>
              </a:rPr>
              <a:t> {</a:t>
            </a:r>
          </a:p>
          <a:p>
            <a:pPr algn="just"/>
            <a:endParaRPr lang="en-US" sz="1800" b="1" dirty="0">
              <a:solidFill>
                <a:srgbClr val="0070C0"/>
              </a:solidFill>
              <a:latin typeface="+mn-lt"/>
            </a:endParaRPr>
          </a:p>
          <a:p>
            <a:pPr algn="just"/>
            <a:r>
              <a:rPr lang="en-US" sz="1800" b="1" dirty="0">
                <a:solidFill>
                  <a:srgbClr val="0070C0"/>
                </a:solidFill>
                <a:latin typeface="+mn-lt"/>
              </a:rPr>
              <a:t>  public void generate() {</a:t>
            </a:r>
          </a:p>
          <a:p>
            <a:pPr algn="just"/>
            <a:r>
              <a:rPr lang="en-US" sz="1800" b="1" dirty="0">
                <a:solidFill>
                  <a:srgbClr val="0070C0"/>
                </a:solidFill>
                <a:latin typeface="+mn-lt"/>
              </a:rPr>
              <a:t>    	</a:t>
            </a:r>
            <a:r>
              <a:rPr lang="en-US" sz="1800" b="1" dirty="0" err="1">
                <a:solidFill>
                  <a:srgbClr val="0070C0"/>
                </a:solidFill>
                <a:latin typeface="+mn-lt"/>
              </a:rPr>
              <a:t>System.out.println</a:t>
            </a:r>
            <a:r>
              <a:rPr lang="en-US" sz="1800" b="1" dirty="0">
                <a:solidFill>
                  <a:srgbClr val="0070C0"/>
                </a:solidFill>
                <a:latin typeface="+mn-lt"/>
              </a:rPr>
              <a:t>(</a:t>
            </a:r>
            <a:r>
              <a:rPr lang="en-US" sz="1800" b="1" dirty="0" err="1">
                <a:solidFill>
                  <a:srgbClr val="0070C0"/>
                </a:solidFill>
                <a:latin typeface="+mn-lt"/>
              </a:rPr>
              <a:t>Thread.currentThread</a:t>
            </a:r>
            <a:r>
              <a:rPr lang="en-US" sz="1800" b="1" dirty="0">
                <a:solidFill>
                  <a:srgbClr val="0070C0"/>
                </a:solidFill>
                <a:latin typeface="+mn-lt"/>
              </a:rPr>
              <a:t>().</a:t>
            </a:r>
            <a:r>
              <a:rPr lang="en-US" sz="1800" b="1" dirty="0" err="1">
                <a:solidFill>
                  <a:srgbClr val="0070C0"/>
                </a:solidFill>
                <a:latin typeface="+mn-lt"/>
              </a:rPr>
              <a:t>getName</a:t>
            </a:r>
            <a:r>
              <a:rPr lang="en-US" sz="1800" b="1" dirty="0">
                <a:solidFill>
                  <a:srgbClr val="0070C0"/>
                </a:solidFill>
                <a:latin typeface="+mn-lt"/>
              </a:rPr>
              <a:t>()+" executed");</a:t>
            </a:r>
          </a:p>
          <a:p>
            <a:pPr algn="just"/>
            <a:r>
              <a:rPr lang="en-US" sz="1800" b="1" dirty="0">
                <a:solidFill>
                  <a:srgbClr val="0070C0"/>
                </a:solidFill>
                <a:latin typeface="+mn-lt"/>
              </a:rPr>
              <a:t>	// how to retrieve the thread name in method</a:t>
            </a:r>
          </a:p>
          <a:p>
            <a:pPr algn="just"/>
            <a:r>
              <a:rPr lang="en-US" sz="1800" b="1" dirty="0">
                <a:solidFill>
                  <a:srgbClr val="0070C0"/>
                </a:solidFill>
                <a:latin typeface="+mn-lt"/>
              </a:rPr>
              <a:t>	// Thread t1=</a:t>
            </a:r>
            <a:r>
              <a:rPr lang="en-US" sz="1800" b="1" dirty="0" err="1">
                <a:solidFill>
                  <a:srgbClr val="0070C0"/>
                </a:solidFill>
                <a:latin typeface="+mn-lt"/>
              </a:rPr>
              <a:t>Thread.currentThread</a:t>
            </a:r>
            <a:r>
              <a:rPr lang="en-US" sz="1800" b="1" dirty="0">
                <a:solidFill>
                  <a:srgbClr val="0070C0"/>
                </a:solidFill>
                <a:latin typeface="+mn-lt"/>
              </a:rPr>
              <a:t>() method retrieves the thread associated the current method</a:t>
            </a:r>
          </a:p>
          <a:p>
            <a:pPr algn="just"/>
            <a:r>
              <a:rPr lang="en-US" sz="1800" b="1" dirty="0">
                <a:solidFill>
                  <a:srgbClr val="0070C0"/>
                </a:solidFill>
                <a:latin typeface="+mn-lt"/>
              </a:rPr>
              <a:t>	// t1.getName() prints the name of the thread</a:t>
            </a:r>
          </a:p>
          <a:p>
            <a:pPr algn="just"/>
            <a:r>
              <a:rPr lang="en-US" sz="1800" b="1" dirty="0">
                <a:solidFill>
                  <a:srgbClr val="0070C0"/>
                </a:solidFill>
                <a:latin typeface="+mn-lt"/>
              </a:rPr>
              <a:t>  }</a:t>
            </a:r>
          </a:p>
          <a:p>
            <a:pPr algn="just"/>
            <a:r>
              <a:rPr lang="en-US" sz="1800" b="1" dirty="0">
                <a:solidFill>
                  <a:srgbClr val="0070C0"/>
                </a:solidFill>
                <a:latin typeface="+mn-lt"/>
              </a:rPr>
              <a:t>  </a:t>
            </a:r>
          </a:p>
          <a:p>
            <a:pPr algn="just"/>
            <a:r>
              <a:rPr lang="en-US" sz="1800" b="1" dirty="0">
                <a:solidFill>
                  <a:srgbClr val="0070C0"/>
                </a:solidFill>
                <a:latin typeface="+mn-lt"/>
              </a:rPr>
              <a:t>  public void print() {</a:t>
            </a:r>
          </a:p>
          <a:p>
            <a:pPr algn="just"/>
            <a:r>
              <a:rPr lang="en-US" sz="1800" b="1" dirty="0">
                <a:solidFill>
                  <a:srgbClr val="0070C0"/>
                </a:solidFill>
                <a:latin typeface="+mn-lt"/>
              </a:rPr>
              <a:t>    	</a:t>
            </a:r>
            <a:r>
              <a:rPr lang="en-US" sz="1800" b="1" dirty="0" err="1">
                <a:solidFill>
                  <a:srgbClr val="0070C0"/>
                </a:solidFill>
                <a:latin typeface="+mn-lt"/>
              </a:rPr>
              <a:t>System.out.println</a:t>
            </a:r>
            <a:r>
              <a:rPr lang="en-US" sz="1800" b="1" dirty="0">
                <a:solidFill>
                  <a:srgbClr val="0070C0"/>
                </a:solidFill>
                <a:latin typeface="+mn-lt"/>
              </a:rPr>
              <a:t>(</a:t>
            </a:r>
            <a:r>
              <a:rPr lang="en-US" sz="1800" b="1" dirty="0" err="1">
                <a:solidFill>
                  <a:srgbClr val="0070C0"/>
                </a:solidFill>
                <a:latin typeface="+mn-lt"/>
              </a:rPr>
              <a:t>Thread.currentThread</a:t>
            </a:r>
            <a:r>
              <a:rPr lang="en-US" sz="1800" b="1" dirty="0">
                <a:solidFill>
                  <a:srgbClr val="0070C0"/>
                </a:solidFill>
                <a:latin typeface="+mn-lt"/>
              </a:rPr>
              <a:t>().</a:t>
            </a:r>
            <a:r>
              <a:rPr lang="en-US" sz="1800" b="1" dirty="0" err="1">
                <a:solidFill>
                  <a:srgbClr val="0070C0"/>
                </a:solidFill>
                <a:latin typeface="+mn-lt"/>
              </a:rPr>
              <a:t>getName</a:t>
            </a:r>
            <a:r>
              <a:rPr lang="en-US" sz="1800" b="1" dirty="0">
                <a:solidFill>
                  <a:srgbClr val="0070C0"/>
                </a:solidFill>
                <a:latin typeface="+mn-lt"/>
              </a:rPr>
              <a:t>()+" executed");</a:t>
            </a:r>
          </a:p>
          <a:p>
            <a:pPr algn="just"/>
            <a:r>
              <a:rPr lang="en-US" sz="1800" b="1" dirty="0">
                <a:solidFill>
                  <a:srgbClr val="0070C0"/>
                </a:solidFill>
                <a:latin typeface="+mn-lt"/>
              </a:rPr>
              <a:t>	// how to retrieve the thread name in method</a:t>
            </a:r>
          </a:p>
          <a:p>
            <a:pPr algn="just"/>
            <a:r>
              <a:rPr lang="en-US" sz="1800" b="1" dirty="0">
                <a:solidFill>
                  <a:srgbClr val="0070C0"/>
                </a:solidFill>
                <a:latin typeface="+mn-lt"/>
              </a:rPr>
              <a:t>  }</a:t>
            </a:r>
          </a:p>
          <a:p>
            <a:pPr algn="just"/>
            <a:r>
              <a:rPr lang="en-US" sz="1800" b="1" dirty="0">
                <a:solidFill>
                  <a:srgbClr val="0070C0"/>
                </a:solidFill>
                <a:latin typeface="+mn-lt"/>
              </a:rPr>
              <a:t>  </a:t>
            </a:r>
          </a:p>
          <a:p>
            <a:pPr algn="just"/>
            <a:r>
              <a:rPr lang="en-US" sz="1800" b="1" dirty="0">
                <a:solidFill>
                  <a:srgbClr val="0070C0"/>
                </a:solidFill>
                <a:latin typeface="+mn-lt"/>
              </a:rPr>
              <a:t>}</a:t>
            </a:r>
          </a:p>
        </p:txBody>
      </p:sp>
      <p:sp>
        <p:nvSpPr>
          <p:cNvPr id="5" name="Footer Placeholder 4">
            <a:extLst>
              <a:ext uri="{FF2B5EF4-FFF2-40B4-BE49-F238E27FC236}">
                <a16:creationId xmlns:a16="http://schemas.microsoft.com/office/drawing/2014/main" id="{CA5BC287-C833-162C-8156-E655D6FFEBB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5452135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 name="Title 1">
            <a:extLst>
              <a:ext uri="{FF2B5EF4-FFF2-40B4-BE49-F238E27FC236}">
                <a16:creationId xmlns:a16="http://schemas.microsoft.com/office/drawing/2014/main" id="{108B4E34-669A-E3C5-AB60-33B48FC0B14F}"/>
              </a:ext>
            </a:extLst>
          </p:cNvPr>
          <p:cNvSpPr txBox="1">
            <a:spLocks/>
          </p:cNvSpPr>
          <p:nvPr/>
        </p:nvSpPr>
        <p:spPr>
          <a:xfrm>
            <a:off x="542368" y="1385049"/>
            <a:ext cx="8195759" cy="430305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000" b="1" dirty="0">
                <a:solidFill>
                  <a:srgbClr val="0070C0"/>
                </a:solidFill>
                <a:latin typeface="+mn-lt"/>
              </a:rPr>
              <a:t>// NamedGenerateThread.java</a:t>
            </a:r>
          </a:p>
          <a:p>
            <a:pPr algn="just"/>
            <a:r>
              <a:rPr lang="en-US" sz="2000" b="1" dirty="0">
                <a:solidFill>
                  <a:srgbClr val="0070C0"/>
                </a:solidFill>
                <a:latin typeface="+mn-lt"/>
              </a:rPr>
              <a:t>public class </a:t>
            </a:r>
            <a:r>
              <a:rPr lang="en-US" sz="2000" b="1" dirty="0" err="1">
                <a:solidFill>
                  <a:srgbClr val="0070C0"/>
                </a:solidFill>
                <a:latin typeface="+mn-lt"/>
              </a:rPr>
              <a:t>NamedGenerateThread</a:t>
            </a:r>
            <a:r>
              <a:rPr lang="en-US" sz="2000" b="1" dirty="0">
                <a:solidFill>
                  <a:srgbClr val="0070C0"/>
                </a:solidFill>
                <a:latin typeface="+mn-lt"/>
              </a:rPr>
              <a:t> extends Thread {</a:t>
            </a:r>
          </a:p>
          <a:p>
            <a:pPr algn="just"/>
            <a:r>
              <a:rPr lang="en-US" sz="2000" b="1" dirty="0">
                <a:solidFill>
                  <a:srgbClr val="0070C0"/>
                </a:solidFill>
                <a:latin typeface="+mn-lt"/>
              </a:rPr>
              <a:t>   </a:t>
            </a:r>
            <a:r>
              <a:rPr lang="en-US" sz="2000" b="1" dirty="0" err="1">
                <a:solidFill>
                  <a:srgbClr val="0070C0"/>
                </a:solidFill>
                <a:latin typeface="+mn-lt"/>
              </a:rPr>
              <a:t>NumberGenerator</a:t>
            </a:r>
            <a:r>
              <a:rPr lang="en-US" sz="2000" b="1" dirty="0">
                <a:solidFill>
                  <a:srgbClr val="0070C0"/>
                </a:solidFill>
                <a:latin typeface="+mn-lt"/>
              </a:rPr>
              <a:t> ng;</a:t>
            </a:r>
          </a:p>
          <a:p>
            <a:pPr algn="just"/>
            <a:r>
              <a:rPr lang="en-US" sz="2000" b="1" dirty="0">
                <a:solidFill>
                  <a:srgbClr val="0070C0"/>
                </a:solidFill>
                <a:latin typeface="+mn-lt"/>
              </a:rPr>
              <a:t>   public </a:t>
            </a:r>
            <a:r>
              <a:rPr lang="en-US" sz="2000" b="1" dirty="0" err="1">
                <a:solidFill>
                  <a:srgbClr val="0070C0"/>
                </a:solidFill>
                <a:latin typeface="+mn-lt"/>
              </a:rPr>
              <a:t>NamedGenerateThread</a:t>
            </a:r>
            <a:r>
              <a:rPr lang="en-US" sz="2000" b="1" dirty="0">
                <a:solidFill>
                  <a:srgbClr val="0070C0"/>
                </a:solidFill>
                <a:latin typeface="+mn-lt"/>
              </a:rPr>
              <a:t>(</a:t>
            </a:r>
            <a:r>
              <a:rPr lang="en-US" sz="2000" b="1" dirty="0" err="1">
                <a:solidFill>
                  <a:srgbClr val="0070C0"/>
                </a:solidFill>
                <a:latin typeface="+mn-lt"/>
              </a:rPr>
              <a:t>NumberGenerator</a:t>
            </a:r>
            <a:r>
              <a:rPr lang="en-US" sz="2000" b="1" dirty="0">
                <a:solidFill>
                  <a:srgbClr val="0070C0"/>
                </a:solidFill>
                <a:latin typeface="+mn-lt"/>
              </a:rPr>
              <a:t> ng) {</a:t>
            </a:r>
          </a:p>
          <a:p>
            <a:pPr algn="just"/>
            <a:r>
              <a:rPr lang="en-US" sz="2000" b="1" dirty="0">
                <a:solidFill>
                  <a:srgbClr val="0070C0"/>
                </a:solidFill>
                <a:latin typeface="+mn-lt"/>
              </a:rPr>
              <a:t>     this.ng=ng;</a:t>
            </a:r>
          </a:p>
          <a:p>
            <a:pPr algn="just"/>
            <a:r>
              <a:rPr lang="en-US" sz="2000" b="1" dirty="0">
                <a:solidFill>
                  <a:srgbClr val="0070C0"/>
                </a:solidFill>
                <a:latin typeface="+mn-lt"/>
              </a:rPr>
              <a:t>	 </a:t>
            </a:r>
            <a:r>
              <a:rPr lang="en-US" sz="2000" b="1" dirty="0" err="1">
                <a:solidFill>
                  <a:srgbClr val="0070C0"/>
                </a:solidFill>
                <a:latin typeface="+mn-lt"/>
              </a:rPr>
              <a:t>setName</a:t>
            </a:r>
            <a:r>
              <a:rPr lang="en-US" sz="2000" b="1" dirty="0">
                <a:solidFill>
                  <a:srgbClr val="0070C0"/>
                </a:solidFill>
                <a:latin typeface="+mn-lt"/>
              </a:rPr>
              <a:t>("Generate Thread"); // 1st way of naming thread</a:t>
            </a:r>
          </a:p>
          <a:p>
            <a:pPr algn="just"/>
            <a:r>
              <a:rPr lang="en-US" sz="2000" b="1" dirty="0">
                <a:solidFill>
                  <a:srgbClr val="0070C0"/>
                </a:solidFill>
                <a:latin typeface="+mn-lt"/>
              </a:rPr>
              <a:t>   }</a:t>
            </a:r>
          </a:p>
          <a:p>
            <a:pPr algn="just"/>
            <a:r>
              <a:rPr lang="en-US" sz="2000" b="1" dirty="0">
                <a:solidFill>
                  <a:srgbClr val="0070C0"/>
                </a:solidFill>
                <a:latin typeface="+mn-lt"/>
              </a:rPr>
              <a:t>   public void run() {</a:t>
            </a:r>
          </a:p>
          <a:p>
            <a:pPr algn="just"/>
            <a:r>
              <a:rPr lang="en-US" sz="2000" b="1" dirty="0">
                <a:solidFill>
                  <a:srgbClr val="0070C0"/>
                </a:solidFill>
                <a:latin typeface="+mn-lt"/>
              </a:rPr>
              <a:t>     for(int </a:t>
            </a:r>
            <a:r>
              <a:rPr lang="en-US" sz="2000" b="1" dirty="0" err="1">
                <a:solidFill>
                  <a:srgbClr val="0070C0"/>
                </a:solidFill>
                <a:latin typeface="+mn-lt"/>
              </a:rPr>
              <a:t>i</a:t>
            </a:r>
            <a:r>
              <a:rPr lang="en-US" sz="2000" b="1" dirty="0">
                <a:solidFill>
                  <a:srgbClr val="0070C0"/>
                </a:solidFill>
                <a:latin typeface="+mn-lt"/>
              </a:rPr>
              <a:t>=0;i&lt;100;i++) {</a:t>
            </a:r>
          </a:p>
          <a:p>
            <a:pPr algn="just"/>
            <a:r>
              <a:rPr lang="en-US" sz="2000" b="1" dirty="0">
                <a:solidFill>
                  <a:srgbClr val="0070C0"/>
                </a:solidFill>
                <a:latin typeface="+mn-lt"/>
              </a:rPr>
              <a:t>       </a:t>
            </a:r>
            <a:r>
              <a:rPr lang="en-US" sz="2000" b="1" dirty="0" err="1">
                <a:solidFill>
                  <a:srgbClr val="0070C0"/>
                </a:solidFill>
                <a:latin typeface="+mn-lt"/>
              </a:rPr>
              <a:t>ng.generate</a:t>
            </a:r>
            <a:r>
              <a:rPr lang="en-US" sz="2000" b="1" dirty="0">
                <a:solidFill>
                  <a:srgbClr val="0070C0"/>
                </a:solidFill>
                <a:latin typeface="+mn-lt"/>
              </a:rPr>
              <a:t>();</a:t>
            </a:r>
          </a:p>
          <a:p>
            <a:pPr algn="just"/>
            <a:r>
              <a:rPr lang="en-US" sz="2000" b="1" dirty="0">
                <a:solidFill>
                  <a:srgbClr val="0070C0"/>
                </a:solidFill>
                <a:latin typeface="+mn-lt"/>
              </a:rPr>
              <a:t>     }</a:t>
            </a:r>
          </a:p>
          <a:p>
            <a:pPr algn="just"/>
            <a:r>
              <a:rPr lang="en-US" sz="2000" b="1" dirty="0">
                <a:solidFill>
                  <a:srgbClr val="0070C0"/>
                </a:solidFill>
                <a:latin typeface="+mn-lt"/>
              </a:rPr>
              <a:t>   }</a:t>
            </a:r>
          </a:p>
          <a:p>
            <a:pPr algn="just"/>
            <a:r>
              <a:rPr lang="en-US" sz="2000" b="1" dirty="0">
                <a:solidFill>
                  <a:srgbClr val="0070C0"/>
                </a:solidFill>
                <a:latin typeface="+mn-lt"/>
              </a:rPr>
              <a:t>}</a:t>
            </a:r>
          </a:p>
        </p:txBody>
      </p:sp>
      <p:sp>
        <p:nvSpPr>
          <p:cNvPr id="5" name="Footer Placeholder 4">
            <a:extLst>
              <a:ext uri="{FF2B5EF4-FFF2-40B4-BE49-F238E27FC236}">
                <a16:creationId xmlns:a16="http://schemas.microsoft.com/office/drawing/2014/main" id="{216A3E52-D7E7-3B9B-7E56-19C3118B8ED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5971698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 name="Title 1">
            <a:extLst>
              <a:ext uri="{FF2B5EF4-FFF2-40B4-BE49-F238E27FC236}">
                <a16:creationId xmlns:a16="http://schemas.microsoft.com/office/drawing/2014/main" id="{108B4E34-669A-E3C5-AB60-33B48FC0B14F}"/>
              </a:ext>
            </a:extLst>
          </p:cNvPr>
          <p:cNvSpPr txBox="1">
            <a:spLocks/>
          </p:cNvSpPr>
          <p:nvPr/>
        </p:nvSpPr>
        <p:spPr>
          <a:xfrm>
            <a:off x="542368" y="1385049"/>
            <a:ext cx="8195759" cy="430305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000" b="1" dirty="0">
                <a:solidFill>
                  <a:srgbClr val="0070C0"/>
                </a:solidFill>
                <a:latin typeface="+mn-lt"/>
              </a:rPr>
              <a:t>// NamedPrintThread.java</a:t>
            </a:r>
          </a:p>
          <a:p>
            <a:pPr algn="just"/>
            <a:r>
              <a:rPr lang="en-US" sz="2000" b="1" dirty="0">
                <a:solidFill>
                  <a:srgbClr val="0070C0"/>
                </a:solidFill>
                <a:latin typeface="+mn-lt"/>
              </a:rPr>
              <a:t>public class </a:t>
            </a:r>
            <a:r>
              <a:rPr lang="en-US" sz="2000" b="1" dirty="0" err="1">
                <a:solidFill>
                  <a:srgbClr val="0070C0"/>
                </a:solidFill>
                <a:latin typeface="+mn-lt"/>
              </a:rPr>
              <a:t>NamedPrintThread</a:t>
            </a:r>
            <a:r>
              <a:rPr lang="en-US" sz="2000" b="1" dirty="0">
                <a:solidFill>
                  <a:srgbClr val="0070C0"/>
                </a:solidFill>
                <a:latin typeface="+mn-lt"/>
              </a:rPr>
              <a:t> extends Thread {</a:t>
            </a:r>
          </a:p>
          <a:p>
            <a:pPr algn="just"/>
            <a:r>
              <a:rPr lang="en-US" sz="2000" b="1" dirty="0">
                <a:solidFill>
                  <a:srgbClr val="0070C0"/>
                </a:solidFill>
                <a:latin typeface="+mn-lt"/>
              </a:rPr>
              <a:t>   </a:t>
            </a:r>
            <a:r>
              <a:rPr lang="en-US" sz="2000" b="1" dirty="0" err="1">
                <a:solidFill>
                  <a:srgbClr val="0070C0"/>
                </a:solidFill>
                <a:latin typeface="+mn-lt"/>
              </a:rPr>
              <a:t>NumberGenerator</a:t>
            </a:r>
            <a:r>
              <a:rPr lang="en-US" sz="2000" b="1" dirty="0">
                <a:solidFill>
                  <a:srgbClr val="0070C0"/>
                </a:solidFill>
                <a:latin typeface="+mn-lt"/>
              </a:rPr>
              <a:t> ng;</a:t>
            </a:r>
          </a:p>
          <a:p>
            <a:pPr algn="just"/>
            <a:r>
              <a:rPr lang="en-US" sz="2000" b="1" dirty="0">
                <a:solidFill>
                  <a:srgbClr val="0070C0"/>
                </a:solidFill>
                <a:latin typeface="+mn-lt"/>
              </a:rPr>
              <a:t>   public </a:t>
            </a:r>
            <a:r>
              <a:rPr lang="en-US" sz="2000" b="1" dirty="0" err="1">
                <a:solidFill>
                  <a:srgbClr val="0070C0"/>
                </a:solidFill>
                <a:latin typeface="+mn-lt"/>
              </a:rPr>
              <a:t>NamedPrintThread</a:t>
            </a:r>
            <a:r>
              <a:rPr lang="en-US" sz="2000" b="1" dirty="0">
                <a:solidFill>
                  <a:srgbClr val="0070C0"/>
                </a:solidFill>
                <a:latin typeface="+mn-lt"/>
              </a:rPr>
              <a:t>(</a:t>
            </a:r>
            <a:r>
              <a:rPr lang="en-US" sz="2000" b="1" dirty="0" err="1">
                <a:solidFill>
                  <a:srgbClr val="0070C0"/>
                </a:solidFill>
                <a:latin typeface="+mn-lt"/>
              </a:rPr>
              <a:t>NumberGenerator</a:t>
            </a:r>
            <a:r>
              <a:rPr lang="en-US" sz="2000" b="1" dirty="0">
                <a:solidFill>
                  <a:srgbClr val="0070C0"/>
                </a:solidFill>
                <a:latin typeface="+mn-lt"/>
              </a:rPr>
              <a:t> ng) {</a:t>
            </a:r>
          </a:p>
          <a:p>
            <a:pPr algn="just"/>
            <a:r>
              <a:rPr lang="en-US" sz="2000" b="1" dirty="0">
                <a:solidFill>
                  <a:srgbClr val="0070C0"/>
                </a:solidFill>
                <a:latin typeface="+mn-lt"/>
              </a:rPr>
              <a:t>     this.ng=ng;</a:t>
            </a:r>
          </a:p>
          <a:p>
            <a:pPr algn="just"/>
            <a:r>
              <a:rPr lang="en-US" sz="2000" b="1" dirty="0">
                <a:solidFill>
                  <a:srgbClr val="0070C0"/>
                </a:solidFill>
                <a:latin typeface="+mn-lt"/>
              </a:rPr>
              <a:t>	 </a:t>
            </a:r>
            <a:r>
              <a:rPr lang="en-US" sz="2000" b="1" dirty="0" err="1">
                <a:solidFill>
                  <a:srgbClr val="0070C0"/>
                </a:solidFill>
                <a:latin typeface="+mn-lt"/>
              </a:rPr>
              <a:t>setName</a:t>
            </a:r>
            <a:r>
              <a:rPr lang="en-US" sz="2000" b="1" dirty="0">
                <a:solidFill>
                  <a:srgbClr val="0070C0"/>
                </a:solidFill>
                <a:latin typeface="+mn-lt"/>
              </a:rPr>
              <a:t>("Print Thread"); // 1st way of naming thread</a:t>
            </a:r>
          </a:p>
          <a:p>
            <a:pPr algn="just"/>
            <a:r>
              <a:rPr lang="en-US" sz="2000" b="1" dirty="0">
                <a:solidFill>
                  <a:srgbClr val="0070C0"/>
                </a:solidFill>
                <a:latin typeface="+mn-lt"/>
              </a:rPr>
              <a:t>   }</a:t>
            </a:r>
          </a:p>
          <a:p>
            <a:pPr algn="just"/>
            <a:r>
              <a:rPr lang="en-US" sz="2000" b="1" dirty="0">
                <a:solidFill>
                  <a:srgbClr val="0070C0"/>
                </a:solidFill>
                <a:latin typeface="+mn-lt"/>
              </a:rPr>
              <a:t>   public void run() {</a:t>
            </a:r>
          </a:p>
          <a:p>
            <a:pPr algn="just"/>
            <a:r>
              <a:rPr lang="en-US" sz="2000" b="1" dirty="0">
                <a:solidFill>
                  <a:srgbClr val="0070C0"/>
                </a:solidFill>
                <a:latin typeface="+mn-lt"/>
              </a:rPr>
              <a:t>     for(int </a:t>
            </a:r>
            <a:r>
              <a:rPr lang="en-US" sz="2000" b="1" dirty="0" err="1">
                <a:solidFill>
                  <a:srgbClr val="0070C0"/>
                </a:solidFill>
                <a:latin typeface="+mn-lt"/>
              </a:rPr>
              <a:t>i</a:t>
            </a:r>
            <a:r>
              <a:rPr lang="en-US" sz="2000" b="1" dirty="0">
                <a:solidFill>
                  <a:srgbClr val="0070C0"/>
                </a:solidFill>
                <a:latin typeface="+mn-lt"/>
              </a:rPr>
              <a:t>=0;i&lt;100;i++) {</a:t>
            </a:r>
          </a:p>
          <a:p>
            <a:pPr algn="just"/>
            <a:r>
              <a:rPr lang="en-US" sz="2000" b="1" dirty="0">
                <a:solidFill>
                  <a:srgbClr val="0070C0"/>
                </a:solidFill>
                <a:latin typeface="+mn-lt"/>
              </a:rPr>
              <a:t>       </a:t>
            </a:r>
            <a:r>
              <a:rPr lang="en-US" sz="2000" b="1" dirty="0" err="1">
                <a:solidFill>
                  <a:srgbClr val="0070C0"/>
                </a:solidFill>
                <a:latin typeface="+mn-lt"/>
              </a:rPr>
              <a:t>ng.print</a:t>
            </a:r>
            <a:r>
              <a:rPr lang="en-US" sz="2000" b="1" dirty="0">
                <a:solidFill>
                  <a:srgbClr val="0070C0"/>
                </a:solidFill>
                <a:latin typeface="+mn-lt"/>
              </a:rPr>
              <a:t>();</a:t>
            </a:r>
          </a:p>
          <a:p>
            <a:pPr algn="just"/>
            <a:r>
              <a:rPr lang="en-US" sz="2000" b="1" dirty="0">
                <a:solidFill>
                  <a:srgbClr val="0070C0"/>
                </a:solidFill>
                <a:latin typeface="+mn-lt"/>
              </a:rPr>
              <a:t>     }</a:t>
            </a:r>
          </a:p>
          <a:p>
            <a:pPr algn="just"/>
            <a:r>
              <a:rPr lang="en-US" sz="2000" b="1" dirty="0">
                <a:solidFill>
                  <a:srgbClr val="0070C0"/>
                </a:solidFill>
                <a:latin typeface="+mn-lt"/>
              </a:rPr>
              <a:t>   }</a:t>
            </a:r>
          </a:p>
          <a:p>
            <a:pPr algn="just"/>
            <a:r>
              <a:rPr lang="en-US" sz="2000" b="1" dirty="0">
                <a:solidFill>
                  <a:srgbClr val="0070C0"/>
                </a:solidFill>
                <a:latin typeface="+mn-lt"/>
              </a:rPr>
              <a:t>}</a:t>
            </a:r>
          </a:p>
        </p:txBody>
      </p:sp>
      <p:sp>
        <p:nvSpPr>
          <p:cNvPr id="5" name="Footer Placeholder 4">
            <a:extLst>
              <a:ext uri="{FF2B5EF4-FFF2-40B4-BE49-F238E27FC236}">
                <a16:creationId xmlns:a16="http://schemas.microsoft.com/office/drawing/2014/main" id="{9EB5CA4C-5246-DE72-4E02-CE1A1EF826B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9119592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 name="Title 1">
            <a:extLst>
              <a:ext uri="{FF2B5EF4-FFF2-40B4-BE49-F238E27FC236}">
                <a16:creationId xmlns:a16="http://schemas.microsoft.com/office/drawing/2014/main" id="{108B4E34-669A-E3C5-AB60-33B48FC0B14F}"/>
              </a:ext>
            </a:extLst>
          </p:cNvPr>
          <p:cNvSpPr txBox="1">
            <a:spLocks/>
          </p:cNvSpPr>
          <p:nvPr/>
        </p:nvSpPr>
        <p:spPr>
          <a:xfrm>
            <a:off x="542368" y="941298"/>
            <a:ext cx="8612617" cy="529980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000" b="1" dirty="0">
                <a:solidFill>
                  <a:srgbClr val="0070C0"/>
                </a:solidFill>
                <a:latin typeface="+mn-lt"/>
              </a:rPr>
              <a:t>// NamedThreadsClient.java</a:t>
            </a:r>
          </a:p>
          <a:p>
            <a:pPr algn="just"/>
            <a:r>
              <a:rPr lang="en-US" sz="2000" b="1" dirty="0">
                <a:solidFill>
                  <a:srgbClr val="0070C0"/>
                </a:solidFill>
                <a:latin typeface="+mn-lt"/>
              </a:rPr>
              <a:t>public class </a:t>
            </a:r>
            <a:r>
              <a:rPr lang="en-US" sz="2000" b="1" dirty="0" err="1">
                <a:solidFill>
                  <a:srgbClr val="0070C0"/>
                </a:solidFill>
                <a:latin typeface="+mn-lt"/>
              </a:rPr>
              <a:t>NamedThreadsClient</a:t>
            </a:r>
            <a:r>
              <a:rPr lang="en-US" sz="2000" b="1" dirty="0">
                <a:solidFill>
                  <a:srgbClr val="0070C0"/>
                </a:solidFill>
                <a:latin typeface="+mn-lt"/>
              </a:rPr>
              <a:t> {</a:t>
            </a:r>
          </a:p>
          <a:p>
            <a:pPr algn="just"/>
            <a:r>
              <a:rPr lang="en-US" sz="2000" b="1" dirty="0">
                <a:solidFill>
                  <a:srgbClr val="0070C0"/>
                </a:solidFill>
                <a:latin typeface="+mn-lt"/>
              </a:rPr>
              <a:t>    public static void main(String rags[]) {</a:t>
            </a:r>
          </a:p>
          <a:p>
            <a:pPr algn="just"/>
            <a:r>
              <a:rPr lang="en-US" sz="2000" b="1" dirty="0">
                <a:solidFill>
                  <a:srgbClr val="0070C0"/>
                </a:solidFill>
                <a:latin typeface="+mn-lt"/>
              </a:rPr>
              <a:t>	</a:t>
            </a:r>
          </a:p>
          <a:p>
            <a:pPr algn="just"/>
            <a:r>
              <a:rPr lang="en-US" sz="2000" b="1" dirty="0">
                <a:solidFill>
                  <a:srgbClr val="0070C0"/>
                </a:solidFill>
                <a:latin typeface="+mn-lt"/>
              </a:rPr>
              <a:t>	    </a:t>
            </a:r>
            <a:r>
              <a:rPr lang="en-US" sz="2000" b="1" dirty="0" err="1">
                <a:solidFill>
                  <a:srgbClr val="0070C0"/>
                </a:solidFill>
                <a:latin typeface="+mn-lt"/>
              </a:rPr>
              <a:t>NamedNumberGenerator</a:t>
            </a:r>
            <a:r>
              <a:rPr lang="en-US" sz="2000" b="1" dirty="0">
                <a:solidFill>
                  <a:srgbClr val="0070C0"/>
                </a:solidFill>
                <a:latin typeface="+mn-lt"/>
              </a:rPr>
              <a:t> </a:t>
            </a:r>
            <a:r>
              <a:rPr lang="en-US" sz="2000" b="1" dirty="0" err="1">
                <a:solidFill>
                  <a:srgbClr val="0070C0"/>
                </a:solidFill>
                <a:latin typeface="+mn-lt"/>
              </a:rPr>
              <a:t>nng</a:t>
            </a:r>
            <a:r>
              <a:rPr lang="en-US" sz="2000" b="1" dirty="0">
                <a:solidFill>
                  <a:srgbClr val="0070C0"/>
                </a:solidFill>
                <a:latin typeface="+mn-lt"/>
              </a:rPr>
              <a:t>=new </a:t>
            </a:r>
            <a:r>
              <a:rPr lang="en-US" sz="2000" b="1" dirty="0" err="1">
                <a:solidFill>
                  <a:srgbClr val="0070C0"/>
                </a:solidFill>
                <a:latin typeface="+mn-lt"/>
              </a:rPr>
              <a:t>NamedNumberGenerator</a:t>
            </a:r>
            <a:r>
              <a:rPr lang="en-US" sz="2000" b="1" dirty="0">
                <a:solidFill>
                  <a:srgbClr val="0070C0"/>
                </a:solidFill>
                <a:latin typeface="+mn-lt"/>
              </a:rPr>
              <a:t>();</a:t>
            </a:r>
          </a:p>
          <a:p>
            <a:pPr algn="just"/>
            <a:r>
              <a:rPr lang="en-US" sz="2000" b="1" dirty="0">
                <a:solidFill>
                  <a:srgbClr val="0070C0"/>
                </a:solidFill>
                <a:latin typeface="+mn-lt"/>
              </a:rPr>
              <a:t>		</a:t>
            </a:r>
          </a:p>
          <a:p>
            <a:pPr algn="just"/>
            <a:r>
              <a:rPr lang="en-US" sz="1800" b="1" dirty="0">
                <a:solidFill>
                  <a:srgbClr val="0070C0"/>
                </a:solidFill>
                <a:latin typeface="+mn-lt"/>
              </a:rPr>
              <a:t>		</a:t>
            </a:r>
            <a:r>
              <a:rPr lang="en-US" sz="1800" b="1" dirty="0" err="1">
                <a:solidFill>
                  <a:srgbClr val="0070C0"/>
                </a:solidFill>
                <a:latin typeface="+mn-lt"/>
              </a:rPr>
              <a:t>NamedGenerateThread</a:t>
            </a:r>
            <a:r>
              <a:rPr lang="en-US" sz="1800" b="1" dirty="0">
                <a:solidFill>
                  <a:srgbClr val="0070C0"/>
                </a:solidFill>
                <a:latin typeface="+mn-lt"/>
              </a:rPr>
              <a:t> </a:t>
            </a:r>
            <a:r>
              <a:rPr lang="en-US" sz="1800" b="1" dirty="0" err="1">
                <a:solidFill>
                  <a:srgbClr val="0070C0"/>
                </a:solidFill>
                <a:latin typeface="+mn-lt"/>
              </a:rPr>
              <a:t>ngt</a:t>
            </a:r>
            <a:r>
              <a:rPr lang="en-US" sz="1800" b="1" dirty="0">
                <a:solidFill>
                  <a:srgbClr val="0070C0"/>
                </a:solidFill>
                <a:latin typeface="+mn-lt"/>
              </a:rPr>
              <a:t>=new </a:t>
            </a:r>
            <a:r>
              <a:rPr lang="en-US" sz="1800" b="1" dirty="0" err="1">
                <a:solidFill>
                  <a:srgbClr val="0070C0"/>
                </a:solidFill>
                <a:latin typeface="+mn-lt"/>
              </a:rPr>
              <a:t>NamedGenerateThread</a:t>
            </a:r>
            <a:r>
              <a:rPr lang="en-US" sz="1800" b="1" dirty="0">
                <a:solidFill>
                  <a:srgbClr val="0070C0"/>
                </a:solidFill>
                <a:latin typeface="+mn-lt"/>
              </a:rPr>
              <a:t>(</a:t>
            </a:r>
            <a:r>
              <a:rPr lang="en-US" sz="1800" b="1" dirty="0" err="1">
                <a:solidFill>
                  <a:srgbClr val="0070C0"/>
                </a:solidFill>
                <a:latin typeface="+mn-lt"/>
              </a:rPr>
              <a:t>nng</a:t>
            </a:r>
            <a:r>
              <a:rPr lang="en-US" sz="1800" b="1" dirty="0">
                <a:solidFill>
                  <a:srgbClr val="0070C0"/>
                </a:solidFill>
                <a:latin typeface="+mn-lt"/>
              </a:rPr>
              <a:t>);</a:t>
            </a:r>
          </a:p>
          <a:p>
            <a:pPr algn="just"/>
            <a:r>
              <a:rPr lang="en-US" sz="1800" b="1" dirty="0">
                <a:solidFill>
                  <a:srgbClr val="0070C0"/>
                </a:solidFill>
                <a:latin typeface="+mn-lt"/>
              </a:rPr>
              <a:t>		</a:t>
            </a:r>
            <a:r>
              <a:rPr lang="en-US" sz="1800" b="1" dirty="0" err="1">
                <a:solidFill>
                  <a:srgbClr val="0070C0"/>
                </a:solidFill>
                <a:latin typeface="+mn-lt"/>
              </a:rPr>
              <a:t>NamedPrintThread</a:t>
            </a:r>
            <a:r>
              <a:rPr lang="en-US" sz="1800" b="1" dirty="0">
                <a:solidFill>
                  <a:srgbClr val="0070C0"/>
                </a:solidFill>
                <a:latin typeface="+mn-lt"/>
              </a:rPr>
              <a:t> </a:t>
            </a:r>
            <a:r>
              <a:rPr lang="en-US" sz="1800" b="1" dirty="0" err="1">
                <a:solidFill>
                  <a:srgbClr val="0070C0"/>
                </a:solidFill>
                <a:latin typeface="+mn-lt"/>
              </a:rPr>
              <a:t>npt</a:t>
            </a:r>
            <a:r>
              <a:rPr lang="en-US" sz="1800" b="1" dirty="0">
                <a:solidFill>
                  <a:srgbClr val="0070C0"/>
                </a:solidFill>
                <a:latin typeface="+mn-lt"/>
              </a:rPr>
              <a:t>=new </a:t>
            </a:r>
            <a:r>
              <a:rPr lang="en-US" sz="1800" b="1" dirty="0" err="1">
                <a:solidFill>
                  <a:srgbClr val="0070C0"/>
                </a:solidFill>
                <a:latin typeface="+mn-lt"/>
              </a:rPr>
              <a:t>NamedPrintThread</a:t>
            </a:r>
            <a:r>
              <a:rPr lang="en-US" sz="1800" b="1" dirty="0">
                <a:solidFill>
                  <a:srgbClr val="0070C0"/>
                </a:solidFill>
                <a:latin typeface="+mn-lt"/>
              </a:rPr>
              <a:t>(</a:t>
            </a:r>
            <a:r>
              <a:rPr lang="en-US" sz="1800" b="1" dirty="0" err="1">
                <a:solidFill>
                  <a:srgbClr val="0070C0"/>
                </a:solidFill>
                <a:latin typeface="+mn-lt"/>
              </a:rPr>
              <a:t>nng</a:t>
            </a:r>
            <a:r>
              <a:rPr lang="en-US" sz="1800" b="1" dirty="0">
                <a:solidFill>
                  <a:srgbClr val="0070C0"/>
                </a:solidFill>
                <a:latin typeface="+mn-lt"/>
              </a:rPr>
              <a:t>);</a:t>
            </a:r>
          </a:p>
          <a:p>
            <a:pPr algn="just"/>
            <a:r>
              <a:rPr lang="en-US" sz="2000" b="1" dirty="0">
                <a:solidFill>
                  <a:srgbClr val="0070C0"/>
                </a:solidFill>
                <a:latin typeface="+mn-lt"/>
              </a:rPr>
              <a:t>		</a:t>
            </a:r>
          </a:p>
          <a:p>
            <a:pPr algn="just"/>
            <a:r>
              <a:rPr lang="en-US" sz="2000" b="1" dirty="0">
                <a:solidFill>
                  <a:srgbClr val="0070C0"/>
                </a:solidFill>
                <a:latin typeface="+mn-lt"/>
              </a:rPr>
              <a:t>		</a:t>
            </a:r>
            <a:r>
              <a:rPr lang="en-US" sz="2000" b="1" dirty="0" err="1">
                <a:solidFill>
                  <a:srgbClr val="0070C0"/>
                </a:solidFill>
                <a:latin typeface="+mn-lt"/>
              </a:rPr>
              <a:t>ngt.setName</a:t>
            </a:r>
            <a:r>
              <a:rPr lang="en-US" sz="2000" b="1" dirty="0">
                <a:solidFill>
                  <a:srgbClr val="0070C0"/>
                </a:solidFill>
                <a:latin typeface="+mn-lt"/>
              </a:rPr>
              <a:t>("Generate Thread"); </a:t>
            </a:r>
          </a:p>
          <a:p>
            <a:pPr algn="just"/>
            <a:r>
              <a:rPr lang="en-US" sz="2000" b="1" dirty="0">
                <a:solidFill>
                  <a:srgbClr val="0070C0"/>
                </a:solidFill>
                <a:latin typeface="+mn-lt"/>
              </a:rPr>
              <a:t>		// 2nd way of naming thread</a:t>
            </a:r>
          </a:p>
          <a:p>
            <a:pPr algn="just"/>
            <a:r>
              <a:rPr lang="en-US" sz="2000" b="1" dirty="0">
                <a:solidFill>
                  <a:srgbClr val="0070C0"/>
                </a:solidFill>
                <a:latin typeface="+mn-lt"/>
              </a:rPr>
              <a:t>		</a:t>
            </a:r>
          </a:p>
          <a:p>
            <a:pPr algn="just"/>
            <a:r>
              <a:rPr lang="en-US" sz="2000" b="1" dirty="0">
                <a:solidFill>
                  <a:srgbClr val="0070C0"/>
                </a:solidFill>
                <a:latin typeface="+mn-lt"/>
              </a:rPr>
              <a:t>		</a:t>
            </a:r>
            <a:r>
              <a:rPr lang="en-US" sz="2000" b="1" dirty="0" err="1">
                <a:solidFill>
                  <a:srgbClr val="0070C0"/>
                </a:solidFill>
                <a:latin typeface="+mn-lt"/>
              </a:rPr>
              <a:t>npt.setName</a:t>
            </a:r>
            <a:r>
              <a:rPr lang="en-US" sz="2000" b="1" dirty="0">
                <a:solidFill>
                  <a:srgbClr val="0070C0"/>
                </a:solidFill>
                <a:latin typeface="+mn-lt"/>
              </a:rPr>
              <a:t>("Print Thread"); </a:t>
            </a:r>
          </a:p>
          <a:p>
            <a:pPr algn="just"/>
            <a:r>
              <a:rPr lang="en-US" sz="2000" b="1" dirty="0">
                <a:solidFill>
                  <a:srgbClr val="0070C0"/>
                </a:solidFill>
                <a:latin typeface="+mn-lt"/>
              </a:rPr>
              <a:t>		// 2nd way of naming thread</a:t>
            </a:r>
          </a:p>
          <a:p>
            <a:pPr algn="just"/>
            <a:r>
              <a:rPr lang="en-US" sz="2000" b="1" dirty="0">
                <a:solidFill>
                  <a:srgbClr val="0070C0"/>
                </a:solidFill>
                <a:latin typeface="+mn-lt"/>
              </a:rPr>
              <a:t>		</a:t>
            </a:r>
          </a:p>
          <a:p>
            <a:pPr algn="just"/>
            <a:r>
              <a:rPr lang="en-US" sz="2000" b="1" dirty="0">
                <a:solidFill>
                  <a:srgbClr val="0070C0"/>
                </a:solidFill>
                <a:latin typeface="+mn-lt"/>
              </a:rPr>
              <a:t>		</a:t>
            </a:r>
            <a:r>
              <a:rPr lang="en-US" sz="2000" b="1" dirty="0" err="1">
                <a:solidFill>
                  <a:srgbClr val="0070C0"/>
                </a:solidFill>
                <a:latin typeface="+mn-lt"/>
              </a:rPr>
              <a:t>ngt.start</a:t>
            </a:r>
            <a:r>
              <a:rPr lang="en-US" sz="2000" b="1" dirty="0">
                <a:solidFill>
                  <a:srgbClr val="0070C0"/>
                </a:solidFill>
                <a:latin typeface="+mn-lt"/>
              </a:rPr>
              <a:t>();</a:t>
            </a:r>
          </a:p>
          <a:p>
            <a:pPr algn="just"/>
            <a:r>
              <a:rPr lang="en-US" sz="2000" b="1" dirty="0">
                <a:solidFill>
                  <a:srgbClr val="0070C0"/>
                </a:solidFill>
                <a:latin typeface="+mn-lt"/>
              </a:rPr>
              <a:t>		</a:t>
            </a:r>
            <a:r>
              <a:rPr lang="en-US" sz="2000" b="1" dirty="0" err="1">
                <a:solidFill>
                  <a:srgbClr val="0070C0"/>
                </a:solidFill>
                <a:latin typeface="+mn-lt"/>
              </a:rPr>
              <a:t>npt.start</a:t>
            </a:r>
            <a:r>
              <a:rPr lang="en-US" sz="2000" b="1" dirty="0">
                <a:solidFill>
                  <a:srgbClr val="0070C0"/>
                </a:solidFill>
                <a:latin typeface="+mn-lt"/>
              </a:rPr>
              <a:t>();</a:t>
            </a:r>
          </a:p>
          <a:p>
            <a:pPr algn="just"/>
            <a:r>
              <a:rPr lang="en-US" sz="2000" b="1" dirty="0">
                <a:solidFill>
                  <a:srgbClr val="0070C0"/>
                </a:solidFill>
                <a:latin typeface="+mn-lt"/>
              </a:rPr>
              <a:t>	}</a:t>
            </a:r>
          </a:p>
          <a:p>
            <a:pPr algn="just"/>
            <a:r>
              <a:rPr lang="en-US" sz="2000" b="1" dirty="0">
                <a:solidFill>
                  <a:srgbClr val="0070C0"/>
                </a:solidFill>
                <a:latin typeface="+mn-lt"/>
              </a:rPr>
              <a:t>}</a:t>
            </a:r>
          </a:p>
        </p:txBody>
      </p:sp>
      <p:sp>
        <p:nvSpPr>
          <p:cNvPr id="5" name="Footer Placeholder 4">
            <a:extLst>
              <a:ext uri="{FF2B5EF4-FFF2-40B4-BE49-F238E27FC236}">
                <a16:creationId xmlns:a16="http://schemas.microsoft.com/office/drawing/2014/main" id="{F1792891-649B-7558-3768-9A3A3BDFE6F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593137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 name="Title 1">
            <a:extLst>
              <a:ext uri="{FF2B5EF4-FFF2-40B4-BE49-F238E27FC236}">
                <a16:creationId xmlns:a16="http://schemas.microsoft.com/office/drawing/2014/main" id="{108B4E34-669A-E3C5-AB60-33B48FC0B14F}"/>
              </a:ext>
            </a:extLst>
          </p:cNvPr>
          <p:cNvSpPr txBox="1">
            <a:spLocks/>
          </p:cNvSpPr>
          <p:nvPr/>
        </p:nvSpPr>
        <p:spPr>
          <a:xfrm>
            <a:off x="542368" y="712700"/>
            <a:ext cx="8612617" cy="37651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a:solidFill>
                  <a:srgbClr val="0070C0"/>
                </a:solidFill>
                <a:latin typeface="+mn-lt"/>
              </a:rPr>
              <a:t>Applying Name &amp; Priority to Threads</a:t>
            </a:r>
          </a:p>
        </p:txBody>
      </p:sp>
      <p:sp>
        <p:nvSpPr>
          <p:cNvPr id="12" name="TextBox 11">
            <a:extLst>
              <a:ext uri="{FF2B5EF4-FFF2-40B4-BE49-F238E27FC236}">
                <a16:creationId xmlns:a16="http://schemas.microsoft.com/office/drawing/2014/main" id="{CE413EF3-3CD2-6477-2BD8-200F0D4A976C}"/>
              </a:ext>
            </a:extLst>
          </p:cNvPr>
          <p:cNvSpPr txBox="1"/>
          <p:nvPr/>
        </p:nvSpPr>
        <p:spPr>
          <a:xfrm>
            <a:off x="494181" y="958437"/>
            <a:ext cx="6296584" cy="5909310"/>
          </a:xfrm>
          <a:prstGeom prst="rect">
            <a:avLst/>
          </a:prstGeom>
          <a:noFill/>
        </p:spPr>
        <p:txBody>
          <a:bodyPr wrap="square">
            <a:spAutoFit/>
          </a:bodyPr>
          <a:lstStyle/>
          <a:p>
            <a:r>
              <a:rPr lang="en-IN" b="1" dirty="0">
                <a:solidFill>
                  <a:srgbClr val="0070C0"/>
                </a:solidFill>
              </a:rPr>
              <a:t>// Name1Thread.java</a:t>
            </a:r>
          </a:p>
          <a:p>
            <a:r>
              <a:rPr lang="en-IN" b="1" dirty="0">
                <a:solidFill>
                  <a:srgbClr val="0070C0"/>
                </a:solidFill>
              </a:rPr>
              <a:t>class Name1Thread extends Thread {</a:t>
            </a:r>
          </a:p>
          <a:p>
            <a:r>
              <a:rPr lang="en-IN" b="1" dirty="0">
                <a:solidFill>
                  <a:srgbClr val="0070C0"/>
                </a:solidFill>
              </a:rPr>
              <a:t>	public void run() {</a:t>
            </a:r>
          </a:p>
          <a:p>
            <a:r>
              <a:rPr lang="en-IN" b="1" dirty="0">
                <a:solidFill>
                  <a:srgbClr val="0070C0"/>
                </a:solidFill>
              </a:rPr>
              <a:t>		for(int </a:t>
            </a:r>
            <a:r>
              <a:rPr lang="en-IN" b="1" dirty="0" err="1">
                <a:solidFill>
                  <a:srgbClr val="0070C0"/>
                </a:solidFill>
              </a:rPr>
              <a:t>i</a:t>
            </a:r>
            <a:r>
              <a:rPr lang="en-IN" b="1" dirty="0">
                <a:solidFill>
                  <a:srgbClr val="0070C0"/>
                </a:solidFill>
              </a:rPr>
              <a:t>=0;i&lt;10;i++) {</a:t>
            </a:r>
          </a:p>
          <a:p>
            <a:r>
              <a:rPr lang="en-IN" b="1" dirty="0">
                <a:solidFill>
                  <a:srgbClr val="0070C0"/>
                </a:solidFill>
              </a:rPr>
              <a:t>			</a:t>
            </a:r>
            <a:r>
              <a:rPr lang="en-IN" b="1" dirty="0" err="1">
                <a:solidFill>
                  <a:srgbClr val="0070C0"/>
                </a:solidFill>
              </a:rPr>
              <a:t>System.out.println</a:t>
            </a:r>
            <a:r>
              <a:rPr lang="en-IN" b="1" dirty="0">
                <a:solidFill>
                  <a:srgbClr val="0070C0"/>
                </a:solidFill>
              </a:rPr>
              <a:t>(</a:t>
            </a:r>
            <a:r>
              <a:rPr lang="en-IN" b="1" dirty="0" err="1">
                <a:solidFill>
                  <a:srgbClr val="0070C0"/>
                </a:solidFill>
              </a:rPr>
              <a:t>Thread.currentThread</a:t>
            </a:r>
            <a:r>
              <a:rPr lang="en-IN" b="1" dirty="0">
                <a:solidFill>
                  <a:srgbClr val="0070C0"/>
                </a:solidFill>
              </a:rPr>
              <a:t>().</a:t>
            </a:r>
            <a:r>
              <a:rPr lang="en-IN" b="1" dirty="0" err="1">
                <a:solidFill>
                  <a:srgbClr val="0070C0"/>
                </a:solidFill>
              </a:rPr>
              <a:t>getName</a:t>
            </a:r>
            <a:r>
              <a:rPr lang="en-IN" b="1" dirty="0">
                <a:solidFill>
                  <a:srgbClr val="0070C0"/>
                </a:solidFill>
              </a:rPr>
              <a:t>()+" thread's current value is "+</a:t>
            </a:r>
            <a:r>
              <a:rPr lang="en-IN" b="1" dirty="0" err="1">
                <a:solidFill>
                  <a:srgbClr val="0070C0"/>
                </a:solidFill>
              </a:rPr>
              <a:t>i</a:t>
            </a:r>
            <a:r>
              <a:rPr lang="en-IN" b="1" dirty="0">
                <a:solidFill>
                  <a:srgbClr val="0070C0"/>
                </a:solidFill>
              </a:rPr>
              <a:t>);</a:t>
            </a:r>
          </a:p>
          <a:p>
            <a:r>
              <a:rPr lang="en-IN" b="1" dirty="0">
                <a:solidFill>
                  <a:srgbClr val="0070C0"/>
                </a:solidFill>
              </a:rPr>
              <a:t>		}</a:t>
            </a:r>
          </a:p>
          <a:p>
            <a:r>
              <a:rPr lang="en-IN" b="1" dirty="0">
                <a:solidFill>
                  <a:srgbClr val="0070C0"/>
                </a:solidFill>
              </a:rPr>
              <a:t>	}</a:t>
            </a:r>
          </a:p>
          <a:p>
            <a:r>
              <a:rPr lang="en-IN" b="1" dirty="0">
                <a:solidFill>
                  <a:srgbClr val="0070C0"/>
                </a:solidFill>
              </a:rPr>
              <a:t>}</a:t>
            </a:r>
          </a:p>
          <a:p>
            <a:endParaRPr lang="en-IN" b="1" dirty="0">
              <a:solidFill>
                <a:srgbClr val="0070C0"/>
              </a:solidFill>
            </a:endParaRPr>
          </a:p>
          <a:p>
            <a:r>
              <a:rPr lang="en-IN" b="1" dirty="0">
                <a:solidFill>
                  <a:srgbClr val="0070C0"/>
                </a:solidFill>
              </a:rPr>
              <a:t>// Name2Thread.java</a:t>
            </a:r>
          </a:p>
          <a:p>
            <a:r>
              <a:rPr lang="en-IN" b="1" dirty="0">
                <a:solidFill>
                  <a:srgbClr val="0070C0"/>
                </a:solidFill>
              </a:rPr>
              <a:t>class Name2Thread extends Thread {</a:t>
            </a:r>
          </a:p>
          <a:p>
            <a:r>
              <a:rPr lang="en-IN" b="1" dirty="0">
                <a:solidFill>
                  <a:srgbClr val="0070C0"/>
                </a:solidFill>
              </a:rPr>
              <a:t>	public void run() {</a:t>
            </a:r>
          </a:p>
          <a:p>
            <a:r>
              <a:rPr lang="en-IN" b="1" dirty="0">
                <a:solidFill>
                  <a:srgbClr val="0070C0"/>
                </a:solidFill>
              </a:rPr>
              <a:t>		for(int </a:t>
            </a:r>
            <a:r>
              <a:rPr lang="en-IN" b="1" dirty="0" err="1">
                <a:solidFill>
                  <a:srgbClr val="0070C0"/>
                </a:solidFill>
              </a:rPr>
              <a:t>i</a:t>
            </a:r>
            <a:r>
              <a:rPr lang="en-IN" b="1" dirty="0">
                <a:solidFill>
                  <a:srgbClr val="0070C0"/>
                </a:solidFill>
              </a:rPr>
              <a:t>=0;i&lt;10;i++) {</a:t>
            </a:r>
          </a:p>
          <a:p>
            <a:r>
              <a:rPr lang="en-IN" b="1" dirty="0">
                <a:solidFill>
                  <a:srgbClr val="0070C0"/>
                </a:solidFill>
              </a:rPr>
              <a:t>			</a:t>
            </a:r>
            <a:r>
              <a:rPr lang="en-IN" b="1" dirty="0" err="1">
                <a:solidFill>
                  <a:srgbClr val="0070C0"/>
                </a:solidFill>
              </a:rPr>
              <a:t>System.out.println</a:t>
            </a:r>
            <a:r>
              <a:rPr lang="en-IN" b="1" dirty="0">
                <a:solidFill>
                  <a:srgbClr val="0070C0"/>
                </a:solidFill>
              </a:rPr>
              <a:t>(</a:t>
            </a:r>
            <a:r>
              <a:rPr lang="en-IN" b="1" dirty="0" err="1">
                <a:solidFill>
                  <a:srgbClr val="0070C0"/>
                </a:solidFill>
              </a:rPr>
              <a:t>Thread.currentThread</a:t>
            </a:r>
            <a:r>
              <a:rPr lang="en-IN" b="1" dirty="0">
                <a:solidFill>
                  <a:srgbClr val="0070C0"/>
                </a:solidFill>
              </a:rPr>
              <a:t>().</a:t>
            </a:r>
            <a:r>
              <a:rPr lang="en-IN" b="1" dirty="0" err="1">
                <a:solidFill>
                  <a:srgbClr val="0070C0"/>
                </a:solidFill>
              </a:rPr>
              <a:t>getName</a:t>
            </a:r>
            <a:r>
              <a:rPr lang="en-IN" b="1" dirty="0">
                <a:solidFill>
                  <a:srgbClr val="0070C0"/>
                </a:solidFill>
              </a:rPr>
              <a:t>()+" thread's current value is "+</a:t>
            </a:r>
            <a:r>
              <a:rPr lang="en-IN" b="1" dirty="0" err="1">
                <a:solidFill>
                  <a:srgbClr val="0070C0"/>
                </a:solidFill>
              </a:rPr>
              <a:t>i</a:t>
            </a:r>
            <a:r>
              <a:rPr lang="en-IN" b="1" dirty="0">
                <a:solidFill>
                  <a:srgbClr val="0070C0"/>
                </a:solidFill>
              </a:rPr>
              <a:t>);</a:t>
            </a:r>
          </a:p>
          <a:p>
            <a:r>
              <a:rPr lang="en-IN" b="1" dirty="0">
                <a:solidFill>
                  <a:srgbClr val="0070C0"/>
                </a:solidFill>
              </a:rPr>
              <a:t>		}</a:t>
            </a:r>
          </a:p>
          <a:p>
            <a:r>
              <a:rPr lang="en-IN" b="1" dirty="0">
                <a:solidFill>
                  <a:srgbClr val="0070C0"/>
                </a:solidFill>
              </a:rPr>
              <a:t>	}</a:t>
            </a:r>
          </a:p>
          <a:p>
            <a:r>
              <a:rPr lang="en-IN" b="1" dirty="0">
                <a:solidFill>
                  <a:srgbClr val="0070C0"/>
                </a:solidFill>
              </a:rPr>
              <a:t>}</a:t>
            </a:r>
          </a:p>
        </p:txBody>
      </p:sp>
      <p:sp>
        <p:nvSpPr>
          <p:cNvPr id="14" name="TextBox 13">
            <a:extLst>
              <a:ext uri="{FF2B5EF4-FFF2-40B4-BE49-F238E27FC236}">
                <a16:creationId xmlns:a16="http://schemas.microsoft.com/office/drawing/2014/main" id="{B25AD304-B2AF-FB09-3304-D924583B9DFB}"/>
              </a:ext>
            </a:extLst>
          </p:cNvPr>
          <p:cNvSpPr txBox="1"/>
          <p:nvPr/>
        </p:nvSpPr>
        <p:spPr>
          <a:xfrm>
            <a:off x="5698190" y="1324627"/>
            <a:ext cx="6125134" cy="2862322"/>
          </a:xfrm>
          <a:prstGeom prst="rect">
            <a:avLst/>
          </a:prstGeom>
          <a:noFill/>
        </p:spPr>
        <p:txBody>
          <a:bodyPr wrap="square">
            <a:spAutoFit/>
          </a:bodyPr>
          <a:lstStyle/>
          <a:p>
            <a:r>
              <a:rPr lang="en-IN" b="1" dirty="0">
                <a:solidFill>
                  <a:srgbClr val="0070C0"/>
                </a:solidFill>
              </a:rPr>
              <a:t>// Name3Thread.java</a:t>
            </a:r>
          </a:p>
          <a:p>
            <a:r>
              <a:rPr lang="en-IN" b="1" dirty="0">
                <a:solidFill>
                  <a:srgbClr val="0070C0"/>
                </a:solidFill>
              </a:rPr>
              <a:t>class Name3Thread extends Thread {</a:t>
            </a:r>
          </a:p>
          <a:p>
            <a:r>
              <a:rPr lang="en-IN" b="1" dirty="0">
                <a:solidFill>
                  <a:srgbClr val="0070C0"/>
                </a:solidFill>
              </a:rPr>
              <a:t>	public void run() {</a:t>
            </a:r>
          </a:p>
          <a:p>
            <a:r>
              <a:rPr lang="en-IN" b="1" dirty="0">
                <a:solidFill>
                  <a:srgbClr val="0070C0"/>
                </a:solidFill>
              </a:rPr>
              <a:t>		for(int </a:t>
            </a:r>
            <a:r>
              <a:rPr lang="en-IN" b="1" dirty="0" err="1">
                <a:solidFill>
                  <a:srgbClr val="0070C0"/>
                </a:solidFill>
              </a:rPr>
              <a:t>i</a:t>
            </a:r>
            <a:r>
              <a:rPr lang="en-IN" b="1" dirty="0">
                <a:solidFill>
                  <a:srgbClr val="0070C0"/>
                </a:solidFill>
              </a:rPr>
              <a:t>=0;i&lt;10;i++) {</a:t>
            </a:r>
          </a:p>
          <a:p>
            <a:r>
              <a:rPr lang="en-IN" b="1" dirty="0">
                <a:solidFill>
                  <a:srgbClr val="0070C0"/>
                </a:solidFill>
              </a:rPr>
              <a:t>			</a:t>
            </a:r>
            <a:r>
              <a:rPr lang="en-IN" b="1" dirty="0" err="1">
                <a:solidFill>
                  <a:srgbClr val="0070C0"/>
                </a:solidFill>
              </a:rPr>
              <a:t>System.out.println</a:t>
            </a:r>
            <a:r>
              <a:rPr lang="en-IN" b="1" dirty="0">
                <a:solidFill>
                  <a:srgbClr val="0070C0"/>
                </a:solidFill>
              </a:rPr>
              <a:t>(</a:t>
            </a:r>
            <a:r>
              <a:rPr lang="en-IN" b="1" dirty="0" err="1">
                <a:solidFill>
                  <a:srgbClr val="0070C0"/>
                </a:solidFill>
              </a:rPr>
              <a:t>Thread.currentThread</a:t>
            </a:r>
            <a:r>
              <a:rPr lang="en-IN" b="1" dirty="0">
                <a:solidFill>
                  <a:srgbClr val="0070C0"/>
                </a:solidFill>
              </a:rPr>
              <a:t>().</a:t>
            </a:r>
            <a:r>
              <a:rPr lang="en-IN" b="1" dirty="0" err="1">
                <a:solidFill>
                  <a:srgbClr val="0070C0"/>
                </a:solidFill>
              </a:rPr>
              <a:t>getName</a:t>
            </a:r>
            <a:r>
              <a:rPr lang="en-IN" b="1" dirty="0">
                <a:solidFill>
                  <a:srgbClr val="0070C0"/>
                </a:solidFill>
              </a:rPr>
              <a:t>()+" thread's current value is "+</a:t>
            </a:r>
            <a:r>
              <a:rPr lang="en-IN" b="1" dirty="0" err="1">
                <a:solidFill>
                  <a:srgbClr val="0070C0"/>
                </a:solidFill>
              </a:rPr>
              <a:t>i</a:t>
            </a:r>
            <a:r>
              <a:rPr lang="en-IN" b="1" dirty="0">
                <a:solidFill>
                  <a:srgbClr val="0070C0"/>
                </a:solidFill>
              </a:rPr>
              <a:t>);</a:t>
            </a:r>
          </a:p>
          <a:p>
            <a:r>
              <a:rPr lang="en-IN" b="1" dirty="0">
                <a:solidFill>
                  <a:srgbClr val="0070C0"/>
                </a:solidFill>
              </a:rPr>
              <a:t>		}</a:t>
            </a:r>
          </a:p>
          <a:p>
            <a:r>
              <a:rPr lang="en-IN" b="1" dirty="0">
                <a:solidFill>
                  <a:srgbClr val="0070C0"/>
                </a:solidFill>
              </a:rPr>
              <a:t>	}</a:t>
            </a:r>
          </a:p>
          <a:p>
            <a:r>
              <a:rPr lang="en-IN" b="1" dirty="0">
                <a:solidFill>
                  <a:srgbClr val="0070C0"/>
                </a:solidFill>
              </a:rPr>
              <a:t>}</a:t>
            </a:r>
          </a:p>
        </p:txBody>
      </p:sp>
      <p:sp>
        <p:nvSpPr>
          <p:cNvPr id="5" name="Footer Placeholder 4">
            <a:extLst>
              <a:ext uri="{FF2B5EF4-FFF2-40B4-BE49-F238E27FC236}">
                <a16:creationId xmlns:a16="http://schemas.microsoft.com/office/drawing/2014/main" id="{4E4A567B-B00A-16C3-38F0-E87769942BD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794087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 name="Title 1">
            <a:extLst>
              <a:ext uri="{FF2B5EF4-FFF2-40B4-BE49-F238E27FC236}">
                <a16:creationId xmlns:a16="http://schemas.microsoft.com/office/drawing/2014/main" id="{108B4E34-669A-E3C5-AB60-33B48FC0B14F}"/>
              </a:ext>
            </a:extLst>
          </p:cNvPr>
          <p:cNvSpPr txBox="1">
            <a:spLocks/>
          </p:cNvSpPr>
          <p:nvPr/>
        </p:nvSpPr>
        <p:spPr>
          <a:xfrm>
            <a:off x="542368" y="712700"/>
            <a:ext cx="8612617" cy="37651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a:solidFill>
                  <a:srgbClr val="0070C0"/>
                </a:solidFill>
                <a:latin typeface="+mn-lt"/>
              </a:rPr>
              <a:t>Applying Name &amp; Priority to Threads</a:t>
            </a:r>
          </a:p>
        </p:txBody>
      </p:sp>
      <p:sp>
        <p:nvSpPr>
          <p:cNvPr id="12" name="TextBox 11">
            <a:extLst>
              <a:ext uri="{FF2B5EF4-FFF2-40B4-BE49-F238E27FC236}">
                <a16:creationId xmlns:a16="http://schemas.microsoft.com/office/drawing/2014/main" id="{CE413EF3-3CD2-6477-2BD8-200F0D4A976C}"/>
              </a:ext>
            </a:extLst>
          </p:cNvPr>
          <p:cNvSpPr txBox="1"/>
          <p:nvPr/>
        </p:nvSpPr>
        <p:spPr>
          <a:xfrm>
            <a:off x="494181" y="1200483"/>
            <a:ext cx="6296584" cy="3139321"/>
          </a:xfrm>
          <a:prstGeom prst="rect">
            <a:avLst/>
          </a:prstGeom>
          <a:noFill/>
        </p:spPr>
        <p:txBody>
          <a:bodyPr wrap="square">
            <a:spAutoFit/>
          </a:bodyPr>
          <a:lstStyle/>
          <a:p>
            <a:r>
              <a:rPr lang="en-IN" b="1" dirty="0">
                <a:solidFill>
                  <a:srgbClr val="0070C0"/>
                </a:solidFill>
              </a:rPr>
              <a:t>// NameAndPriorityThreadRunnerClient.java</a:t>
            </a:r>
          </a:p>
          <a:p>
            <a:r>
              <a:rPr lang="en-IN" b="1" dirty="0">
                <a:solidFill>
                  <a:srgbClr val="0070C0"/>
                </a:solidFill>
              </a:rPr>
              <a:t>public class </a:t>
            </a:r>
            <a:r>
              <a:rPr lang="en-IN" b="1" dirty="0" err="1">
                <a:solidFill>
                  <a:srgbClr val="0070C0"/>
                </a:solidFill>
              </a:rPr>
              <a:t>NameAndPriorityThreadRunnerClient</a:t>
            </a:r>
            <a:r>
              <a:rPr lang="en-IN" b="1" dirty="0">
                <a:solidFill>
                  <a:srgbClr val="0070C0"/>
                </a:solidFill>
              </a:rPr>
              <a:t> {</a:t>
            </a:r>
          </a:p>
          <a:p>
            <a:r>
              <a:rPr lang="en-IN" b="1" dirty="0">
                <a:solidFill>
                  <a:srgbClr val="0070C0"/>
                </a:solidFill>
              </a:rPr>
              <a:t>   public static void main(String rags[]) throws Exception {</a:t>
            </a:r>
          </a:p>
          <a:p>
            <a:r>
              <a:rPr lang="en-IN" b="1" dirty="0">
                <a:solidFill>
                  <a:srgbClr val="0070C0"/>
                </a:solidFill>
              </a:rPr>
              <a:t>	</a:t>
            </a:r>
          </a:p>
          <a:p>
            <a:r>
              <a:rPr lang="en-IN" b="1" dirty="0">
                <a:solidFill>
                  <a:srgbClr val="0070C0"/>
                </a:solidFill>
              </a:rPr>
              <a:t>	Name1Thread n1=new Name1Thread();</a:t>
            </a:r>
          </a:p>
          <a:p>
            <a:r>
              <a:rPr lang="en-IN" b="1" dirty="0">
                <a:solidFill>
                  <a:srgbClr val="0070C0"/>
                </a:solidFill>
              </a:rPr>
              <a:t>	Name2Thread n2=new Name2Thread();</a:t>
            </a:r>
          </a:p>
          <a:p>
            <a:r>
              <a:rPr lang="en-IN" b="1" dirty="0">
                <a:solidFill>
                  <a:srgbClr val="0070C0"/>
                </a:solidFill>
              </a:rPr>
              <a:t>	Name3Thread n3=new Name3Thread();</a:t>
            </a:r>
          </a:p>
          <a:p>
            <a:endParaRPr lang="en-IN" b="1" dirty="0">
              <a:solidFill>
                <a:srgbClr val="0070C0"/>
              </a:solidFill>
            </a:endParaRPr>
          </a:p>
          <a:p>
            <a:r>
              <a:rPr lang="en-IN" b="1" dirty="0">
                <a:solidFill>
                  <a:srgbClr val="0070C0"/>
                </a:solidFill>
              </a:rPr>
              <a:t>	// n1.setName("Name1Thread ");</a:t>
            </a:r>
          </a:p>
          <a:p>
            <a:r>
              <a:rPr lang="en-IN" b="1" dirty="0">
                <a:solidFill>
                  <a:srgbClr val="0070C0"/>
                </a:solidFill>
              </a:rPr>
              <a:t>	// n2.setName("Name2Thread ");</a:t>
            </a:r>
          </a:p>
          <a:p>
            <a:r>
              <a:rPr lang="en-IN" b="1" dirty="0">
                <a:solidFill>
                  <a:srgbClr val="0070C0"/>
                </a:solidFill>
              </a:rPr>
              <a:t>	// n3.setName("Name3Thread ");</a:t>
            </a:r>
          </a:p>
        </p:txBody>
      </p:sp>
      <p:sp>
        <p:nvSpPr>
          <p:cNvPr id="13" name="TextBox 12">
            <a:extLst>
              <a:ext uri="{FF2B5EF4-FFF2-40B4-BE49-F238E27FC236}">
                <a16:creationId xmlns:a16="http://schemas.microsoft.com/office/drawing/2014/main" id="{A591D1E1-9C57-D9C4-526E-2083D19F8E48}"/>
              </a:ext>
            </a:extLst>
          </p:cNvPr>
          <p:cNvSpPr txBox="1"/>
          <p:nvPr/>
        </p:nvSpPr>
        <p:spPr>
          <a:xfrm>
            <a:off x="5553633" y="973196"/>
            <a:ext cx="6296584" cy="3970318"/>
          </a:xfrm>
          <a:prstGeom prst="rect">
            <a:avLst/>
          </a:prstGeom>
          <a:noFill/>
        </p:spPr>
        <p:txBody>
          <a:bodyPr wrap="square">
            <a:spAutoFit/>
          </a:bodyPr>
          <a:lstStyle/>
          <a:p>
            <a:r>
              <a:rPr lang="en-IN" b="1" dirty="0">
                <a:solidFill>
                  <a:srgbClr val="0070C0"/>
                </a:solidFill>
              </a:rPr>
              <a:t>		// n1.setPriority(</a:t>
            </a:r>
            <a:r>
              <a:rPr lang="en-IN" b="1" dirty="0" err="1">
                <a:solidFill>
                  <a:srgbClr val="0070C0"/>
                </a:solidFill>
              </a:rPr>
              <a:t>Thread.MIN_PRIORITY</a:t>
            </a:r>
            <a:r>
              <a:rPr lang="en-IN" b="1" dirty="0">
                <a:solidFill>
                  <a:srgbClr val="0070C0"/>
                </a:solidFill>
              </a:rPr>
              <a:t>);</a:t>
            </a:r>
          </a:p>
          <a:p>
            <a:r>
              <a:rPr lang="en-IN" b="1" dirty="0">
                <a:solidFill>
                  <a:srgbClr val="0070C0"/>
                </a:solidFill>
              </a:rPr>
              <a:t>		// 1 priority </a:t>
            </a:r>
          </a:p>
          <a:p>
            <a:r>
              <a:rPr lang="en-IN" b="1" dirty="0">
                <a:solidFill>
                  <a:srgbClr val="0070C0"/>
                </a:solidFill>
              </a:rPr>
              <a:t>		// n2.setPriority(</a:t>
            </a:r>
            <a:r>
              <a:rPr lang="en-IN" b="1" dirty="0" err="1">
                <a:solidFill>
                  <a:srgbClr val="0070C0"/>
                </a:solidFill>
              </a:rPr>
              <a:t>Thread.NORM_PRIORITY</a:t>
            </a:r>
            <a:r>
              <a:rPr lang="en-IN" b="1" dirty="0">
                <a:solidFill>
                  <a:srgbClr val="0070C0"/>
                </a:solidFill>
              </a:rPr>
              <a:t>);</a:t>
            </a:r>
          </a:p>
          <a:p>
            <a:r>
              <a:rPr lang="en-IN" b="1" dirty="0">
                <a:solidFill>
                  <a:srgbClr val="0070C0"/>
                </a:solidFill>
              </a:rPr>
              <a:t>		// 5 priority</a:t>
            </a:r>
          </a:p>
          <a:p>
            <a:r>
              <a:rPr lang="en-IN" b="1" dirty="0">
                <a:solidFill>
                  <a:srgbClr val="0070C0"/>
                </a:solidFill>
              </a:rPr>
              <a:t>		// n3.setPriority(</a:t>
            </a:r>
            <a:r>
              <a:rPr lang="en-IN" b="1" dirty="0" err="1">
                <a:solidFill>
                  <a:srgbClr val="0070C0"/>
                </a:solidFill>
              </a:rPr>
              <a:t>Thread.MAX_PRIORITY</a:t>
            </a:r>
            <a:r>
              <a:rPr lang="en-IN" b="1" dirty="0">
                <a:solidFill>
                  <a:srgbClr val="0070C0"/>
                </a:solidFill>
              </a:rPr>
              <a:t>);</a:t>
            </a:r>
          </a:p>
          <a:p>
            <a:r>
              <a:rPr lang="en-IN" b="1" dirty="0">
                <a:solidFill>
                  <a:srgbClr val="0070C0"/>
                </a:solidFill>
              </a:rPr>
              <a:t>		// 10 priority</a:t>
            </a:r>
          </a:p>
          <a:p>
            <a:r>
              <a:rPr lang="en-IN" b="1" dirty="0">
                <a:solidFill>
                  <a:srgbClr val="0070C0"/>
                </a:solidFill>
              </a:rPr>
              <a:t>		// n1.setPriorty(11); </a:t>
            </a:r>
          </a:p>
          <a:p>
            <a:r>
              <a:rPr lang="en-IN" b="1" dirty="0">
                <a:solidFill>
                  <a:srgbClr val="0070C0"/>
                </a:solidFill>
              </a:rPr>
              <a:t>		// </a:t>
            </a:r>
            <a:r>
              <a:rPr lang="en-IN" b="1" dirty="0" err="1">
                <a:solidFill>
                  <a:srgbClr val="0070C0"/>
                </a:solidFill>
              </a:rPr>
              <a:t>IllegalArgumentException</a:t>
            </a:r>
            <a:endParaRPr lang="en-IN" b="1" dirty="0">
              <a:solidFill>
                <a:srgbClr val="0070C0"/>
              </a:solidFill>
            </a:endParaRPr>
          </a:p>
          <a:p>
            <a:endParaRPr lang="en-IN" b="1" dirty="0">
              <a:solidFill>
                <a:srgbClr val="0070C0"/>
              </a:solidFill>
            </a:endParaRPr>
          </a:p>
          <a:p>
            <a:r>
              <a:rPr lang="en-IN" b="1" dirty="0">
                <a:solidFill>
                  <a:srgbClr val="0070C0"/>
                </a:solidFill>
              </a:rPr>
              <a:t>		n1.start(); </a:t>
            </a:r>
          </a:p>
          <a:p>
            <a:r>
              <a:rPr lang="en-IN" b="1" dirty="0">
                <a:solidFill>
                  <a:srgbClr val="0070C0"/>
                </a:solidFill>
              </a:rPr>
              <a:t>		n2.start(); </a:t>
            </a:r>
          </a:p>
          <a:p>
            <a:r>
              <a:rPr lang="en-IN" b="1" dirty="0">
                <a:solidFill>
                  <a:srgbClr val="0070C0"/>
                </a:solidFill>
              </a:rPr>
              <a:t>		n3.start();</a:t>
            </a:r>
          </a:p>
          <a:p>
            <a:r>
              <a:rPr lang="en-IN" b="1" dirty="0">
                <a:solidFill>
                  <a:srgbClr val="0070C0"/>
                </a:solidFill>
              </a:rPr>
              <a:t>	}</a:t>
            </a:r>
          </a:p>
          <a:p>
            <a:r>
              <a:rPr lang="en-IN" b="1" dirty="0">
                <a:solidFill>
                  <a:srgbClr val="0070C0"/>
                </a:solidFill>
              </a:rPr>
              <a:t>}</a:t>
            </a:r>
          </a:p>
        </p:txBody>
      </p:sp>
      <p:sp>
        <p:nvSpPr>
          <p:cNvPr id="5" name="Footer Placeholder 4">
            <a:extLst>
              <a:ext uri="{FF2B5EF4-FFF2-40B4-BE49-F238E27FC236}">
                <a16:creationId xmlns:a16="http://schemas.microsoft.com/office/drawing/2014/main" id="{C13D8554-3053-FD31-3680-CDF9B683293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77294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TextBox 4">
            <a:extLst>
              <a:ext uri="{FF2B5EF4-FFF2-40B4-BE49-F238E27FC236}">
                <a16:creationId xmlns:a16="http://schemas.microsoft.com/office/drawing/2014/main" id="{1025FE7F-924A-B367-9856-E799E26FE04E}"/>
              </a:ext>
            </a:extLst>
          </p:cNvPr>
          <p:cNvSpPr txBox="1"/>
          <p:nvPr/>
        </p:nvSpPr>
        <p:spPr>
          <a:xfrm>
            <a:off x="971088" y="1770654"/>
            <a:ext cx="7614396" cy="830997"/>
          </a:xfrm>
          <a:prstGeom prst="rect">
            <a:avLst/>
          </a:prstGeom>
          <a:noFill/>
        </p:spPr>
        <p:txBody>
          <a:bodyPr wrap="square">
            <a:spAutoFit/>
          </a:bodyPr>
          <a:lstStyle/>
          <a:p>
            <a:pPr algn="ctr"/>
            <a:r>
              <a:rPr lang="en-US" sz="4800" b="1" dirty="0">
                <a:solidFill>
                  <a:srgbClr val="0070C0"/>
                </a:solidFill>
              </a:rPr>
              <a:t>Other methods of Thread</a:t>
            </a:r>
            <a:endParaRPr lang="en-US" b="1" dirty="0">
              <a:solidFill>
                <a:srgbClr val="0070C0"/>
              </a:solidFill>
            </a:endParaRPr>
          </a:p>
        </p:txBody>
      </p:sp>
      <p:sp>
        <p:nvSpPr>
          <p:cNvPr id="14" name="TextBox 13">
            <a:extLst>
              <a:ext uri="{FF2B5EF4-FFF2-40B4-BE49-F238E27FC236}">
                <a16:creationId xmlns:a16="http://schemas.microsoft.com/office/drawing/2014/main" id="{5BCE71D9-8130-03AB-9891-8640C84DCC5D}"/>
              </a:ext>
            </a:extLst>
          </p:cNvPr>
          <p:cNvSpPr txBox="1"/>
          <p:nvPr/>
        </p:nvSpPr>
        <p:spPr>
          <a:xfrm>
            <a:off x="1879232" y="2921606"/>
            <a:ext cx="6125134" cy="1200329"/>
          </a:xfrm>
          <a:prstGeom prst="rect">
            <a:avLst/>
          </a:prstGeom>
          <a:noFill/>
        </p:spPr>
        <p:txBody>
          <a:bodyPr wrap="square">
            <a:spAutoFit/>
          </a:bodyPr>
          <a:lstStyle/>
          <a:p>
            <a:pPr algn="ctr"/>
            <a:r>
              <a:rPr lang="en-US" sz="4000" b="1" dirty="0">
                <a:solidFill>
                  <a:srgbClr val="0070C0"/>
                </a:solidFill>
              </a:rPr>
              <a:t>Threads</a:t>
            </a:r>
          </a:p>
          <a:p>
            <a:pPr algn="ctr"/>
            <a:r>
              <a:rPr lang="en-US" sz="3200" b="1" dirty="0">
                <a:solidFill>
                  <a:srgbClr val="0070C0"/>
                </a:solidFill>
              </a:rPr>
              <a:t>Part - V</a:t>
            </a:r>
            <a:endParaRPr lang="en-IN" sz="3200" dirty="0">
              <a:solidFill>
                <a:srgbClr val="0070C0"/>
              </a:solidFill>
            </a:endParaRPr>
          </a:p>
        </p:txBody>
      </p:sp>
      <p:sp>
        <p:nvSpPr>
          <p:cNvPr id="3" name="Footer Placeholder 2">
            <a:extLst>
              <a:ext uri="{FF2B5EF4-FFF2-40B4-BE49-F238E27FC236}">
                <a16:creationId xmlns:a16="http://schemas.microsoft.com/office/drawing/2014/main" id="{A4902279-B03B-7205-9B39-5D6FFC110BE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210726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 name="Rectangle: Rounded Corners 2">
            <a:extLst>
              <a:ext uri="{FF2B5EF4-FFF2-40B4-BE49-F238E27FC236}">
                <a16:creationId xmlns:a16="http://schemas.microsoft.com/office/drawing/2014/main" id="{962AE408-2C8C-D319-7043-21B46A931BE8}"/>
              </a:ext>
            </a:extLst>
          </p:cNvPr>
          <p:cNvSpPr/>
          <p:nvPr/>
        </p:nvSpPr>
        <p:spPr>
          <a:xfrm>
            <a:off x="1035424" y="1506071"/>
            <a:ext cx="1761564"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a:t>NewThread</a:t>
            </a:r>
            <a:r>
              <a:rPr lang="en-IN" b="1" dirty="0"/>
              <a:t> State</a:t>
            </a:r>
          </a:p>
        </p:txBody>
      </p:sp>
      <p:sp>
        <p:nvSpPr>
          <p:cNvPr id="12" name="Rectangle: Rounded Corners 11">
            <a:extLst>
              <a:ext uri="{FF2B5EF4-FFF2-40B4-BE49-F238E27FC236}">
                <a16:creationId xmlns:a16="http://schemas.microsoft.com/office/drawing/2014/main" id="{2524A39A-6074-49FA-9BC0-7D6CFE0EC687}"/>
              </a:ext>
            </a:extLst>
          </p:cNvPr>
          <p:cNvSpPr/>
          <p:nvPr/>
        </p:nvSpPr>
        <p:spPr>
          <a:xfrm>
            <a:off x="4334436" y="1549807"/>
            <a:ext cx="1761564"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Runnable State</a:t>
            </a:r>
          </a:p>
        </p:txBody>
      </p:sp>
      <p:sp>
        <p:nvSpPr>
          <p:cNvPr id="13" name="Rectangle: Rounded Corners 12">
            <a:extLst>
              <a:ext uri="{FF2B5EF4-FFF2-40B4-BE49-F238E27FC236}">
                <a16:creationId xmlns:a16="http://schemas.microsoft.com/office/drawing/2014/main" id="{EA14584B-6188-768C-0E21-1AB6EC76BAD2}"/>
              </a:ext>
            </a:extLst>
          </p:cNvPr>
          <p:cNvSpPr/>
          <p:nvPr/>
        </p:nvSpPr>
        <p:spPr>
          <a:xfrm>
            <a:off x="7633447" y="1549807"/>
            <a:ext cx="1761564"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Block State</a:t>
            </a:r>
          </a:p>
        </p:txBody>
      </p:sp>
      <p:sp>
        <p:nvSpPr>
          <p:cNvPr id="15" name="Rectangle: Rounded Corners 14">
            <a:extLst>
              <a:ext uri="{FF2B5EF4-FFF2-40B4-BE49-F238E27FC236}">
                <a16:creationId xmlns:a16="http://schemas.microsoft.com/office/drawing/2014/main" id="{2C733062-FD64-A51A-4EB6-FD855726C579}"/>
              </a:ext>
            </a:extLst>
          </p:cNvPr>
          <p:cNvSpPr/>
          <p:nvPr/>
        </p:nvSpPr>
        <p:spPr>
          <a:xfrm>
            <a:off x="4334436" y="3702571"/>
            <a:ext cx="1761564"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Dead State</a:t>
            </a:r>
          </a:p>
        </p:txBody>
      </p:sp>
      <p:cxnSp>
        <p:nvCxnSpPr>
          <p:cNvPr id="17" name="Straight Arrow Connector 16">
            <a:extLst>
              <a:ext uri="{FF2B5EF4-FFF2-40B4-BE49-F238E27FC236}">
                <a16:creationId xmlns:a16="http://schemas.microsoft.com/office/drawing/2014/main" id="{5E8D580B-F137-68C4-0F52-E25916C0225D}"/>
              </a:ext>
            </a:extLst>
          </p:cNvPr>
          <p:cNvCxnSpPr>
            <a:cxnSpLocks/>
          </p:cNvCxnSpPr>
          <p:nvPr/>
        </p:nvCxnSpPr>
        <p:spPr>
          <a:xfrm>
            <a:off x="2877671" y="1848971"/>
            <a:ext cx="14433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5E61151-D786-75C0-E7A0-32CBB49A79D4}"/>
              </a:ext>
            </a:extLst>
          </p:cNvPr>
          <p:cNvCxnSpPr>
            <a:cxnSpLocks/>
          </p:cNvCxnSpPr>
          <p:nvPr/>
        </p:nvCxnSpPr>
        <p:spPr>
          <a:xfrm>
            <a:off x="6190129" y="1840007"/>
            <a:ext cx="14433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60A5B32-CBA2-548B-6334-4002AD5E1951}"/>
              </a:ext>
            </a:extLst>
          </p:cNvPr>
          <p:cNvCxnSpPr>
            <a:cxnSpLocks/>
          </p:cNvCxnSpPr>
          <p:nvPr/>
        </p:nvCxnSpPr>
        <p:spPr>
          <a:xfrm flipH="1">
            <a:off x="5946269" y="2086581"/>
            <a:ext cx="1593049" cy="15667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94C4BA8-1FAE-412F-7389-83E16E2775E2}"/>
              </a:ext>
            </a:extLst>
          </p:cNvPr>
          <p:cNvCxnSpPr>
            <a:cxnSpLocks/>
          </p:cNvCxnSpPr>
          <p:nvPr/>
        </p:nvCxnSpPr>
        <p:spPr>
          <a:xfrm>
            <a:off x="5248763" y="2309363"/>
            <a:ext cx="0" cy="129019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8CF9849-FF01-0C02-CDF3-8094F5E2C280}"/>
              </a:ext>
            </a:extLst>
          </p:cNvPr>
          <p:cNvCxnSpPr>
            <a:cxnSpLocks/>
          </p:cNvCxnSpPr>
          <p:nvPr/>
        </p:nvCxnSpPr>
        <p:spPr>
          <a:xfrm flipH="1">
            <a:off x="6190129" y="2086581"/>
            <a:ext cx="134694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5EDD051-4138-48A4-365E-83C41816B6ED}"/>
              </a:ext>
            </a:extLst>
          </p:cNvPr>
          <p:cNvSpPr txBox="1"/>
          <p:nvPr/>
        </p:nvSpPr>
        <p:spPr>
          <a:xfrm>
            <a:off x="3227294" y="1905953"/>
            <a:ext cx="771365" cy="369332"/>
          </a:xfrm>
          <a:prstGeom prst="rect">
            <a:avLst/>
          </a:prstGeom>
          <a:noFill/>
        </p:spPr>
        <p:txBody>
          <a:bodyPr wrap="none" rtlCol="0">
            <a:spAutoFit/>
          </a:bodyPr>
          <a:lstStyle/>
          <a:p>
            <a:r>
              <a:rPr lang="en-IN" b="1" dirty="0"/>
              <a:t>start()</a:t>
            </a:r>
          </a:p>
        </p:txBody>
      </p:sp>
      <p:sp>
        <p:nvSpPr>
          <p:cNvPr id="30" name="TextBox 29">
            <a:extLst>
              <a:ext uri="{FF2B5EF4-FFF2-40B4-BE49-F238E27FC236}">
                <a16:creationId xmlns:a16="http://schemas.microsoft.com/office/drawing/2014/main" id="{F88463B5-5625-E43D-D923-8B8ADBED9538}"/>
              </a:ext>
            </a:extLst>
          </p:cNvPr>
          <p:cNvSpPr txBox="1"/>
          <p:nvPr/>
        </p:nvSpPr>
        <p:spPr>
          <a:xfrm>
            <a:off x="4428560" y="1937330"/>
            <a:ext cx="657552" cy="369332"/>
          </a:xfrm>
          <a:prstGeom prst="rect">
            <a:avLst/>
          </a:prstGeom>
          <a:noFill/>
        </p:spPr>
        <p:txBody>
          <a:bodyPr wrap="none" rtlCol="0">
            <a:spAutoFit/>
          </a:bodyPr>
          <a:lstStyle/>
          <a:p>
            <a:r>
              <a:rPr lang="en-IN" b="1" dirty="0"/>
              <a:t>run()</a:t>
            </a:r>
          </a:p>
        </p:txBody>
      </p:sp>
      <p:sp>
        <p:nvSpPr>
          <p:cNvPr id="31" name="TextBox 30">
            <a:extLst>
              <a:ext uri="{FF2B5EF4-FFF2-40B4-BE49-F238E27FC236}">
                <a16:creationId xmlns:a16="http://schemas.microsoft.com/office/drawing/2014/main" id="{B5FDB8B7-735C-10E0-06A7-DF8E22E69DD6}"/>
              </a:ext>
            </a:extLst>
          </p:cNvPr>
          <p:cNvSpPr txBox="1"/>
          <p:nvPr/>
        </p:nvSpPr>
        <p:spPr>
          <a:xfrm>
            <a:off x="6149786" y="1184298"/>
            <a:ext cx="4619919" cy="369332"/>
          </a:xfrm>
          <a:prstGeom prst="rect">
            <a:avLst/>
          </a:prstGeom>
          <a:noFill/>
        </p:spPr>
        <p:txBody>
          <a:bodyPr wrap="none" rtlCol="0">
            <a:spAutoFit/>
          </a:bodyPr>
          <a:lstStyle/>
          <a:p>
            <a:r>
              <a:rPr lang="en-IN" b="1" dirty="0" err="1"/>
              <a:t>Thread.sleep</a:t>
            </a:r>
            <a:r>
              <a:rPr lang="en-IN" b="1" dirty="0"/>
              <a:t>(), suspend(), wait(), join(), yield()</a:t>
            </a:r>
          </a:p>
        </p:txBody>
      </p:sp>
      <p:sp>
        <p:nvSpPr>
          <p:cNvPr id="32" name="TextBox 31">
            <a:extLst>
              <a:ext uri="{FF2B5EF4-FFF2-40B4-BE49-F238E27FC236}">
                <a16:creationId xmlns:a16="http://schemas.microsoft.com/office/drawing/2014/main" id="{2952B125-1065-106D-7923-93D66C0D7A3F}"/>
              </a:ext>
            </a:extLst>
          </p:cNvPr>
          <p:cNvSpPr txBox="1"/>
          <p:nvPr/>
        </p:nvSpPr>
        <p:spPr>
          <a:xfrm>
            <a:off x="6140822" y="2224200"/>
            <a:ext cx="4076950" cy="369332"/>
          </a:xfrm>
          <a:prstGeom prst="rect">
            <a:avLst/>
          </a:prstGeom>
          <a:noFill/>
        </p:spPr>
        <p:txBody>
          <a:bodyPr wrap="none" rtlCol="0">
            <a:spAutoFit/>
          </a:bodyPr>
          <a:lstStyle/>
          <a:p>
            <a:r>
              <a:rPr lang="en-IN" b="1" dirty="0"/>
              <a:t>Time lapse, resume(), notify(), </a:t>
            </a:r>
            <a:r>
              <a:rPr lang="en-IN" b="1" dirty="0" err="1"/>
              <a:t>notifyAll</a:t>
            </a:r>
            <a:r>
              <a:rPr lang="en-IN" b="1" dirty="0"/>
              <a:t>()</a:t>
            </a:r>
          </a:p>
        </p:txBody>
      </p:sp>
      <p:sp>
        <p:nvSpPr>
          <p:cNvPr id="34" name="TextBox 33">
            <a:extLst>
              <a:ext uri="{FF2B5EF4-FFF2-40B4-BE49-F238E27FC236}">
                <a16:creationId xmlns:a16="http://schemas.microsoft.com/office/drawing/2014/main" id="{E2EA7EB8-D239-C85F-2A13-2D42F27A2122}"/>
              </a:ext>
            </a:extLst>
          </p:cNvPr>
          <p:cNvSpPr txBox="1"/>
          <p:nvPr/>
        </p:nvSpPr>
        <p:spPr>
          <a:xfrm>
            <a:off x="6369422" y="3084809"/>
            <a:ext cx="1845955" cy="369332"/>
          </a:xfrm>
          <a:prstGeom prst="rect">
            <a:avLst/>
          </a:prstGeom>
          <a:noFill/>
        </p:spPr>
        <p:txBody>
          <a:bodyPr wrap="none" rtlCol="0">
            <a:spAutoFit/>
          </a:bodyPr>
          <a:lstStyle/>
          <a:p>
            <a:r>
              <a:rPr lang="en-IN" b="1" dirty="0"/>
              <a:t>stop()/interrupt()</a:t>
            </a:r>
          </a:p>
        </p:txBody>
      </p:sp>
      <p:cxnSp>
        <p:nvCxnSpPr>
          <p:cNvPr id="35" name="Straight Arrow Connector 34">
            <a:extLst>
              <a:ext uri="{FF2B5EF4-FFF2-40B4-BE49-F238E27FC236}">
                <a16:creationId xmlns:a16="http://schemas.microsoft.com/office/drawing/2014/main" id="{1B837BE7-526F-F92C-31B3-A5829287C852}"/>
              </a:ext>
            </a:extLst>
          </p:cNvPr>
          <p:cNvCxnSpPr>
            <a:cxnSpLocks/>
          </p:cNvCxnSpPr>
          <p:nvPr/>
        </p:nvCxnSpPr>
        <p:spPr>
          <a:xfrm>
            <a:off x="1943100" y="2245659"/>
            <a:ext cx="2682688" cy="14076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BE02C83-784F-E1DF-EE5B-351008604CE2}"/>
              </a:ext>
            </a:extLst>
          </p:cNvPr>
          <p:cNvSpPr txBox="1"/>
          <p:nvPr/>
        </p:nvSpPr>
        <p:spPr>
          <a:xfrm>
            <a:off x="3406590" y="2932409"/>
            <a:ext cx="1845955" cy="369332"/>
          </a:xfrm>
          <a:prstGeom prst="rect">
            <a:avLst/>
          </a:prstGeom>
          <a:noFill/>
        </p:spPr>
        <p:txBody>
          <a:bodyPr wrap="none" rtlCol="0">
            <a:spAutoFit/>
          </a:bodyPr>
          <a:lstStyle/>
          <a:p>
            <a:r>
              <a:rPr lang="en-IN" b="1" dirty="0"/>
              <a:t>stop()/interrupt()</a:t>
            </a:r>
          </a:p>
        </p:txBody>
      </p:sp>
      <p:sp>
        <p:nvSpPr>
          <p:cNvPr id="5" name="Footer Placeholder 4">
            <a:extLst>
              <a:ext uri="{FF2B5EF4-FFF2-40B4-BE49-F238E27FC236}">
                <a16:creationId xmlns:a16="http://schemas.microsoft.com/office/drawing/2014/main" id="{B902666B-AB6D-9BE8-B3A3-28E5FF72BE0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281340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graphicFrame>
        <p:nvGraphicFramePr>
          <p:cNvPr id="3" name="Table 11">
            <a:extLst>
              <a:ext uri="{FF2B5EF4-FFF2-40B4-BE49-F238E27FC236}">
                <a16:creationId xmlns:a16="http://schemas.microsoft.com/office/drawing/2014/main" id="{F61882EB-8967-4619-0332-CBBAAF81FEA1}"/>
              </a:ext>
            </a:extLst>
          </p:cNvPr>
          <p:cNvGraphicFramePr>
            <a:graphicFrameLocks noGrp="1"/>
          </p:cNvGraphicFramePr>
          <p:nvPr>
            <p:extLst>
              <p:ext uri="{D42A27DB-BD31-4B8C-83A1-F6EECF244321}">
                <p14:modId xmlns:p14="http://schemas.microsoft.com/office/powerpoint/2010/main" val="139637514"/>
              </p:ext>
            </p:extLst>
          </p:nvPr>
        </p:nvGraphicFramePr>
        <p:xfrm>
          <a:off x="356837" y="737235"/>
          <a:ext cx="5942106" cy="5598160"/>
        </p:xfrm>
        <a:graphic>
          <a:graphicData uri="http://schemas.openxmlformats.org/drawingml/2006/table">
            <a:tbl>
              <a:tblPr firstRow="1" bandRow="1">
                <a:tableStyleId>{5C22544A-7EE6-4342-B048-85BDC9FD1C3A}</a:tableStyleId>
              </a:tblPr>
              <a:tblGrid>
                <a:gridCol w="5942106">
                  <a:extLst>
                    <a:ext uri="{9D8B030D-6E8A-4147-A177-3AD203B41FA5}">
                      <a16:colId xmlns:a16="http://schemas.microsoft.com/office/drawing/2014/main" val="2489943413"/>
                    </a:ext>
                  </a:extLst>
                </a:gridCol>
              </a:tblGrid>
              <a:tr h="370840">
                <a:tc>
                  <a:txBody>
                    <a:bodyPr/>
                    <a:lstStyle/>
                    <a:p>
                      <a:r>
                        <a:rPr lang="en-IN" dirty="0"/>
                        <a:t>public class Thread extends Object implements Runnable {</a:t>
                      </a:r>
                    </a:p>
                  </a:txBody>
                  <a:tcPr/>
                </a:tc>
                <a:extLst>
                  <a:ext uri="{0D108BD9-81ED-4DB2-BD59-A6C34878D82A}">
                    <a16:rowId xmlns:a16="http://schemas.microsoft.com/office/drawing/2014/main" val="557851031"/>
                  </a:ext>
                </a:extLst>
              </a:tr>
              <a:tr h="370840">
                <a:tc>
                  <a:txBody>
                    <a:bodyPr/>
                    <a:lstStyle/>
                    <a:p>
                      <a:r>
                        <a:rPr lang="en-IN" b="1" dirty="0"/>
                        <a:t>Variables</a:t>
                      </a:r>
                    </a:p>
                  </a:txBody>
                  <a:tcPr/>
                </a:tc>
                <a:extLst>
                  <a:ext uri="{0D108BD9-81ED-4DB2-BD59-A6C34878D82A}">
                    <a16:rowId xmlns:a16="http://schemas.microsoft.com/office/drawing/2014/main" val="2477853978"/>
                  </a:ext>
                </a:extLst>
              </a:tr>
              <a:tr h="370840">
                <a:tc>
                  <a:txBody>
                    <a:bodyPr/>
                    <a:lstStyle/>
                    <a:p>
                      <a:pPr lvl="1"/>
                      <a:r>
                        <a:rPr lang="en-IN" b="1" dirty="0"/>
                        <a:t>public static final int MIN_PRIORITY=1;</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IN" b="1" dirty="0"/>
                        <a:t>public static final int NORM_PRIORITY=5;</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IN" b="1" dirty="0"/>
                        <a:t>public </a:t>
                      </a:r>
                      <a:r>
                        <a:rPr lang="en-IN" b="1"/>
                        <a:t>static final int </a:t>
                      </a:r>
                      <a:r>
                        <a:rPr lang="en-IN" b="1" dirty="0"/>
                        <a:t>MAX_PRIORITY=10;</a:t>
                      </a:r>
                    </a:p>
                  </a:txBody>
                  <a:tcPr/>
                </a:tc>
                <a:extLst>
                  <a:ext uri="{0D108BD9-81ED-4DB2-BD59-A6C34878D82A}">
                    <a16:rowId xmlns:a16="http://schemas.microsoft.com/office/drawing/2014/main" val="1387819939"/>
                  </a:ext>
                </a:extLst>
              </a:tr>
              <a:tr h="370840">
                <a:tc>
                  <a:txBody>
                    <a:bodyPr/>
                    <a:lstStyle/>
                    <a:p>
                      <a:r>
                        <a:rPr lang="en-IN" b="1" dirty="0"/>
                        <a:t>Constructors</a:t>
                      </a:r>
                    </a:p>
                  </a:txBody>
                  <a:tcPr/>
                </a:tc>
                <a:extLst>
                  <a:ext uri="{0D108BD9-81ED-4DB2-BD59-A6C34878D82A}">
                    <a16:rowId xmlns:a16="http://schemas.microsoft.com/office/drawing/2014/main" val="1914759485"/>
                  </a:ext>
                </a:extLst>
              </a:tr>
              <a:tr h="370840">
                <a:tc>
                  <a:txBody>
                    <a:bodyPr/>
                    <a:lstStyle/>
                    <a:p>
                      <a:r>
                        <a:rPr lang="en-US" b="1" dirty="0"/>
                        <a:t>	Thread()</a:t>
                      </a:r>
                    </a:p>
                    <a:p>
                      <a:r>
                        <a:rPr lang="en-US" b="1" dirty="0"/>
                        <a:t>	Thread(String </a:t>
                      </a:r>
                      <a:r>
                        <a:rPr lang="en-US" b="1" dirty="0" err="1"/>
                        <a:t>threadName</a:t>
                      </a:r>
                      <a:r>
                        <a:rPr lang="en-US" b="1" dirty="0"/>
                        <a:t>)</a:t>
                      </a:r>
                    </a:p>
                    <a:p>
                      <a:r>
                        <a:rPr lang="en-US" b="1" dirty="0"/>
                        <a:t>	Thread(Runnable r)</a:t>
                      </a:r>
                    </a:p>
                  </a:txBody>
                  <a:tcPr/>
                </a:tc>
                <a:extLst>
                  <a:ext uri="{0D108BD9-81ED-4DB2-BD59-A6C34878D82A}">
                    <a16:rowId xmlns:a16="http://schemas.microsoft.com/office/drawing/2014/main" val="934511167"/>
                  </a:ext>
                </a:extLst>
              </a:tr>
              <a:tr h="370840">
                <a:tc>
                  <a:txBody>
                    <a:bodyPr/>
                    <a:lstStyle/>
                    <a:p>
                      <a:r>
                        <a:rPr lang="en-IN" b="1" dirty="0"/>
                        <a:t>Methods</a:t>
                      </a:r>
                    </a:p>
                  </a:txBody>
                  <a:tcPr/>
                </a:tc>
                <a:extLst>
                  <a:ext uri="{0D108BD9-81ED-4DB2-BD59-A6C34878D82A}">
                    <a16:rowId xmlns:a16="http://schemas.microsoft.com/office/drawing/2014/main" val="910471827"/>
                  </a:ext>
                </a:extLst>
              </a:tr>
              <a:tr h="370840">
                <a:tc>
                  <a:txBody>
                    <a:bodyPr/>
                    <a:lstStyle/>
                    <a:p>
                      <a:pPr lvl="2"/>
                      <a:r>
                        <a:rPr lang="en-IN" b="1" dirty="0"/>
                        <a:t>void start()</a:t>
                      </a:r>
                    </a:p>
                    <a:p>
                      <a:r>
                        <a:rPr lang="en-IN" b="1" dirty="0"/>
                        <a:t>	void run()</a:t>
                      </a:r>
                    </a:p>
                    <a:p>
                      <a:r>
                        <a:rPr lang="en-IN" b="1" dirty="0"/>
                        <a:t>	void destroy()</a:t>
                      </a:r>
                    </a:p>
                    <a:p>
                      <a:r>
                        <a:rPr lang="en-IN" b="1" dirty="0"/>
                        <a:t>	void interrupt()</a:t>
                      </a:r>
                    </a:p>
                    <a:p>
                      <a:r>
                        <a:rPr lang="en-IN" b="1" dirty="0"/>
                        <a:t>	</a:t>
                      </a:r>
                      <a:r>
                        <a:rPr lang="en-IN" b="1" dirty="0" err="1"/>
                        <a:t>boolean</a:t>
                      </a:r>
                      <a:r>
                        <a:rPr lang="en-IN" b="1" dirty="0"/>
                        <a:t> </a:t>
                      </a:r>
                      <a:r>
                        <a:rPr lang="en-IN" b="1" dirty="0" err="1"/>
                        <a:t>isAlive</a:t>
                      </a:r>
                      <a:r>
                        <a:rPr lang="en-IN" b="1" dirty="0"/>
                        <a:t>()</a:t>
                      </a:r>
                    </a:p>
                    <a:p>
                      <a:r>
                        <a:rPr lang="en-IN" b="1" dirty="0"/>
                        <a:t>	</a:t>
                      </a:r>
                      <a:r>
                        <a:rPr lang="en-IN" b="1" dirty="0" err="1"/>
                        <a:t>boolean</a:t>
                      </a:r>
                      <a:r>
                        <a:rPr lang="en-IN" b="1" dirty="0"/>
                        <a:t> </a:t>
                      </a:r>
                      <a:r>
                        <a:rPr lang="en-IN" b="1" dirty="0" err="1"/>
                        <a:t>isDaemon</a:t>
                      </a:r>
                      <a:r>
                        <a:rPr lang="en-IN" b="1" dirty="0"/>
                        <a:t>()</a:t>
                      </a:r>
                    </a:p>
                    <a:p>
                      <a:r>
                        <a:rPr lang="en-IN" b="1" dirty="0"/>
                        <a:t>	</a:t>
                      </a:r>
                      <a:r>
                        <a:rPr lang="en-IN" b="1" dirty="0" err="1"/>
                        <a:t>setDaemon</a:t>
                      </a:r>
                      <a:r>
                        <a:rPr lang="en-IN" b="1" dirty="0"/>
                        <a:t>(</a:t>
                      </a:r>
                      <a:r>
                        <a:rPr lang="en-IN" b="1" dirty="0" err="1"/>
                        <a:t>boolean</a:t>
                      </a:r>
                      <a:r>
                        <a:rPr lang="en-IN" b="1" dirty="0"/>
                        <a:t>)</a:t>
                      </a:r>
                    </a:p>
                    <a:p>
                      <a:r>
                        <a:rPr lang="en-IN" b="1" dirty="0"/>
                        <a:t>	static Thread </a:t>
                      </a:r>
                      <a:r>
                        <a:rPr lang="en-IN" b="1" dirty="0" err="1"/>
                        <a:t>currentThread</a:t>
                      </a:r>
                      <a:r>
                        <a:rPr lang="en-IN" b="1" dirty="0"/>
                        <a:t>()</a:t>
                      </a:r>
                    </a:p>
                  </a:txBody>
                  <a:tcPr/>
                </a:tc>
                <a:extLst>
                  <a:ext uri="{0D108BD9-81ED-4DB2-BD59-A6C34878D82A}">
                    <a16:rowId xmlns:a16="http://schemas.microsoft.com/office/drawing/2014/main" val="3685245578"/>
                  </a:ext>
                </a:extLst>
              </a:tr>
            </a:tbl>
          </a:graphicData>
        </a:graphic>
      </p:graphicFrame>
      <p:graphicFrame>
        <p:nvGraphicFramePr>
          <p:cNvPr id="5" name="Table 11">
            <a:extLst>
              <a:ext uri="{FF2B5EF4-FFF2-40B4-BE49-F238E27FC236}">
                <a16:creationId xmlns:a16="http://schemas.microsoft.com/office/drawing/2014/main" id="{682A46ED-014B-BC3D-3691-10D057EC8CC1}"/>
              </a:ext>
            </a:extLst>
          </p:cNvPr>
          <p:cNvGraphicFramePr>
            <a:graphicFrameLocks noGrp="1"/>
          </p:cNvGraphicFramePr>
          <p:nvPr>
            <p:extLst>
              <p:ext uri="{D42A27DB-BD31-4B8C-83A1-F6EECF244321}">
                <p14:modId xmlns:p14="http://schemas.microsoft.com/office/powerpoint/2010/main" val="2749489964"/>
              </p:ext>
            </p:extLst>
          </p:nvPr>
        </p:nvGraphicFramePr>
        <p:xfrm>
          <a:off x="6535271" y="1490503"/>
          <a:ext cx="3524883" cy="1112520"/>
        </p:xfrm>
        <a:graphic>
          <a:graphicData uri="http://schemas.openxmlformats.org/drawingml/2006/table">
            <a:tbl>
              <a:tblPr firstRow="1" bandRow="1">
                <a:tableStyleId>{5C22544A-7EE6-4342-B048-85BDC9FD1C3A}</a:tableStyleId>
              </a:tblPr>
              <a:tblGrid>
                <a:gridCol w="3524883">
                  <a:extLst>
                    <a:ext uri="{9D8B030D-6E8A-4147-A177-3AD203B41FA5}">
                      <a16:colId xmlns:a16="http://schemas.microsoft.com/office/drawing/2014/main" val="2489943413"/>
                    </a:ext>
                  </a:extLst>
                </a:gridCol>
              </a:tblGrid>
              <a:tr h="370840">
                <a:tc>
                  <a:txBody>
                    <a:bodyPr/>
                    <a:lstStyle/>
                    <a:p>
                      <a:r>
                        <a:rPr lang="en-IN" dirty="0"/>
                        <a:t>public interface Runnable {</a:t>
                      </a:r>
                    </a:p>
                  </a:txBody>
                  <a:tcPr/>
                </a:tc>
                <a:extLst>
                  <a:ext uri="{0D108BD9-81ED-4DB2-BD59-A6C34878D82A}">
                    <a16:rowId xmlns:a16="http://schemas.microsoft.com/office/drawing/2014/main" val="557851031"/>
                  </a:ext>
                </a:extLst>
              </a:tr>
              <a:tr h="370840">
                <a:tc>
                  <a:txBody>
                    <a:bodyPr/>
                    <a:lstStyle/>
                    <a:p>
                      <a:r>
                        <a:rPr lang="en-IN" b="1" dirty="0"/>
                        <a:t>Methods</a:t>
                      </a:r>
                    </a:p>
                  </a:txBody>
                  <a:tcPr/>
                </a:tc>
                <a:extLst>
                  <a:ext uri="{0D108BD9-81ED-4DB2-BD59-A6C34878D82A}">
                    <a16:rowId xmlns:a16="http://schemas.microsoft.com/office/drawing/2014/main" val="910471827"/>
                  </a:ext>
                </a:extLst>
              </a:tr>
              <a:tr h="370840">
                <a:tc>
                  <a:txBody>
                    <a:bodyPr/>
                    <a:lstStyle/>
                    <a:p>
                      <a:r>
                        <a:rPr lang="en-IN" b="1" dirty="0"/>
                        <a:t>public abstract void run();</a:t>
                      </a:r>
                    </a:p>
                  </a:txBody>
                  <a:tcPr/>
                </a:tc>
                <a:extLst>
                  <a:ext uri="{0D108BD9-81ED-4DB2-BD59-A6C34878D82A}">
                    <a16:rowId xmlns:a16="http://schemas.microsoft.com/office/drawing/2014/main" val="3685245578"/>
                  </a:ext>
                </a:extLst>
              </a:tr>
            </a:tbl>
          </a:graphicData>
        </a:graphic>
      </p:graphicFrame>
      <p:sp>
        <p:nvSpPr>
          <p:cNvPr id="12" name="Footer Placeholder 11">
            <a:extLst>
              <a:ext uri="{FF2B5EF4-FFF2-40B4-BE49-F238E27FC236}">
                <a16:creationId xmlns:a16="http://schemas.microsoft.com/office/drawing/2014/main" id="{3EDBD94C-F152-C047-8C39-CAA4B0C08EC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372492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graphicFrame>
        <p:nvGraphicFramePr>
          <p:cNvPr id="12" name="Table 11">
            <a:extLst>
              <a:ext uri="{FF2B5EF4-FFF2-40B4-BE49-F238E27FC236}">
                <a16:creationId xmlns:a16="http://schemas.microsoft.com/office/drawing/2014/main" id="{33A12971-BF3D-D985-539B-386C7D2F1C65}"/>
              </a:ext>
            </a:extLst>
          </p:cNvPr>
          <p:cNvGraphicFramePr>
            <a:graphicFrameLocks noGrp="1"/>
          </p:cNvGraphicFramePr>
          <p:nvPr>
            <p:extLst>
              <p:ext uri="{D42A27DB-BD31-4B8C-83A1-F6EECF244321}">
                <p14:modId xmlns:p14="http://schemas.microsoft.com/office/powerpoint/2010/main" val="3045215434"/>
              </p:ext>
            </p:extLst>
          </p:nvPr>
        </p:nvGraphicFramePr>
        <p:xfrm>
          <a:off x="475103" y="760140"/>
          <a:ext cx="5495392" cy="5181600"/>
        </p:xfrm>
        <a:graphic>
          <a:graphicData uri="http://schemas.openxmlformats.org/drawingml/2006/table">
            <a:tbl>
              <a:tblPr firstRow="1" bandRow="1">
                <a:tableStyleId>{5C22544A-7EE6-4342-B048-85BDC9FD1C3A}</a:tableStyleId>
              </a:tblPr>
              <a:tblGrid>
                <a:gridCol w="5495392">
                  <a:extLst>
                    <a:ext uri="{9D8B030D-6E8A-4147-A177-3AD203B41FA5}">
                      <a16:colId xmlns:a16="http://schemas.microsoft.com/office/drawing/2014/main" val="2489943413"/>
                    </a:ext>
                  </a:extLst>
                </a:gridCol>
              </a:tblGrid>
              <a:tr h="370840">
                <a:tc>
                  <a:txBody>
                    <a:bodyPr/>
                    <a:lstStyle/>
                    <a:p>
                      <a:endParaRPr lang="en-IN" sz="2000" dirty="0"/>
                    </a:p>
                  </a:txBody>
                  <a:tcPr/>
                </a:tc>
                <a:extLst>
                  <a:ext uri="{0D108BD9-81ED-4DB2-BD59-A6C34878D82A}">
                    <a16:rowId xmlns:a16="http://schemas.microsoft.com/office/drawing/2014/main" val="557851031"/>
                  </a:ext>
                </a:extLst>
              </a:tr>
              <a:tr h="370840">
                <a:tc>
                  <a:txBody>
                    <a:bodyPr/>
                    <a:lstStyle/>
                    <a:p>
                      <a:r>
                        <a:rPr lang="en-US" sz="2000" b="1" dirty="0"/>
                        <a:t>void </a:t>
                      </a:r>
                      <a:r>
                        <a:rPr lang="en-US" sz="2000" b="1" dirty="0" err="1"/>
                        <a:t>setName</a:t>
                      </a:r>
                      <a:r>
                        <a:rPr lang="en-US" sz="2000" b="1" dirty="0"/>
                        <a:t>(String </a:t>
                      </a:r>
                      <a:r>
                        <a:rPr lang="en-US" sz="2000" b="1" dirty="0" err="1"/>
                        <a:t>threadName</a:t>
                      </a:r>
                      <a:r>
                        <a:rPr lang="en-US" sz="2000" b="1" dirty="0"/>
                        <a:t>)</a:t>
                      </a:r>
                    </a:p>
                    <a:p>
                      <a:r>
                        <a:rPr lang="en-US" sz="2000" b="1" dirty="0"/>
                        <a:t>String </a:t>
                      </a:r>
                      <a:r>
                        <a:rPr lang="en-US" sz="2000" b="1" dirty="0" err="1"/>
                        <a:t>getName</a:t>
                      </a:r>
                      <a:r>
                        <a:rPr lang="en-US" sz="2000" b="1" dirty="0"/>
                        <a:t>()</a:t>
                      </a:r>
                    </a:p>
                    <a:p>
                      <a:r>
                        <a:rPr lang="en-US" sz="2000" b="1" dirty="0"/>
                        <a:t>void </a:t>
                      </a:r>
                      <a:r>
                        <a:rPr lang="en-US" sz="2000" b="1" dirty="0" err="1"/>
                        <a:t>setPriority</a:t>
                      </a:r>
                      <a:r>
                        <a:rPr lang="en-US" sz="2000" b="1" dirty="0"/>
                        <a:t>(int priority)</a:t>
                      </a:r>
                    </a:p>
                    <a:p>
                      <a:r>
                        <a:rPr lang="en-US" sz="2000" b="1" dirty="0"/>
                        <a:t>int </a:t>
                      </a:r>
                      <a:r>
                        <a:rPr lang="en-US" sz="2000" b="1" dirty="0" err="1"/>
                        <a:t>getPriority</a:t>
                      </a:r>
                      <a:r>
                        <a:rPr lang="en-US" sz="2000" b="1" dirty="0"/>
                        <a:t>()</a:t>
                      </a:r>
                    </a:p>
                  </a:txBody>
                  <a:tcPr/>
                </a:tc>
                <a:extLst>
                  <a:ext uri="{0D108BD9-81ED-4DB2-BD59-A6C34878D82A}">
                    <a16:rowId xmlns:a16="http://schemas.microsoft.com/office/drawing/2014/main" val="2477853978"/>
                  </a:ext>
                </a:extLst>
              </a:tr>
              <a:tr h="370840">
                <a:tc>
                  <a:txBody>
                    <a:bodyPr/>
                    <a:lstStyle/>
                    <a:p>
                      <a:r>
                        <a:rPr lang="en-US" sz="2000" b="1" dirty="0"/>
                        <a:t>static void sleep(long </a:t>
                      </a:r>
                      <a:r>
                        <a:rPr lang="en-US" sz="2000" b="1" dirty="0" err="1"/>
                        <a:t>milliSeconds</a:t>
                      </a:r>
                      <a:r>
                        <a:rPr lang="en-US" sz="2000" b="1" dirty="0"/>
                        <a:t>)</a:t>
                      </a:r>
                    </a:p>
                    <a:p>
                      <a:r>
                        <a:rPr lang="en-US" sz="1800" b="1" dirty="0"/>
                        <a:t>static void sleep(long </a:t>
                      </a:r>
                      <a:r>
                        <a:rPr lang="en-US" sz="1800" b="1" dirty="0" err="1"/>
                        <a:t>milliSeconds</a:t>
                      </a:r>
                      <a:r>
                        <a:rPr lang="en-US" sz="1800" b="1" dirty="0"/>
                        <a:t>, int </a:t>
                      </a:r>
                      <a:r>
                        <a:rPr lang="en-US" sz="1800" b="1" dirty="0" err="1"/>
                        <a:t>nanoSeconds</a:t>
                      </a:r>
                      <a:r>
                        <a:rPr lang="en-US" sz="1800" b="1" dirty="0"/>
                        <a:t>)</a:t>
                      </a:r>
                      <a:endParaRPr lang="en-US" sz="2000" b="1" dirty="0"/>
                    </a:p>
                  </a:txBody>
                  <a:tcPr/>
                </a:tc>
                <a:extLst>
                  <a:ext uri="{0D108BD9-81ED-4DB2-BD59-A6C34878D82A}">
                    <a16:rowId xmlns:a16="http://schemas.microsoft.com/office/drawing/2014/main" val="1387819939"/>
                  </a:ext>
                </a:extLst>
              </a:tr>
              <a:tr h="370840">
                <a:tc>
                  <a:txBody>
                    <a:bodyPr/>
                    <a:lstStyle/>
                    <a:p>
                      <a:r>
                        <a:rPr lang="en-IN" sz="2000" b="1" dirty="0"/>
                        <a:t>void suspend()</a:t>
                      </a:r>
                    </a:p>
                    <a:p>
                      <a:r>
                        <a:rPr lang="en-IN" sz="2000" b="1" dirty="0"/>
                        <a:t>void resume()</a:t>
                      </a:r>
                    </a:p>
                  </a:txBody>
                  <a:tcPr/>
                </a:tc>
                <a:extLst>
                  <a:ext uri="{0D108BD9-81ED-4DB2-BD59-A6C34878D82A}">
                    <a16:rowId xmlns:a16="http://schemas.microsoft.com/office/drawing/2014/main" val="1914759485"/>
                  </a:ext>
                </a:extLst>
              </a:tr>
              <a:tr h="370840">
                <a:tc>
                  <a:txBody>
                    <a:bodyPr/>
                    <a:lstStyle/>
                    <a:p>
                      <a:r>
                        <a:rPr lang="en-US" sz="2000" b="1" dirty="0"/>
                        <a:t>void join()</a:t>
                      </a:r>
                    </a:p>
                    <a:p>
                      <a:r>
                        <a:rPr lang="en-US" sz="2000" b="1" dirty="0"/>
                        <a:t>void join(long </a:t>
                      </a:r>
                      <a:r>
                        <a:rPr lang="en-US" sz="2000" b="1" dirty="0" err="1"/>
                        <a:t>milliSeconds</a:t>
                      </a:r>
                      <a:r>
                        <a:rPr lang="en-US" sz="2000" b="1" dirty="0"/>
                        <a:t>)</a:t>
                      </a:r>
                    </a:p>
                    <a:p>
                      <a:r>
                        <a:rPr lang="en-US" sz="2000" b="1" dirty="0"/>
                        <a:t>void join(long </a:t>
                      </a:r>
                      <a:r>
                        <a:rPr lang="en-US" sz="2000" b="1" dirty="0" err="1"/>
                        <a:t>milliSeconds</a:t>
                      </a:r>
                      <a:r>
                        <a:rPr lang="en-US" sz="2000" b="1" dirty="0"/>
                        <a:t>, int </a:t>
                      </a:r>
                      <a:r>
                        <a:rPr lang="en-US" sz="2000" b="1" dirty="0" err="1"/>
                        <a:t>nanoSeconds</a:t>
                      </a:r>
                      <a:r>
                        <a:rPr lang="en-US" sz="2000" b="1" dirty="0"/>
                        <a:t>)</a:t>
                      </a:r>
                    </a:p>
                  </a:txBody>
                  <a:tcPr/>
                </a:tc>
                <a:extLst>
                  <a:ext uri="{0D108BD9-81ED-4DB2-BD59-A6C34878D82A}">
                    <a16:rowId xmlns:a16="http://schemas.microsoft.com/office/drawing/2014/main" val="934511167"/>
                  </a:ext>
                </a:extLst>
              </a:tr>
              <a:tr h="370840">
                <a:tc>
                  <a:txBody>
                    <a:bodyPr/>
                    <a:lstStyle/>
                    <a:p>
                      <a:pPr algn="just"/>
                      <a:r>
                        <a:rPr lang="en-US" sz="2000" b="1" dirty="0"/>
                        <a:t>static void yield()</a:t>
                      </a:r>
                      <a:r>
                        <a:rPr lang="en-US" sz="2000" b="0" dirty="0"/>
                        <a:t> make room for someone, stop fighting with other thread, relinquish</a:t>
                      </a:r>
                      <a:endParaRPr lang="en-IN" sz="2000" b="0" dirty="0"/>
                    </a:p>
                  </a:txBody>
                  <a:tcPr/>
                </a:tc>
                <a:extLst>
                  <a:ext uri="{0D108BD9-81ED-4DB2-BD59-A6C34878D82A}">
                    <a16:rowId xmlns:a16="http://schemas.microsoft.com/office/drawing/2014/main" val="910471827"/>
                  </a:ext>
                </a:extLst>
              </a:tr>
              <a:tr h="370840">
                <a:tc>
                  <a:txBody>
                    <a:bodyPr/>
                    <a:lstStyle/>
                    <a:p>
                      <a:endParaRPr lang="en-IN" sz="2000" dirty="0"/>
                    </a:p>
                  </a:txBody>
                  <a:tcPr/>
                </a:tc>
                <a:extLst>
                  <a:ext uri="{0D108BD9-81ED-4DB2-BD59-A6C34878D82A}">
                    <a16:rowId xmlns:a16="http://schemas.microsoft.com/office/drawing/2014/main" val="3685245578"/>
                  </a:ext>
                </a:extLst>
              </a:tr>
            </a:tbl>
          </a:graphicData>
        </a:graphic>
      </p:graphicFrame>
      <p:graphicFrame>
        <p:nvGraphicFramePr>
          <p:cNvPr id="3" name="Table 2">
            <a:extLst>
              <a:ext uri="{FF2B5EF4-FFF2-40B4-BE49-F238E27FC236}">
                <a16:creationId xmlns:a16="http://schemas.microsoft.com/office/drawing/2014/main" id="{ADD11D2D-95B2-56D8-6031-196812456C9D}"/>
              </a:ext>
            </a:extLst>
          </p:cNvPr>
          <p:cNvGraphicFramePr>
            <a:graphicFrameLocks noGrp="1"/>
          </p:cNvGraphicFramePr>
          <p:nvPr>
            <p:extLst>
              <p:ext uri="{D42A27DB-BD31-4B8C-83A1-F6EECF244321}">
                <p14:modId xmlns:p14="http://schemas.microsoft.com/office/powerpoint/2010/main" val="3757161710"/>
              </p:ext>
            </p:extLst>
          </p:nvPr>
        </p:nvGraphicFramePr>
        <p:xfrm>
          <a:off x="6041711" y="865856"/>
          <a:ext cx="5495392" cy="2926080"/>
        </p:xfrm>
        <a:graphic>
          <a:graphicData uri="http://schemas.openxmlformats.org/drawingml/2006/table">
            <a:tbl>
              <a:tblPr firstRow="1" bandRow="1">
                <a:tableStyleId>{5C22544A-7EE6-4342-B048-85BDC9FD1C3A}</a:tableStyleId>
              </a:tblPr>
              <a:tblGrid>
                <a:gridCol w="5495392">
                  <a:extLst>
                    <a:ext uri="{9D8B030D-6E8A-4147-A177-3AD203B41FA5}">
                      <a16:colId xmlns:a16="http://schemas.microsoft.com/office/drawing/2014/main" val="2489943413"/>
                    </a:ext>
                  </a:extLst>
                </a:gridCol>
              </a:tblGrid>
              <a:tr h="370840">
                <a:tc>
                  <a:txBody>
                    <a:bodyPr/>
                    <a:lstStyle/>
                    <a:p>
                      <a:r>
                        <a:rPr lang="en-IN" sz="1800" b="1" dirty="0"/>
                        <a:t>Note: Though following methods are used in the context of threads, the methods are given in </a:t>
                      </a:r>
                      <a:r>
                        <a:rPr lang="en-IN" sz="1800" b="1" dirty="0" err="1"/>
                        <a:t>java.lang.Object</a:t>
                      </a:r>
                      <a:r>
                        <a:rPr lang="en-IN" sz="1800" b="1" dirty="0"/>
                        <a:t> super class. Because these methods must be called on synchronized methods that are called from Threads (Thread class run())</a:t>
                      </a:r>
                    </a:p>
                  </a:txBody>
                  <a:tcPr/>
                </a:tc>
                <a:extLst>
                  <a:ext uri="{0D108BD9-81ED-4DB2-BD59-A6C34878D82A}">
                    <a16:rowId xmlns:a16="http://schemas.microsoft.com/office/drawing/2014/main" val="557851031"/>
                  </a:ext>
                </a:extLst>
              </a:tr>
              <a:tr h="370840">
                <a:tc>
                  <a:txBody>
                    <a:bodyPr/>
                    <a:lstStyle/>
                    <a:p>
                      <a:r>
                        <a:rPr lang="en-US" sz="1800" b="1" dirty="0"/>
                        <a:t>void wait()</a:t>
                      </a:r>
                    </a:p>
                    <a:p>
                      <a:r>
                        <a:rPr lang="en-US" sz="1800" b="1" dirty="0"/>
                        <a:t>void wait(long </a:t>
                      </a:r>
                      <a:r>
                        <a:rPr lang="en-US" sz="1800" b="1" dirty="0" err="1"/>
                        <a:t>milliSeconds</a:t>
                      </a:r>
                      <a:r>
                        <a:rPr lang="en-US" sz="1800" b="1" dirty="0"/>
                        <a:t>)</a:t>
                      </a:r>
                    </a:p>
                    <a:p>
                      <a:r>
                        <a:rPr lang="en-US" sz="1800" b="1" dirty="0"/>
                        <a:t>void wait(long </a:t>
                      </a:r>
                      <a:r>
                        <a:rPr lang="en-US" sz="1800" b="1" dirty="0" err="1"/>
                        <a:t>milliSeconds</a:t>
                      </a:r>
                      <a:r>
                        <a:rPr lang="en-US" sz="1800" b="1" dirty="0"/>
                        <a:t>, int </a:t>
                      </a:r>
                      <a:r>
                        <a:rPr lang="en-US" sz="1800" b="1" dirty="0" err="1"/>
                        <a:t>nanoSeconds</a:t>
                      </a:r>
                      <a:r>
                        <a:rPr lang="en-US" sz="1800" b="1" dirty="0"/>
                        <a:t>)</a:t>
                      </a:r>
                    </a:p>
                    <a:p>
                      <a:r>
                        <a:rPr lang="en-US" sz="1800" b="1" dirty="0"/>
                        <a:t>void notify()</a:t>
                      </a:r>
                    </a:p>
                    <a:p>
                      <a:r>
                        <a:rPr lang="en-US" sz="1800" b="1" dirty="0"/>
                        <a:t>void </a:t>
                      </a:r>
                      <a:r>
                        <a:rPr lang="en-US" sz="1800" b="1" dirty="0" err="1"/>
                        <a:t>notifyAll</a:t>
                      </a:r>
                      <a:r>
                        <a:rPr lang="en-US" sz="1800" b="1" dirty="0"/>
                        <a:t>()</a:t>
                      </a:r>
                    </a:p>
                  </a:txBody>
                  <a:tcPr/>
                </a:tc>
                <a:extLst>
                  <a:ext uri="{0D108BD9-81ED-4DB2-BD59-A6C34878D82A}">
                    <a16:rowId xmlns:a16="http://schemas.microsoft.com/office/drawing/2014/main" val="2477853978"/>
                  </a:ext>
                </a:extLst>
              </a:tr>
            </a:tbl>
          </a:graphicData>
        </a:graphic>
      </p:graphicFrame>
      <p:sp>
        <p:nvSpPr>
          <p:cNvPr id="5" name="Footer Placeholder 4">
            <a:extLst>
              <a:ext uri="{FF2B5EF4-FFF2-40B4-BE49-F238E27FC236}">
                <a16:creationId xmlns:a16="http://schemas.microsoft.com/office/drawing/2014/main" id="{48A15051-6F4C-44B9-EE8C-8A601A34589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132116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TextBox 4">
            <a:extLst>
              <a:ext uri="{FF2B5EF4-FFF2-40B4-BE49-F238E27FC236}">
                <a16:creationId xmlns:a16="http://schemas.microsoft.com/office/drawing/2014/main" id="{67BBBC7A-DFF2-FC84-2A3A-51438A1B99BC}"/>
              </a:ext>
            </a:extLst>
          </p:cNvPr>
          <p:cNvSpPr txBox="1"/>
          <p:nvPr/>
        </p:nvSpPr>
        <p:spPr>
          <a:xfrm>
            <a:off x="534521" y="792347"/>
            <a:ext cx="6125134" cy="646331"/>
          </a:xfrm>
          <a:prstGeom prst="rect">
            <a:avLst/>
          </a:prstGeom>
          <a:noFill/>
        </p:spPr>
        <p:txBody>
          <a:bodyPr wrap="square">
            <a:spAutoFit/>
          </a:bodyPr>
          <a:lstStyle/>
          <a:p>
            <a:r>
              <a:rPr lang="en-US" b="1" dirty="0"/>
              <a:t>static void sleep(long </a:t>
            </a:r>
            <a:r>
              <a:rPr lang="en-US" b="1" dirty="0" err="1"/>
              <a:t>milliSeconds</a:t>
            </a:r>
            <a:r>
              <a:rPr lang="en-US" b="1" dirty="0"/>
              <a:t>)</a:t>
            </a:r>
          </a:p>
          <a:p>
            <a:r>
              <a:rPr lang="en-US" b="1" dirty="0"/>
              <a:t>static void sleep(long </a:t>
            </a:r>
            <a:r>
              <a:rPr lang="en-US" b="1" dirty="0" err="1"/>
              <a:t>milliSeconds</a:t>
            </a:r>
            <a:r>
              <a:rPr lang="en-US" b="1" dirty="0"/>
              <a:t>, int </a:t>
            </a:r>
            <a:r>
              <a:rPr lang="en-US" b="1" dirty="0" err="1"/>
              <a:t>nanoSeconds</a:t>
            </a:r>
            <a:r>
              <a:rPr lang="en-US" b="1" dirty="0"/>
              <a:t>)</a:t>
            </a:r>
          </a:p>
        </p:txBody>
      </p:sp>
      <p:sp>
        <p:nvSpPr>
          <p:cNvPr id="14" name="TextBox 13">
            <a:extLst>
              <a:ext uri="{FF2B5EF4-FFF2-40B4-BE49-F238E27FC236}">
                <a16:creationId xmlns:a16="http://schemas.microsoft.com/office/drawing/2014/main" id="{2333BF6C-EEED-EB82-51A0-944D401A4960}"/>
              </a:ext>
            </a:extLst>
          </p:cNvPr>
          <p:cNvSpPr txBox="1"/>
          <p:nvPr/>
        </p:nvSpPr>
        <p:spPr>
          <a:xfrm>
            <a:off x="534521" y="1457565"/>
            <a:ext cx="6125134" cy="4770537"/>
          </a:xfrm>
          <a:prstGeom prst="rect">
            <a:avLst/>
          </a:prstGeom>
          <a:noFill/>
        </p:spPr>
        <p:txBody>
          <a:bodyPr wrap="square">
            <a:spAutoFit/>
          </a:bodyPr>
          <a:lstStyle/>
          <a:p>
            <a:pPr algn="just"/>
            <a:r>
              <a:rPr lang="en-IN" sz="1600" dirty="0"/>
              <a:t>sleep() method is a static method hence this method can be called anywhere including threading calling or in normal methods. But wherever </a:t>
            </a:r>
            <a:r>
              <a:rPr lang="en-IN" sz="1600" dirty="0" err="1"/>
              <a:t>Thread.sleep</a:t>
            </a:r>
            <a:r>
              <a:rPr lang="en-IN" sz="1600" dirty="0"/>
              <a:t>(long </a:t>
            </a:r>
            <a:r>
              <a:rPr lang="en-IN" sz="1600" dirty="0" err="1"/>
              <a:t>milliSeconds</a:t>
            </a:r>
            <a:r>
              <a:rPr lang="en-IN" sz="1600" dirty="0"/>
              <a:t>) method is called the method will interrupt its execution for a specified amount of time interval. Once the elapses the method execution continues.</a:t>
            </a:r>
          </a:p>
          <a:p>
            <a:r>
              <a:rPr lang="en-IN" sz="1600" dirty="0"/>
              <a:t>	</a:t>
            </a:r>
          </a:p>
          <a:p>
            <a:r>
              <a:rPr lang="en-IN" sz="1600" dirty="0"/>
              <a:t>	</a:t>
            </a:r>
            <a:r>
              <a:rPr lang="en-IN" sz="1600" b="1" dirty="0"/>
              <a:t>we can call in </a:t>
            </a:r>
          </a:p>
          <a:p>
            <a:r>
              <a:rPr lang="en-IN" sz="1600" dirty="0"/>
              <a:t>	public void generate() {</a:t>
            </a:r>
          </a:p>
          <a:p>
            <a:r>
              <a:rPr lang="en-IN" sz="1600" dirty="0"/>
              <a:t>		</a:t>
            </a:r>
            <a:r>
              <a:rPr lang="en-IN" sz="1600" dirty="0" err="1"/>
              <a:t>System.out.println</a:t>
            </a:r>
            <a:r>
              <a:rPr lang="en-IN" sz="1600" dirty="0"/>
              <a:t>("generate() method called");</a:t>
            </a:r>
          </a:p>
          <a:p>
            <a:r>
              <a:rPr lang="en-IN" sz="1600" dirty="0"/>
              <a:t>		try { </a:t>
            </a:r>
          </a:p>
          <a:p>
            <a:r>
              <a:rPr lang="en-IN" sz="1600" dirty="0"/>
              <a:t>			</a:t>
            </a:r>
            <a:r>
              <a:rPr lang="en-IN" sz="1600" dirty="0" err="1"/>
              <a:t>Thread.sleep</a:t>
            </a:r>
            <a:r>
              <a:rPr lang="en-IN" sz="1600" dirty="0"/>
              <a:t>(100);</a:t>
            </a:r>
          </a:p>
          <a:p>
            <a:r>
              <a:rPr lang="en-IN" sz="1600" dirty="0"/>
              <a:t>		} catch(</a:t>
            </a:r>
            <a:r>
              <a:rPr lang="en-IN" sz="1600" dirty="0" err="1"/>
              <a:t>InterruptedException</a:t>
            </a:r>
            <a:r>
              <a:rPr lang="en-IN" sz="1600" dirty="0"/>
              <a:t> </a:t>
            </a:r>
            <a:r>
              <a:rPr lang="en-IN" sz="1600" dirty="0" err="1"/>
              <a:t>ie</a:t>
            </a:r>
            <a:r>
              <a:rPr lang="en-IN" sz="1600" dirty="0"/>
              <a:t>) {}	</a:t>
            </a:r>
          </a:p>
          <a:p>
            <a:r>
              <a:rPr lang="en-IN" sz="1600" dirty="0"/>
              <a:t>	}</a:t>
            </a:r>
          </a:p>
          <a:p>
            <a:r>
              <a:rPr lang="en-IN" sz="1600" dirty="0"/>
              <a:t>	</a:t>
            </a:r>
          </a:p>
          <a:p>
            <a:pPr algn="just"/>
            <a:r>
              <a:rPr lang="en-IN" sz="1600" dirty="0"/>
              <a:t>	Note one very important note is wherever the </a:t>
            </a:r>
            <a:r>
              <a:rPr lang="en-IN" sz="1600" dirty="0" err="1"/>
              <a:t>Thread.sleep</a:t>
            </a:r>
            <a:r>
              <a:rPr lang="en-IN" sz="1600" dirty="0"/>
              <a:t>() method is called, that calling statement must be enclosed in try/ catch block with </a:t>
            </a:r>
            <a:r>
              <a:rPr lang="en-IN" sz="1600" dirty="0" err="1"/>
              <a:t>InterruptedException</a:t>
            </a:r>
            <a:r>
              <a:rPr lang="en-IN" sz="1600" dirty="0"/>
              <a:t>, because after the time elapse the sleep() method doesn’t resume then </a:t>
            </a:r>
            <a:r>
              <a:rPr lang="en-IN" sz="1600" dirty="0" err="1"/>
              <a:t>InterruptedException</a:t>
            </a:r>
            <a:r>
              <a:rPr lang="en-IN" sz="1600" dirty="0"/>
              <a:t> will be thrown.</a:t>
            </a:r>
          </a:p>
        </p:txBody>
      </p:sp>
      <p:sp>
        <p:nvSpPr>
          <p:cNvPr id="16" name="TextBox 15">
            <a:extLst>
              <a:ext uri="{FF2B5EF4-FFF2-40B4-BE49-F238E27FC236}">
                <a16:creationId xmlns:a16="http://schemas.microsoft.com/office/drawing/2014/main" id="{3B09DB0D-C97B-253A-FAF2-8D5B9062C7A8}"/>
              </a:ext>
            </a:extLst>
          </p:cNvPr>
          <p:cNvSpPr txBox="1"/>
          <p:nvPr/>
        </p:nvSpPr>
        <p:spPr>
          <a:xfrm>
            <a:off x="7499667" y="985514"/>
            <a:ext cx="3943779" cy="2585323"/>
          </a:xfrm>
          <a:prstGeom prst="rect">
            <a:avLst/>
          </a:prstGeom>
          <a:noFill/>
        </p:spPr>
        <p:txBody>
          <a:bodyPr wrap="square">
            <a:spAutoFit/>
          </a:bodyPr>
          <a:lstStyle/>
          <a:p>
            <a:r>
              <a:rPr lang="en-IN" b="1" dirty="0"/>
              <a:t>we can call in</a:t>
            </a:r>
          </a:p>
          <a:p>
            <a:r>
              <a:rPr lang="en-IN" dirty="0"/>
              <a:t>public void run() {</a:t>
            </a:r>
          </a:p>
          <a:p>
            <a:r>
              <a:rPr lang="en-IN" dirty="0"/>
              <a:t>    for(int </a:t>
            </a:r>
            <a:r>
              <a:rPr lang="en-IN" dirty="0" err="1"/>
              <a:t>i</a:t>
            </a:r>
            <a:r>
              <a:rPr lang="en-IN" dirty="0"/>
              <a:t>=0;i&lt;10;i++) {</a:t>
            </a:r>
          </a:p>
          <a:p>
            <a:r>
              <a:rPr lang="en-IN" dirty="0"/>
              <a:t>        </a:t>
            </a:r>
            <a:r>
              <a:rPr lang="en-IN" dirty="0" err="1"/>
              <a:t>ng.generate</a:t>
            </a:r>
            <a:r>
              <a:rPr lang="en-IN" dirty="0"/>
              <a:t>();</a:t>
            </a:r>
          </a:p>
          <a:p>
            <a:r>
              <a:rPr lang="en-IN" dirty="0"/>
              <a:t>        try { </a:t>
            </a:r>
          </a:p>
          <a:p>
            <a:r>
              <a:rPr lang="en-IN" dirty="0"/>
              <a:t>            </a:t>
            </a:r>
            <a:r>
              <a:rPr lang="en-IN" dirty="0" err="1"/>
              <a:t>Thread.sleep</a:t>
            </a:r>
            <a:r>
              <a:rPr lang="en-IN" dirty="0"/>
              <a:t>(100);</a:t>
            </a:r>
          </a:p>
          <a:p>
            <a:r>
              <a:rPr lang="en-IN" dirty="0"/>
              <a:t>        } catch(</a:t>
            </a:r>
            <a:r>
              <a:rPr lang="en-IN" dirty="0" err="1"/>
              <a:t>InterruptedException</a:t>
            </a:r>
            <a:r>
              <a:rPr lang="en-IN" dirty="0"/>
              <a:t> </a:t>
            </a:r>
            <a:r>
              <a:rPr lang="en-IN" dirty="0" err="1"/>
              <a:t>ie</a:t>
            </a:r>
            <a:r>
              <a:rPr lang="en-IN" dirty="0"/>
              <a:t>) {}	 </a:t>
            </a:r>
          </a:p>
          <a:p>
            <a:r>
              <a:rPr lang="en-IN" dirty="0"/>
              <a:t>    }</a:t>
            </a:r>
          </a:p>
          <a:p>
            <a:r>
              <a:rPr lang="en-IN" dirty="0"/>
              <a:t>}</a:t>
            </a:r>
          </a:p>
        </p:txBody>
      </p:sp>
      <p:sp>
        <p:nvSpPr>
          <p:cNvPr id="3" name="Footer Placeholder 2">
            <a:extLst>
              <a:ext uri="{FF2B5EF4-FFF2-40B4-BE49-F238E27FC236}">
                <a16:creationId xmlns:a16="http://schemas.microsoft.com/office/drawing/2014/main" id="{CE180CFC-0239-6217-42DD-20DFA79B15A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708550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graphicFrame>
        <p:nvGraphicFramePr>
          <p:cNvPr id="12" name="Table 11">
            <a:extLst>
              <a:ext uri="{FF2B5EF4-FFF2-40B4-BE49-F238E27FC236}">
                <a16:creationId xmlns:a16="http://schemas.microsoft.com/office/drawing/2014/main" id="{33A12971-BF3D-D985-539B-386C7D2F1C65}"/>
              </a:ext>
            </a:extLst>
          </p:cNvPr>
          <p:cNvGraphicFramePr>
            <a:graphicFrameLocks noGrp="1"/>
          </p:cNvGraphicFramePr>
          <p:nvPr>
            <p:extLst>
              <p:ext uri="{D42A27DB-BD31-4B8C-83A1-F6EECF244321}">
                <p14:modId xmlns:p14="http://schemas.microsoft.com/office/powerpoint/2010/main" val="987849087"/>
              </p:ext>
            </p:extLst>
          </p:nvPr>
        </p:nvGraphicFramePr>
        <p:xfrm>
          <a:off x="434762" y="760140"/>
          <a:ext cx="8720223" cy="3754120"/>
        </p:xfrm>
        <a:graphic>
          <a:graphicData uri="http://schemas.openxmlformats.org/drawingml/2006/table">
            <a:tbl>
              <a:tblPr firstRow="1" bandRow="1">
                <a:tableStyleId>{5C22544A-7EE6-4342-B048-85BDC9FD1C3A}</a:tableStyleId>
              </a:tblPr>
              <a:tblGrid>
                <a:gridCol w="8720223">
                  <a:extLst>
                    <a:ext uri="{9D8B030D-6E8A-4147-A177-3AD203B41FA5}">
                      <a16:colId xmlns:a16="http://schemas.microsoft.com/office/drawing/2014/main" val="2489943413"/>
                    </a:ext>
                  </a:extLst>
                </a:gridCol>
              </a:tblGrid>
              <a:tr h="370840">
                <a:tc>
                  <a:txBody>
                    <a:bodyPr/>
                    <a:lstStyle/>
                    <a:p>
                      <a:pPr algn="just"/>
                      <a:r>
                        <a:rPr lang="en-IN" sz="1800" dirty="0"/>
                        <a:t>yield()</a:t>
                      </a:r>
                    </a:p>
                  </a:txBody>
                  <a:tcPr/>
                </a:tc>
                <a:extLst>
                  <a:ext uri="{0D108BD9-81ED-4DB2-BD59-A6C34878D82A}">
                    <a16:rowId xmlns:a16="http://schemas.microsoft.com/office/drawing/2014/main" val="557851031"/>
                  </a:ext>
                </a:extLst>
              </a:tr>
              <a:tr h="2225040">
                <a:tc>
                  <a:txBody>
                    <a:bodyPr/>
                    <a:lstStyle/>
                    <a:p>
                      <a:pPr algn="just"/>
                      <a:r>
                        <a:rPr lang="en-IN" sz="1800" b="1" dirty="0"/>
                        <a:t>A yield() method stops currently executing thread and will give a chance to other waiting threads of the same priority. If in case there are no waiting threads or if all the waiting threads have low priority then the thread will continue its execution.</a:t>
                      </a:r>
                    </a:p>
                    <a:p>
                      <a:pPr algn="just"/>
                      <a:endParaRPr lang="en-IN" sz="1800" b="1" dirty="0"/>
                    </a:p>
                    <a:p>
                      <a:pPr algn="just"/>
                      <a:r>
                        <a:rPr lang="en-IN" sz="1800" b="1" dirty="0"/>
                        <a:t>Because we implement multiple threads to run methods simultaneously if any method (its corresponding thread) wants to go away from remaining methods execution because the current thread execution may not be as important as other threads and secondly our thread wants to go out of race with other threads because our method execution delays a lot in between its execution. </a:t>
                      </a:r>
                    </a:p>
                    <a:p>
                      <a:pPr algn="just"/>
                      <a:endParaRPr lang="en-IN" sz="1800" b="1" dirty="0"/>
                    </a:p>
                    <a:p>
                      <a:pPr algn="just"/>
                      <a:r>
                        <a:rPr lang="en-IN" sz="1800" b="1" dirty="0"/>
                        <a:t>On such method if we call yield() the method goes to end of thread scheduler and when no methods are running then the yielded method executes.</a:t>
                      </a:r>
                      <a:endParaRPr lang="en-IN" sz="1800" b="0" dirty="0"/>
                    </a:p>
                  </a:txBody>
                  <a:tcPr/>
                </a:tc>
                <a:extLst>
                  <a:ext uri="{0D108BD9-81ED-4DB2-BD59-A6C34878D82A}">
                    <a16:rowId xmlns:a16="http://schemas.microsoft.com/office/drawing/2014/main" val="2477853978"/>
                  </a:ext>
                </a:extLst>
              </a:tr>
            </a:tbl>
          </a:graphicData>
        </a:graphic>
      </p:graphicFrame>
      <p:sp>
        <p:nvSpPr>
          <p:cNvPr id="3" name="Oval 2">
            <a:extLst>
              <a:ext uri="{FF2B5EF4-FFF2-40B4-BE49-F238E27FC236}">
                <a16:creationId xmlns:a16="http://schemas.microsoft.com/office/drawing/2014/main" id="{211A05B2-4463-BE1B-6FEA-01A8C69C3D4D}"/>
              </a:ext>
            </a:extLst>
          </p:cNvPr>
          <p:cNvSpPr/>
          <p:nvPr/>
        </p:nvSpPr>
        <p:spPr>
          <a:xfrm>
            <a:off x="862323" y="5629188"/>
            <a:ext cx="1520154" cy="688918"/>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IN" b="1" dirty="0"/>
              <a:t>t1</a:t>
            </a:r>
          </a:p>
        </p:txBody>
      </p:sp>
      <p:sp>
        <p:nvSpPr>
          <p:cNvPr id="5" name="Oval 4">
            <a:extLst>
              <a:ext uri="{FF2B5EF4-FFF2-40B4-BE49-F238E27FC236}">
                <a16:creationId xmlns:a16="http://schemas.microsoft.com/office/drawing/2014/main" id="{FA61C228-E599-E548-3658-9E31659668AC}"/>
              </a:ext>
            </a:extLst>
          </p:cNvPr>
          <p:cNvSpPr/>
          <p:nvPr/>
        </p:nvSpPr>
        <p:spPr>
          <a:xfrm>
            <a:off x="2938538" y="5645567"/>
            <a:ext cx="1520154" cy="68891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b="1" dirty="0"/>
              <a:t>t2</a:t>
            </a:r>
          </a:p>
        </p:txBody>
      </p:sp>
      <p:sp>
        <p:nvSpPr>
          <p:cNvPr id="13" name="Oval 12">
            <a:extLst>
              <a:ext uri="{FF2B5EF4-FFF2-40B4-BE49-F238E27FC236}">
                <a16:creationId xmlns:a16="http://schemas.microsoft.com/office/drawing/2014/main" id="{3C9B5835-B4D1-8A37-3377-5813AE3F8C2A}"/>
              </a:ext>
            </a:extLst>
          </p:cNvPr>
          <p:cNvSpPr/>
          <p:nvPr/>
        </p:nvSpPr>
        <p:spPr>
          <a:xfrm>
            <a:off x="4948273" y="5633784"/>
            <a:ext cx="1520154" cy="688918"/>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b="1" dirty="0"/>
              <a:t>t3</a:t>
            </a:r>
          </a:p>
        </p:txBody>
      </p:sp>
      <p:sp>
        <p:nvSpPr>
          <p:cNvPr id="14" name="Oval 13">
            <a:extLst>
              <a:ext uri="{FF2B5EF4-FFF2-40B4-BE49-F238E27FC236}">
                <a16:creationId xmlns:a16="http://schemas.microsoft.com/office/drawing/2014/main" id="{6E24E479-BA32-BFF3-61B9-2CE5C30D8CC1}"/>
              </a:ext>
            </a:extLst>
          </p:cNvPr>
          <p:cNvSpPr/>
          <p:nvPr/>
        </p:nvSpPr>
        <p:spPr>
          <a:xfrm>
            <a:off x="6970462" y="5677537"/>
            <a:ext cx="1520154" cy="688918"/>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b="1" dirty="0"/>
              <a:t>t1</a:t>
            </a:r>
          </a:p>
        </p:txBody>
      </p:sp>
      <p:sp>
        <p:nvSpPr>
          <p:cNvPr id="15" name="Arrow: Curved Down 14">
            <a:extLst>
              <a:ext uri="{FF2B5EF4-FFF2-40B4-BE49-F238E27FC236}">
                <a16:creationId xmlns:a16="http://schemas.microsoft.com/office/drawing/2014/main" id="{CCA93407-C7D6-60E7-3CAA-3A253B94F40F}"/>
              </a:ext>
            </a:extLst>
          </p:cNvPr>
          <p:cNvSpPr/>
          <p:nvPr/>
        </p:nvSpPr>
        <p:spPr>
          <a:xfrm>
            <a:off x="1815352" y="4610359"/>
            <a:ext cx="6051177" cy="991936"/>
          </a:xfrm>
          <a:prstGeom prst="curved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solidFill>
                <a:schemeClr val="tx1"/>
              </a:solidFill>
            </a:endParaRPr>
          </a:p>
        </p:txBody>
      </p:sp>
      <p:sp>
        <p:nvSpPr>
          <p:cNvPr id="16" name="Arrow: Left 15">
            <a:extLst>
              <a:ext uri="{FF2B5EF4-FFF2-40B4-BE49-F238E27FC236}">
                <a16:creationId xmlns:a16="http://schemas.microsoft.com/office/drawing/2014/main" id="{CE9855A4-BDD7-1783-39A0-E7E3F266161F}"/>
              </a:ext>
            </a:extLst>
          </p:cNvPr>
          <p:cNvSpPr/>
          <p:nvPr/>
        </p:nvSpPr>
        <p:spPr>
          <a:xfrm>
            <a:off x="6548718" y="5809129"/>
            <a:ext cx="355502" cy="431970"/>
          </a:xfrm>
          <a:prstGeom prst="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17" name="Arrow: Left 16">
            <a:extLst>
              <a:ext uri="{FF2B5EF4-FFF2-40B4-BE49-F238E27FC236}">
                <a16:creationId xmlns:a16="http://schemas.microsoft.com/office/drawing/2014/main" id="{3A2BAE90-FDAD-B736-1532-FB05E27FA228}"/>
              </a:ext>
            </a:extLst>
          </p:cNvPr>
          <p:cNvSpPr/>
          <p:nvPr/>
        </p:nvSpPr>
        <p:spPr>
          <a:xfrm>
            <a:off x="4495804" y="5759823"/>
            <a:ext cx="355502" cy="431970"/>
          </a:xfrm>
          <a:prstGeom prst="lef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a:p>
        </p:txBody>
      </p:sp>
      <p:sp>
        <p:nvSpPr>
          <p:cNvPr id="18" name="Arrow: Left 17">
            <a:extLst>
              <a:ext uri="{FF2B5EF4-FFF2-40B4-BE49-F238E27FC236}">
                <a16:creationId xmlns:a16="http://schemas.microsoft.com/office/drawing/2014/main" id="{B3A9AE16-C9AF-87BA-1ABB-FE8C520AE7BD}"/>
              </a:ext>
            </a:extLst>
          </p:cNvPr>
          <p:cNvSpPr/>
          <p:nvPr/>
        </p:nvSpPr>
        <p:spPr>
          <a:xfrm>
            <a:off x="2438401" y="5759823"/>
            <a:ext cx="355502" cy="43197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7053BB90-2101-7D11-75C6-8FA6693435D0}"/>
              </a:ext>
            </a:extLst>
          </p:cNvPr>
          <p:cNvSpPr txBox="1"/>
          <p:nvPr/>
        </p:nvSpPr>
        <p:spPr>
          <a:xfrm>
            <a:off x="739588" y="5293013"/>
            <a:ext cx="1039195" cy="369332"/>
          </a:xfrm>
          <a:prstGeom prst="rect">
            <a:avLst/>
          </a:prstGeom>
          <a:noFill/>
        </p:spPr>
        <p:txBody>
          <a:bodyPr wrap="none" rtlCol="0">
            <a:spAutoFit/>
          </a:bodyPr>
          <a:lstStyle/>
          <a:p>
            <a:r>
              <a:rPr lang="en-IN" b="1" dirty="0"/>
              <a:t>t1.yield()</a:t>
            </a:r>
          </a:p>
        </p:txBody>
      </p:sp>
      <p:sp>
        <p:nvSpPr>
          <p:cNvPr id="20" name="Footer Placeholder 19">
            <a:extLst>
              <a:ext uri="{FF2B5EF4-FFF2-40B4-BE49-F238E27FC236}">
                <a16:creationId xmlns:a16="http://schemas.microsoft.com/office/drawing/2014/main" id="{04660980-B7FC-DA6B-4A80-D359A65169B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668500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effectLst>
                  <a:outerShdw blurRad="38100" dist="38100" dir="2700000" algn="tl">
                    <a:srgbClr val="000000">
                      <a:alpha val="43137"/>
                    </a:srgbClr>
                  </a:outerShdw>
                </a:effectLst>
                <a:latin typeface="Times New Roman" panose="02020603050405020304" pitchFamily="18" charset="0"/>
              </a:rPr>
              <a:t>Threads</a:t>
            </a:r>
            <a:endParaRPr lang="en-US" sz="2400" b="1" dirty="0">
              <a:ln>
                <a:solidFill>
                  <a:srgbClr val="002060"/>
                </a:solidFill>
              </a:ln>
              <a:solidFill>
                <a:srgbClr val="002060"/>
              </a:solidFill>
              <a:effectLst>
                <a:outerShdw blurRad="38100" dist="38100" dir="2700000" algn="tl">
                  <a:srgbClr val="000000">
                    <a:alpha val="43137"/>
                  </a:srgbClr>
                </a:outerShdw>
              </a:effectLst>
              <a:latin typeface="Times New Roman" panose="02020603050405020304" pitchFamily="18" charset="0"/>
            </a:endParaRPr>
          </a:p>
        </p:txBody>
      </p:sp>
      <p:grpSp>
        <p:nvGrpSpPr>
          <p:cNvPr id="11" name="Group 10">
            <a:extLst>
              <a:ext uri="{FF2B5EF4-FFF2-40B4-BE49-F238E27FC236}">
                <a16:creationId xmlns:a16="http://schemas.microsoft.com/office/drawing/2014/main"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id="{B961A074-E68F-49BA-A38E-4E9581D34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graphicFrame>
        <p:nvGraphicFramePr>
          <p:cNvPr id="12" name="Table 11">
            <a:extLst>
              <a:ext uri="{FF2B5EF4-FFF2-40B4-BE49-F238E27FC236}">
                <a16:creationId xmlns:a16="http://schemas.microsoft.com/office/drawing/2014/main" id="{33A12971-BF3D-D985-539B-386C7D2F1C65}"/>
              </a:ext>
            </a:extLst>
          </p:cNvPr>
          <p:cNvGraphicFramePr>
            <a:graphicFrameLocks noGrp="1"/>
          </p:cNvGraphicFramePr>
          <p:nvPr>
            <p:extLst>
              <p:ext uri="{D42A27DB-BD31-4B8C-83A1-F6EECF244321}">
                <p14:modId xmlns:p14="http://schemas.microsoft.com/office/powerpoint/2010/main" val="4229624738"/>
              </p:ext>
            </p:extLst>
          </p:nvPr>
        </p:nvGraphicFramePr>
        <p:xfrm>
          <a:off x="744042" y="800481"/>
          <a:ext cx="10148075" cy="1225820"/>
        </p:xfrm>
        <a:graphic>
          <a:graphicData uri="http://schemas.openxmlformats.org/drawingml/2006/table">
            <a:tbl>
              <a:tblPr firstRow="1" bandRow="1">
                <a:tableStyleId>{5C22544A-7EE6-4342-B048-85BDC9FD1C3A}</a:tableStyleId>
              </a:tblPr>
              <a:tblGrid>
                <a:gridCol w="10148075">
                  <a:extLst>
                    <a:ext uri="{9D8B030D-6E8A-4147-A177-3AD203B41FA5}">
                      <a16:colId xmlns:a16="http://schemas.microsoft.com/office/drawing/2014/main" val="2489943413"/>
                    </a:ext>
                  </a:extLst>
                </a:gridCol>
              </a:tblGrid>
              <a:tr h="273042">
                <a:tc>
                  <a:txBody>
                    <a:bodyPr/>
                    <a:lstStyle/>
                    <a:p>
                      <a:r>
                        <a:rPr lang="en-IN" sz="2000" dirty="0"/>
                        <a:t>join()</a:t>
                      </a:r>
                    </a:p>
                  </a:txBody>
                  <a:tcPr/>
                </a:tc>
                <a:extLst>
                  <a:ext uri="{0D108BD9-81ED-4DB2-BD59-A6C34878D82A}">
                    <a16:rowId xmlns:a16="http://schemas.microsoft.com/office/drawing/2014/main" val="557851031"/>
                  </a:ext>
                </a:extLst>
              </a:tr>
              <a:tr h="829580">
                <a:tc>
                  <a:txBody>
                    <a:bodyPr/>
                    <a:lstStyle/>
                    <a:p>
                      <a:pPr algn="just"/>
                      <a:r>
                        <a:rPr lang="en-IN" sz="2000" b="0" dirty="0"/>
                        <a:t>join() method call on one thread joins with other thread to instruct until the first thread execution is completed and dead, the others threads don’t want to start their execution.</a:t>
                      </a:r>
                    </a:p>
                  </a:txBody>
                  <a:tcPr/>
                </a:tc>
                <a:extLst>
                  <a:ext uri="{0D108BD9-81ED-4DB2-BD59-A6C34878D82A}">
                    <a16:rowId xmlns:a16="http://schemas.microsoft.com/office/drawing/2014/main" val="2477853978"/>
                  </a:ext>
                </a:extLst>
              </a:tr>
            </a:tbl>
          </a:graphicData>
        </a:graphic>
      </p:graphicFrame>
      <p:sp>
        <p:nvSpPr>
          <p:cNvPr id="3" name="Rectangle 1">
            <a:extLst>
              <a:ext uri="{FF2B5EF4-FFF2-40B4-BE49-F238E27FC236}">
                <a16:creationId xmlns:a16="http://schemas.microsoft.com/office/drawing/2014/main" id="{CD8EA2B3-B07E-B297-F2BD-952B9974F59B}"/>
              </a:ext>
            </a:extLst>
          </p:cNvPr>
          <p:cNvSpPr>
            <a:spLocks noChangeArrowheads="1"/>
          </p:cNvSpPr>
          <p:nvPr/>
        </p:nvSpPr>
        <p:spPr bwMode="auto">
          <a:xfrm>
            <a:off x="424072" y="2811272"/>
            <a:ext cx="4136709" cy="2868684"/>
          </a:xfrm>
          <a:prstGeom prst="rect">
            <a:avLst/>
          </a:prstGeom>
          <a:noFill/>
          <a:ln>
            <a:noFill/>
          </a:ln>
          <a:effec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8"/>
                </a:solidFill>
                <a:effectLst/>
                <a:latin typeface="Univers Light" panose="020B0403020202020204" pitchFamily="34" charset="0"/>
              </a:rPr>
              <a:t>public</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class</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JoinExample</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extends</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660066"/>
                </a:solidFill>
                <a:effectLst/>
                <a:latin typeface="Univers Light" panose="020B0403020202020204" pitchFamily="34" charset="0"/>
              </a:rPr>
              <a:t>Thread</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public</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void</a:t>
            </a:r>
            <a:r>
              <a:rPr kumimoji="0" lang="en-US" altLang="en-US" sz="1600" b="1" i="0" u="none" strike="noStrike" cap="none" normalizeH="0" baseline="0" dirty="0">
                <a:ln>
                  <a:noFill/>
                </a:ln>
                <a:solidFill>
                  <a:srgbClr val="000000"/>
                </a:solidFill>
                <a:effectLst/>
                <a:latin typeface="Univers Light" panose="020B0403020202020204" pitchFamily="34" charset="0"/>
              </a:rPr>
              <a:t> run</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8"/>
                </a:solidFill>
                <a:effectLst/>
                <a:latin typeface="Univers Light" panose="020B0403020202020204" pitchFamily="34" charset="0"/>
              </a:rPr>
              <a:t>       for</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88"/>
                </a:solidFill>
                <a:effectLst/>
                <a:latin typeface="Univers Light" panose="020B0403020202020204" pitchFamily="34" charset="0"/>
              </a:rPr>
              <a:t>int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000000"/>
                </a:solidFill>
                <a:effectLst/>
                <a:latin typeface="Univers Light" panose="020B0403020202020204" pitchFamily="34" charset="0"/>
              </a:rPr>
              <a:t>i</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6666"/>
                </a:solidFill>
                <a:effectLst/>
                <a:latin typeface="Univers Light" panose="020B0403020202020204" pitchFamily="34" charset="0"/>
              </a:rPr>
              <a:t>1</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000000"/>
                </a:solidFill>
                <a:effectLst/>
                <a:latin typeface="Univers Light" panose="020B0403020202020204" pitchFamily="34" charset="0"/>
              </a:rPr>
              <a:t>i</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&lt;=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6666"/>
                </a:solidFill>
                <a:effectLst/>
                <a:latin typeface="Univers Light" panose="020B0403020202020204" pitchFamily="34" charset="0"/>
              </a:rPr>
              <a:t>3</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000000"/>
                </a:solidFill>
                <a:effectLst/>
                <a:latin typeface="Univers Light" panose="020B0403020202020204" pitchFamily="34" charset="0"/>
              </a:rPr>
              <a:t>i</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8"/>
                </a:solidFill>
                <a:effectLst/>
                <a:latin typeface="Univers Light" panose="020B0403020202020204" pitchFamily="34" charset="0"/>
              </a:rPr>
              <a:t>           try </a:t>
            </a:r>
            <a:r>
              <a:rPr kumimoji="0" lang="en-US" altLang="en-US" sz="1600" b="1" i="0" u="none" strike="noStrike" cap="none" normalizeH="0" baseline="0" dirty="0">
                <a:ln>
                  <a:noFill/>
                </a:ln>
                <a:solidFill>
                  <a:srgbClr val="666600"/>
                </a:solidFill>
                <a:effectLst/>
                <a:latin typeface="Univers Light" panose="020B0403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solidFill>
                  <a:srgbClr val="000000"/>
                </a:solidFill>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Thread</a:t>
            </a:r>
            <a:r>
              <a:rPr kumimoji="0" lang="en-US" altLang="en-US" sz="1600" b="1" i="0" u="none" strike="noStrike" cap="none" normalizeH="0" baseline="0" dirty="0" err="1">
                <a:ln>
                  <a:noFill/>
                </a:ln>
                <a:solidFill>
                  <a:srgbClr val="666600"/>
                </a:solidFill>
                <a:effectLst/>
                <a:latin typeface="Univers Light" panose="020B0403020202020204" pitchFamily="34" charset="0"/>
              </a:rPr>
              <a:t>.</a:t>
            </a:r>
            <a:r>
              <a:rPr kumimoji="0" lang="en-US" altLang="en-US" sz="1600" b="1" i="0" u="none" strike="noStrike" cap="none" normalizeH="0" baseline="0" dirty="0" err="1">
                <a:ln>
                  <a:noFill/>
                </a:ln>
                <a:solidFill>
                  <a:srgbClr val="000000"/>
                </a:solidFill>
                <a:effectLst/>
                <a:latin typeface="Univers Light" panose="020B0403020202020204" pitchFamily="34" charset="0"/>
              </a:rPr>
              <a:t>sleep</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6666"/>
                </a:solidFill>
                <a:effectLst/>
                <a:latin typeface="Univers Light" panose="020B0403020202020204" pitchFamily="34" charset="0"/>
              </a:rPr>
              <a:t>1000</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solidFill>
                  <a:srgbClr val="666600"/>
                </a:solidFill>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catch</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660066"/>
                </a:solidFill>
                <a:effectLst/>
                <a:latin typeface="Univers Light" panose="020B0403020202020204" pitchFamily="34" charset="0"/>
              </a:rPr>
              <a:t>Exception</a:t>
            </a:r>
            <a:r>
              <a:rPr kumimoji="0" lang="en-US" altLang="en-US" sz="1600" b="1" i="0" u="none" strike="noStrike" cap="none" normalizeH="0" baseline="0" dirty="0">
                <a:ln>
                  <a:noFill/>
                </a:ln>
                <a:solidFill>
                  <a:srgbClr val="000000"/>
                </a:solidFill>
                <a:effectLst/>
                <a:latin typeface="Univers Light" panose="020B0403020202020204" pitchFamily="34" charset="0"/>
              </a:rPr>
              <a:t> e</a:t>
            </a:r>
            <a:r>
              <a:rPr kumimoji="0" lang="en-US" altLang="en-US" sz="1600" b="1" i="0" u="none" strike="noStrike" cap="none" normalizeH="0" baseline="0" dirty="0">
                <a:ln>
                  <a:noFill/>
                </a:ln>
                <a:solidFill>
                  <a:srgbClr val="6666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System</a:t>
            </a:r>
            <a:r>
              <a:rPr kumimoji="0" lang="en-US" altLang="en-US" sz="1600" b="1" i="0" u="none" strike="noStrike" cap="none" normalizeH="0" baseline="0" dirty="0" err="1">
                <a:ln>
                  <a:noFill/>
                </a:ln>
                <a:solidFill>
                  <a:srgbClr val="666600"/>
                </a:solidFill>
                <a:effectLst/>
                <a:latin typeface="Univers Light" panose="020B0403020202020204" pitchFamily="34" charset="0"/>
              </a:rPr>
              <a:t>.</a:t>
            </a:r>
            <a:r>
              <a:rPr kumimoji="0" lang="en-US" altLang="en-US" sz="1600" b="1" i="0" u="none" strike="noStrike" cap="none" normalizeH="0" baseline="0" dirty="0" err="1">
                <a:ln>
                  <a:noFill/>
                </a:ln>
                <a:solidFill>
                  <a:srgbClr val="000088"/>
                </a:solidFill>
                <a:effectLst/>
                <a:latin typeface="Univers Light" panose="020B0403020202020204" pitchFamily="34" charset="0"/>
              </a:rPr>
              <a:t>out</a:t>
            </a:r>
            <a:r>
              <a:rPr kumimoji="0" lang="en-US" altLang="en-US" sz="1600" b="1" i="0" u="none" strike="noStrike" cap="none" normalizeH="0" baseline="0" dirty="0" err="1">
                <a:ln>
                  <a:noFill/>
                </a:ln>
                <a:solidFill>
                  <a:srgbClr val="666600"/>
                </a:solidFill>
                <a:effectLst/>
                <a:latin typeface="Univers Light" panose="020B0403020202020204" pitchFamily="34" charset="0"/>
              </a:rPr>
              <a:t>.</a:t>
            </a:r>
            <a:r>
              <a:rPr kumimoji="0" lang="en-US" altLang="en-US" sz="1600" b="1" i="0" u="none" strike="noStrike" cap="none" normalizeH="0" baseline="0" dirty="0" err="1">
                <a:ln>
                  <a:noFill/>
                </a:ln>
                <a:solidFill>
                  <a:srgbClr val="000000"/>
                </a:solidFill>
                <a:effectLst/>
                <a:latin typeface="Univers Light" panose="020B0403020202020204" pitchFamily="34" charset="0"/>
              </a:rPr>
              <a:t>println</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e</a:t>
            </a:r>
            <a:r>
              <a:rPr kumimoji="0" lang="en-US" altLang="en-US" sz="1600" b="1" i="0" u="none" strike="noStrike" cap="none" normalizeH="0" baseline="0" dirty="0">
                <a:ln>
                  <a:noFill/>
                </a:ln>
                <a:solidFill>
                  <a:srgbClr val="666600"/>
                </a:solidFill>
                <a:effectLst/>
                <a:latin typeface="Univers Light" panose="020B0403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solidFill>
                  <a:srgbClr val="666600"/>
                </a:solidFill>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solidFill>
                  <a:srgbClr val="666600"/>
                </a:solidFill>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System</a:t>
            </a:r>
            <a:r>
              <a:rPr kumimoji="0" lang="en-US" altLang="en-US" sz="1600" b="1" i="0" u="none" strike="noStrike" cap="none" normalizeH="0" baseline="0" dirty="0" err="1">
                <a:ln>
                  <a:noFill/>
                </a:ln>
                <a:solidFill>
                  <a:srgbClr val="666600"/>
                </a:solidFill>
                <a:effectLst/>
                <a:latin typeface="Univers Light" panose="020B0403020202020204" pitchFamily="34" charset="0"/>
              </a:rPr>
              <a:t>.</a:t>
            </a:r>
            <a:r>
              <a:rPr kumimoji="0" lang="en-US" altLang="en-US" sz="1600" b="1" i="0" u="none" strike="noStrike" cap="none" normalizeH="0" baseline="0" dirty="0" err="1">
                <a:ln>
                  <a:noFill/>
                </a:ln>
                <a:solidFill>
                  <a:srgbClr val="000088"/>
                </a:solidFill>
                <a:effectLst/>
                <a:latin typeface="Univers Light" panose="020B0403020202020204" pitchFamily="34" charset="0"/>
              </a:rPr>
              <a:t>out</a:t>
            </a:r>
            <a:r>
              <a:rPr kumimoji="0" lang="en-US" altLang="en-US" sz="1600" b="1" i="0" u="none" strike="noStrike" cap="none" normalizeH="0" baseline="0" dirty="0" err="1">
                <a:ln>
                  <a:noFill/>
                </a:ln>
                <a:solidFill>
                  <a:srgbClr val="666600"/>
                </a:solidFill>
                <a:effectLst/>
                <a:latin typeface="Univers Light" panose="020B0403020202020204" pitchFamily="34" charset="0"/>
              </a:rPr>
              <a:t>.</a:t>
            </a:r>
            <a:r>
              <a:rPr kumimoji="0" lang="en-US" altLang="en-US" sz="1600" b="1" i="0" u="none" strike="noStrike" cap="none" normalizeH="0" baseline="0" dirty="0" err="1">
                <a:ln>
                  <a:noFill/>
                </a:ln>
                <a:solidFill>
                  <a:srgbClr val="000000"/>
                </a:solidFill>
                <a:effectLst/>
                <a:latin typeface="Univers Light" panose="020B0403020202020204" pitchFamily="34" charset="0"/>
              </a:rPr>
              <a:t>println</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8800"/>
                </a:solidFill>
                <a:effectLst/>
                <a:latin typeface="Univers Light" panose="020B0403020202020204" pitchFamily="34" charset="0"/>
              </a:rPr>
              <a:t>“Join example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000000"/>
                </a:solidFill>
                <a:effectLst/>
                <a:latin typeface="Univers Light" panose="020B0403020202020204" pitchFamily="34" charset="0"/>
              </a:rPr>
              <a:t>i</a:t>
            </a:r>
            <a:r>
              <a:rPr kumimoji="0" lang="en-US" altLang="en-US" sz="1600" b="1" i="0" u="none" strike="noStrike" cap="none" normalizeH="0" baseline="0" dirty="0">
                <a:ln>
                  <a:noFill/>
                </a:ln>
                <a:solidFill>
                  <a:srgbClr val="666600"/>
                </a:solidFill>
                <a:effectLst/>
                <a:latin typeface="Univers Light" panose="020B0403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solidFill>
                  <a:srgbClr val="666600"/>
                </a:solidFill>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  }</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666600"/>
                </a:solidFill>
                <a:effectLst/>
                <a:latin typeface="Univers Light" panose="020B0403020202020204" pitchFamily="34" charset="0"/>
              </a:rPr>
              <a:t>    }</a:t>
            </a:r>
            <a:endParaRPr kumimoji="0" lang="en-US" altLang="en-US" sz="1600" b="1" i="0" u="none" strike="noStrike" cap="none" normalizeH="0" baseline="0" dirty="0">
              <a:ln>
                <a:noFill/>
              </a:ln>
              <a:solidFill>
                <a:srgbClr val="000000"/>
              </a:solidFill>
              <a:effectLst/>
              <a:latin typeface="Univers Light" panose="020B0403020202020204" pitchFamily="34" charset="0"/>
            </a:endParaRPr>
          </a:p>
        </p:txBody>
      </p:sp>
      <p:sp>
        <p:nvSpPr>
          <p:cNvPr id="13" name="TextBox 12">
            <a:extLst>
              <a:ext uri="{FF2B5EF4-FFF2-40B4-BE49-F238E27FC236}">
                <a16:creationId xmlns:a16="http://schemas.microsoft.com/office/drawing/2014/main" id="{60D7855A-3E36-4B24-6357-351DC94120A0}"/>
              </a:ext>
            </a:extLst>
          </p:cNvPr>
          <p:cNvSpPr txBox="1"/>
          <p:nvPr/>
        </p:nvSpPr>
        <p:spPr>
          <a:xfrm>
            <a:off x="4453205" y="2454101"/>
            <a:ext cx="3714277" cy="35394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8"/>
                </a:solidFill>
                <a:effectLst/>
                <a:latin typeface="Univers Light" panose="020B0403020202020204" pitchFamily="34" charset="0"/>
              </a:rPr>
              <a:t> public</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static</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void</a:t>
            </a:r>
            <a:r>
              <a:rPr kumimoji="0" lang="en-US" altLang="en-US" sz="1600" b="1" i="0" u="none" strike="noStrike" cap="none" normalizeH="0" baseline="0" dirty="0">
                <a:ln>
                  <a:noFill/>
                </a:ln>
                <a:solidFill>
                  <a:srgbClr val="000000"/>
                </a:solidFill>
                <a:effectLst/>
                <a:latin typeface="Univers Light" panose="020B0403020202020204" pitchFamily="34" charset="0"/>
              </a:rPr>
              <a:t> main</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660066"/>
                </a:solidFill>
                <a:effectLst/>
                <a:latin typeface="Univers Light" panose="020B0403020202020204" pitchFamily="34" charset="0"/>
              </a:rPr>
              <a:t>String</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000000"/>
                </a:solidFill>
                <a:effectLst/>
                <a:latin typeface="Univers Light" panose="020B0403020202020204" pitchFamily="34" charset="0"/>
              </a:rPr>
              <a:t>args</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660066"/>
                </a:solidFill>
                <a:effectLst/>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JoinExample</a:t>
            </a:r>
            <a:r>
              <a:rPr kumimoji="0" lang="en-US" altLang="en-US" sz="1600" b="1" i="0" u="none" strike="noStrike" cap="none" normalizeH="0" baseline="0" dirty="0">
                <a:ln>
                  <a:noFill/>
                </a:ln>
                <a:solidFill>
                  <a:srgbClr val="000000"/>
                </a:solidFill>
                <a:effectLst/>
                <a:latin typeface="Univers Light" panose="020B0403020202020204" pitchFamily="34" charset="0"/>
              </a:rPr>
              <a:t> t1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new</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JoinExample</a:t>
            </a:r>
            <a:r>
              <a:rPr kumimoji="0" lang="en-US" altLang="en-US" sz="1600" b="1" i="0" u="none" strike="noStrike" cap="none" normalizeH="0" baseline="0" dirty="0">
                <a:ln>
                  <a:noFill/>
                </a:ln>
                <a:solidFill>
                  <a:srgbClr val="666600"/>
                </a:solidFill>
                <a:effectLst/>
                <a:latin typeface="Univers Light" panose="020B0403020202020204" pitchFamily="34" charset="0"/>
              </a:rPr>
              <a:t>();</a:t>
            </a:r>
            <a:endParaRPr lang="en-US" altLang="en-US" sz="1600" b="1" dirty="0">
              <a:solidFill>
                <a:srgbClr val="000000"/>
              </a:solidFill>
              <a:latin typeface="Univers Light" panose="020B04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solidFill>
                  <a:srgbClr val="000000"/>
                </a:solidFill>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JoinExample</a:t>
            </a:r>
            <a:r>
              <a:rPr kumimoji="0" lang="en-US" altLang="en-US" sz="1600" b="1" i="0" u="none" strike="noStrike" cap="none" normalizeH="0" baseline="0" dirty="0">
                <a:ln>
                  <a:noFill/>
                </a:ln>
                <a:solidFill>
                  <a:srgbClr val="000000"/>
                </a:solidFill>
                <a:effectLst/>
                <a:latin typeface="Univers Light" panose="020B0403020202020204" pitchFamily="34" charset="0"/>
              </a:rPr>
              <a:t> t2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new</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JoinExample</a:t>
            </a:r>
            <a:r>
              <a:rPr kumimoji="0" lang="en-US" altLang="en-US" sz="1600" b="1" i="0" u="none" strike="noStrike" cap="none" normalizeH="0" baseline="0" dirty="0">
                <a:ln>
                  <a:noFill/>
                </a:ln>
                <a:solidFill>
                  <a:srgbClr val="666600"/>
                </a:solidFill>
                <a:effectLst/>
                <a:latin typeface="Univers Light" panose="020B0403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solidFill>
                  <a:srgbClr val="666600"/>
                </a:solidFill>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JoinExample</a:t>
            </a:r>
            <a:r>
              <a:rPr kumimoji="0" lang="en-US" altLang="en-US" sz="1600" b="1" i="0" u="none" strike="noStrike" cap="none" normalizeH="0" baseline="0" dirty="0">
                <a:ln>
                  <a:noFill/>
                </a:ln>
                <a:solidFill>
                  <a:srgbClr val="000000"/>
                </a:solidFill>
                <a:effectLst/>
                <a:latin typeface="Univers Light" panose="020B0403020202020204" pitchFamily="34" charset="0"/>
              </a:rPr>
              <a:t> t3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new</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JoinExample</a:t>
            </a:r>
            <a:r>
              <a:rPr kumimoji="0" lang="en-US" altLang="en-US" sz="1600" b="1" i="0" u="none" strike="noStrike" cap="none" normalizeH="0" baseline="0" dirty="0">
                <a:ln>
                  <a:noFill/>
                </a:ln>
                <a:solidFill>
                  <a:srgbClr val="666600"/>
                </a:solidFill>
                <a:effectLst/>
                <a:latin typeface="Univers Light" panose="020B0403020202020204" pitchFamily="34" charset="0"/>
              </a:rPr>
              <a:t>();</a:t>
            </a:r>
            <a:endParaRPr kumimoji="0" lang="en-US" altLang="en-US" sz="1600" b="1" i="0" u="none" strike="noStrike" cap="none" normalizeH="0" baseline="0" dirty="0">
              <a:ln>
                <a:noFill/>
              </a:ln>
              <a:solidFill>
                <a:srgbClr val="000000"/>
              </a:solidFill>
              <a:effectLst/>
              <a:latin typeface="Univers Light" panose="020B04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Univers Light" panose="020B0403020202020204" pitchFamily="34" charset="0"/>
              </a:rPr>
              <a:t>  t1</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start</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8"/>
                </a:solidFill>
                <a:effectLst/>
                <a:latin typeface="Univers Light" panose="020B0403020202020204" pitchFamily="34" charset="0"/>
              </a:rPr>
              <a:t>  try</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Univers Light" panose="020B0403020202020204" pitchFamily="34" charset="0"/>
              </a:rPr>
              <a:t>    t1</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88"/>
                </a:solidFill>
                <a:effectLst/>
                <a:latin typeface="Univers Light" panose="020B0403020202020204" pitchFamily="34" charset="0"/>
              </a:rPr>
              <a:t>join</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880000"/>
                </a:solidFill>
                <a:effectLst/>
                <a:latin typeface="Univers Light" panose="020B0403020202020204" pitchFamily="34" charset="0"/>
              </a:rPr>
              <a:t>// calling join() method</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666600"/>
                </a:solidFill>
                <a:effectLst/>
                <a:latin typeface="Univers Light" panose="020B0403020202020204" pitchFamily="34" charset="0"/>
              </a:rPr>
              <a:t>  }</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000088"/>
                </a:solidFill>
                <a:effectLst/>
                <a:latin typeface="Univers Light" panose="020B0403020202020204" pitchFamily="34" charset="0"/>
              </a:rPr>
              <a:t>catch</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660066"/>
                </a:solidFill>
                <a:effectLst/>
                <a:latin typeface="Univers Light" panose="020B0403020202020204" pitchFamily="34" charset="0"/>
              </a:rPr>
              <a:t>Exception</a:t>
            </a:r>
            <a:r>
              <a:rPr kumimoji="0" lang="en-US" altLang="en-US" sz="1600" b="1" i="0" u="none" strike="noStrike" cap="none" normalizeH="0" baseline="0" dirty="0">
                <a:ln>
                  <a:noFill/>
                </a:ln>
                <a:solidFill>
                  <a:srgbClr val="000000"/>
                </a:solidFill>
                <a:effectLst/>
                <a:latin typeface="Univers Light" panose="020B0403020202020204" pitchFamily="34" charset="0"/>
              </a:rPr>
              <a:t> e</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660066"/>
                </a:solidFill>
                <a:effectLst/>
                <a:latin typeface="Univers Light" panose="020B0403020202020204" pitchFamily="34" charset="0"/>
              </a:rPr>
              <a:t>      </a:t>
            </a:r>
            <a:r>
              <a:rPr kumimoji="0" lang="en-US" altLang="en-US" sz="1600" b="1" i="0" u="none" strike="noStrike" cap="none" normalizeH="0" baseline="0" dirty="0" err="1">
                <a:ln>
                  <a:noFill/>
                </a:ln>
                <a:solidFill>
                  <a:srgbClr val="660066"/>
                </a:solidFill>
                <a:effectLst/>
                <a:latin typeface="Univers Light" panose="020B0403020202020204" pitchFamily="34" charset="0"/>
              </a:rPr>
              <a:t>System</a:t>
            </a:r>
            <a:r>
              <a:rPr kumimoji="0" lang="en-US" altLang="en-US" sz="1600" b="1" i="0" u="none" strike="noStrike" cap="none" normalizeH="0" baseline="0" dirty="0" err="1">
                <a:ln>
                  <a:noFill/>
                </a:ln>
                <a:solidFill>
                  <a:srgbClr val="666600"/>
                </a:solidFill>
                <a:effectLst/>
                <a:latin typeface="Univers Light" panose="020B0403020202020204" pitchFamily="34" charset="0"/>
              </a:rPr>
              <a:t>.</a:t>
            </a:r>
            <a:r>
              <a:rPr kumimoji="0" lang="en-US" altLang="en-US" sz="1600" b="1" i="0" u="none" strike="noStrike" cap="none" normalizeH="0" baseline="0" dirty="0" err="1">
                <a:ln>
                  <a:noFill/>
                </a:ln>
                <a:solidFill>
                  <a:srgbClr val="000088"/>
                </a:solidFill>
                <a:effectLst/>
                <a:latin typeface="Univers Light" panose="020B0403020202020204" pitchFamily="34" charset="0"/>
              </a:rPr>
              <a:t>out</a:t>
            </a:r>
            <a:r>
              <a:rPr kumimoji="0" lang="en-US" altLang="en-US" sz="1600" b="1" i="0" u="none" strike="noStrike" cap="none" normalizeH="0" baseline="0" dirty="0" err="1">
                <a:ln>
                  <a:noFill/>
                </a:ln>
                <a:solidFill>
                  <a:srgbClr val="666600"/>
                </a:solidFill>
                <a:effectLst/>
                <a:latin typeface="Univers Light" panose="020B0403020202020204" pitchFamily="34" charset="0"/>
              </a:rPr>
              <a:t>.</a:t>
            </a:r>
            <a:r>
              <a:rPr kumimoji="0" lang="en-US" altLang="en-US" sz="1600" b="1" i="0" u="none" strike="noStrike" cap="none" normalizeH="0" baseline="0" dirty="0" err="1">
                <a:ln>
                  <a:noFill/>
                </a:ln>
                <a:solidFill>
                  <a:srgbClr val="000000"/>
                </a:solidFill>
                <a:effectLst/>
                <a:latin typeface="Univers Light" panose="020B0403020202020204" pitchFamily="34" charset="0"/>
              </a:rPr>
              <a:t>println</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e</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666600"/>
                </a:solidFill>
                <a:effectLst/>
                <a:latin typeface="Univers Light" panose="020B0403020202020204" pitchFamily="34" charset="0"/>
              </a:rPr>
              <a:t>  }</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Univers Light" panose="020B0403020202020204" pitchFamily="34" charset="0"/>
              </a:rPr>
              <a:t>  t2</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start</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Univers Light" panose="020B0403020202020204" pitchFamily="34" charset="0"/>
              </a:rPr>
              <a:t>  t3</a:t>
            </a:r>
            <a:r>
              <a:rPr kumimoji="0" lang="en-US" altLang="en-US" sz="1600" b="1" i="0" u="none" strike="noStrike" cap="none" normalizeH="0" baseline="0" dirty="0">
                <a:ln>
                  <a:noFill/>
                </a:ln>
                <a:solidFill>
                  <a:srgbClr val="666600"/>
                </a:solidFill>
                <a:effectLst/>
                <a:latin typeface="Univers Light" panose="020B0403020202020204" pitchFamily="34" charset="0"/>
              </a:rPr>
              <a:t>.</a:t>
            </a:r>
            <a:r>
              <a:rPr kumimoji="0" lang="en-US" altLang="en-US" sz="1600" b="1" i="0" u="none" strike="noStrike" cap="none" normalizeH="0" baseline="0" dirty="0">
                <a:ln>
                  <a:noFill/>
                </a:ln>
                <a:solidFill>
                  <a:srgbClr val="000000"/>
                </a:solidFill>
                <a:effectLst/>
                <a:latin typeface="Univers Light" panose="020B0403020202020204" pitchFamily="34" charset="0"/>
              </a:rPr>
              <a:t>start</a:t>
            </a:r>
            <a:r>
              <a:rPr kumimoji="0" lang="en-US" altLang="en-US" sz="1600" b="1" i="0" u="none" strike="noStrike" cap="none" normalizeH="0" baseline="0" dirty="0">
                <a:ln>
                  <a:noFill/>
                </a:ln>
                <a:solidFill>
                  <a:srgbClr val="666600"/>
                </a:solidFill>
                <a:effectLst/>
                <a:latin typeface="Univers Light" panose="020B0403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666600"/>
                </a:solidFill>
                <a:effectLst/>
                <a:latin typeface="Univers Light" panose="020B0403020202020204" pitchFamily="34" charset="0"/>
              </a:rPr>
              <a:t> }</a:t>
            </a:r>
            <a:r>
              <a:rPr kumimoji="0" lang="en-US" altLang="en-US" sz="1600" b="1" i="0" u="none" strike="noStrike" cap="none" normalizeH="0" baseline="0" dirty="0">
                <a:ln>
                  <a:noFill/>
                </a:ln>
                <a:solidFill>
                  <a:srgbClr val="000000"/>
                </a:solidFill>
                <a:effectLst/>
                <a:latin typeface="Univers Light" panose="020B0403020202020204" pitchFamily="34" charset="0"/>
              </a:rPr>
              <a:t> // main() end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666600"/>
                </a:solidFill>
                <a:effectLst/>
                <a:latin typeface="Univers Light" panose="020B0403020202020204" pitchFamily="34" charset="0"/>
              </a:rPr>
              <a:t>}// class end</a:t>
            </a:r>
            <a:endParaRPr kumimoji="0" lang="en-US" altLang="en-US" sz="2400" b="1" i="0" u="none" strike="noStrike" cap="none" normalizeH="0" baseline="0" dirty="0">
              <a:ln>
                <a:noFill/>
              </a:ln>
              <a:solidFill>
                <a:schemeClr val="tx1"/>
              </a:solidFill>
              <a:effectLst/>
              <a:latin typeface="Univers Light" panose="020B0403020202020204" pitchFamily="34" charset="0"/>
            </a:endParaRPr>
          </a:p>
        </p:txBody>
      </p:sp>
      <p:sp>
        <p:nvSpPr>
          <p:cNvPr id="14" name="Rectangle 2">
            <a:extLst>
              <a:ext uri="{FF2B5EF4-FFF2-40B4-BE49-F238E27FC236}">
                <a16:creationId xmlns:a16="http://schemas.microsoft.com/office/drawing/2014/main" id="{FEF98F66-3A5B-7284-A0CE-A1C20A8741E2}"/>
              </a:ext>
            </a:extLst>
          </p:cNvPr>
          <p:cNvSpPr>
            <a:spLocks noChangeArrowheads="1"/>
          </p:cNvSpPr>
          <p:nvPr/>
        </p:nvSpPr>
        <p:spPr bwMode="auto">
          <a:xfrm>
            <a:off x="7884450" y="4070050"/>
            <a:ext cx="1255152" cy="2314686"/>
          </a:xfrm>
          <a:prstGeom prst="rect">
            <a:avLst/>
          </a:prstGeom>
          <a:solidFill>
            <a:schemeClr val="accent6">
              <a:lumMod val="40000"/>
              <a:lumOff val="60000"/>
            </a:schemeClr>
          </a:solidFill>
          <a:ln>
            <a:noFill/>
          </a:ln>
          <a:effec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Join example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Join example 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Join example 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Join example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Join example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Join example 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Join example 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Join example 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Univers Light" panose="020B0403020202020204" pitchFamily="34" charset="0"/>
              </a:rPr>
              <a:t>Join example 3</a:t>
            </a:r>
            <a:r>
              <a:rPr kumimoji="0" lang="en-US" altLang="en-US" sz="1400" b="1" i="0" u="none" strike="noStrike" cap="none" normalizeH="0" baseline="0" dirty="0">
                <a:ln>
                  <a:noFill/>
                </a:ln>
                <a:solidFill>
                  <a:schemeClr val="tx1"/>
                </a:solidFill>
                <a:effectLst/>
                <a:latin typeface="Univers Light" panose="020B0403020202020204" pitchFamily="34" charset="0"/>
              </a:rPr>
              <a:t> </a:t>
            </a:r>
            <a:endParaRPr kumimoji="0" lang="en-US" altLang="en-US" sz="2400" b="1" i="0" u="none" strike="noStrike" cap="none" normalizeH="0" baseline="0" dirty="0">
              <a:ln>
                <a:noFill/>
              </a:ln>
              <a:solidFill>
                <a:schemeClr val="tx1"/>
              </a:solidFill>
              <a:effectLst/>
              <a:latin typeface="Univers Light" panose="020B0403020202020204" pitchFamily="34" charset="0"/>
            </a:endParaRPr>
          </a:p>
        </p:txBody>
      </p:sp>
      <p:sp>
        <p:nvSpPr>
          <p:cNvPr id="5" name="Footer Placeholder 4">
            <a:extLst>
              <a:ext uri="{FF2B5EF4-FFF2-40B4-BE49-F238E27FC236}">
                <a16:creationId xmlns:a16="http://schemas.microsoft.com/office/drawing/2014/main" id="{C03B6F60-9F2C-1AD4-5452-E6209F900D4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43821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694</TotalTime>
  <Words>5692</Words>
  <Application>Microsoft Office PowerPoint</Application>
  <PresentationFormat>Widescreen</PresentationFormat>
  <Paragraphs>916</Paragraphs>
  <Slides>60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Bookman Old Style</vt:lpstr>
      <vt:lpstr>Calibri</vt:lpstr>
      <vt:lpstr>Calibri Light</vt:lpstr>
      <vt:lpstr>Times New Roman</vt:lpstr>
      <vt:lpstr>Univers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nivas .</cp:lastModifiedBy>
  <cp:revision>50</cp:revision>
  <dcterms:created xsi:type="dcterms:W3CDTF">2021-09-13T09:22:41Z</dcterms:created>
  <dcterms:modified xsi:type="dcterms:W3CDTF">2023-08-24T06:15:13Z</dcterms:modified>
</cp:coreProperties>
</file>