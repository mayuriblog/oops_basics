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77" r:id="rId3"/>
    <p:sldId id="257" r:id="rId4"/>
    <p:sldId id="258" r:id="rId5"/>
    <p:sldId id="259" r:id="rId6"/>
    <p:sldId id="260" r:id="rId7"/>
    <p:sldId id="261" r:id="rId8"/>
    <p:sldId id="262" r:id="rId9"/>
    <p:sldId id="263" r:id="rId10"/>
    <p:sldId id="264" r:id="rId11"/>
    <p:sldId id="275" r:id="rId12"/>
    <p:sldId id="265" r:id="rId13"/>
    <p:sldId id="266" r:id="rId14"/>
    <p:sldId id="267" r:id="rId15"/>
    <p:sldId id="268" r:id="rId16"/>
    <p:sldId id="278" r:id="rId17"/>
    <p:sldId id="276" r:id="rId18"/>
    <p:sldId id="269" r:id="rId19"/>
    <p:sldId id="270" r:id="rId20"/>
    <p:sldId id="271" r:id="rId21"/>
    <p:sldId id="272" r:id="rId22"/>
    <p:sldId id="273" r:id="rId23"/>
    <p:sldId id="27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66"/>
    <a:srgbClr val="990033"/>
    <a:srgbClr val="0000FF"/>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14" autoAdjust="0"/>
  </p:normalViewPr>
  <p:slideViewPr>
    <p:cSldViewPr snapToGrid="0">
      <p:cViewPr>
        <p:scale>
          <a:sx n="95" d="100"/>
          <a:sy n="95" d="100"/>
        </p:scale>
        <p:origin x="-206" y="40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B963E-2079-4C90-BD41-DE5D40FC7135}" type="datetimeFigureOut">
              <a:rPr lang="en-IN" smtClean="0"/>
              <a:t>11-09-2024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CDE547-959F-4FFB-BF70-C36D72B006D4}" type="slidenum">
              <a:rPr lang="en-IN" smtClean="0"/>
              <a:t>‹#›</a:t>
            </a:fld>
            <a:endParaRPr lang="en-IN"/>
          </a:p>
        </p:txBody>
      </p:sp>
    </p:spTree>
    <p:extLst>
      <p:ext uri="{BB962C8B-B14F-4D97-AF65-F5344CB8AC3E}">
        <p14:creationId xmlns:p14="http://schemas.microsoft.com/office/powerpoint/2010/main" val="3805897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0F744F-75CA-4915-B0C7-449449C1E0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81BA93C0-7D4D-4750-8F7A-A1F31FFC55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5D72DA43-B40F-4DF9-94A1-C3BD4B086BC0}"/>
              </a:ext>
            </a:extLst>
          </p:cNvPr>
          <p:cNvSpPr>
            <a:spLocks noGrp="1"/>
          </p:cNvSpPr>
          <p:nvPr>
            <p:ph type="dt" sz="half" idx="10"/>
          </p:nvPr>
        </p:nvSpPr>
        <p:spPr/>
        <p:txBody>
          <a:bodyPr/>
          <a:lstStyle/>
          <a:p>
            <a:fld id="{8985C0D3-A6AD-47A7-8385-012B7AFF7467}" type="datetime1">
              <a:rPr lang="en-US" smtClean="0"/>
              <a:t>9/11/2024</a:t>
            </a:fld>
            <a:endParaRPr lang="en-US"/>
          </a:p>
        </p:txBody>
      </p:sp>
      <p:sp>
        <p:nvSpPr>
          <p:cNvPr id="5" name="Footer Placeholder 4">
            <a:extLst>
              <a:ext uri="{FF2B5EF4-FFF2-40B4-BE49-F238E27FC236}">
                <a16:creationId xmlns="" xmlns:a16="http://schemas.microsoft.com/office/drawing/2014/main" id="{15AD18D3-1D43-423C-AB22-031F4E6A3AC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220809D6-3845-40A0-B0EC-12E942C95058}"/>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880361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973D110-4245-4003-ADCF-FB91245AD4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550D1C0-8114-47A2-9881-1A00FEEB9E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3B396FE-D82A-4B13-A116-3A8DFE45989F}"/>
              </a:ext>
            </a:extLst>
          </p:cNvPr>
          <p:cNvSpPr>
            <a:spLocks noGrp="1"/>
          </p:cNvSpPr>
          <p:nvPr>
            <p:ph type="dt" sz="half" idx="10"/>
          </p:nvPr>
        </p:nvSpPr>
        <p:spPr/>
        <p:txBody>
          <a:bodyPr/>
          <a:lstStyle/>
          <a:p>
            <a:fld id="{E95CC80A-9AC8-4050-84F9-EB8AD52F8365}" type="datetime1">
              <a:rPr lang="en-US" smtClean="0"/>
              <a:t>9/11/2024</a:t>
            </a:fld>
            <a:endParaRPr lang="en-US"/>
          </a:p>
        </p:txBody>
      </p:sp>
      <p:sp>
        <p:nvSpPr>
          <p:cNvPr id="5" name="Footer Placeholder 4">
            <a:extLst>
              <a:ext uri="{FF2B5EF4-FFF2-40B4-BE49-F238E27FC236}">
                <a16:creationId xmlns="" xmlns:a16="http://schemas.microsoft.com/office/drawing/2014/main" id="{680193DE-606D-4BA8-9846-94C07C3E983F}"/>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6F931BE6-CAFC-4EDE-8220-CEBFD92874B7}"/>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1490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4C3171-9408-4ADD-9563-0471E10691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9570442-9777-4274-A5EA-C056F70352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F63C2BF1-4BA0-4E50-BCAE-62CA1657CAA6}"/>
              </a:ext>
            </a:extLst>
          </p:cNvPr>
          <p:cNvSpPr>
            <a:spLocks noGrp="1"/>
          </p:cNvSpPr>
          <p:nvPr>
            <p:ph type="dt" sz="half" idx="10"/>
          </p:nvPr>
        </p:nvSpPr>
        <p:spPr/>
        <p:txBody>
          <a:bodyPr/>
          <a:lstStyle/>
          <a:p>
            <a:fld id="{F84C0376-96A9-422E-9147-EAA62B1DC4F7}" type="datetime1">
              <a:rPr lang="en-US" smtClean="0"/>
              <a:t>9/11/2024</a:t>
            </a:fld>
            <a:endParaRPr lang="en-US"/>
          </a:p>
        </p:txBody>
      </p:sp>
      <p:sp>
        <p:nvSpPr>
          <p:cNvPr id="5" name="Footer Placeholder 4">
            <a:extLst>
              <a:ext uri="{FF2B5EF4-FFF2-40B4-BE49-F238E27FC236}">
                <a16:creationId xmlns="" xmlns:a16="http://schemas.microsoft.com/office/drawing/2014/main" id="{8A99A861-5E60-494E-A54A-D75263249D26}"/>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C6151B3D-3A7B-4B80-8835-53227FED5194}"/>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188667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A91F97-4D04-4167-93B1-496B2C069A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ACDA402-237E-43D0-BAF0-E947A523D7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304963F-6504-4633-BC8D-66072E6D7B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F7945690-6490-417E-BFB0-2B701D19F290}"/>
              </a:ext>
            </a:extLst>
          </p:cNvPr>
          <p:cNvSpPr>
            <a:spLocks noGrp="1"/>
          </p:cNvSpPr>
          <p:nvPr>
            <p:ph type="dt" sz="half" idx="10"/>
          </p:nvPr>
        </p:nvSpPr>
        <p:spPr/>
        <p:txBody>
          <a:bodyPr/>
          <a:lstStyle/>
          <a:p>
            <a:fld id="{FCE5F47D-C183-485D-AE8F-577F58878C51}" type="datetime1">
              <a:rPr lang="en-US" smtClean="0"/>
              <a:t>9/11/2024</a:t>
            </a:fld>
            <a:endParaRPr lang="en-US"/>
          </a:p>
        </p:txBody>
      </p:sp>
      <p:sp>
        <p:nvSpPr>
          <p:cNvPr id="6" name="Footer Placeholder 5">
            <a:extLst>
              <a:ext uri="{FF2B5EF4-FFF2-40B4-BE49-F238E27FC236}">
                <a16:creationId xmlns="" xmlns:a16="http://schemas.microsoft.com/office/drawing/2014/main" id="{B106CDE7-376E-497F-B27C-9CEB23747B7A}"/>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 xmlns:a16="http://schemas.microsoft.com/office/drawing/2014/main" id="{435E0C8C-30A2-4C54-B6AB-ECE6241E7CB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7662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C635BE-EAE8-4429-BB95-989F891944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F608903-DF3E-48BF-A8FF-804A9B5DC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C4CC1A77-CAEF-49A4-8E56-DD0FA0909F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83359D69-4870-460F-960B-37355E8955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924771BC-A16C-4566-88A3-56F7E93861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B58D0343-D923-44A9-A13F-17E152CEB556}"/>
              </a:ext>
            </a:extLst>
          </p:cNvPr>
          <p:cNvSpPr>
            <a:spLocks noGrp="1"/>
          </p:cNvSpPr>
          <p:nvPr>
            <p:ph type="dt" sz="half" idx="10"/>
          </p:nvPr>
        </p:nvSpPr>
        <p:spPr/>
        <p:txBody>
          <a:bodyPr/>
          <a:lstStyle/>
          <a:p>
            <a:fld id="{008A38E8-0A08-4A7F-BB0D-049B5E0F01F1}" type="datetime1">
              <a:rPr lang="en-US" smtClean="0"/>
              <a:t>9/11/2024</a:t>
            </a:fld>
            <a:endParaRPr lang="en-US"/>
          </a:p>
        </p:txBody>
      </p:sp>
      <p:sp>
        <p:nvSpPr>
          <p:cNvPr id="8" name="Footer Placeholder 7">
            <a:extLst>
              <a:ext uri="{FF2B5EF4-FFF2-40B4-BE49-F238E27FC236}">
                <a16:creationId xmlns="" xmlns:a16="http://schemas.microsoft.com/office/drawing/2014/main" id="{DC3130AC-5BA6-4472-87BF-1047FB4BF835}"/>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 xmlns:a16="http://schemas.microsoft.com/office/drawing/2014/main" id="{5E4DFB80-4875-4FFD-BB4D-E65E51574C5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36484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0A4E49-F78F-4167-A88E-E52C63716C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653B7537-9C69-449A-B16A-27C8E2E9E33C}"/>
              </a:ext>
            </a:extLst>
          </p:cNvPr>
          <p:cNvSpPr>
            <a:spLocks noGrp="1"/>
          </p:cNvSpPr>
          <p:nvPr>
            <p:ph type="dt" sz="half" idx="10"/>
          </p:nvPr>
        </p:nvSpPr>
        <p:spPr/>
        <p:txBody>
          <a:bodyPr/>
          <a:lstStyle/>
          <a:p>
            <a:fld id="{EDFA10F8-D675-4E4E-9318-904EF7B76EFC}" type="datetime1">
              <a:rPr lang="en-US" smtClean="0"/>
              <a:t>9/11/2024</a:t>
            </a:fld>
            <a:endParaRPr lang="en-US"/>
          </a:p>
        </p:txBody>
      </p:sp>
      <p:sp>
        <p:nvSpPr>
          <p:cNvPr id="4" name="Footer Placeholder 3">
            <a:extLst>
              <a:ext uri="{FF2B5EF4-FFF2-40B4-BE49-F238E27FC236}">
                <a16:creationId xmlns="" xmlns:a16="http://schemas.microsoft.com/office/drawing/2014/main" id="{AFA5AB60-A32E-4173-83D6-89C6BD05D1DF}"/>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 xmlns:a16="http://schemas.microsoft.com/office/drawing/2014/main" id="{58C97F26-0266-4EC4-8968-F94840C22027}"/>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279979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FD2A3A3-BB34-4082-AC06-91654BC9EFDD}"/>
              </a:ext>
            </a:extLst>
          </p:cNvPr>
          <p:cNvSpPr>
            <a:spLocks noGrp="1"/>
          </p:cNvSpPr>
          <p:nvPr>
            <p:ph type="dt" sz="half" idx="10"/>
          </p:nvPr>
        </p:nvSpPr>
        <p:spPr/>
        <p:txBody>
          <a:bodyPr/>
          <a:lstStyle/>
          <a:p>
            <a:fld id="{B9C2A7BC-08E6-4AC6-9630-42EAD1C6F900}" type="datetime1">
              <a:rPr lang="en-US" smtClean="0"/>
              <a:t>9/11/2024</a:t>
            </a:fld>
            <a:endParaRPr lang="en-US"/>
          </a:p>
        </p:txBody>
      </p:sp>
      <p:sp>
        <p:nvSpPr>
          <p:cNvPr id="3" name="Footer Placeholder 2">
            <a:extLst>
              <a:ext uri="{FF2B5EF4-FFF2-40B4-BE49-F238E27FC236}">
                <a16:creationId xmlns="" xmlns:a16="http://schemas.microsoft.com/office/drawing/2014/main" id="{3BC8E00C-7865-4581-95B7-2A8C40A6745D}"/>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 xmlns:a16="http://schemas.microsoft.com/office/drawing/2014/main" id="{00401906-9DBA-4FAD-9C2E-E1CAF1E6BB4D}"/>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081807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329E4A-C663-4491-9809-C9C3C767D9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577E501-EC61-4BD7-A93A-05B50010B2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37672EF-5912-4892-A00E-FAF78831AE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1CF481B-2B21-46A4-B936-BC86A5C5B49A}"/>
              </a:ext>
            </a:extLst>
          </p:cNvPr>
          <p:cNvSpPr>
            <a:spLocks noGrp="1"/>
          </p:cNvSpPr>
          <p:nvPr>
            <p:ph type="dt" sz="half" idx="10"/>
          </p:nvPr>
        </p:nvSpPr>
        <p:spPr/>
        <p:txBody>
          <a:bodyPr/>
          <a:lstStyle/>
          <a:p>
            <a:fld id="{F768279B-0D90-44C1-9394-DFA9CE2F96F0}" type="datetime1">
              <a:rPr lang="en-US" smtClean="0"/>
              <a:t>9/11/2024</a:t>
            </a:fld>
            <a:endParaRPr lang="en-US"/>
          </a:p>
        </p:txBody>
      </p:sp>
      <p:sp>
        <p:nvSpPr>
          <p:cNvPr id="6" name="Footer Placeholder 5">
            <a:extLst>
              <a:ext uri="{FF2B5EF4-FFF2-40B4-BE49-F238E27FC236}">
                <a16:creationId xmlns="" xmlns:a16="http://schemas.microsoft.com/office/drawing/2014/main" id="{C3554B3D-6BFF-44E1-B586-7BEFF3180169}"/>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 xmlns:a16="http://schemas.microsoft.com/office/drawing/2014/main" id="{04C49D39-DC2E-4388-B1B5-96576BFD2CA0}"/>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415941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14B1BD-2EFF-4289-A2FA-DE9E6EAF6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18EBBCFF-6067-44B2-B470-921D281115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89466A56-C744-4FC5-8A69-5BC8D29311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403D09B-7CFC-4B3E-AD4F-ECF40E13C316}"/>
              </a:ext>
            </a:extLst>
          </p:cNvPr>
          <p:cNvSpPr>
            <a:spLocks noGrp="1"/>
          </p:cNvSpPr>
          <p:nvPr>
            <p:ph type="dt" sz="half" idx="10"/>
          </p:nvPr>
        </p:nvSpPr>
        <p:spPr/>
        <p:txBody>
          <a:bodyPr/>
          <a:lstStyle/>
          <a:p>
            <a:fld id="{E54630FF-3D6F-4BF9-A26B-CEF4D86C8CE1}" type="datetime1">
              <a:rPr lang="en-US" smtClean="0"/>
              <a:t>9/11/2024</a:t>
            </a:fld>
            <a:endParaRPr lang="en-US"/>
          </a:p>
        </p:txBody>
      </p:sp>
      <p:sp>
        <p:nvSpPr>
          <p:cNvPr id="6" name="Footer Placeholder 5">
            <a:extLst>
              <a:ext uri="{FF2B5EF4-FFF2-40B4-BE49-F238E27FC236}">
                <a16:creationId xmlns="" xmlns:a16="http://schemas.microsoft.com/office/drawing/2014/main" id="{300C896E-9B14-4C9C-BFC2-567693CC81ED}"/>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 xmlns:a16="http://schemas.microsoft.com/office/drawing/2014/main" id="{DF421C02-B4FA-4258-A341-FE29AC587054}"/>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400869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F1CACE-E847-451A-ADBC-70796540B0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164247E-61D1-49AE-817B-478FB48531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6468800-0C73-4BAD-B8D2-31BACF9FB469}"/>
              </a:ext>
            </a:extLst>
          </p:cNvPr>
          <p:cNvSpPr>
            <a:spLocks noGrp="1"/>
          </p:cNvSpPr>
          <p:nvPr>
            <p:ph type="dt" sz="half" idx="10"/>
          </p:nvPr>
        </p:nvSpPr>
        <p:spPr/>
        <p:txBody>
          <a:bodyPr/>
          <a:lstStyle/>
          <a:p>
            <a:fld id="{77A0478C-D688-42C7-A5AD-D50BDF6829D1}" type="datetime1">
              <a:rPr lang="en-US" smtClean="0"/>
              <a:t>9/11/2024</a:t>
            </a:fld>
            <a:endParaRPr lang="en-US"/>
          </a:p>
        </p:txBody>
      </p:sp>
      <p:sp>
        <p:nvSpPr>
          <p:cNvPr id="5" name="Footer Placeholder 4">
            <a:extLst>
              <a:ext uri="{FF2B5EF4-FFF2-40B4-BE49-F238E27FC236}">
                <a16:creationId xmlns="" xmlns:a16="http://schemas.microsoft.com/office/drawing/2014/main" id="{DB7374AC-C969-4DAF-8981-403F62941B9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28E6A926-7F7C-481D-8E06-31D6EC2C773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818577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A2997FE-8FD3-4898-8176-1D05712918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94E761AC-F213-4FCE-8473-B5706C199A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30CE351-23A9-4B26-A220-9CFF90283DCF}"/>
              </a:ext>
            </a:extLst>
          </p:cNvPr>
          <p:cNvSpPr>
            <a:spLocks noGrp="1"/>
          </p:cNvSpPr>
          <p:nvPr>
            <p:ph type="dt" sz="half" idx="10"/>
          </p:nvPr>
        </p:nvSpPr>
        <p:spPr/>
        <p:txBody>
          <a:bodyPr/>
          <a:lstStyle/>
          <a:p>
            <a:fld id="{97AC8DB7-2413-4F44-8891-1600B1FA4BAE}" type="datetime1">
              <a:rPr lang="en-US" smtClean="0"/>
              <a:t>9/11/2024</a:t>
            </a:fld>
            <a:endParaRPr lang="en-US"/>
          </a:p>
        </p:txBody>
      </p:sp>
      <p:sp>
        <p:nvSpPr>
          <p:cNvPr id="5" name="Footer Placeholder 4">
            <a:extLst>
              <a:ext uri="{FF2B5EF4-FFF2-40B4-BE49-F238E27FC236}">
                <a16:creationId xmlns="" xmlns:a16="http://schemas.microsoft.com/office/drawing/2014/main" id="{4C57E4C3-C45F-43CA-A477-17FF011AD1FB}"/>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D9DE2DB8-2AA9-4F4C-AF3D-93E2055E50F7}"/>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96779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ADF5E65-7B87-4062-853B-D48AF00F8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6FF2828-6E8C-4761-B80B-5925A85835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3B94B09-42B3-44FA-8053-0CA2ECEC54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AE6A96-FED4-42D7-8DD4-CF29B54CEBD4}" type="datetime1">
              <a:rPr lang="en-US" smtClean="0"/>
              <a:t>9/11/2024</a:t>
            </a:fld>
            <a:endParaRPr lang="en-US"/>
          </a:p>
        </p:txBody>
      </p:sp>
      <p:sp>
        <p:nvSpPr>
          <p:cNvPr id="5" name="Footer Placeholder 4">
            <a:extLst>
              <a:ext uri="{FF2B5EF4-FFF2-40B4-BE49-F238E27FC236}">
                <a16:creationId xmlns="" xmlns:a16="http://schemas.microsoft.com/office/drawing/2014/main" id="{AA1849F9-A385-4A16-B982-FFA3DCE4E9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 xmlns:a16="http://schemas.microsoft.com/office/drawing/2014/main" id="{2DF3C813-4F20-4B7F-9B64-046078B8EF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8572495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pikist.com/free-photo-ikyh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endParaRPr lang="en-US" sz="2400"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37EF3B75-31DE-49C8-98FA-93B585B61E71}"/>
              </a:ext>
            </a:extLst>
          </p:cNvPr>
          <p:cNvSpPr txBox="1"/>
          <p:nvPr/>
        </p:nvSpPr>
        <p:spPr>
          <a:xfrm>
            <a:off x="397564" y="829280"/>
            <a:ext cx="8971023" cy="400110"/>
          </a:xfrm>
          <a:prstGeom prst="rect">
            <a:avLst/>
          </a:prstGeom>
          <a:noFill/>
        </p:spPr>
        <p:txBody>
          <a:bodyPr wrap="square">
            <a:spAutoFit/>
          </a:bodyPr>
          <a:lstStyle/>
          <a:p>
            <a:pPr algn="ctr"/>
            <a:r>
              <a:rPr lang="en-US" sz="2000" b="1" dirty="0">
                <a:solidFill>
                  <a:schemeClr val="bg1"/>
                </a:solidFill>
                <a:latin typeface="Arial" panose="020B0604020202020204" pitchFamily="34" charset="0"/>
                <a:cs typeface="Arial" panose="020B0604020202020204" pitchFamily="34" charset="0"/>
              </a:rPr>
              <a:t>Operators in Java</a:t>
            </a:r>
            <a:endParaRPr lang="en-US" sz="2000" b="1" dirty="0">
              <a:solidFill>
                <a:schemeClr val="bg1"/>
              </a:solidFill>
              <a:latin typeface="Bookman Old Style" panose="02050604050505020204" pitchFamily="18" charset="0"/>
            </a:endParaRPr>
          </a:p>
        </p:txBody>
      </p:sp>
      <p:sp>
        <p:nvSpPr>
          <p:cNvPr id="24" name="TextBox 23">
            <a:extLst>
              <a:ext uri="{FF2B5EF4-FFF2-40B4-BE49-F238E27FC236}">
                <a16:creationId xmlns="" xmlns:a16="http://schemas.microsoft.com/office/drawing/2014/main" id="{B86AB194-92C7-4DAA-9E23-0FAB01A21511}"/>
              </a:ext>
            </a:extLst>
          </p:cNvPr>
          <p:cNvSpPr txBox="1"/>
          <p:nvPr/>
        </p:nvSpPr>
        <p:spPr>
          <a:xfrm>
            <a:off x="2823412" y="1224393"/>
            <a:ext cx="6135756" cy="2308324"/>
          </a:xfrm>
          <a:prstGeom prst="rect">
            <a:avLst/>
          </a:prstGeom>
          <a:noFill/>
        </p:spPr>
        <p:txBody>
          <a:bodyPr wrap="square">
            <a:spAutoFit/>
          </a:bodyPr>
          <a:lstStyle/>
          <a:p>
            <a:pPr algn="ctr"/>
            <a:r>
              <a:rPr lang="en-US" sz="7200" b="1" dirty="0">
                <a:latin typeface="Arial" panose="020B0604020202020204" pitchFamily="34" charset="0"/>
                <a:cs typeface="Arial" panose="020B0604020202020204" pitchFamily="34" charset="0"/>
              </a:rPr>
              <a:t>Operators in Java</a:t>
            </a:r>
            <a:endParaRPr lang="en-US" sz="7200" b="1" dirty="0">
              <a:latin typeface="Bookman Old Style" panose="02050604050505020204" pitchFamily="18" charset="0"/>
            </a:endParaRPr>
          </a:p>
        </p:txBody>
      </p:sp>
      <p:sp>
        <p:nvSpPr>
          <p:cNvPr id="25" name="TextBox 24">
            <a:extLst>
              <a:ext uri="{FF2B5EF4-FFF2-40B4-BE49-F238E27FC236}">
                <a16:creationId xmlns="" xmlns:a16="http://schemas.microsoft.com/office/drawing/2014/main" id="{D61ABC05-2773-44F2-BDBF-4FDBDE7AC262}"/>
              </a:ext>
            </a:extLst>
          </p:cNvPr>
          <p:cNvSpPr txBox="1"/>
          <p:nvPr/>
        </p:nvSpPr>
        <p:spPr>
          <a:xfrm>
            <a:off x="3031956" y="155068"/>
            <a:ext cx="5361368"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Operators in Java</a:t>
            </a:r>
            <a:endParaRPr lang="en-US" b="1" dirty="0">
              <a:solidFill>
                <a:schemeClr val="bg1"/>
              </a:solidFill>
              <a:latin typeface="Bookman Old Style" panose="02050604050505020204" pitchFamily="18" charset="0"/>
            </a:endParaRPr>
          </a:p>
        </p:txBody>
      </p:sp>
      <p:sp>
        <p:nvSpPr>
          <p:cNvPr id="7" name="Footer Placeholder 6">
            <a:extLst>
              <a:ext uri="{FF2B5EF4-FFF2-40B4-BE49-F238E27FC236}">
                <a16:creationId xmlns="" xmlns:a16="http://schemas.microsoft.com/office/drawing/2014/main" id="{D5A991EE-0A2B-8792-9AFF-2A7B913FD647}"/>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5343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Operators in Java</a:t>
                </a:r>
                <a:endParaRPr lang="en-US" sz="2400"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37EF3B75-31DE-49C8-98FA-93B585B61E71}"/>
              </a:ext>
            </a:extLst>
          </p:cNvPr>
          <p:cNvSpPr txBox="1"/>
          <p:nvPr/>
        </p:nvSpPr>
        <p:spPr>
          <a:xfrm>
            <a:off x="397564" y="829280"/>
            <a:ext cx="8971023" cy="4708981"/>
          </a:xfrm>
          <a:prstGeom prst="rect">
            <a:avLst/>
          </a:prstGeom>
          <a:noFill/>
        </p:spPr>
        <p:txBody>
          <a:bodyPr wrap="square">
            <a:spAutoFit/>
          </a:bodyPr>
          <a:lstStyle/>
          <a:p>
            <a:r>
              <a:rPr lang="en-IN" sz="2000" b="1" dirty="0"/>
              <a:t>Operators are used to operate on </a:t>
            </a:r>
          </a:p>
          <a:p>
            <a:r>
              <a:rPr lang="en-IN" sz="2000" b="1" dirty="0"/>
              <a:t>value/literal</a:t>
            </a:r>
          </a:p>
          <a:p>
            <a:r>
              <a:rPr lang="en-IN" sz="2000" b="1" dirty="0"/>
              <a:t>	- </a:t>
            </a:r>
            <a:r>
              <a:rPr lang="en-IN" sz="2000" b="1" i="1" dirty="0"/>
              <a:t>10</a:t>
            </a:r>
            <a:r>
              <a:rPr lang="en-IN" sz="2000" b="1" dirty="0"/>
              <a:t> is a int literal</a:t>
            </a:r>
          </a:p>
          <a:p>
            <a:r>
              <a:rPr lang="en-IN" sz="2000" b="1" dirty="0"/>
              <a:t>	- 10.23 is a double literal</a:t>
            </a:r>
          </a:p>
          <a:p>
            <a:r>
              <a:rPr lang="en-IN" sz="2000" b="1" dirty="0"/>
              <a:t>	- </a:t>
            </a:r>
            <a:r>
              <a:rPr lang="en-IN" sz="2000" b="1" i="1" dirty="0"/>
              <a:t>"Surya"</a:t>
            </a:r>
            <a:r>
              <a:rPr lang="en-IN" sz="2000" b="1" dirty="0"/>
              <a:t> is a String literal</a:t>
            </a:r>
          </a:p>
          <a:p>
            <a:r>
              <a:rPr lang="en-IN" sz="2000" b="1" dirty="0"/>
              <a:t>	- true is a boolean literal</a:t>
            </a:r>
          </a:p>
          <a:p>
            <a:endParaRPr lang="en-IN" sz="2000" dirty="0"/>
          </a:p>
          <a:p>
            <a:r>
              <a:rPr lang="en-IN" sz="2000" b="1" dirty="0"/>
              <a:t>variable/identifier/property </a:t>
            </a:r>
          </a:p>
          <a:p>
            <a:r>
              <a:rPr lang="en-IN" sz="2000" b="1" dirty="0"/>
              <a:t>	int </a:t>
            </a:r>
            <a:r>
              <a:rPr lang="en-IN" sz="2000" b="1" i="1" dirty="0" err="1"/>
              <a:t>i</a:t>
            </a:r>
            <a:r>
              <a:rPr lang="en-IN" sz="2000" b="1" dirty="0"/>
              <a:t>=10</a:t>
            </a:r>
          </a:p>
          <a:p>
            <a:r>
              <a:rPr lang="en-IN" sz="2000" b="1" dirty="0"/>
              <a:t>	String </a:t>
            </a:r>
            <a:r>
              <a:rPr lang="en-IN" sz="2000" b="1" i="1" dirty="0"/>
              <a:t>name</a:t>
            </a:r>
            <a:r>
              <a:rPr lang="en-IN" sz="2000" b="1" dirty="0"/>
              <a:t>=“Surya”</a:t>
            </a:r>
          </a:p>
          <a:p>
            <a:endParaRPr lang="en-IN" sz="2000" dirty="0"/>
          </a:p>
          <a:p>
            <a:r>
              <a:rPr lang="en-IN" sz="2000" b="1" dirty="0"/>
              <a:t>Operators example like: </a:t>
            </a:r>
          </a:p>
          <a:p>
            <a:r>
              <a:rPr lang="en-IN" sz="2000" dirty="0"/>
              <a:t>	</a:t>
            </a:r>
            <a:r>
              <a:rPr lang="en-IN" sz="2000" b="1" dirty="0" err="1"/>
              <a:t>i</a:t>
            </a:r>
            <a:r>
              <a:rPr lang="en-IN" sz="2000" b="1" dirty="0"/>
              <a:t>=i+10; // + is an addition assignment operator, </a:t>
            </a:r>
            <a:r>
              <a:rPr lang="en-IN" sz="2000" b="1" dirty="0" err="1"/>
              <a:t>i</a:t>
            </a:r>
            <a:r>
              <a:rPr lang="en-IN" sz="2000" b="1" dirty="0"/>
              <a:t> becomes 20</a:t>
            </a:r>
          </a:p>
          <a:p>
            <a:r>
              <a:rPr lang="en-IN" sz="2000" b="1" dirty="0"/>
              <a:t>	name+=“</a:t>
            </a:r>
            <a:r>
              <a:rPr lang="en-IN" sz="2000" b="1" dirty="0" err="1"/>
              <a:t>narayana</a:t>
            </a:r>
            <a:r>
              <a:rPr lang="en-IN" sz="2000" b="1" dirty="0"/>
              <a:t>” // + is a concatenation operator</a:t>
            </a:r>
          </a:p>
          <a:p>
            <a:r>
              <a:rPr lang="en-IN" sz="2000" b="1" dirty="0"/>
              <a:t>			    // name becomes Suryanarayana </a:t>
            </a:r>
          </a:p>
        </p:txBody>
      </p:sp>
      <p:sp>
        <p:nvSpPr>
          <p:cNvPr id="7" name="Footer Placeholder 6">
            <a:extLst>
              <a:ext uri="{FF2B5EF4-FFF2-40B4-BE49-F238E27FC236}">
                <a16:creationId xmlns="" xmlns:a16="http://schemas.microsoft.com/office/drawing/2014/main" id="{E0F8C3D5-A849-F891-8AA5-E53D34A7DBC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1435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animEffect transition="in" filter="fade">
                                      <p:cBhvr>
                                        <p:cTn id="10" dur="500"/>
                                        <p:tgtEl>
                                          <p:spTgt spid="1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animEffect transition="in" filter="fade">
                                      <p:cBhvr>
                                        <p:cTn id="13" dur="500"/>
                                        <p:tgtEl>
                                          <p:spTgt spid="1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xEl>
                                              <p:pRg st="3" end="3"/>
                                            </p:txEl>
                                          </p:spTgt>
                                        </p:tgtEl>
                                        <p:attrNameLst>
                                          <p:attrName>style.visibility</p:attrName>
                                        </p:attrNameLst>
                                      </p:cBhvr>
                                      <p:to>
                                        <p:strVal val="visible"/>
                                      </p:to>
                                    </p:set>
                                    <p:animEffect transition="in" filter="fade">
                                      <p:cBhvr>
                                        <p:cTn id="16" dur="500"/>
                                        <p:tgtEl>
                                          <p:spTgt spid="1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animEffect transition="in" filter="fade">
                                      <p:cBhvr>
                                        <p:cTn id="19" dur="500"/>
                                        <p:tgtEl>
                                          <p:spTgt spid="1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xEl>
                                              <p:pRg st="5" end="5"/>
                                            </p:txEl>
                                          </p:spTgt>
                                        </p:tgtEl>
                                        <p:attrNameLst>
                                          <p:attrName>style.visibility</p:attrName>
                                        </p:attrNameLst>
                                      </p:cBhvr>
                                      <p:to>
                                        <p:strVal val="visible"/>
                                      </p:to>
                                    </p:set>
                                    <p:animEffect transition="in" filter="fade">
                                      <p:cBhvr>
                                        <p:cTn id="22" dur="500"/>
                                        <p:tgtEl>
                                          <p:spTgt spid="19">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xEl>
                                              <p:pRg st="7" end="7"/>
                                            </p:txEl>
                                          </p:spTgt>
                                        </p:tgtEl>
                                        <p:attrNameLst>
                                          <p:attrName>style.visibility</p:attrName>
                                        </p:attrNameLst>
                                      </p:cBhvr>
                                      <p:to>
                                        <p:strVal val="visible"/>
                                      </p:to>
                                    </p:set>
                                    <p:animEffect transition="in" filter="fade">
                                      <p:cBhvr>
                                        <p:cTn id="25" dur="500"/>
                                        <p:tgtEl>
                                          <p:spTgt spid="19">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xEl>
                                              <p:pRg st="8" end="8"/>
                                            </p:txEl>
                                          </p:spTgt>
                                        </p:tgtEl>
                                        <p:attrNameLst>
                                          <p:attrName>style.visibility</p:attrName>
                                        </p:attrNameLst>
                                      </p:cBhvr>
                                      <p:to>
                                        <p:strVal val="visible"/>
                                      </p:to>
                                    </p:set>
                                    <p:animEffect transition="in" filter="fade">
                                      <p:cBhvr>
                                        <p:cTn id="28" dur="500"/>
                                        <p:tgtEl>
                                          <p:spTgt spid="19">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xEl>
                                              <p:pRg st="9" end="9"/>
                                            </p:txEl>
                                          </p:spTgt>
                                        </p:tgtEl>
                                        <p:attrNameLst>
                                          <p:attrName>style.visibility</p:attrName>
                                        </p:attrNameLst>
                                      </p:cBhvr>
                                      <p:to>
                                        <p:strVal val="visible"/>
                                      </p:to>
                                    </p:set>
                                    <p:animEffect transition="in" filter="fade">
                                      <p:cBhvr>
                                        <p:cTn id="31" dur="500"/>
                                        <p:tgtEl>
                                          <p:spTgt spid="19">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xEl>
                                              <p:pRg st="11" end="11"/>
                                            </p:txEl>
                                          </p:spTgt>
                                        </p:tgtEl>
                                        <p:attrNameLst>
                                          <p:attrName>style.visibility</p:attrName>
                                        </p:attrNameLst>
                                      </p:cBhvr>
                                      <p:to>
                                        <p:strVal val="visible"/>
                                      </p:to>
                                    </p:set>
                                    <p:animEffect transition="in" filter="fade">
                                      <p:cBhvr>
                                        <p:cTn id="34" dur="500"/>
                                        <p:tgtEl>
                                          <p:spTgt spid="19">
                                            <p:txEl>
                                              <p:pRg st="11" end="1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xEl>
                                              <p:pRg st="12" end="12"/>
                                            </p:txEl>
                                          </p:spTgt>
                                        </p:tgtEl>
                                        <p:attrNameLst>
                                          <p:attrName>style.visibility</p:attrName>
                                        </p:attrNameLst>
                                      </p:cBhvr>
                                      <p:to>
                                        <p:strVal val="visible"/>
                                      </p:to>
                                    </p:set>
                                    <p:animEffect transition="in" filter="fade">
                                      <p:cBhvr>
                                        <p:cTn id="37" dur="500"/>
                                        <p:tgtEl>
                                          <p:spTgt spid="19">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xEl>
                                              <p:pRg st="13" end="13"/>
                                            </p:txEl>
                                          </p:spTgt>
                                        </p:tgtEl>
                                        <p:attrNameLst>
                                          <p:attrName>style.visibility</p:attrName>
                                        </p:attrNameLst>
                                      </p:cBhvr>
                                      <p:to>
                                        <p:strVal val="visible"/>
                                      </p:to>
                                    </p:set>
                                    <p:animEffect transition="in" filter="fade">
                                      <p:cBhvr>
                                        <p:cTn id="40" dur="500"/>
                                        <p:tgtEl>
                                          <p:spTgt spid="19">
                                            <p:txEl>
                                              <p:pRg st="13" end="13"/>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9">
                                            <p:txEl>
                                              <p:pRg st="14" end="14"/>
                                            </p:txEl>
                                          </p:spTgt>
                                        </p:tgtEl>
                                        <p:attrNameLst>
                                          <p:attrName>style.visibility</p:attrName>
                                        </p:attrNameLst>
                                      </p:cBhvr>
                                      <p:to>
                                        <p:strVal val="visible"/>
                                      </p:to>
                                    </p:set>
                                    <p:animEffect transition="in" filter="fade">
                                      <p:cBhvr>
                                        <p:cTn id="43" dur="500"/>
                                        <p:tgtEl>
                                          <p:spTgt spid="1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Operators in Java</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graphicFrame>
        <p:nvGraphicFramePr>
          <p:cNvPr id="7" name="Table 8">
            <a:extLst>
              <a:ext uri="{FF2B5EF4-FFF2-40B4-BE49-F238E27FC236}">
                <a16:creationId xmlns="" xmlns:a16="http://schemas.microsoft.com/office/drawing/2014/main" id="{CB908AF3-1184-4E5A-9D7A-2B025ED1C7DA}"/>
              </a:ext>
            </a:extLst>
          </p:cNvPr>
          <p:cNvGraphicFramePr>
            <a:graphicFrameLocks noGrp="1"/>
          </p:cNvGraphicFramePr>
          <p:nvPr>
            <p:extLst>
              <p:ext uri="{D42A27DB-BD31-4B8C-83A1-F6EECF244321}">
                <p14:modId xmlns:p14="http://schemas.microsoft.com/office/powerpoint/2010/main" val="3651187902"/>
              </p:ext>
            </p:extLst>
          </p:nvPr>
        </p:nvGraphicFramePr>
        <p:xfrm>
          <a:off x="644024" y="1130968"/>
          <a:ext cx="8128000" cy="4114800"/>
        </p:xfrm>
        <a:graphic>
          <a:graphicData uri="http://schemas.openxmlformats.org/drawingml/2006/table">
            <a:tbl>
              <a:tblPr firstRow="1" bandRow="1">
                <a:tableStyleId>{5C22544A-7EE6-4342-B048-85BDC9FD1C3A}</a:tableStyleId>
              </a:tblPr>
              <a:tblGrid>
                <a:gridCol w="8128000">
                  <a:extLst>
                    <a:ext uri="{9D8B030D-6E8A-4147-A177-3AD203B41FA5}">
                      <a16:colId xmlns="" xmlns:a16="http://schemas.microsoft.com/office/drawing/2014/main" val="466995724"/>
                    </a:ext>
                  </a:extLst>
                </a:gridCol>
              </a:tblGrid>
              <a:tr h="370840">
                <a:tc>
                  <a:txBody>
                    <a:bodyPr/>
                    <a:lstStyle/>
                    <a:p>
                      <a:r>
                        <a:rPr lang="en-US" sz="2400" b="1" dirty="0"/>
                        <a:t>Top-Level classification of Operators:</a:t>
                      </a:r>
                      <a:endParaRPr lang="en-IN" sz="2400" dirty="0"/>
                    </a:p>
                  </a:txBody>
                  <a:tcPr/>
                </a:tc>
                <a:extLst>
                  <a:ext uri="{0D108BD9-81ED-4DB2-BD59-A6C34878D82A}">
                    <a16:rowId xmlns="" xmlns:a16="http://schemas.microsoft.com/office/drawing/2014/main" val="777624441"/>
                  </a:ext>
                </a:extLst>
              </a:tr>
              <a:tr h="370840">
                <a:tc>
                  <a:txBody>
                    <a:bodyPr/>
                    <a:lstStyle/>
                    <a:p>
                      <a:pPr marL="742950" lvl="1" indent="-285750">
                        <a:buFont typeface="Wingdings" panose="05000000000000000000" pitchFamily="2" charset="2"/>
                        <a:buChar char="Ø"/>
                      </a:pPr>
                      <a:r>
                        <a:rPr lang="en-US" sz="2400" b="1" dirty="0"/>
                        <a:t>Arithmetic	</a:t>
                      </a:r>
                    </a:p>
                  </a:txBody>
                  <a:tcPr/>
                </a:tc>
                <a:extLst>
                  <a:ext uri="{0D108BD9-81ED-4DB2-BD59-A6C34878D82A}">
                    <a16:rowId xmlns="" xmlns:a16="http://schemas.microsoft.com/office/drawing/2014/main" val="3905852697"/>
                  </a:ext>
                </a:extLst>
              </a:tr>
              <a:tr h="370840">
                <a:tc>
                  <a:txBody>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dirty="0"/>
                        <a:t>Assignment</a:t>
                      </a:r>
                    </a:p>
                  </a:txBody>
                  <a:tcPr/>
                </a:tc>
                <a:extLst>
                  <a:ext uri="{0D108BD9-81ED-4DB2-BD59-A6C34878D82A}">
                    <a16:rowId xmlns="" xmlns:a16="http://schemas.microsoft.com/office/drawing/2014/main" val="708636699"/>
                  </a:ext>
                </a:extLst>
              </a:tr>
              <a:tr h="370840">
                <a:tc>
                  <a:txBody>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dirty="0"/>
                        <a:t>Increment/Decrement (or) Prefix/Postfix</a:t>
                      </a:r>
                    </a:p>
                  </a:txBody>
                  <a:tcPr/>
                </a:tc>
                <a:extLst>
                  <a:ext uri="{0D108BD9-81ED-4DB2-BD59-A6C34878D82A}">
                    <a16:rowId xmlns="" xmlns:a16="http://schemas.microsoft.com/office/drawing/2014/main" val="3562219370"/>
                  </a:ext>
                </a:extLst>
              </a:tr>
              <a:tr h="370840">
                <a:tc>
                  <a:txBody>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dirty="0"/>
                        <a:t>Relational</a:t>
                      </a:r>
                    </a:p>
                  </a:txBody>
                  <a:tcPr/>
                </a:tc>
                <a:extLst>
                  <a:ext uri="{0D108BD9-81ED-4DB2-BD59-A6C34878D82A}">
                    <a16:rowId xmlns="" xmlns:a16="http://schemas.microsoft.com/office/drawing/2014/main" val="3261311862"/>
                  </a:ext>
                </a:extLst>
              </a:tr>
              <a:tr h="370840">
                <a:tc>
                  <a:txBody>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dirty="0"/>
                        <a:t>Logical</a:t>
                      </a:r>
                    </a:p>
                  </a:txBody>
                  <a:tcPr/>
                </a:tc>
                <a:extLst>
                  <a:ext uri="{0D108BD9-81ED-4DB2-BD59-A6C34878D82A}">
                    <a16:rowId xmlns="" xmlns:a16="http://schemas.microsoft.com/office/drawing/2014/main" val="1637980108"/>
                  </a:ext>
                </a:extLst>
              </a:tr>
              <a:tr h="370840">
                <a:tc>
                  <a:txBody>
                    <a:bodyPr/>
                    <a:lstStyle/>
                    <a:p>
                      <a:pPr marL="742950" lvl="1" indent="-285750">
                        <a:buFont typeface="Wingdings" panose="05000000000000000000" pitchFamily="2" charset="2"/>
                        <a:buChar char="Ø"/>
                      </a:pPr>
                      <a:r>
                        <a:rPr lang="en-US" sz="2400" b="1" dirty="0"/>
                        <a:t>Ternary</a:t>
                      </a:r>
                    </a:p>
                  </a:txBody>
                  <a:tcPr/>
                </a:tc>
                <a:extLst>
                  <a:ext uri="{0D108BD9-81ED-4DB2-BD59-A6C34878D82A}">
                    <a16:rowId xmlns="" xmlns:a16="http://schemas.microsoft.com/office/drawing/2014/main" val="1353578530"/>
                  </a:ext>
                </a:extLst>
              </a:tr>
              <a:tr h="370840">
                <a:tc>
                  <a:txBody>
                    <a:bodyPr/>
                    <a:lstStyle/>
                    <a:p>
                      <a:pPr marL="742950" lvl="1" indent="-285750">
                        <a:buFont typeface="Wingdings" panose="05000000000000000000" pitchFamily="2" charset="2"/>
                        <a:buChar char="Ø"/>
                      </a:pPr>
                      <a:r>
                        <a:rPr lang="en-US" sz="2400" b="1" dirty="0"/>
                        <a:t>Bitwise</a:t>
                      </a:r>
                    </a:p>
                  </a:txBody>
                  <a:tcPr/>
                </a:tc>
                <a:extLst>
                  <a:ext uri="{0D108BD9-81ED-4DB2-BD59-A6C34878D82A}">
                    <a16:rowId xmlns="" xmlns:a16="http://schemas.microsoft.com/office/drawing/2014/main" val="295793489"/>
                  </a:ext>
                </a:extLst>
              </a:tr>
              <a:tr h="370840">
                <a:tc>
                  <a:txBody>
                    <a:bodyPr/>
                    <a:lstStyle/>
                    <a:p>
                      <a:pPr marL="742950" lvl="1" indent="-285750">
                        <a:buFont typeface="Wingdings" panose="05000000000000000000" pitchFamily="2" charset="2"/>
                        <a:buChar char="Ø"/>
                      </a:pPr>
                      <a:r>
                        <a:rPr lang="en-US" sz="2400" b="1" dirty="0"/>
                        <a:t>Shift</a:t>
                      </a:r>
                    </a:p>
                  </a:txBody>
                  <a:tcPr/>
                </a:tc>
                <a:extLst>
                  <a:ext uri="{0D108BD9-81ED-4DB2-BD59-A6C34878D82A}">
                    <a16:rowId xmlns="" xmlns:a16="http://schemas.microsoft.com/office/drawing/2014/main" val="3577252458"/>
                  </a:ext>
                </a:extLst>
              </a:tr>
            </a:tbl>
          </a:graphicData>
        </a:graphic>
      </p:graphicFrame>
      <p:sp>
        <p:nvSpPr>
          <p:cNvPr id="8" name="Footer Placeholder 7">
            <a:extLst>
              <a:ext uri="{FF2B5EF4-FFF2-40B4-BE49-F238E27FC236}">
                <a16:creationId xmlns="" xmlns:a16="http://schemas.microsoft.com/office/drawing/2014/main" id="{E881B304-6075-35F3-799D-4135CA8A09C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7236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Operators in Java</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graphicFrame>
        <p:nvGraphicFramePr>
          <p:cNvPr id="7" name="Table 7">
            <a:extLst>
              <a:ext uri="{FF2B5EF4-FFF2-40B4-BE49-F238E27FC236}">
                <a16:creationId xmlns="" xmlns:a16="http://schemas.microsoft.com/office/drawing/2014/main" id="{2489CEF8-2CDF-46A9-AFC3-2490F1E7B47C}"/>
              </a:ext>
            </a:extLst>
          </p:cNvPr>
          <p:cNvGraphicFramePr>
            <a:graphicFrameLocks noGrp="1"/>
          </p:cNvGraphicFramePr>
          <p:nvPr>
            <p:extLst>
              <p:ext uri="{D42A27DB-BD31-4B8C-83A1-F6EECF244321}">
                <p14:modId xmlns:p14="http://schemas.microsoft.com/office/powerpoint/2010/main" val="515460366"/>
              </p:ext>
            </p:extLst>
          </p:nvPr>
        </p:nvGraphicFramePr>
        <p:xfrm>
          <a:off x="471910" y="690647"/>
          <a:ext cx="8128000" cy="5709920"/>
        </p:xfrm>
        <a:graphic>
          <a:graphicData uri="http://schemas.openxmlformats.org/drawingml/2006/table">
            <a:tbl>
              <a:tblPr firstRow="1" bandRow="1">
                <a:tableStyleId>{5C22544A-7EE6-4342-B048-85BDC9FD1C3A}</a:tableStyleId>
              </a:tblPr>
              <a:tblGrid>
                <a:gridCol w="4064000">
                  <a:extLst>
                    <a:ext uri="{9D8B030D-6E8A-4147-A177-3AD203B41FA5}">
                      <a16:colId xmlns="" xmlns:a16="http://schemas.microsoft.com/office/drawing/2014/main" val="508661917"/>
                    </a:ext>
                  </a:extLst>
                </a:gridCol>
                <a:gridCol w="4064000">
                  <a:extLst>
                    <a:ext uri="{9D8B030D-6E8A-4147-A177-3AD203B41FA5}">
                      <a16:colId xmlns="" xmlns:a16="http://schemas.microsoft.com/office/drawing/2014/main" val="3903767768"/>
                    </a:ext>
                  </a:extLst>
                </a:gridCol>
              </a:tblGrid>
              <a:tr h="370840">
                <a:tc gridSpan="2">
                  <a:txBody>
                    <a:bodyPr/>
                    <a:lstStyle/>
                    <a:p>
                      <a:r>
                        <a:rPr lang="en-IN" sz="1600" b="1" dirty="0" err="1"/>
                        <a:t>i</a:t>
                      </a:r>
                      <a:r>
                        <a:rPr lang="en-IN" sz="1600" b="1" dirty="0"/>
                        <a:t>) Unary Operators - Operator which operates on a single operand</a:t>
                      </a:r>
                      <a:endParaRPr lang="en-IN" sz="1600" dirty="0"/>
                    </a:p>
                  </a:txBody>
                  <a:tcPr/>
                </a:tc>
                <a:tc hMerge="1">
                  <a:txBody>
                    <a:bodyPr/>
                    <a:lstStyle/>
                    <a:p>
                      <a:endParaRPr lang="en-IN" dirty="0"/>
                    </a:p>
                  </a:txBody>
                  <a:tcPr/>
                </a:tc>
                <a:extLst>
                  <a:ext uri="{0D108BD9-81ED-4DB2-BD59-A6C34878D82A}">
                    <a16:rowId xmlns="" xmlns:a16="http://schemas.microsoft.com/office/drawing/2014/main" val="2679165029"/>
                  </a:ext>
                </a:extLst>
              </a:tr>
              <a:tr h="370840">
                <a:tc>
                  <a:txBody>
                    <a:bodyPr/>
                    <a:lstStyle/>
                    <a:p>
                      <a:r>
                        <a:rPr lang="en-IN" sz="1400" b="0" dirty="0"/>
                        <a:t>Pre Increment-Decrement Operators</a:t>
                      </a:r>
                    </a:p>
                  </a:txBody>
                  <a:tcPr/>
                </a:tc>
                <a:tc>
                  <a:txBody>
                    <a:bodyPr/>
                    <a:lstStyle/>
                    <a:p>
                      <a:r>
                        <a:rPr lang="en-IN" sz="1400" b="0" dirty="0"/>
                        <a:t>++</a:t>
                      </a:r>
                      <a:r>
                        <a:rPr lang="en-IN" sz="1400" b="0" dirty="0" err="1"/>
                        <a:t>i</a:t>
                      </a:r>
                      <a:r>
                        <a:rPr lang="en-IN" sz="1400" b="0" dirty="0"/>
                        <a:t>, --</a:t>
                      </a:r>
                      <a:r>
                        <a:rPr lang="en-IN" sz="1400" b="0" dirty="0" err="1"/>
                        <a:t>i</a:t>
                      </a:r>
                      <a:r>
                        <a:rPr lang="en-IN" sz="1400" b="0" dirty="0"/>
                        <a:t>  ++10</a:t>
                      </a:r>
                    </a:p>
                  </a:txBody>
                  <a:tcPr/>
                </a:tc>
                <a:extLst>
                  <a:ext uri="{0D108BD9-81ED-4DB2-BD59-A6C34878D82A}">
                    <a16:rowId xmlns="" xmlns:a16="http://schemas.microsoft.com/office/drawing/2014/main" val="2147848652"/>
                  </a:ext>
                </a:extLst>
              </a:tr>
              <a:tr h="370840">
                <a:tc>
                  <a:txBody>
                    <a:bodyPr/>
                    <a:lstStyle/>
                    <a:p>
                      <a:r>
                        <a:rPr lang="en-IN" sz="1400" b="0" dirty="0"/>
                        <a:t>Post increment-Decrement Operators</a:t>
                      </a:r>
                    </a:p>
                  </a:txBody>
                  <a:tcPr/>
                </a:tc>
                <a:tc>
                  <a:txBody>
                    <a:bodyPr/>
                    <a:lstStyle/>
                    <a:p>
                      <a:r>
                        <a:rPr lang="en-IN" sz="1400" b="0" dirty="0" err="1"/>
                        <a:t>i</a:t>
                      </a:r>
                      <a:r>
                        <a:rPr lang="en-IN" sz="1400" b="0" dirty="0"/>
                        <a:t>++, </a:t>
                      </a:r>
                      <a:r>
                        <a:rPr lang="en-IN" sz="1400" b="0" dirty="0" err="1"/>
                        <a:t>i</a:t>
                      </a:r>
                      <a:r>
                        <a:rPr lang="en-IN" sz="1400" b="0" dirty="0"/>
                        <a:t>--  10--</a:t>
                      </a:r>
                    </a:p>
                  </a:txBody>
                  <a:tcPr/>
                </a:tc>
                <a:extLst>
                  <a:ext uri="{0D108BD9-81ED-4DB2-BD59-A6C34878D82A}">
                    <a16:rowId xmlns="" xmlns:a16="http://schemas.microsoft.com/office/drawing/2014/main" val="479636725"/>
                  </a:ext>
                </a:extLst>
              </a:tr>
              <a:tr h="370840">
                <a:tc>
                  <a:txBody>
                    <a:bodyPr/>
                    <a:lstStyle/>
                    <a:p>
                      <a:r>
                        <a:rPr lang="en-IN" sz="1400" b="0" dirty="0"/>
                        <a:t>Not Operator</a:t>
                      </a:r>
                    </a:p>
                  </a:txBody>
                  <a:tcPr/>
                </a:tc>
                <a:tc>
                  <a:txBody>
                    <a:bodyPr/>
                    <a:lstStyle/>
                    <a:p>
                      <a:r>
                        <a:rPr lang="en-IN" sz="1400" b="0" dirty="0"/>
                        <a:t>!flag</a:t>
                      </a:r>
                    </a:p>
                  </a:txBody>
                  <a:tcPr/>
                </a:tc>
                <a:extLst>
                  <a:ext uri="{0D108BD9-81ED-4DB2-BD59-A6C34878D82A}">
                    <a16:rowId xmlns="" xmlns:a16="http://schemas.microsoft.com/office/drawing/2014/main" val="575777576"/>
                  </a:ext>
                </a:extLst>
              </a:tr>
              <a:tr h="370840">
                <a:tc>
                  <a:txBody>
                    <a:bodyPr/>
                    <a:lstStyle/>
                    <a:p>
                      <a:r>
                        <a:rPr lang="en-IN" sz="1400" b="0" dirty="0"/>
                        <a:t>~ Bitwise NOT</a:t>
                      </a:r>
                    </a:p>
                  </a:txBody>
                  <a:tcPr/>
                </a:tc>
                <a:tc>
                  <a:txBody>
                    <a:bodyPr/>
                    <a:lstStyle/>
                    <a:p>
                      <a:r>
                        <a:rPr lang="en-IN" sz="1400" b="0" dirty="0"/>
                        <a:t>~</a:t>
                      </a:r>
                      <a:r>
                        <a:rPr lang="en-IN" sz="1400" b="0" dirty="0" err="1"/>
                        <a:t>i</a:t>
                      </a:r>
                      <a:endParaRPr lang="en-IN" sz="1400" b="0" dirty="0"/>
                    </a:p>
                  </a:txBody>
                  <a:tcPr/>
                </a:tc>
                <a:extLst>
                  <a:ext uri="{0D108BD9-81ED-4DB2-BD59-A6C34878D82A}">
                    <a16:rowId xmlns="" xmlns:a16="http://schemas.microsoft.com/office/drawing/2014/main" val="1399186865"/>
                  </a:ext>
                </a:extLst>
              </a:tr>
              <a:tr h="370840">
                <a:tc gridSpan="2">
                  <a:txBody>
                    <a:bodyPr/>
                    <a:lstStyle/>
                    <a:p>
                      <a:r>
                        <a:rPr lang="en-IN" sz="1600" b="1" dirty="0"/>
                        <a:t>ii) Binary Operators</a:t>
                      </a:r>
                      <a:endParaRPr lang="en-IN" sz="1600" dirty="0"/>
                    </a:p>
                  </a:txBody>
                  <a:tcPr/>
                </a:tc>
                <a:tc hMerge="1">
                  <a:txBody>
                    <a:bodyPr/>
                    <a:lstStyle/>
                    <a:p>
                      <a:endParaRPr lang="en-IN" dirty="0"/>
                    </a:p>
                  </a:txBody>
                  <a:tcPr/>
                </a:tc>
                <a:extLst>
                  <a:ext uri="{0D108BD9-81ED-4DB2-BD59-A6C34878D82A}">
                    <a16:rowId xmlns="" xmlns:a16="http://schemas.microsoft.com/office/drawing/2014/main" val="2747508462"/>
                  </a:ext>
                </a:extLst>
              </a:tr>
              <a:tr h="370840">
                <a:tc>
                  <a:txBody>
                    <a:bodyPr/>
                    <a:lstStyle/>
                    <a:p>
                      <a:r>
                        <a:rPr lang="en-IN" sz="1400" b="0" dirty="0"/>
                        <a:t>Arithmetic Operators</a:t>
                      </a:r>
                    </a:p>
                  </a:txBody>
                  <a:tcPr/>
                </a:tc>
                <a:tc>
                  <a:txBody>
                    <a:bodyPr/>
                    <a:lstStyle/>
                    <a:p>
                      <a:r>
                        <a:rPr lang="en-IN" sz="1400" b="0" dirty="0" err="1"/>
                        <a:t>a+b</a:t>
                      </a:r>
                      <a:r>
                        <a:rPr lang="en-IN" sz="1400" b="0" dirty="0"/>
                        <a:t>, a-b, a*b, a/b, </a:t>
                      </a:r>
                      <a:r>
                        <a:rPr lang="en-IN" sz="1400" b="0" dirty="0" err="1"/>
                        <a:t>a%b</a:t>
                      </a:r>
                      <a:endParaRPr lang="en-IN" sz="1400" b="0" dirty="0"/>
                    </a:p>
                  </a:txBody>
                  <a:tcPr/>
                </a:tc>
                <a:extLst>
                  <a:ext uri="{0D108BD9-81ED-4DB2-BD59-A6C34878D82A}">
                    <a16:rowId xmlns="" xmlns:a16="http://schemas.microsoft.com/office/drawing/2014/main" val="1771303722"/>
                  </a:ext>
                </a:extLst>
              </a:tr>
              <a:tr h="370840">
                <a:tc>
                  <a:txBody>
                    <a:bodyPr/>
                    <a:lstStyle/>
                    <a:p>
                      <a:r>
                        <a:rPr lang="en-IN" sz="1400" b="0" dirty="0"/>
                        <a:t>Assignment Operators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dirty="0"/>
                        <a:t>int </a:t>
                      </a:r>
                      <a:r>
                        <a:rPr lang="en-IN" sz="1400" b="0" dirty="0" err="1"/>
                        <a:t>i</a:t>
                      </a:r>
                      <a:r>
                        <a:rPr lang="en-IN" sz="1400" b="0" dirty="0"/>
                        <a:t>=10, </a:t>
                      </a:r>
                      <a:r>
                        <a:rPr lang="en-IN" sz="1400" b="0" dirty="0" err="1"/>
                        <a:t>i</a:t>
                      </a:r>
                      <a:r>
                        <a:rPr lang="en-IN" sz="1400" b="0" dirty="0"/>
                        <a:t>+=10 (or) </a:t>
                      </a:r>
                      <a:r>
                        <a:rPr lang="en-IN" sz="1400" b="0" dirty="0" err="1"/>
                        <a:t>i</a:t>
                      </a:r>
                      <a:r>
                        <a:rPr lang="en-IN" sz="1400" b="0" dirty="0"/>
                        <a:t>=i+10, </a:t>
                      </a:r>
                      <a:r>
                        <a:rPr lang="en-IN" sz="1400" b="0" dirty="0" err="1"/>
                        <a:t>i</a:t>
                      </a:r>
                      <a:r>
                        <a:rPr lang="en-IN" sz="1400" b="0" dirty="0"/>
                        <a:t>-=10, </a:t>
                      </a:r>
                      <a:r>
                        <a:rPr lang="en-IN" sz="1400" b="0" dirty="0" err="1"/>
                        <a:t>i</a:t>
                      </a:r>
                      <a:r>
                        <a:rPr lang="en-IN" sz="1400" b="0" dirty="0"/>
                        <a:t>*=10 </a:t>
                      </a:r>
                      <a:r>
                        <a:rPr lang="en-IN" sz="1400" b="0" dirty="0" err="1"/>
                        <a:t>i</a:t>
                      </a:r>
                      <a:r>
                        <a:rPr lang="en-IN" sz="1400" b="0" dirty="0"/>
                        <a:t>/=10, </a:t>
                      </a:r>
                      <a:r>
                        <a:rPr lang="en-IN" sz="1400" b="0" dirty="0" err="1"/>
                        <a:t>i</a:t>
                      </a:r>
                      <a:r>
                        <a:rPr lang="en-IN" sz="1400" b="0" dirty="0"/>
                        <a:t>%=10</a:t>
                      </a:r>
                    </a:p>
                    <a:p>
                      <a:endParaRPr lang="en-IN" sz="1400" b="0" dirty="0"/>
                    </a:p>
                  </a:txBody>
                  <a:tcPr/>
                </a:tc>
                <a:extLst>
                  <a:ext uri="{0D108BD9-81ED-4DB2-BD59-A6C34878D82A}">
                    <a16:rowId xmlns="" xmlns:a16="http://schemas.microsoft.com/office/drawing/2014/main" val="1327942894"/>
                  </a:ext>
                </a:extLst>
              </a:tr>
              <a:tr h="370840">
                <a:tc>
                  <a:txBody>
                    <a:bodyPr/>
                    <a:lstStyle/>
                    <a:p>
                      <a:r>
                        <a:rPr lang="en-IN" sz="1400" b="0" dirty="0"/>
                        <a:t>Logical Operators</a:t>
                      </a:r>
                    </a:p>
                  </a:txBody>
                  <a:tcPr/>
                </a:tc>
                <a:tc>
                  <a:txBody>
                    <a:bodyPr/>
                    <a:lstStyle/>
                    <a:p>
                      <a:r>
                        <a:rPr lang="en-IN" sz="1400" b="0" dirty="0"/>
                        <a:t> true &amp; true, true | false , ^, &amp;&amp;, ||</a:t>
                      </a:r>
                    </a:p>
                  </a:txBody>
                  <a:tcPr/>
                </a:tc>
                <a:extLst>
                  <a:ext uri="{0D108BD9-81ED-4DB2-BD59-A6C34878D82A}">
                    <a16:rowId xmlns="" xmlns:a16="http://schemas.microsoft.com/office/drawing/2014/main" val="1710610557"/>
                  </a:ext>
                </a:extLst>
              </a:tr>
              <a:tr h="370840">
                <a:tc>
                  <a:txBody>
                    <a:bodyPr/>
                    <a:lstStyle/>
                    <a:p>
                      <a:r>
                        <a:rPr lang="en-IN" sz="1400" b="0" dirty="0"/>
                        <a:t>Relational Operators</a:t>
                      </a:r>
                    </a:p>
                  </a:txBody>
                  <a:tcPr/>
                </a:tc>
                <a:tc>
                  <a:txBody>
                    <a:bodyPr/>
                    <a:lstStyle/>
                    <a:p>
                      <a:r>
                        <a:rPr lang="en-IN" sz="1400" b="0" dirty="0"/>
                        <a:t> ==, !=, &lt;, &lt;=, &gt;, &gt;=</a:t>
                      </a:r>
                    </a:p>
                  </a:txBody>
                  <a:tcPr/>
                </a:tc>
                <a:extLst>
                  <a:ext uri="{0D108BD9-81ED-4DB2-BD59-A6C34878D82A}">
                    <a16:rowId xmlns="" xmlns:a16="http://schemas.microsoft.com/office/drawing/2014/main" val="529235339"/>
                  </a:ext>
                </a:extLst>
              </a:tr>
              <a:tr h="370840">
                <a:tc>
                  <a:txBody>
                    <a:bodyPr/>
                    <a:lstStyle/>
                    <a:p>
                      <a:r>
                        <a:rPr lang="en-IN" sz="1400" b="0" dirty="0"/>
                        <a:t>Bitwise Operators</a:t>
                      </a:r>
                    </a:p>
                  </a:txBody>
                  <a:tcPr/>
                </a:tc>
                <a:tc>
                  <a:txBody>
                    <a:bodyPr/>
                    <a:lstStyle/>
                    <a:p>
                      <a:r>
                        <a:rPr lang="en-IN" sz="1400" b="0" dirty="0"/>
                        <a:t>&amp;, |, ^</a:t>
                      </a:r>
                    </a:p>
                  </a:txBody>
                  <a:tcPr/>
                </a:tc>
                <a:extLst>
                  <a:ext uri="{0D108BD9-81ED-4DB2-BD59-A6C34878D82A}">
                    <a16:rowId xmlns="" xmlns:a16="http://schemas.microsoft.com/office/drawing/2014/main" val="539581408"/>
                  </a:ext>
                </a:extLst>
              </a:tr>
              <a:tr h="370840">
                <a:tc>
                  <a:txBody>
                    <a:bodyPr/>
                    <a:lstStyle/>
                    <a:p>
                      <a:r>
                        <a:rPr lang="en-IN" sz="1400" b="0" dirty="0"/>
                        <a:t>Shift Operators</a:t>
                      </a:r>
                    </a:p>
                  </a:txBody>
                  <a:tcPr/>
                </a:tc>
                <a:tc>
                  <a:txBody>
                    <a:bodyPr/>
                    <a:lstStyle/>
                    <a:p>
                      <a:r>
                        <a:rPr lang="en-IN" sz="1400" b="0" dirty="0"/>
                        <a:t>&gt;&gt;, &lt;&lt;, &gt;&gt;&gt;</a:t>
                      </a:r>
                    </a:p>
                  </a:txBody>
                  <a:tcPr/>
                </a:tc>
                <a:extLst>
                  <a:ext uri="{0D108BD9-81ED-4DB2-BD59-A6C34878D82A}">
                    <a16:rowId xmlns="" xmlns:a16="http://schemas.microsoft.com/office/drawing/2014/main" val="735593027"/>
                  </a:ext>
                </a:extLst>
              </a:tr>
              <a:tr h="370840">
                <a:tc gridSpan="2">
                  <a:txBody>
                    <a:bodyPr/>
                    <a:lstStyle/>
                    <a:p>
                      <a:r>
                        <a:rPr lang="en-IN" sz="1600" b="1" dirty="0"/>
                        <a:t>iii) Ternary Operator/Conditional Operator</a:t>
                      </a:r>
                      <a:endParaRPr lang="en-IN" sz="1600" dirty="0"/>
                    </a:p>
                  </a:txBody>
                  <a:tcPr/>
                </a:tc>
                <a:tc hMerge="1">
                  <a:txBody>
                    <a:bodyPr/>
                    <a:lstStyle/>
                    <a:p>
                      <a:endParaRPr lang="en-IN" dirty="0"/>
                    </a:p>
                  </a:txBody>
                  <a:tcPr/>
                </a:tc>
                <a:extLst>
                  <a:ext uri="{0D108BD9-81ED-4DB2-BD59-A6C34878D82A}">
                    <a16:rowId xmlns="" xmlns:a16="http://schemas.microsoft.com/office/drawing/2014/main" val="3628076794"/>
                  </a:ext>
                </a:extLst>
              </a:tr>
              <a:tr h="370840">
                <a:tc>
                  <a:txBody>
                    <a:bodyPr/>
                    <a:lstStyle/>
                    <a:p>
                      <a:r>
                        <a:rPr lang="en-IN" sz="1400" b="0" dirty="0"/>
                        <a:t>Ternary Operator</a:t>
                      </a:r>
                    </a:p>
                  </a:txBody>
                  <a:tcPr/>
                </a:tc>
                <a:tc>
                  <a:txBody>
                    <a:bodyPr/>
                    <a:lstStyle/>
                    <a:p>
                      <a:r>
                        <a:rPr lang="en-IN" sz="1400" b="0" dirty="0"/>
                        <a:t>output=(condition)?</a:t>
                      </a:r>
                      <a:r>
                        <a:rPr lang="en-IN" sz="1400" b="0" dirty="0" err="1"/>
                        <a:t>lhs:rhs</a:t>
                      </a:r>
                      <a:endParaRPr lang="en-IN" sz="1400" b="0" dirty="0"/>
                    </a:p>
                  </a:txBody>
                  <a:tcPr/>
                </a:tc>
                <a:extLst>
                  <a:ext uri="{0D108BD9-81ED-4DB2-BD59-A6C34878D82A}">
                    <a16:rowId xmlns="" xmlns:a16="http://schemas.microsoft.com/office/drawing/2014/main" val="133234086"/>
                  </a:ext>
                </a:extLst>
              </a:tr>
              <a:tr h="370840">
                <a:tc>
                  <a:txBody>
                    <a:bodyPr/>
                    <a:lstStyle/>
                    <a:p>
                      <a:endParaRPr lang="en-IN" sz="1400" b="0" dirty="0"/>
                    </a:p>
                  </a:txBody>
                  <a:tcPr/>
                </a:tc>
                <a:tc>
                  <a:txBody>
                    <a:bodyPr/>
                    <a:lstStyle/>
                    <a:p>
                      <a:r>
                        <a:rPr lang="en-IN" sz="1400" b="0" dirty="0"/>
                        <a:t>int  k= (10&gt;5)? 10: 5</a:t>
                      </a:r>
                    </a:p>
                  </a:txBody>
                  <a:tcPr/>
                </a:tc>
                <a:extLst>
                  <a:ext uri="{0D108BD9-81ED-4DB2-BD59-A6C34878D82A}">
                    <a16:rowId xmlns="" xmlns:a16="http://schemas.microsoft.com/office/drawing/2014/main" val="447240100"/>
                  </a:ext>
                </a:extLst>
              </a:tr>
            </a:tbl>
          </a:graphicData>
        </a:graphic>
      </p:graphicFrame>
      <p:sp>
        <p:nvSpPr>
          <p:cNvPr id="8" name="Footer Placeholder 7">
            <a:extLst>
              <a:ext uri="{FF2B5EF4-FFF2-40B4-BE49-F238E27FC236}">
                <a16:creationId xmlns="" xmlns:a16="http://schemas.microsoft.com/office/drawing/2014/main" id="{C4183E03-C417-C041-C99B-E13657CE955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79512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Arithmetic Operators in Java</a:t>
                </a:r>
                <a:endParaRPr lang="en-US" sz="2400"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28728B42-1DC8-4AFE-9B91-43116772D9EA}"/>
              </a:ext>
            </a:extLst>
          </p:cNvPr>
          <p:cNvSpPr txBox="1"/>
          <p:nvPr/>
        </p:nvSpPr>
        <p:spPr>
          <a:xfrm>
            <a:off x="430693" y="713894"/>
            <a:ext cx="8472675" cy="6001643"/>
          </a:xfrm>
          <a:prstGeom prst="rect">
            <a:avLst/>
          </a:prstGeom>
          <a:noFill/>
        </p:spPr>
        <p:txBody>
          <a:bodyPr wrap="square">
            <a:spAutoFit/>
          </a:bodyPr>
          <a:lstStyle/>
          <a:p>
            <a:r>
              <a:rPr lang="en-IN" sz="1600" b="1" dirty="0"/>
              <a:t>// ArithmeticOperatorsTest.java</a:t>
            </a:r>
          </a:p>
          <a:p>
            <a:r>
              <a:rPr lang="en-IN" sz="1600" b="1" dirty="0"/>
              <a:t>public class </a:t>
            </a:r>
            <a:r>
              <a:rPr lang="en-IN" sz="1600" b="1" dirty="0" err="1"/>
              <a:t>ArithmeticOperatorsTest</a:t>
            </a:r>
            <a:r>
              <a:rPr lang="en-IN" sz="1600" b="1" dirty="0"/>
              <a:t> {</a:t>
            </a:r>
          </a:p>
          <a:p>
            <a:pPr lvl="1"/>
            <a:r>
              <a:rPr lang="en-IN" sz="1600" b="1" dirty="0"/>
              <a:t>public static void main(String rags[]) </a:t>
            </a:r>
            <a:r>
              <a:rPr lang="en-IN" sz="1600" b="1" dirty="0" smtClean="0"/>
              <a:t>{</a:t>
            </a:r>
            <a:endParaRPr lang="en-IN" sz="1600" b="1" dirty="0"/>
          </a:p>
          <a:p>
            <a:pPr lvl="2"/>
            <a:r>
              <a:rPr lang="en-IN" sz="2400" b="1" dirty="0"/>
              <a:t>int </a:t>
            </a:r>
            <a:r>
              <a:rPr lang="en-IN" sz="2400" b="1" dirty="0" err="1"/>
              <a:t>i</a:t>
            </a:r>
            <a:r>
              <a:rPr lang="en-IN" sz="2400" b="1" dirty="0"/>
              <a:t>=5, j=2;</a:t>
            </a:r>
          </a:p>
          <a:p>
            <a:pPr lvl="2"/>
            <a:r>
              <a:rPr lang="en-IN" sz="2400" b="1" dirty="0"/>
              <a:t>int k = </a:t>
            </a:r>
            <a:r>
              <a:rPr lang="en-IN" sz="2400" b="1" dirty="0" err="1"/>
              <a:t>i</a:t>
            </a:r>
            <a:r>
              <a:rPr lang="en-IN" sz="2400" b="1" dirty="0"/>
              <a:t> + j;</a:t>
            </a:r>
          </a:p>
          <a:p>
            <a:pPr lvl="2"/>
            <a:r>
              <a:rPr lang="en-IN" sz="2400" b="1" dirty="0" err="1"/>
              <a:t>System.out.println</a:t>
            </a:r>
            <a:r>
              <a:rPr lang="en-IN" sz="2400" b="1" dirty="0"/>
              <a:t>(</a:t>
            </a:r>
            <a:r>
              <a:rPr lang="en-IN" sz="2400" b="1" dirty="0" err="1"/>
              <a:t>i</a:t>
            </a:r>
            <a:r>
              <a:rPr lang="en-IN" sz="2400" b="1" dirty="0"/>
              <a:t>+" + "+j+" = "+k</a:t>
            </a:r>
            <a:r>
              <a:rPr lang="en-IN" sz="2400" b="1" dirty="0" smtClean="0"/>
              <a:t>); //   </a:t>
            </a:r>
            <a:r>
              <a:rPr lang="en-IN" sz="2400" b="1" dirty="0"/>
              <a:t>5   +   2   =   7</a:t>
            </a:r>
          </a:p>
          <a:p>
            <a:pPr lvl="2"/>
            <a:r>
              <a:rPr lang="en-IN" sz="2400" b="1" dirty="0" err="1" smtClean="0"/>
              <a:t>int</a:t>
            </a:r>
            <a:r>
              <a:rPr lang="en-IN" sz="2400" b="1" dirty="0" smtClean="0"/>
              <a:t> </a:t>
            </a:r>
            <a:r>
              <a:rPr lang="en-IN" sz="2400" b="1" dirty="0"/>
              <a:t>l = </a:t>
            </a:r>
            <a:r>
              <a:rPr lang="en-IN" sz="2400" b="1" dirty="0" err="1"/>
              <a:t>i</a:t>
            </a:r>
            <a:r>
              <a:rPr lang="en-IN" sz="2400" b="1" dirty="0"/>
              <a:t> - j;</a:t>
            </a:r>
          </a:p>
          <a:p>
            <a:pPr lvl="2"/>
            <a:r>
              <a:rPr lang="en-IN" sz="2400" b="1" dirty="0" err="1"/>
              <a:t>System.out.println</a:t>
            </a:r>
            <a:r>
              <a:rPr lang="en-IN" sz="2400" b="1" dirty="0"/>
              <a:t>(</a:t>
            </a:r>
            <a:r>
              <a:rPr lang="en-IN" sz="2400" b="1" dirty="0" err="1"/>
              <a:t>i</a:t>
            </a:r>
            <a:r>
              <a:rPr lang="en-IN" sz="2400" b="1" dirty="0"/>
              <a:t>+" - "+j+" = "+l);</a:t>
            </a:r>
          </a:p>
          <a:p>
            <a:pPr lvl="2"/>
            <a:r>
              <a:rPr lang="en-IN" sz="2400" b="1" dirty="0" err="1" smtClean="0"/>
              <a:t>int</a:t>
            </a:r>
            <a:r>
              <a:rPr lang="en-IN" sz="2400" b="1" dirty="0" smtClean="0"/>
              <a:t> </a:t>
            </a:r>
            <a:r>
              <a:rPr lang="en-IN" sz="2400" b="1" dirty="0"/>
              <a:t>m=</a:t>
            </a:r>
            <a:r>
              <a:rPr lang="en-IN" sz="2400" b="1" dirty="0" err="1"/>
              <a:t>i</a:t>
            </a:r>
            <a:r>
              <a:rPr lang="en-IN" sz="2400" b="1" dirty="0"/>
              <a:t> * j;</a:t>
            </a:r>
          </a:p>
          <a:p>
            <a:pPr lvl="2"/>
            <a:r>
              <a:rPr lang="en-IN" sz="2400" b="1" dirty="0" err="1"/>
              <a:t>System.out.println</a:t>
            </a:r>
            <a:r>
              <a:rPr lang="en-IN" sz="2400" b="1" dirty="0"/>
              <a:t>(</a:t>
            </a:r>
            <a:r>
              <a:rPr lang="en-IN" sz="2400" b="1" dirty="0" err="1"/>
              <a:t>i</a:t>
            </a:r>
            <a:r>
              <a:rPr lang="en-IN" sz="2400" b="1" dirty="0"/>
              <a:t>+" * "+j+" = "+m</a:t>
            </a:r>
            <a:r>
              <a:rPr lang="en-IN" sz="2400" b="1" dirty="0" smtClean="0"/>
              <a:t>);</a:t>
            </a:r>
            <a:endParaRPr lang="en-IN" sz="2400" b="1" dirty="0"/>
          </a:p>
          <a:p>
            <a:pPr lvl="2"/>
            <a:r>
              <a:rPr lang="en-IN" sz="2400" b="1" dirty="0"/>
              <a:t>int n=</a:t>
            </a:r>
            <a:r>
              <a:rPr lang="en-IN" sz="2400" b="1" dirty="0" err="1"/>
              <a:t>i</a:t>
            </a:r>
            <a:r>
              <a:rPr lang="en-IN" sz="2400" b="1" dirty="0"/>
              <a:t> / j; // '/' is called as division operator</a:t>
            </a:r>
          </a:p>
          <a:p>
            <a:pPr lvl="2"/>
            <a:r>
              <a:rPr lang="en-IN" sz="2400" b="1" dirty="0" err="1"/>
              <a:t>System.out.println</a:t>
            </a:r>
            <a:r>
              <a:rPr lang="en-IN" sz="2400" b="1" dirty="0"/>
              <a:t>(</a:t>
            </a:r>
            <a:r>
              <a:rPr lang="en-IN" sz="2400" b="1" dirty="0" err="1"/>
              <a:t>i</a:t>
            </a:r>
            <a:r>
              <a:rPr lang="en-IN" sz="2400" b="1" dirty="0"/>
              <a:t>+" / "+j+" = "+n</a:t>
            </a:r>
            <a:r>
              <a:rPr lang="en-IN" sz="2400" b="1" dirty="0" smtClean="0"/>
              <a:t>);</a:t>
            </a:r>
            <a:endParaRPr lang="en-IN" sz="2400" b="1" dirty="0"/>
          </a:p>
          <a:p>
            <a:pPr lvl="2"/>
            <a:r>
              <a:rPr lang="en-IN" sz="2400" b="1" dirty="0"/>
              <a:t>int o=</a:t>
            </a:r>
            <a:r>
              <a:rPr lang="en-IN" sz="2400" b="1" dirty="0" err="1"/>
              <a:t>i</a:t>
            </a:r>
            <a:r>
              <a:rPr lang="en-IN" sz="2400" b="1" dirty="0"/>
              <a:t> % j; // '%' is called as modulus/remainder operator</a:t>
            </a:r>
          </a:p>
          <a:p>
            <a:pPr lvl="2"/>
            <a:r>
              <a:rPr lang="en-IN" sz="2400" b="1" dirty="0" err="1"/>
              <a:t>System.out.println</a:t>
            </a:r>
            <a:r>
              <a:rPr lang="en-IN" sz="2400" b="1" dirty="0"/>
              <a:t>(</a:t>
            </a:r>
            <a:r>
              <a:rPr lang="en-IN" sz="2400" b="1" dirty="0" err="1"/>
              <a:t>i</a:t>
            </a:r>
            <a:r>
              <a:rPr lang="en-IN" sz="2400" b="1" dirty="0"/>
              <a:t>+" % "+j+" = "+o);</a:t>
            </a:r>
          </a:p>
          <a:p>
            <a:r>
              <a:rPr lang="en-IN" sz="2400" b="1" dirty="0"/>
              <a:t>		</a:t>
            </a:r>
          </a:p>
          <a:p>
            <a:pPr lvl="1"/>
            <a:r>
              <a:rPr lang="en-IN" sz="2400" b="1" dirty="0"/>
              <a:t>}</a:t>
            </a:r>
          </a:p>
          <a:p>
            <a:r>
              <a:rPr lang="en-IN" sz="2400" b="1" dirty="0"/>
              <a:t>}</a:t>
            </a:r>
          </a:p>
        </p:txBody>
      </p:sp>
      <p:sp>
        <p:nvSpPr>
          <p:cNvPr id="7" name="Footer Placeholder 6">
            <a:extLst>
              <a:ext uri="{FF2B5EF4-FFF2-40B4-BE49-F238E27FC236}">
                <a16:creationId xmlns="" xmlns:a16="http://schemas.microsoft.com/office/drawing/2014/main" id="{EA1FF7AB-93F9-81EF-C3A6-B7FB90F2EC7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5553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Operator Assignment in Java</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28728B42-1DC8-4AFE-9B91-43116772D9EA}"/>
              </a:ext>
            </a:extLst>
          </p:cNvPr>
          <p:cNvSpPr txBox="1"/>
          <p:nvPr/>
        </p:nvSpPr>
        <p:spPr>
          <a:xfrm>
            <a:off x="200021" y="865831"/>
            <a:ext cx="6561725" cy="5355312"/>
          </a:xfrm>
          <a:prstGeom prst="rect">
            <a:avLst/>
          </a:prstGeom>
          <a:noFill/>
        </p:spPr>
        <p:txBody>
          <a:bodyPr wrap="square">
            <a:spAutoFit/>
          </a:bodyPr>
          <a:lstStyle/>
          <a:p>
            <a:r>
              <a:rPr lang="en-IN" b="1" dirty="0"/>
              <a:t>// OperatorAssignmentTest.java</a:t>
            </a:r>
          </a:p>
          <a:p>
            <a:r>
              <a:rPr lang="en-IN" b="1" dirty="0"/>
              <a:t>public class </a:t>
            </a:r>
            <a:r>
              <a:rPr lang="en-IN" b="1" dirty="0" err="1"/>
              <a:t>OperatorAssignmentTest</a:t>
            </a:r>
            <a:r>
              <a:rPr lang="en-IN" b="1" dirty="0"/>
              <a:t> {</a:t>
            </a:r>
          </a:p>
          <a:p>
            <a:pPr lvl="1"/>
            <a:r>
              <a:rPr lang="en-IN" b="1" dirty="0"/>
              <a:t>public static void main(String rags[]) </a:t>
            </a:r>
            <a:r>
              <a:rPr lang="en-IN" b="1" dirty="0" smtClean="0"/>
              <a:t>{</a:t>
            </a:r>
            <a:endParaRPr lang="en-IN" b="1" dirty="0"/>
          </a:p>
          <a:p>
            <a:pPr lvl="2"/>
            <a:r>
              <a:rPr lang="en-IN" sz="2400" b="1" dirty="0"/>
              <a:t>int </a:t>
            </a:r>
            <a:r>
              <a:rPr lang="en-IN" sz="2400" b="1" dirty="0" err="1"/>
              <a:t>i</a:t>
            </a:r>
            <a:r>
              <a:rPr lang="en-IN" sz="2400" b="1" dirty="0"/>
              <a:t>=10; // simple assignment </a:t>
            </a:r>
            <a:r>
              <a:rPr lang="en-IN" sz="2400" b="1" dirty="0" smtClean="0"/>
              <a:t>operator</a:t>
            </a:r>
            <a:endParaRPr lang="en-IN" sz="2400" b="1" dirty="0"/>
          </a:p>
          <a:p>
            <a:pPr lvl="2"/>
            <a:r>
              <a:rPr lang="en-IN" sz="2400" b="1" dirty="0" err="1"/>
              <a:t>i</a:t>
            </a:r>
            <a:r>
              <a:rPr lang="en-IN" sz="2400" b="1" dirty="0"/>
              <a:t>=i+1;</a:t>
            </a:r>
          </a:p>
          <a:p>
            <a:pPr lvl="2"/>
            <a:r>
              <a:rPr lang="en-IN" sz="2400" b="1" dirty="0" err="1"/>
              <a:t>System.out.println</a:t>
            </a:r>
            <a:r>
              <a:rPr lang="en-IN" sz="2400" b="1" dirty="0"/>
              <a:t>("</a:t>
            </a:r>
            <a:r>
              <a:rPr lang="en-IN" sz="2400" b="1" dirty="0" err="1"/>
              <a:t>i</a:t>
            </a:r>
            <a:r>
              <a:rPr lang="en-IN" sz="2400" b="1" dirty="0"/>
              <a:t> initial value is 10, </a:t>
            </a:r>
            <a:r>
              <a:rPr lang="en-IN" sz="2400" b="1" dirty="0" err="1"/>
              <a:t>i</a:t>
            </a:r>
            <a:r>
              <a:rPr lang="en-IN" sz="2400" b="1" dirty="0"/>
              <a:t> + 1 is  = "+</a:t>
            </a:r>
            <a:r>
              <a:rPr lang="en-IN" sz="2400" b="1" dirty="0" err="1"/>
              <a:t>i</a:t>
            </a:r>
            <a:r>
              <a:rPr lang="en-IN" sz="2400" b="1" dirty="0"/>
              <a:t>);</a:t>
            </a:r>
          </a:p>
          <a:p>
            <a:pPr lvl="2"/>
            <a:r>
              <a:rPr lang="en-IN" sz="2400" b="1" dirty="0"/>
              <a:t>int j=10;</a:t>
            </a:r>
          </a:p>
          <a:p>
            <a:pPr lvl="2"/>
            <a:r>
              <a:rPr lang="en-IN" sz="2400" b="1" dirty="0"/>
              <a:t>j+=1; // addition assignment operator</a:t>
            </a:r>
          </a:p>
          <a:p>
            <a:pPr lvl="2"/>
            <a:r>
              <a:rPr lang="en-IN" sz="2400" b="1" dirty="0" err="1"/>
              <a:t>System.out.println</a:t>
            </a:r>
            <a:r>
              <a:rPr lang="en-IN" sz="2400" b="1" dirty="0"/>
              <a:t>("j initial value is 10, j += 1 is  = "+j</a:t>
            </a:r>
            <a:r>
              <a:rPr lang="en-IN" sz="2400" b="1" dirty="0" smtClean="0"/>
              <a:t>);</a:t>
            </a:r>
            <a:endParaRPr lang="en-IN" sz="2400" b="1" dirty="0"/>
          </a:p>
          <a:p>
            <a:pPr lvl="2"/>
            <a:r>
              <a:rPr lang="en-IN" sz="2400" b="1" dirty="0"/>
              <a:t>int k=10;</a:t>
            </a:r>
          </a:p>
          <a:p>
            <a:pPr lvl="2"/>
            <a:r>
              <a:rPr lang="en-IN" sz="2400" b="1" dirty="0"/>
              <a:t>k=k-1;</a:t>
            </a:r>
          </a:p>
          <a:p>
            <a:pPr lvl="2"/>
            <a:r>
              <a:rPr lang="en-IN" sz="2400" b="1" dirty="0" err="1"/>
              <a:t>System.out.println</a:t>
            </a:r>
            <a:r>
              <a:rPr lang="en-IN" sz="2400" b="1" dirty="0"/>
              <a:t>("k initial value is 10, k - 1 is  = "+k</a:t>
            </a:r>
            <a:r>
              <a:rPr lang="en-IN" sz="2400" b="1" dirty="0" smtClean="0"/>
              <a:t>);</a:t>
            </a:r>
            <a:endParaRPr lang="en-IN" sz="2400" b="1" dirty="0"/>
          </a:p>
        </p:txBody>
      </p:sp>
      <p:sp>
        <p:nvSpPr>
          <p:cNvPr id="8" name="TextBox 7">
            <a:extLst>
              <a:ext uri="{FF2B5EF4-FFF2-40B4-BE49-F238E27FC236}">
                <a16:creationId xmlns="" xmlns:a16="http://schemas.microsoft.com/office/drawing/2014/main" id="{B64DDA35-E9D2-617A-7252-BD44503C12C5}"/>
              </a:ext>
            </a:extLst>
          </p:cNvPr>
          <p:cNvSpPr txBox="1"/>
          <p:nvPr/>
        </p:nvSpPr>
        <p:spPr>
          <a:xfrm>
            <a:off x="5927817" y="648690"/>
            <a:ext cx="6136480" cy="6247864"/>
          </a:xfrm>
          <a:prstGeom prst="rect">
            <a:avLst/>
          </a:prstGeom>
          <a:noFill/>
        </p:spPr>
        <p:txBody>
          <a:bodyPr wrap="square">
            <a:spAutoFit/>
          </a:bodyPr>
          <a:lstStyle/>
          <a:p>
            <a:pPr lvl="2"/>
            <a:r>
              <a:rPr lang="en-IN" sz="2000" b="1" dirty="0" err="1"/>
              <a:t>int</a:t>
            </a:r>
            <a:r>
              <a:rPr lang="en-IN" sz="2000" b="1" dirty="0"/>
              <a:t> l=10;</a:t>
            </a:r>
          </a:p>
          <a:p>
            <a:pPr lvl="2"/>
            <a:r>
              <a:rPr lang="en-IN" sz="2000" b="1" dirty="0"/>
              <a:t>l-=1;</a:t>
            </a:r>
          </a:p>
          <a:p>
            <a:pPr lvl="2"/>
            <a:r>
              <a:rPr lang="en-IN" sz="2000" b="1" dirty="0" err="1"/>
              <a:t>System.out.println</a:t>
            </a:r>
            <a:r>
              <a:rPr lang="en-IN" sz="2000" b="1" dirty="0"/>
              <a:t>("l initial value is 10, l-=1 is  = "+l);</a:t>
            </a:r>
          </a:p>
          <a:p>
            <a:pPr lvl="2"/>
            <a:r>
              <a:rPr lang="en-IN" sz="2000" b="1" dirty="0" err="1" smtClean="0"/>
              <a:t>int</a:t>
            </a:r>
            <a:r>
              <a:rPr lang="en-IN" sz="2000" b="1" dirty="0" smtClean="0"/>
              <a:t> </a:t>
            </a:r>
            <a:r>
              <a:rPr lang="en-IN" sz="2000" b="1" dirty="0"/>
              <a:t>m=10;</a:t>
            </a:r>
          </a:p>
          <a:p>
            <a:pPr lvl="2"/>
            <a:r>
              <a:rPr lang="en-IN" sz="2000" b="1" dirty="0"/>
              <a:t>m*=10;</a:t>
            </a:r>
          </a:p>
          <a:p>
            <a:pPr lvl="2"/>
            <a:r>
              <a:rPr lang="en-IN" sz="2000" b="1" dirty="0" err="1"/>
              <a:t>System.out.println</a:t>
            </a:r>
            <a:r>
              <a:rPr lang="en-IN" sz="2000" b="1" dirty="0"/>
              <a:t>("m initial value is 10, m*=10 is  = "+m);</a:t>
            </a:r>
          </a:p>
          <a:p>
            <a:pPr lvl="2"/>
            <a:endParaRPr lang="en-IN" sz="2000" b="1" dirty="0"/>
          </a:p>
          <a:p>
            <a:pPr lvl="2"/>
            <a:r>
              <a:rPr lang="en-IN" sz="2000" b="1" dirty="0"/>
              <a:t>int n=10;</a:t>
            </a:r>
          </a:p>
          <a:p>
            <a:pPr lvl="2"/>
            <a:r>
              <a:rPr lang="en-IN" sz="2000" b="1" dirty="0"/>
              <a:t>n/=10;</a:t>
            </a:r>
          </a:p>
          <a:p>
            <a:pPr lvl="2"/>
            <a:r>
              <a:rPr lang="en-IN" sz="2000" b="1" dirty="0" err="1"/>
              <a:t>System.out.println</a:t>
            </a:r>
            <a:r>
              <a:rPr lang="en-IN" sz="2000" b="1" dirty="0"/>
              <a:t>("n initial value is 10, n/=10 is  = "+n);</a:t>
            </a:r>
          </a:p>
          <a:p>
            <a:pPr lvl="2"/>
            <a:endParaRPr lang="en-IN" sz="2000" b="1" dirty="0"/>
          </a:p>
          <a:p>
            <a:pPr lvl="2"/>
            <a:r>
              <a:rPr lang="en-IN" sz="2000" b="1" dirty="0"/>
              <a:t>int o=10;</a:t>
            </a:r>
          </a:p>
          <a:p>
            <a:pPr lvl="2"/>
            <a:r>
              <a:rPr lang="en-IN" sz="2000" b="1" dirty="0"/>
              <a:t>o%=10;</a:t>
            </a:r>
          </a:p>
          <a:p>
            <a:pPr lvl="2"/>
            <a:r>
              <a:rPr lang="en-IN" sz="2000" b="1" dirty="0" err="1"/>
              <a:t>System.out.println</a:t>
            </a:r>
            <a:r>
              <a:rPr lang="en-IN" sz="2000" b="1" dirty="0"/>
              <a:t>("o initial value is 10, o%=10 is  = "+o);</a:t>
            </a:r>
          </a:p>
          <a:p>
            <a:pPr lvl="1"/>
            <a:r>
              <a:rPr lang="en-IN" sz="2000" b="1" dirty="0"/>
              <a:t>}</a:t>
            </a:r>
          </a:p>
          <a:p>
            <a:r>
              <a:rPr lang="en-IN" sz="2000" b="1" dirty="0"/>
              <a:t>}</a:t>
            </a:r>
            <a:endParaRPr lang="en-IN" sz="3200" dirty="0"/>
          </a:p>
        </p:txBody>
      </p:sp>
      <p:sp>
        <p:nvSpPr>
          <p:cNvPr id="7" name="Footer Placeholder 6">
            <a:extLst>
              <a:ext uri="{FF2B5EF4-FFF2-40B4-BE49-F238E27FC236}">
                <a16:creationId xmlns="" xmlns:a16="http://schemas.microsoft.com/office/drawing/2014/main" id="{D2C9532B-211A-AE0F-75B5-AEBCD0C7FB5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5402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   Prefix/Postfix/Pre-increment/Post-increment in Java</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28728B42-1DC8-4AFE-9B91-43116772D9EA}"/>
              </a:ext>
            </a:extLst>
          </p:cNvPr>
          <p:cNvSpPr txBox="1"/>
          <p:nvPr/>
        </p:nvSpPr>
        <p:spPr>
          <a:xfrm>
            <a:off x="430693" y="825456"/>
            <a:ext cx="6042296" cy="4708981"/>
          </a:xfrm>
          <a:prstGeom prst="rect">
            <a:avLst/>
          </a:prstGeom>
          <a:noFill/>
        </p:spPr>
        <p:txBody>
          <a:bodyPr wrap="square">
            <a:spAutoFit/>
          </a:bodyPr>
          <a:lstStyle/>
          <a:p>
            <a:r>
              <a:rPr lang="en-IN" sz="2000" b="1" dirty="0"/>
              <a:t>// PrefixPostfixTest.java</a:t>
            </a:r>
          </a:p>
          <a:p>
            <a:r>
              <a:rPr lang="en-IN" sz="2000" b="1" dirty="0"/>
              <a:t>public class </a:t>
            </a:r>
            <a:r>
              <a:rPr lang="en-IN" sz="2000" b="1" dirty="0" err="1"/>
              <a:t>PrefixPostfixTest</a:t>
            </a:r>
            <a:r>
              <a:rPr lang="en-IN" sz="2000" b="1" dirty="0"/>
              <a:t> {</a:t>
            </a:r>
          </a:p>
          <a:p>
            <a:pPr lvl="1"/>
            <a:r>
              <a:rPr lang="en-IN" sz="2000" b="1" dirty="0"/>
              <a:t>public static void main(String rags[]) </a:t>
            </a:r>
            <a:r>
              <a:rPr lang="en-IN" sz="2000" b="1" dirty="0" smtClean="0"/>
              <a:t>{</a:t>
            </a:r>
            <a:endParaRPr lang="en-IN" sz="2000" b="1" dirty="0"/>
          </a:p>
          <a:p>
            <a:pPr lvl="2"/>
            <a:r>
              <a:rPr lang="en-IN" sz="2400" b="1" dirty="0"/>
              <a:t>int </a:t>
            </a:r>
            <a:r>
              <a:rPr lang="en-IN" sz="2400" b="1" dirty="0" err="1"/>
              <a:t>i</a:t>
            </a:r>
            <a:r>
              <a:rPr lang="en-IN" sz="2400" b="1" dirty="0"/>
              <a:t>=25, j=70</a:t>
            </a:r>
            <a:r>
              <a:rPr lang="en-IN" sz="2400" b="1" dirty="0" smtClean="0"/>
              <a:t>;</a:t>
            </a:r>
            <a:endParaRPr lang="en-IN" sz="2400" b="1" dirty="0"/>
          </a:p>
          <a:p>
            <a:pPr lvl="2"/>
            <a:r>
              <a:rPr lang="en-IN" sz="2400" b="1" dirty="0" err="1"/>
              <a:t>System.out.println</a:t>
            </a:r>
            <a:r>
              <a:rPr lang="en-IN" sz="2400" b="1" dirty="0"/>
              <a:t>("</a:t>
            </a:r>
            <a:r>
              <a:rPr lang="en-IN" sz="2400" b="1" dirty="0" err="1"/>
              <a:t>i</a:t>
            </a:r>
            <a:r>
              <a:rPr lang="en-IN" sz="2400" b="1" dirty="0"/>
              <a:t> is "+</a:t>
            </a:r>
            <a:r>
              <a:rPr lang="en-IN" sz="2400" b="1" dirty="0" err="1"/>
              <a:t>i</a:t>
            </a:r>
            <a:r>
              <a:rPr lang="en-IN" sz="2400" b="1" dirty="0"/>
              <a:t>); // 25</a:t>
            </a:r>
          </a:p>
          <a:p>
            <a:pPr lvl="2"/>
            <a:r>
              <a:rPr lang="en-IN" sz="2400" b="1" dirty="0" err="1"/>
              <a:t>System.out.println</a:t>
            </a:r>
            <a:r>
              <a:rPr lang="en-IN" sz="2400" b="1" dirty="0"/>
              <a:t>("++</a:t>
            </a:r>
            <a:r>
              <a:rPr lang="en-IN" sz="2400" b="1" dirty="0" err="1"/>
              <a:t>i</a:t>
            </a:r>
            <a:r>
              <a:rPr lang="en-IN" sz="2400" b="1" dirty="0"/>
              <a:t> is "+(++</a:t>
            </a:r>
            <a:r>
              <a:rPr lang="en-IN" sz="2400" b="1" dirty="0" err="1"/>
              <a:t>i</a:t>
            </a:r>
            <a:r>
              <a:rPr lang="en-IN" sz="2400" b="1" dirty="0"/>
              <a:t>)); // 26 // ++</a:t>
            </a:r>
            <a:r>
              <a:rPr lang="en-IN" sz="2400" b="1" dirty="0" err="1"/>
              <a:t>i</a:t>
            </a:r>
            <a:r>
              <a:rPr lang="en-IN" sz="2400" b="1" dirty="0"/>
              <a:t> is called as pre-increment/prefix</a:t>
            </a:r>
          </a:p>
          <a:p>
            <a:pPr lvl="2"/>
            <a:r>
              <a:rPr lang="en-IN" sz="2400" b="1" dirty="0" err="1"/>
              <a:t>System.out.println</a:t>
            </a:r>
            <a:r>
              <a:rPr lang="en-IN" sz="2400" b="1" dirty="0"/>
              <a:t>("j is "+j); // 70</a:t>
            </a:r>
          </a:p>
          <a:p>
            <a:pPr lvl="2"/>
            <a:r>
              <a:rPr lang="en-IN" sz="2400" b="1" dirty="0" err="1"/>
              <a:t>System.out.println</a:t>
            </a:r>
            <a:r>
              <a:rPr lang="en-IN" sz="2400" b="1" dirty="0"/>
              <a:t>("</a:t>
            </a:r>
            <a:r>
              <a:rPr lang="en-IN" sz="2400" b="1" dirty="0" err="1"/>
              <a:t>j++</a:t>
            </a:r>
            <a:r>
              <a:rPr lang="en-IN" sz="2400" b="1" dirty="0"/>
              <a:t> is "+(</a:t>
            </a:r>
            <a:r>
              <a:rPr lang="en-IN" sz="2400" b="1" dirty="0" err="1"/>
              <a:t>j++</a:t>
            </a:r>
            <a:r>
              <a:rPr lang="en-IN" sz="2400" b="1" dirty="0"/>
              <a:t>)); // 70 // </a:t>
            </a:r>
            <a:r>
              <a:rPr lang="en-IN" sz="2400" b="1" dirty="0" err="1"/>
              <a:t>j++</a:t>
            </a:r>
            <a:r>
              <a:rPr lang="en-IN" sz="2400" b="1" dirty="0"/>
              <a:t> is called as post-increment/postfix</a:t>
            </a:r>
          </a:p>
          <a:p>
            <a:pPr lvl="2"/>
            <a:r>
              <a:rPr lang="en-IN" sz="2400" b="1" dirty="0" err="1"/>
              <a:t>System.out.println</a:t>
            </a:r>
            <a:r>
              <a:rPr lang="en-IN" sz="2400" b="1" dirty="0"/>
              <a:t>("j is "+j); // </a:t>
            </a:r>
            <a:r>
              <a:rPr lang="en-IN" sz="2400" b="1" dirty="0" smtClean="0"/>
              <a:t>71</a:t>
            </a:r>
            <a:endParaRPr lang="en-IN" sz="2400" b="1" dirty="0"/>
          </a:p>
        </p:txBody>
      </p:sp>
      <p:sp>
        <p:nvSpPr>
          <p:cNvPr id="7" name="Footer Placeholder 6">
            <a:extLst>
              <a:ext uri="{FF2B5EF4-FFF2-40B4-BE49-F238E27FC236}">
                <a16:creationId xmlns="" xmlns:a16="http://schemas.microsoft.com/office/drawing/2014/main" id="{09841DA1-7ADB-6EA6-9413-8B8B7D1D6B25}"/>
              </a:ext>
            </a:extLst>
          </p:cNvPr>
          <p:cNvSpPr>
            <a:spLocks noGrp="1"/>
          </p:cNvSpPr>
          <p:nvPr>
            <p:ph type="ftr" sz="quarter" idx="11"/>
          </p:nvPr>
        </p:nvSpPr>
        <p:spPr/>
        <p:txBody>
          <a:bodyPr/>
          <a:lstStyle/>
          <a:p>
            <a:r>
              <a:rPr lang="en-US"/>
              <a:t>Suryanarayana</a:t>
            </a:r>
          </a:p>
        </p:txBody>
      </p:sp>
      <p:sp>
        <p:nvSpPr>
          <p:cNvPr id="8" name="Rectangle 7"/>
          <p:cNvSpPr/>
          <p:nvPr/>
        </p:nvSpPr>
        <p:spPr>
          <a:xfrm>
            <a:off x="6007765" y="1286731"/>
            <a:ext cx="6096000" cy="4031873"/>
          </a:xfrm>
          <a:prstGeom prst="rect">
            <a:avLst/>
          </a:prstGeom>
        </p:spPr>
        <p:txBody>
          <a:bodyPr>
            <a:spAutoFit/>
          </a:bodyPr>
          <a:lstStyle/>
          <a:p>
            <a:pPr lvl="2"/>
            <a:r>
              <a:rPr lang="en-IN" sz="2400" b="1" dirty="0"/>
              <a:t>		</a:t>
            </a:r>
          </a:p>
          <a:p>
            <a:pPr lvl="2"/>
            <a:r>
              <a:rPr lang="en-IN" sz="2400" b="1" dirty="0" err="1"/>
              <a:t>int</a:t>
            </a:r>
            <a:r>
              <a:rPr lang="en-IN" sz="2400" b="1" dirty="0"/>
              <a:t> k=25, l=70;</a:t>
            </a:r>
          </a:p>
          <a:p>
            <a:pPr lvl="2"/>
            <a:r>
              <a:rPr lang="en-IN" sz="2400" b="1" dirty="0" err="1"/>
              <a:t>System.out.println</a:t>
            </a:r>
            <a:r>
              <a:rPr lang="en-IN" sz="2400" b="1" dirty="0"/>
              <a:t>("k is "+k); // 25</a:t>
            </a:r>
          </a:p>
          <a:p>
            <a:pPr lvl="2"/>
            <a:r>
              <a:rPr lang="en-IN" sz="2400" b="1" dirty="0" err="1"/>
              <a:t>System.out.println</a:t>
            </a:r>
            <a:r>
              <a:rPr lang="en-IN" sz="2400" b="1" dirty="0"/>
              <a:t>("--k is "+(--k)); // 24 // --</a:t>
            </a:r>
            <a:r>
              <a:rPr lang="en-IN" sz="2400" b="1" dirty="0" err="1"/>
              <a:t>i</a:t>
            </a:r>
            <a:r>
              <a:rPr lang="en-IN" sz="2400" b="1" dirty="0"/>
              <a:t> is called as pre-decrement</a:t>
            </a:r>
          </a:p>
          <a:p>
            <a:pPr lvl="2"/>
            <a:r>
              <a:rPr lang="en-IN" sz="2400" b="1" dirty="0" err="1"/>
              <a:t>System.out.println</a:t>
            </a:r>
            <a:r>
              <a:rPr lang="en-IN" sz="2400" b="1" dirty="0"/>
              <a:t>("l is "+l); // 70</a:t>
            </a:r>
          </a:p>
          <a:p>
            <a:pPr lvl="2"/>
            <a:r>
              <a:rPr lang="en-IN" sz="2400" b="1" dirty="0" err="1"/>
              <a:t>System.out.println</a:t>
            </a:r>
            <a:r>
              <a:rPr lang="en-IN" sz="2400" b="1" dirty="0"/>
              <a:t>("l-- is "+(l--)); // 70 // </a:t>
            </a:r>
            <a:r>
              <a:rPr lang="en-IN" sz="2400" b="1" dirty="0" err="1"/>
              <a:t>i</a:t>
            </a:r>
            <a:r>
              <a:rPr lang="en-IN" sz="2400" b="1" dirty="0"/>
              <a:t>-- is called as post-decrement</a:t>
            </a:r>
          </a:p>
          <a:p>
            <a:pPr lvl="2"/>
            <a:r>
              <a:rPr lang="en-IN" sz="2400" b="1" dirty="0" err="1"/>
              <a:t>System.out.println</a:t>
            </a:r>
            <a:r>
              <a:rPr lang="en-IN" sz="2400" b="1" dirty="0"/>
              <a:t>("l is "+l); // 69</a:t>
            </a:r>
          </a:p>
          <a:p>
            <a:pPr lvl="1"/>
            <a:r>
              <a:rPr lang="en-IN" sz="2000" b="1" dirty="0"/>
              <a:t>}</a:t>
            </a:r>
          </a:p>
          <a:p>
            <a:r>
              <a:rPr lang="en-IN" sz="2000" b="1" dirty="0"/>
              <a:t>}</a:t>
            </a:r>
            <a:endParaRPr lang="en-IN" sz="2000" b="1" dirty="0"/>
          </a:p>
        </p:txBody>
      </p:sp>
    </p:spTree>
    <p:extLst>
      <p:ext uri="{BB962C8B-B14F-4D97-AF65-F5344CB8AC3E}">
        <p14:creationId xmlns:p14="http://schemas.microsoft.com/office/powerpoint/2010/main" val="257293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Relational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28728B42-1DC8-4AFE-9B91-43116772D9EA}"/>
              </a:ext>
            </a:extLst>
          </p:cNvPr>
          <p:cNvSpPr txBox="1"/>
          <p:nvPr/>
        </p:nvSpPr>
        <p:spPr>
          <a:xfrm>
            <a:off x="438714" y="1223022"/>
            <a:ext cx="8984018" cy="3970318"/>
          </a:xfrm>
          <a:prstGeom prst="rect">
            <a:avLst/>
          </a:prstGeom>
          <a:noFill/>
        </p:spPr>
        <p:txBody>
          <a:bodyPr wrap="square">
            <a:spAutoFit/>
          </a:bodyPr>
          <a:lstStyle/>
          <a:p>
            <a:r>
              <a:rPr lang="en-US" sz="2800" b="1" dirty="0"/>
              <a:t>Relational operators are used for making decisions. they are used to compare on numeric, char values:</a:t>
            </a:r>
          </a:p>
          <a:p>
            <a:endParaRPr lang="en-US" sz="2800" b="1" dirty="0"/>
          </a:p>
          <a:p>
            <a:pPr marL="285750" indent="-285750">
              <a:buFont typeface="Wingdings" panose="05000000000000000000" pitchFamily="2" charset="2"/>
              <a:buChar char="Ø"/>
            </a:pPr>
            <a:r>
              <a:rPr lang="en-US" sz="2800" b="1" dirty="0"/>
              <a:t>== equal to equal to</a:t>
            </a:r>
          </a:p>
          <a:p>
            <a:pPr marL="285750" indent="-285750">
              <a:buFont typeface="Wingdings" panose="05000000000000000000" pitchFamily="2" charset="2"/>
              <a:buChar char="Ø"/>
            </a:pPr>
            <a:r>
              <a:rPr lang="en-US" sz="2800" b="1" dirty="0"/>
              <a:t>!= not equal to</a:t>
            </a:r>
          </a:p>
          <a:p>
            <a:pPr marL="285750" indent="-285750">
              <a:buFont typeface="Wingdings" panose="05000000000000000000" pitchFamily="2" charset="2"/>
              <a:buChar char="Ø"/>
            </a:pPr>
            <a:r>
              <a:rPr lang="en-US" sz="2800" b="1" dirty="0"/>
              <a:t>&lt; Less than</a:t>
            </a:r>
          </a:p>
          <a:p>
            <a:pPr marL="285750" indent="-285750">
              <a:buFont typeface="Wingdings" panose="05000000000000000000" pitchFamily="2" charset="2"/>
              <a:buChar char="Ø"/>
            </a:pPr>
            <a:r>
              <a:rPr lang="en-US" sz="2800" b="1" dirty="0"/>
              <a:t>&lt;= Less than or equal to</a:t>
            </a:r>
          </a:p>
          <a:p>
            <a:pPr marL="285750" indent="-285750">
              <a:buFont typeface="Wingdings" panose="05000000000000000000" pitchFamily="2" charset="2"/>
              <a:buChar char="Ø"/>
            </a:pPr>
            <a:r>
              <a:rPr lang="en-US" sz="2800" b="1" dirty="0"/>
              <a:t>&gt; Greater than</a:t>
            </a:r>
          </a:p>
          <a:p>
            <a:pPr marL="285750" indent="-285750">
              <a:buFont typeface="Wingdings" panose="05000000000000000000" pitchFamily="2" charset="2"/>
              <a:buChar char="Ø"/>
            </a:pPr>
            <a:r>
              <a:rPr lang="en-US" sz="2800" b="1" dirty="0"/>
              <a:t>&gt;= Greater than or equal to</a:t>
            </a:r>
          </a:p>
        </p:txBody>
      </p:sp>
      <p:sp>
        <p:nvSpPr>
          <p:cNvPr id="7" name="Footer Placeholder 6">
            <a:extLst>
              <a:ext uri="{FF2B5EF4-FFF2-40B4-BE49-F238E27FC236}">
                <a16:creationId xmlns="" xmlns:a16="http://schemas.microsoft.com/office/drawing/2014/main" id="{92A2940A-5352-7322-828B-5D4B880B58E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0819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Relational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164955" y="711715"/>
            <a:ext cx="5401655" cy="4708981"/>
          </a:xfrm>
          <a:prstGeom prst="rect">
            <a:avLst/>
          </a:prstGeom>
          <a:noFill/>
        </p:spPr>
        <p:txBody>
          <a:bodyPr wrap="square">
            <a:spAutoFit/>
          </a:bodyPr>
          <a:lstStyle/>
          <a:p>
            <a:r>
              <a:rPr lang="en-IN" sz="2000" b="1" dirty="0"/>
              <a:t>// RelationalOperatorsTest.java</a:t>
            </a:r>
          </a:p>
          <a:p>
            <a:r>
              <a:rPr lang="en-IN" sz="2000" b="1" dirty="0"/>
              <a:t>public class </a:t>
            </a:r>
            <a:r>
              <a:rPr lang="en-IN" sz="2000" b="1" dirty="0" err="1"/>
              <a:t>RelationalOperatorsTest</a:t>
            </a:r>
            <a:r>
              <a:rPr lang="en-IN" sz="2000" b="1" dirty="0"/>
              <a:t> {</a:t>
            </a:r>
          </a:p>
          <a:p>
            <a:pPr lvl="1"/>
            <a:r>
              <a:rPr lang="en-IN" sz="2000" b="1" dirty="0"/>
              <a:t>   public static void main(String rags[]) {</a:t>
            </a:r>
          </a:p>
          <a:p>
            <a:pPr lvl="2"/>
            <a:r>
              <a:rPr lang="en-IN" sz="2000" b="1" dirty="0"/>
              <a:t>     int a=25;</a:t>
            </a:r>
          </a:p>
          <a:p>
            <a:pPr lvl="2"/>
            <a:r>
              <a:rPr lang="en-IN" sz="2000" b="1" dirty="0"/>
              <a:t>     int b=75;</a:t>
            </a:r>
          </a:p>
          <a:p>
            <a:pPr lvl="2"/>
            <a:r>
              <a:rPr lang="en-IN" sz="2000" b="1" dirty="0"/>
              <a:t>     double x=35.87;</a:t>
            </a:r>
          </a:p>
          <a:p>
            <a:pPr lvl="2"/>
            <a:r>
              <a:rPr lang="en-IN" sz="2000" b="1" dirty="0"/>
              <a:t>     double y=67.43;</a:t>
            </a:r>
          </a:p>
          <a:p>
            <a:pPr lvl="2"/>
            <a:r>
              <a:rPr lang="en-IN" sz="2000" b="1" dirty="0"/>
              <a:t>     char c1='b';</a:t>
            </a:r>
          </a:p>
          <a:p>
            <a:pPr lvl="2"/>
            <a:r>
              <a:rPr lang="en-IN" sz="2000" b="1" dirty="0"/>
              <a:t>     char c2='d';</a:t>
            </a:r>
          </a:p>
          <a:p>
            <a:pPr lvl="2"/>
            <a:r>
              <a:rPr lang="en-IN" sz="2000" b="1" dirty="0" smtClean="0"/>
              <a:t>if(a</a:t>
            </a:r>
            <a:r>
              <a:rPr lang="en-IN" sz="2000" b="1" dirty="0"/>
              <a:t>==b) {</a:t>
            </a:r>
          </a:p>
          <a:p>
            <a:pPr lvl="2"/>
            <a:r>
              <a:rPr lang="en-IN" sz="2000" b="1" dirty="0"/>
              <a:t>       </a:t>
            </a:r>
            <a:r>
              <a:rPr lang="en-IN" sz="2000" b="1" dirty="0" err="1"/>
              <a:t>System.out.println</a:t>
            </a:r>
            <a:r>
              <a:rPr lang="en-IN" sz="2000" b="1" dirty="0"/>
              <a:t>("a==b is true");</a:t>
            </a:r>
          </a:p>
          <a:p>
            <a:pPr lvl="2"/>
            <a:r>
              <a:rPr lang="en-IN" sz="2000" b="1" dirty="0"/>
              <a:t>     } else {</a:t>
            </a:r>
          </a:p>
          <a:p>
            <a:pPr lvl="2"/>
            <a:r>
              <a:rPr lang="en-IN" sz="2000" b="1" dirty="0"/>
              <a:t>       </a:t>
            </a:r>
            <a:r>
              <a:rPr lang="en-IN" sz="2000" b="1" dirty="0" err="1"/>
              <a:t>System.out.println</a:t>
            </a:r>
            <a:r>
              <a:rPr lang="en-IN" sz="2000" b="1" dirty="0"/>
              <a:t>("a==b is false");</a:t>
            </a:r>
          </a:p>
          <a:p>
            <a:pPr lvl="2"/>
            <a:r>
              <a:rPr lang="en-IN" sz="2000" b="1" dirty="0"/>
              <a:t>     }</a:t>
            </a:r>
          </a:p>
          <a:p>
            <a:pPr lvl="2"/>
            <a:r>
              <a:rPr lang="en-IN" sz="2000" b="1" dirty="0"/>
              <a:t>	 </a:t>
            </a:r>
          </a:p>
        </p:txBody>
      </p:sp>
      <p:sp>
        <p:nvSpPr>
          <p:cNvPr id="7" name="Footer Placeholder 6">
            <a:extLst>
              <a:ext uri="{FF2B5EF4-FFF2-40B4-BE49-F238E27FC236}">
                <a16:creationId xmlns="" xmlns:a16="http://schemas.microsoft.com/office/drawing/2014/main" id="{8002F632-BB7A-7BAF-172D-02228642B2FD}"/>
              </a:ext>
            </a:extLst>
          </p:cNvPr>
          <p:cNvSpPr>
            <a:spLocks noGrp="1"/>
          </p:cNvSpPr>
          <p:nvPr>
            <p:ph type="ftr" sz="quarter" idx="11"/>
          </p:nvPr>
        </p:nvSpPr>
        <p:spPr/>
        <p:txBody>
          <a:bodyPr/>
          <a:lstStyle/>
          <a:p>
            <a:r>
              <a:rPr lang="en-US"/>
              <a:t>Suryanarayana</a:t>
            </a:r>
          </a:p>
        </p:txBody>
      </p:sp>
      <p:sp>
        <p:nvSpPr>
          <p:cNvPr id="8" name="Rectangle 7"/>
          <p:cNvSpPr/>
          <p:nvPr/>
        </p:nvSpPr>
        <p:spPr>
          <a:xfrm>
            <a:off x="5077327" y="809632"/>
            <a:ext cx="5350041" cy="5632311"/>
          </a:xfrm>
          <a:prstGeom prst="rect">
            <a:avLst/>
          </a:prstGeom>
        </p:spPr>
        <p:txBody>
          <a:bodyPr wrap="square">
            <a:spAutoFit/>
          </a:bodyPr>
          <a:lstStyle/>
          <a:p>
            <a:pPr lvl="2"/>
            <a:r>
              <a:rPr lang="en-IN" sz="2000" b="1" dirty="0" smtClean="0"/>
              <a:t>     if(a</a:t>
            </a:r>
            <a:r>
              <a:rPr lang="en-IN" sz="2000" b="1" dirty="0"/>
              <a:t>!=b) {</a:t>
            </a:r>
          </a:p>
          <a:p>
            <a:pPr lvl="2"/>
            <a:r>
              <a:rPr lang="en-IN" sz="2000" b="1" dirty="0"/>
              <a:t>       </a:t>
            </a:r>
            <a:r>
              <a:rPr lang="en-IN" sz="2000" b="1" dirty="0" err="1"/>
              <a:t>System.out.println</a:t>
            </a:r>
            <a:r>
              <a:rPr lang="en-IN" sz="2000" b="1" dirty="0"/>
              <a:t>("a!=b is true");</a:t>
            </a:r>
          </a:p>
          <a:p>
            <a:pPr lvl="2"/>
            <a:r>
              <a:rPr lang="en-IN" sz="2000" b="1" dirty="0"/>
              <a:t>     } else {</a:t>
            </a:r>
          </a:p>
          <a:p>
            <a:pPr lvl="2"/>
            <a:r>
              <a:rPr lang="en-IN" sz="2000" b="1" dirty="0"/>
              <a:t>       </a:t>
            </a:r>
            <a:r>
              <a:rPr lang="en-IN" sz="2000" b="1" dirty="0" err="1"/>
              <a:t>System.out.println</a:t>
            </a:r>
            <a:r>
              <a:rPr lang="en-IN" sz="2000" b="1" dirty="0"/>
              <a:t>("a!=b is false");</a:t>
            </a:r>
          </a:p>
          <a:p>
            <a:pPr lvl="2"/>
            <a:r>
              <a:rPr lang="en-IN" sz="2000" b="1" dirty="0"/>
              <a:t>     }	 </a:t>
            </a:r>
          </a:p>
          <a:p>
            <a:pPr lvl="2"/>
            <a:r>
              <a:rPr lang="en-IN" sz="2000" b="1" dirty="0"/>
              <a:t>     if(a&gt;=b) {</a:t>
            </a:r>
          </a:p>
          <a:p>
            <a:pPr lvl="2"/>
            <a:r>
              <a:rPr lang="en-IN" sz="2000" b="1" dirty="0"/>
              <a:t>       </a:t>
            </a:r>
            <a:r>
              <a:rPr lang="en-IN" sz="2000" b="1" dirty="0" err="1"/>
              <a:t>System.out.println</a:t>
            </a:r>
            <a:r>
              <a:rPr lang="en-IN" sz="2000" b="1" dirty="0"/>
              <a:t>("a&gt;=b is true");</a:t>
            </a:r>
          </a:p>
          <a:p>
            <a:pPr lvl="2"/>
            <a:r>
              <a:rPr lang="en-IN" sz="2000" b="1" dirty="0"/>
              <a:t>     } else {</a:t>
            </a:r>
          </a:p>
          <a:p>
            <a:pPr lvl="2"/>
            <a:r>
              <a:rPr lang="en-IN" sz="2000" b="1" dirty="0"/>
              <a:t>       </a:t>
            </a:r>
            <a:r>
              <a:rPr lang="en-IN" sz="2000" b="1" dirty="0" err="1"/>
              <a:t>System.out.println</a:t>
            </a:r>
            <a:r>
              <a:rPr lang="en-IN" sz="2000" b="1" dirty="0"/>
              <a:t>("a&gt;=b is false");</a:t>
            </a:r>
          </a:p>
          <a:p>
            <a:pPr lvl="2"/>
            <a:r>
              <a:rPr lang="en-IN" sz="2000" b="1" dirty="0"/>
              <a:t>     }</a:t>
            </a:r>
          </a:p>
          <a:p>
            <a:pPr lvl="2"/>
            <a:r>
              <a:rPr lang="en-IN" sz="2000" b="1" dirty="0"/>
              <a:t>	 </a:t>
            </a:r>
          </a:p>
          <a:p>
            <a:pPr lvl="2"/>
            <a:r>
              <a:rPr lang="en-IN" sz="2000" b="1" dirty="0"/>
              <a:t>     if(a&lt;=b) {</a:t>
            </a:r>
          </a:p>
          <a:p>
            <a:pPr lvl="2"/>
            <a:r>
              <a:rPr lang="en-IN" sz="2000" b="1" dirty="0"/>
              <a:t>       </a:t>
            </a:r>
            <a:r>
              <a:rPr lang="en-IN" sz="2000" b="1" dirty="0" err="1"/>
              <a:t>System.out.println</a:t>
            </a:r>
            <a:r>
              <a:rPr lang="en-IN" sz="2000" b="1" dirty="0"/>
              <a:t>("a&lt;=b is true");</a:t>
            </a:r>
          </a:p>
          <a:p>
            <a:pPr lvl="2"/>
            <a:r>
              <a:rPr lang="en-IN" sz="2000" b="1" dirty="0"/>
              <a:t>     } else {</a:t>
            </a:r>
          </a:p>
          <a:p>
            <a:pPr lvl="2"/>
            <a:r>
              <a:rPr lang="en-IN" sz="2000" b="1" dirty="0"/>
              <a:t>       </a:t>
            </a:r>
            <a:r>
              <a:rPr lang="en-IN" sz="2000" b="1" dirty="0" err="1"/>
              <a:t>System.out.println</a:t>
            </a:r>
            <a:r>
              <a:rPr lang="en-IN" sz="2000" b="1" dirty="0"/>
              <a:t>("a&lt;=b is false");</a:t>
            </a:r>
          </a:p>
          <a:p>
            <a:pPr lvl="2"/>
            <a:r>
              <a:rPr lang="en-IN" sz="2000" b="1" dirty="0"/>
              <a:t>     }</a:t>
            </a:r>
          </a:p>
          <a:p>
            <a:pPr lvl="1"/>
            <a:r>
              <a:rPr lang="en-IN" sz="2000" b="1" dirty="0"/>
              <a:t>    }</a:t>
            </a:r>
          </a:p>
          <a:p>
            <a:r>
              <a:rPr lang="en-IN" sz="2000" b="1" dirty="0"/>
              <a:t>}</a:t>
            </a:r>
            <a:endParaRPr lang="en-IN" sz="2000" b="1" dirty="0"/>
          </a:p>
        </p:txBody>
      </p:sp>
    </p:spTree>
    <p:extLst>
      <p:ext uri="{BB962C8B-B14F-4D97-AF65-F5344CB8AC3E}">
        <p14:creationId xmlns:p14="http://schemas.microsoft.com/office/powerpoint/2010/main" val="361107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Logical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285750" y="576633"/>
            <a:ext cx="184731" cy="369332"/>
          </a:xfrm>
          <a:prstGeom prst="rect">
            <a:avLst/>
          </a:prstGeom>
          <a:noFill/>
        </p:spPr>
        <p:txBody>
          <a:bodyPr wrap="none" rtlCol="0">
            <a:spAutoFit/>
          </a:bodyPr>
          <a:lstStyle/>
          <a:p>
            <a:endParaRPr lang="en-US" b="1" dirty="0">
              <a:solidFill>
                <a:srgbClr val="0000FF"/>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37D1EBC6-075E-43B0-ADFB-9DA2619A30B9}"/>
              </a:ext>
            </a:extLst>
          </p:cNvPr>
          <p:cNvSpPr txBox="1"/>
          <p:nvPr/>
        </p:nvSpPr>
        <p:spPr>
          <a:xfrm>
            <a:off x="568188" y="1270918"/>
            <a:ext cx="5150823" cy="4216539"/>
          </a:xfrm>
          <a:prstGeom prst="rect">
            <a:avLst/>
          </a:prstGeom>
          <a:noFill/>
        </p:spPr>
        <p:txBody>
          <a:bodyPr wrap="square">
            <a:spAutoFit/>
          </a:bodyPr>
          <a:lstStyle/>
          <a:p>
            <a:r>
              <a:rPr lang="en-US" sz="3200" b="1" dirty="0"/>
              <a:t>Applied between two conditions / relational operations</a:t>
            </a:r>
          </a:p>
          <a:p>
            <a:endParaRPr lang="en-US" sz="3200" b="1" dirty="0"/>
          </a:p>
          <a:p>
            <a:pPr marL="285750" indent="-285750">
              <a:buFont typeface="Wingdings" panose="05000000000000000000" pitchFamily="2" charset="2"/>
              <a:buChar char="Ø"/>
            </a:pPr>
            <a:r>
              <a:rPr lang="en-US" sz="2800" b="1" dirty="0"/>
              <a:t>&amp; Logical AND</a:t>
            </a:r>
          </a:p>
          <a:p>
            <a:pPr marL="285750" indent="-285750">
              <a:buFont typeface="Wingdings" panose="05000000000000000000" pitchFamily="2" charset="2"/>
              <a:buChar char="Ø"/>
            </a:pPr>
            <a:r>
              <a:rPr lang="en-US" sz="2800" b="1" dirty="0"/>
              <a:t>| Logical OR</a:t>
            </a:r>
          </a:p>
          <a:p>
            <a:pPr marL="285750" indent="-285750">
              <a:buFont typeface="Wingdings" panose="05000000000000000000" pitchFamily="2" charset="2"/>
              <a:buChar char="Ø"/>
            </a:pPr>
            <a:r>
              <a:rPr lang="en-US" sz="2800" b="1" dirty="0"/>
              <a:t>^ Logical XOR (caret)</a:t>
            </a:r>
          </a:p>
          <a:p>
            <a:pPr marL="285750" indent="-285750">
              <a:buFont typeface="Wingdings" panose="05000000000000000000" pitchFamily="2" charset="2"/>
              <a:buChar char="Ø"/>
            </a:pPr>
            <a:r>
              <a:rPr lang="en-US" sz="2800" b="1" dirty="0"/>
              <a:t>&amp;&amp; Short circuit AND</a:t>
            </a:r>
          </a:p>
          <a:p>
            <a:pPr marL="285750" indent="-285750">
              <a:buFont typeface="Wingdings" panose="05000000000000000000" pitchFamily="2" charset="2"/>
              <a:buChar char="Ø"/>
            </a:pPr>
            <a:r>
              <a:rPr lang="en-US" sz="2800" b="1" dirty="0"/>
              <a:t>|| Short circuit OR</a:t>
            </a:r>
          </a:p>
        </p:txBody>
      </p:sp>
      <p:sp>
        <p:nvSpPr>
          <p:cNvPr id="7" name="Footer Placeholder 6">
            <a:extLst>
              <a:ext uri="{FF2B5EF4-FFF2-40B4-BE49-F238E27FC236}">
                <a16:creationId xmlns="" xmlns:a16="http://schemas.microsoft.com/office/drawing/2014/main" id="{291B7228-9C74-B8BA-4A6E-8A37C8DDD0C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7153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diamond(out)">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Logical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285750" y="576633"/>
            <a:ext cx="184731" cy="369332"/>
          </a:xfrm>
          <a:prstGeom prst="rect">
            <a:avLst/>
          </a:prstGeom>
          <a:noFill/>
        </p:spPr>
        <p:txBody>
          <a:bodyPr wrap="none" rtlCol="0">
            <a:spAutoFit/>
          </a:bodyPr>
          <a:lstStyle/>
          <a:p>
            <a:endParaRPr lang="en-US" b="1" dirty="0">
              <a:solidFill>
                <a:srgbClr val="0000FF"/>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37D1EBC6-075E-43B0-ADFB-9DA2619A30B9}"/>
              </a:ext>
            </a:extLst>
          </p:cNvPr>
          <p:cNvSpPr txBox="1"/>
          <p:nvPr/>
        </p:nvSpPr>
        <p:spPr>
          <a:xfrm>
            <a:off x="378113" y="576633"/>
            <a:ext cx="5000603" cy="5262979"/>
          </a:xfrm>
          <a:prstGeom prst="rect">
            <a:avLst/>
          </a:prstGeom>
          <a:noFill/>
        </p:spPr>
        <p:txBody>
          <a:bodyPr wrap="square">
            <a:spAutoFit/>
          </a:bodyPr>
          <a:lstStyle/>
          <a:p>
            <a:r>
              <a:rPr lang="en-US" sz="2400" b="1" dirty="0"/>
              <a:t>// LogicalOperatorsTest.java</a:t>
            </a:r>
          </a:p>
          <a:p>
            <a:r>
              <a:rPr lang="en-US" sz="2400" b="1" dirty="0"/>
              <a:t>public class </a:t>
            </a:r>
            <a:r>
              <a:rPr lang="en-US" sz="2400" b="1" dirty="0" err="1"/>
              <a:t>LogicalOperatorsTest</a:t>
            </a:r>
            <a:r>
              <a:rPr lang="en-US" sz="2400" b="1" dirty="0"/>
              <a:t> {</a:t>
            </a:r>
          </a:p>
          <a:p>
            <a:r>
              <a:rPr lang="en-US" sz="2400" b="1" dirty="0"/>
              <a:t>   public static void main(String rags[]) {</a:t>
            </a:r>
          </a:p>
          <a:p>
            <a:r>
              <a:rPr lang="en-US" sz="2400" b="1" dirty="0"/>
              <a:t>     int a=25;</a:t>
            </a:r>
          </a:p>
          <a:p>
            <a:r>
              <a:rPr lang="en-US" sz="2400" b="1" dirty="0"/>
              <a:t>     int b=75;</a:t>
            </a:r>
          </a:p>
          <a:p>
            <a:r>
              <a:rPr lang="en-US" sz="2400" b="1" dirty="0"/>
              <a:t>     double x=35.87;</a:t>
            </a:r>
          </a:p>
          <a:p>
            <a:r>
              <a:rPr lang="en-US" sz="2400" b="1" dirty="0"/>
              <a:t>     double y=67.43;</a:t>
            </a:r>
          </a:p>
          <a:p>
            <a:r>
              <a:rPr lang="en-US" sz="2400" b="1" dirty="0"/>
              <a:t>     char c1='b';</a:t>
            </a:r>
          </a:p>
          <a:p>
            <a:r>
              <a:rPr lang="en-US" sz="2400" b="1" dirty="0"/>
              <a:t>     char c2='d';</a:t>
            </a:r>
          </a:p>
          <a:p>
            <a:endParaRPr lang="en-US" sz="2400" b="1" dirty="0"/>
          </a:p>
          <a:p>
            <a:r>
              <a:rPr lang="en-US" sz="2400" b="1" dirty="0"/>
              <a:t>     /* Logical AND; </a:t>
            </a:r>
            <a:r>
              <a:rPr lang="en-US" sz="2400" b="1" dirty="0" smtClean="0"/>
              <a:t>Both conditions must be true. </a:t>
            </a:r>
            <a:r>
              <a:rPr lang="en-US" sz="2400" b="1" dirty="0"/>
              <a:t>*/</a:t>
            </a:r>
          </a:p>
          <a:p>
            <a:r>
              <a:rPr lang="en-US" sz="2400" b="1" dirty="0"/>
              <a:t>     </a:t>
            </a:r>
            <a:r>
              <a:rPr lang="en-US" sz="2400" b="1" dirty="0" err="1"/>
              <a:t>System.out.println</a:t>
            </a:r>
            <a:r>
              <a:rPr lang="en-US" sz="2400" b="1" dirty="0"/>
              <a:t>((a&gt;b) &amp; (x&lt;y</a:t>
            </a:r>
            <a:r>
              <a:rPr lang="en-US" sz="2400" b="1" dirty="0" smtClean="0"/>
              <a:t>));</a:t>
            </a:r>
            <a:endParaRPr lang="en-US" sz="2400" b="1" dirty="0"/>
          </a:p>
        </p:txBody>
      </p:sp>
      <p:sp>
        <p:nvSpPr>
          <p:cNvPr id="7" name="Footer Placeholder 6">
            <a:extLst>
              <a:ext uri="{FF2B5EF4-FFF2-40B4-BE49-F238E27FC236}">
                <a16:creationId xmlns="" xmlns:a16="http://schemas.microsoft.com/office/drawing/2014/main" id="{31A6CE00-2B68-FEAF-720C-D0ADCB4CDEDC}"/>
              </a:ext>
            </a:extLst>
          </p:cNvPr>
          <p:cNvSpPr>
            <a:spLocks noGrp="1"/>
          </p:cNvSpPr>
          <p:nvPr>
            <p:ph type="ftr" sz="quarter" idx="11"/>
          </p:nvPr>
        </p:nvSpPr>
        <p:spPr/>
        <p:txBody>
          <a:bodyPr/>
          <a:lstStyle/>
          <a:p>
            <a:r>
              <a:rPr lang="en-US"/>
              <a:t>Suryanarayana</a:t>
            </a:r>
          </a:p>
        </p:txBody>
      </p:sp>
      <p:sp>
        <p:nvSpPr>
          <p:cNvPr id="9" name="Rectangle 8"/>
          <p:cNvSpPr/>
          <p:nvPr/>
        </p:nvSpPr>
        <p:spPr>
          <a:xfrm>
            <a:off x="5593680" y="648690"/>
            <a:ext cx="6096000" cy="5632311"/>
          </a:xfrm>
          <a:prstGeom prst="rect">
            <a:avLst/>
          </a:prstGeom>
        </p:spPr>
        <p:txBody>
          <a:bodyPr>
            <a:spAutoFit/>
          </a:bodyPr>
          <a:lstStyle/>
          <a:p>
            <a:r>
              <a:rPr lang="en-US" sz="2400" b="1" dirty="0" smtClean="0"/>
              <a:t>     </a:t>
            </a:r>
            <a:r>
              <a:rPr lang="en-US" sz="2400" b="1" dirty="0"/>
              <a:t>/* Logical OR; </a:t>
            </a:r>
            <a:r>
              <a:rPr lang="en-US" sz="2400" b="1" dirty="0" smtClean="0"/>
              <a:t>any one condition can be true </a:t>
            </a:r>
            <a:r>
              <a:rPr lang="en-US" sz="2400" b="1" dirty="0"/>
              <a:t>*/</a:t>
            </a:r>
          </a:p>
          <a:p>
            <a:r>
              <a:rPr lang="en-US" sz="2400" b="1" dirty="0"/>
              <a:t>     </a:t>
            </a:r>
            <a:r>
              <a:rPr lang="en-US" sz="2400" b="1" dirty="0" err="1"/>
              <a:t>System.out.println</a:t>
            </a:r>
            <a:r>
              <a:rPr lang="en-US" sz="2400" b="1" dirty="0"/>
              <a:t>((a&gt;b) | (x&lt;y));</a:t>
            </a:r>
          </a:p>
          <a:p>
            <a:endParaRPr lang="en-US" sz="2400" b="1" dirty="0"/>
          </a:p>
          <a:p>
            <a:r>
              <a:rPr lang="en-US" sz="2400" b="1" dirty="0"/>
              <a:t>     /* Logical XOR; if both are true or false, false. If anyone is true and other one is false, true. </a:t>
            </a:r>
            <a:r>
              <a:rPr lang="en-US" sz="2400" b="1" dirty="0" err="1"/>
              <a:t>x^y</a:t>
            </a:r>
            <a:r>
              <a:rPr lang="en-US" sz="2400" b="1" dirty="0"/>
              <a:t>=x.y'+</a:t>
            </a:r>
            <a:r>
              <a:rPr lang="en-US" sz="2400" b="1" dirty="0" err="1"/>
              <a:t>y.x</a:t>
            </a:r>
            <a:r>
              <a:rPr lang="en-US" sz="2400" b="1" dirty="0"/>
              <a:t>’  */</a:t>
            </a:r>
          </a:p>
          <a:p>
            <a:r>
              <a:rPr lang="en-US" sz="2400" b="1" dirty="0"/>
              <a:t>     </a:t>
            </a:r>
            <a:r>
              <a:rPr lang="en-US" sz="2400" b="1" dirty="0" err="1"/>
              <a:t>System.out.println</a:t>
            </a:r>
            <a:r>
              <a:rPr lang="en-US" sz="2400" b="1" dirty="0"/>
              <a:t>((c1==c2) ^ (b&gt;100));</a:t>
            </a:r>
          </a:p>
          <a:p>
            <a:r>
              <a:rPr lang="en-US" sz="2400" b="1" dirty="0"/>
              <a:t>     </a:t>
            </a:r>
            <a:r>
              <a:rPr lang="en-US" sz="2400" b="1" dirty="0" err="1"/>
              <a:t>System.out.println</a:t>
            </a:r>
            <a:r>
              <a:rPr lang="en-US" sz="2400" b="1" dirty="0"/>
              <a:t>((c1==c2) ^ (b==75));</a:t>
            </a:r>
          </a:p>
          <a:p>
            <a:endParaRPr lang="en-US" sz="2400" b="1" dirty="0"/>
          </a:p>
          <a:p>
            <a:r>
              <a:rPr lang="en-US" sz="2400" b="1" dirty="0"/>
              <a:t>     // &amp;&amp; Short-circuit AND; || Short-circuit OR</a:t>
            </a:r>
          </a:p>
          <a:p>
            <a:r>
              <a:rPr lang="en-US" sz="2400" b="1" dirty="0"/>
              <a:t>     </a:t>
            </a:r>
            <a:r>
              <a:rPr lang="en-US" sz="2400" b="1" dirty="0" err="1"/>
              <a:t>System.out.println</a:t>
            </a:r>
            <a:r>
              <a:rPr lang="en-US" sz="2400" b="1" dirty="0"/>
              <a:t>((a&gt;b) &amp;&amp; (x&lt;y));</a:t>
            </a:r>
          </a:p>
          <a:p>
            <a:r>
              <a:rPr lang="en-US" sz="2400" b="1" dirty="0"/>
              <a:t>     </a:t>
            </a:r>
            <a:r>
              <a:rPr lang="en-US" sz="2400" b="1" dirty="0" err="1"/>
              <a:t>System.out.println</a:t>
            </a:r>
            <a:r>
              <a:rPr lang="en-US" sz="2400" b="1" dirty="0"/>
              <a:t>((a&gt;b) || (x&lt;y));</a:t>
            </a:r>
          </a:p>
          <a:p>
            <a:r>
              <a:rPr lang="en-US" sz="2400" b="1" dirty="0"/>
              <a:t>   }</a:t>
            </a:r>
          </a:p>
          <a:p>
            <a:r>
              <a:rPr lang="en-US" sz="2400" b="1" dirty="0"/>
              <a:t>}</a:t>
            </a:r>
            <a:endParaRPr lang="en-US" sz="2400" b="1" dirty="0"/>
          </a:p>
        </p:txBody>
      </p:sp>
    </p:spTree>
    <p:extLst>
      <p:ext uri="{BB962C8B-B14F-4D97-AF65-F5344CB8AC3E}">
        <p14:creationId xmlns:p14="http://schemas.microsoft.com/office/powerpoint/2010/main" val="185299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diamond(out)">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Ternary Operator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285750" y="523625"/>
            <a:ext cx="184731" cy="369332"/>
          </a:xfrm>
          <a:prstGeom prst="rect">
            <a:avLst/>
          </a:prstGeom>
          <a:noFill/>
        </p:spPr>
        <p:txBody>
          <a:bodyPr wrap="none" rtlCol="0">
            <a:spAutoFit/>
          </a:bodyPr>
          <a:lstStyle/>
          <a:p>
            <a:endParaRPr lang="en-US" b="1" dirty="0">
              <a:solidFill>
                <a:srgbClr val="0000FF"/>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37D1EBC6-075E-43B0-ADFB-9DA2619A30B9}"/>
              </a:ext>
            </a:extLst>
          </p:cNvPr>
          <p:cNvSpPr txBox="1"/>
          <p:nvPr/>
        </p:nvSpPr>
        <p:spPr>
          <a:xfrm>
            <a:off x="893829" y="1055923"/>
            <a:ext cx="9421746" cy="3416320"/>
          </a:xfrm>
          <a:prstGeom prst="rect">
            <a:avLst/>
          </a:prstGeom>
          <a:noFill/>
        </p:spPr>
        <p:txBody>
          <a:bodyPr wrap="square">
            <a:spAutoFit/>
          </a:bodyPr>
          <a:lstStyle/>
          <a:p>
            <a:r>
              <a:rPr lang="en-US" b="1" dirty="0"/>
              <a:t>A simple if-else condition with one-one statement can be written as Ternary Operator (?:)</a:t>
            </a:r>
          </a:p>
          <a:p>
            <a:endParaRPr lang="en-US" b="1" dirty="0"/>
          </a:p>
          <a:p>
            <a:r>
              <a:rPr lang="en-US" b="1" dirty="0"/>
              <a:t>Syntax: </a:t>
            </a:r>
          </a:p>
          <a:p>
            <a:r>
              <a:rPr lang="en-US" b="1" dirty="0"/>
              <a:t>	(condition)?LHS:RHS</a:t>
            </a:r>
          </a:p>
          <a:p>
            <a:r>
              <a:rPr lang="en-US" b="1" dirty="0"/>
              <a:t>If condition satisfy return LHS value, otherwise return RHS value</a:t>
            </a:r>
          </a:p>
          <a:p>
            <a:endParaRPr lang="en-US" b="1" dirty="0"/>
          </a:p>
          <a:p>
            <a:r>
              <a:rPr lang="en-US" b="1" dirty="0"/>
              <a:t>Ternary operator operates on three operands. One of its use is assign the minimum or maximum value of two variables to a third variable.</a:t>
            </a:r>
          </a:p>
          <a:p>
            <a:endParaRPr lang="en-US" b="1" dirty="0"/>
          </a:p>
          <a:p>
            <a:pPr marL="171450" indent="-171450">
              <a:buFont typeface="Wingdings" panose="05000000000000000000" pitchFamily="2" charset="2"/>
              <a:buChar char="Ø"/>
            </a:pPr>
            <a:r>
              <a:rPr lang="en-US" b="1" dirty="0"/>
              <a:t>Simple if-else condition</a:t>
            </a:r>
          </a:p>
          <a:p>
            <a:pPr marL="171450" indent="-171450">
              <a:buFont typeface="Wingdings" panose="05000000000000000000" pitchFamily="2" charset="2"/>
              <a:buChar char="Ø"/>
            </a:pPr>
            <a:r>
              <a:rPr lang="en-US" b="1" dirty="0"/>
              <a:t>if-else contains only one-one statement</a:t>
            </a:r>
          </a:p>
          <a:p>
            <a:pPr marL="171450" indent="-171450">
              <a:buFont typeface="Wingdings" panose="05000000000000000000" pitchFamily="2" charset="2"/>
              <a:buChar char="Ø"/>
            </a:pPr>
            <a:r>
              <a:rPr lang="en-US" b="1" dirty="0"/>
              <a:t>that to the statement must return a value</a:t>
            </a:r>
          </a:p>
        </p:txBody>
      </p:sp>
      <p:sp>
        <p:nvSpPr>
          <p:cNvPr id="7" name="Footer Placeholder 6">
            <a:extLst>
              <a:ext uri="{FF2B5EF4-FFF2-40B4-BE49-F238E27FC236}">
                <a16:creationId xmlns="" xmlns:a16="http://schemas.microsoft.com/office/drawing/2014/main" id="{F9A5E872-C3F2-F64D-4AA4-C15AC7AA87E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5342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diamond(out)">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Ternary Operator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164955" y="323566"/>
            <a:ext cx="5377592" cy="6555641"/>
          </a:xfrm>
          <a:prstGeom prst="rect">
            <a:avLst/>
          </a:prstGeom>
          <a:noFill/>
        </p:spPr>
        <p:txBody>
          <a:bodyPr wrap="square">
            <a:spAutoFit/>
          </a:bodyPr>
          <a:lstStyle/>
          <a:p>
            <a:r>
              <a:rPr lang="en-US" sz="2000" b="1" dirty="0"/>
              <a:t>// TernaryOperatorDemo.java</a:t>
            </a:r>
          </a:p>
          <a:p>
            <a:r>
              <a:rPr lang="en-US" sz="2000" b="1" dirty="0"/>
              <a:t>public class </a:t>
            </a:r>
            <a:r>
              <a:rPr lang="en-US" sz="2000" b="1" dirty="0" err="1"/>
              <a:t>TernaryOperatorDemo</a:t>
            </a:r>
            <a:r>
              <a:rPr lang="en-US" sz="2000" b="1" dirty="0"/>
              <a:t> {</a:t>
            </a:r>
          </a:p>
          <a:p>
            <a:r>
              <a:rPr lang="en-US" sz="2000" b="1" dirty="0"/>
              <a:t>   public static void main(String rags[]) </a:t>
            </a:r>
            <a:r>
              <a:rPr lang="en-US" sz="2000" b="1" dirty="0" smtClean="0"/>
              <a:t>{</a:t>
            </a:r>
            <a:endParaRPr lang="en-US" sz="2000" b="1" dirty="0"/>
          </a:p>
          <a:p>
            <a:r>
              <a:rPr lang="en-US" sz="2000" b="1" dirty="0"/>
              <a:t>	</a:t>
            </a:r>
            <a:r>
              <a:rPr lang="en-US" sz="2400" b="1" dirty="0"/>
              <a:t>  int a=126; int b=70; int d=100;</a:t>
            </a:r>
          </a:p>
          <a:p>
            <a:r>
              <a:rPr lang="en-US" sz="2400" b="1" dirty="0"/>
              <a:t>	  int c=0;</a:t>
            </a:r>
          </a:p>
          <a:p>
            <a:r>
              <a:rPr lang="en-US" sz="2400" b="1" dirty="0"/>
              <a:t>	  </a:t>
            </a:r>
          </a:p>
          <a:p>
            <a:r>
              <a:rPr lang="en-US" sz="2400" b="1" dirty="0"/>
              <a:t>	  if(a&lt;b) {</a:t>
            </a:r>
          </a:p>
          <a:p>
            <a:r>
              <a:rPr lang="en-US" sz="2400" b="1" dirty="0"/>
              <a:t>	     c=a;</a:t>
            </a:r>
          </a:p>
          <a:p>
            <a:r>
              <a:rPr lang="en-US" sz="2400" b="1" dirty="0"/>
              <a:t>	  } else {</a:t>
            </a:r>
          </a:p>
          <a:p>
            <a:r>
              <a:rPr lang="en-US" sz="2400" b="1" dirty="0"/>
              <a:t>	     c=b;</a:t>
            </a:r>
          </a:p>
          <a:p>
            <a:r>
              <a:rPr lang="en-US" sz="2400" b="1" dirty="0"/>
              <a:t>	  }</a:t>
            </a:r>
          </a:p>
          <a:p>
            <a:r>
              <a:rPr lang="en-US" sz="2400" b="1" dirty="0"/>
              <a:t>	  </a:t>
            </a:r>
          </a:p>
          <a:p>
            <a:r>
              <a:rPr lang="en-US" sz="2400" b="1" dirty="0"/>
              <a:t>	  c=(a&lt;b)?</a:t>
            </a:r>
            <a:r>
              <a:rPr lang="en-US" sz="2400" b="1" dirty="0" err="1"/>
              <a:t>a:b</a:t>
            </a:r>
            <a:r>
              <a:rPr lang="en-US" sz="2400" b="1" dirty="0"/>
              <a:t>;</a:t>
            </a:r>
          </a:p>
          <a:p>
            <a:r>
              <a:rPr lang="en-US" sz="2400" b="1" dirty="0"/>
              <a:t>	  </a:t>
            </a:r>
            <a:r>
              <a:rPr lang="en-US" sz="2400" b="1" dirty="0" err="1"/>
              <a:t>System.out.println</a:t>
            </a:r>
            <a:r>
              <a:rPr lang="en-US" sz="2400" b="1" dirty="0"/>
              <a:t>(c);</a:t>
            </a:r>
          </a:p>
          <a:p>
            <a:r>
              <a:rPr lang="en-US" sz="2400" b="1" dirty="0"/>
              <a:t>	  </a:t>
            </a:r>
          </a:p>
          <a:p>
            <a:r>
              <a:rPr lang="en-US" sz="2400" b="1" dirty="0"/>
              <a:t>	  String str=(a&lt;b)?"a is less than </a:t>
            </a:r>
            <a:r>
              <a:rPr lang="en-US" sz="2400" b="1" dirty="0" err="1"/>
              <a:t>b":"b</a:t>
            </a:r>
            <a:r>
              <a:rPr lang="en-US" sz="2400" b="1" dirty="0"/>
              <a:t> is less than a";</a:t>
            </a:r>
          </a:p>
          <a:p>
            <a:r>
              <a:rPr lang="en-US" sz="2400" b="1" dirty="0"/>
              <a:t>	  </a:t>
            </a:r>
            <a:r>
              <a:rPr lang="en-US" sz="2400" b="1" dirty="0" err="1"/>
              <a:t>System.out.println</a:t>
            </a:r>
            <a:r>
              <a:rPr lang="en-US" sz="2400" b="1" dirty="0"/>
              <a:t>(</a:t>
            </a:r>
            <a:r>
              <a:rPr lang="en-US" sz="2400" b="1" dirty="0" err="1"/>
              <a:t>str</a:t>
            </a:r>
            <a:r>
              <a:rPr lang="en-US" sz="2400" b="1" dirty="0" smtClean="0"/>
              <a:t>);</a:t>
            </a:r>
            <a:endParaRPr lang="en-US" sz="2400" b="1" dirty="0"/>
          </a:p>
        </p:txBody>
      </p:sp>
      <p:sp>
        <p:nvSpPr>
          <p:cNvPr id="7" name="Footer Placeholder 6">
            <a:extLst>
              <a:ext uri="{FF2B5EF4-FFF2-40B4-BE49-F238E27FC236}">
                <a16:creationId xmlns="" xmlns:a16="http://schemas.microsoft.com/office/drawing/2014/main" id="{0CB74D20-D0D2-6D73-0DE9-D729E29DE9CC}"/>
              </a:ext>
            </a:extLst>
          </p:cNvPr>
          <p:cNvSpPr>
            <a:spLocks noGrp="1"/>
          </p:cNvSpPr>
          <p:nvPr>
            <p:ph type="ftr" sz="quarter" idx="11"/>
          </p:nvPr>
        </p:nvSpPr>
        <p:spPr/>
        <p:txBody>
          <a:bodyPr/>
          <a:lstStyle/>
          <a:p>
            <a:r>
              <a:rPr lang="en-US"/>
              <a:t>Suryanarayana</a:t>
            </a:r>
          </a:p>
        </p:txBody>
      </p:sp>
      <p:sp>
        <p:nvSpPr>
          <p:cNvPr id="8" name="Rectangle 7"/>
          <p:cNvSpPr/>
          <p:nvPr/>
        </p:nvSpPr>
        <p:spPr>
          <a:xfrm>
            <a:off x="5338613" y="833599"/>
            <a:ext cx="6554601" cy="5509200"/>
          </a:xfrm>
          <a:prstGeom prst="rect">
            <a:avLst/>
          </a:prstGeom>
        </p:spPr>
        <p:txBody>
          <a:bodyPr wrap="square">
            <a:spAutoFit/>
          </a:bodyPr>
          <a:lstStyle/>
          <a:p>
            <a:r>
              <a:rPr lang="en-US" sz="2200" b="1" dirty="0"/>
              <a:t> String name="Mr. </a:t>
            </a:r>
            <a:r>
              <a:rPr lang="en-US" sz="2200" b="1" dirty="0" smtClean="0"/>
              <a:t>ABC", </a:t>
            </a:r>
            <a:r>
              <a:rPr lang="en-US" sz="2200" b="1" dirty="0"/>
              <a:t>email="", mobile="", address="";</a:t>
            </a:r>
          </a:p>
          <a:p>
            <a:r>
              <a:rPr lang="en-US" sz="2200" b="1" dirty="0" smtClean="0"/>
              <a:t>String </a:t>
            </a:r>
            <a:r>
              <a:rPr lang="en-US" sz="2200" b="1" dirty="0"/>
              <a:t>err=(</a:t>
            </a:r>
            <a:r>
              <a:rPr lang="en-US" sz="2200" b="1" dirty="0" err="1"/>
              <a:t>name.isEmpty</a:t>
            </a:r>
            <a:r>
              <a:rPr lang="en-US" sz="2200" b="1" dirty="0"/>
              <a:t>())?"</a:t>
            </a:r>
            <a:r>
              <a:rPr lang="en-US" sz="2200" b="1" dirty="0" err="1"/>
              <a:t>SName</a:t>
            </a:r>
            <a:r>
              <a:rPr lang="en-US" sz="2200" b="1" dirty="0"/>
              <a:t> cannot be null\n":"";</a:t>
            </a:r>
          </a:p>
          <a:p>
            <a:r>
              <a:rPr lang="en-US" sz="2200" b="1" dirty="0" smtClean="0"/>
              <a:t>err=err</a:t>
            </a:r>
            <a:r>
              <a:rPr lang="en-US" sz="2200" b="1" dirty="0"/>
              <a:t>+(</a:t>
            </a:r>
            <a:r>
              <a:rPr lang="en-US" sz="2200" b="1" dirty="0" err="1"/>
              <a:t>email.length</a:t>
            </a:r>
            <a:r>
              <a:rPr lang="en-US" sz="2200" b="1" dirty="0"/>
              <a:t>()==0)?"Email cannot be null\n":"";</a:t>
            </a:r>
          </a:p>
          <a:p>
            <a:r>
              <a:rPr lang="en-US" sz="2200" b="1" dirty="0" smtClean="0"/>
              <a:t>err</a:t>
            </a:r>
            <a:r>
              <a:rPr lang="en-US" sz="2200" b="1" dirty="0"/>
              <a:t>+=(</a:t>
            </a:r>
            <a:r>
              <a:rPr lang="en-US" sz="2200" b="1" dirty="0" err="1"/>
              <a:t>mobile.isEmpty</a:t>
            </a:r>
            <a:r>
              <a:rPr lang="en-US" sz="2200" b="1" dirty="0"/>
              <a:t>())?"Mobile cannot be null\n":"";</a:t>
            </a:r>
          </a:p>
          <a:p>
            <a:r>
              <a:rPr lang="en-US" sz="2200" b="1" dirty="0" smtClean="0"/>
              <a:t>err</a:t>
            </a:r>
            <a:r>
              <a:rPr lang="en-US" sz="2200" b="1" dirty="0"/>
              <a:t>+=(</a:t>
            </a:r>
            <a:r>
              <a:rPr lang="en-US" sz="2200" b="1" dirty="0" err="1"/>
              <a:t>address.isEmpty</a:t>
            </a:r>
            <a:r>
              <a:rPr lang="en-US" sz="2200" b="1" dirty="0"/>
              <a:t>())?"Address cannot be null\n</a:t>
            </a:r>
            <a:r>
              <a:rPr lang="en-US" sz="2200" b="1" dirty="0" smtClean="0"/>
              <a:t>":"";</a:t>
            </a:r>
            <a:endParaRPr lang="en-US" sz="2200" b="1" dirty="0"/>
          </a:p>
          <a:p>
            <a:r>
              <a:rPr lang="en-US" sz="2200" b="1" dirty="0" smtClean="0"/>
              <a:t>if(</a:t>
            </a:r>
            <a:r>
              <a:rPr lang="en-US" sz="2200" b="1" dirty="0" err="1" smtClean="0"/>
              <a:t>err.length</a:t>
            </a:r>
            <a:r>
              <a:rPr lang="en-US" sz="2200" b="1" dirty="0"/>
              <a:t>()&gt;0) {</a:t>
            </a:r>
          </a:p>
          <a:p>
            <a:r>
              <a:rPr lang="en-US" sz="2200" b="1" dirty="0" err="1" smtClean="0"/>
              <a:t>System.out.println</a:t>
            </a:r>
            <a:r>
              <a:rPr lang="en-US" sz="2200" b="1" dirty="0" smtClean="0"/>
              <a:t>(err</a:t>
            </a:r>
            <a:r>
              <a:rPr lang="en-US" sz="2200" b="1" dirty="0"/>
              <a:t>);</a:t>
            </a:r>
          </a:p>
          <a:p>
            <a:r>
              <a:rPr lang="en-US" sz="2200" b="1" dirty="0" smtClean="0"/>
              <a:t>}</a:t>
            </a:r>
            <a:r>
              <a:rPr lang="en-US" sz="2200" b="1" dirty="0"/>
              <a:t>		  </a:t>
            </a:r>
          </a:p>
          <a:p>
            <a:r>
              <a:rPr lang="en-US" sz="2200" b="1" dirty="0" smtClean="0"/>
              <a:t>c </a:t>
            </a:r>
            <a:r>
              <a:rPr lang="en-US" sz="2200" b="1" dirty="0"/>
              <a:t>= (a&lt;b) ? a : (b&lt;d) ? b : d;</a:t>
            </a:r>
          </a:p>
          <a:p>
            <a:r>
              <a:rPr lang="en-US" sz="2200" b="1" dirty="0" err="1" smtClean="0"/>
              <a:t>System.out.println</a:t>
            </a:r>
            <a:r>
              <a:rPr lang="en-US" sz="2200" b="1" dirty="0" smtClean="0"/>
              <a:t>(c</a:t>
            </a:r>
            <a:r>
              <a:rPr lang="en-US" sz="2200" b="1" dirty="0"/>
              <a:t>);</a:t>
            </a:r>
          </a:p>
          <a:p>
            <a:r>
              <a:rPr lang="en-US" sz="2200" b="1" dirty="0"/>
              <a:t>  }</a:t>
            </a:r>
          </a:p>
          <a:p>
            <a:r>
              <a:rPr lang="en-US" sz="2200" b="1" dirty="0"/>
              <a:t>}</a:t>
            </a:r>
            <a:endParaRPr lang="en-US" sz="2200" dirty="0"/>
          </a:p>
        </p:txBody>
      </p:sp>
    </p:spTree>
    <p:extLst>
      <p:ext uri="{BB962C8B-B14F-4D97-AF65-F5344CB8AC3E}">
        <p14:creationId xmlns:p14="http://schemas.microsoft.com/office/powerpoint/2010/main" val="235140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Bitwise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285750" y="523625"/>
            <a:ext cx="184731" cy="369332"/>
          </a:xfrm>
          <a:prstGeom prst="rect">
            <a:avLst/>
          </a:prstGeom>
          <a:noFill/>
        </p:spPr>
        <p:txBody>
          <a:bodyPr wrap="none" rtlCol="0">
            <a:spAutoFit/>
          </a:bodyPr>
          <a:lstStyle/>
          <a:p>
            <a:endParaRPr lang="en-US" b="1" dirty="0">
              <a:solidFill>
                <a:srgbClr val="0000FF"/>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37D1EBC6-075E-43B0-ADFB-9DA2619A30B9}"/>
              </a:ext>
            </a:extLst>
          </p:cNvPr>
          <p:cNvSpPr txBox="1"/>
          <p:nvPr/>
        </p:nvSpPr>
        <p:spPr>
          <a:xfrm>
            <a:off x="429995" y="830632"/>
            <a:ext cx="9747671" cy="923330"/>
          </a:xfrm>
          <a:prstGeom prst="rect">
            <a:avLst/>
          </a:prstGeom>
          <a:noFill/>
        </p:spPr>
        <p:txBody>
          <a:bodyPr wrap="square">
            <a:spAutoFit/>
          </a:bodyPr>
          <a:lstStyle/>
          <a:p>
            <a:r>
              <a:rPr lang="en-US" b="1" dirty="0"/>
              <a:t>Bitwise Operators:</a:t>
            </a:r>
          </a:p>
          <a:p>
            <a:r>
              <a:rPr lang="en-US" b="1" dirty="0"/>
              <a:t>Bitwise operators are used to manipulate individual bits of a data item. There are situations where individual bits of data are modified. These operators operate only on byte, short, int and long types.</a:t>
            </a:r>
          </a:p>
        </p:txBody>
      </p:sp>
      <p:graphicFrame>
        <p:nvGraphicFramePr>
          <p:cNvPr id="9" name="Table 9">
            <a:extLst>
              <a:ext uri="{FF2B5EF4-FFF2-40B4-BE49-F238E27FC236}">
                <a16:creationId xmlns="" xmlns:a16="http://schemas.microsoft.com/office/drawing/2014/main" id="{F5D6426B-85E7-46A6-92CC-A3B1A10C85C4}"/>
              </a:ext>
            </a:extLst>
          </p:cNvPr>
          <p:cNvGraphicFramePr>
            <a:graphicFrameLocks noGrp="1"/>
          </p:cNvGraphicFramePr>
          <p:nvPr>
            <p:extLst>
              <p:ext uri="{D42A27DB-BD31-4B8C-83A1-F6EECF244321}">
                <p14:modId xmlns:p14="http://schemas.microsoft.com/office/powerpoint/2010/main" val="3575457515"/>
              </p:ext>
            </p:extLst>
          </p:nvPr>
        </p:nvGraphicFramePr>
        <p:xfrm>
          <a:off x="528540" y="1986821"/>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 xmlns:a16="http://schemas.microsoft.com/office/drawing/2014/main" val="1699216859"/>
                    </a:ext>
                  </a:extLst>
                </a:gridCol>
                <a:gridCol w="4064000">
                  <a:extLst>
                    <a:ext uri="{9D8B030D-6E8A-4147-A177-3AD203B41FA5}">
                      <a16:colId xmlns="" xmlns:a16="http://schemas.microsoft.com/office/drawing/2014/main" val="4125691497"/>
                    </a:ext>
                  </a:extLst>
                </a:gridCol>
              </a:tblGrid>
              <a:tr h="370840">
                <a:tc>
                  <a:txBody>
                    <a:bodyPr/>
                    <a:lstStyle/>
                    <a:p>
                      <a:r>
                        <a:rPr lang="en-US" sz="1800" b="1" dirty="0"/>
                        <a:t>Operator</a:t>
                      </a:r>
                      <a:endParaRPr lang="en-IN" dirty="0"/>
                    </a:p>
                  </a:txBody>
                  <a:tcPr/>
                </a:tc>
                <a:tc>
                  <a:txBody>
                    <a:bodyPr/>
                    <a:lstStyle/>
                    <a:p>
                      <a:r>
                        <a:rPr lang="en-US" sz="1800" b="1" dirty="0"/>
                        <a:t>Description</a:t>
                      </a:r>
                      <a:endParaRPr lang="en-IN" dirty="0"/>
                    </a:p>
                  </a:txBody>
                  <a:tcPr/>
                </a:tc>
                <a:extLst>
                  <a:ext uri="{0D108BD9-81ED-4DB2-BD59-A6C34878D82A}">
                    <a16:rowId xmlns="" xmlns:a16="http://schemas.microsoft.com/office/drawing/2014/main" val="1888216579"/>
                  </a:ext>
                </a:extLst>
              </a:tr>
              <a:tr h="370840">
                <a:tc>
                  <a:txBody>
                    <a:bodyPr/>
                    <a:lstStyle/>
                    <a:p>
                      <a:r>
                        <a:rPr lang="en-US" sz="1800" b="0" dirty="0"/>
                        <a:t>&amp; (ampersand)</a:t>
                      </a:r>
                      <a:endParaRPr lang="en-IN" b="0" dirty="0"/>
                    </a:p>
                  </a:txBody>
                  <a:tcPr/>
                </a:tc>
                <a:tc>
                  <a:txBody>
                    <a:bodyPr/>
                    <a:lstStyle/>
                    <a:p>
                      <a:r>
                        <a:rPr lang="en-US" dirty="0"/>
                        <a:t>Bitwise AND</a:t>
                      </a:r>
                      <a:endParaRPr lang="en-IN" dirty="0"/>
                    </a:p>
                  </a:txBody>
                  <a:tcPr/>
                </a:tc>
                <a:extLst>
                  <a:ext uri="{0D108BD9-81ED-4DB2-BD59-A6C34878D82A}">
                    <a16:rowId xmlns="" xmlns:a16="http://schemas.microsoft.com/office/drawing/2014/main" val="1064440017"/>
                  </a:ext>
                </a:extLst>
              </a:tr>
              <a:tr h="370840">
                <a:tc>
                  <a:txBody>
                    <a:bodyPr/>
                    <a:lstStyle/>
                    <a:p>
                      <a:r>
                        <a:rPr lang="en-US" b="0" dirty="0"/>
                        <a:t>| (pipe)</a:t>
                      </a:r>
                      <a:endParaRPr lang="en-IN" b="0" dirty="0"/>
                    </a:p>
                  </a:txBody>
                  <a:tcPr/>
                </a:tc>
                <a:tc>
                  <a:txBody>
                    <a:bodyPr/>
                    <a:lstStyle/>
                    <a:p>
                      <a:r>
                        <a:rPr lang="en-US" dirty="0"/>
                        <a:t>Bitwise OR</a:t>
                      </a:r>
                      <a:endParaRPr lang="en-IN" dirty="0"/>
                    </a:p>
                  </a:txBody>
                  <a:tcPr/>
                </a:tc>
                <a:extLst>
                  <a:ext uri="{0D108BD9-81ED-4DB2-BD59-A6C34878D82A}">
                    <a16:rowId xmlns="" xmlns:a16="http://schemas.microsoft.com/office/drawing/2014/main" val="2828353966"/>
                  </a:ext>
                </a:extLst>
              </a:tr>
              <a:tr h="370840">
                <a:tc>
                  <a:txBody>
                    <a:bodyPr/>
                    <a:lstStyle/>
                    <a:p>
                      <a:r>
                        <a:rPr lang="en-US" b="0" dirty="0"/>
                        <a:t>~ (tilde)</a:t>
                      </a:r>
                      <a:endParaRPr lang="en-IN" b="0" dirty="0"/>
                    </a:p>
                  </a:txBody>
                  <a:tcPr/>
                </a:tc>
                <a:tc>
                  <a:txBody>
                    <a:bodyPr/>
                    <a:lstStyle/>
                    <a:p>
                      <a:r>
                        <a:rPr lang="en-US" dirty="0"/>
                        <a:t>Bitwise NOT</a:t>
                      </a:r>
                      <a:endParaRPr lang="en-IN" dirty="0"/>
                    </a:p>
                  </a:txBody>
                  <a:tcPr/>
                </a:tc>
                <a:extLst>
                  <a:ext uri="{0D108BD9-81ED-4DB2-BD59-A6C34878D82A}">
                    <a16:rowId xmlns="" xmlns:a16="http://schemas.microsoft.com/office/drawing/2014/main" val="227695611"/>
                  </a:ext>
                </a:extLst>
              </a:tr>
              <a:tr h="370840">
                <a:tc>
                  <a:txBody>
                    <a:bodyPr/>
                    <a:lstStyle/>
                    <a:p>
                      <a:r>
                        <a:rPr lang="en-US" b="0" dirty="0"/>
                        <a:t>^ (caret)</a:t>
                      </a:r>
                      <a:endParaRPr lang="en-IN" b="0" dirty="0"/>
                    </a:p>
                  </a:txBody>
                  <a:tcPr/>
                </a:tc>
                <a:tc>
                  <a:txBody>
                    <a:bodyPr/>
                    <a:lstStyle/>
                    <a:p>
                      <a:r>
                        <a:rPr lang="en-US" dirty="0"/>
                        <a:t>Bitwise Exclusive OR</a:t>
                      </a:r>
                      <a:endParaRPr lang="en-IN" dirty="0"/>
                    </a:p>
                  </a:txBody>
                  <a:tcPr/>
                </a:tc>
                <a:extLst>
                  <a:ext uri="{0D108BD9-81ED-4DB2-BD59-A6C34878D82A}">
                    <a16:rowId xmlns="" xmlns:a16="http://schemas.microsoft.com/office/drawing/2014/main" val="3206060517"/>
                  </a:ext>
                </a:extLst>
              </a:tr>
            </a:tbl>
          </a:graphicData>
        </a:graphic>
      </p:graphicFrame>
      <p:sp>
        <p:nvSpPr>
          <p:cNvPr id="7" name="Footer Placeholder 6">
            <a:extLst>
              <a:ext uri="{FF2B5EF4-FFF2-40B4-BE49-F238E27FC236}">
                <a16:creationId xmlns="" xmlns:a16="http://schemas.microsoft.com/office/drawing/2014/main" id="{E6BE5684-7424-5059-B928-F3BDC89034B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3377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diamond(out)">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Bitwise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599F7A28-FCC3-4170-886F-133B70BDE761}"/>
              </a:ext>
            </a:extLst>
          </p:cNvPr>
          <p:cNvSpPr txBox="1"/>
          <p:nvPr/>
        </p:nvSpPr>
        <p:spPr>
          <a:xfrm>
            <a:off x="1080838" y="1286731"/>
            <a:ext cx="6057899" cy="4031873"/>
          </a:xfrm>
          <a:prstGeom prst="rect">
            <a:avLst/>
          </a:prstGeom>
          <a:noFill/>
        </p:spPr>
        <p:txBody>
          <a:bodyPr wrap="square">
            <a:spAutoFit/>
          </a:bodyPr>
          <a:lstStyle/>
          <a:p>
            <a:r>
              <a:rPr lang="en-US" sz="1600" b="1" dirty="0"/>
              <a:t>&amp; Operator</a:t>
            </a:r>
          </a:p>
          <a:p>
            <a:r>
              <a:rPr lang="en-US" sz="1600" b="1" dirty="0"/>
              <a:t>----------------</a:t>
            </a:r>
          </a:p>
          <a:p>
            <a:r>
              <a:rPr lang="en-US" sz="1600" b="1" dirty="0"/>
              <a:t>Bitwise AND (&amp;) operator compares each bit of first operand with each bit of second operand. For instance 71 binary number is 01000111 and 25 binary number is 00011001. If both the bits are 1 and 1 the result is 1, if any one of the bit is 0 the result is 0.</a:t>
            </a:r>
          </a:p>
          <a:p>
            <a:endParaRPr lang="en-US" sz="1600" b="1" dirty="0"/>
          </a:p>
          <a:p>
            <a:r>
              <a:rPr lang="en-US" sz="1600" b="1" dirty="0"/>
              <a:t>71                      01000111</a:t>
            </a:r>
          </a:p>
          <a:p>
            <a:r>
              <a:rPr lang="en-US" sz="1600" b="1" dirty="0"/>
              <a:t>25                      00011001</a:t>
            </a:r>
          </a:p>
          <a:p>
            <a:r>
              <a:rPr lang="en-US" sz="1600" b="1" dirty="0"/>
              <a:t>-------------------------------------</a:t>
            </a:r>
          </a:p>
          <a:p>
            <a:r>
              <a:rPr lang="en-US" sz="1600" b="1" dirty="0"/>
              <a:t>1                        00000001</a:t>
            </a:r>
          </a:p>
          <a:p>
            <a:endParaRPr lang="en-US" sz="1600" b="1" dirty="0"/>
          </a:p>
          <a:p>
            <a:r>
              <a:rPr lang="en-US" sz="1600" b="1" dirty="0"/>
              <a:t>byte a=71;</a:t>
            </a:r>
          </a:p>
          <a:p>
            <a:r>
              <a:rPr lang="en-US" sz="1600" b="1" dirty="0"/>
              <a:t>byte b=25;</a:t>
            </a:r>
          </a:p>
          <a:p>
            <a:r>
              <a:rPr lang="en-US" sz="1600" b="1" dirty="0"/>
              <a:t>byte c = a &amp; b;</a:t>
            </a:r>
          </a:p>
          <a:p>
            <a:r>
              <a:rPr lang="en-US" sz="1600" b="1" dirty="0" err="1"/>
              <a:t>System.out.println</a:t>
            </a:r>
            <a:r>
              <a:rPr lang="en-US" sz="1600" b="1" dirty="0"/>
              <a:t>(c); // result is 1</a:t>
            </a:r>
          </a:p>
        </p:txBody>
      </p:sp>
      <p:sp>
        <p:nvSpPr>
          <p:cNvPr id="7" name="Footer Placeholder 6">
            <a:extLst>
              <a:ext uri="{FF2B5EF4-FFF2-40B4-BE49-F238E27FC236}">
                <a16:creationId xmlns="" xmlns:a16="http://schemas.microsoft.com/office/drawing/2014/main" id="{29FD2876-9A4F-5969-B639-3DAB700AD69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869128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Bitwise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640293" y="1340225"/>
            <a:ext cx="5912907" cy="4031873"/>
          </a:xfrm>
          <a:prstGeom prst="rect">
            <a:avLst/>
          </a:prstGeom>
          <a:noFill/>
        </p:spPr>
        <p:txBody>
          <a:bodyPr wrap="square">
            <a:spAutoFit/>
          </a:bodyPr>
          <a:lstStyle/>
          <a:p>
            <a:r>
              <a:rPr lang="en-US" sz="1600" b="1" dirty="0"/>
              <a:t>| Operator</a:t>
            </a:r>
          </a:p>
          <a:p>
            <a:r>
              <a:rPr lang="en-US" sz="1600" b="1" dirty="0"/>
              <a:t>---------------</a:t>
            </a:r>
          </a:p>
          <a:p>
            <a:r>
              <a:rPr lang="en-US" sz="1600" b="1" dirty="0"/>
              <a:t>Bitwise OR operator compares each bit of first operand with each bit of second operand. If the bits of both operands are 1 the result is 1, even if any one of the operand is 1 then the result is 1 and only of both operand bit values are 0 then the result is 0.</a:t>
            </a:r>
          </a:p>
          <a:p>
            <a:endParaRPr lang="en-US" sz="1600" b="1" dirty="0"/>
          </a:p>
          <a:p>
            <a:r>
              <a:rPr lang="en-US" sz="1600" b="1" dirty="0"/>
              <a:t>71                          01000111</a:t>
            </a:r>
          </a:p>
          <a:p>
            <a:r>
              <a:rPr lang="en-US" sz="1600" b="1" dirty="0"/>
              <a:t>25                          00011001</a:t>
            </a:r>
          </a:p>
          <a:p>
            <a:r>
              <a:rPr lang="en-US" sz="1600" b="1" dirty="0"/>
              <a:t>-------------------------------------</a:t>
            </a:r>
          </a:p>
          <a:p>
            <a:r>
              <a:rPr lang="en-US" sz="1600" b="1" dirty="0"/>
              <a:t>95                          01011111</a:t>
            </a:r>
          </a:p>
          <a:p>
            <a:endParaRPr lang="en-US" sz="1600" b="1" dirty="0"/>
          </a:p>
          <a:p>
            <a:r>
              <a:rPr lang="en-US" sz="1600" b="1" dirty="0"/>
              <a:t>byte a=71;</a:t>
            </a:r>
          </a:p>
          <a:p>
            <a:r>
              <a:rPr lang="en-US" sz="1600" b="1" dirty="0"/>
              <a:t>byte b=25;</a:t>
            </a:r>
          </a:p>
          <a:p>
            <a:r>
              <a:rPr lang="en-US" sz="1600" b="1" dirty="0"/>
              <a:t>byte c = a | b;</a:t>
            </a:r>
          </a:p>
          <a:p>
            <a:r>
              <a:rPr lang="en-US" sz="1600" b="1" dirty="0" err="1"/>
              <a:t>System.out.println</a:t>
            </a:r>
            <a:r>
              <a:rPr lang="en-US" sz="1600" b="1" dirty="0"/>
              <a:t>(c); // result is 95</a:t>
            </a:r>
          </a:p>
        </p:txBody>
      </p:sp>
      <p:sp>
        <p:nvSpPr>
          <p:cNvPr id="7" name="Footer Placeholder 6">
            <a:extLst>
              <a:ext uri="{FF2B5EF4-FFF2-40B4-BE49-F238E27FC236}">
                <a16:creationId xmlns="" xmlns:a16="http://schemas.microsoft.com/office/drawing/2014/main" id="{29FD2876-9A4F-5969-B639-3DAB700AD69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535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Bitwise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509515" y="976404"/>
            <a:ext cx="8846523" cy="5016758"/>
          </a:xfrm>
          <a:prstGeom prst="rect">
            <a:avLst/>
          </a:prstGeom>
          <a:noFill/>
        </p:spPr>
        <p:txBody>
          <a:bodyPr wrap="square">
            <a:spAutoFit/>
          </a:bodyPr>
          <a:lstStyle/>
          <a:p>
            <a:r>
              <a:rPr lang="en-US" sz="1600" b="1" dirty="0"/>
              <a:t>^ Bitwise Exclusive OR Operator</a:t>
            </a:r>
          </a:p>
          <a:p>
            <a:r>
              <a:rPr lang="en-US" sz="1600" b="1" dirty="0"/>
              <a:t>--------------------------------------------</a:t>
            </a:r>
          </a:p>
          <a:p>
            <a:r>
              <a:rPr lang="en-US" sz="1600" b="1" dirty="0"/>
              <a:t>Bitwise Exclusive OR Operator compares each bit of first operand with each bit of second operand. If bits of both operands are 0 or 1 then the result is 0. If any one of the operand bit is 1 and other operand is 0 then the result is 1.</a:t>
            </a:r>
          </a:p>
          <a:p>
            <a:endParaRPr lang="en-US" sz="1600" b="1" dirty="0"/>
          </a:p>
          <a:p>
            <a:r>
              <a:rPr lang="en-US" sz="1600" b="1" dirty="0"/>
              <a:t>int k=</a:t>
            </a:r>
            <a:r>
              <a:rPr lang="en-US" sz="1600" b="1" dirty="0" err="1"/>
              <a:t>i^j</a:t>
            </a:r>
            <a:r>
              <a:rPr lang="en-US" sz="1600" b="1" dirty="0"/>
              <a:t>;</a:t>
            </a:r>
          </a:p>
          <a:p>
            <a:endParaRPr lang="en-US" sz="1600" b="1" dirty="0"/>
          </a:p>
          <a:p>
            <a:r>
              <a:rPr lang="en-US" sz="1600" b="1" dirty="0"/>
              <a:t>71                          01000111</a:t>
            </a:r>
          </a:p>
          <a:p>
            <a:r>
              <a:rPr lang="en-US" sz="1600" b="1" dirty="0"/>
              <a:t>25                          00011001</a:t>
            </a:r>
          </a:p>
          <a:p>
            <a:r>
              <a:rPr lang="en-US" sz="1600" b="1" dirty="0"/>
              <a:t>------------------------------------</a:t>
            </a:r>
          </a:p>
          <a:p>
            <a:pPr marL="228600" indent="-228600">
              <a:buAutoNum type="arabicPlain" startAt="94"/>
            </a:pPr>
            <a:r>
              <a:rPr lang="en-US" sz="1600" b="1" dirty="0"/>
              <a:t>                        01011110</a:t>
            </a:r>
          </a:p>
          <a:p>
            <a:pPr marL="228600" indent="-228600">
              <a:buAutoNum type="arabicPlain" startAt="94"/>
            </a:pPr>
            <a:endParaRPr lang="en-US" sz="1600" b="1" dirty="0"/>
          </a:p>
          <a:p>
            <a:endParaRPr lang="en-US" sz="1600" b="1" dirty="0"/>
          </a:p>
          <a:p>
            <a:r>
              <a:rPr lang="en-US" sz="1600" b="1" dirty="0"/>
              <a:t>~ Bitwise NOT Operator</a:t>
            </a:r>
          </a:p>
          <a:p>
            <a:r>
              <a:rPr lang="en-US" sz="1600" b="1" dirty="0"/>
              <a:t>--------------------------------</a:t>
            </a:r>
          </a:p>
          <a:p>
            <a:r>
              <a:rPr lang="en-US" sz="1600" b="1" dirty="0"/>
              <a:t>Bitwise NOT operator is a unary operator. This operator is used only on a single operand. 71 binary value is 01000111. </a:t>
            </a:r>
          </a:p>
          <a:p>
            <a:r>
              <a:rPr lang="en-US" sz="1600" b="1" dirty="0"/>
              <a:t>71                         01000111</a:t>
            </a:r>
          </a:p>
          <a:p>
            <a:r>
              <a:rPr lang="en-US" sz="1600" b="1" dirty="0"/>
              <a:t>~71                        10111000 // result is 184</a:t>
            </a:r>
          </a:p>
        </p:txBody>
      </p:sp>
      <p:sp>
        <p:nvSpPr>
          <p:cNvPr id="7" name="Footer Placeholder 6">
            <a:extLst>
              <a:ext uri="{FF2B5EF4-FFF2-40B4-BE49-F238E27FC236}">
                <a16:creationId xmlns="" xmlns:a16="http://schemas.microsoft.com/office/drawing/2014/main" id="{1BC54EAC-16ED-4916-D18E-C091E4DC055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0700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Bitwise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164955" y="552317"/>
            <a:ext cx="9249751" cy="6247864"/>
          </a:xfrm>
          <a:prstGeom prst="rect">
            <a:avLst/>
          </a:prstGeom>
          <a:noFill/>
        </p:spPr>
        <p:txBody>
          <a:bodyPr wrap="square">
            <a:spAutoFit/>
          </a:bodyPr>
          <a:lstStyle/>
          <a:p>
            <a:r>
              <a:rPr lang="en-US" sz="1600" b="1" dirty="0"/>
              <a:t>// BitwiseTest.java</a:t>
            </a:r>
          </a:p>
          <a:p>
            <a:r>
              <a:rPr lang="en-US" sz="1600" b="1" dirty="0"/>
              <a:t>public class </a:t>
            </a:r>
            <a:r>
              <a:rPr lang="en-US" sz="1600" b="1" dirty="0" err="1"/>
              <a:t>BitwiseTest</a:t>
            </a:r>
            <a:r>
              <a:rPr lang="en-US" sz="1600" b="1" dirty="0"/>
              <a:t> {</a:t>
            </a:r>
          </a:p>
          <a:p>
            <a:r>
              <a:rPr lang="en-US" sz="1600" b="1" dirty="0"/>
              <a:t>  public static void main(String rags[]) throws Exception {</a:t>
            </a:r>
          </a:p>
          <a:p>
            <a:endParaRPr lang="en-US" sz="1600" b="1" dirty="0"/>
          </a:p>
          <a:p>
            <a:r>
              <a:rPr lang="en-US" sz="1600" b="1" dirty="0"/>
              <a:t>   // bitwise AND (&amp;)</a:t>
            </a:r>
          </a:p>
          <a:p>
            <a:r>
              <a:rPr lang="en-US" sz="1600" b="1" dirty="0"/>
              <a:t>   int a=71, b=25;</a:t>
            </a:r>
          </a:p>
          <a:p>
            <a:r>
              <a:rPr lang="en-US" sz="1600" b="1" dirty="0"/>
              <a:t>   int c=</a:t>
            </a:r>
            <a:r>
              <a:rPr lang="en-US" sz="1600" b="1" dirty="0" err="1"/>
              <a:t>a&amp;b</a:t>
            </a:r>
            <a:r>
              <a:rPr lang="en-US" sz="1600" b="1" dirty="0"/>
              <a:t>;</a:t>
            </a:r>
          </a:p>
          <a:p>
            <a:r>
              <a:rPr lang="en-US" sz="1600" b="1" dirty="0"/>
              <a:t>   </a:t>
            </a:r>
            <a:r>
              <a:rPr lang="en-US" sz="1600" b="1" dirty="0" err="1"/>
              <a:t>System.out.println</a:t>
            </a:r>
            <a:r>
              <a:rPr lang="en-US" sz="1600" b="1" dirty="0"/>
              <a:t>("c is "+c);</a:t>
            </a:r>
          </a:p>
          <a:p>
            <a:endParaRPr lang="en-US" sz="1600" b="1" dirty="0"/>
          </a:p>
          <a:p>
            <a:r>
              <a:rPr lang="en-US" sz="1600" b="1" dirty="0"/>
              <a:t>   // bitwise inclusive OR (|)</a:t>
            </a:r>
          </a:p>
          <a:p>
            <a:r>
              <a:rPr lang="en-US" sz="1600" b="1" dirty="0"/>
              <a:t>   int d=71, e=25;</a:t>
            </a:r>
          </a:p>
          <a:p>
            <a:r>
              <a:rPr lang="en-US" sz="1600" b="1" dirty="0"/>
              <a:t>   int f=</a:t>
            </a:r>
            <a:r>
              <a:rPr lang="en-US" sz="1600" b="1" dirty="0" err="1"/>
              <a:t>d|e</a:t>
            </a:r>
            <a:r>
              <a:rPr lang="en-US" sz="1600" b="1" dirty="0"/>
              <a:t>;</a:t>
            </a:r>
          </a:p>
          <a:p>
            <a:r>
              <a:rPr lang="en-US" sz="1600" b="1" dirty="0"/>
              <a:t>   </a:t>
            </a:r>
            <a:r>
              <a:rPr lang="en-US" sz="1600" b="1" dirty="0" err="1"/>
              <a:t>System.out.println</a:t>
            </a:r>
            <a:r>
              <a:rPr lang="en-US" sz="1600" b="1" dirty="0"/>
              <a:t>("f is "+f);</a:t>
            </a:r>
          </a:p>
          <a:p>
            <a:endParaRPr lang="en-US" sz="1600" b="1" dirty="0"/>
          </a:p>
          <a:p>
            <a:r>
              <a:rPr lang="en-US" sz="1600" b="1" dirty="0"/>
              <a:t>   // bitwise exclusive OR (^)</a:t>
            </a:r>
          </a:p>
          <a:p>
            <a:r>
              <a:rPr lang="en-US" sz="1600" b="1" dirty="0"/>
              <a:t>   int g=71, h=25;</a:t>
            </a:r>
          </a:p>
          <a:p>
            <a:r>
              <a:rPr lang="en-US" sz="1600" b="1" dirty="0"/>
              <a:t>   int </a:t>
            </a:r>
            <a:r>
              <a:rPr lang="en-US" sz="1600" b="1" dirty="0" err="1"/>
              <a:t>i</a:t>
            </a:r>
            <a:r>
              <a:rPr lang="en-US" sz="1600" b="1" dirty="0"/>
              <a:t>=</a:t>
            </a:r>
            <a:r>
              <a:rPr lang="en-US" sz="1600" b="1" dirty="0" err="1"/>
              <a:t>g^h</a:t>
            </a:r>
            <a:r>
              <a:rPr lang="en-US" sz="1600" b="1" dirty="0"/>
              <a:t>;</a:t>
            </a:r>
          </a:p>
          <a:p>
            <a:r>
              <a:rPr lang="en-US" sz="1600" b="1" dirty="0"/>
              <a:t>   </a:t>
            </a:r>
            <a:r>
              <a:rPr lang="en-US" sz="1600" b="1" dirty="0" err="1"/>
              <a:t>System.out.println</a:t>
            </a:r>
            <a:r>
              <a:rPr lang="en-US" sz="1600" b="1" dirty="0"/>
              <a:t>("</a:t>
            </a:r>
            <a:r>
              <a:rPr lang="en-US" sz="1600" b="1" dirty="0" err="1"/>
              <a:t>i</a:t>
            </a:r>
            <a:r>
              <a:rPr lang="en-US" sz="1600" b="1" dirty="0"/>
              <a:t> is "+</a:t>
            </a:r>
            <a:r>
              <a:rPr lang="en-US" sz="1600" b="1" dirty="0" err="1"/>
              <a:t>i</a:t>
            </a:r>
            <a:r>
              <a:rPr lang="en-US" sz="1600" b="1" dirty="0"/>
              <a:t>);</a:t>
            </a:r>
          </a:p>
          <a:p>
            <a:endParaRPr lang="en-US" sz="1600" b="1" dirty="0"/>
          </a:p>
          <a:p>
            <a:r>
              <a:rPr lang="en-US" sz="1600" b="1" dirty="0"/>
              <a:t>   // bitwise NOT (~)</a:t>
            </a:r>
          </a:p>
          <a:p>
            <a:r>
              <a:rPr lang="en-US" sz="1600" b="1" dirty="0"/>
              <a:t>   int j=71;</a:t>
            </a:r>
          </a:p>
          <a:p>
            <a:r>
              <a:rPr lang="en-US" sz="1600" b="1" dirty="0"/>
              <a:t>   int k=~j;</a:t>
            </a:r>
          </a:p>
          <a:p>
            <a:r>
              <a:rPr lang="en-US" sz="1600" b="1" dirty="0"/>
              <a:t>   </a:t>
            </a:r>
            <a:r>
              <a:rPr lang="en-US" sz="1600" b="1" dirty="0" err="1"/>
              <a:t>System.out.println</a:t>
            </a:r>
            <a:r>
              <a:rPr lang="en-US" sz="1600" b="1" dirty="0"/>
              <a:t>("k is "+k);</a:t>
            </a:r>
          </a:p>
          <a:p>
            <a:r>
              <a:rPr lang="en-US" sz="1600" b="1" dirty="0"/>
              <a:t>  }</a:t>
            </a:r>
          </a:p>
          <a:p>
            <a:r>
              <a:rPr lang="en-US" sz="1600" b="1" dirty="0"/>
              <a:t>}</a:t>
            </a:r>
          </a:p>
        </p:txBody>
      </p:sp>
      <p:sp>
        <p:nvSpPr>
          <p:cNvPr id="7" name="Footer Placeholder 6">
            <a:extLst>
              <a:ext uri="{FF2B5EF4-FFF2-40B4-BE49-F238E27FC236}">
                <a16:creationId xmlns="" xmlns:a16="http://schemas.microsoft.com/office/drawing/2014/main" id="{B604D33E-D52A-64E6-8767-4E09D4107FE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61254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Shift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285750" y="523625"/>
            <a:ext cx="184731" cy="369332"/>
          </a:xfrm>
          <a:prstGeom prst="rect">
            <a:avLst/>
          </a:prstGeom>
          <a:noFill/>
        </p:spPr>
        <p:txBody>
          <a:bodyPr wrap="none" rtlCol="0">
            <a:spAutoFit/>
          </a:bodyPr>
          <a:lstStyle/>
          <a:p>
            <a:endParaRPr lang="en-US" b="1" dirty="0">
              <a:solidFill>
                <a:srgbClr val="0000FF"/>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37D1EBC6-075E-43B0-ADFB-9DA2619A30B9}"/>
              </a:ext>
            </a:extLst>
          </p:cNvPr>
          <p:cNvSpPr txBox="1"/>
          <p:nvPr/>
        </p:nvSpPr>
        <p:spPr>
          <a:xfrm>
            <a:off x="164955" y="756058"/>
            <a:ext cx="9249751" cy="5262979"/>
          </a:xfrm>
          <a:prstGeom prst="rect">
            <a:avLst/>
          </a:prstGeom>
          <a:noFill/>
        </p:spPr>
        <p:txBody>
          <a:bodyPr wrap="square">
            <a:spAutoFit/>
          </a:bodyPr>
          <a:lstStyle/>
          <a:p>
            <a:r>
              <a:rPr lang="en-US" sz="1600" b="1" dirty="0"/>
              <a:t>Shift Operators:</a:t>
            </a:r>
          </a:p>
          <a:p>
            <a:r>
              <a:rPr lang="en-US" sz="1600" b="1" dirty="0"/>
              <a:t>-----------------------</a:t>
            </a:r>
          </a:p>
          <a:p>
            <a:r>
              <a:rPr lang="en-US" sz="1600" b="1" dirty="0"/>
              <a:t>&lt;&lt; Left Shift Operator</a:t>
            </a:r>
          </a:p>
          <a:p>
            <a:r>
              <a:rPr lang="en-US" sz="1600" b="1" dirty="0"/>
              <a:t>&gt;&gt; Right Shift Operator</a:t>
            </a:r>
          </a:p>
          <a:p>
            <a:r>
              <a:rPr lang="en-US" sz="1600" b="1" dirty="0"/>
              <a:t>&gt;&gt;&gt; Right Shift Zero Fill Operator</a:t>
            </a:r>
          </a:p>
          <a:p>
            <a:endParaRPr lang="en-US" sz="1600" b="1" dirty="0"/>
          </a:p>
          <a:p>
            <a:r>
              <a:rPr lang="en-US" sz="1600" b="1" dirty="0"/>
              <a:t>&lt;&lt; Operator (Left shift operator)</a:t>
            </a:r>
          </a:p>
          <a:p>
            <a:r>
              <a:rPr lang="en-US" sz="1600" b="1" dirty="0"/>
              <a:t>---------------------------------------------</a:t>
            </a:r>
          </a:p>
          <a:p>
            <a:r>
              <a:rPr lang="en-US" sz="1600" b="1" dirty="0"/>
              <a:t>The left shift operator is used to shift the bits of a given operand to left for the specified number of positions.</a:t>
            </a:r>
          </a:p>
          <a:p>
            <a:endParaRPr lang="en-US" sz="1600" b="1" dirty="0"/>
          </a:p>
          <a:p>
            <a:r>
              <a:rPr lang="en-US" sz="1600" b="1" dirty="0"/>
              <a:t>For instance 71 binary value is 01000111, so if we declare a variable:</a:t>
            </a:r>
          </a:p>
          <a:p>
            <a:r>
              <a:rPr lang="en-US" sz="1600" b="1" dirty="0"/>
              <a:t>int a =71;</a:t>
            </a:r>
          </a:p>
          <a:p>
            <a:endParaRPr lang="en-US" sz="1600" b="1" dirty="0"/>
          </a:p>
          <a:p>
            <a:r>
              <a:rPr lang="en-US" sz="1600" b="1" dirty="0"/>
              <a:t>shift binary value of the 71 to two bits left.</a:t>
            </a:r>
          </a:p>
          <a:p>
            <a:r>
              <a:rPr lang="en-US" sz="1600" b="1" dirty="0"/>
              <a:t>int b=a&lt;&lt;2;</a:t>
            </a:r>
          </a:p>
          <a:p>
            <a:endParaRPr lang="en-US" sz="1600" b="1" dirty="0"/>
          </a:p>
          <a:p>
            <a:r>
              <a:rPr lang="en-US" sz="1600" b="1" dirty="0"/>
              <a:t>binary value of 71 is 01000111</a:t>
            </a:r>
          </a:p>
          <a:p>
            <a:r>
              <a:rPr lang="en-US" sz="1600" b="1" dirty="0"/>
              <a:t>shift 2 bits left     00011100</a:t>
            </a:r>
          </a:p>
          <a:p>
            <a:endParaRPr lang="en-US" sz="1600" b="1" dirty="0"/>
          </a:p>
          <a:p>
            <a:r>
              <a:rPr lang="en-US" sz="1600" b="1" dirty="0"/>
              <a:t>The value of 00011100 is 28</a:t>
            </a:r>
          </a:p>
        </p:txBody>
      </p:sp>
      <p:sp>
        <p:nvSpPr>
          <p:cNvPr id="7" name="Footer Placeholder 6">
            <a:extLst>
              <a:ext uri="{FF2B5EF4-FFF2-40B4-BE49-F238E27FC236}">
                <a16:creationId xmlns="" xmlns:a16="http://schemas.microsoft.com/office/drawing/2014/main" id="{8084D1DD-438E-342F-5471-ADB2AC8B297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5549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diamond(out)">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Shift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164956" y="826278"/>
            <a:ext cx="5057688" cy="4616648"/>
          </a:xfrm>
          <a:prstGeom prst="rect">
            <a:avLst/>
          </a:prstGeom>
          <a:noFill/>
        </p:spPr>
        <p:txBody>
          <a:bodyPr wrap="square">
            <a:spAutoFit/>
          </a:bodyPr>
          <a:lstStyle/>
          <a:p>
            <a:pPr algn="just"/>
            <a:r>
              <a:rPr lang="en-US" sz="1400" b="1" dirty="0"/>
              <a:t>&gt;&gt; Operator (Right shift operator)</a:t>
            </a:r>
          </a:p>
          <a:p>
            <a:pPr algn="just"/>
            <a:r>
              <a:rPr lang="en-US" sz="1400" b="1" dirty="0"/>
              <a:t>-----------------------------------------------</a:t>
            </a:r>
          </a:p>
          <a:p>
            <a:pPr algn="just"/>
            <a:r>
              <a:rPr lang="en-US" sz="1400" b="1" dirty="0"/>
              <a:t>The right shift operator is used to shift the bits of a given operand to right for the specified number of positions. One most important point is when bits are shifted to right and the left hand side bits are replaced with 0s in case of positive integer values and left hand side bits are replaced with 1s in case of negative integer value.</a:t>
            </a:r>
          </a:p>
          <a:p>
            <a:pPr algn="just"/>
            <a:endParaRPr lang="en-US" sz="1400" b="1" dirty="0"/>
          </a:p>
          <a:p>
            <a:pPr algn="just"/>
            <a:r>
              <a:rPr lang="en-US" sz="1400" b="1" dirty="0"/>
              <a:t>For instance 71 binary value is 01000111, so if we declare a variable:</a:t>
            </a:r>
          </a:p>
          <a:p>
            <a:pPr algn="just"/>
            <a:r>
              <a:rPr lang="en-US" sz="1400" b="1" dirty="0"/>
              <a:t>int a =71;</a:t>
            </a:r>
          </a:p>
          <a:p>
            <a:pPr algn="just"/>
            <a:endParaRPr lang="en-US" sz="1400" b="1" dirty="0"/>
          </a:p>
          <a:p>
            <a:pPr algn="just"/>
            <a:r>
              <a:rPr lang="en-US" sz="1400" b="1" dirty="0"/>
              <a:t>shift binary value of the 71 to two bits right.</a:t>
            </a:r>
          </a:p>
          <a:p>
            <a:pPr algn="just"/>
            <a:r>
              <a:rPr lang="en-US" sz="1400" b="1" dirty="0"/>
              <a:t>int b=a&gt;&gt;2;</a:t>
            </a:r>
          </a:p>
          <a:p>
            <a:pPr algn="just"/>
            <a:endParaRPr lang="en-US" sz="1400" b="1" dirty="0"/>
          </a:p>
          <a:p>
            <a:pPr algn="just"/>
            <a:r>
              <a:rPr lang="en-US" sz="1400" b="1" dirty="0"/>
              <a:t>binary value of 71 is 01000111</a:t>
            </a:r>
          </a:p>
          <a:p>
            <a:pPr algn="just"/>
            <a:r>
              <a:rPr lang="en-US" sz="1400" b="1" dirty="0"/>
              <a:t>shift 2 bits right    00010001</a:t>
            </a:r>
          </a:p>
          <a:p>
            <a:pPr algn="just"/>
            <a:endParaRPr lang="en-US" sz="1400" b="1" dirty="0"/>
          </a:p>
          <a:p>
            <a:pPr algn="just"/>
            <a:r>
              <a:rPr lang="en-US" sz="1400" b="1" dirty="0"/>
              <a:t>The value of 00010001 is 17.</a:t>
            </a:r>
          </a:p>
          <a:p>
            <a:pPr algn="just"/>
            <a:endParaRPr lang="en-US" sz="1400" b="1" dirty="0"/>
          </a:p>
        </p:txBody>
      </p:sp>
      <p:sp>
        <p:nvSpPr>
          <p:cNvPr id="8" name="TextBox 7">
            <a:extLst>
              <a:ext uri="{FF2B5EF4-FFF2-40B4-BE49-F238E27FC236}">
                <a16:creationId xmlns="" xmlns:a16="http://schemas.microsoft.com/office/drawing/2014/main" id="{0E490CEA-39BB-E24C-C07E-16C720FA8B64}"/>
              </a:ext>
            </a:extLst>
          </p:cNvPr>
          <p:cNvSpPr txBox="1"/>
          <p:nvPr/>
        </p:nvSpPr>
        <p:spPr>
          <a:xfrm>
            <a:off x="5222649" y="826278"/>
            <a:ext cx="6136480" cy="3539430"/>
          </a:xfrm>
          <a:prstGeom prst="rect">
            <a:avLst/>
          </a:prstGeom>
          <a:noFill/>
        </p:spPr>
        <p:txBody>
          <a:bodyPr wrap="square">
            <a:spAutoFit/>
          </a:bodyPr>
          <a:lstStyle/>
          <a:p>
            <a:r>
              <a:rPr lang="en-US" sz="1600" b="1" dirty="0"/>
              <a:t>In case of negative integer value:</a:t>
            </a:r>
          </a:p>
          <a:p>
            <a:r>
              <a:rPr lang="en-US" sz="1600" b="1" dirty="0"/>
              <a:t>---------------------------------------------</a:t>
            </a:r>
          </a:p>
          <a:p>
            <a:r>
              <a:rPr lang="en-US" sz="1600" b="1" dirty="0"/>
              <a:t>int a=-25;</a:t>
            </a:r>
          </a:p>
          <a:p>
            <a:endParaRPr lang="en-US" sz="1600" b="1" dirty="0"/>
          </a:p>
          <a:p>
            <a:r>
              <a:rPr lang="en-US" sz="1600" b="1" dirty="0"/>
              <a:t>the binary value is 10011001</a:t>
            </a:r>
          </a:p>
          <a:p>
            <a:endParaRPr lang="en-US" sz="1600" b="1" dirty="0"/>
          </a:p>
          <a:p>
            <a:r>
              <a:rPr lang="en-US" sz="1600" b="1" dirty="0"/>
              <a:t>if we apply int b=a&gt;&gt;2;</a:t>
            </a:r>
          </a:p>
          <a:p>
            <a:endParaRPr lang="en-US" sz="1600" b="1" dirty="0"/>
          </a:p>
          <a:p>
            <a:r>
              <a:rPr lang="en-US" sz="1600" b="1" dirty="0"/>
              <a:t>the resultant binary value is:</a:t>
            </a:r>
          </a:p>
          <a:p>
            <a:r>
              <a:rPr lang="en-US" sz="1600" b="1" dirty="0"/>
              <a:t>10011001</a:t>
            </a:r>
          </a:p>
          <a:p>
            <a:r>
              <a:rPr lang="en-US" sz="1600" b="1" dirty="0"/>
              <a:t>11100110</a:t>
            </a:r>
          </a:p>
          <a:p>
            <a:endParaRPr lang="en-US" sz="1600" b="1" dirty="0"/>
          </a:p>
          <a:p>
            <a:r>
              <a:rPr lang="en-US" sz="1600" b="1" dirty="0"/>
              <a:t>For each bit value 1 is appended at the left hand side indicates that the value is negative integer value.</a:t>
            </a:r>
          </a:p>
        </p:txBody>
      </p:sp>
      <p:sp>
        <p:nvSpPr>
          <p:cNvPr id="7" name="Footer Placeholder 6">
            <a:extLst>
              <a:ext uri="{FF2B5EF4-FFF2-40B4-BE49-F238E27FC236}">
                <a16:creationId xmlns="" xmlns:a16="http://schemas.microsoft.com/office/drawing/2014/main" id="{FF171AD1-A1A3-B77A-6E3C-A9D7AD62384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35786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Shift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164955" y="976406"/>
            <a:ext cx="9249751" cy="6986528"/>
          </a:xfrm>
          <a:prstGeom prst="rect">
            <a:avLst/>
          </a:prstGeom>
          <a:noFill/>
        </p:spPr>
        <p:txBody>
          <a:bodyPr wrap="square">
            <a:spAutoFit/>
          </a:bodyPr>
          <a:lstStyle/>
          <a:p>
            <a:r>
              <a:rPr lang="en-US" sz="1600" b="1" dirty="0"/>
              <a:t>&gt;&gt;&gt; Operator (Right shift zero fill operator)</a:t>
            </a:r>
          </a:p>
          <a:p>
            <a:r>
              <a:rPr lang="en-US" sz="1600" b="1" dirty="0"/>
              <a:t>-----------------------------------------------------------</a:t>
            </a:r>
          </a:p>
          <a:p>
            <a:r>
              <a:rPr lang="en-US" sz="1600" b="1" dirty="0"/>
              <a:t>This operator performs the same type of operation performed by right shift operator except that sign bit extension is not one 1. Instead of 1s filled at left most bit in case of –</a:t>
            </a:r>
            <a:r>
              <a:rPr lang="en-US" sz="1600" b="1" dirty="0" err="1"/>
              <a:t>ve</a:t>
            </a:r>
            <a:r>
              <a:rPr lang="en-US" sz="1600" b="1" dirty="0"/>
              <a:t> integer value, 0s are filled.</a:t>
            </a:r>
          </a:p>
          <a:p>
            <a:endParaRPr lang="en-US" sz="1600" b="1" dirty="0"/>
          </a:p>
          <a:p>
            <a:pPr marL="285750" indent="-285750">
              <a:buFont typeface="Wingdings" panose="05000000000000000000" pitchFamily="2" charset="2"/>
              <a:buChar char="Ø"/>
            </a:pPr>
            <a:r>
              <a:rPr lang="en-US" sz="1600" b="1" dirty="0"/>
              <a:t>This is equivalent to right shift operator with +</a:t>
            </a:r>
            <a:r>
              <a:rPr lang="en-US" sz="1600" b="1" dirty="0" err="1"/>
              <a:t>ve</a:t>
            </a:r>
            <a:r>
              <a:rPr lang="en-US" sz="1600" b="1" dirty="0"/>
              <a:t> integer value </a:t>
            </a:r>
          </a:p>
          <a:p>
            <a:pPr marL="285750" indent="-285750">
              <a:buFont typeface="Wingdings" panose="05000000000000000000" pitchFamily="2" charset="2"/>
              <a:buChar char="Ø"/>
            </a:pPr>
            <a:r>
              <a:rPr lang="en-US" sz="1600" b="1" dirty="0"/>
              <a:t>but fills 0 at left hand side in case of –</a:t>
            </a:r>
            <a:r>
              <a:rPr lang="en-US" sz="1600" b="1" dirty="0" err="1"/>
              <a:t>ve</a:t>
            </a:r>
            <a:r>
              <a:rPr lang="en-US" sz="1600" b="1" dirty="0"/>
              <a:t> integer value.</a:t>
            </a:r>
          </a:p>
          <a:p>
            <a:endParaRPr lang="en-US" sz="1600" b="1" dirty="0"/>
          </a:p>
          <a:p>
            <a:r>
              <a:rPr lang="en-US" sz="1600" b="1" dirty="0"/>
              <a:t>In case of negative integer value:</a:t>
            </a:r>
          </a:p>
          <a:p>
            <a:r>
              <a:rPr lang="en-US" sz="1600" b="1" dirty="0"/>
              <a:t>int a=-25;</a:t>
            </a:r>
          </a:p>
          <a:p>
            <a:r>
              <a:rPr lang="en-US" sz="1600" b="1" dirty="0"/>
              <a:t>the binary value is 10011001</a:t>
            </a:r>
          </a:p>
          <a:p>
            <a:endParaRPr lang="en-US" sz="1600" b="1" dirty="0"/>
          </a:p>
          <a:p>
            <a:r>
              <a:rPr lang="en-US" sz="1600" b="1" dirty="0"/>
              <a:t>if we apply int b=a&gt;&gt;&gt;2;</a:t>
            </a:r>
          </a:p>
          <a:p>
            <a:endParaRPr lang="en-US" sz="1600" b="1" dirty="0"/>
          </a:p>
          <a:p>
            <a:r>
              <a:rPr lang="en-US" sz="1600" b="1" dirty="0"/>
              <a:t>the resultant binary value is</a:t>
            </a:r>
          </a:p>
          <a:p>
            <a:r>
              <a:rPr lang="en-US" sz="1600" b="1" dirty="0"/>
              <a:t>00100110</a:t>
            </a:r>
          </a:p>
          <a:p>
            <a:endParaRPr lang="en-US" sz="1600" b="1" dirty="0"/>
          </a:p>
          <a:p>
            <a:r>
              <a:rPr lang="en-US" sz="1600" b="1" dirty="0"/>
              <a:t>For each bit value 0 is appended at the end of left hand side though it is negative integer value because of right shift zero fill operator.</a:t>
            </a:r>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p:txBody>
      </p:sp>
      <p:sp>
        <p:nvSpPr>
          <p:cNvPr id="7" name="Footer Placeholder 6">
            <a:extLst>
              <a:ext uri="{FF2B5EF4-FFF2-40B4-BE49-F238E27FC236}">
                <a16:creationId xmlns="" xmlns:a16="http://schemas.microsoft.com/office/drawing/2014/main" id="{52BF4654-3EFB-9B1F-BCF3-B9585EA2AA1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85642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461665"/>
              </a:xfrm>
              <a:prstGeom prst="rect">
                <a:avLst/>
              </a:prstGeom>
              <a:noFill/>
            </p:spPr>
            <p:txBody>
              <a:bodyPr wrap="square">
                <a:spAutoFit/>
              </a:bodyPr>
              <a:lstStyle/>
              <a:p>
                <a:pPr algn="ctr"/>
                <a:r>
                  <a:rPr lang="en-US" sz="2400" b="1" dirty="0">
                    <a:solidFill>
                      <a:schemeClr val="bg1"/>
                    </a:solidFill>
                    <a:latin typeface="Arial" panose="020B0604020202020204" pitchFamily="34" charset="0"/>
                    <a:cs typeface="Arial" panose="020B0604020202020204" pitchFamily="34" charset="0"/>
                  </a:rPr>
                  <a:t>Shift Operators in Java</a:t>
                </a:r>
                <a:endParaRPr lang="en-US" b="1" dirty="0">
                  <a:solidFill>
                    <a:schemeClr val="bg1"/>
                  </a:solidFill>
                  <a:latin typeface="Arial" panose="020B0604020202020204" pitchFamily="34" charset="0"/>
                  <a:cs typeface="Arial" panose="020B0604020202020204" pitchFamily="34" charset="0"/>
                </a:endParaRP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164955" y="771686"/>
            <a:ext cx="9249751" cy="7963719"/>
          </a:xfrm>
          <a:prstGeom prst="rect">
            <a:avLst/>
          </a:prstGeom>
          <a:noFill/>
        </p:spPr>
        <p:txBody>
          <a:bodyPr wrap="square">
            <a:spAutoFit/>
          </a:bodyPr>
          <a:lstStyle/>
          <a:p>
            <a:r>
              <a:rPr lang="en-US" sz="1550" b="1" dirty="0"/>
              <a:t>// ShiftOperatorsTest.java</a:t>
            </a:r>
          </a:p>
          <a:p>
            <a:r>
              <a:rPr lang="en-US" sz="1550" b="1" dirty="0"/>
              <a:t>public class </a:t>
            </a:r>
            <a:r>
              <a:rPr lang="en-US" sz="1550" b="1" dirty="0" err="1"/>
              <a:t>ShiftOperatorsTest</a:t>
            </a:r>
            <a:r>
              <a:rPr lang="en-US" sz="1550" b="1" dirty="0"/>
              <a:t> {</a:t>
            </a:r>
          </a:p>
          <a:p>
            <a:r>
              <a:rPr lang="en-US" sz="1550" b="1" dirty="0"/>
              <a:t>	public static void main(String rags[]) throws Exception {</a:t>
            </a:r>
          </a:p>
          <a:p>
            <a:endParaRPr lang="en-US" sz="1550" b="1" dirty="0"/>
          </a:p>
          <a:p>
            <a:r>
              <a:rPr lang="en-US" sz="1550" b="1" dirty="0"/>
              <a:t>	// left shift operator</a:t>
            </a:r>
          </a:p>
          <a:p>
            <a:r>
              <a:rPr lang="en-US" sz="1550" b="1" dirty="0"/>
              <a:t>	int a=25; int b=a&lt;&lt;2;</a:t>
            </a:r>
          </a:p>
          <a:p>
            <a:r>
              <a:rPr lang="en-US" sz="1550" b="1" dirty="0"/>
              <a:t>	</a:t>
            </a:r>
            <a:r>
              <a:rPr lang="en-US" sz="1550" b="1" dirty="0" err="1"/>
              <a:t>System.out.println</a:t>
            </a:r>
            <a:r>
              <a:rPr lang="en-US" sz="1550" b="1" dirty="0"/>
              <a:t>("a is "+a);</a:t>
            </a:r>
          </a:p>
          <a:p>
            <a:r>
              <a:rPr lang="en-US" sz="1550" b="1" dirty="0"/>
              <a:t>	</a:t>
            </a:r>
            <a:r>
              <a:rPr lang="en-US" sz="1550" b="1" dirty="0" err="1"/>
              <a:t>System.out.println</a:t>
            </a:r>
            <a:r>
              <a:rPr lang="en-US" sz="1550" b="1" dirty="0"/>
              <a:t>("a&lt;&lt;2 is "+b);</a:t>
            </a:r>
          </a:p>
          <a:p>
            <a:endParaRPr lang="en-US" sz="1550" b="1" dirty="0"/>
          </a:p>
          <a:p>
            <a:r>
              <a:rPr lang="en-US" sz="1550" b="1" dirty="0"/>
              <a:t>	// right shift operator</a:t>
            </a:r>
          </a:p>
          <a:p>
            <a:r>
              <a:rPr lang="en-US" sz="1550" b="1" dirty="0"/>
              <a:t>	a=25; b=a&gt;&gt;2;</a:t>
            </a:r>
          </a:p>
          <a:p>
            <a:r>
              <a:rPr lang="en-US" sz="1550" b="1" dirty="0"/>
              <a:t>	</a:t>
            </a:r>
            <a:r>
              <a:rPr lang="en-US" sz="1550" b="1" dirty="0" err="1"/>
              <a:t>System.out.println</a:t>
            </a:r>
            <a:r>
              <a:rPr lang="en-US" sz="1550" b="1" dirty="0"/>
              <a:t>("a is "+a);</a:t>
            </a:r>
          </a:p>
          <a:p>
            <a:r>
              <a:rPr lang="en-US" sz="1550" b="1" dirty="0"/>
              <a:t>	</a:t>
            </a:r>
            <a:r>
              <a:rPr lang="en-US" sz="1550" b="1" dirty="0" err="1"/>
              <a:t>System.out.println</a:t>
            </a:r>
            <a:r>
              <a:rPr lang="en-US" sz="1550" b="1" dirty="0"/>
              <a:t>("a&gt;&gt;2 is "+b);</a:t>
            </a:r>
          </a:p>
          <a:p>
            <a:endParaRPr lang="en-US" sz="1550" b="1" dirty="0"/>
          </a:p>
          <a:p>
            <a:r>
              <a:rPr lang="en-US" sz="1550" b="1" dirty="0"/>
              <a:t>	// right shift 0 fill operator for –</a:t>
            </a:r>
            <a:r>
              <a:rPr lang="en-US" sz="1550" b="1" dirty="0" err="1"/>
              <a:t>ve</a:t>
            </a:r>
            <a:r>
              <a:rPr lang="en-US" sz="1550" b="1" dirty="0"/>
              <a:t> integer values</a:t>
            </a:r>
          </a:p>
          <a:p>
            <a:r>
              <a:rPr lang="en-US" sz="1550" b="1" dirty="0"/>
              <a:t>	a=-25; b=a&gt;&gt;&gt;2;</a:t>
            </a:r>
          </a:p>
          <a:p>
            <a:r>
              <a:rPr lang="en-US" sz="1550" b="1" dirty="0"/>
              <a:t>	</a:t>
            </a:r>
            <a:r>
              <a:rPr lang="en-US" sz="1550" b="1" dirty="0" err="1"/>
              <a:t>System.out.println</a:t>
            </a:r>
            <a:r>
              <a:rPr lang="en-US" sz="1550" b="1" dirty="0"/>
              <a:t>("a is "+a);</a:t>
            </a:r>
          </a:p>
          <a:p>
            <a:r>
              <a:rPr lang="en-US" sz="1550" b="1" dirty="0"/>
              <a:t>	</a:t>
            </a:r>
            <a:r>
              <a:rPr lang="en-US" sz="1550" b="1" dirty="0" err="1"/>
              <a:t>System.out.println</a:t>
            </a:r>
            <a:r>
              <a:rPr lang="en-US" sz="1550" b="1" dirty="0"/>
              <a:t>("a&gt;&gt;&gt;2 is "+b);</a:t>
            </a:r>
          </a:p>
          <a:p>
            <a:r>
              <a:rPr lang="en-US" sz="1550" b="1" dirty="0"/>
              <a:t>	</a:t>
            </a:r>
          </a:p>
          <a:p>
            <a:r>
              <a:rPr lang="en-US" sz="1550" b="1" dirty="0"/>
              <a:t>	</a:t>
            </a:r>
            <a:r>
              <a:rPr lang="en-US" sz="1550" b="1" dirty="0" err="1"/>
              <a:t>System.out.println</a:t>
            </a:r>
            <a:r>
              <a:rPr lang="en-US" sz="1550" b="1" dirty="0"/>
              <a:t>(</a:t>
            </a:r>
            <a:r>
              <a:rPr lang="en-US" sz="1550" b="1" dirty="0" err="1"/>
              <a:t>Integer.toBinaryString</a:t>
            </a:r>
            <a:r>
              <a:rPr lang="en-US" sz="1550" b="1" dirty="0"/>
              <a:t>(25));</a:t>
            </a:r>
          </a:p>
          <a:p>
            <a:r>
              <a:rPr lang="en-US" sz="1550" b="1" dirty="0"/>
              <a:t>	</a:t>
            </a:r>
            <a:r>
              <a:rPr lang="en-US" sz="1550" b="1" dirty="0" err="1"/>
              <a:t>System.out.println</a:t>
            </a:r>
            <a:r>
              <a:rPr lang="en-US" sz="1550" b="1" dirty="0"/>
              <a:t>(</a:t>
            </a:r>
            <a:r>
              <a:rPr lang="en-US" sz="1550" b="1" dirty="0" err="1"/>
              <a:t>Integer.toOctalString</a:t>
            </a:r>
            <a:r>
              <a:rPr lang="en-US" sz="1550" b="1" dirty="0"/>
              <a:t>(25));</a:t>
            </a:r>
          </a:p>
          <a:p>
            <a:r>
              <a:rPr lang="en-US" sz="1550" b="1" dirty="0"/>
              <a:t>	</a:t>
            </a:r>
            <a:r>
              <a:rPr lang="en-US" sz="1550" b="1" dirty="0" err="1"/>
              <a:t>System.out.println</a:t>
            </a:r>
            <a:r>
              <a:rPr lang="en-US" sz="1550" b="1" dirty="0"/>
              <a:t>(</a:t>
            </a:r>
            <a:r>
              <a:rPr lang="en-US" sz="1550" b="1" dirty="0" err="1"/>
              <a:t>Integer.toHexString</a:t>
            </a:r>
            <a:r>
              <a:rPr lang="en-US" sz="1550" b="1" dirty="0"/>
              <a:t>(25));</a:t>
            </a:r>
          </a:p>
          <a:p>
            <a:endParaRPr lang="en-US" sz="1550" b="1" dirty="0"/>
          </a:p>
          <a:p>
            <a:r>
              <a:rPr lang="en-US" sz="1550" b="1" dirty="0"/>
              <a:t>   }</a:t>
            </a:r>
          </a:p>
          <a:p>
            <a:r>
              <a:rPr lang="en-US" sz="1550" b="1" dirty="0"/>
              <a:t>}</a:t>
            </a:r>
          </a:p>
          <a:p>
            <a:endParaRPr lang="en-US" sz="1550" b="1" dirty="0"/>
          </a:p>
          <a:p>
            <a:endParaRPr lang="en-US" sz="1550" b="1" dirty="0"/>
          </a:p>
          <a:p>
            <a:endParaRPr lang="en-US" sz="1550" b="1" dirty="0"/>
          </a:p>
          <a:p>
            <a:endParaRPr lang="en-US" sz="1550" b="1" dirty="0"/>
          </a:p>
          <a:p>
            <a:endParaRPr lang="en-US" sz="1550" b="1" dirty="0"/>
          </a:p>
          <a:p>
            <a:endParaRPr lang="en-US" sz="1550" b="1" dirty="0"/>
          </a:p>
          <a:p>
            <a:endParaRPr lang="en-US" sz="1550" b="1" dirty="0"/>
          </a:p>
          <a:p>
            <a:endParaRPr lang="en-US" sz="1550" b="1" dirty="0"/>
          </a:p>
        </p:txBody>
      </p:sp>
      <p:sp>
        <p:nvSpPr>
          <p:cNvPr id="7" name="Footer Placeholder 6">
            <a:extLst>
              <a:ext uri="{FF2B5EF4-FFF2-40B4-BE49-F238E27FC236}">
                <a16:creationId xmlns="" xmlns:a16="http://schemas.microsoft.com/office/drawing/2014/main" id="{75662F73-3181-3CA0-B16C-33838CB0C49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2225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roadway" panose="04040905080B02020502" pitchFamily="82" charset="0"/>
                    <a:cs typeface="Arial" panose="020B0604020202020204" pitchFamily="34" charset="0"/>
                  </a:rPr>
                  <a:t>THE END</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37D1EBC6-075E-43B0-ADFB-9DA2619A30B9}"/>
              </a:ext>
            </a:extLst>
          </p:cNvPr>
          <p:cNvSpPr txBox="1"/>
          <p:nvPr/>
        </p:nvSpPr>
        <p:spPr>
          <a:xfrm>
            <a:off x="368230" y="2472648"/>
            <a:ext cx="9046481" cy="2439129"/>
          </a:xfrm>
          <a:prstGeom prst="rect">
            <a:avLst/>
          </a:prstGeom>
          <a:noFill/>
        </p:spPr>
        <p:txBody>
          <a:bodyPr wrap="square">
            <a:spAutoFit/>
          </a:bodyPr>
          <a:lstStyle/>
          <a:p>
            <a:pPr algn="ctr"/>
            <a:endParaRPr lang="en-US" sz="1550" b="1" dirty="0"/>
          </a:p>
          <a:p>
            <a:pPr algn="ctr"/>
            <a:endParaRPr lang="en-US" sz="1550" b="1" dirty="0"/>
          </a:p>
          <a:p>
            <a:pPr algn="ctr"/>
            <a:endParaRPr lang="en-US" sz="4400" b="1" dirty="0"/>
          </a:p>
          <a:p>
            <a:pPr algn="ctr"/>
            <a:endParaRPr lang="en-US" sz="1550" b="1" dirty="0"/>
          </a:p>
          <a:p>
            <a:pPr algn="ctr"/>
            <a:endParaRPr lang="en-US" sz="1550" b="1" dirty="0"/>
          </a:p>
          <a:p>
            <a:pPr algn="ctr"/>
            <a:endParaRPr lang="en-US" sz="1550" b="1" dirty="0"/>
          </a:p>
          <a:p>
            <a:pPr algn="ctr"/>
            <a:endParaRPr lang="en-US" sz="1550" b="1" dirty="0"/>
          </a:p>
          <a:p>
            <a:pPr algn="ctr"/>
            <a:endParaRPr lang="en-US" sz="1550" b="1" dirty="0"/>
          </a:p>
        </p:txBody>
      </p:sp>
      <p:pic>
        <p:nvPicPr>
          <p:cNvPr id="8" name="Picture 7">
            <a:extLst>
              <a:ext uri="{FF2B5EF4-FFF2-40B4-BE49-F238E27FC236}">
                <a16:creationId xmlns="" xmlns:a16="http://schemas.microsoft.com/office/drawing/2014/main" id="{2C467655-7CF5-49D2-94DB-9D29CD24FA7A}"/>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 xmlns:a1611="http://schemas.microsoft.com/office/drawing/2016/11/main" r:id="rId4"/>
              </a:ext>
            </a:extLst>
          </a:blip>
          <a:srcRect l="8208" t="22498" r="8865" b="35631"/>
          <a:stretch/>
        </p:blipFill>
        <p:spPr>
          <a:xfrm>
            <a:off x="2103018" y="2274031"/>
            <a:ext cx="6436895" cy="211540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Footer Placeholder 6">
            <a:extLst>
              <a:ext uri="{FF2B5EF4-FFF2-40B4-BE49-F238E27FC236}">
                <a16:creationId xmlns="" xmlns:a16="http://schemas.microsoft.com/office/drawing/2014/main" id="{D8F9BE0A-6120-6CD9-8090-90BAFC77518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66806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1058</TotalTime>
  <Words>2181</Words>
  <Application>Microsoft Office PowerPoint</Application>
  <PresentationFormat>Custom</PresentationFormat>
  <Paragraphs>483</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dell1</cp:lastModifiedBy>
  <cp:revision>55</cp:revision>
  <dcterms:created xsi:type="dcterms:W3CDTF">2021-09-13T09:22:41Z</dcterms:created>
  <dcterms:modified xsi:type="dcterms:W3CDTF">2024-09-11T09:44:55Z</dcterms:modified>
</cp:coreProperties>
</file>